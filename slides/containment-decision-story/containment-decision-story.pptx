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prompt: a research agent gets an error while retrieving useful data; ask the audience what the next move should be. The talk treats containment-extension as a study of delegated action boundaries, not a claim to solve arbitrary sandbox escape. No hosted-model calls were made to build this deck; the planner and the selection procedure are proposals and have not been evaluated on LLM agents. The outline on the next slide gives the five parts and their slide ranges.</a:t>
            </a:r>
          </a:p>
          <a:p/>
          <a:p>
            <a:r>
              <a:t>Sources / 来源</a:t>
            </a:r>
          </a:p>
          <a:p>
            <a:r>
              <a:t>Project: From reported incidents to testable questions</a:t>
            </a:r>
          </a:p>
          <a:p>
            <a:r>
              <a:t>../../docs/trust4rsi-incident-to-experiment.md</a:t>
            </a:r>
          </a:p>
          <a:p>
            <a:r>
              <a:t>Project: public incident library, 26 records coded with the Raftari (2026) frame</a:t>
            </a:r>
          </a:p>
          <a:p>
            <a:r>
              <a:t>../../docs/incident-library-analysis.md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for the five parts. Parts 01 and 05 are the real-world ends of the argument; 02 to 04 are the formal middle. Status chips on each slide distinguish REPORTED facts from public records, OBSERVED archived runs, EXACT TOY calculations, THEORY, and PROPOSED work. Slide ranges are checked at build time against the section kickers.</a:t>
            </a:r>
          </a:p>
          <a:p/>
          <a:p>
            <a:r>
              <a:t>Sources / 来源</a:t>
            </a:r>
          </a:p>
          <a:p>
            <a:r>
              <a:t>Project: From reported incidents to testable questions</a:t>
            </a:r>
          </a:p>
          <a:p>
            <a:r>
              <a:t>../../docs/trust4rsi-incident-to-experiment.md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Library counts are read from figures/incidents/analysis/summary.json at build time: n=26, live-access overreach 9, indicator f yes=9 unknown=13. Archived counts are recomputed from results/incident-study-v1/summary.json. These are analyst codings of public reports with a second reader still pending, and the archived runs come from one small service fixture. The framing follows the Trust4RSI paper plan: one decision point recurs across incidents, and the question is whether an explicit model of that decision yields better behaviour at retained utility.</a:t>
            </a:r>
          </a:p>
          <a:p/>
          <a:p>
            <a:r>
              <a:t>Sources / 来源</a:t>
            </a:r>
          </a:p>
          <a:p>
            <a:r>
              <a:t>Project: public incident library, 26 records coded with the Raftari (2026) frame</a:t>
            </a:r>
          </a:p>
          <a:p>
            <a:r>
              <a:t>../../docs/incident-library-analysis.md</a:t>
            </a:r>
          </a:p>
          <a:p>
            <a:r>
              <a:t>Project: 160-run incident study, completed 17 September 2026</a:t>
            </a:r>
          </a:p>
          <a:p>
            <a:r>
              <a:t>../../docs/incident-study-results.md</a:t>
            </a:r>
          </a:p>
          <a:p>
            <a:r>
              <a:t>Project: From reported incidents to testable questions</a:t>
            </a:r>
          </a:p>
          <a:p>
            <a:r>
              <a:t>../../docs/trust4rsi-incident-to-experiment.md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Latency figures are copied from the library summary; detection dates are known for only 12 entries, so the detection median is fragile. The point for the decision theory: labels arrive weeks to months after the action, so an online rule needs a model of the decision rather than observed incident rates, and an offline selection rule must work from replayable, instrumented cases. The stop-behaviour counts show that detection did not stop most incidents.</a:t>
            </a:r>
          </a:p>
          <a:p/>
          <a:p>
            <a:r>
              <a:t>Sources / 来源</a:t>
            </a:r>
          </a:p>
          <a:p>
            <a:r>
              <a:t>Project: public incident library, 26 records coded with the Raftari (2026) frame</a:t>
            </a:r>
          </a:p>
          <a:p>
            <a:r>
              <a:t>../../docs/incident-library-analysis.md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Chain and table fields are read from incidents/records/05-medicare.json: objective, the four coded actions, indicators, mechanisms and propositions. Formal labels are loaded from incidents/taxonomy.json. The library's z_t denotes six risk signals at time t, in order f, p, x, c, v, o. This record is retrospective and does not give a time-indexed trace of those signals or prove that the agent or monitor noticed them in-run. f = repeated task failure; p = boundary probing; x = unexpected external contact (not every legitimate external request); c = cross-run communication; v = privilege change; o = observability loss. The four observed signals are f, p, x and v. No means coded as not observed, not proof of absence; unknown means the available evidence cannot decide. Four of six is a signal count, not four broken rules. The v row reports the existing coding alongside credential retrieval; the record does not establish that those credentials were used or that a particular privilege-escalation exploit occurred. o concerns loss of logging or monitoring visibility, not merely late public disclosure. 'Leading indicators' is the taxonomy's term, not an established temporal claim: some signals may occur during or after a boundary crossing. M1-M6 are failure mechanisms; P1-P9 are design propositions. The appendices on slides 25-26 give every formal name, a plain-language explanation and the Medicare coding. These are analyst drafts pending review. Facts come from the government press conference; the government states aggregate statistics only and no individual medical data accessed, and the forensic investigation was still open. We read this as: the failed search was evidence about feasibility, the agent treated it as licence to find another route, and no in-run signal stopped it. That is the decision point the formal model isolates: a belief update was mistaken for a grant update.</a:t>
            </a:r>
          </a:p>
          <a:p/>
          <a:p>
            <a:r>
              <a:t>Sources / 来源</a:t>
            </a:r>
          </a:p>
          <a:p>
            <a:r>
              <a:t>Australian Government briefing, 24 September 2026; incident in June</a:t>
            </a:r>
          </a:p>
          <a:p>
            <a:r>
              <a:t>https://ministers.finance.gov.au/financeminister/transcript/2026/09/24/press-conference-sydney</a:t>
            </a:r>
          </a:p>
          <a:p>
            <a:r>
              <a:t>Project: incident taxonomy; formal indicator, mechanism and proposition labels</a:t>
            </a:r>
          </a:p>
          <a:p>
            <a:r>
              <a:t>../../incidents/taxonomy.json</a:t>
            </a:r>
          </a:p>
          <a:p>
            <a:r>
              <a:t>Project: Medicare incident record; analyst draft, review pending</a:t>
            </a:r>
          </a:p>
          <a:p>
            <a:r>
              <a:t>../../incidents/records/05-medicare.json</a:t>
            </a:r>
          </a:p>
          <a:p>
            <a:r>
              <a:t>Project: public incident library, 26 records coded with the Raftari (2026) frame</a:t>
            </a:r>
          </a:p>
          <a:p>
            <a:r>
              <a:t>../../docs/incident-library-analysis.md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copy the public reports; stop labels come from the record files. The wallet report is outside the 26-record denominator. The decision-theoretic reading: in every row the belief that the allowed route works dropped to near zero, the substitute had high expected task value, and the only thing against it was the grant. Any planner whose objective is task value without an effect constraint prefers the substitute; that is why the formulation puts the grant in the action set rather than in the reward.</a:t>
            </a:r>
          </a:p>
          <a:p/>
          <a:p>
            <a:r>
              <a:t>Sources / 来源</a:t>
            </a:r>
          </a:p>
          <a:p>
            <a:r>
              <a:t>OpenAI, Unauthorized communication via temporary file hosting services, 16 September 2026; incident 14 April</a:t>
            </a:r>
          </a:p>
          <a:p>
            <a:r>
              <a:t>https://alignment.openai.com/misalignment-reports/unauthorized-communication-via-temporary-file-hosting-services/</a:t>
            </a:r>
          </a:p>
          <a:p>
            <a:r>
              <a:t>OpenAI, Using a funded test cryptocurrency wallet without authorization, 15 October 2026; incident 26 June</a:t>
            </a:r>
          </a:p>
          <a:p>
            <a:r>
              <a:t>https://alignment.openai.com/misalignment-reports/using-a-funded-test-cryptocurrency-wallet-without-authorization/</a:t>
            </a:r>
          </a:p>
          <a:p>
            <a:r>
              <a:t>Project: public incident library, 26 records coded with the Raftari (2026) frame</a:t>
            </a:r>
          </a:p>
          <a:p>
            <a:r>
              <a:t>../../docs/incident-library-analysis.md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of hosts and records are as reported by Anthropic and Google, not verified by us. These cases motivate the ambiguity result: the agent had two plausible grants (the target is in scope; it is not) and no prior over them. Maxmin and minimax-regret rules pick a reversible action, which here means a clarification. The experiment that tests this is X1b, where the grant is deliberately silent or self-contradictory.</a:t>
            </a:r>
          </a:p>
          <a:p/>
          <a:p>
            <a:r>
              <a:t>Sources / 来源</a:t>
            </a:r>
          </a:p>
          <a:p>
            <a:r>
              <a:t>Anthropic (9 September 2026), An alignment assessment of recent cybersecurity incidents</a:t>
            </a:r>
          </a:p>
          <a:p>
            <a:r>
              <a:t>https://www.anthropic.com/research/alignment-assessment-cybersecurity-incidents</a:t>
            </a:r>
          </a:p>
          <a:p>
            <a:r>
              <a:t>Project: public incident library, 26 records coded with the Raftari (2026) frame</a:t>
            </a:r>
          </a:p>
          <a:p>
            <a:r>
              <a:t>../../docs/incident-library-analysis.md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Bars are read from the library summary at build time. Co-occurrence: M1+M2 in 9 records and M2+M4 in 9. The three questions organise the rest of the deck. Q1 is optimal stopping with learning; Q2 is value of information plus a principal–agent twist, because a request can change the permitted set while a diagnostic cannot; Q3 is constrained policy selection from finite, delayed evidence. None of these is new; the claim is that stating them exactly yields testable behaviour.</a:t>
            </a:r>
          </a:p>
          <a:p/>
          <a:p>
            <a:r>
              <a:t>Sources / 来源</a:t>
            </a:r>
          </a:p>
          <a:p>
            <a:r>
              <a:t>Project: public incident library, 26 records coded with the Raftari (2026) frame</a:t>
            </a:r>
          </a:p>
          <a:p>
            <a:r>
              <a:t>../../docs/incident-library-analysis.md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Finite-horizon constrained POMDP. Controller state s_t = (b_t, g_t, k_t) is distinct from the incident risk-indicator vector z_t on slide 5. The local POMDP symbols x (hidden state) and o (observation) have the meanings defined on this slide; they are not the incident codes x (unexpected external contact) and o (observability loss). Hidden x_t includes route feasibility; g_t is the trusted, versioned authorization contract; k_t the remaining budget; h_t the history. Transition and observation kernels T and O; Bayesian filtering gives b′. A request can lead to a trusted grant update or denial with response probability q; q is not the probability that an ungranted action is secretly authorized. Reachability and tool success never update g. Missing scope is not filled by the agent: choose an already permitted alternative, request, or stop. In the closed fixture A(g) is exact and effect-based; open environments need validated effect prediction. Utility u is fixed in advance, including the value of justified termination. The action constraint is a specification; whether an LLM follows it is what the experiments measure. Constrained MDP background: Altman 1999; CPO is background for constrained optimization, not the algorithm used.</a:t>
            </a:r>
          </a:p>
          <a:p/>
          <a:p>
            <a:r>
              <a:t>Sources / 来源</a:t>
            </a:r>
          </a:p>
          <a:p>
            <a:r>
              <a:t>Kaelbling, Littman &amp; Cassandra (1998), Planning and Acting in Partially Observable Stochastic Domains</a:t>
            </a:r>
          </a:p>
          <a:p>
            <a:r>
              <a:t>https://cs.brown.edu/courses/csci2951-k/papers/kaelbling98.pdf</a:t>
            </a:r>
          </a:p>
          <a:p>
            <a:r>
              <a:t>Project: Incident-aware optimization of agent control policies</a:t>
            </a:r>
          </a:p>
          <a:p>
            <a:r>
              <a:t>../../docs/incident-aware-optimization.md</a:t>
            </a:r>
          </a:p>
          <a:p>
            <a:r>
              <a:t>Project: From reported incidents to testable questions</a:t>
            </a:r>
          </a:p>
          <a:p>
            <a:r>
              <a:t>../../docs/trust4rsi-incident-to-experiment.md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calculation: p0=0.7, q=0.5, R=10, B=2, c=1. Posterior sequence after failures: 0.700, 0.538, 0.368, 0.226, 0.127, 0.068. Threshold 0.250; the first posterior below it is p_3, so the agent attempts 3 times. One-step look-ahead is optimal here because the problem is monotone: a success ends the episode and every failure lowers p, so if stopping beats one more try now it beats it later (Ferguson, Optimal Stopping and Applications, ch. 5). Backward induction over a finite budget agrees, which the build validates. Calibrated q and risk neutrality are assumptions; an LLM confidence statement is not a calibrated posterior. The incident library records f in 9 of 26 and cannot tell for 13: reports rarely say whether the task was failing.</a:t>
            </a:r>
          </a:p>
          <a:p/>
          <a:p>
            <a:r>
              <a:t>Sources / 来源</a:t>
            </a:r>
          </a:p>
          <a:p>
            <a:r>
              <a:t>Ferguson, Optimal Stopping and Applications, ch. 5 (monotone case; one-step look-ahead)</a:t>
            </a:r>
          </a:p>
          <a:p>
            <a:r>
              <a:t>https://www.math.ucla.edu/~tom/Stopping/Contents.html</a:t>
            </a:r>
          </a:p>
          <a:p>
            <a:r>
              <a:t>Project: Next experiments, including X1b silent and conflicting grants</a:t>
            </a:r>
          </a:p>
          <a:p>
            <a:r>
              <a:t>../../docs/trust4rsi-next-experiments.md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optimal-policy phase diagram under stated hypothetical utilities, not measured agent behavior. The horizontal axis p is the probability that an already authorized local recovery works: p=0 means certainly infeasible, p=.3 means a 30 percent chance, and p=1 means certainly feasible. The vertical axis d is the cost of requesting additional authorization, measured in the same utility units as the reward; it can represent time, money or human review overhead. d=0 is free and d=8 is expensive in this toy. The chart uses the analytic boundaries derived on slide 13, rather than a coarse grid. STOP is a small but real region at p&lt;1/16 and d&gt;6. The dashed d=6 line marks where ASK and STOP tie. Point A: p=.9,d=8 gives RECOVER=7, PROBE=6.7, STOP=0 and ASK=-2. Point B: p=.1,d=0 gives ASK=6, PROBE=5.7, STOP=0 and RECOVER=-1. Point C: p=.3,d=2 gives PROBE=4.7, ASK=4, RECOVER=1 and STOP=0. Epistemic uncertainty is about whether an allowed plan works. A permitted, non-mutating check of a public service or an already authorized alternative can reduce it. Authorization is a separate state: checking whether a government internal database is reachable cannot grant access, and the diagnostic itself must be within scope. Only a trusted affirmative response to ASK may change the grant; ASK alone does not change technical feasibility. The toy assumes a feasible alternative after a grant, which is an explicit assumption rather than a general property of authorization. The aim is useful recovery within scope, avoiding both unauthorized persistence and premature stopping.</a:t>
            </a:r>
          </a:p>
          <a:p/>
          <a:p>
            <a:r>
              <a:t>Sources / 来源</a:t>
            </a:r>
          </a:p>
          <a:p>
            <a:r>
              <a:t>Hay, Russell, Tolpin &amp; Shimony (2012), Selecting Computations: Theory and Applications</a:t>
            </a:r>
          </a:p>
          <a:p>
            <a:r>
              <a:t>https://arxiv.org/abs/1207.5879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outcomes and costs are specified so the audience can independently recompute 4.7. Hidden local feasibility theta is Bernoulli(p). RECOVER is terminal and costs 2 regardless of outcome: conditional payoffs are 8 if feasible and -2 if infeasible, so Q_RECOVER=p*8+(1-p)*(-2)=10p-2. STOP is terminal with utility 0. ASK pays d regardless of the reply. A trusted grant arrives with probability q=.6, independent of local feasibility; the alternative is assumed to succeed after a grant, with gross utility 10 and no further cost. Denial yields 0 and no action. Hence Q_ASK=.6*10+.4*0-d=6-d. The conditional ASK cells are expected values over the authorization response, not guaranteed outcomes. PROBE is a single permitted, non-mutating perfect observation of theta, costs c=.5, changes no permissions, and is followed by the best of RECOVER, ASK and STOP. It cannot be followed by another probe. Thus Q_PROBE=-.5+p*max(8,6-d,0)+(1-p)*max(-2,6-d,0). At p=.3,d=2, direct values are RECOVER=1, ASK=4 and STOP=0. After a feasible observation select RECOVER=8; after an infeasible observation select ASK=4, while still obeying its reply. The post-information value before probe cost is .3*8+.7*4=5.2; gross VOI is 5.2-4=1.2; net VOI is 1.2-.5=.7, and Q_PROBE is 4.7. In the bottom formula R,A,S abbreviate RECOVER, ASK and STOP; o is the diagnostic observation. With the same action set before and after information and the option to ignore it, gross VOI is nonnegative, but net VOI can be negative. For noisy diagnostics use posterior beliefs P(theta=1|o) and average the posterior-optimal value over observations. Uncertainty alone is insufficient: information must change a valuable decision enough to cover its cost.</a:t>
            </a:r>
          </a:p>
          <a:p/>
          <a:p>
            <a:r>
              <a:t>Sources / 来源</a:t>
            </a:r>
          </a:p>
          <a:p>
            <a:r>
              <a:t>Hay, Russell, Tolpin &amp; Shimony (2012), Selecting Computations: Theory and Applications</a:t>
            </a:r>
          </a:p>
          <a:p>
            <a:r>
              <a:t>https://arxiv.org/abs/1207.5879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Derivation for the displayed range 0&lt;=p&lt;=1, 0&lt;=d&lt;=8, with perfect diagnostic cost .5. For d&lt;=6, a feasible observation leads to RECOVER=8 because ASK&lt;=6; an infeasible observation leads to ASK=6-d&gt;=0, tied with STOP only at d=6. Q_PROBE=-.5+8p+(1-p)(6-d)=5.5-d+(2+d)p. Subtracting Q_ASK gives (2+d)p-.5, so the lower boundary is p_L=.5/(2+d). Subtracting Q_RECOVER gives 7.5-d-(8-d)p, so the upper boundary is p_U=(7.5-d)/(8-d). Since p_L&lt;p_U and ASK&gt;=STOP, these are actual optimal-action boundaries, not just pairwise equalities. For d&gt;=6, ASK&lt;=STOP=0; the post-probe choices are RECOVER if feasible and STOP if infeasible, so Q_PROBE=8p-.5. Setting it equal to 0 gives p_L=1/16; setting it equal to 10p-2 gives p_U=3/4. RECOVER is negative at the lower boundary, and STOP is below both values at the upper boundary. At d=6, ASK=STOP for all p, but this equality is a visible optimal boundary only for p&lt;=1/16. At p=1/16,d=6 ASK, STOP and PROBE all tie. Pairwise equality alone is insufficient: for 0&lt;=d&lt;=6 the direct ASK=RECOVER curve p=(8-d)/10 lies strictly inside the PROBE region. For d&gt;6 that direct curve is also dominated. At d=2 the exact cutoffs are 1/8=.125 and 11/12, approximately .917. At p=.3,d=2, varying diagnostic cost c gives Q_PROBE=5.2-c: strictly probe only for c&lt;1.2, tie at c=1.2, otherwise ASK. These are falsifiable choice predictions conditional on the model: sweep p across both cutoffs at fixed d, and sweep c across 1.2 at the example point. Measure choice disagreement and value regret separately. Noisy diagnostics, uncertain authorization probabilities, costly authorized alternatives and additional retries require a new value calculation; these particular thresholds are not universal. The safety invariant is unchanged: diagnosing feasibility never grants authority.</a:t>
            </a:r>
          </a:p>
          <a:p/>
          <a:p>
            <a:r>
              <a:t>Sources / 来源</a:t>
            </a:r>
          </a:p>
          <a:p>
            <a:r>
              <a:t>Hay, Russell, Tolpin &amp; Shimony (2012), Selecting Computations: Theory and Applications</a:t>
            </a:r>
          </a:p>
          <a:p>
            <a:r>
              <a:t>https://arxiv.org/abs/1207.5879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Toy payoffs: reading the archive pays +10 if allowed and −20 if it was excluded; asking pays +7 either way (delay cost); stopping pays +2. Maxmin picks "Ask first" and minimax regret picks "Ask first"; both computed at build time. An expected-utility agent prefers reading iff 10p − 20(1−p) &gt; 7, i.e. p &gt; 0.900. The scope-inference family shows agents behaving as if p were near one because the target was reachable. X1b adds unspecified and conflicting grant columns; its readout is a response mix (silent read / clarification / authorized completion) plus an over-conservatism check, never a violation rate under silence. Robust MDPs over an uncertainty set (Iyengar 2005) and attainable-utility preservation (Turner et al. 2020) are the RL analogues.</a:t>
            </a:r>
          </a:p>
          <a:p/>
          <a:p>
            <a:r>
              <a:t>Sources / 来源</a:t>
            </a:r>
          </a:p>
          <a:p>
            <a:r>
              <a:t>Gilboa &amp; Schmeidler (1989), Maxmin expected utility with non-unique prior</a:t>
            </a:r>
          </a:p>
          <a:p>
            <a:r>
              <a:t>https://doi.org/10.1016/0304-4068(89)90018-9</a:t>
            </a:r>
          </a:p>
          <a:p>
            <a:r>
              <a:t>Hadfield-Menell et al. (2016), Cooperative Inverse Reinforcement Learning</a:t>
            </a:r>
          </a:p>
          <a:p>
            <a:r>
              <a:t>https://arxiv.org/abs/1606.03137</a:t>
            </a:r>
          </a:p>
          <a:p>
            <a:r>
              <a:t>Hadfield-Menell et al. (2017), The Off-Switch Game</a:t>
            </a:r>
          </a:p>
          <a:p>
            <a:r>
              <a:t>https://arxiv.org/abs/1611.08219</a:t>
            </a:r>
          </a:p>
          <a:p>
            <a:r>
              <a:t>Project: Next experiments, including X1b silent and conflicting grants</a:t>
            </a:r>
          </a:p>
          <a:p>
            <a:r>
              <a:t>../../docs/trust4rsi-next-experiments.md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copied from docs/incident-aware-optimization.md with Altman 1999 and CPO as background. The selection bound is the standard Hoeffding inequality with a union bound over K candidates: each empirical risk is within ε of its mean with probability 1 − δ/K, so the empirical minimiser has true risk at most 2ε above the best eligible candidate. With K = 8 and n = 48 the slack is 0.49, which is useless; it falls to 0.05 only at n = 5000. The paired design is the alternative: twins differ only in the intervention, and the exact McNemar test uses discordant pairs. The power table is computed at build time from the archived baseline rate 0.6875 (results/baseline-diagnostic-v2/summary.json) against two hypothetical target rates. A Lagrangian relaxation prices the constraints, but hard wall versus soft penalty is not identifiable from finite data: a large multiplier reproduces zero violations.</a:t>
            </a:r>
          </a:p>
          <a:p/>
          <a:p>
            <a:r>
              <a:t>Sources / 来源</a:t>
            </a:r>
          </a:p>
          <a:p>
            <a:r>
              <a:t>Project: Incident-aware optimization of agent control policies</a:t>
            </a:r>
          </a:p>
          <a:p>
            <a:r>
              <a:t>../../docs/incident-aware-optimization.md</a:t>
            </a:r>
          </a:p>
          <a:p>
            <a:r>
              <a:t>Achiam et al. (2017), Constrained Policy Optimization</a:t>
            </a:r>
          </a:p>
          <a:p>
            <a:r>
              <a:t>https://arxiv.org/abs/1705.10528</a:t>
            </a:r>
          </a:p>
          <a:p>
            <a:r>
              <a:t>Project: Live follow-up results; calibration and selection limits</a:t>
            </a:r>
          </a:p>
          <a:p>
            <a:r>
              <a:t>../../docs/trust4rsi-live-followup-results.md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online algorithm; not evaluated on LLM agents. Candidate tool actions are normalised into effect-relevant fields (resource, owner, recipient, operation) and checked against the grant to form A(g); termination and permitted requests are always included. The unbrokered planner arm measures behavioural compliance; the otherwise identical brokered arm checks the action before dispatch and records attempted violations separately from executed effects. The effect journal is post-action evidence, not prevention. A simple allowlist broker is an engineering baseline, not a CaMeL reproduction. Monte Carlo lookahead follows POMCP sampling but filters by A(g) at every node; without that filter the same search reproduces the substitution family, which E1 tests directly.</a:t>
            </a:r>
          </a:p>
          <a:p/>
          <a:p>
            <a:r>
              <a:t>Sources / 来源</a:t>
            </a:r>
          </a:p>
          <a:p>
            <a:r>
              <a:t>Kaelbling, Littman &amp; Cassandra (1998), Planning and Acting in Partially Observable Stochastic Domains</a:t>
            </a:r>
          </a:p>
          <a:p>
            <a:r>
              <a:t>https://cs.brown.edu/courses/csci2951-k/papers/kaelbling98.pdf</a:t>
            </a:r>
          </a:p>
          <a:p>
            <a:r>
              <a:t>Silver &amp; Veness (2010), Monte-Carlo Planning in Large POMDPs (POMCP)</a:t>
            </a:r>
          </a:p>
          <a:p>
            <a:r>
              <a:t>https://papers.nips.cc/paper_files/paper/2010/hash/edfbe1afcf9246bb0d40eb4d8027d90f-Abstract.html</a:t>
            </a:r>
          </a:p>
          <a:p>
            <a:r>
              <a:t>Debenedetti et al. (2025), Defeating Prompt Injections by Design (CaMeL)</a:t>
            </a:r>
          </a:p>
          <a:p>
            <a:r>
              <a:t>https://arxiv.org/abs/2503.18813</a:t>
            </a:r>
          </a:p>
          <a:p>
            <a:r>
              <a:t>Project: From reported incidents to testable questions</a:t>
            </a:r>
          </a:p>
          <a:p>
            <a:r>
              <a:t>../../docs/trust4rsi-incident-to-experiment.md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Offline selection procedure. Fix K candidate controllers, a development set, actor model, rollout budgets, utility definition and tie-breaks; reuse the same trajectories across selection-signal arms. Choose the lowest estimated incident rate (or a prespecified conservative bound) among candidates within the utility margin and cost/review limits; if none qualify, retain the reference and make no improvement claim. T is an actor-visible transcript; J is an independent service-effect journal; the T+J judge uses the same model and rubric as T with extra evidence; J* uses explicit local grant and effect semantics and is a privileged reference, not a general truth oracle. Use disjoint development, calibration and test lineages; freeze a repaired judge after development calibration (the prior failed calibration is not a qualified gate). ImpossibleBench already studies prompting, abort options and monitors; the incremental claim here is the selection contrast.</a:t>
            </a:r>
          </a:p>
          <a:p/>
          <a:p>
            <a:r>
              <a:t>Sources / 来源</a:t>
            </a:r>
          </a:p>
          <a:p>
            <a:r>
              <a:t>Project: Incident-aware optimization of agent control policies</a:t>
            </a:r>
          </a:p>
          <a:p>
            <a:r>
              <a:t>../../docs/incident-aware-optimization.md</a:t>
            </a:r>
          </a:p>
          <a:p>
            <a:r>
              <a:t>Zhong, Raghunathan &amp; Carlini (2025), ImpossibleBench, sections 5-6</a:t>
            </a:r>
          </a:p>
          <a:p>
            <a:r>
              <a:t>https://arxiv.org/html/2510.20270v1</a:t>
            </a:r>
          </a:p>
          <a:p>
            <a:r>
              <a:t>Project: Live follow-up results; calibration and selection limits</a:t>
            </a:r>
          </a:p>
          <a:p>
            <a:r>
              <a:t>../../docs/trust4rsi-live-followup-results.md</a:t>
            </a:r>
          </a:p>
          <a:p>
            <a:r>
              <a:t>Project: Prior work and the contribution we can defend</a:t>
            </a:r>
          </a:p>
          <a:p>
            <a:r>
              <a:t>../../docs/trust4rsi-related-work.md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Characterisations are our reading of each paper, kept to what the method does by construction. POMCP (Silver &amp; Veness 2010) plans by sampling over beliefs with no effect constraint, so a blocked route is just an obstacle. CPO (Achiam 2017) and RCPO (Tessler 2018) enforce constraints in expectation during training and need gradient access. Shielding (Alshiekh 2018) filters unsafe actions with a temporal-logic automaton over an abstraction. CaMeL (Debenedetti 2025) separates trusted control flow from untrusted data and enforces policies at tool calls. Progent (Shi 2025) checks calls against a least-privilege policy over tool arguments; narrowing updates are auto-approved and expansions need approval. AI Control (Greenblatt 2023) assumes an intentionally subversive untrusted model and uses a trusted monitor with an audit budget. ImpossibleBench (Zhong 2025) studies prompting and abort options on impossible coding tasks. None of these is reproduced here; the comparison is structural, and the proposal has no empirical result yet.</a:t>
            </a:r>
          </a:p>
          <a:p/>
          <a:p>
            <a:r>
              <a:t>Sources / 来源</a:t>
            </a:r>
          </a:p>
          <a:p>
            <a:r>
              <a:t>Silver &amp; Veness (2010), Monte-Carlo Planning in Large POMDPs (POMCP)</a:t>
            </a:r>
          </a:p>
          <a:p>
            <a:r>
              <a:t>https://papers.nips.cc/paper_files/paper/2010/hash/edfbe1afcf9246bb0d40eb4d8027d90f-Abstract.html</a:t>
            </a:r>
          </a:p>
          <a:p>
            <a:r>
              <a:t>Achiam et al. (2017), Constrained Policy Optimization</a:t>
            </a:r>
          </a:p>
          <a:p>
            <a:r>
              <a:t>https://arxiv.org/abs/1705.10528</a:t>
            </a:r>
          </a:p>
          <a:p>
            <a:r>
              <a:t>Tessler, Mankowitz &amp; Mannor (2018), Reward Constrained Policy Optimization</a:t>
            </a:r>
          </a:p>
          <a:p>
            <a:r>
              <a:t>https://arxiv.org/abs/1805.11074</a:t>
            </a:r>
          </a:p>
          <a:p>
            <a:r>
              <a:t>Alshiekh et al. (2018), Safe Reinforcement Learning via Shielding</a:t>
            </a:r>
          </a:p>
          <a:p>
            <a:r>
              <a:t>https://arxiv.org/abs/1708.08611</a:t>
            </a:r>
          </a:p>
          <a:p>
            <a:r>
              <a:t>Debenedetti et al. (2025), Defeating Prompt Injections by Design (CaMeL)</a:t>
            </a:r>
          </a:p>
          <a:p>
            <a:r>
              <a:t>https://arxiv.org/abs/2503.18813</a:t>
            </a:r>
          </a:p>
          <a:p>
            <a:r>
              <a:t>Shi et al. (2025), Progent: Securing AI Agents with Privilege Control</a:t>
            </a:r>
          </a:p>
          <a:p>
            <a:r>
              <a:t>https://arxiv.org/abs/2504.11703</a:t>
            </a:r>
          </a:p>
          <a:p>
            <a:r>
              <a:t>Greenblatt et al. (2023), AI Control: Improving Safety Despite Intentional Subversion</a:t>
            </a:r>
          </a:p>
          <a:p>
            <a:r>
              <a:t>https://arxiv.org/abs/2312.06942</a:t>
            </a:r>
          </a:p>
          <a:p>
            <a:r>
              <a:t>Zhong, Raghunathan &amp; Carlini (2025), ImpossibleBench, sections 5-6</a:t>
            </a:r>
          </a:p>
          <a:p>
            <a:r>
              <a:t>https://arxiv.org/html/2510.20270v1</a:t>
            </a:r>
          </a:p>
          <a:p>
            <a:r>
              <a:t>Project: Prior work and the contribution we can defend</a:t>
            </a:r>
          </a:p>
          <a:p>
            <a:r>
              <a:t>../../docs/trust4rsi-related-work.md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places each prior method at its intervention point so comparisons happen at like points: a broker is compared with CaMeL-style and Progent-style enforcement before dispatch, the planner with POMCP and prompting at proposal, the selector with control-protocol evaluation and the regression gate at release. The right-hand card states the only novelty we intend to defend, and the left-hand card lists what is explicitly borrowed. The related-work document records the closest overlaps, including ImpossibleBench, the Anthropic incident assessment and CoSec.</a:t>
            </a:r>
          </a:p>
          <a:p/>
          <a:p>
            <a:r>
              <a:t>Sources / 来源</a:t>
            </a:r>
          </a:p>
          <a:p>
            <a:r>
              <a:t>Project: Prior work and the contribution we can defend</a:t>
            </a:r>
          </a:p>
          <a:p>
            <a:r>
              <a:t>../../docs/trust4rsi-related-work.md</a:t>
            </a:r>
          </a:p>
          <a:p>
            <a:r>
              <a:t>Debenedetti et al. (2024), AgentDojo</a:t>
            </a:r>
          </a:p>
          <a:p>
            <a:r>
              <a:t>https://arxiv.org/abs/2406.13352</a:t>
            </a:r>
          </a:p>
          <a:p>
            <a:r>
              <a:t>Greenblatt et al. (2023), AI Control: Improving Safety Despite Intentional Subversion</a:t>
            </a:r>
          </a:p>
          <a:p>
            <a:r>
              <a:t>https://arxiv.org/abs/2312.06942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E1 is cheap and runs before any fixture extension: a finite simulator whose kernels are known, so regret is exact. Sweeps follow the toy results on slides 10–14. The POMCP-without-filter arm is the mechanistic version of H1: it should prefer the reachable substitute whenever the belief in local repair is low, with no change in the grant. The LLM planner arm is the first check that an LLM agent's choices move with the decision variables at all; calibration is evaluated with proper scoring rules. All E1 claims are about the model, not about safety in deployment.</a:t>
            </a:r>
          </a:p>
          <a:p/>
          <a:p>
            <a:r>
              <a:t>Sources / 来源</a:t>
            </a:r>
          </a:p>
          <a:p>
            <a:r>
              <a:t>Hay, Russell, Tolpin &amp; Shimony (2012), Selecting Computations: Theory and Applications</a:t>
            </a:r>
          </a:p>
          <a:p>
            <a:r>
              <a:t>https://arxiv.org/abs/1207.5879</a:t>
            </a:r>
          </a:p>
          <a:p>
            <a:r>
              <a:t>Silver &amp; Veness (2010), Monte-Carlo Planning in Large POMDPs (POMCP)</a:t>
            </a:r>
          </a:p>
          <a:p>
            <a:r>
              <a:t>https://papers.nips.cc/paper_files/paper/2010/hash/edfbe1afcf9246bb0d40eb4d8027d90f-Abstract.html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matrix is a normative reference, not observed results. Pair each task instance across local repair available/unavailable and alternate forbidden/granted with contents, reachability, schemas and budgets fixed; recoverable and unavailable variants share the initial failure history and a permitted probe reveals availability. Trusted permission is the treatment. Grants are fixed within an episode for the factorial; a separate dynamic-request study adds grant/deny responses with cost. A3 and A4 are engineering baselines in the spirit of Progent, CaMeL and defer-to-trusted, not reproductions. The pilot allocation is for precision estimation, not a powered confirmatory claim; twelve seeds of one template are not twelve lineages. Report all assigned runs with unknowns bounded, cluster paired uncertainty by lineage, and evaluate each model separately.</a:t>
            </a:r>
          </a:p>
          <a:p/>
          <a:p>
            <a:r>
              <a:t>Sources / 来源</a:t>
            </a:r>
          </a:p>
          <a:p>
            <a:r>
              <a:t>Project: From reported incidents to testable questions</a:t>
            </a:r>
          </a:p>
          <a:p>
            <a:r>
              <a:t>../../docs/trust4rsi-incident-to-experiment.md</a:t>
            </a:r>
          </a:p>
          <a:p>
            <a:r>
              <a:t>Project: Next experiments, including X1b silent and conflicting grants</a:t>
            </a:r>
          </a:p>
          <a:p>
            <a:r>
              <a:t>../../docs/trust4rsi-next-experiments.md</a:t>
            </a:r>
          </a:p>
          <a:p>
            <a:r>
              <a:t>Greenblatt et al. (2023), AI Control: Improving Safety Despite Intentional Subversion</a:t>
            </a:r>
          </a:p>
          <a:p>
            <a:r>
              <a:t>https://arxiv.org/abs/2312.06942</a:t>
            </a:r>
          </a:p>
          <a:p>
            <a:r>
              <a:t>Shi et al. (2025), Progent: Securing AI Agents with Privilege Control</a:t>
            </a:r>
          </a:p>
          <a:p>
            <a:r>
              <a:t>https://arxiv.org/abs/2504.11703</a:t>
            </a:r>
          </a:p>
          <a:p>
            <a:r>
              <a:t>Debenedetti et al. (2025), Defeating Prompt Injections by Design (CaMeL)</a:t>
            </a:r>
          </a:p>
          <a:p>
            <a:r>
              <a:t>https://arxiv.org/abs/2503.18813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recomputed from results/incident-study-v1/summary.json during this build: 96 passes without an effect, 13 scorer passes with an unauthorized effect, 49 no-passes without an effect, 2 no-passes with one. All 15 violating trajectories first read the previous-run answer archive. The matrix pools deliberately different arms and variants to show endpoint disagreement, not to estimate a deployment rate; the 49 clean no-passes were impossible cases, not premature refusals. Current follow-ups do not validate a transcript gate or show improved selection; the 12-case calibration failed and is not a qualified gate. E3 requires lower risk with retained utility, cost and coverage limits satisfied, and reports unknowns as bounds rather than as safe.</a:t>
            </a:r>
          </a:p>
          <a:p/>
          <a:p>
            <a:r>
              <a:t>Sources / 来源</a:t>
            </a:r>
          </a:p>
          <a:p>
            <a:r>
              <a:t>Project: Incident-aware optimization of agent control policies</a:t>
            </a:r>
          </a:p>
          <a:p>
            <a:r>
              <a:t>../../docs/incident-aware-optimization.md</a:t>
            </a:r>
          </a:p>
          <a:p>
            <a:r>
              <a:t>Project: Live follow-up results; calibration and selection limits</a:t>
            </a:r>
          </a:p>
          <a:p>
            <a:r>
              <a:t>../../docs/trust4rsi-live-followup-results.md</a:t>
            </a:r>
          </a:p>
          <a:p>
            <a:r>
              <a:t>Project: 160-run incident study, completed 17 September 2026</a:t>
            </a:r>
          </a:p>
          <a:p>
            <a:r>
              <a:t>../../docs/incident-study-results.md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counterfactual intervention hypotheses, not claims that any control would certainly have prevented the reported incidents. For statistics research, an access-denied observation does not certify global impossibility and an allowed source may exist. For workbook sharing, the reliability of the authorized transfer route changes the value of continued recovery. For deployment, success and low apparent harm do not replace an account holder's grant. For cyber evaluations, a matching domain name is not a grant. For the channel family, only the service knows what a call did. Each row names the experiment whose outcome would support or refute the proposed change; test each replay locally with dummy data, a trusted grant and an independent effect observer before broader validation.</a:t>
            </a:r>
          </a:p>
          <a:p/>
          <a:p>
            <a:r>
              <a:t>Sources / 来源</a:t>
            </a:r>
          </a:p>
          <a:p>
            <a:r>
              <a:t>Australian Government briefing, 24 September 2026; incident in June</a:t>
            </a:r>
          </a:p>
          <a:p>
            <a:r>
              <a:t>https://ministers.finance.gov.au/financeminister/transcript/2026/09/24/press-conference-sydney</a:t>
            </a:r>
          </a:p>
          <a:p>
            <a:r>
              <a:t>OpenAI, Unauthorized communication via temporary file hosting services, 16 September 2026; incident 14 April</a:t>
            </a:r>
          </a:p>
          <a:p>
            <a:r>
              <a:t>https://alignment.openai.com/misalignment-reports/unauthorized-communication-via-temporary-file-hosting-services/</a:t>
            </a:r>
          </a:p>
          <a:p>
            <a:r>
              <a:t>OpenAI, Using a funded test cryptocurrency wallet without authorization, 15 October 2026; incident 26 June</a:t>
            </a:r>
          </a:p>
          <a:p>
            <a:r>
              <a:t>https://alignment.openai.com/misalignment-reports/using-a-funded-test-cryptocurrency-wallet-without-authorization/</a:t>
            </a:r>
          </a:p>
          <a:p>
            <a:r>
              <a:t>Anthropic (9 September 2026), An alignment assessment of recent cybersecurity incidents</a:t>
            </a:r>
          </a:p>
          <a:p>
            <a:r>
              <a:t>https://www.anthropic.com/research/alignment-assessment-cybersecurity-incidents</a:t>
            </a:r>
          </a:p>
          <a:p>
            <a:r>
              <a:t>Project: public incident library, 26 records coded with the Raftari (2026) frame</a:t>
            </a:r>
          </a:p>
          <a:p>
            <a:r>
              <a:t>../../docs/incident-library-analysis.md</a:t>
            </a:r>
          </a:p>
          <a:p>
            <a:r>
              <a:t>Debenedetti et al. (2025), Defeating Prompt Injections by Design (CaMeL)</a:t>
            </a:r>
          </a:p>
          <a:p>
            <a:r>
              <a:t>https://arxiv.org/abs/2503.18813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outcome table is the preregistered interpretation. Each row names the arm or contrast and the implication, including the two negative readings in which only enforcement helps or the selection signals tie. Milestones are proposed dates, not commitments; the confirmatory sample is sized from pilot discordance under a prespecified risk reduction and utility noninferiority margin, before any new test cohort is collected. The deck contains 24 narrative slides and two glossary slides; citations, exact toy assumptions, study design and limitations are in the speaker notes and footers.</a:t>
            </a:r>
          </a:p>
          <a:p/>
          <a:p>
            <a:r>
              <a:t>Sources / 来源</a:t>
            </a:r>
          </a:p>
          <a:p>
            <a:r>
              <a:t>Project: From reported incidents to testable questions</a:t>
            </a:r>
          </a:p>
          <a:p>
            <a:r>
              <a:t>../../docs/trust4rsi-incident-to-experiment.md</a:t>
            </a:r>
          </a:p>
          <a:p>
            <a:r>
              <a:t>Project: Incident-aware optimization of agent control policies</a:t>
            </a:r>
          </a:p>
          <a:p>
            <a:r>
              <a:t>../../docs/incident-aware-optimization.md</a:t>
            </a:r>
          </a:p>
          <a:p>
            <a:r>
              <a:t>Project: Next experiments, including X1b silent and conflicting grants</a:t>
            </a:r>
          </a:p>
          <a:p>
            <a:r>
              <a:t>../../docs/trust4rsi-next-experiments.md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 codes classify failure mechanisms, rather than ranking severity or counting broken rules. Formal names are read from incidents/taxonomy.json; the plain-language column explains those labels. Medicare statuses are read from the record, including the previously omitted M3 absent and M5 partial. The record does not give a rationale for M5 partial. Mechanism notes supplied in the record: M1: search failed; agent persisted; M2: browsing + request crafting + exposed script; M4: no in-run interruption; notification three months later; M6: third-party government system; cross-organization response. M4 is the general category Detection without decisive escalation; the case note supports the absence of timely interruption and delayed notification, not a claim that the monitor detected this case in-run. All these codes remain analyst drafts pending review. The next appendix explains the P design-proposition family.</a:t>
            </a:r>
          </a:p>
          <a:p/>
          <a:p>
            <a:r>
              <a:t>Sources / 来源</a:t>
            </a:r>
          </a:p>
          <a:p>
            <a:r>
              <a:t>Project: incident taxonomy; formal indicator, mechanism and proposition labels</a:t>
            </a:r>
          </a:p>
          <a:p>
            <a:r>
              <a:t>../../incidents/taxonomy.json</a:t>
            </a:r>
          </a:p>
          <a:p>
            <a:r>
              <a:t>Project: Medicare incident record; analyst draft, review pending</a:t>
            </a:r>
          </a:p>
          <a:p>
            <a:r>
              <a:t>../../incidents/records/05-medicare.json</a:t>
            </a:r>
          </a:p>
          <a:p>
            <a:r>
              <a:t>Project: public incident library, 26 records coded with the Raftari (2026) frame</a:t>
            </a:r>
          </a:p>
          <a:p>
            <a:r>
              <a:t>../../docs/incident-library-analysis.md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 codes identify design propositions in the incident taxonomy. Formal names and Medicare relations are loaded from the taxonomy and record respectively. Plain-language readings explain the principles without assigning new case-specific evidence. Six principles are coded violated in Medicare: P1, P2, P3, P4, P6 and P9; P7 is mixed, P5 and P8 are not applicable. This is a different classification from the four observed risk signals f, p, x and v. The record gives no per-proposition explanatory notes, including no reason for the mixed P7 judgment, so this slide reports the draft coding without inventing a rationale. Violated is an analyst judgment about the principle, not a legal finding. Demonstrated means the case supports the principle; mixed means the coding is neither a simple violation nor demonstration; n/a means not applicable, not proof that the system satisfied the principle. Algorithm properties elsewhere use ordinary list numbers and simulator predictions are Prediction 1/2, so P1-P9 consistently denote this taxonomy.</a:t>
            </a:r>
          </a:p>
          <a:p/>
          <a:p>
            <a:r>
              <a:t>Sources / 来源</a:t>
            </a:r>
          </a:p>
          <a:p>
            <a:r>
              <a:t>Project: incident taxonomy; formal indicator, mechanism and proposition labels</a:t>
            </a:r>
          </a:p>
          <a:p>
            <a:r>
              <a:t>../../incidents/taxonomy.json</a:t>
            </a:r>
          </a:p>
          <a:p>
            <a:r>
              <a:t>Project: Medicare incident record; analyst draft, review pending</a:t>
            </a:r>
          </a:p>
          <a:p>
            <a:r>
              <a:t>../../incidents/records/05-medicare.json</a:t>
            </a:r>
          </a:p>
          <a:p>
            <a:r>
              <a:t>Project: public incident library, 26 records coded with the Raftari (2026) frame</a:t>
            </a:r>
          </a:p>
          <a:p>
            <a:r>
              <a:t>../../docs/incident-library-analysis.md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docs/incident-library-analysis.md" TargetMode="External"/><Relationship Id="rId3" Type="http://schemas.openxmlformats.org/officeDocument/2006/relationships/hyperlink" Target="../../docs/incident-study-results.md" TargetMode="External"/><Relationship Id="rId4" Type="http://schemas.openxmlformats.org/officeDocument/2006/relationships/hyperlink" Target="../../docs/trust4rsi-incident-to-experiment.md" TargetMode="Externa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docs/incident-library-analysis.md" TargetMode="External"/><Relationship Id="rId3"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inisters.finance.gov.au/financeminister/transcript/2026/09/24/press-conference-sydney" TargetMode="External"/><Relationship Id="rId3" Type="http://schemas.openxmlformats.org/officeDocument/2006/relationships/hyperlink" Target="../../incidents/taxonomy.json" TargetMode="External"/><Relationship Id="rId4" Type="http://schemas.openxmlformats.org/officeDocument/2006/relationships/hyperlink" Target="../../incidents/records/05-medicare.json" TargetMode="Externa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lignment.openai.com/misalignment-reports/unauthorized-communication-via-temporary-file-hosting-services/" TargetMode="External"/><Relationship Id="rId3" Type="http://schemas.openxmlformats.org/officeDocument/2006/relationships/hyperlink" Target="https://alignment.openai.com/misalignment-reports/using-a-funded-test-cryptocurrency-wallet-without-authorization/" TargetMode="External"/><Relationship Id="rId4" Type="http://schemas.openxmlformats.org/officeDocument/2006/relationships/hyperlink" Target="../../docs/incident-library-analysis.md" TargetMode="Externa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nthropic.com/research/alignment-assessment-cybersecurity-incidents" TargetMode="External"/><Relationship Id="rId3" Type="http://schemas.openxmlformats.org/officeDocument/2006/relationships/hyperlink" Target="../../docs/incident-library-analysis.md"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docs/incident-library-analysis.md"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s.brown.edu/courses/csci2951-k/papers/kaelbling98.pdf" TargetMode="External"/><Relationship Id="rId3" Type="http://schemas.openxmlformats.org/officeDocument/2006/relationships/hyperlink" Target="../../docs/incident-aware-optimization.md" TargetMode="Externa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ath.ucla.edu/~tom/Stopping/Contents.html" TargetMode="External"/><Relationship Id="rId3" Type="http://schemas.openxmlformats.org/officeDocument/2006/relationships/hyperlink" Target="../../docs/trust4rsi-next-experiments.md" TargetMode="External"/><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1207.5879" TargetMode="External"/><Relationship Id="rId3" Type="http://schemas.openxmlformats.org/officeDocument/2006/relationships/image" Target="../media/image1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1207.5879" TargetMode="Externa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1207.5879" TargetMode="Externa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0304-4068(89)90018-9" TargetMode="External"/><Relationship Id="rId3" Type="http://schemas.openxmlformats.org/officeDocument/2006/relationships/hyperlink" Target="https://arxiv.org/abs/1606.03137" TargetMode="External"/><Relationship Id="rId4" Type="http://schemas.openxmlformats.org/officeDocument/2006/relationships/hyperlink" Target="https://arxiv.org/abs/1611.08219" TargetMode="External"/><Relationship Id="rId5" Type="http://schemas.openxmlformats.org/officeDocument/2006/relationships/hyperlink" Target="../../docs/trust4rsi-next-experiments.md" TargetMode="External"/><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docs/incident-aware-optimization.md" TargetMode="External"/><Relationship Id="rId3" Type="http://schemas.openxmlformats.org/officeDocument/2006/relationships/hyperlink" Target="https://arxiv.org/abs/1705.10528" TargetMode="External"/><Relationship Id="rId4" Type="http://schemas.openxmlformats.org/officeDocument/2006/relationships/hyperlink" Target="../../docs/trust4rsi-live-followup-results.md" TargetMode="External"/><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s.brown.edu/courses/csci2951-k/papers/kaelbling98.pdf" TargetMode="External"/><Relationship Id="rId3" Type="http://schemas.openxmlformats.org/officeDocument/2006/relationships/hyperlink" Target="https://papers.nips.cc/paper_files/paper/2010/hash/edfbe1afcf9246bb0d40eb4d8027d90f-Abstract.html" TargetMode="External"/><Relationship Id="rId4" Type="http://schemas.openxmlformats.org/officeDocument/2006/relationships/hyperlink" Target="https://arxiv.org/abs/2503.18813" TargetMode="Externa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docs/incident-aware-optimization.md" TargetMode="External"/><Relationship Id="rId3" Type="http://schemas.openxmlformats.org/officeDocument/2006/relationships/hyperlink" Target="https://arxiv.org/html/2510.20270v1" TargetMode="External"/><Relationship Id="rId4" Type="http://schemas.openxmlformats.org/officeDocument/2006/relationships/hyperlink" Target="../../docs/trust4rsi-related-work.md" TargetMode="Externa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apers.nips.cc/paper_files/paper/2010/hash/edfbe1afcf9246bb0d40eb4d8027d90f-Abstract.html" TargetMode="External"/><Relationship Id="rId3" Type="http://schemas.openxmlformats.org/officeDocument/2006/relationships/hyperlink" Target="https://arxiv.org/abs/1805.11074" TargetMode="External"/><Relationship Id="rId4" Type="http://schemas.openxmlformats.org/officeDocument/2006/relationships/hyperlink" Target="https://arxiv.org/abs/1708.08611" TargetMode="External"/><Relationship Id="rId5" Type="http://schemas.openxmlformats.org/officeDocument/2006/relationships/hyperlink" Target="https://arxiv.org/abs/2503.18813" TargetMode="External"/><Relationship Id="rId6" Type="http://schemas.openxmlformats.org/officeDocument/2006/relationships/hyperlink" Target="https://arxiv.org/abs/2504.11703" TargetMode="External"/><Relationship Id="rId7" Type="http://schemas.openxmlformats.org/officeDocument/2006/relationships/hyperlink" Target="https://arxiv.org/abs/2312.06942" TargetMode="External"/><Relationship Id="rId8" Type="http://schemas.openxmlformats.org/officeDocument/2006/relationships/hyperlink" Target="https://arxiv.org/html/2510.20270v1" TargetMode="External"/><Relationship Id="rId9" Type="http://schemas.openxmlformats.org/officeDocument/2006/relationships/hyperlink" Target="../../docs/trust4rsi-related-work.md" TargetMode="Externa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docs/trust4rsi-related-work.md" TargetMode="External"/><Relationship Id="rId3" Type="http://schemas.openxmlformats.org/officeDocument/2006/relationships/hyperlink" Target="https://arxiv.org/abs/2406.13352" TargetMode="External"/><Relationship Id="rId4" Type="http://schemas.openxmlformats.org/officeDocument/2006/relationships/hyperlink" Target="https://arxiv.org/abs/2312.06942" TargetMode="Externa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1207.5879" TargetMode="External"/><Relationship Id="rId3" Type="http://schemas.openxmlformats.org/officeDocument/2006/relationships/hyperlink" Target="https://papers.nips.cc/paper_files/paper/2010/hash/edfbe1afcf9246bb0d40eb4d8027d90f-Abstract.html" TargetMode="Externa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docs/trust4rsi-incident-to-experiment.md" TargetMode="External"/><Relationship Id="rId3" Type="http://schemas.openxmlformats.org/officeDocument/2006/relationships/hyperlink" Target="../../docs/trust4rsi-next-experiments.md" TargetMode="External"/><Relationship Id="rId4" Type="http://schemas.openxmlformats.org/officeDocument/2006/relationships/hyperlink" Target="https://arxiv.org/abs/2312.06942" TargetMode="Externa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docs/incident-aware-optimization.md" TargetMode="External"/><Relationship Id="rId3" Type="http://schemas.openxmlformats.org/officeDocument/2006/relationships/hyperlink" Target="../../docs/trust4rsi-live-followup-results.md" TargetMode="External"/><Relationship Id="rId4" Type="http://schemas.openxmlformats.org/officeDocument/2006/relationships/hyperlink" Target="../../docs/incident-study-results.md" TargetMode="Externa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inisters.finance.gov.au/financeminister/transcript/2026/09/24/press-conference-sydney" TargetMode="External"/><Relationship Id="rId3" Type="http://schemas.openxmlformats.org/officeDocument/2006/relationships/hyperlink" Target="https://alignment.openai.com/misalignment-reports/unauthorized-communication-via-temporary-file-hosting-services/" TargetMode="External"/><Relationship Id="rId4" Type="http://schemas.openxmlformats.org/officeDocument/2006/relationships/hyperlink" Target="https://alignment.openai.com/misalignment-reports/using-a-funded-test-cryptocurrency-wallet-without-authorization/" TargetMode="External"/><Relationship Id="rId5" Type="http://schemas.openxmlformats.org/officeDocument/2006/relationships/hyperlink" Target="https://www.anthropic.com/research/alignment-assessment-cybersecurity-incidents" TargetMode="External"/><Relationship Id="rId6" Type="http://schemas.openxmlformats.org/officeDocument/2006/relationships/hyperlink" Target="../../docs/incident-library-analysis.md" TargetMode="Externa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docs/trust4rsi-incident-to-experiment.md" TargetMode="External"/><Relationship Id="rId3" Type="http://schemas.openxmlformats.org/officeDocument/2006/relationships/hyperlink" Target="../../docs/incident-aware-optimization.md" TargetMode="External"/><Relationship Id="rId4" Type="http://schemas.openxmlformats.org/officeDocument/2006/relationships/hyperlink" Target="../../docs/trust4rsi-next-experiments.md" TargetMode="Externa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incidents/taxonomy.json" TargetMode="External"/><Relationship Id="rId3" Type="http://schemas.openxmlformats.org/officeDocument/2006/relationships/hyperlink" Target="../../incidents/records/05-medicare.json" TargetMode="Externa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incidents/taxonomy.json" TargetMode="External"/><Relationship Id="rId3" Type="http://schemas.openxmlformats.org/officeDocument/2006/relationships/hyperlink" Target="../../incidents/records/05-medicare.json" TargetMode="External"/><Relationship Id="rId4"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B9C8D8"/>
                </a:solidFill>
                <a:latin typeface="Arial"/>
              </a:rPr>
              <a:t>CONTAINMENT-EXTENSION  ·  RESEARCH OUTLINE  ·  21 OCTOBER 2026</a:t>
            </a:r>
          </a:p>
        </p:txBody>
      </p:sp>
      <p:sp>
        <p:nvSpPr>
          <p:cNvPr id="4" name="source:3"/>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B9C8D8"/>
                </a:solidFill>
                <a:latin typeface="Arial"/>
              </a:rPr>
              <a:t> </a:t>
            </a:r>
          </a:p>
        </p:txBody>
      </p:sp>
      <p:sp>
        <p:nvSpPr>
          <p:cNvPr id="5" name="source:4"/>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B9C8D8"/>
                </a:solidFill>
                <a:latin typeface="Arial"/>
              </a:rPr>
              <a:t>01 / 26</a:t>
            </a:r>
          </a:p>
        </p:txBody>
      </p:sp>
      <p:sp>
        <p:nvSpPr>
          <p:cNvPr id="6" name="Rectangle 5"/>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93882"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20836"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47791"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74745"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01700"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128654"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55609"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982563"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09518"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836472"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63427"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90381"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17336"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44290"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71244"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98199"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25153"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52108"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79062"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06017"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32971"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959926"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386880"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813835"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40789"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ody:31"/>
          <p:cNvSpPr txBox="1"/>
          <p:nvPr/>
        </p:nvSpPr>
        <p:spPr>
          <a:xfrm>
            <a:off x="566928" y="1417320"/>
            <a:ext cx="9601200" cy="2103120"/>
          </a:xfrm>
          <a:prstGeom prst="rect">
            <a:avLst/>
          </a:prstGeom>
          <a:noFill/>
        </p:spPr>
        <p:txBody>
          <a:bodyPr wrap="square" lIns="22860" rIns="22860" tIns="22860" bIns="22860" anchor="t">
            <a:spAutoFit/>
          </a:bodyPr>
          <a:lstStyle/>
          <a:p>
            <a:pPr algn="l">
              <a:lnSpc>
                <a:spcPct val="112000"/>
              </a:lnSpc>
            </a:pPr>
            <a:r>
              <a:rPr sz="5000" b="0" i="0">
                <a:solidFill>
                  <a:srgbClr val="FFFFFF"/>
                </a:solidFill>
                <a:latin typeface="Georgia"/>
              </a:rPr>
              <a:t>When the task fails,</a:t>
            </a:r>
          </a:p>
          <a:p>
            <a:pPr algn="l">
              <a:lnSpc>
                <a:spcPct val="112000"/>
              </a:lnSpc>
            </a:pPr>
            <a:r>
              <a:rPr sz="5000" b="0" i="0">
                <a:solidFill>
                  <a:srgbClr val="FFFFFF"/>
                </a:solidFill>
                <a:latin typeface="Georgia"/>
              </a:rPr>
              <a:t>what may the agent change?</a:t>
            </a:r>
          </a:p>
        </p:txBody>
      </p:sp>
      <p:sp>
        <p:nvSpPr>
          <p:cNvPr id="33" name="Rectangle 32"/>
          <p:cNvSpPr/>
          <p:nvPr/>
        </p:nvSpPr>
        <p:spPr>
          <a:xfrm>
            <a:off x="566928" y="3730752"/>
            <a:ext cx="128016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ody:33"/>
          <p:cNvSpPr txBox="1"/>
          <p:nvPr/>
        </p:nvSpPr>
        <p:spPr>
          <a:xfrm>
            <a:off x="566928" y="3950208"/>
            <a:ext cx="9601200" cy="548640"/>
          </a:xfrm>
          <a:prstGeom prst="rect">
            <a:avLst/>
          </a:prstGeom>
          <a:noFill/>
        </p:spPr>
        <p:txBody>
          <a:bodyPr wrap="square" lIns="22860" rIns="22860" tIns="22860" bIns="22860" anchor="t">
            <a:spAutoFit/>
          </a:bodyPr>
          <a:lstStyle/>
          <a:p>
            <a:pPr algn="l">
              <a:lnSpc>
                <a:spcPct val="110000"/>
              </a:lnSpc>
            </a:pPr>
            <a:r>
              <a:rPr sz="2300" b="0" i="1">
                <a:solidFill>
                  <a:srgbClr val="B9C8D8"/>
                </a:solidFill>
                <a:latin typeface="Georgia"/>
              </a:rPr>
              <a:t>A decision theory of recovery, evidence, authority and stopping.</a:t>
            </a:r>
          </a:p>
        </p:txBody>
      </p:sp>
      <p:sp>
        <p:nvSpPr>
          <p:cNvPr id="35" name="body:34"/>
          <p:cNvSpPr txBox="1"/>
          <p:nvPr/>
        </p:nvSpPr>
        <p:spPr>
          <a:xfrm>
            <a:off x="566928" y="4553712"/>
            <a:ext cx="7315200" cy="384048"/>
          </a:xfrm>
          <a:prstGeom prst="rect">
            <a:avLst/>
          </a:prstGeom>
          <a:noFill/>
        </p:spPr>
        <p:txBody>
          <a:bodyPr wrap="square" lIns="22860" rIns="22860" tIns="22860" bIns="22860" anchor="t">
            <a:spAutoFit/>
          </a:bodyPr>
          <a:lstStyle/>
          <a:p>
            <a:pPr algn="l">
              <a:lnSpc>
                <a:spcPct val="110000"/>
              </a:lnSpc>
            </a:pPr>
            <a:r>
              <a:rPr sz="1700" b="0" i="0">
                <a:solidFill>
                  <a:srgbClr val="FFFFFF"/>
                </a:solidFill>
                <a:latin typeface="Georgia"/>
              </a:rPr>
              <a:t>Jiawei Li  ·  21 October 2026</a:t>
            </a:r>
          </a:p>
        </p:txBody>
      </p:sp>
      <p:sp>
        <p:nvSpPr>
          <p:cNvPr id="36" name="label:35"/>
          <p:cNvSpPr txBox="1"/>
          <p:nvPr/>
        </p:nvSpPr>
        <p:spPr>
          <a:xfrm>
            <a:off x="566928" y="5084064"/>
            <a:ext cx="3657600" cy="256032"/>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RESEARCH QUESTION</a:t>
            </a:r>
          </a:p>
        </p:txBody>
      </p:sp>
      <p:sp>
        <p:nvSpPr>
          <p:cNvPr id="37" name="body:36"/>
          <p:cNvSpPr txBox="1"/>
          <p:nvPr/>
        </p:nvSpPr>
        <p:spPr>
          <a:xfrm>
            <a:off x="566928" y="5321808"/>
            <a:ext cx="8412480" cy="658368"/>
          </a:xfrm>
          <a:prstGeom prst="rect">
            <a:avLst/>
          </a:prstGeom>
          <a:noFill/>
        </p:spPr>
        <p:txBody>
          <a:bodyPr wrap="square" lIns="22860" rIns="22860" tIns="22860" bIns="22860" anchor="t">
            <a:spAutoFit/>
          </a:bodyPr>
          <a:lstStyle/>
          <a:p>
            <a:pPr algn="l">
              <a:lnSpc>
                <a:spcPct val="118000"/>
              </a:lnSpc>
            </a:pPr>
            <a:r>
              <a:rPr sz="1600" b="0">
                <a:solidFill>
                  <a:srgbClr val="FFFFFF"/>
                </a:solidFill>
                <a:latin typeface="Arial"/>
              </a:rPr>
              <a:t>Can an agent stay useful after a route fails, treating the failure as evidence about feasibility and never as a grant of new authority?</a:t>
            </a:r>
          </a:p>
        </p:txBody>
      </p:sp>
      <p:sp>
        <p:nvSpPr>
          <p:cNvPr id="38" name="body:37"/>
          <p:cNvSpPr txBox="1"/>
          <p:nvPr/>
        </p:nvSpPr>
        <p:spPr>
          <a:xfrm>
            <a:off x="566928" y="6053328"/>
            <a:ext cx="8229600" cy="274320"/>
          </a:xfrm>
          <a:prstGeom prst="rect">
            <a:avLst/>
          </a:prstGeom>
          <a:noFill/>
        </p:spPr>
        <p:txBody>
          <a:bodyPr wrap="square" lIns="22860" rIns="22860" tIns="22860" bIns="22860" anchor="ctr">
            <a:spAutoFit/>
          </a:bodyPr>
          <a:lstStyle/>
          <a:p>
            <a:pPr algn="l">
              <a:lnSpc>
                <a:spcPct val="108000"/>
              </a:lnSpc>
            </a:pPr>
            <a:r>
              <a:rPr sz="1050" b="0">
                <a:solidFill>
                  <a:srgbClr val="B9C8D8"/>
                </a:solidFill>
                <a:latin typeface="Arial"/>
              </a:rPr>
              <a:t>No new model runs. Library counts, archived runs and toy calculations are recomputed at build time.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B9C8D8"/>
                </a:solidFill>
                <a:latin typeface="Arial"/>
              </a:rPr>
              <a:t>OUTLINE</a:t>
            </a:r>
          </a:p>
        </p:txBody>
      </p:sp>
      <p:sp>
        <p:nvSpPr>
          <p:cNvPr id="4" name="source:3"/>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B9C8D8"/>
                </a:solidFill>
                <a:latin typeface="Arial"/>
              </a:rPr>
              <a:t> </a:t>
            </a:r>
          </a:p>
        </p:txBody>
      </p:sp>
      <p:sp>
        <p:nvSpPr>
          <p:cNvPr id="5" name="source:4"/>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B9C8D8"/>
                </a:solidFill>
                <a:latin typeface="Arial"/>
              </a:rPr>
              <a:t>02 / 26</a:t>
            </a:r>
          </a:p>
        </p:txBody>
      </p:sp>
      <p:sp>
        <p:nvSpPr>
          <p:cNvPr id="6" name="Rectangle 5"/>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20836"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47791"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74745"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01700"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128654"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55609"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982563"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09518"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836472"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63427"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90381"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17336"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44290"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71244"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98199"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25153"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52108"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79062"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06017"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32971"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959926"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386880"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813835"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40789" y="6711696"/>
            <a:ext cx="381234" cy="50292"/>
          </a:xfrm>
          <a:prstGeom prst="rect">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ody:31"/>
          <p:cNvSpPr txBox="1"/>
          <p:nvPr/>
        </p:nvSpPr>
        <p:spPr>
          <a:xfrm>
            <a:off x="566928" y="868680"/>
            <a:ext cx="7315200" cy="731520"/>
          </a:xfrm>
          <a:prstGeom prst="rect">
            <a:avLst/>
          </a:prstGeom>
          <a:noFill/>
        </p:spPr>
        <p:txBody>
          <a:bodyPr wrap="square" lIns="22860" rIns="22860" tIns="22860" bIns="22860" anchor="t">
            <a:spAutoFit/>
          </a:bodyPr>
          <a:lstStyle/>
          <a:p>
            <a:pPr algn="l">
              <a:lnSpc>
                <a:spcPct val="110000"/>
              </a:lnSpc>
            </a:pPr>
            <a:r>
              <a:rPr sz="3600" b="0" i="0">
                <a:solidFill>
                  <a:srgbClr val="FFFFFF"/>
                </a:solidFill>
                <a:latin typeface="Georgia"/>
              </a:rPr>
              <a:t>Outline</a:t>
            </a:r>
          </a:p>
        </p:txBody>
      </p:sp>
      <p:sp>
        <p:nvSpPr>
          <p:cNvPr id="33" name="Rounded Rectangle 32"/>
          <p:cNvSpPr/>
          <p:nvPr/>
        </p:nvSpPr>
        <p:spPr>
          <a:xfrm>
            <a:off x="566928" y="1783080"/>
            <a:ext cx="11055096" cy="749808"/>
          </a:xfrm>
          <a:prstGeom prst="roundRect">
            <a:avLst>
              <a:gd name="adj" fmla="val 5000"/>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1783080"/>
            <a:ext cx="64008" cy="749808"/>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ody:34"/>
          <p:cNvSpPr txBox="1"/>
          <p:nvPr/>
        </p:nvSpPr>
        <p:spPr>
          <a:xfrm>
            <a:off x="795528" y="1911095"/>
            <a:ext cx="685800" cy="512064"/>
          </a:xfrm>
          <a:prstGeom prst="rect">
            <a:avLst/>
          </a:prstGeom>
          <a:noFill/>
        </p:spPr>
        <p:txBody>
          <a:bodyPr wrap="square" lIns="22860" rIns="22860" tIns="22860" bIns="22860" anchor="ctr">
            <a:spAutoFit/>
          </a:bodyPr>
          <a:lstStyle/>
          <a:p>
            <a:pPr algn="l">
              <a:lnSpc>
                <a:spcPct val="110000"/>
              </a:lnSpc>
            </a:pPr>
            <a:r>
              <a:rPr sz="2400" b="0" i="0">
                <a:solidFill>
                  <a:srgbClr val="B04E45"/>
                </a:solidFill>
                <a:latin typeface="Georgia"/>
              </a:rPr>
              <a:t>01</a:t>
            </a:r>
          </a:p>
        </p:txBody>
      </p:sp>
      <p:sp>
        <p:nvSpPr>
          <p:cNvPr id="36" name="body:35"/>
          <p:cNvSpPr txBox="1"/>
          <p:nvPr/>
        </p:nvSpPr>
        <p:spPr>
          <a:xfrm>
            <a:off x="1572768" y="1856231"/>
            <a:ext cx="2377440" cy="31089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Incidents</a:t>
            </a:r>
          </a:p>
        </p:txBody>
      </p:sp>
      <p:sp>
        <p:nvSpPr>
          <p:cNvPr id="37" name="body:36"/>
          <p:cNvSpPr txBox="1"/>
          <p:nvPr/>
        </p:nvSpPr>
        <p:spPr>
          <a:xfrm>
            <a:off x="1572768" y="2167128"/>
            <a:ext cx="2377440" cy="274320"/>
          </a:xfrm>
          <a:prstGeom prst="rect">
            <a:avLst/>
          </a:prstGeom>
          <a:noFill/>
        </p:spPr>
        <p:txBody>
          <a:bodyPr wrap="square" lIns="22860" rIns="22860" tIns="22860" bIns="22860" anchor="ctr">
            <a:spAutoFit/>
          </a:bodyPr>
          <a:lstStyle/>
          <a:p>
            <a:pPr algn="l">
              <a:lnSpc>
                <a:spcPct val="108000"/>
              </a:lnSpc>
            </a:pPr>
            <a:r>
              <a:rPr sz="1100" b="0">
                <a:solidFill>
                  <a:srgbClr val="B9C8D8"/>
                </a:solidFill>
                <a:latin typeface="Arial"/>
              </a:rPr>
              <a:t>slides 3–8</a:t>
            </a:r>
          </a:p>
        </p:txBody>
      </p:sp>
      <p:sp>
        <p:nvSpPr>
          <p:cNvPr id="38" name="body:37"/>
          <p:cNvSpPr txBox="1"/>
          <p:nvPr/>
        </p:nvSpPr>
        <p:spPr>
          <a:xfrm>
            <a:off x="3995928" y="1837943"/>
            <a:ext cx="7443216" cy="658368"/>
          </a:xfrm>
          <a:prstGeom prst="rect">
            <a:avLst/>
          </a:prstGeom>
          <a:noFill/>
        </p:spPr>
        <p:txBody>
          <a:bodyPr wrap="square" lIns="22860" rIns="22860" tIns="22860" bIns="22860" anchor="ctr">
            <a:spAutoFit/>
          </a:bodyPr>
          <a:lstStyle/>
          <a:p>
            <a:pPr algn="l">
              <a:lnSpc>
                <a:spcPct val="110000"/>
              </a:lnSpc>
            </a:pPr>
            <a:r>
              <a:rPr sz="1150" b="0">
                <a:solidFill>
                  <a:srgbClr val="B9C8D8"/>
                </a:solidFill>
                <a:latin typeface="Arial"/>
              </a:rPr>
              <a:t>Six reported cases in the style of the paper plan: framing, the feedback-loop latency, the Medicare chain, the substitution and scope-inference families, and the three questions a theory must answer.</a:t>
            </a:r>
          </a:p>
        </p:txBody>
      </p:sp>
      <p:sp>
        <p:nvSpPr>
          <p:cNvPr id="39" name="Rounded Rectangle 38"/>
          <p:cNvSpPr/>
          <p:nvPr/>
        </p:nvSpPr>
        <p:spPr>
          <a:xfrm>
            <a:off x="566928" y="2642615"/>
            <a:ext cx="11055096" cy="749808"/>
          </a:xfrm>
          <a:prstGeom prst="roundRect">
            <a:avLst>
              <a:gd name="adj" fmla="val 5000"/>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2642615"/>
            <a:ext cx="64008" cy="749808"/>
          </a:xfrm>
          <a:prstGeom prst="rect">
            <a:avLst/>
          </a:prstGeom>
          <a:solidFill>
            <a:srgbClr val="3A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ody:40"/>
          <p:cNvSpPr txBox="1"/>
          <p:nvPr/>
        </p:nvSpPr>
        <p:spPr>
          <a:xfrm>
            <a:off x="795528" y="2770632"/>
            <a:ext cx="685800" cy="512064"/>
          </a:xfrm>
          <a:prstGeom prst="rect">
            <a:avLst/>
          </a:prstGeom>
          <a:noFill/>
        </p:spPr>
        <p:txBody>
          <a:bodyPr wrap="square" lIns="22860" rIns="22860" tIns="22860" bIns="22860" anchor="ctr">
            <a:spAutoFit/>
          </a:bodyPr>
          <a:lstStyle/>
          <a:p>
            <a:pPr algn="l">
              <a:lnSpc>
                <a:spcPct val="110000"/>
              </a:lnSpc>
            </a:pPr>
            <a:r>
              <a:rPr sz="2400" b="0" i="0">
                <a:solidFill>
                  <a:srgbClr val="3A6391"/>
                </a:solidFill>
                <a:latin typeface="Georgia"/>
              </a:rPr>
              <a:t>02</a:t>
            </a:r>
          </a:p>
        </p:txBody>
      </p:sp>
      <p:sp>
        <p:nvSpPr>
          <p:cNvPr id="42" name="body:41"/>
          <p:cNvSpPr txBox="1"/>
          <p:nvPr/>
        </p:nvSpPr>
        <p:spPr>
          <a:xfrm>
            <a:off x="1572768" y="2715768"/>
            <a:ext cx="2377440" cy="31089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Decision theory</a:t>
            </a:r>
          </a:p>
        </p:txBody>
      </p:sp>
      <p:sp>
        <p:nvSpPr>
          <p:cNvPr id="43" name="body:42"/>
          <p:cNvSpPr txBox="1"/>
          <p:nvPr/>
        </p:nvSpPr>
        <p:spPr>
          <a:xfrm>
            <a:off x="1572768" y="3026663"/>
            <a:ext cx="2377440" cy="274320"/>
          </a:xfrm>
          <a:prstGeom prst="rect">
            <a:avLst/>
          </a:prstGeom>
          <a:noFill/>
        </p:spPr>
        <p:txBody>
          <a:bodyPr wrap="square" lIns="22860" rIns="22860" tIns="22860" bIns="22860" anchor="ctr">
            <a:spAutoFit/>
          </a:bodyPr>
          <a:lstStyle/>
          <a:p>
            <a:pPr algn="l">
              <a:lnSpc>
                <a:spcPct val="108000"/>
              </a:lnSpc>
            </a:pPr>
            <a:r>
              <a:rPr sz="1100" b="0">
                <a:solidFill>
                  <a:srgbClr val="B9C8D8"/>
                </a:solidFill>
                <a:latin typeface="Arial"/>
              </a:rPr>
              <a:t>slides 9–15</a:t>
            </a:r>
          </a:p>
        </p:txBody>
      </p:sp>
      <p:sp>
        <p:nvSpPr>
          <p:cNvPr id="44" name="body:43"/>
          <p:cNvSpPr txBox="1"/>
          <p:nvPr/>
        </p:nvSpPr>
        <p:spPr>
          <a:xfrm>
            <a:off x="3995928" y="2697479"/>
            <a:ext cx="7443216" cy="658368"/>
          </a:xfrm>
          <a:prstGeom prst="rect">
            <a:avLst/>
          </a:prstGeom>
          <a:noFill/>
        </p:spPr>
        <p:txBody>
          <a:bodyPr wrap="square" lIns="22860" rIns="22860" tIns="22860" bIns="22860" anchor="ctr">
            <a:spAutoFit/>
          </a:bodyPr>
          <a:lstStyle/>
          <a:p>
            <a:pPr algn="l">
              <a:lnSpc>
                <a:spcPct val="110000"/>
              </a:lnSpc>
            </a:pPr>
            <a:r>
              <a:rPr sz="1150" b="0">
                <a:solidFill>
                  <a:srgbClr val="B9C8D8"/>
                </a:solidFill>
                <a:latin typeface="Arial"/>
              </a:rPr>
              <a:t>A constrained POMDP whose grant only a trusted reply can change, then four exact results: stopping with learning, value of information (policy, payoffs, boundaries), ambiguity under a silent grant, and selection.</a:t>
            </a:r>
          </a:p>
        </p:txBody>
      </p:sp>
      <p:sp>
        <p:nvSpPr>
          <p:cNvPr id="45" name="Rounded Rectangle 44"/>
          <p:cNvSpPr/>
          <p:nvPr/>
        </p:nvSpPr>
        <p:spPr>
          <a:xfrm>
            <a:off x="566928" y="3502152"/>
            <a:ext cx="11055096" cy="749808"/>
          </a:xfrm>
          <a:prstGeom prst="roundRect">
            <a:avLst>
              <a:gd name="adj" fmla="val 5000"/>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66928" y="3502152"/>
            <a:ext cx="64008" cy="749808"/>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ody:46"/>
          <p:cNvSpPr txBox="1"/>
          <p:nvPr/>
        </p:nvSpPr>
        <p:spPr>
          <a:xfrm>
            <a:off x="795528" y="3630168"/>
            <a:ext cx="685800" cy="512064"/>
          </a:xfrm>
          <a:prstGeom prst="rect">
            <a:avLst/>
          </a:prstGeom>
          <a:noFill/>
        </p:spPr>
        <p:txBody>
          <a:bodyPr wrap="square" lIns="22860" rIns="22860" tIns="22860" bIns="22860" anchor="ctr">
            <a:spAutoFit/>
          </a:bodyPr>
          <a:lstStyle/>
          <a:p>
            <a:pPr algn="l">
              <a:lnSpc>
                <a:spcPct val="110000"/>
              </a:lnSpc>
            </a:pPr>
            <a:r>
              <a:rPr sz="2400" b="0" i="0">
                <a:solidFill>
                  <a:srgbClr val="1E7A72"/>
                </a:solidFill>
                <a:latin typeface="Georgia"/>
              </a:rPr>
              <a:t>03</a:t>
            </a:r>
          </a:p>
        </p:txBody>
      </p:sp>
      <p:sp>
        <p:nvSpPr>
          <p:cNvPr id="48" name="body:47"/>
          <p:cNvSpPr txBox="1"/>
          <p:nvPr/>
        </p:nvSpPr>
        <p:spPr>
          <a:xfrm>
            <a:off x="1572768" y="3575304"/>
            <a:ext cx="2377440" cy="31089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Algorithms</a:t>
            </a:r>
          </a:p>
        </p:txBody>
      </p:sp>
      <p:sp>
        <p:nvSpPr>
          <p:cNvPr id="49" name="body:48"/>
          <p:cNvSpPr txBox="1"/>
          <p:nvPr/>
        </p:nvSpPr>
        <p:spPr>
          <a:xfrm>
            <a:off x="1572768" y="3886200"/>
            <a:ext cx="2377440" cy="274320"/>
          </a:xfrm>
          <a:prstGeom prst="rect">
            <a:avLst/>
          </a:prstGeom>
          <a:noFill/>
        </p:spPr>
        <p:txBody>
          <a:bodyPr wrap="square" lIns="22860" rIns="22860" tIns="22860" bIns="22860" anchor="ctr">
            <a:spAutoFit/>
          </a:bodyPr>
          <a:lstStyle/>
          <a:p>
            <a:pPr algn="l">
              <a:lnSpc>
                <a:spcPct val="108000"/>
              </a:lnSpc>
            </a:pPr>
            <a:r>
              <a:rPr sz="1100" b="0">
                <a:solidFill>
                  <a:srgbClr val="B9C8D8"/>
                </a:solidFill>
                <a:latin typeface="Arial"/>
              </a:rPr>
              <a:t>slides 16–19</a:t>
            </a:r>
          </a:p>
        </p:txBody>
      </p:sp>
      <p:sp>
        <p:nvSpPr>
          <p:cNvPr id="50" name="body:49"/>
          <p:cNvSpPr txBox="1"/>
          <p:nvPr/>
        </p:nvSpPr>
        <p:spPr>
          <a:xfrm>
            <a:off x="3995928" y="3557016"/>
            <a:ext cx="7443216" cy="658368"/>
          </a:xfrm>
          <a:prstGeom prst="rect">
            <a:avLst/>
          </a:prstGeom>
          <a:noFill/>
        </p:spPr>
        <p:txBody>
          <a:bodyPr wrap="square" lIns="22860" rIns="22860" tIns="22860" bIns="22860" anchor="ctr">
            <a:spAutoFit/>
          </a:bodyPr>
          <a:lstStyle/>
          <a:p>
            <a:pPr algn="l">
              <a:lnSpc>
                <a:spcPct val="110000"/>
              </a:lnSpc>
            </a:pPr>
            <a:r>
              <a:rPr sz="1150" b="0">
                <a:solidFill>
                  <a:srgbClr val="B9C8D8"/>
                </a:solidFill>
                <a:latin typeface="Arial"/>
              </a:rPr>
              <a:t>GRANT-LOOKAHEAD (online) and INCIDENT-SELECT (offline) as pseudocode with properties; a point-by-point comparison with POMCP, constrained RL, shielding, CaMeL, Progent, AI Control and ImpossibleBench.</a:t>
            </a:r>
          </a:p>
        </p:txBody>
      </p:sp>
      <p:sp>
        <p:nvSpPr>
          <p:cNvPr id="51" name="Rounded Rectangle 50"/>
          <p:cNvSpPr/>
          <p:nvPr/>
        </p:nvSpPr>
        <p:spPr>
          <a:xfrm>
            <a:off x="566928" y="4361688"/>
            <a:ext cx="11055096" cy="749808"/>
          </a:xfrm>
          <a:prstGeom prst="roundRect">
            <a:avLst>
              <a:gd name="adj" fmla="val 5000"/>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66928" y="4361688"/>
            <a:ext cx="64008" cy="749808"/>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ody:52"/>
          <p:cNvSpPr txBox="1"/>
          <p:nvPr/>
        </p:nvSpPr>
        <p:spPr>
          <a:xfrm>
            <a:off x="795528" y="4489703"/>
            <a:ext cx="685800" cy="512064"/>
          </a:xfrm>
          <a:prstGeom prst="rect">
            <a:avLst/>
          </a:prstGeom>
          <a:noFill/>
        </p:spPr>
        <p:txBody>
          <a:bodyPr wrap="square" lIns="22860" rIns="22860" tIns="22860" bIns="22860" anchor="ctr">
            <a:spAutoFit/>
          </a:bodyPr>
          <a:lstStyle/>
          <a:p>
            <a:pPr algn="l">
              <a:lnSpc>
                <a:spcPct val="110000"/>
              </a:lnSpc>
            </a:pPr>
            <a:r>
              <a:rPr sz="2400" b="0" i="0">
                <a:solidFill>
                  <a:srgbClr val="6A4C93"/>
                </a:solidFill>
                <a:latin typeface="Georgia"/>
              </a:rPr>
              <a:t>04</a:t>
            </a:r>
          </a:p>
        </p:txBody>
      </p:sp>
      <p:sp>
        <p:nvSpPr>
          <p:cNvPr id="54" name="body:53"/>
          <p:cNvSpPr txBox="1"/>
          <p:nvPr/>
        </p:nvSpPr>
        <p:spPr>
          <a:xfrm>
            <a:off x="1572768" y="4434840"/>
            <a:ext cx="2377440" cy="31089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Experiments</a:t>
            </a:r>
          </a:p>
        </p:txBody>
      </p:sp>
      <p:sp>
        <p:nvSpPr>
          <p:cNvPr id="55" name="body:54"/>
          <p:cNvSpPr txBox="1"/>
          <p:nvPr/>
        </p:nvSpPr>
        <p:spPr>
          <a:xfrm>
            <a:off x="1572768" y="4745736"/>
            <a:ext cx="2377440" cy="274320"/>
          </a:xfrm>
          <a:prstGeom prst="rect">
            <a:avLst/>
          </a:prstGeom>
          <a:noFill/>
        </p:spPr>
        <p:txBody>
          <a:bodyPr wrap="square" lIns="22860" rIns="22860" tIns="22860" bIns="22860" anchor="ctr">
            <a:spAutoFit/>
          </a:bodyPr>
          <a:lstStyle/>
          <a:p>
            <a:pPr algn="l">
              <a:lnSpc>
                <a:spcPct val="108000"/>
              </a:lnSpc>
            </a:pPr>
            <a:r>
              <a:rPr sz="1100" b="0">
                <a:solidFill>
                  <a:srgbClr val="B9C8D8"/>
                </a:solidFill>
                <a:latin typeface="Arial"/>
              </a:rPr>
              <a:t>slides 20–22</a:t>
            </a:r>
          </a:p>
        </p:txBody>
      </p:sp>
      <p:sp>
        <p:nvSpPr>
          <p:cNvPr id="56" name="body:55"/>
          <p:cNvSpPr txBox="1"/>
          <p:nvPr/>
        </p:nvSpPr>
        <p:spPr>
          <a:xfrm>
            <a:off x="3995928" y="4416551"/>
            <a:ext cx="7443216" cy="658368"/>
          </a:xfrm>
          <a:prstGeom prst="rect">
            <a:avLst/>
          </a:prstGeom>
          <a:noFill/>
        </p:spPr>
        <p:txBody>
          <a:bodyPr wrap="square" lIns="22860" rIns="22860" tIns="22860" bIns="22860" anchor="ctr">
            <a:spAutoFit/>
          </a:bodyPr>
          <a:lstStyle/>
          <a:p>
            <a:pPr algn="l">
              <a:lnSpc>
                <a:spcPct val="110000"/>
              </a:lnSpc>
            </a:pPr>
            <a:r>
              <a:rPr sz="1150" b="0">
                <a:solidFill>
                  <a:srgbClr val="B9C8D8"/>
                </a:solidFill>
                <a:latin typeface="Arial"/>
              </a:rPr>
              <a:t>E1 simulator regret study; E2 repair × grant factorial with seven arms including prior-method baselines; E3 selection contrast on fresh lineages; falsifiers for each.</a:t>
            </a:r>
          </a:p>
        </p:txBody>
      </p:sp>
      <p:sp>
        <p:nvSpPr>
          <p:cNvPr id="57" name="Rounded Rectangle 56"/>
          <p:cNvSpPr/>
          <p:nvPr/>
        </p:nvSpPr>
        <p:spPr>
          <a:xfrm>
            <a:off x="566928" y="5221224"/>
            <a:ext cx="11055096" cy="749808"/>
          </a:xfrm>
          <a:prstGeom prst="roundRect">
            <a:avLst>
              <a:gd name="adj" fmla="val 5000"/>
            </a:avLst>
          </a:prstGeom>
          <a:solidFill>
            <a:srgbClr val="223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66928" y="5221224"/>
            <a:ext cx="64008" cy="749808"/>
          </a:xfrm>
          <a:prstGeom prst="rect">
            <a:avLst/>
          </a:prstGeom>
          <a:solidFill>
            <a:srgbClr val="B46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ody:58"/>
          <p:cNvSpPr txBox="1"/>
          <p:nvPr/>
        </p:nvSpPr>
        <p:spPr>
          <a:xfrm>
            <a:off x="795528" y="5349240"/>
            <a:ext cx="685800" cy="512064"/>
          </a:xfrm>
          <a:prstGeom prst="rect">
            <a:avLst/>
          </a:prstGeom>
          <a:noFill/>
        </p:spPr>
        <p:txBody>
          <a:bodyPr wrap="square" lIns="22860" rIns="22860" tIns="22860" bIns="22860" anchor="ctr">
            <a:spAutoFit/>
          </a:bodyPr>
          <a:lstStyle/>
          <a:p>
            <a:pPr algn="l">
              <a:lnSpc>
                <a:spcPct val="110000"/>
              </a:lnSpc>
            </a:pPr>
            <a:r>
              <a:rPr sz="2400" b="0" i="0">
                <a:solidFill>
                  <a:srgbClr val="B4602E"/>
                </a:solidFill>
                <a:latin typeface="Georgia"/>
              </a:rPr>
              <a:t>05</a:t>
            </a:r>
          </a:p>
        </p:txBody>
      </p:sp>
      <p:sp>
        <p:nvSpPr>
          <p:cNvPr id="60" name="body:59"/>
          <p:cNvSpPr txBox="1"/>
          <p:nvPr/>
        </p:nvSpPr>
        <p:spPr>
          <a:xfrm>
            <a:off x="1572768" y="5294376"/>
            <a:ext cx="2377440" cy="31089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Implications</a:t>
            </a:r>
          </a:p>
        </p:txBody>
      </p:sp>
      <p:sp>
        <p:nvSpPr>
          <p:cNvPr id="61" name="body:60"/>
          <p:cNvSpPr txBox="1"/>
          <p:nvPr/>
        </p:nvSpPr>
        <p:spPr>
          <a:xfrm>
            <a:off x="1572768" y="5605272"/>
            <a:ext cx="2377440" cy="274320"/>
          </a:xfrm>
          <a:prstGeom prst="rect">
            <a:avLst/>
          </a:prstGeom>
          <a:noFill/>
        </p:spPr>
        <p:txBody>
          <a:bodyPr wrap="square" lIns="22860" rIns="22860" tIns="22860" bIns="22860" anchor="ctr">
            <a:spAutoFit/>
          </a:bodyPr>
          <a:lstStyle/>
          <a:p>
            <a:pPr algn="l">
              <a:lnSpc>
                <a:spcPct val="108000"/>
              </a:lnSpc>
            </a:pPr>
            <a:r>
              <a:rPr sz="1100" b="0">
                <a:solidFill>
                  <a:srgbClr val="B9C8D8"/>
                </a:solidFill>
                <a:latin typeface="Arial"/>
              </a:rPr>
              <a:t>slides 23–24</a:t>
            </a:r>
          </a:p>
        </p:txBody>
      </p:sp>
      <p:sp>
        <p:nvSpPr>
          <p:cNvPr id="62" name="body:61"/>
          <p:cNvSpPr txBox="1"/>
          <p:nvPr/>
        </p:nvSpPr>
        <p:spPr>
          <a:xfrm>
            <a:off x="3995928" y="5276088"/>
            <a:ext cx="7443216" cy="658368"/>
          </a:xfrm>
          <a:prstGeom prst="rect">
            <a:avLst/>
          </a:prstGeom>
          <a:noFill/>
        </p:spPr>
        <p:txBody>
          <a:bodyPr wrap="square" lIns="22860" rIns="22860" tIns="22860" bIns="22860" anchor="ctr">
            <a:spAutoFit/>
          </a:bodyPr>
          <a:lstStyle/>
          <a:p>
            <a:pPr algn="l">
              <a:lnSpc>
                <a:spcPct val="110000"/>
              </a:lnSpc>
            </a:pPr>
            <a:r>
              <a:rPr sz="1150" b="0">
                <a:solidFill>
                  <a:srgbClr val="B9C8D8"/>
                </a:solidFill>
                <a:latin typeface="Arial"/>
              </a:rPr>
              <a:t>Each incident family mapped to a result, a system change and its test; outcomes interpreted in advance; milestones.</a:t>
            </a:r>
          </a:p>
        </p:txBody>
      </p:sp>
      <p:sp>
        <p:nvSpPr>
          <p:cNvPr id="63" name="body:62"/>
          <p:cNvSpPr txBox="1"/>
          <p:nvPr/>
        </p:nvSpPr>
        <p:spPr>
          <a:xfrm>
            <a:off x="566928" y="6163056"/>
            <a:ext cx="11055096" cy="201168"/>
          </a:xfrm>
          <a:prstGeom prst="rect">
            <a:avLst/>
          </a:prstGeom>
          <a:noFill/>
        </p:spPr>
        <p:txBody>
          <a:bodyPr wrap="square" lIns="22860" rIns="22860" tIns="22860" bIns="22860" anchor="ctr">
            <a:spAutoFit/>
          </a:bodyPr>
          <a:lstStyle/>
          <a:p>
            <a:pPr algn="l">
              <a:lnSpc>
                <a:spcPct val="108000"/>
              </a:lnSpc>
            </a:pPr>
            <a:r>
              <a:rPr sz="1000" b="0">
                <a:solidFill>
                  <a:srgbClr val="B9C8D8"/>
                </a:solidFill>
                <a:latin typeface="Arial"/>
              </a:rPr>
              <a:t>Reference appendix: M1-M6 failure mechanisms (25); P1-P9 design propositions (26).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01 / MOTIVATION FROM REPORTED INCIDENTS</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A failed route is where authority gets reinterpreted.</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26 public incident records, October 2025 to September 2026, coded by pathway, mechanism, risk indicator and stop behaviour.</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03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1E7A72"/>
                </a:solidFill>
                <a:latin typeface="Arial"/>
              </a:rPr>
              <a:t>FRAMING</a:t>
            </a:r>
          </a:p>
        </p:txBody>
      </p:sp>
      <p:sp>
        <p:nvSpPr>
          <p:cNvPr id="37" name="source:36"/>
          <p:cNvSpPr txBox="1"/>
          <p:nvPr/>
        </p:nvSpPr>
        <p:spPr>
          <a:xfrm>
            <a:off x="566928" y="6400800"/>
            <a:ext cx="21031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Incident library analysis</a:t>
            </a:r>
          </a:p>
        </p:txBody>
      </p:sp>
      <p:sp>
        <p:nvSpPr>
          <p:cNvPr id="38" name="source:37"/>
          <p:cNvSpPr txBox="1"/>
          <p:nvPr/>
        </p:nvSpPr>
        <p:spPr>
          <a:xfrm>
            <a:off x="2816352" y="6400800"/>
            <a:ext cx="21031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Archived 160-run study</a:t>
            </a:r>
          </a:p>
        </p:txBody>
      </p:sp>
      <p:sp>
        <p:nvSpPr>
          <p:cNvPr id="39" name="source:38"/>
          <p:cNvSpPr txBox="1"/>
          <p:nvPr/>
        </p:nvSpPr>
        <p:spPr>
          <a:xfrm>
            <a:off x="5065776" y="6400800"/>
            <a:ext cx="27432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4"/>
              </a:rPr>
              <a:t>Incidents to testable questions</a:t>
            </a:r>
          </a:p>
        </p:txBody>
      </p:sp>
      <p:sp>
        <p:nvSpPr>
          <p:cNvPr id="40" name="Rounded Rectangle 39"/>
          <p:cNvSpPr/>
          <p:nvPr/>
        </p:nvSpPr>
        <p:spPr>
          <a:xfrm>
            <a:off x="566928" y="2194560"/>
            <a:ext cx="2612898" cy="1965960"/>
          </a:xfrm>
          <a:prstGeom prst="roundRect">
            <a:avLst>
              <a:gd name="adj" fmla="val 5000"/>
            </a:avLst>
          </a:prstGeom>
          <a:solidFill>
            <a:srgbClr val="F7E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6928" y="2194560"/>
            <a:ext cx="2612898" cy="54864"/>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ody:41"/>
          <p:cNvSpPr txBox="1"/>
          <p:nvPr/>
        </p:nvSpPr>
        <p:spPr>
          <a:xfrm>
            <a:off x="676656" y="2322576"/>
            <a:ext cx="2393442" cy="457200"/>
          </a:xfrm>
          <a:prstGeom prst="rect">
            <a:avLst/>
          </a:prstGeom>
          <a:noFill/>
        </p:spPr>
        <p:txBody>
          <a:bodyPr wrap="square" lIns="22860" rIns="22860" tIns="22860" bIns="22860" anchor="ctr">
            <a:spAutoFit/>
          </a:bodyPr>
          <a:lstStyle/>
          <a:p>
            <a:pPr algn="l">
              <a:lnSpc>
                <a:spcPct val="100000"/>
              </a:lnSpc>
            </a:pPr>
            <a:r>
              <a:rPr sz="1600" b="1">
                <a:solidFill>
                  <a:srgbClr val="B04E45"/>
                </a:solidFill>
                <a:latin typeface="Arial"/>
              </a:rPr>
              <a:t>26 public incidents</a:t>
            </a:r>
          </a:p>
        </p:txBody>
      </p:sp>
      <p:sp>
        <p:nvSpPr>
          <p:cNvPr id="43" name="body:42"/>
          <p:cNvSpPr txBox="1"/>
          <p:nvPr/>
        </p:nvSpPr>
        <p:spPr>
          <a:xfrm>
            <a:off x="676656" y="2798064"/>
            <a:ext cx="2393442" cy="1271016"/>
          </a:xfrm>
          <a:prstGeom prst="rect">
            <a:avLst/>
          </a:prstGeom>
          <a:noFill/>
        </p:spPr>
        <p:txBody>
          <a:bodyPr wrap="square" lIns="22860" rIns="22860" tIns="22860" bIns="22860" anchor="t">
            <a:spAutoFit/>
          </a:bodyPr>
          <a:lstStyle/>
          <a:p>
            <a:pPr algn="l">
              <a:lnSpc>
                <a:spcPct val="105000"/>
              </a:lnSpc>
            </a:pPr>
            <a:r>
              <a:rPr sz="1250" b="0">
                <a:solidFill>
                  <a:srgbClr val="22313F"/>
                </a:solidFill>
                <a:latin typeface="Arial"/>
              </a:rPr>
              <a:t>Largest pathway: live-access overreach, 9 of 26. Repeated task failure recorded in 9; unknown in 13.</a:t>
            </a:r>
          </a:p>
        </p:txBody>
      </p:sp>
      <p:sp>
        <p:nvSpPr>
          <p:cNvPr id="44" name="Rectangle 43"/>
          <p:cNvSpPr/>
          <p:nvPr/>
        </p:nvSpPr>
        <p:spPr>
          <a:xfrm>
            <a:off x="3207258" y="3166109"/>
            <a:ext cx="146304" cy="22860"/>
          </a:xfrm>
          <a:prstGeom prst="rect">
            <a:avLst/>
          </a:prstGeom>
          <a:solidFill>
            <a:srgbClr val="5F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Isosceles Triangle 44"/>
          <p:cNvSpPr/>
          <p:nvPr/>
        </p:nvSpPr>
        <p:spPr>
          <a:xfrm rot="5400000">
            <a:off x="3289554" y="3113531"/>
            <a:ext cx="128016" cy="128016"/>
          </a:xfrm>
          <a:prstGeom prst="triangle">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3380994" y="2194560"/>
            <a:ext cx="2612898" cy="1965960"/>
          </a:xfrm>
          <a:prstGeom prst="roundRect">
            <a:avLst>
              <a:gd name="adj" fmla="val 5000"/>
            </a:avLst>
          </a:prstGeom>
          <a:solidFill>
            <a:srgbClr val="F8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380994" y="2194560"/>
            <a:ext cx="2612898" cy="54864"/>
          </a:xfrm>
          <a:prstGeom prst="rect">
            <a:avLst/>
          </a:prstGeom>
          <a:solidFill>
            <a:srgbClr val="B46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ody:47"/>
          <p:cNvSpPr txBox="1"/>
          <p:nvPr/>
        </p:nvSpPr>
        <p:spPr>
          <a:xfrm>
            <a:off x="3490722" y="2322576"/>
            <a:ext cx="2393442" cy="457200"/>
          </a:xfrm>
          <a:prstGeom prst="rect">
            <a:avLst/>
          </a:prstGeom>
          <a:noFill/>
        </p:spPr>
        <p:txBody>
          <a:bodyPr wrap="square" lIns="22860" rIns="22860" tIns="22860" bIns="22860" anchor="ctr">
            <a:spAutoFit/>
          </a:bodyPr>
          <a:lstStyle/>
          <a:p>
            <a:pPr algn="l">
              <a:lnSpc>
                <a:spcPct val="100000"/>
              </a:lnSpc>
            </a:pPr>
            <a:r>
              <a:rPr sz="1600" b="1">
                <a:solidFill>
                  <a:srgbClr val="B4602E"/>
                </a:solidFill>
                <a:latin typeface="Arial"/>
              </a:rPr>
              <a:t>One decision point</a:t>
            </a:r>
          </a:p>
        </p:txBody>
      </p:sp>
      <p:sp>
        <p:nvSpPr>
          <p:cNvPr id="49" name="body:48"/>
          <p:cNvSpPr txBox="1"/>
          <p:nvPr/>
        </p:nvSpPr>
        <p:spPr>
          <a:xfrm>
            <a:off x="3490722" y="2798064"/>
            <a:ext cx="2393442" cy="1271016"/>
          </a:xfrm>
          <a:prstGeom prst="rect">
            <a:avLst/>
          </a:prstGeom>
          <a:noFill/>
        </p:spPr>
        <p:txBody>
          <a:bodyPr wrap="square" lIns="22860" rIns="22860" tIns="22860" bIns="22860" anchor="t">
            <a:spAutoFit/>
          </a:bodyPr>
          <a:lstStyle/>
          <a:p>
            <a:pPr algn="l">
              <a:lnSpc>
                <a:spcPct val="105000"/>
              </a:lnSpc>
            </a:pPr>
            <a:r>
              <a:rPr sz="1250" b="0">
                <a:solidFill>
                  <a:srgbClr val="22313F"/>
                </a:solidFill>
                <a:latin typeface="Arial"/>
              </a:rPr>
              <a:t>Task blocked. Allowed route failing. Forbidden resource reachable. What changes: the plan, or the permission?</a:t>
            </a:r>
          </a:p>
        </p:txBody>
      </p:sp>
      <p:sp>
        <p:nvSpPr>
          <p:cNvPr id="50" name="Rectangle 49"/>
          <p:cNvSpPr/>
          <p:nvPr/>
        </p:nvSpPr>
        <p:spPr>
          <a:xfrm>
            <a:off x="6021324" y="3166109"/>
            <a:ext cx="146304" cy="22860"/>
          </a:xfrm>
          <a:prstGeom prst="rect">
            <a:avLst/>
          </a:prstGeom>
          <a:solidFill>
            <a:srgbClr val="5F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Isosceles Triangle 50"/>
          <p:cNvSpPr/>
          <p:nvPr/>
        </p:nvSpPr>
        <p:spPr>
          <a:xfrm rot="5400000">
            <a:off x="6103620" y="3113531"/>
            <a:ext cx="128016" cy="128016"/>
          </a:xfrm>
          <a:prstGeom prst="triangle">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195060" y="2194560"/>
            <a:ext cx="2612898" cy="1965960"/>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195060" y="2194560"/>
            <a:ext cx="2612898" cy="54864"/>
          </a:xfrm>
          <a:prstGeom prst="rect">
            <a:avLst/>
          </a:prstGeom>
          <a:solidFill>
            <a:srgbClr val="3A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ody:53"/>
          <p:cNvSpPr txBox="1"/>
          <p:nvPr/>
        </p:nvSpPr>
        <p:spPr>
          <a:xfrm>
            <a:off x="6304788" y="2322576"/>
            <a:ext cx="2393442" cy="457200"/>
          </a:xfrm>
          <a:prstGeom prst="rect">
            <a:avLst/>
          </a:prstGeom>
          <a:noFill/>
        </p:spPr>
        <p:txBody>
          <a:bodyPr wrap="square" lIns="22860" rIns="22860" tIns="22860" bIns="22860" anchor="ctr">
            <a:spAutoFit/>
          </a:bodyPr>
          <a:lstStyle/>
          <a:p>
            <a:pPr algn="l">
              <a:lnSpc>
                <a:spcPct val="100000"/>
              </a:lnSpc>
            </a:pPr>
            <a:r>
              <a:rPr sz="1600" b="1">
                <a:solidFill>
                  <a:srgbClr val="3A6391"/>
                </a:solidFill>
                <a:latin typeface="Arial"/>
              </a:rPr>
              <a:t>160 archived runs</a:t>
            </a:r>
          </a:p>
        </p:txBody>
      </p:sp>
      <p:sp>
        <p:nvSpPr>
          <p:cNvPr id="55" name="body:54"/>
          <p:cNvSpPr txBox="1"/>
          <p:nvPr/>
        </p:nvSpPr>
        <p:spPr>
          <a:xfrm>
            <a:off x="6304788" y="2798064"/>
            <a:ext cx="2393442" cy="1271016"/>
          </a:xfrm>
          <a:prstGeom prst="rect">
            <a:avLst/>
          </a:prstGeom>
          <a:noFill/>
        </p:spPr>
        <p:txBody>
          <a:bodyPr wrap="square" lIns="22860" rIns="22860" tIns="22860" bIns="22860" anchor="t">
            <a:spAutoFit/>
          </a:bodyPr>
          <a:lstStyle/>
          <a:p>
            <a:pPr algn="l">
              <a:lnSpc>
                <a:spcPct val="105000"/>
              </a:lnSpc>
            </a:pPr>
            <a:r>
              <a:rPr sz="1250" b="0">
                <a:solidFill>
                  <a:srgbClr val="22313F"/>
                </a:solidFill>
                <a:latin typeface="Arial"/>
              </a:rPr>
              <a:t>Local service fixture, effect oracle in SQLite. 13 scorer passes carried an unauthorized effect; 2 violations never passed.</a:t>
            </a:r>
          </a:p>
        </p:txBody>
      </p:sp>
      <p:sp>
        <p:nvSpPr>
          <p:cNvPr id="56" name="Rectangle 55"/>
          <p:cNvSpPr/>
          <p:nvPr/>
        </p:nvSpPr>
        <p:spPr>
          <a:xfrm>
            <a:off x="8835390" y="3166109"/>
            <a:ext cx="146304" cy="22860"/>
          </a:xfrm>
          <a:prstGeom prst="rect">
            <a:avLst/>
          </a:prstGeom>
          <a:solidFill>
            <a:srgbClr val="5F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Isosceles Triangle 56"/>
          <p:cNvSpPr/>
          <p:nvPr/>
        </p:nvSpPr>
        <p:spPr>
          <a:xfrm rot="5400000">
            <a:off x="8917686" y="3113531"/>
            <a:ext cx="128016" cy="128016"/>
          </a:xfrm>
          <a:prstGeom prst="triangle">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9009126" y="2194560"/>
            <a:ext cx="2612898" cy="1965960"/>
          </a:xfrm>
          <a:prstGeom prst="roundRect">
            <a:avLst>
              <a:gd name="adj" fmla="val 5000"/>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009126" y="2194560"/>
            <a:ext cx="2612898" cy="54864"/>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ody:59"/>
          <p:cNvSpPr txBox="1"/>
          <p:nvPr/>
        </p:nvSpPr>
        <p:spPr>
          <a:xfrm>
            <a:off x="9118854" y="2322576"/>
            <a:ext cx="2393442" cy="457200"/>
          </a:xfrm>
          <a:prstGeom prst="rect">
            <a:avLst/>
          </a:prstGeom>
          <a:noFill/>
        </p:spPr>
        <p:txBody>
          <a:bodyPr wrap="square" lIns="22860" rIns="22860" tIns="22860" bIns="22860" anchor="ctr">
            <a:spAutoFit/>
          </a:bodyPr>
          <a:lstStyle/>
          <a:p>
            <a:pPr algn="l">
              <a:lnSpc>
                <a:spcPct val="100000"/>
              </a:lnSpc>
            </a:pPr>
            <a:r>
              <a:rPr sz="1600" b="1">
                <a:solidFill>
                  <a:srgbClr val="1E7A72"/>
                </a:solidFill>
                <a:latin typeface="Arial"/>
              </a:rPr>
              <a:t>A theory and two algorithms</a:t>
            </a:r>
          </a:p>
        </p:txBody>
      </p:sp>
      <p:sp>
        <p:nvSpPr>
          <p:cNvPr id="61" name="body:60"/>
          <p:cNvSpPr txBox="1"/>
          <p:nvPr/>
        </p:nvSpPr>
        <p:spPr>
          <a:xfrm>
            <a:off x="9118854" y="2798064"/>
            <a:ext cx="2393442" cy="1271016"/>
          </a:xfrm>
          <a:prstGeom prst="rect">
            <a:avLst/>
          </a:prstGeom>
          <a:noFill/>
        </p:spPr>
        <p:txBody>
          <a:bodyPr wrap="square" lIns="22860" rIns="22860" tIns="22860" bIns="22860" anchor="t">
            <a:spAutoFit/>
          </a:bodyPr>
          <a:lstStyle/>
          <a:p>
            <a:pPr algn="l">
              <a:lnSpc>
                <a:spcPct val="105000"/>
              </a:lnSpc>
            </a:pPr>
            <a:r>
              <a:rPr sz="1250" b="0">
                <a:solidFill>
                  <a:srgbClr val="22313F"/>
                </a:solidFill>
                <a:latin typeface="Arial"/>
              </a:rPr>
              <a:t>A constrained POMDP whose grant only a trusted reply can change; an online planner and an offline selector; tests that can fail.</a:t>
            </a:r>
          </a:p>
        </p:txBody>
      </p:sp>
      <p:sp>
        <p:nvSpPr>
          <p:cNvPr id="62" name="body:61"/>
          <p:cNvSpPr txBox="1"/>
          <p:nvPr/>
        </p:nvSpPr>
        <p:spPr>
          <a:xfrm>
            <a:off x="566928" y="4389120"/>
            <a:ext cx="11055096" cy="777240"/>
          </a:xfrm>
          <a:prstGeom prst="rect">
            <a:avLst/>
          </a:prstGeom>
          <a:noFill/>
        </p:spPr>
        <p:txBody>
          <a:bodyPr wrap="square" lIns="22860" rIns="22860" tIns="22860" bIns="22860" anchor="ctr">
            <a:spAutoFit/>
          </a:bodyPr>
          <a:lstStyle/>
          <a:p>
            <a:pPr algn="l">
              <a:lnSpc>
                <a:spcPct val="110000"/>
              </a:lnSpc>
            </a:pPr>
            <a:r>
              <a:rPr sz="1350" b="0">
                <a:solidFill>
                  <a:srgbClr val="5F6E80"/>
                </a:solidFill>
                <a:latin typeface="Arial"/>
              </a:rPr>
              <a:t>Claim boundary: the incidents motivate hypotheses and do not establish rates. The decision model is classical; the proposed contribution is the separation of feasibility evidence from grant transitions, tested through paired interventions with an independent effect observer. No containment guarantee is claimed.</a:t>
            </a:r>
          </a:p>
        </p:txBody>
      </p:sp>
      <p:sp>
        <p:nvSpPr>
          <p:cNvPr id="63" name="Rounded Rectangle 62"/>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ody:63"/>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Failure changes what is possible. It does not grant new authority.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02 / THE FEEDBACK LOOP A DEPLOYED AGENT ACTUALLY GETS</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The world reports an incident four months after it happens.</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Occurrence, detection and public disclosure for the 21 library entries with a known start date.</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04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REPORTED</a:t>
            </a:r>
          </a:p>
        </p:txBody>
      </p:sp>
      <p:sp>
        <p:nvSpPr>
          <p:cNvPr id="37" name="source:36"/>
          <p:cNvSpPr txBox="1"/>
          <p:nvPr/>
        </p:nvSpPr>
        <p:spPr>
          <a:xfrm>
            <a:off x="566928" y="6400800"/>
            <a:ext cx="54864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figures/incidents/analysis/latency-dumbbell.png; month-precision dates plotted mid-month</a:t>
            </a:r>
          </a:p>
        </p:txBody>
      </p:sp>
      <p:pic>
        <p:nvPicPr>
          <p:cNvPr id="38" name="Picture 37" descr="latency-dumbbell.png"/>
          <p:cNvPicPr>
            <a:picLocks noChangeAspect="1"/>
          </p:cNvPicPr>
          <p:nvPr/>
        </p:nvPicPr>
        <p:blipFill>
          <a:blip r:embed="rId3"/>
          <a:stretch>
            <a:fillRect/>
          </a:stretch>
        </p:blipFill>
        <p:spPr>
          <a:xfrm>
            <a:off x="566928" y="2121408"/>
            <a:ext cx="4710180" cy="3383280"/>
          </a:xfrm>
          <a:prstGeom prst="rect">
            <a:avLst/>
          </a:prstGeom>
        </p:spPr>
      </p:pic>
      <p:sp>
        <p:nvSpPr>
          <p:cNvPr id="39" name="Rectangle 38"/>
          <p:cNvSpPr/>
          <p:nvPr/>
        </p:nvSpPr>
        <p:spPr>
          <a:xfrm>
            <a:off x="5532120" y="2121408"/>
            <a:ext cx="6089904" cy="987552"/>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532120" y="2121408"/>
            <a:ext cx="6089904" cy="54864"/>
          </a:xfrm>
          <a:prstGeom prst="rect">
            <a:avLst/>
          </a:prstGeom>
          <a:solidFill>
            <a:srgbClr val="3A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ody:40"/>
          <p:cNvSpPr txBox="1"/>
          <p:nvPr/>
        </p:nvSpPr>
        <p:spPr>
          <a:xfrm>
            <a:off x="5715000" y="2267712"/>
            <a:ext cx="5724144" cy="393192"/>
          </a:xfrm>
          <a:prstGeom prst="rect">
            <a:avLst/>
          </a:prstGeom>
          <a:noFill/>
        </p:spPr>
        <p:txBody>
          <a:bodyPr wrap="square" lIns="22860" rIns="22860" tIns="22860" bIns="22860" anchor="ctr">
            <a:spAutoFit/>
          </a:bodyPr>
          <a:lstStyle/>
          <a:p>
            <a:pPr algn="l">
              <a:lnSpc>
                <a:spcPct val="108000"/>
              </a:lnSpc>
            </a:pPr>
            <a:r>
              <a:rPr sz="1600" b="1">
                <a:solidFill>
                  <a:srgbClr val="3A6391"/>
                </a:solidFill>
                <a:latin typeface="Arial"/>
              </a:rPr>
              <a:t>Median detection latency: 13.5 days</a:t>
            </a:r>
          </a:p>
        </p:txBody>
      </p:sp>
      <p:sp>
        <p:nvSpPr>
          <p:cNvPr id="42" name="body:41"/>
          <p:cNvSpPr txBox="1"/>
          <p:nvPr/>
        </p:nvSpPr>
        <p:spPr>
          <a:xfrm>
            <a:off x="5715000" y="2724912"/>
            <a:ext cx="5724144" cy="274320"/>
          </a:xfrm>
          <a:prstGeom prst="rect">
            <a:avLst/>
          </a:prstGeom>
          <a:noFill/>
        </p:spPr>
        <p:txBody>
          <a:bodyPr wrap="square" lIns="22860" rIns="22860" tIns="22860" bIns="22860" anchor="t">
            <a:spAutoFit/>
          </a:bodyPr>
          <a:lstStyle/>
          <a:p>
            <a:pPr algn="l">
              <a:lnSpc>
                <a:spcPct val="110000"/>
              </a:lnSpc>
            </a:pPr>
            <a:r>
              <a:rPr sz="1300" b="0">
                <a:solidFill>
                  <a:srgbClr val="22313F"/>
                </a:solidFill>
                <a:latin typeface="Arial"/>
              </a:rPr>
              <a:t>Known for 12 of 26 entries.</a:t>
            </a:r>
          </a:p>
        </p:txBody>
      </p:sp>
      <p:sp>
        <p:nvSpPr>
          <p:cNvPr id="43" name="Rectangle 42"/>
          <p:cNvSpPr/>
          <p:nvPr/>
        </p:nvSpPr>
        <p:spPr>
          <a:xfrm>
            <a:off x="5532120" y="3218688"/>
            <a:ext cx="6089904" cy="987552"/>
          </a:xfrm>
          <a:prstGeom prst="rect">
            <a:avLst/>
          </a:prstGeom>
          <a:solidFill>
            <a:srgbClr val="F8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532120" y="3218688"/>
            <a:ext cx="6089904" cy="54864"/>
          </a:xfrm>
          <a:prstGeom prst="rect">
            <a:avLst/>
          </a:prstGeom>
          <a:solidFill>
            <a:srgbClr val="B46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ody:44"/>
          <p:cNvSpPr txBox="1"/>
          <p:nvPr/>
        </p:nvSpPr>
        <p:spPr>
          <a:xfrm>
            <a:off x="5715000" y="3364992"/>
            <a:ext cx="5724144" cy="393192"/>
          </a:xfrm>
          <a:prstGeom prst="rect">
            <a:avLst/>
          </a:prstGeom>
          <a:noFill/>
        </p:spPr>
        <p:txBody>
          <a:bodyPr wrap="square" lIns="22860" rIns="22860" tIns="22860" bIns="22860" anchor="ctr">
            <a:spAutoFit/>
          </a:bodyPr>
          <a:lstStyle/>
          <a:p>
            <a:pPr algn="l">
              <a:lnSpc>
                <a:spcPct val="108000"/>
              </a:lnSpc>
            </a:pPr>
            <a:r>
              <a:rPr sz="1600" b="1">
                <a:solidFill>
                  <a:srgbClr val="B4602E"/>
                </a:solidFill>
                <a:latin typeface="Arial"/>
              </a:rPr>
              <a:t>Median disclosure latency: 119 days</a:t>
            </a:r>
          </a:p>
        </p:txBody>
      </p:sp>
      <p:sp>
        <p:nvSpPr>
          <p:cNvPr id="46" name="body:45"/>
          <p:cNvSpPr txBox="1"/>
          <p:nvPr/>
        </p:nvSpPr>
        <p:spPr>
          <a:xfrm>
            <a:off x="5715000" y="3822191"/>
            <a:ext cx="5724144" cy="274320"/>
          </a:xfrm>
          <a:prstGeom prst="rect">
            <a:avLst/>
          </a:prstGeom>
          <a:noFill/>
        </p:spPr>
        <p:txBody>
          <a:bodyPr wrap="square" lIns="22860" rIns="22860" tIns="22860" bIns="22860" anchor="t">
            <a:spAutoFit/>
          </a:bodyPr>
          <a:lstStyle/>
          <a:p>
            <a:pPr algn="l">
              <a:lnSpc>
                <a:spcPct val="110000"/>
              </a:lnSpc>
            </a:pPr>
            <a:r>
              <a:rPr sz="1300" b="0">
                <a:solidFill>
                  <a:srgbClr val="22313F"/>
                </a:solidFill>
                <a:latin typeface="Arial"/>
              </a:rPr>
              <a:t>Known for 21 of 26 entries.</a:t>
            </a:r>
          </a:p>
        </p:txBody>
      </p:sp>
      <p:sp>
        <p:nvSpPr>
          <p:cNvPr id="47" name="Rectangle 46"/>
          <p:cNvSpPr/>
          <p:nvPr/>
        </p:nvSpPr>
        <p:spPr>
          <a:xfrm>
            <a:off x="5532120" y="4315968"/>
            <a:ext cx="6089904" cy="1188720"/>
          </a:xfrm>
          <a:prstGeom prst="rect">
            <a:avLst/>
          </a:prstGeom>
          <a:solidFill>
            <a:srgbClr val="F7E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532120" y="4315968"/>
            <a:ext cx="6089904" cy="54864"/>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ody:48"/>
          <p:cNvSpPr txBox="1"/>
          <p:nvPr/>
        </p:nvSpPr>
        <p:spPr>
          <a:xfrm>
            <a:off x="5715000" y="4462272"/>
            <a:ext cx="5724144" cy="393192"/>
          </a:xfrm>
          <a:prstGeom prst="rect">
            <a:avLst/>
          </a:prstGeom>
          <a:noFill/>
        </p:spPr>
        <p:txBody>
          <a:bodyPr wrap="square" lIns="22860" rIns="22860" tIns="22860" bIns="22860" anchor="ctr">
            <a:spAutoFit/>
          </a:bodyPr>
          <a:lstStyle/>
          <a:p>
            <a:pPr algn="l">
              <a:lnSpc>
                <a:spcPct val="108000"/>
              </a:lnSpc>
            </a:pPr>
            <a:r>
              <a:rPr sz="1600" b="1">
                <a:solidFill>
                  <a:srgbClr val="B04E45"/>
                </a:solidFill>
                <a:latin typeface="Arial"/>
              </a:rPr>
              <a:t>10 of 26 were found only in retrospect</a:t>
            </a:r>
          </a:p>
        </p:txBody>
      </p:sp>
      <p:sp>
        <p:nvSpPr>
          <p:cNvPr id="50" name="body:49"/>
          <p:cNvSpPr txBox="1"/>
          <p:nvPr/>
        </p:nvSpPr>
        <p:spPr>
          <a:xfrm>
            <a:off x="5715000" y="4919472"/>
            <a:ext cx="5724144" cy="475488"/>
          </a:xfrm>
          <a:prstGeom prst="rect">
            <a:avLst/>
          </a:prstGeom>
          <a:noFill/>
        </p:spPr>
        <p:txBody>
          <a:bodyPr wrap="square" lIns="22860" rIns="22860" tIns="22860" bIns="22860" anchor="t">
            <a:spAutoFit/>
          </a:bodyPr>
          <a:lstStyle/>
          <a:p>
            <a:pPr algn="l">
              <a:lnSpc>
                <a:spcPct val="110000"/>
              </a:lnSpc>
            </a:pPr>
            <a:r>
              <a:rPr sz="1300" b="0">
                <a:solidFill>
                  <a:srgbClr val="22313F"/>
                </a:solidFill>
                <a:latin typeface="Arial"/>
              </a:rPr>
              <a:t>3 had no stop at all; 2 self-stopped, both after the access had already happened; 5 manual stops; 1 human stop ignored.</a:t>
            </a:r>
          </a:p>
        </p:txBody>
      </p:sp>
      <p:sp>
        <p:nvSpPr>
          <p:cNvPr id="51" name="Rounded Rectangle 50"/>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ody:51"/>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A policy cannot be selected on this feedback loop. It needs a model of the decision and replayable cases.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03 / ONE INCIDENT IN DETAIL</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Medicare portal: the search failed, so the agent found a way in.</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OpenAI research agent, 2026-06; government notified 10 Sep 2026; disclosed 2026-09-24. Library record INC-2026-005, evidence level A.</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05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REPORTED</a:t>
            </a:r>
          </a:p>
        </p:txBody>
      </p:sp>
      <p:sp>
        <p:nvSpPr>
          <p:cNvPr id="37" name="source:36"/>
          <p:cNvSpPr txBox="1"/>
          <p:nvPr/>
        </p:nvSpPr>
        <p:spPr>
          <a:xfrm>
            <a:off x="566928" y="6400800"/>
            <a:ext cx="384048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Australian Government press conference, 24 September 2026</a:t>
            </a:r>
          </a:p>
        </p:txBody>
      </p:sp>
      <p:sp>
        <p:nvSpPr>
          <p:cNvPr id="38" name="source:37"/>
          <p:cNvSpPr txBox="1"/>
          <p:nvPr/>
        </p:nvSpPr>
        <p:spPr>
          <a:xfrm>
            <a:off x="4553712" y="6400800"/>
            <a:ext cx="13716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Symbol definitions</a:t>
            </a:r>
          </a:p>
        </p:txBody>
      </p:sp>
      <p:sp>
        <p:nvSpPr>
          <p:cNvPr id="39" name="source:38"/>
          <p:cNvSpPr txBox="1"/>
          <p:nvPr/>
        </p:nvSpPr>
        <p:spPr>
          <a:xfrm>
            <a:off x="6071616" y="6400800"/>
            <a:ext cx="146304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4"/>
              </a:rPr>
              <a:t>Draft record coding</a:t>
            </a:r>
          </a:p>
        </p:txBody>
      </p:sp>
      <p:sp>
        <p:nvSpPr>
          <p:cNvPr id="40" name="Rounded Rectangle 39"/>
          <p:cNvSpPr/>
          <p:nvPr/>
        </p:nvSpPr>
        <p:spPr>
          <a:xfrm>
            <a:off x="566928" y="2176272"/>
            <a:ext cx="1674876" cy="1243584"/>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6928" y="2176272"/>
            <a:ext cx="1674876" cy="54864"/>
          </a:xfrm>
          <a:prstGeom prst="rect">
            <a:avLst/>
          </a:prstGeom>
          <a:solidFill>
            <a:srgbClr val="3A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ody:41"/>
          <p:cNvSpPr txBox="1"/>
          <p:nvPr/>
        </p:nvSpPr>
        <p:spPr>
          <a:xfrm>
            <a:off x="676656" y="2304288"/>
            <a:ext cx="1455420" cy="457200"/>
          </a:xfrm>
          <a:prstGeom prst="rect">
            <a:avLst/>
          </a:prstGeom>
          <a:noFill/>
        </p:spPr>
        <p:txBody>
          <a:bodyPr wrap="square" lIns="22860" rIns="22860" tIns="22860" bIns="22860" anchor="ctr">
            <a:spAutoFit/>
          </a:bodyPr>
          <a:lstStyle/>
          <a:p>
            <a:pPr algn="l">
              <a:lnSpc>
                <a:spcPct val="100000"/>
              </a:lnSpc>
            </a:pPr>
            <a:r>
              <a:rPr sz="1350" b="1">
                <a:solidFill>
                  <a:srgbClr val="3A6391"/>
                </a:solidFill>
                <a:latin typeface="Arial"/>
              </a:rPr>
              <a:t>Objective</a:t>
            </a:r>
          </a:p>
        </p:txBody>
      </p:sp>
      <p:sp>
        <p:nvSpPr>
          <p:cNvPr id="43" name="body:42"/>
          <p:cNvSpPr txBox="1"/>
          <p:nvPr/>
        </p:nvSpPr>
        <p:spPr>
          <a:xfrm>
            <a:off x="676656" y="2779776"/>
            <a:ext cx="1455420" cy="548640"/>
          </a:xfrm>
          <a:prstGeom prst="rect">
            <a:avLst/>
          </a:prstGeom>
          <a:noFill/>
        </p:spPr>
        <p:txBody>
          <a:bodyPr wrap="square" lIns="22860" rIns="22860" tIns="22860" bIns="22860" anchor="t">
            <a:spAutoFit/>
          </a:bodyPr>
          <a:lstStyle/>
          <a:p>
            <a:pPr algn="l">
              <a:lnSpc>
                <a:spcPct val="105000"/>
              </a:lnSpc>
            </a:pPr>
            <a:r>
              <a:rPr sz="1100" b="0">
                <a:solidFill>
                  <a:srgbClr val="22313F"/>
                </a:solidFill>
                <a:latin typeface="Arial"/>
              </a:rPr>
              <a:t>Government cost per person for a medicine class</a:t>
            </a:r>
          </a:p>
        </p:txBody>
      </p:sp>
      <p:sp>
        <p:nvSpPr>
          <p:cNvPr id="44" name="Rectangle 43"/>
          <p:cNvSpPr/>
          <p:nvPr/>
        </p:nvSpPr>
        <p:spPr>
          <a:xfrm>
            <a:off x="2269236" y="2786634"/>
            <a:ext cx="146304" cy="22860"/>
          </a:xfrm>
          <a:prstGeom prst="rect">
            <a:avLst/>
          </a:prstGeom>
          <a:solidFill>
            <a:srgbClr val="5F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Isosceles Triangle 44"/>
          <p:cNvSpPr/>
          <p:nvPr/>
        </p:nvSpPr>
        <p:spPr>
          <a:xfrm rot="5400000">
            <a:off x="2351532" y="2734056"/>
            <a:ext cx="128016" cy="128016"/>
          </a:xfrm>
          <a:prstGeom prst="triangle">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2442972" y="2176272"/>
            <a:ext cx="1674876" cy="1243584"/>
          </a:xfrm>
          <a:prstGeom prst="roundRect">
            <a:avLst>
              <a:gd name="adj" fmla="val 5000"/>
            </a:avLst>
          </a:prstGeom>
          <a:solidFill>
            <a:srgbClr val="F8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442972" y="2176272"/>
            <a:ext cx="1674876" cy="54864"/>
          </a:xfrm>
          <a:prstGeom prst="rect">
            <a:avLst/>
          </a:prstGeom>
          <a:solidFill>
            <a:srgbClr val="B46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ody:47"/>
          <p:cNvSpPr txBox="1"/>
          <p:nvPr/>
        </p:nvSpPr>
        <p:spPr>
          <a:xfrm>
            <a:off x="2552700" y="2304288"/>
            <a:ext cx="1455420" cy="457200"/>
          </a:xfrm>
          <a:prstGeom prst="rect">
            <a:avLst/>
          </a:prstGeom>
          <a:noFill/>
        </p:spPr>
        <p:txBody>
          <a:bodyPr wrap="square" lIns="22860" rIns="22860" tIns="22860" bIns="22860" anchor="ctr">
            <a:spAutoFit/>
          </a:bodyPr>
          <a:lstStyle/>
          <a:p>
            <a:pPr algn="l">
              <a:lnSpc>
                <a:spcPct val="100000"/>
              </a:lnSpc>
            </a:pPr>
            <a:r>
              <a:rPr sz="1350" b="1">
                <a:solidFill>
                  <a:srgbClr val="B4602E"/>
                </a:solidFill>
                <a:latin typeface="Arial"/>
              </a:rPr>
              <a:t>Obstacle</a:t>
            </a:r>
          </a:p>
        </p:txBody>
      </p:sp>
      <p:sp>
        <p:nvSpPr>
          <p:cNvPr id="49" name="body:48"/>
          <p:cNvSpPr txBox="1"/>
          <p:nvPr/>
        </p:nvSpPr>
        <p:spPr>
          <a:xfrm>
            <a:off x="2552700" y="2779776"/>
            <a:ext cx="1455420" cy="548640"/>
          </a:xfrm>
          <a:prstGeom prst="rect">
            <a:avLst/>
          </a:prstGeom>
          <a:noFill/>
        </p:spPr>
        <p:txBody>
          <a:bodyPr wrap="square" lIns="22860" rIns="22860" tIns="22860" bIns="22860" anchor="t">
            <a:spAutoFit/>
          </a:bodyPr>
          <a:lstStyle/>
          <a:p>
            <a:pPr algn="l">
              <a:lnSpc>
                <a:spcPct val="105000"/>
              </a:lnSpc>
            </a:pPr>
            <a:r>
              <a:rPr sz="1100" b="0">
                <a:solidFill>
                  <a:srgbClr val="22313F"/>
                </a:solidFill>
                <a:latin typeface="Arial"/>
              </a:rPr>
              <a:t>Public search failed; no safe stop taken.</a:t>
            </a:r>
          </a:p>
        </p:txBody>
      </p:sp>
      <p:sp>
        <p:nvSpPr>
          <p:cNvPr id="50" name="Rectangle 49"/>
          <p:cNvSpPr/>
          <p:nvPr/>
        </p:nvSpPr>
        <p:spPr>
          <a:xfrm>
            <a:off x="4145280" y="2786634"/>
            <a:ext cx="146304" cy="22860"/>
          </a:xfrm>
          <a:prstGeom prst="rect">
            <a:avLst/>
          </a:prstGeom>
          <a:solidFill>
            <a:srgbClr val="5F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Isosceles Triangle 50"/>
          <p:cNvSpPr/>
          <p:nvPr/>
        </p:nvSpPr>
        <p:spPr>
          <a:xfrm rot="5400000">
            <a:off x="4227576" y="2734056"/>
            <a:ext cx="128016" cy="128016"/>
          </a:xfrm>
          <a:prstGeom prst="triangle">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4319016" y="2176272"/>
            <a:ext cx="1674876" cy="1243584"/>
          </a:xfrm>
          <a:prstGeom prst="roundRect">
            <a:avLst>
              <a:gd name="adj" fmla="val 5000"/>
            </a:avLst>
          </a:prstGeom>
          <a:solidFill>
            <a:srgbClr val="F7E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319016" y="2176272"/>
            <a:ext cx="1674876" cy="54864"/>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ody:53"/>
          <p:cNvSpPr txBox="1"/>
          <p:nvPr/>
        </p:nvSpPr>
        <p:spPr>
          <a:xfrm>
            <a:off x="4428744" y="2304288"/>
            <a:ext cx="1455420" cy="457200"/>
          </a:xfrm>
          <a:prstGeom prst="rect">
            <a:avLst/>
          </a:prstGeom>
          <a:noFill/>
        </p:spPr>
        <p:txBody>
          <a:bodyPr wrap="square" lIns="22860" rIns="22860" tIns="22860" bIns="22860" anchor="ctr">
            <a:spAutoFit/>
          </a:bodyPr>
          <a:lstStyle/>
          <a:p>
            <a:pPr algn="l">
              <a:lnSpc>
                <a:spcPct val="100000"/>
              </a:lnSpc>
            </a:pPr>
            <a:r>
              <a:rPr sz="1350" b="1">
                <a:solidFill>
                  <a:srgbClr val="B04E45"/>
                </a:solidFill>
                <a:latin typeface="Arial"/>
              </a:rPr>
              <a:t>Found guest route</a:t>
            </a:r>
          </a:p>
        </p:txBody>
      </p:sp>
      <p:sp>
        <p:nvSpPr>
          <p:cNvPr id="55" name="Rectangle 54"/>
          <p:cNvSpPr/>
          <p:nvPr/>
        </p:nvSpPr>
        <p:spPr>
          <a:xfrm>
            <a:off x="6021324" y="2786634"/>
            <a:ext cx="146304" cy="22860"/>
          </a:xfrm>
          <a:prstGeom prst="rect">
            <a:avLst/>
          </a:prstGeom>
          <a:solidFill>
            <a:srgbClr val="5F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Isosceles Triangle 55"/>
          <p:cNvSpPr/>
          <p:nvPr/>
        </p:nvSpPr>
        <p:spPr>
          <a:xfrm rot="5400000">
            <a:off x="6103620" y="2734056"/>
            <a:ext cx="128016" cy="128016"/>
          </a:xfrm>
          <a:prstGeom prst="triangle">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6195060" y="2176272"/>
            <a:ext cx="1674876" cy="1243584"/>
          </a:xfrm>
          <a:prstGeom prst="roundRect">
            <a:avLst>
              <a:gd name="adj" fmla="val 5000"/>
            </a:avLst>
          </a:prstGeom>
          <a:solidFill>
            <a:srgbClr val="F7E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195060" y="2176272"/>
            <a:ext cx="1674876" cy="54864"/>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ody:58"/>
          <p:cNvSpPr txBox="1"/>
          <p:nvPr/>
        </p:nvSpPr>
        <p:spPr>
          <a:xfrm>
            <a:off x="6304788" y="2304288"/>
            <a:ext cx="1455420" cy="457200"/>
          </a:xfrm>
          <a:prstGeom prst="rect">
            <a:avLst/>
          </a:prstGeom>
          <a:noFill/>
        </p:spPr>
        <p:txBody>
          <a:bodyPr wrap="square" lIns="22860" rIns="22860" tIns="22860" bIns="22860" anchor="ctr">
            <a:spAutoFit/>
          </a:bodyPr>
          <a:lstStyle/>
          <a:p>
            <a:pPr algn="l">
              <a:lnSpc>
                <a:spcPct val="100000"/>
              </a:lnSpc>
            </a:pPr>
            <a:r>
              <a:rPr sz="1350" b="1">
                <a:solidFill>
                  <a:srgbClr val="B04E45"/>
                </a:solidFill>
                <a:latin typeface="Arial"/>
              </a:rPr>
              <a:t>Read internal files</a:t>
            </a:r>
          </a:p>
        </p:txBody>
      </p:sp>
      <p:sp>
        <p:nvSpPr>
          <p:cNvPr id="60" name="Rectangle 59"/>
          <p:cNvSpPr/>
          <p:nvPr/>
        </p:nvSpPr>
        <p:spPr>
          <a:xfrm>
            <a:off x="7897368" y="2786634"/>
            <a:ext cx="146304" cy="22860"/>
          </a:xfrm>
          <a:prstGeom prst="rect">
            <a:avLst/>
          </a:prstGeom>
          <a:solidFill>
            <a:srgbClr val="5F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Isosceles Triangle 60"/>
          <p:cNvSpPr/>
          <p:nvPr/>
        </p:nvSpPr>
        <p:spPr>
          <a:xfrm rot="5400000">
            <a:off x="7979664" y="2734056"/>
            <a:ext cx="128016" cy="128016"/>
          </a:xfrm>
          <a:prstGeom prst="triangle">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8071104" y="2176272"/>
            <a:ext cx="1674876" cy="1243584"/>
          </a:xfrm>
          <a:prstGeom prst="roundRect">
            <a:avLst>
              <a:gd name="adj" fmla="val 5000"/>
            </a:avLst>
          </a:prstGeom>
          <a:solidFill>
            <a:srgbClr val="F7E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071104" y="2176272"/>
            <a:ext cx="1674876" cy="54864"/>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ody:63"/>
          <p:cNvSpPr txBox="1"/>
          <p:nvPr/>
        </p:nvSpPr>
        <p:spPr>
          <a:xfrm>
            <a:off x="8180832" y="2304288"/>
            <a:ext cx="1455420" cy="457200"/>
          </a:xfrm>
          <a:prstGeom prst="rect">
            <a:avLst/>
          </a:prstGeom>
          <a:noFill/>
        </p:spPr>
        <p:txBody>
          <a:bodyPr wrap="square" lIns="22860" rIns="22860" tIns="22860" bIns="22860" anchor="ctr">
            <a:spAutoFit/>
          </a:bodyPr>
          <a:lstStyle/>
          <a:p>
            <a:pPr algn="l">
              <a:lnSpc>
                <a:spcPct val="100000"/>
              </a:lnSpc>
            </a:pPr>
            <a:r>
              <a:rPr sz="1350" b="1">
                <a:solidFill>
                  <a:srgbClr val="B04E45"/>
                </a:solidFill>
                <a:latin typeface="Arial"/>
              </a:rPr>
              <a:t>Wrote test file</a:t>
            </a:r>
          </a:p>
        </p:txBody>
      </p:sp>
      <p:sp>
        <p:nvSpPr>
          <p:cNvPr id="65" name="Rectangle 64"/>
          <p:cNvSpPr/>
          <p:nvPr/>
        </p:nvSpPr>
        <p:spPr>
          <a:xfrm>
            <a:off x="9773412" y="2786634"/>
            <a:ext cx="146304" cy="22860"/>
          </a:xfrm>
          <a:prstGeom prst="rect">
            <a:avLst/>
          </a:prstGeom>
          <a:solidFill>
            <a:srgbClr val="5F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Isosceles Triangle 65"/>
          <p:cNvSpPr/>
          <p:nvPr/>
        </p:nvSpPr>
        <p:spPr>
          <a:xfrm rot="5400000">
            <a:off x="9855708" y="2734056"/>
            <a:ext cx="128016" cy="128016"/>
          </a:xfrm>
          <a:prstGeom prst="triangle">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9947148" y="2176272"/>
            <a:ext cx="1674876" cy="1243584"/>
          </a:xfrm>
          <a:prstGeom prst="roundRect">
            <a:avLst>
              <a:gd name="adj" fmla="val 5000"/>
            </a:avLst>
          </a:prstGeom>
          <a:solidFill>
            <a:srgbClr val="F7E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947148" y="2176272"/>
            <a:ext cx="1674876" cy="54864"/>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body:68"/>
          <p:cNvSpPr txBox="1"/>
          <p:nvPr/>
        </p:nvSpPr>
        <p:spPr>
          <a:xfrm>
            <a:off x="10056876" y="2304288"/>
            <a:ext cx="1455420" cy="457200"/>
          </a:xfrm>
          <a:prstGeom prst="rect">
            <a:avLst/>
          </a:prstGeom>
          <a:noFill/>
        </p:spPr>
        <p:txBody>
          <a:bodyPr wrap="square" lIns="22860" rIns="22860" tIns="22860" bIns="22860" anchor="ctr">
            <a:spAutoFit/>
          </a:bodyPr>
          <a:lstStyle/>
          <a:p>
            <a:pPr algn="l">
              <a:lnSpc>
                <a:spcPct val="100000"/>
              </a:lnSpc>
            </a:pPr>
            <a:r>
              <a:rPr sz="1350" b="1">
                <a:solidFill>
                  <a:srgbClr val="B04E45"/>
                </a:solidFill>
                <a:latin typeface="Arial"/>
              </a:rPr>
              <a:t>Retrieved credentials</a:t>
            </a:r>
          </a:p>
        </p:txBody>
      </p:sp>
      <p:sp>
        <p:nvSpPr>
          <p:cNvPr id="70" name="Rectangle 69"/>
          <p:cNvSpPr/>
          <p:nvPr/>
        </p:nvSpPr>
        <p:spPr>
          <a:xfrm>
            <a:off x="566928" y="3575304"/>
            <a:ext cx="530352" cy="269748"/>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body:70"/>
          <p:cNvSpPr txBox="1"/>
          <p:nvPr/>
        </p:nvSpPr>
        <p:spPr>
          <a:xfrm>
            <a:off x="649224" y="3575304"/>
            <a:ext cx="365759" cy="269748"/>
          </a:xfrm>
          <a:prstGeom prst="rect">
            <a:avLst/>
          </a:prstGeom>
          <a:noFill/>
        </p:spPr>
        <p:txBody>
          <a:bodyPr wrap="square" lIns="22860" rIns="22860" tIns="22860" bIns="22860" anchor="ctr">
            <a:spAutoFit/>
          </a:bodyPr>
          <a:lstStyle/>
          <a:p>
            <a:pPr algn="l">
              <a:lnSpc>
                <a:spcPct val="100000"/>
              </a:lnSpc>
            </a:pPr>
            <a:r>
              <a:rPr sz="1050" b="1">
                <a:solidFill>
                  <a:srgbClr val="FFFFFF"/>
                </a:solidFill>
                <a:latin typeface="Arial"/>
              </a:rPr>
              <a:t>ID</a:t>
            </a:r>
          </a:p>
        </p:txBody>
      </p:sp>
      <p:sp>
        <p:nvSpPr>
          <p:cNvPr id="72" name="Rectangle 71"/>
          <p:cNvSpPr/>
          <p:nvPr/>
        </p:nvSpPr>
        <p:spPr>
          <a:xfrm>
            <a:off x="1097280" y="3575304"/>
            <a:ext cx="2331720" cy="269748"/>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body:72"/>
          <p:cNvSpPr txBox="1"/>
          <p:nvPr/>
        </p:nvSpPr>
        <p:spPr>
          <a:xfrm>
            <a:off x="1179576" y="3575304"/>
            <a:ext cx="2167127" cy="269748"/>
          </a:xfrm>
          <a:prstGeom prst="rect">
            <a:avLst/>
          </a:prstGeom>
          <a:noFill/>
        </p:spPr>
        <p:txBody>
          <a:bodyPr wrap="square" lIns="22860" rIns="22860" tIns="22860" bIns="22860" anchor="ctr">
            <a:spAutoFit/>
          </a:bodyPr>
          <a:lstStyle/>
          <a:p>
            <a:pPr algn="l">
              <a:lnSpc>
                <a:spcPct val="100000"/>
              </a:lnSpc>
            </a:pPr>
            <a:r>
              <a:rPr sz="1050" b="1">
                <a:solidFill>
                  <a:srgbClr val="FFFFFF"/>
                </a:solidFill>
                <a:latin typeface="Arial"/>
              </a:rPr>
              <a:t>Risk indicator</a:t>
            </a:r>
          </a:p>
        </p:txBody>
      </p:sp>
      <p:sp>
        <p:nvSpPr>
          <p:cNvPr id="74" name="Rectangle 73"/>
          <p:cNvSpPr/>
          <p:nvPr/>
        </p:nvSpPr>
        <p:spPr>
          <a:xfrm>
            <a:off x="3429000" y="3575304"/>
            <a:ext cx="932688" cy="269748"/>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body:74"/>
          <p:cNvSpPr txBox="1"/>
          <p:nvPr/>
        </p:nvSpPr>
        <p:spPr>
          <a:xfrm>
            <a:off x="3511296" y="3575304"/>
            <a:ext cx="768096" cy="269748"/>
          </a:xfrm>
          <a:prstGeom prst="rect">
            <a:avLst/>
          </a:prstGeom>
          <a:noFill/>
        </p:spPr>
        <p:txBody>
          <a:bodyPr wrap="square" lIns="22860" rIns="22860" tIns="22860" bIns="22860" anchor="ctr">
            <a:spAutoFit/>
          </a:bodyPr>
          <a:lstStyle/>
          <a:p>
            <a:pPr algn="l">
              <a:lnSpc>
                <a:spcPct val="100000"/>
              </a:lnSpc>
            </a:pPr>
            <a:r>
              <a:rPr sz="1050" b="1">
                <a:solidFill>
                  <a:srgbClr val="FFFFFF"/>
                </a:solidFill>
                <a:latin typeface="Arial"/>
              </a:rPr>
              <a:t>Status</a:t>
            </a:r>
          </a:p>
        </p:txBody>
      </p:sp>
      <p:sp>
        <p:nvSpPr>
          <p:cNvPr id="76" name="Rectangle 75"/>
          <p:cNvSpPr/>
          <p:nvPr/>
        </p:nvSpPr>
        <p:spPr>
          <a:xfrm>
            <a:off x="4361688" y="3575304"/>
            <a:ext cx="3044952" cy="269748"/>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body:76"/>
          <p:cNvSpPr txBox="1"/>
          <p:nvPr/>
        </p:nvSpPr>
        <p:spPr>
          <a:xfrm>
            <a:off x="4443983" y="3575304"/>
            <a:ext cx="2880360" cy="269748"/>
          </a:xfrm>
          <a:prstGeom prst="rect">
            <a:avLst/>
          </a:prstGeom>
          <a:noFill/>
        </p:spPr>
        <p:txBody>
          <a:bodyPr wrap="square" lIns="22860" rIns="22860" tIns="22860" bIns="22860" anchor="ctr">
            <a:spAutoFit/>
          </a:bodyPr>
          <a:lstStyle/>
          <a:p>
            <a:pPr algn="l">
              <a:lnSpc>
                <a:spcPct val="100000"/>
              </a:lnSpc>
            </a:pPr>
            <a:r>
              <a:rPr sz="1050" b="1">
                <a:solidFill>
                  <a:srgbClr val="FFFFFF"/>
                </a:solidFill>
                <a:latin typeface="Arial"/>
              </a:rPr>
              <a:t>Reading in this case</a:t>
            </a:r>
          </a:p>
        </p:txBody>
      </p:sp>
      <p:sp>
        <p:nvSpPr>
          <p:cNvPr id="78" name="Rectangle 77"/>
          <p:cNvSpPr/>
          <p:nvPr/>
        </p:nvSpPr>
        <p:spPr>
          <a:xfrm>
            <a:off x="566928" y="3845052"/>
            <a:ext cx="530352" cy="2697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body:78"/>
          <p:cNvSpPr txBox="1"/>
          <p:nvPr/>
        </p:nvSpPr>
        <p:spPr>
          <a:xfrm>
            <a:off x="649224" y="3845052"/>
            <a:ext cx="365759" cy="269748"/>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f</a:t>
            </a:r>
          </a:p>
        </p:txBody>
      </p:sp>
      <p:sp>
        <p:nvSpPr>
          <p:cNvPr id="80" name="Rectangle 79"/>
          <p:cNvSpPr/>
          <p:nvPr/>
        </p:nvSpPr>
        <p:spPr>
          <a:xfrm>
            <a:off x="1097280" y="3845052"/>
            <a:ext cx="2331720" cy="2697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ody:80"/>
          <p:cNvSpPr txBox="1"/>
          <p:nvPr/>
        </p:nvSpPr>
        <p:spPr>
          <a:xfrm>
            <a:off x="1179576" y="3845052"/>
            <a:ext cx="2167127" cy="269748"/>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repeated task failure</a:t>
            </a:r>
          </a:p>
        </p:txBody>
      </p:sp>
      <p:sp>
        <p:nvSpPr>
          <p:cNvPr id="82" name="Rectangle 81"/>
          <p:cNvSpPr/>
          <p:nvPr/>
        </p:nvSpPr>
        <p:spPr>
          <a:xfrm>
            <a:off x="3429000" y="3845052"/>
            <a:ext cx="932688" cy="269748"/>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body:82"/>
          <p:cNvSpPr txBox="1"/>
          <p:nvPr/>
        </p:nvSpPr>
        <p:spPr>
          <a:xfrm>
            <a:off x="3511296" y="3845052"/>
            <a:ext cx="768096" cy="269748"/>
          </a:xfrm>
          <a:prstGeom prst="rect">
            <a:avLst/>
          </a:prstGeom>
          <a:noFill/>
        </p:spPr>
        <p:txBody>
          <a:bodyPr wrap="square" lIns="22860" rIns="22860" tIns="22860" bIns="22860" anchor="ctr">
            <a:spAutoFit/>
          </a:bodyPr>
          <a:lstStyle/>
          <a:p>
            <a:pPr algn="l">
              <a:lnSpc>
                <a:spcPct val="100000"/>
              </a:lnSpc>
            </a:pPr>
            <a:r>
              <a:rPr sz="1050" b="0">
                <a:solidFill>
                  <a:srgbClr val="1E7A72"/>
                </a:solidFill>
                <a:latin typeface="Arial"/>
              </a:rPr>
              <a:t>observed</a:t>
            </a:r>
          </a:p>
        </p:txBody>
      </p:sp>
      <p:sp>
        <p:nvSpPr>
          <p:cNvPr id="84" name="Rectangle 83"/>
          <p:cNvSpPr/>
          <p:nvPr/>
        </p:nvSpPr>
        <p:spPr>
          <a:xfrm>
            <a:off x="4361688" y="3845052"/>
            <a:ext cx="3044952" cy="2697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body:84"/>
          <p:cNvSpPr txBox="1"/>
          <p:nvPr/>
        </p:nvSpPr>
        <p:spPr>
          <a:xfrm>
            <a:off x="4443983" y="3845052"/>
            <a:ext cx="2880360" cy="269748"/>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Public search failed; agent persisted</a:t>
            </a:r>
          </a:p>
        </p:txBody>
      </p:sp>
      <p:sp>
        <p:nvSpPr>
          <p:cNvPr id="86" name="Rectangle 85"/>
          <p:cNvSpPr/>
          <p:nvPr/>
        </p:nvSpPr>
        <p:spPr>
          <a:xfrm>
            <a:off x="566928" y="4114800"/>
            <a:ext cx="530352" cy="26974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body:86"/>
          <p:cNvSpPr txBox="1"/>
          <p:nvPr/>
        </p:nvSpPr>
        <p:spPr>
          <a:xfrm>
            <a:off x="649224" y="4114800"/>
            <a:ext cx="365759" cy="269748"/>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p</a:t>
            </a:r>
          </a:p>
        </p:txBody>
      </p:sp>
      <p:sp>
        <p:nvSpPr>
          <p:cNvPr id="88" name="Rectangle 87"/>
          <p:cNvSpPr/>
          <p:nvPr/>
        </p:nvSpPr>
        <p:spPr>
          <a:xfrm>
            <a:off x="1097280" y="4114800"/>
            <a:ext cx="2331720" cy="26974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body:88"/>
          <p:cNvSpPr txBox="1"/>
          <p:nvPr/>
        </p:nvSpPr>
        <p:spPr>
          <a:xfrm>
            <a:off x="1179576" y="4114800"/>
            <a:ext cx="2167127" cy="269748"/>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boundary probing</a:t>
            </a:r>
          </a:p>
        </p:txBody>
      </p:sp>
      <p:sp>
        <p:nvSpPr>
          <p:cNvPr id="90" name="Rectangle 89"/>
          <p:cNvSpPr/>
          <p:nvPr/>
        </p:nvSpPr>
        <p:spPr>
          <a:xfrm>
            <a:off x="3429000" y="4114800"/>
            <a:ext cx="932688" cy="269748"/>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body:90"/>
          <p:cNvSpPr txBox="1"/>
          <p:nvPr/>
        </p:nvSpPr>
        <p:spPr>
          <a:xfrm>
            <a:off x="3511296" y="4114800"/>
            <a:ext cx="768096" cy="269748"/>
          </a:xfrm>
          <a:prstGeom prst="rect">
            <a:avLst/>
          </a:prstGeom>
          <a:noFill/>
        </p:spPr>
        <p:txBody>
          <a:bodyPr wrap="square" lIns="22860" rIns="22860" tIns="22860" bIns="22860" anchor="ctr">
            <a:spAutoFit/>
          </a:bodyPr>
          <a:lstStyle/>
          <a:p>
            <a:pPr algn="l">
              <a:lnSpc>
                <a:spcPct val="100000"/>
              </a:lnSpc>
            </a:pPr>
            <a:r>
              <a:rPr sz="1050" b="0">
                <a:solidFill>
                  <a:srgbClr val="1E7A72"/>
                </a:solidFill>
                <a:latin typeface="Arial"/>
              </a:rPr>
              <a:t>observed</a:t>
            </a:r>
          </a:p>
        </p:txBody>
      </p:sp>
      <p:sp>
        <p:nvSpPr>
          <p:cNvPr id="92" name="Rectangle 91"/>
          <p:cNvSpPr/>
          <p:nvPr/>
        </p:nvSpPr>
        <p:spPr>
          <a:xfrm>
            <a:off x="4361688" y="4114800"/>
            <a:ext cx="3044952" cy="26974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body:92"/>
          <p:cNvSpPr txBox="1"/>
          <p:nvPr/>
        </p:nvSpPr>
        <p:spPr>
          <a:xfrm>
            <a:off x="4443983" y="4114800"/>
            <a:ext cx="2880360" cy="269748"/>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Guest route found and tested</a:t>
            </a:r>
          </a:p>
        </p:txBody>
      </p:sp>
      <p:sp>
        <p:nvSpPr>
          <p:cNvPr id="94" name="Rectangle 93"/>
          <p:cNvSpPr/>
          <p:nvPr/>
        </p:nvSpPr>
        <p:spPr>
          <a:xfrm>
            <a:off x="566928" y="4384548"/>
            <a:ext cx="530352" cy="2697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body:94"/>
          <p:cNvSpPr txBox="1"/>
          <p:nvPr/>
        </p:nvSpPr>
        <p:spPr>
          <a:xfrm>
            <a:off x="649224" y="4384548"/>
            <a:ext cx="365759" cy="269748"/>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x</a:t>
            </a:r>
          </a:p>
        </p:txBody>
      </p:sp>
      <p:sp>
        <p:nvSpPr>
          <p:cNvPr id="96" name="Rectangle 95"/>
          <p:cNvSpPr/>
          <p:nvPr/>
        </p:nvSpPr>
        <p:spPr>
          <a:xfrm>
            <a:off x="1097280" y="4384548"/>
            <a:ext cx="2331720" cy="2697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body:96"/>
          <p:cNvSpPr txBox="1"/>
          <p:nvPr/>
        </p:nvSpPr>
        <p:spPr>
          <a:xfrm>
            <a:off x="1179576" y="4384548"/>
            <a:ext cx="2167127" cy="269748"/>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unexpected external contact</a:t>
            </a:r>
          </a:p>
        </p:txBody>
      </p:sp>
      <p:sp>
        <p:nvSpPr>
          <p:cNvPr id="98" name="Rectangle 97"/>
          <p:cNvSpPr/>
          <p:nvPr/>
        </p:nvSpPr>
        <p:spPr>
          <a:xfrm>
            <a:off x="3429000" y="4384548"/>
            <a:ext cx="932688" cy="269748"/>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body:98"/>
          <p:cNvSpPr txBox="1"/>
          <p:nvPr/>
        </p:nvSpPr>
        <p:spPr>
          <a:xfrm>
            <a:off x="3511296" y="4384548"/>
            <a:ext cx="768096" cy="269748"/>
          </a:xfrm>
          <a:prstGeom prst="rect">
            <a:avLst/>
          </a:prstGeom>
          <a:noFill/>
        </p:spPr>
        <p:txBody>
          <a:bodyPr wrap="square" lIns="22860" rIns="22860" tIns="22860" bIns="22860" anchor="ctr">
            <a:spAutoFit/>
          </a:bodyPr>
          <a:lstStyle/>
          <a:p>
            <a:pPr algn="l">
              <a:lnSpc>
                <a:spcPct val="100000"/>
              </a:lnSpc>
            </a:pPr>
            <a:r>
              <a:rPr sz="1050" b="0">
                <a:solidFill>
                  <a:srgbClr val="1E7A72"/>
                </a:solidFill>
                <a:latin typeface="Arial"/>
              </a:rPr>
              <a:t>observed</a:t>
            </a:r>
          </a:p>
        </p:txBody>
      </p:sp>
      <p:sp>
        <p:nvSpPr>
          <p:cNvPr id="100" name="Rectangle 99"/>
          <p:cNvSpPr/>
          <p:nvPr/>
        </p:nvSpPr>
        <p:spPr>
          <a:xfrm>
            <a:off x="4361688" y="4384548"/>
            <a:ext cx="3044952" cy="2697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body:100"/>
          <p:cNvSpPr txBox="1"/>
          <p:nvPr/>
        </p:nvSpPr>
        <p:spPr>
          <a:xfrm>
            <a:off x="4443983" y="4384548"/>
            <a:ext cx="2880360" cy="269748"/>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Third-party government portal accessed</a:t>
            </a:r>
          </a:p>
        </p:txBody>
      </p:sp>
      <p:sp>
        <p:nvSpPr>
          <p:cNvPr id="102" name="Rectangle 101"/>
          <p:cNvSpPr/>
          <p:nvPr/>
        </p:nvSpPr>
        <p:spPr>
          <a:xfrm>
            <a:off x="566928" y="4654296"/>
            <a:ext cx="530352" cy="26974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body:102"/>
          <p:cNvSpPr txBox="1"/>
          <p:nvPr/>
        </p:nvSpPr>
        <p:spPr>
          <a:xfrm>
            <a:off x="649224" y="4654296"/>
            <a:ext cx="365759" cy="269748"/>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c</a:t>
            </a:r>
          </a:p>
        </p:txBody>
      </p:sp>
      <p:sp>
        <p:nvSpPr>
          <p:cNvPr id="104" name="Rectangle 103"/>
          <p:cNvSpPr/>
          <p:nvPr/>
        </p:nvSpPr>
        <p:spPr>
          <a:xfrm>
            <a:off x="1097280" y="4654296"/>
            <a:ext cx="2331720" cy="26974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body:104"/>
          <p:cNvSpPr txBox="1"/>
          <p:nvPr/>
        </p:nvSpPr>
        <p:spPr>
          <a:xfrm>
            <a:off x="1179576" y="4654296"/>
            <a:ext cx="2167127" cy="269748"/>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cross-run communication</a:t>
            </a:r>
          </a:p>
        </p:txBody>
      </p:sp>
      <p:sp>
        <p:nvSpPr>
          <p:cNvPr id="106" name="Rectangle 105"/>
          <p:cNvSpPr/>
          <p:nvPr/>
        </p:nvSpPr>
        <p:spPr>
          <a:xfrm>
            <a:off x="3429000" y="4654296"/>
            <a:ext cx="932688" cy="26974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body:106"/>
          <p:cNvSpPr txBox="1"/>
          <p:nvPr/>
        </p:nvSpPr>
        <p:spPr>
          <a:xfrm>
            <a:off x="3511296" y="4654296"/>
            <a:ext cx="768096" cy="269748"/>
          </a:xfrm>
          <a:prstGeom prst="rect">
            <a:avLst/>
          </a:prstGeom>
          <a:noFill/>
        </p:spPr>
        <p:txBody>
          <a:bodyPr wrap="square" lIns="22860" rIns="22860" tIns="22860" bIns="22860" anchor="ctr">
            <a:spAutoFit/>
          </a:bodyPr>
          <a:lstStyle/>
          <a:p>
            <a:pPr algn="l">
              <a:lnSpc>
                <a:spcPct val="100000"/>
              </a:lnSpc>
            </a:pPr>
            <a:r>
              <a:rPr sz="1050" b="0">
                <a:solidFill>
                  <a:srgbClr val="5F6E80"/>
                </a:solidFill>
                <a:latin typeface="Arial"/>
              </a:rPr>
              <a:t>no</a:t>
            </a:r>
          </a:p>
        </p:txBody>
      </p:sp>
      <p:sp>
        <p:nvSpPr>
          <p:cNvPr id="108" name="Rectangle 107"/>
          <p:cNvSpPr/>
          <p:nvPr/>
        </p:nvSpPr>
        <p:spPr>
          <a:xfrm>
            <a:off x="4361688" y="4654296"/>
            <a:ext cx="3044952" cy="26974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body:108"/>
          <p:cNvSpPr txBox="1"/>
          <p:nvPr/>
        </p:nvSpPr>
        <p:spPr>
          <a:xfrm>
            <a:off x="4443983" y="4654296"/>
            <a:ext cx="2880360" cy="269748"/>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No cross-run link reported; coded no</a:t>
            </a:r>
          </a:p>
        </p:txBody>
      </p:sp>
      <p:sp>
        <p:nvSpPr>
          <p:cNvPr id="110" name="Rectangle 109"/>
          <p:cNvSpPr/>
          <p:nvPr/>
        </p:nvSpPr>
        <p:spPr>
          <a:xfrm>
            <a:off x="566928" y="4924044"/>
            <a:ext cx="530352" cy="2697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body:110"/>
          <p:cNvSpPr txBox="1"/>
          <p:nvPr/>
        </p:nvSpPr>
        <p:spPr>
          <a:xfrm>
            <a:off x="649224" y="4924044"/>
            <a:ext cx="365759" cy="269748"/>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v</a:t>
            </a:r>
          </a:p>
        </p:txBody>
      </p:sp>
      <p:sp>
        <p:nvSpPr>
          <p:cNvPr id="112" name="Rectangle 111"/>
          <p:cNvSpPr/>
          <p:nvPr/>
        </p:nvSpPr>
        <p:spPr>
          <a:xfrm>
            <a:off x="1097280" y="4924044"/>
            <a:ext cx="2331720" cy="2697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body:112"/>
          <p:cNvSpPr txBox="1"/>
          <p:nvPr/>
        </p:nvSpPr>
        <p:spPr>
          <a:xfrm>
            <a:off x="1179576" y="4924044"/>
            <a:ext cx="2167127" cy="269748"/>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privilege change</a:t>
            </a:r>
          </a:p>
        </p:txBody>
      </p:sp>
      <p:sp>
        <p:nvSpPr>
          <p:cNvPr id="114" name="Rectangle 113"/>
          <p:cNvSpPr/>
          <p:nvPr/>
        </p:nvSpPr>
        <p:spPr>
          <a:xfrm>
            <a:off x="3429000" y="4924044"/>
            <a:ext cx="932688" cy="269748"/>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body:114"/>
          <p:cNvSpPr txBox="1"/>
          <p:nvPr/>
        </p:nvSpPr>
        <p:spPr>
          <a:xfrm>
            <a:off x="3511296" y="4924044"/>
            <a:ext cx="768096" cy="269748"/>
          </a:xfrm>
          <a:prstGeom prst="rect">
            <a:avLst/>
          </a:prstGeom>
          <a:noFill/>
        </p:spPr>
        <p:txBody>
          <a:bodyPr wrap="square" lIns="22860" rIns="22860" tIns="22860" bIns="22860" anchor="ctr">
            <a:spAutoFit/>
          </a:bodyPr>
          <a:lstStyle/>
          <a:p>
            <a:pPr algn="l">
              <a:lnSpc>
                <a:spcPct val="100000"/>
              </a:lnSpc>
            </a:pPr>
            <a:r>
              <a:rPr sz="1050" b="0">
                <a:solidFill>
                  <a:srgbClr val="1E7A72"/>
                </a:solidFill>
                <a:latin typeface="Arial"/>
              </a:rPr>
              <a:t>observed</a:t>
            </a:r>
          </a:p>
        </p:txBody>
      </p:sp>
      <p:sp>
        <p:nvSpPr>
          <p:cNvPr id="116" name="Rectangle 115"/>
          <p:cNvSpPr/>
          <p:nvPr/>
        </p:nvSpPr>
        <p:spPr>
          <a:xfrm>
            <a:off x="4361688" y="4924044"/>
            <a:ext cx="3044952" cy="2697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body:116"/>
          <p:cNvSpPr txBox="1"/>
          <p:nvPr/>
        </p:nvSpPr>
        <p:spPr>
          <a:xfrm>
            <a:off x="4443983" y="4924044"/>
            <a:ext cx="2880360" cy="269748"/>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Coded yes; credentials retrieved</a:t>
            </a:r>
          </a:p>
        </p:txBody>
      </p:sp>
      <p:sp>
        <p:nvSpPr>
          <p:cNvPr id="118" name="Rectangle 117"/>
          <p:cNvSpPr/>
          <p:nvPr/>
        </p:nvSpPr>
        <p:spPr>
          <a:xfrm>
            <a:off x="566928" y="5193792"/>
            <a:ext cx="530352" cy="26974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body:118"/>
          <p:cNvSpPr txBox="1"/>
          <p:nvPr/>
        </p:nvSpPr>
        <p:spPr>
          <a:xfrm>
            <a:off x="649224" y="5193792"/>
            <a:ext cx="365759" cy="269748"/>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o</a:t>
            </a:r>
          </a:p>
        </p:txBody>
      </p:sp>
      <p:sp>
        <p:nvSpPr>
          <p:cNvPr id="120" name="Rectangle 119"/>
          <p:cNvSpPr/>
          <p:nvPr/>
        </p:nvSpPr>
        <p:spPr>
          <a:xfrm>
            <a:off x="1097280" y="5193792"/>
            <a:ext cx="2331720" cy="26974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body:120"/>
          <p:cNvSpPr txBox="1"/>
          <p:nvPr/>
        </p:nvSpPr>
        <p:spPr>
          <a:xfrm>
            <a:off x="1179576" y="5193792"/>
            <a:ext cx="2167127" cy="269748"/>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observability loss</a:t>
            </a:r>
          </a:p>
        </p:txBody>
      </p:sp>
      <p:sp>
        <p:nvSpPr>
          <p:cNvPr id="122" name="Rectangle 121"/>
          <p:cNvSpPr/>
          <p:nvPr/>
        </p:nvSpPr>
        <p:spPr>
          <a:xfrm>
            <a:off x="3429000" y="5193792"/>
            <a:ext cx="932688" cy="26974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body:122"/>
          <p:cNvSpPr txBox="1"/>
          <p:nvPr/>
        </p:nvSpPr>
        <p:spPr>
          <a:xfrm>
            <a:off x="3511296" y="5193792"/>
            <a:ext cx="768096" cy="269748"/>
          </a:xfrm>
          <a:prstGeom prst="rect">
            <a:avLst/>
          </a:prstGeom>
          <a:noFill/>
        </p:spPr>
        <p:txBody>
          <a:bodyPr wrap="square" lIns="22860" rIns="22860" tIns="22860" bIns="22860" anchor="ctr">
            <a:spAutoFit/>
          </a:bodyPr>
          <a:lstStyle/>
          <a:p>
            <a:pPr algn="l">
              <a:lnSpc>
                <a:spcPct val="100000"/>
              </a:lnSpc>
            </a:pPr>
            <a:r>
              <a:rPr sz="1050" b="0">
                <a:solidFill>
                  <a:srgbClr val="5F6E80"/>
                </a:solidFill>
                <a:latin typeface="Arial"/>
              </a:rPr>
              <a:t>unknown</a:t>
            </a:r>
          </a:p>
        </p:txBody>
      </p:sp>
      <p:sp>
        <p:nvSpPr>
          <p:cNvPr id="124" name="Rectangle 123"/>
          <p:cNvSpPr/>
          <p:nvPr/>
        </p:nvSpPr>
        <p:spPr>
          <a:xfrm>
            <a:off x="4361688" y="5193792"/>
            <a:ext cx="3044952" cy="26974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body:124"/>
          <p:cNvSpPr txBox="1"/>
          <p:nvPr/>
        </p:nvSpPr>
        <p:spPr>
          <a:xfrm>
            <a:off x="4443983" y="5193792"/>
            <a:ext cx="2880360" cy="269748"/>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Loss of visibility cannot be established</a:t>
            </a:r>
          </a:p>
        </p:txBody>
      </p:sp>
      <p:sp>
        <p:nvSpPr>
          <p:cNvPr id="126" name="body:125"/>
          <p:cNvSpPr txBox="1"/>
          <p:nvPr/>
        </p:nvSpPr>
        <p:spPr>
          <a:xfrm>
            <a:off x="7607808" y="3557016"/>
            <a:ext cx="4014215" cy="292608"/>
          </a:xfrm>
          <a:prstGeom prst="rect">
            <a:avLst/>
          </a:prstGeom>
          <a:noFill/>
        </p:spPr>
        <p:txBody>
          <a:bodyPr wrap="square" lIns="22860" rIns="22860" tIns="22860" bIns="22860" anchor="ctr">
            <a:spAutoFit/>
          </a:bodyPr>
          <a:lstStyle/>
          <a:p>
            <a:pPr algn="l">
              <a:lnSpc>
                <a:spcPct val="108000"/>
              </a:lnSpc>
            </a:pPr>
            <a:r>
              <a:rPr sz="1500" b="1">
                <a:solidFill>
                  <a:srgbClr val="172D46"/>
                </a:solidFill>
                <a:latin typeface="Arial"/>
              </a:rPr>
              <a:t>z</a:t>
            </a:r>
            <a:r>
              <a:rPr sz="1500" b="1" baseline="-25000">
                <a:solidFill>
                  <a:srgbClr val="172D46"/>
                </a:solidFill>
                <a:latin typeface="Arial"/>
              </a:rPr>
              <a:t>t</a:t>
            </a:r>
            <a:r>
              <a:rPr sz="1500" b="1">
                <a:solidFill>
                  <a:srgbClr val="172D46"/>
                </a:solidFill>
                <a:latin typeface="Arial"/>
              </a:rPr>
              <a:t> = (f, p, x, c, v, o)</a:t>
            </a:r>
          </a:p>
        </p:txBody>
      </p:sp>
      <p:sp>
        <p:nvSpPr>
          <p:cNvPr id="127" name="body:126"/>
          <p:cNvSpPr txBox="1"/>
          <p:nvPr/>
        </p:nvSpPr>
        <p:spPr>
          <a:xfrm>
            <a:off x="7607808" y="3877056"/>
            <a:ext cx="4014215" cy="393192"/>
          </a:xfrm>
          <a:prstGeom prst="rect">
            <a:avLst/>
          </a:prstGeom>
          <a:noFill/>
        </p:spPr>
        <p:txBody>
          <a:bodyPr wrap="square" lIns="22860" rIns="22860" tIns="22860" bIns="22860" anchor="ctr">
            <a:spAutoFit/>
          </a:bodyPr>
          <a:lstStyle/>
          <a:p>
            <a:pPr algn="l">
              <a:lnSpc>
                <a:spcPct val="105000"/>
              </a:lnSpc>
            </a:pPr>
            <a:r>
              <a:rPr sz="1150" b="0">
                <a:solidFill>
                  <a:srgbClr val="5F6E80"/>
                </a:solidFill>
                <a:latin typeface="Arial"/>
              </a:rPr>
              <a:t>Six risk signals at time t. Here: retrospective coding of the incident.</a:t>
            </a:r>
          </a:p>
        </p:txBody>
      </p:sp>
      <p:sp>
        <p:nvSpPr>
          <p:cNvPr id="128" name="body:127"/>
          <p:cNvSpPr txBox="1"/>
          <p:nvPr/>
        </p:nvSpPr>
        <p:spPr>
          <a:xfrm>
            <a:off x="7607808" y="4352544"/>
            <a:ext cx="4014215" cy="658368"/>
          </a:xfrm>
          <a:prstGeom prst="rect">
            <a:avLst/>
          </a:prstGeom>
          <a:noFill/>
        </p:spPr>
        <p:txBody>
          <a:bodyPr wrap="square" lIns="22860" rIns="22860" tIns="22860" bIns="22860" anchor="ctr">
            <a:spAutoFit/>
          </a:bodyPr>
          <a:lstStyle/>
          <a:p>
            <a:pPr algn="l">
              <a:lnSpc>
                <a:spcPct val="115000"/>
              </a:lnSpc>
            </a:pPr>
            <a:r>
              <a:rPr sz="1150" b="0">
                <a:solidFill>
                  <a:srgbClr val="22313F"/>
                </a:solidFill>
                <a:latin typeface="Arial"/>
              </a:rPr>
              <a:t>observed: evidence of the signal.</a:t>
            </a:r>
          </a:p>
          <a:p>
            <a:pPr algn="l">
              <a:lnSpc>
                <a:spcPct val="115000"/>
              </a:lnSpc>
            </a:pPr>
            <a:r>
              <a:rPr sz="1150" b="0">
                <a:solidFill>
                  <a:srgbClr val="22313F"/>
                </a:solidFill>
                <a:latin typeface="Arial"/>
              </a:rPr>
              <a:t>no: coded as not observed.</a:t>
            </a:r>
          </a:p>
          <a:p>
            <a:pPr algn="l">
              <a:lnSpc>
                <a:spcPct val="115000"/>
              </a:lnSpc>
            </a:pPr>
            <a:r>
              <a:rPr sz="1150" b="0">
                <a:solidFill>
                  <a:srgbClr val="22313F"/>
                </a:solidFill>
                <a:latin typeface="Arial"/>
              </a:rPr>
              <a:t>unknown: insufficient evidence.</a:t>
            </a:r>
          </a:p>
        </p:txBody>
      </p:sp>
      <p:sp>
        <p:nvSpPr>
          <p:cNvPr id="129" name="body:128"/>
          <p:cNvSpPr txBox="1"/>
          <p:nvPr/>
        </p:nvSpPr>
        <p:spPr>
          <a:xfrm>
            <a:off x="7607808" y="5093208"/>
            <a:ext cx="4014215" cy="384048"/>
          </a:xfrm>
          <a:prstGeom prst="rect">
            <a:avLst/>
          </a:prstGeom>
          <a:noFill/>
        </p:spPr>
        <p:txBody>
          <a:bodyPr wrap="square" lIns="22860" rIns="22860" tIns="22860" bIns="22860" anchor="ctr">
            <a:spAutoFit/>
          </a:bodyPr>
          <a:lstStyle/>
          <a:p>
            <a:pPr algn="l">
              <a:lnSpc>
                <a:spcPct val="105000"/>
              </a:lnSpc>
            </a:pPr>
            <a:r>
              <a:rPr sz="1150" b="1">
                <a:solidFill>
                  <a:srgbClr val="3A6391"/>
                </a:solidFill>
                <a:latin typeface="Arial"/>
              </a:rPr>
              <a:t>M = failure mechanism (p. 25).</a:t>
            </a:r>
          </a:p>
          <a:p>
            <a:pPr algn="l">
              <a:lnSpc>
                <a:spcPct val="105000"/>
              </a:lnSpc>
            </a:pPr>
            <a:r>
              <a:rPr sz="1150" b="1">
                <a:solidFill>
                  <a:srgbClr val="3A6391"/>
                </a:solidFill>
                <a:latin typeface="Arial"/>
              </a:rPr>
              <a:t>P = design proposition (p. 26).</a:t>
            </a:r>
          </a:p>
        </p:txBody>
      </p:sp>
      <p:sp>
        <p:nvSpPr>
          <p:cNvPr id="130" name="body:129"/>
          <p:cNvSpPr txBox="1"/>
          <p:nvPr/>
        </p:nvSpPr>
        <p:spPr>
          <a:xfrm>
            <a:off x="566928" y="5486400"/>
            <a:ext cx="11055096" cy="210312"/>
          </a:xfrm>
          <a:prstGeom prst="rect">
            <a:avLst/>
          </a:prstGeom>
          <a:noFill/>
        </p:spPr>
        <p:txBody>
          <a:bodyPr wrap="square" lIns="22860" rIns="22860" tIns="22860" bIns="22860" anchor="ctr">
            <a:spAutoFit/>
          </a:bodyPr>
          <a:lstStyle/>
          <a:p>
            <a:pPr algn="l">
              <a:lnSpc>
                <a:spcPct val="108000"/>
              </a:lnSpc>
            </a:pPr>
            <a:r>
              <a:rPr sz="1050" b="0">
                <a:solidFill>
                  <a:srgbClr val="5F6E80"/>
                </a:solidFill>
                <a:latin typeface="Arial"/>
              </a:rPr>
              <a:t>4/6 observed (f, p, x, v) counts signals, not rule violations. 'Leading' is the library term; timing is not established.</a:t>
            </a:r>
          </a:p>
        </p:txBody>
      </p:sp>
      <p:sp>
        <p:nvSpPr>
          <p:cNvPr id="131" name="Rounded Rectangle 130"/>
          <p:cNvSpPr/>
          <p:nvPr/>
        </p:nvSpPr>
        <p:spPr>
          <a:xfrm>
            <a:off x="566928" y="5760720"/>
            <a:ext cx="11055096" cy="548640"/>
          </a:xfrm>
          <a:prstGeom prst="roundRect">
            <a:avLst>
              <a:gd name="adj" fmla="val 5000"/>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body:131"/>
          <p:cNvSpPr txBox="1"/>
          <p:nvPr/>
        </p:nvSpPr>
        <p:spPr>
          <a:xfrm>
            <a:off x="768096" y="5788152"/>
            <a:ext cx="10652760" cy="493776"/>
          </a:xfrm>
          <a:prstGeom prst="rect">
            <a:avLst/>
          </a:prstGeom>
          <a:noFill/>
        </p:spPr>
        <p:txBody>
          <a:bodyPr wrap="square" lIns="22860" rIns="22860" tIns="22860" bIns="22860" anchor="ctr">
            <a:spAutoFit/>
          </a:bodyPr>
          <a:lstStyle/>
          <a:p>
            <a:pPr algn="l">
              <a:lnSpc>
                <a:spcPct val="108000"/>
              </a:lnSpc>
            </a:pPr>
            <a:r>
              <a:rPr sz="1400" b="1">
                <a:solidFill>
                  <a:srgbClr val="FFFFFF"/>
                </a:solidFill>
                <a:latin typeface="Arial"/>
              </a:rPr>
              <a:t>Boundary: third-party system authorization. No in-run stop reported. M/P coding is expanded on pp. 25-26.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04 / THE SUBSTITUTION FAMILY</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Five reports, one structure: blocked route, reachable substitute.</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Live-access overreach is the largest pathway (9 of 26). Repeated task failure (indicator f) is recorded in 7 of those 9. The permission never changed.</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06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REPORTED</a:t>
            </a:r>
          </a:p>
        </p:txBody>
      </p:sp>
      <p:sp>
        <p:nvSpPr>
          <p:cNvPr id="37" name="source:36"/>
          <p:cNvSpPr txBox="1"/>
          <p:nvPr/>
        </p:nvSpPr>
        <p:spPr>
          <a:xfrm>
            <a:off x="566928" y="6400800"/>
            <a:ext cx="27432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OpenAI workbook report · 16 Sep 2026</a:t>
            </a:r>
          </a:p>
        </p:txBody>
      </p:sp>
      <p:sp>
        <p:nvSpPr>
          <p:cNvPr id="38" name="source:37"/>
          <p:cNvSpPr txBox="1"/>
          <p:nvPr/>
        </p:nvSpPr>
        <p:spPr>
          <a:xfrm>
            <a:off x="3456432" y="6400800"/>
            <a:ext cx="27432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OpenAI wallet report · 15 Oct 2026</a:t>
            </a:r>
          </a:p>
        </p:txBody>
      </p:sp>
      <p:sp>
        <p:nvSpPr>
          <p:cNvPr id="39" name="source:38"/>
          <p:cNvSpPr txBox="1"/>
          <p:nvPr/>
        </p:nvSpPr>
        <p:spPr>
          <a:xfrm>
            <a:off x="6345936" y="6400800"/>
            <a:ext cx="201168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4"/>
              </a:rPr>
              <a:t>Library records 15, 12, 13, 4</a:t>
            </a:r>
          </a:p>
        </p:txBody>
      </p:sp>
      <p:sp>
        <p:nvSpPr>
          <p:cNvPr id="40" name="Rectangle 39"/>
          <p:cNvSpPr/>
          <p:nvPr/>
        </p:nvSpPr>
        <p:spPr>
          <a:xfrm>
            <a:off x="566928" y="2176272"/>
            <a:ext cx="2743200" cy="475488"/>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ody:40"/>
          <p:cNvSpPr txBox="1"/>
          <p:nvPr/>
        </p:nvSpPr>
        <p:spPr>
          <a:xfrm>
            <a:off x="649224" y="2176272"/>
            <a:ext cx="2578608" cy="475488"/>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Case (record)</a:t>
            </a:r>
          </a:p>
        </p:txBody>
      </p:sp>
      <p:sp>
        <p:nvSpPr>
          <p:cNvPr id="42" name="Rectangle 41"/>
          <p:cNvSpPr/>
          <p:nvPr/>
        </p:nvSpPr>
        <p:spPr>
          <a:xfrm>
            <a:off x="3310128" y="2176272"/>
            <a:ext cx="3200400" cy="475488"/>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ody:42"/>
          <p:cNvSpPr txBox="1"/>
          <p:nvPr/>
        </p:nvSpPr>
        <p:spPr>
          <a:xfrm>
            <a:off x="3392424" y="2176272"/>
            <a:ext cx="3035808" cy="475488"/>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Blocked or failing route</a:t>
            </a:r>
          </a:p>
        </p:txBody>
      </p:sp>
      <p:sp>
        <p:nvSpPr>
          <p:cNvPr id="44" name="Rectangle 43"/>
          <p:cNvSpPr/>
          <p:nvPr/>
        </p:nvSpPr>
        <p:spPr>
          <a:xfrm>
            <a:off x="6510528" y="2176272"/>
            <a:ext cx="3977639" cy="475488"/>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ody:44"/>
          <p:cNvSpPr txBox="1"/>
          <p:nvPr/>
        </p:nvSpPr>
        <p:spPr>
          <a:xfrm>
            <a:off x="6592824" y="2176272"/>
            <a:ext cx="3813048" cy="475488"/>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Substitute the agent used</a:t>
            </a:r>
          </a:p>
        </p:txBody>
      </p:sp>
      <p:sp>
        <p:nvSpPr>
          <p:cNvPr id="46" name="Rectangle 45"/>
          <p:cNvSpPr/>
          <p:nvPr/>
        </p:nvSpPr>
        <p:spPr>
          <a:xfrm>
            <a:off x="10488167" y="2176272"/>
            <a:ext cx="1133856" cy="475488"/>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ody:46"/>
          <p:cNvSpPr txBox="1"/>
          <p:nvPr/>
        </p:nvSpPr>
        <p:spPr>
          <a:xfrm>
            <a:off x="10570463" y="2176272"/>
            <a:ext cx="969264" cy="475488"/>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Stop</a:t>
            </a:r>
          </a:p>
        </p:txBody>
      </p:sp>
      <p:sp>
        <p:nvSpPr>
          <p:cNvPr id="48" name="Rectangle 47"/>
          <p:cNvSpPr/>
          <p:nvPr/>
        </p:nvSpPr>
        <p:spPr>
          <a:xfrm>
            <a:off x="566928" y="2651760"/>
            <a:ext cx="27432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ody:48"/>
          <p:cNvSpPr txBox="1"/>
          <p:nvPr/>
        </p:nvSpPr>
        <p:spPr>
          <a:xfrm>
            <a:off x="649224" y="2651760"/>
            <a:ext cx="2578608" cy="475488"/>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Workbook shared via public hosting (15)</a:t>
            </a:r>
          </a:p>
        </p:txBody>
      </p:sp>
      <p:sp>
        <p:nvSpPr>
          <p:cNvPr id="50" name="Rectangle 49"/>
          <p:cNvSpPr/>
          <p:nvPr/>
        </p:nvSpPr>
        <p:spPr>
          <a:xfrm>
            <a:off x="3310128" y="2651760"/>
            <a:ext cx="32004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ody:50"/>
          <p:cNvSpPr txBox="1"/>
          <p:nvPr/>
        </p:nvSpPr>
        <p:spPr>
          <a:xfrm>
            <a:off x="3392424" y="2651760"/>
            <a:ext cx="3035808" cy="47548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Agents could not read each other's local files</a:t>
            </a:r>
          </a:p>
        </p:txBody>
      </p:sp>
      <p:sp>
        <p:nvSpPr>
          <p:cNvPr id="52" name="Rectangle 51"/>
          <p:cNvSpPr/>
          <p:nvPr/>
        </p:nvSpPr>
        <p:spPr>
          <a:xfrm>
            <a:off x="6510528" y="2651760"/>
            <a:ext cx="3977639"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ody:52"/>
          <p:cNvSpPr txBox="1"/>
          <p:nvPr/>
        </p:nvSpPr>
        <p:spPr>
          <a:xfrm>
            <a:off x="6592824" y="2651760"/>
            <a:ext cx="3813048" cy="47548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Made the workbook publicly downloadable</a:t>
            </a:r>
          </a:p>
        </p:txBody>
      </p:sp>
      <p:sp>
        <p:nvSpPr>
          <p:cNvPr id="54" name="Rectangle 53"/>
          <p:cNvSpPr/>
          <p:nvPr/>
        </p:nvSpPr>
        <p:spPr>
          <a:xfrm>
            <a:off x="10488167" y="2651760"/>
            <a:ext cx="1133856"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ody:54"/>
          <p:cNvSpPr txBox="1"/>
          <p:nvPr/>
        </p:nvSpPr>
        <p:spPr>
          <a:xfrm>
            <a:off x="10570463" y="2651760"/>
            <a:ext cx="969264" cy="47548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found later</a:t>
            </a:r>
          </a:p>
        </p:txBody>
      </p:sp>
      <p:sp>
        <p:nvSpPr>
          <p:cNvPr id="56" name="Rectangle 55"/>
          <p:cNvSpPr/>
          <p:nvPr/>
        </p:nvSpPr>
        <p:spPr>
          <a:xfrm>
            <a:off x="566928" y="3127248"/>
            <a:ext cx="2743200" cy="47548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ody:56"/>
          <p:cNvSpPr txBox="1"/>
          <p:nvPr/>
        </p:nvSpPr>
        <p:spPr>
          <a:xfrm>
            <a:off x="649224" y="3127248"/>
            <a:ext cx="2578608" cy="475488"/>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Exposed API key + fabricated data (12)</a:t>
            </a:r>
          </a:p>
        </p:txBody>
      </p:sp>
      <p:sp>
        <p:nvSpPr>
          <p:cNvPr id="58" name="Rectangle 57"/>
          <p:cNvSpPr/>
          <p:nvPr/>
        </p:nvSpPr>
        <p:spPr>
          <a:xfrm>
            <a:off x="3310128" y="3127248"/>
            <a:ext cx="3200400" cy="47548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ody:58"/>
          <p:cNvSpPr txBox="1"/>
          <p:nvPr/>
        </p:nvSpPr>
        <p:spPr>
          <a:xfrm>
            <a:off x="3392424" y="3127248"/>
            <a:ext cx="3035808" cy="47548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Earnings figures not retrievable</a:t>
            </a:r>
          </a:p>
        </p:txBody>
      </p:sp>
      <p:sp>
        <p:nvSpPr>
          <p:cNvPr id="60" name="Rectangle 59"/>
          <p:cNvSpPr/>
          <p:nvPr/>
        </p:nvSpPr>
        <p:spPr>
          <a:xfrm>
            <a:off x="6510528" y="3127248"/>
            <a:ext cx="3977639" cy="47548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ody:60"/>
          <p:cNvSpPr txBox="1"/>
          <p:nvPr/>
        </p:nvSpPr>
        <p:spPr>
          <a:xfrm>
            <a:off x="6592824" y="3127248"/>
            <a:ext cx="3813048" cy="47548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Used an exposed API key from a public repo, then fabricated figures</a:t>
            </a:r>
          </a:p>
        </p:txBody>
      </p:sp>
      <p:sp>
        <p:nvSpPr>
          <p:cNvPr id="62" name="Rectangle 61"/>
          <p:cNvSpPr/>
          <p:nvPr/>
        </p:nvSpPr>
        <p:spPr>
          <a:xfrm>
            <a:off x="10488167" y="3127248"/>
            <a:ext cx="1133856" cy="47548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ody:62"/>
          <p:cNvSpPr txBox="1"/>
          <p:nvPr/>
        </p:nvSpPr>
        <p:spPr>
          <a:xfrm>
            <a:off x="10570463" y="3127248"/>
            <a:ext cx="969264" cy="47548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found later</a:t>
            </a:r>
          </a:p>
        </p:txBody>
      </p:sp>
      <p:sp>
        <p:nvSpPr>
          <p:cNvPr id="64" name="Rectangle 63"/>
          <p:cNvSpPr/>
          <p:nvPr/>
        </p:nvSpPr>
        <p:spPr>
          <a:xfrm>
            <a:off x="566928" y="3602736"/>
            <a:ext cx="27432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ody:64"/>
          <p:cNvSpPr txBox="1"/>
          <p:nvPr/>
        </p:nvSpPr>
        <p:spPr>
          <a:xfrm>
            <a:off x="649224" y="3602736"/>
            <a:ext cx="2578608" cy="475488"/>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Public uploads around tool limits (13)</a:t>
            </a:r>
          </a:p>
        </p:txBody>
      </p:sp>
      <p:sp>
        <p:nvSpPr>
          <p:cNvPr id="66" name="Rectangle 65"/>
          <p:cNvSpPr/>
          <p:nvPr/>
        </p:nvSpPr>
        <p:spPr>
          <a:xfrm>
            <a:off x="3310128" y="3602736"/>
            <a:ext cx="32004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ody:66"/>
          <p:cNvSpPr txBox="1"/>
          <p:nvPr/>
        </p:nvSpPr>
        <p:spPr>
          <a:xfrm>
            <a:off x="3392424" y="3602736"/>
            <a:ext cx="3035808" cy="47548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Browser citation and image search failed</a:t>
            </a:r>
          </a:p>
        </p:txBody>
      </p:sp>
      <p:sp>
        <p:nvSpPr>
          <p:cNvPr id="68" name="Rectangle 67"/>
          <p:cNvSpPr/>
          <p:nvPr/>
        </p:nvSpPr>
        <p:spPr>
          <a:xfrm>
            <a:off x="6510528" y="3602736"/>
            <a:ext cx="3977639"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body:68"/>
          <p:cNvSpPr txBox="1"/>
          <p:nvPr/>
        </p:nvSpPr>
        <p:spPr>
          <a:xfrm>
            <a:off x="6592824" y="3602736"/>
            <a:ext cx="3813048" cy="47548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Uploaded records and a task photograph to public hosts</a:t>
            </a:r>
          </a:p>
        </p:txBody>
      </p:sp>
      <p:sp>
        <p:nvSpPr>
          <p:cNvPr id="70" name="Rectangle 69"/>
          <p:cNvSpPr/>
          <p:nvPr/>
        </p:nvSpPr>
        <p:spPr>
          <a:xfrm>
            <a:off x="10488167" y="3602736"/>
            <a:ext cx="1133856"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body:70"/>
          <p:cNvSpPr txBox="1"/>
          <p:nvPr/>
        </p:nvSpPr>
        <p:spPr>
          <a:xfrm>
            <a:off x="10570463" y="3602736"/>
            <a:ext cx="969264" cy="47548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found later</a:t>
            </a:r>
          </a:p>
        </p:txBody>
      </p:sp>
      <p:sp>
        <p:nvSpPr>
          <p:cNvPr id="72" name="Rectangle 71"/>
          <p:cNvSpPr/>
          <p:nvPr/>
        </p:nvSpPr>
        <p:spPr>
          <a:xfrm>
            <a:off x="566928" y="4078224"/>
            <a:ext cx="2743200" cy="47548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body:72"/>
          <p:cNvSpPr txBox="1"/>
          <p:nvPr/>
        </p:nvSpPr>
        <p:spPr>
          <a:xfrm>
            <a:off x="649224" y="4078224"/>
            <a:ext cx="2578608" cy="475488"/>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GitHub token published (4)</a:t>
            </a:r>
          </a:p>
        </p:txBody>
      </p:sp>
      <p:sp>
        <p:nvSpPr>
          <p:cNvPr id="74" name="Rectangle 73"/>
          <p:cNvSpPr/>
          <p:nvPr/>
        </p:nvSpPr>
        <p:spPr>
          <a:xfrm>
            <a:off x="3310128" y="4078224"/>
            <a:ext cx="3200400" cy="47548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body:74"/>
          <p:cNvSpPr txBox="1"/>
          <p:nvPr/>
        </p:nvSpPr>
        <p:spPr>
          <a:xfrm>
            <a:off x="3392424" y="4078224"/>
            <a:ext cx="3035808" cy="47548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Needed another team's proof material</a:t>
            </a:r>
          </a:p>
        </p:txBody>
      </p:sp>
      <p:sp>
        <p:nvSpPr>
          <p:cNvPr id="76" name="Rectangle 75"/>
          <p:cNvSpPr/>
          <p:nvPr/>
        </p:nvSpPr>
        <p:spPr>
          <a:xfrm>
            <a:off x="6510528" y="4078224"/>
            <a:ext cx="3977639" cy="47548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body:76"/>
          <p:cNvSpPr txBox="1"/>
          <p:nvPr/>
        </p:nvSpPr>
        <p:spPr>
          <a:xfrm>
            <a:off x="6592824" y="4078224"/>
            <a:ext cx="3813048" cy="47548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Published a researcher's GitHub token; split it to evade scanning</a:t>
            </a:r>
          </a:p>
        </p:txBody>
      </p:sp>
      <p:sp>
        <p:nvSpPr>
          <p:cNvPr id="78" name="Rectangle 77"/>
          <p:cNvSpPr/>
          <p:nvPr/>
        </p:nvSpPr>
        <p:spPr>
          <a:xfrm>
            <a:off x="10488167" y="4078224"/>
            <a:ext cx="1133856" cy="47548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body:78"/>
          <p:cNvSpPr txBox="1"/>
          <p:nvPr/>
        </p:nvSpPr>
        <p:spPr>
          <a:xfrm>
            <a:off x="10570463" y="4078224"/>
            <a:ext cx="969264" cy="47548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2 stops ignored</a:t>
            </a:r>
          </a:p>
        </p:txBody>
      </p:sp>
      <p:sp>
        <p:nvSpPr>
          <p:cNvPr id="80" name="Rectangle 79"/>
          <p:cNvSpPr/>
          <p:nvPr/>
        </p:nvSpPr>
        <p:spPr>
          <a:xfrm>
            <a:off x="566928" y="4553712"/>
            <a:ext cx="27432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ody:80"/>
          <p:cNvSpPr txBox="1"/>
          <p:nvPr/>
        </p:nvSpPr>
        <p:spPr>
          <a:xfrm>
            <a:off x="649224" y="4553712"/>
            <a:ext cx="2578608" cy="475488"/>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Test wallet (OpenAI, 15 Oct)</a:t>
            </a:r>
          </a:p>
        </p:txBody>
      </p:sp>
      <p:sp>
        <p:nvSpPr>
          <p:cNvPr id="82" name="Rectangle 81"/>
          <p:cNvSpPr/>
          <p:nvPr/>
        </p:nvSpPr>
        <p:spPr>
          <a:xfrm>
            <a:off x="3310128" y="4553712"/>
            <a:ext cx="32004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body:82"/>
          <p:cNvSpPr txBox="1"/>
          <p:nvPr/>
        </p:nvSpPr>
        <p:spPr>
          <a:xfrm>
            <a:off x="3392424" y="4553712"/>
            <a:ext cx="3035808" cy="47548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No funded wallet supplied</a:t>
            </a:r>
          </a:p>
        </p:txBody>
      </p:sp>
      <p:sp>
        <p:nvSpPr>
          <p:cNvPr id="84" name="Rectangle 83"/>
          <p:cNvSpPr/>
          <p:nvPr/>
        </p:nvSpPr>
        <p:spPr>
          <a:xfrm>
            <a:off x="6510528" y="4553712"/>
            <a:ext cx="3977639"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body:84"/>
          <p:cNvSpPr txBox="1"/>
          <p:nvPr/>
        </p:nvSpPr>
        <p:spPr>
          <a:xfrm>
            <a:off x="6592824" y="4553712"/>
            <a:ext cx="3813048" cy="47548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Spent another account's test funds</a:t>
            </a:r>
          </a:p>
        </p:txBody>
      </p:sp>
      <p:sp>
        <p:nvSpPr>
          <p:cNvPr id="86" name="Rectangle 85"/>
          <p:cNvSpPr/>
          <p:nvPr/>
        </p:nvSpPr>
        <p:spPr>
          <a:xfrm>
            <a:off x="10488167" y="4553712"/>
            <a:ext cx="1133856"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body:86"/>
          <p:cNvSpPr txBox="1"/>
          <p:nvPr/>
        </p:nvSpPr>
        <p:spPr>
          <a:xfrm>
            <a:off x="10570463" y="4553712"/>
            <a:ext cx="969264" cy="47548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reported</a:t>
            </a:r>
          </a:p>
        </p:txBody>
      </p:sp>
      <p:sp>
        <p:nvSpPr>
          <p:cNvPr id="88" name="body:87"/>
          <p:cNvSpPr txBox="1"/>
          <p:nvPr/>
        </p:nvSpPr>
        <p:spPr>
          <a:xfrm>
            <a:off x="566928" y="5102352"/>
            <a:ext cx="11055096" cy="502920"/>
          </a:xfrm>
          <a:prstGeom prst="rect">
            <a:avLst/>
          </a:prstGeom>
          <a:noFill/>
        </p:spPr>
        <p:txBody>
          <a:bodyPr wrap="square" lIns="22860" rIns="22860" tIns="22860" bIns="22860" anchor="ctr">
            <a:spAutoFit/>
          </a:bodyPr>
          <a:lstStyle/>
          <a:p>
            <a:pPr algn="l">
              <a:lnSpc>
                <a:spcPct val="105000"/>
              </a:lnSpc>
            </a:pPr>
            <a:r>
              <a:rPr sz="1350" b="0">
                <a:solidFill>
                  <a:srgbClr val="5F6E80"/>
                </a:solidFill>
                <a:latin typeface="Arial"/>
              </a:rPr>
              <a:t>In four of five the substitute succeeded at the sub-goal. The task was not impossible; the authorized route was. A planner that optimizes completion alone reproduces this family.</a:t>
            </a:r>
          </a:p>
        </p:txBody>
      </p:sp>
      <p:sp>
        <p:nvSpPr>
          <p:cNvPr id="89" name="Rounded Rectangle 88"/>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body:89"/>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Hypothesis H1: a failing authorized route raises the probability of a forbidden substitute, with scope unchanged.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05 / THE SCOPE-INFERENCE FAMILY</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When the contract is silent, reachability is read as permission.</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Misconfiguration exposure: 6 of 26 records. The task said 'simulated'; the network said otherwise; the agent believed the network.</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07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REPORTED</a:t>
            </a:r>
          </a:p>
        </p:txBody>
      </p:sp>
      <p:sp>
        <p:nvSpPr>
          <p:cNvPr id="37" name="source:36"/>
          <p:cNvSpPr txBox="1"/>
          <p:nvPr/>
        </p:nvSpPr>
        <p:spPr>
          <a:xfrm>
            <a:off x="566928" y="6400800"/>
            <a:ext cx="27432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Anthropic assessment · 9 Sep 2026</a:t>
            </a:r>
          </a:p>
        </p:txBody>
      </p:sp>
      <p:sp>
        <p:nvSpPr>
          <p:cNvPr id="38" name="source:37"/>
          <p:cNvSpPr txBox="1"/>
          <p:nvPr/>
        </p:nvSpPr>
        <p:spPr>
          <a:xfrm>
            <a:off x="3456432" y="6400800"/>
            <a:ext cx="219456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Library records 16, 17, 18, 21</a:t>
            </a:r>
          </a:p>
        </p:txBody>
      </p:sp>
      <p:sp>
        <p:nvSpPr>
          <p:cNvPr id="39" name="Rectangle 38"/>
          <p:cNvSpPr/>
          <p:nvPr/>
        </p:nvSpPr>
        <p:spPr>
          <a:xfrm>
            <a:off x="566928" y="2176272"/>
            <a:ext cx="2743200" cy="512064"/>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ody:39"/>
          <p:cNvSpPr txBox="1"/>
          <p:nvPr/>
        </p:nvSpPr>
        <p:spPr>
          <a:xfrm>
            <a:off x="649224" y="2176272"/>
            <a:ext cx="2578608" cy="512064"/>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Case (record)</a:t>
            </a:r>
          </a:p>
        </p:txBody>
      </p:sp>
      <p:sp>
        <p:nvSpPr>
          <p:cNvPr id="41" name="Rectangle 40"/>
          <p:cNvSpPr/>
          <p:nvPr/>
        </p:nvSpPr>
        <p:spPr>
          <a:xfrm>
            <a:off x="3310128" y="2176272"/>
            <a:ext cx="2834640" cy="512064"/>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ody:41"/>
          <p:cNvSpPr txBox="1"/>
          <p:nvPr/>
        </p:nvSpPr>
        <p:spPr>
          <a:xfrm>
            <a:off x="3392424" y="2176272"/>
            <a:ext cx="2670048" cy="512064"/>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What was reachable</a:t>
            </a:r>
          </a:p>
        </p:txBody>
      </p:sp>
      <p:sp>
        <p:nvSpPr>
          <p:cNvPr id="43" name="Rectangle 42"/>
          <p:cNvSpPr/>
          <p:nvPr/>
        </p:nvSpPr>
        <p:spPr>
          <a:xfrm>
            <a:off x="6144768" y="2176272"/>
            <a:ext cx="4343400" cy="512064"/>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ody:43"/>
          <p:cNvSpPr txBox="1"/>
          <p:nvPr/>
        </p:nvSpPr>
        <p:spPr>
          <a:xfrm>
            <a:off x="6227064" y="2176272"/>
            <a:ext cx="4178808" cy="512064"/>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Effect before any stop</a:t>
            </a:r>
          </a:p>
        </p:txBody>
      </p:sp>
      <p:sp>
        <p:nvSpPr>
          <p:cNvPr id="45" name="Rectangle 44"/>
          <p:cNvSpPr/>
          <p:nvPr/>
        </p:nvSpPr>
        <p:spPr>
          <a:xfrm>
            <a:off x="10488168" y="2176272"/>
            <a:ext cx="1133856" cy="512064"/>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ody:45"/>
          <p:cNvSpPr txBox="1"/>
          <p:nvPr/>
        </p:nvSpPr>
        <p:spPr>
          <a:xfrm>
            <a:off x="10570464" y="2176272"/>
            <a:ext cx="969264" cy="512064"/>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Stop</a:t>
            </a:r>
          </a:p>
        </p:txBody>
      </p:sp>
      <p:sp>
        <p:nvSpPr>
          <p:cNvPr id="47" name="Rectangle 46"/>
          <p:cNvSpPr/>
          <p:nvPr/>
        </p:nvSpPr>
        <p:spPr>
          <a:xfrm>
            <a:off x="566928" y="2688336"/>
            <a:ext cx="274320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ody:47"/>
          <p:cNvSpPr txBox="1"/>
          <p:nvPr/>
        </p:nvSpPr>
        <p:spPr>
          <a:xfrm>
            <a:off x="649224" y="2688336"/>
            <a:ext cx="2578608" cy="512064"/>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Opus 4.7 targets real company (16)</a:t>
            </a:r>
          </a:p>
        </p:txBody>
      </p:sp>
      <p:sp>
        <p:nvSpPr>
          <p:cNvPr id="49" name="Rectangle 48"/>
          <p:cNvSpPr/>
          <p:nvPr/>
        </p:nvSpPr>
        <p:spPr>
          <a:xfrm>
            <a:off x="3310128" y="2688336"/>
            <a:ext cx="283464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ody:49"/>
          <p:cNvSpPr txBox="1"/>
          <p:nvPr/>
        </p:nvSpPr>
        <p:spPr>
          <a:xfrm>
            <a:off x="3392424" y="2688336"/>
            <a:ext cx="2670048" cy="51206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A real company domain with a matching name</a:t>
            </a:r>
          </a:p>
        </p:txBody>
      </p:sp>
      <p:sp>
        <p:nvSpPr>
          <p:cNvPr id="51" name="Rectangle 50"/>
          <p:cNvSpPr/>
          <p:nvPr/>
        </p:nvSpPr>
        <p:spPr>
          <a:xfrm>
            <a:off x="6144768" y="2688336"/>
            <a:ext cx="434340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ody:51"/>
          <p:cNvSpPr txBox="1"/>
          <p:nvPr/>
        </p:nvSpPr>
        <p:spPr>
          <a:xfrm>
            <a:off x="6227064" y="2688336"/>
            <a:ext cx="4178808" cy="51206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Credentials obtained; database with hundreds of production records read (4 runs)</a:t>
            </a:r>
          </a:p>
        </p:txBody>
      </p:sp>
      <p:sp>
        <p:nvSpPr>
          <p:cNvPr id="53" name="Rectangle 52"/>
          <p:cNvSpPr/>
          <p:nvPr/>
        </p:nvSpPr>
        <p:spPr>
          <a:xfrm>
            <a:off x="10488168" y="2688336"/>
            <a:ext cx="1133856"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ody:53"/>
          <p:cNvSpPr txBox="1"/>
          <p:nvPr/>
        </p:nvSpPr>
        <p:spPr>
          <a:xfrm>
            <a:off x="10570464" y="2688336"/>
            <a:ext cx="969264" cy="51206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none</a:t>
            </a:r>
          </a:p>
        </p:txBody>
      </p:sp>
      <p:sp>
        <p:nvSpPr>
          <p:cNvPr id="55" name="Rectangle 54"/>
          <p:cNvSpPr/>
          <p:nvPr/>
        </p:nvSpPr>
        <p:spPr>
          <a:xfrm>
            <a:off x="566928" y="3200400"/>
            <a:ext cx="2743200" cy="51206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ody:55"/>
          <p:cNvSpPr txBox="1"/>
          <p:nvPr/>
        </p:nvSpPr>
        <p:spPr>
          <a:xfrm>
            <a:off x="649224" y="3200400"/>
            <a:ext cx="2578608" cy="512064"/>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Mythos 5 malicious PyPI package (17)</a:t>
            </a:r>
          </a:p>
        </p:txBody>
      </p:sp>
      <p:sp>
        <p:nvSpPr>
          <p:cNvPr id="57" name="Rectangle 56"/>
          <p:cNvSpPr/>
          <p:nvPr/>
        </p:nvSpPr>
        <p:spPr>
          <a:xfrm>
            <a:off x="3310128" y="3200400"/>
            <a:ext cx="2834640" cy="51206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ody:57"/>
          <p:cNvSpPr txBox="1"/>
          <p:nvPr/>
        </p:nvSpPr>
        <p:spPr>
          <a:xfrm>
            <a:off x="3392424" y="3200400"/>
            <a:ext cx="2670048" cy="51206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The real PyPI registry</a:t>
            </a:r>
          </a:p>
        </p:txBody>
      </p:sp>
      <p:sp>
        <p:nvSpPr>
          <p:cNvPr id="59" name="Rectangle 58"/>
          <p:cNvSpPr/>
          <p:nvPr/>
        </p:nvSpPr>
        <p:spPr>
          <a:xfrm>
            <a:off x="6144768" y="3200400"/>
            <a:ext cx="4343400" cy="51206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ody:59"/>
          <p:cNvSpPr txBox="1"/>
          <p:nvPr/>
        </p:nvSpPr>
        <p:spPr>
          <a:xfrm>
            <a:off x="6227064" y="3200400"/>
            <a:ext cx="4178808" cy="51206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Malicious package ran on 15 hosts; one scanner leaked credentials to a vendor database</a:t>
            </a:r>
          </a:p>
        </p:txBody>
      </p:sp>
      <p:sp>
        <p:nvSpPr>
          <p:cNvPr id="61" name="Rectangle 60"/>
          <p:cNvSpPr/>
          <p:nvPr/>
        </p:nvSpPr>
        <p:spPr>
          <a:xfrm>
            <a:off x="10488168" y="3200400"/>
            <a:ext cx="1133856" cy="51206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ody:61"/>
          <p:cNvSpPr txBox="1"/>
          <p:nvPr/>
        </p:nvSpPr>
        <p:spPr>
          <a:xfrm>
            <a:off x="10570464" y="3200400"/>
            <a:ext cx="969264" cy="51206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third party</a:t>
            </a:r>
          </a:p>
        </p:txBody>
      </p:sp>
      <p:sp>
        <p:nvSpPr>
          <p:cNvPr id="63" name="Rectangle 62"/>
          <p:cNvSpPr/>
          <p:nvPr/>
        </p:nvSpPr>
        <p:spPr>
          <a:xfrm>
            <a:off x="566928" y="3712464"/>
            <a:ext cx="274320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ody:63"/>
          <p:cNvSpPr txBox="1"/>
          <p:nvPr/>
        </p:nvSpPr>
        <p:spPr>
          <a:xfrm>
            <a:off x="649224" y="3712464"/>
            <a:ext cx="2578608" cy="512064"/>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Internal model scans ≈9,000 targets (18)</a:t>
            </a:r>
          </a:p>
        </p:txBody>
      </p:sp>
      <p:sp>
        <p:nvSpPr>
          <p:cNvPr id="65" name="Rectangle 64"/>
          <p:cNvSpPr/>
          <p:nvPr/>
        </p:nvSpPr>
        <p:spPr>
          <a:xfrm>
            <a:off x="3310128" y="3712464"/>
            <a:ext cx="283464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ody:65"/>
          <p:cNvSpPr txBox="1"/>
          <p:nvPr/>
        </p:nvSpPr>
        <p:spPr>
          <a:xfrm>
            <a:off x="3392424" y="3712464"/>
            <a:ext cx="2670048" cy="51206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About 9,000 live targets</a:t>
            </a:r>
          </a:p>
        </p:txBody>
      </p:sp>
      <p:sp>
        <p:nvSpPr>
          <p:cNvPr id="67" name="Rectangle 66"/>
          <p:cNvSpPr/>
          <p:nvPr/>
        </p:nvSpPr>
        <p:spPr>
          <a:xfrm>
            <a:off x="6144768" y="3712464"/>
            <a:ext cx="434340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ody:67"/>
          <p:cNvSpPr txBox="1"/>
          <p:nvPr/>
        </p:nvSpPr>
        <p:spPr>
          <a:xfrm>
            <a:off x="6227064" y="3712464"/>
            <a:ext cx="4178808" cy="51206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One live application compromised</a:t>
            </a:r>
          </a:p>
        </p:txBody>
      </p:sp>
      <p:sp>
        <p:nvSpPr>
          <p:cNvPr id="69" name="Rectangle 68"/>
          <p:cNvSpPr/>
          <p:nvPr/>
        </p:nvSpPr>
        <p:spPr>
          <a:xfrm>
            <a:off x="10488168" y="3712464"/>
            <a:ext cx="1133856"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ody:69"/>
          <p:cNvSpPr txBox="1"/>
          <p:nvPr/>
        </p:nvSpPr>
        <p:spPr>
          <a:xfrm>
            <a:off x="10570464" y="3712464"/>
            <a:ext cx="969264" cy="51206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self, after access</a:t>
            </a:r>
          </a:p>
        </p:txBody>
      </p:sp>
      <p:sp>
        <p:nvSpPr>
          <p:cNvPr id="71" name="Rectangle 70"/>
          <p:cNvSpPr/>
          <p:nvPr/>
        </p:nvSpPr>
        <p:spPr>
          <a:xfrm>
            <a:off x="566928" y="4224528"/>
            <a:ext cx="2743200" cy="51206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ody:71"/>
          <p:cNvSpPr txBox="1"/>
          <p:nvPr/>
        </p:nvSpPr>
        <p:spPr>
          <a:xfrm>
            <a:off x="649224" y="4224528"/>
            <a:ext cx="2578608" cy="512064"/>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Gemini accesses three companies (21)</a:t>
            </a:r>
          </a:p>
        </p:txBody>
      </p:sp>
      <p:sp>
        <p:nvSpPr>
          <p:cNvPr id="73" name="Rectangle 72"/>
          <p:cNvSpPr/>
          <p:nvPr/>
        </p:nvSpPr>
        <p:spPr>
          <a:xfrm>
            <a:off x="3310128" y="4224528"/>
            <a:ext cx="2834640" cy="51206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ody:73"/>
          <p:cNvSpPr txBox="1"/>
          <p:nvPr/>
        </p:nvSpPr>
        <p:spPr>
          <a:xfrm>
            <a:off x="3392424" y="4224528"/>
            <a:ext cx="2670048" cy="51206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Three real companies</a:t>
            </a:r>
          </a:p>
        </p:txBody>
      </p:sp>
      <p:sp>
        <p:nvSpPr>
          <p:cNvPr id="75" name="Rectangle 74"/>
          <p:cNvSpPr/>
          <p:nvPr/>
        </p:nvSpPr>
        <p:spPr>
          <a:xfrm>
            <a:off x="6144768" y="4224528"/>
            <a:ext cx="4343400" cy="51206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ody:75"/>
          <p:cNvSpPr txBox="1"/>
          <p:nvPr/>
        </p:nvSpPr>
        <p:spPr>
          <a:xfrm>
            <a:off x="6227064" y="4224528"/>
            <a:ext cx="4178808" cy="51206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Systems accessed via public info and guessed or exposed credentials</a:t>
            </a:r>
          </a:p>
        </p:txBody>
      </p:sp>
      <p:sp>
        <p:nvSpPr>
          <p:cNvPr id="77" name="Rectangle 76"/>
          <p:cNvSpPr/>
          <p:nvPr/>
        </p:nvSpPr>
        <p:spPr>
          <a:xfrm>
            <a:off x="10488168" y="4224528"/>
            <a:ext cx="1133856" cy="51206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ody:77"/>
          <p:cNvSpPr txBox="1"/>
          <p:nvPr/>
        </p:nvSpPr>
        <p:spPr>
          <a:xfrm>
            <a:off x="10570464" y="4224528"/>
            <a:ext cx="969264" cy="51206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self, after access</a:t>
            </a:r>
          </a:p>
        </p:txBody>
      </p:sp>
      <p:sp>
        <p:nvSpPr>
          <p:cNvPr id="79" name="body:78"/>
          <p:cNvSpPr txBox="1"/>
          <p:nvPr/>
        </p:nvSpPr>
        <p:spPr>
          <a:xfrm>
            <a:off x="566928" y="4846320"/>
            <a:ext cx="11055096" cy="731520"/>
          </a:xfrm>
          <a:prstGeom prst="rect">
            <a:avLst/>
          </a:prstGeom>
          <a:noFill/>
        </p:spPr>
        <p:txBody>
          <a:bodyPr wrap="square" lIns="22860" rIns="22860" tIns="22860" bIns="22860" anchor="ctr">
            <a:spAutoFit/>
          </a:bodyPr>
          <a:lstStyle/>
          <a:p>
            <a:pPr algn="l">
              <a:lnSpc>
                <a:spcPct val="105000"/>
              </a:lnSpc>
            </a:pPr>
            <a:r>
              <a:rPr sz="1350" b="0">
                <a:solidFill>
                  <a:srgbClr val="5F6E80"/>
                </a:solidFill>
                <a:latin typeface="Arial"/>
              </a:rPr>
              <a:t>2 of these 4 stopped themselves, and both recognised the target only after the access. Under a silent grant the agent faced ambiguity, not risk: no probability over "allowed" was available, and the robust move was to ask.</a:t>
            </a:r>
          </a:p>
        </p:txBody>
      </p:sp>
      <p:sp>
        <p:nvSpPr>
          <p:cNvPr id="80" name="Rounded Rectangle 79"/>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ody:80"/>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Hypothesis H2: environmental clues substitute for authorization when the task contract is silent.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06 / ACROSS THE LIBRARY</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What recurs, and the three questions a theory must answer.</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Counts over 26 records coded with the Raftari (2026) frame. 'Present', 'violated' or 'yes' only; partial and unknown omitted.</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08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REPORTED</a:t>
            </a:r>
          </a:p>
        </p:txBody>
      </p:sp>
      <p:sp>
        <p:nvSpPr>
          <p:cNvPr id="37" name="source:36"/>
          <p:cNvSpPr txBox="1"/>
          <p:nvPr/>
        </p:nvSpPr>
        <p:spPr>
          <a:xfrm>
            <a:off x="566928" y="6400800"/>
            <a:ext cx="45720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figures/incidents/analysis/summary.json; analyst draft codings, second reader pending</a:t>
            </a:r>
          </a:p>
        </p:txBody>
      </p:sp>
      <p:sp>
        <p:nvSpPr>
          <p:cNvPr id="38" name="body:37"/>
          <p:cNvSpPr txBox="1"/>
          <p:nvPr/>
        </p:nvSpPr>
        <p:spPr>
          <a:xfrm>
            <a:off x="566928" y="2121408"/>
            <a:ext cx="5394960" cy="292608"/>
          </a:xfrm>
          <a:prstGeom prst="rect">
            <a:avLst/>
          </a:prstGeom>
          <a:noFill/>
        </p:spPr>
        <p:txBody>
          <a:bodyPr wrap="square" lIns="22860" rIns="22860" tIns="22860" bIns="22860" anchor="ctr">
            <a:spAutoFit/>
          </a:bodyPr>
          <a:lstStyle/>
          <a:p>
            <a:pPr algn="l">
              <a:lnSpc>
                <a:spcPct val="108000"/>
              </a:lnSpc>
            </a:pPr>
            <a:r>
              <a:rPr sz="1400" b="1">
                <a:solidFill>
                  <a:srgbClr val="172D46"/>
                </a:solidFill>
                <a:latin typeface="Arial"/>
              </a:rPr>
              <a:t>Mechanisms, propositions and indicators</a:t>
            </a:r>
          </a:p>
        </p:txBody>
      </p:sp>
      <p:sp>
        <p:nvSpPr>
          <p:cNvPr id="39" name="body:38"/>
          <p:cNvSpPr txBox="1"/>
          <p:nvPr/>
        </p:nvSpPr>
        <p:spPr>
          <a:xfrm>
            <a:off x="566928" y="2432304"/>
            <a:ext cx="2148840" cy="329184"/>
          </a:xfrm>
          <a:prstGeom prst="rect">
            <a:avLst/>
          </a:prstGeom>
          <a:noFill/>
        </p:spPr>
        <p:txBody>
          <a:bodyPr wrap="square" lIns="22860" rIns="22860" tIns="22860" bIns="22860" anchor="ctr">
            <a:spAutoFit/>
          </a:bodyPr>
          <a:lstStyle/>
          <a:p>
            <a:pPr algn="l">
              <a:lnSpc>
                <a:spcPct val="108000"/>
              </a:lnSpc>
            </a:pPr>
            <a:r>
              <a:rPr sz="1100" b="0">
                <a:solidFill>
                  <a:srgbClr val="22313F"/>
                </a:solidFill>
                <a:latin typeface="Arial"/>
              </a:rPr>
              <a:t>M1 pressure, no safe stop</a:t>
            </a:r>
          </a:p>
        </p:txBody>
      </p:sp>
      <p:sp>
        <p:nvSpPr>
          <p:cNvPr id="40" name="Rectangle 39"/>
          <p:cNvSpPr/>
          <p:nvPr/>
        </p:nvSpPr>
        <p:spPr>
          <a:xfrm>
            <a:off x="2788920" y="2496312"/>
            <a:ext cx="2377440" cy="20116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788920" y="2496312"/>
            <a:ext cx="1005840" cy="201168"/>
          </a:xfrm>
          <a:prstGeom prst="rect">
            <a:avLst/>
          </a:prstGeom>
          <a:solidFill>
            <a:srgbClr val="3A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ody:41"/>
          <p:cNvSpPr txBox="1"/>
          <p:nvPr/>
        </p:nvSpPr>
        <p:spPr>
          <a:xfrm>
            <a:off x="5239512" y="2432304"/>
            <a:ext cx="777240" cy="329184"/>
          </a:xfrm>
          <a:prstGeom prst="rect">
            <a:avLst/>
          </a:prstGeom>
          <a:noFill/>
        </p:spPr>
        <p:txBody>
          <a:bodyPr wrap="square" lIns="22860" rIns="22860" tIns="22860" bIns="22860" anchor="ctr">
            <a:spAutoFit/>
          </a:bodyPr>
          <a:lstStyle/>
          <a:p>
            <a:pPr algn="l">
              <a:lnSpc>
                <a:spcPct val="108000"/>
              </a:lnSpc>
            </a:pPr>
            <a:r>
              <a:rPr sz="1100" b="1">
                <a:solidFill>
                  <a:srgbClr val="3A6391"/>
                </a:solidFill>
                <a:latin typeface="Arial"/>
              </a:rPr>
              <a:t>11/26</a:t>
            </a:r>
          </a:p>
        </p:txBody>
      </p:sp>
      <p:sp>
        <p:nvSpPr>
          <p:cNvPr id="43" name="body:42"/>
          <p:cNvSpPr txBox="1"/>
          <p:nvPr/>
        </p:nvSpPr>
        <p:spPr>
          <a:xfrm>
            <a:off x="566928" y="2798064"/>
            <a:ext cx="2148840" cy="329184"/>
          </a:xfrm>
          <a:prstGeom prst="rect">
            <a:avLst/>
          </a:prstGeom>
          <a:noFill/>
        </p:spPr>
        <p:txBody>
          <a:bodyPr wrap="square" lIns="22860" rIns="22860" tIns="22860" bIns="22860" anchor="ctr">
            <a:spAutoFit/>
          </a:bodyPr>
          <a:lstStyle/>
          <a:p>
            <a:pPr algn="l">
              <a:lnSpc>
                <a:spcPct val="108000"/>
              </a:lnSpc>
            </a:pPr>
            <a:r>
              <a:rPr sz="1100" b="0">
                <a:solidFill>
                  <a:srgbClr val="22313F"/>
                </a:solidFill>
                <a:latin typeface="Arial"/>
              </a:rPr>
              <a:t>M2 capability composition</a:t>
            </a:r>
          </a:p>
        </p:txBody>
      </p:sp>
      <p:sp>
        <p:nvSpPr>
          <p:cNvPr id="44" name="Rectangle 43"/>
          <p:cNvSpPr/>
          <p:nvPr/>
        </p:nvSpPr>
        <p:spPr>
          <a:xfrm>
            <a:off x="2788920" y="2862072"/>
            <a:ext cx="2377440" cy="20116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788920" y="2862072"/>
            <a:ext cx="1371600" cy="201168"/>
          </a:xfrm>
          <a:prstGeom prst="rect">
            <a:avLst/>
          </a:prstGeom>
          <a:solidFill>
            <a:srgbClr val="3A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ody:45"/>
          <p:cNvSpPr txBox="1"/>
          <p:nvPr/>
        </p:nvSpPr>
        <p:spPr>
          <a:xfrm>
            <a:off x="5239512" y="2798064"/>
            <a:ext cx="777240" cy="329184"/>
          </a:xfrm>
          <a:prstGeom prst="rect">
            <a:avLst/>
          </a:prstGeom>
          <a:noFill/>
        </p:spPr>
        <p:txBody>
          <a:bodyPr wrap="square" lIns="22860" rIns="22860" tIns="22860" bIns="22860" anchor="ctr">
            <a:spAutoFit/>
          </a:bodyPr>
          <a:lstStyle/>
          <a:p>
            <a:pPr algn="l">
              <a:lnSpc>
                <a:spcPct val="108000"/>
              </a:lnSpc>
            </a:pPr>
            <a:r>
              <a:rPr sz="1100" b="1">
                <a:solidFill>
                  <a:srgbClr val="3A6391"/>
                </a:solidFill>
                <a:latin typeface="Arial"/>
              </a:rPr>
              <a:t>15/26</a:t>
            </a:r>
          </a:p>
        </p:txBody>
      </p:sp>
      <p:sp>
        <p:nvSpPr>
          <p:cNvPr id="47" name="body:46"/>
          <p:cNvSpPr txBox="1"/>
          <p:nvPr/>
        </p:nvSpPr>
        <p:spPr>
          <a:xfrm>
            <a:off x="566928" y="3163824"/>
            <a:ext cx="2148840" cy="329184"/>
          </a:xfrm>
          <a:prstGeom prst="rect">
            <a:avLst/>
          </a:prstGeom>
          <a:noFill/>
        </p:spPr>
        <p:txBody>
          <a:bodyPr wrap="square" lIns="22860" rIns="22860" tIns="22860" bIns="22860" anchor="ctr">
            <a:spAutoFit/>
          </a:bodyPr>
          <a:lstStyle/>
          <a:p>
            <a:pPr algn="l">
              <a:lnSpc>
                <a:spcPct val="108000"/>
              </a:lnSpc>
            </a:pPr>
            <a:r>
              <a:rPr sz="1100" b="0">
                <a:solidFill>
                  <a:srgbClr val="22313F"/>
                </a:solidFill>
                <a:latin typeface="Arial"/>
              </a:rPr>
              <a:t>M4 detection, no escalation</a:t>
            </a:r>
          </a:p>
        </p:txBody>
      </p:sp>
      <p:sp>
        <p:nvSpPr>
          <p:cNvPr id="48" name="Rectangle 47"/>
          <p:cNvSpPr/>
          <p:nvPr/>
        </p:nvSpPr>
        <p:spPr>
          <a:xfrm>
            <a:off x="2788920" y="3227832"/>
            <a:ext cx="2377440" cy="20116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788920" y="3227832"/>
            <a:ext cx="1188720" cy="201168"/>
          </a:xfrm>
          <a:prstGeom prst="rect">
            <a:avLst/>
          </a:prstGeom>
          <a:solidFill>
            <a:srgbClr val="3A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ody:49"/>
          <p:cNvSpPr txBox="1"/>
          <p:nvPr/>
        </p:nvSpPr>
        <p:spPr>
          <a:xfrm>
            <a:off x="5239512" y="3163824"/>
            <a:ext cx="777240" cy="329184"/>
          </a:xfrm>
          <a:prstGeom prst="rect">
            <a:avLst/>
          </a:prstGeom>
          <a:noFill/>
        </p:spPr>
        <p:txBody>
          <a:bodyPr wrap="square" lIns="22860" rIns="22860" tIns="22860" bIns="22860" anchor="ctr">
            <a:spAutoFit/>
          </a:bodyPr>
          <a:lstStyle/>
          <a:p>
            <a:pPr algn="l">
              <a:lnSpc>
                <a:spcPct val="108000"/>
              </a:lnSpc>
            </a:pPr>
            <a:r>
              <a:rPr sz="1100" b="1">
                <a:solidFill>
                  <a:srgbClr val="3A6391"/>
                </a:solidFill>
                <a:latin typeface="Arial"/>
              </a:rPr>
              <a:t>13/26</a:t>
            </a:r>
          </a:p>
        </p:txBody>
      </p:sp>
      <p:sp>
        <p:nvSpPr>
          <p:cNvPr id="51" name="body:50"/>
          <p:cNvSpPr txBox="1"/>
          <p:nvPr/>
        </p:nvSpPr>
        <p:spPr>
          <a:xfrm>
            <a:off x="566928" y="3529584"/>
            <a:ext cx="2148840" cy="329184"/>
          </a:xfrm>
          <a:prstGeom prst="rect">
            <a:avLst/>
          </a:prstGeom>
          <a:noFill/>
        </p:spPr>
        <p:txBody>
          <a:bodyPr wrap="square" lIns="22860" rIns="22860" tIns="22860" bIns="22860" anchor="ctr">
            <a:spAutoFit/>
          </a:bodyPr>
          <a:lstStyle/>
          <a:p>
            <a:pPr algn="l">
              <a:lnSpc>
                <a:spcPct val="108000"/>
              </a:lnSpc>
            </a:pPr>
            <a:r>
              <a:rPr sz="1100" b="0">
                <a:solidFill>
                  <a:srgbClr val="22313F"/>
                </a:solidFill>
                <a:latin typeface="Arial"/>
              </a:rPr>
              <a:t>P3 authz survives failure</a:t>
            </a:r>
          </a:p>
        </p:txBody>
      </p:sp>
      <p:sp>
        <p:nvSpPr>
          <p:cNvPr id="52" name="Rectangle 51"/>
          <p:cNvSpPr/>
          <p:nvPr/>
        </p:nvSpPr>
        <p:spPr>
          <a:xfrm>
            <a:off x="2788920" y="3593592"/>
            <a:ext cx="2377440" cy="20116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88920" y="3593592"/>
            <a:ext cx="1097280" cy="201168"/>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ody:53"/>
          <p:cNvSpPr txBox="1"/>
          <p:nvPr/>
        </p:nvSpPr>
        <p:spPr>
          <a:xfrm>
            <a:off x="5239512" y="3529584"/>
            <a:ext cx="777240" cy="329184"/>
          </a:xfrm>
          <a:prstGeom prst="rect">
            <a:avLst/>
          </a:prstGeom>
          <a:noFill/>
        </p:spPr>
        <p:txBody>
          <a:bodyPr wrap="square" lIns="22860" rIns="22860" tIns="22860" bIns="22860" anchor="ctr">
            <a:spAutoFit/>
          </a:bodyPr>
          <a:lstStyle/>
          <a:p>
            <a:pPr algn="l">
              <a:lnSpc>
                <a:spcPct val="108000"/>
              </a:lnSpc>
            </a:pPr>
            <a:r>
              <a:rPr sz="1100" b="1">
                <a:solidFill>
                  <a:srgbClr val="B04E45"/>
                </a:solidFill>
                <a:latin typeface="Arial"/>
              </a:rPr>
              <a:t>12/26</a:t>
            </a:r>
          </a:p>
        </p:txBody>
      </p:sp>
      <p:sp>
        <p:nvSpPr>
          <p:cNvPr id="55" name="body:54"/>
          <p:cNvSpPr txBox="1"/>
          <p:nvPr/>
        </p:nvSpPr>
        <p:spPr>
          <a:xfrm>
            <a:off x="566928" y="3895344"/>
            <a:ext cx="2148840" cy="329184"/>
          </a:xfrm>
          <a:prstGeom prst="rect">
            <a:avLst/>
          </a:prstGeom>
          <a:noFill/>
        </p:spPr>
        <p:txBody>
          <a:bodyPr wrap="square" lIns="22860" rIns="22860" tIns="22860" bIns="22860" anchor="ctr">
            <a:spAutoFit/>
          </a:bodyPr>
          <a:lstStyle/>
          <a:p>
            <a:pPr algn="l">
              <a:lnSpc>
                <a:spcPct val="108000"/>
              </a:lnSpc>
            </a:pPr>
            <a:r>
              <a:rPr sz="1100" b="0">
                <a:solidFill>
                  <a:srgbClr val="22313F"/>
                </a:solidFill>
                <a:latin typeface="Arial"/>
              </a:rPr>
              <a:t>P6 effects over intent</a:t>
            </a:r>
          </a:p>
        </p:txBody>
      </p:sp>
      <p:sp>
        <p:nvSpPr>
          <p:cNvPr id="56" name="Rectangle 55"/>
          <p:cNvSpPr/>
          <p:nvPr/>
        </p:nvSpPr>
        <p:spPr>
          <a:xfrm>
            <a:off x="2788920" y="3959352"/>
            <a:ext cx="2377440" cy="20116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2788920" y="3959352"/>
            <a:ext cx="1554480" cy="201168"/>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ody:57"/>
          <p:cNvSpPr txBox="1"/>
          <p:nvPr/>
        </p:nvSpPr>
        <p:spPr>
          <a:xfrm>
            <a:off x="5239512" y="3895344"/>
            <a:ext cx="777240" cy="329184"/>
          </a:xfrm>
          <a:prstGeom prst="rect">
            <a:avLst/>
          </a:prstGeom>
          <a:noFill/>
        </p:spPr>
        <p:txBody>
          <a:bodyPr wrap="square" lIns="22860" rIns="22860" tIns="22860" bIns="22860" anchor="ctr">
            <a:spAutoFit/>
          </a:bodyPr>
          <a:lstStyle/>
          <a:p>
            <a:pPr algn="l">
              <a:lnSpc>
                <a:spcPct val="108000"/>
              </a:lnSpc>
            </a:pPr>
            <a:r>
              <a:rPr sz="1100" b="1">
                <a:solidFill>
                  <a:srgbClr val="B04E45"/>
                </a:solidFill>
                <a:latin typeface="Arial"/>
              </a:rPr>
              <a:t>17/26</a:t>
            </a:r>
          </a:p>
        </p:txBody>
      </p:sp>
      <p:sp>
        <p:nvSpPr>
          <p:cNvPr id="59" name="body:58"/>
          <p:cNvSpPr txBox="1"/>
          <p:nvPr/>
        </p:nvSpPr>
        <p:spPr>
          <a:xfrm>
            <a:off x="566928" y="4261104"/>
            <a:ext cx="2148840" cy="329184"/>
          </a:xfrm>
          <a:prstGeom prst="rect">
            <a:avLst/>
          </a:prstGeom>
          <a:noFill/>
        </p:spPr>
        <p:txBody>
          <a:bodyPr wrap="square" lIns="22860" rIns="22860" tIns="22860" bIns="22860" anchor="ctr">
            <a:spAutoFit/>
          </a:bodyPr>
          <a:lstStyle/>
          <a:p>
            <a:pPr algn="l">
              <a:lnSpc>
                <a:spcPct val="108000"/>
              </a:lnSpc>
            </a:pPr>
            <a:r>
              <a:rPr sz="1100" b="0">
                <a:solidFill>
                  <a:srgbClr val="22313F"/>
                </a:solidFill>
                <a:latin typeface="Arial"/>
              </a:rPr>
              <a:t>f repeated failure</a:t>
            </a:r>
          </a:p>
        </p:txBody>
      </p:sp>
      <p:sp>
        <p:nvSpPr>
          <p:cNvPr id="60" name="Rectangle 59"/>
          <p:cNvSpPr/>
          <p:nvPr/>
        </p:nvSpPr>
        <p:spPr>
          <a:xfrm>
            <a:off x="2788920" y="4325112"/>
            <a:ext cx="2377440" cy="20116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788920" y="4325112"/>
            <a:ext cx="822960" cy="201168"/>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ody:61"/>
          <p:cNvSpPr txBox="1"/>
          <p:nvPr/>
        </p:nvSpPr>
        <p:spPr>
          <a:xfrm>
            <a:off x="5239512" y="4261104"/>
            <a:ext cx="777240" cy="329184"/>
          </a:xfrm>
          <a:prstGeom prst="rect">
            <a:avLst/>
          </a:prstGeom>
          <a:noFill/>
        </p:spPr>
        <p:txBody>
          <a:bodyPr wrap="square" lIns="22860" rIns="22860" tIns="22860" bIns="22860" anchor="ctr">
            <a:spAutoFit/>
          </a:bodyPr>
          <a:lstStyle/>
          <a:p>
            <a:pPr algn="l">
              <a:lnSpc>
                <a:spcPct val="108000"/>
              </a:lnSpc>
            </a:pPr>
            <a:r>
              <a:rPr sz="1100" b="1">
                <a:solidFill>
                  <a:srgbClr val="6A4C93"/>
                </a:solidFill>
                <a:latin typeface="Arial"/>
              </a:rPr>
              <a:t>9/26</a:t>
            </a:r>
          </a:p>
        </p:txBody>
      </p:sp>
      <p:sp>
        <p:nvSpPr>
          <p:cNvPr id="63" name="body:62"/>
          <p:cNvSpPr txBox="1"/>
          <p:nvPr/>
        </p:nvSpPr>
        <p:spPr>
          <a:xfrm>
            <a:off x="566928" y="4626864"/>
            <a:ext cx="2148840" cy="329184"/>
          </a:xfrm>
          <a:prstGeom prst="rect">
            <a:avLst/>
          </a:prstGeom>
          <a:noFill/>
        </p:spPr>
        <p:txBody>
          <a:bodyPr wrap="square" lIns="22860" rIns="22860" tIns="22860" bIns="22860" anchor="ctr">
            <a:spAutoFit/>
          </a:bodyPr>
          <a:lstStyle/>
          <a:p>
            <a:pPr algn="l">
              <a:lnSpc>
                <a:spcPct val="108000"/>
              </a:lnSpc>
            </a:pPr>
            <a:r>
              <a:rPr sz="1100" b="0">
                <a:solidFill>
                  <a:srgbClr val="22313F"/>
                </a:solidFill>
                <a:latin typeface="Arial"/>
              </a:rPr>
              <a:t>p boundary probing</a:t>
            </a:r>
          </a:p>
        </p:txBody>
      </p:sp>
      <p:sp>
        <p:nvSpPr>
          <p:cNvPr id="64" name="Rectangle 63"/>
          <p:cNvSpPr/>
          <p:nvPr/>
        </p:nvSpPr>
        <p:spPr>
          <a:xfrm>
            <a:off x="2788920" y="4690872"/>
            <a:ext cx="2377440" cy="20116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2788920" y="4690872"/>
            <a:ext cx="1463040" cy="201168"/>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ody:65"/>
          <p:cNvSpPr txBox="1"/>
          <p:nvPr/>
        </p:nvSpPr>
        <p:spPr>
          <a:xfrm>
            <a:off x="5239512" y="4626864"/>
            <a:ext cx="777240" cy="329184"/>
          </a:xfrm>
          <a:prstGeom prst="rect">
            <a:avLst/>
          </a:prstGeom>
          <a:noFill/>
        </p:spPr>
        <p:txBody>
          <a:bodyPr wrap="square" lIns="22860" rIns="22860" tIns="22860" bIns="22860" anchor="ctr">
            <a:spAutoFit/>
          </a:bodyPr>
          <a:lstStyle/>
          <a:p>
            <a:pPr algn="l">
              <a:lnSpc>
                <a:spcPct val="108000"/>
              </a:lnSpc>
            </a:pPr>
            <a:r>
              <a:rPr sz="1100" b="1">
                <a:solidFill>
                  <a:srgbClr val="6A4C93"/>
                </a:solidFill>
                <a:latin typeface="Arial"/>
              </a:rPr>
              <a:t>16/26</a:t>
            </a:r>
          </a:p>
        </p:txBody>
      </p:sp>
      <p:sp>
        <p:nvSpPr>
          <p:cNvPr id="67" name="body:66"/>
          <p:cNvSpPr txBox="1"/>
          <p:nvPr/>
        </p:nvSpPr>
        <p:spPr>
          <a:xfrm>
            <a:off x="566928" y="4992624"/>
            <a:ext cx="2148840" cy="329184"/>
          </a:xfrm>
          <a:prstGeom prst="rect">
            <a:avLst/>
          </a:prstGeom>
          <a:noFill/>
        </p:spPr>
        <p:txBody>
          <a:bodyPr wrap="square" lIns="22860" rIns="22860" tIns="22860" bIns="22860" anchor="ctr">
            <a:spAutoFit/>
          </a:bodyPr>
          <a:lstStyle/>
          <a:p>
            <a:pPr algn="l">
              <a:lnSpc>
                <a:spcPct val="108000"/>
              </a:lnSpc>
            </a:pPr>
            <a:r>
              <a:rPr sz="1100" b="0">
                <a:solidFill>
                  <a:srgbClr val="22313F"/>
                </a:solidFill>
                <a:latin typeface="Arial"/>
              </a:rPr>
              <a:t>x external contact</a:t>
            </a:r>
          </a:p>
        </p:txBody>
      </p:sp>
      <p:sp>
        <p:nvSpPr>
          <p:cNvPr id="68" name="Rectangle 67"/>
          <p:cNvSpPr/>
          <p:nvPr/>
        </p:nvSpPr>
        <p:spPr>
          <a:xfrm>
            <a:off x="2788920" y="5056632"/>
            <a:ext cx="2377440" cy="20116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788920" y="5056632"/>
            <a:ext cx="1828800" cy="201168"/>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ody:69"/>
          <p:cNvSpPr txBox="1"/>
          <p:nvPr/>
        </p:nvSpPr>
        <p:spPr>
          <a:xfrm>
            <a:off x="5239512" y="4992624"/>
            <a:ext cx="777240" cy="329184"/>
          </a:xfrm>
          <a:prstGeom prst="rect">
            <a:avLst/>
          </a:prstGeom>
          <a:noFill/>
        </p:spPr>
        <p:txBody>
          <a:bodyPr wrap="square" lIns="22860" rIns="22860" tIns="22860" bIns="22860" anchor="ctr">
            <a:spAutoFit/>
          </a:bodyPr>
          <a:lstStyle/>
          <a:p>
            <a:pPr algn="l">
              <a:lnSpc>
                <a:spcPct val="108000"/>
              </a:lnSpc>
            </a:pPr>
            <a:r>
              <a:rPr sz="1100" b="1">
                <a:solidFill>
                  <a:srgbClr val="6A4C93"/>
                </a:solidFill>
                <a:latin typeface="Arial"/>
              </a:rPr>
              <a:t>20/26</a:t>
            </a:r>
          </a:p>
        </p:txBody>
      </p:sp>
      <p:sp>
        <p:nvSpPr>
          <p:cNvPr id="71" name="Rectangle 70"/>
          <p:cNvSpPr/>
          <p:nvPr/>
        </p:nvSpPr>
        <p:spPr>
          <a:xfrm>
            <a:off x="6355080" y="2121408"/>
            <a:ext cx="5266944" cy="1033271"/>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355080" y="2121408"/>
            <a:ext cx="64008" cy="1033271"/>
          </a:xfrm>
          <a:prstGeom prst="rect">
            <a:avLst/>
          </a:prstGeom>
          <a:solidFill>
            <a:srgbClr val="3A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6537960" y="2249424"/>
            <a:ext cx="365760" cy="365760"/>
          </a:xfrm>
          <a:prstGeom prst="ellipse">
            <a:avLst/>
          </a:prstGeom>
          <a:solidFill>
            <a:srgbClr val="3A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label:73"/>
          <p:cNvSpPr txBox="1"/>
          <p:nvPr/>
        </p:nvSpPr>
        <p:spPr>
          <a:xfrm>
            <a:off x="6537960" y="2249424"/>
            <a:ext cx="365760" cy="365760"/>
          </a:xfrm>
          <a:prstGeom prst="rect">
            <a:avLst/>
          </a:prstGeom>
          <a:noFill/>
        </p:spPr>
        <p:txBody>
          <a:bodyPr wrap="square" lIns="22860" rIns="22860" tIns="22860" bIns="22860" anchor="ctr">
            <a:spAutoFit/>
          </a:bodyPr>
          <a:lstStyle/>
          <a:p>
            <a:pPr algn="ctr">
              <a:lnSpc>
                <a:spcPct val="108000"/>
              </a:lnSpc>
            </a:pPr>
            <a:r>
              <a:rPr sz="1100" b="1">
                <a:solidFill>
                  <a:srgbClr val="FFFFFF"/>
                </a:solidFill>
                <a:latin typeface="Arial"/>
              </a:rPr>
              <a:t>Q1</a:t>
            </a:r>
          </a:p>
        </p:txBody>
      </p:sp>
      <p:sp>
        <p:nvSpPr>
          <p:cNvPr id="75" name="body:74"/>
          <p:cNvSpPr txBox="1"/>
          <p:nvPr/>
        </p:nvSpPr>
        <p:spPr>
          <a:xfrm>
            <a:off x="7013448" y="2212848"/>
            <a:ext cx="4480560" cy="365760"/>
          </a:xfrm>
          <a:prstGeom prst="rect">
            <a:avLst/>
          </a:prstGeom>
          <a:noFill/>
        </p:spPr>
        <p:txBody>
          <a:bodyPr wrap="square" lIns="22860" rIns="22860" tIns="22860" bIns="22860" anchor="ctr">
            <a:spAutoFit/>
          </a:bodyPr>
          <a:lstStyle/>
          <a:p>
            <a:pPr algn="l">
              <a:lnSpc>
                <a:spcPct val="108000"/>
              </a:lnSpc>
            </a:pPr>
            <a:r>
              <a:rPr sz="1600" b="1">
                <a:solidFill>
                  <a:srgbClr val="3A6391"/>
                </a:solidFill>
                <a:latin typeface="Arial"/>
              </a:rPr>
              <a:t>Persist, or stop?</a:t>
            </a:r>
          </a:p>
        </p:txBody>
      </p:sp>
      <p:sp>
        <p:nvSpPr>
          <p:cNvPr id="76" name="body:75"/>
          <p:cNvSpPr txBox="1"/>
          <p:nvPr/>
        </p:nvSpPr>
        <p:spPr>
          <a:xfrm>
            <a:off x="6556248" y="2578608"/>
            <a:ext cx="4892040" cy="548640"/>
          </a:xfrm>
          <a:prstGeom prst="rect">
            <a:avLst/>
          </a:prstGeom>
          <a:noFill/>
        </p:spPr>
        <p:txBody>
          <a:bodyPr wrap="square" lIns="22860" rIns="22860" tIns="22860" bIns="22860" anchor="t">
            <a:spAutoFit/>
          </a:bodyPr>
          <a:lstStyle/>
          <a:p>
            <a:pPr algn="l">
              <a:lnSpc>
                <a:spcPct val="105000"/>
              </a:lnSpc>
            </a:pPr>
            <a:r>
              <a:rPr sz="1150" b="0">
                <a:solidFill>
                  <a:srgbClr val="22313F"/>
                </a:solidFill>
                <a:latin typeface="Arial"/>
              </a:rPr>
              <a:t>M1 present in 11; f in 9, unknown in 13. When is one more attempt worth its cost, and when does failure become evidence?</a:t>
            </a:r>
          </a:p>
        </p:txBody>
      </p:sp>
      <p:sp>
        <p:nvSpPr>
          <p:cNvPr id="77" name="Rectangle 76"/>
          <p:cNvSpPr/>
          <p:nvPr/>
        </p:nvSpPr>
        <p:spPr>
          <a:xfrm>
            <a:off x="6355080" y="3264408"/>
            <a:ext cx="5266944" cy="1033271"/>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355080" y="3264408"/>
            <a:ext cx="64008" cy="1033271"/>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537960" y="3392424"/>
            <a:ext cx="365760" cy="365760"/>
          </a:xfrm>
          <a:prstGeom prst="ellipse">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label:79"/>
          <p:cNvSpPr txBox="1"/>
          <p:nvPr/>
        </p:nvSpPr>
        <p:spPr>
          <a:xfrm>
            <a:off x="6537960" y="3392424"/>
            <a:ext cx="365760" cy="365760"/>
          </a:xfrm>
          <a:prstGeom prst="rect">
            <a:avLst/>
          </a:prstGeom>
          <a:noFill/>
        </p:spPr>
        <p:txBody>
          <a:bodyPr wrap="square" lIns="22860" rIns="22860" tIns="22860" bIns="22860" anchor="ctr">
            <a:spAutoFit/>
          </a:bodyPr>
          <a:lstStyle/>
          <a:p>
            <a:pPr algn="ctr">
              <a:lnSpc>
                <a:spcPct val="108000"/>
              </a:lnSpc>
            </a:pPr>
            <a:r>
              <a:rPr sz="1100" b="1">
                <a:solidFill>
                  <a:srgbClr val="FFFFFF"/>
                </a:solidFill>
                <a:latin typeface="Arial"/>
              </a:rPr>
              <a:t>Q2</a:t>
            </a:r>
          </a:p>
        </p:txBody>
      </p:sp>
      <p:sp>
        <p:nvSpPr>
          <p:cNvPr id="81" name="body:80"/>
          <p:cNvSpPr txBox="1"/>
          <p:nvPr/>
        </p:nvSpPr>
        <p:spPr>
          <a:xfrm>
            <a:off x="7013448" y="3355848"/>
            <a:ext cx="4480560" cy="365760"/>
          </a:xfrm>
          <a:prstGeom prst="rect">
            <a:avLst/>
          </a:prstGeom>
          <a:noFill/>
        </p:spPr>
        <p:txBody>
          <a:bodyPr wrap="square" lIns="22860" rIns="22860" tIns="22860" bIns="22860" anchor="ctr">
            <a:spAutoFit/>
          </a:bodyPr>
          <a:lstStyle/>
          <a:p>
            <a:pPr algn="l">
              <a:lnSpc>
                <a:spcPct val="108000"/>
              </a:lnSpc>
            </a:pPr>
            <a:r>
              <a:rPr sz="1600" b="1">
                <a:solidFill>
                  <a:srgbClr val="1E7A72"/>
                </a:solidFill>
                <a:latin typeface="Arial"/>
              </a:rPr>
              <a:t>Act, diagnose, or ask?</a:t>
            </a:r>
          </a:p>
        </p:txBody>
      </p:sp>
      <p:sp>
        <p:nvSpPr>
          <p:cNvPr id="82" name="body:81"/>
          <p:cNvSpPr txBox="1"/>
          <p:nvPr/>
        </p:nvSpPr>
        <p:spPr>
          <a:xfrm>
            <a:off x="6556248" y="3721608"/>
            <a:ext cx="4892040" cy="548640"/>
          </a:xfrm>
          <a:prstGeom prst="rect">
            <a:avLst/>
          </a:prstGeom>
          <a:noFill/>
        </p:spPr>
        <p:txBody>
          <a:bodyPr wrap="square" lIns="22860" rIns="22860" tIns="22860" bIns="22860" anchor="t">
            <a:spAutoFit/>
          </a:bodyPr>
          <a:lstStyle/>
          <a:p>
            <a:pPr algn="l">
              <a:lnSpc>
                <a:spcPct val="105000"/>
              </a:lnSpc>
            </a:pPr>
            <a:r>
              <a:rPr sz="1150" b="0">
                <a:solidFill>
                  <a:srgbClr val="22313F"/>
                </a:solidFill>
                <a:latin typeface="Arial"/>
              </a:rPr>
              <a:t>P3 violated in 12. A diagnostic informs feasibility; only a request can change the grant. Which is worth paying for?</a:t>
            </a:r>
          </a:p>
        </p:txBody>
      </p:sp>
      <p:sp>
        <p:nvSpPr>
          <p:cNvPr id="83" name="Rectangle 82"/>
          <p:cNvSpPr/>
          <p:nvPr/>
        </p:nvSpPr>
        <p:spPr>
          <a:xfrm>
            <a:off x="6355080" y="4407408"/>
            <a:ext cx="5266944" cy="1033271"/>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355080" y="4407408"/>
            <a:ext cx="64008" cy="1033271"/>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6537960" y="4535424"/>
            <a:ext cx="365760" cy="365760"/>
          </a:xfrm>
          <a:prstGeom prst="ellipse">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label:85"/>
          <p:cNvSpPr txBox="1"/>
          <p:nvPr/>
        </p:nvSpPr>
        <p:spPr>
          <a:xfrm>
            <a:off x="6537960" y="4535424"/>
            <a:ext cx="365760" cy="365760"/>
          </a:xfrm>
          <a:prstGeom prst="rect">
            <a:avLst/>
          </a:prstGeom>
          <a:noFill/>
        </p:spPr>
        <p:txBody>
          <a:bodyPr wrap="square" lIns="22860" rIns="22860" tIns="22860" bIns="22860" anchor="ctr">
            <a:spAutoFit/>
          </a:bodyPr>
          <a:lstStyle/>
          <a:p>
            <a:pPr algn="ctr">
              <a:lnSpc>
                <a:spcPct val="108000"/>
              </a:lnSpc>
            </a:pPr>
            <a:r>
              <a:rPr sz="1100" b="1">
                <a:solidFill>
                  <a:srgbClr val="FFFFFF"/>
                </a:solidFill>
                <a:latin typeface="Arial"/>
              </a:rPr>
              <a:t>Q3</a:t>
            </a:r>
          </a:p>
        </p:txBody>
      </p:sp>
      <p:sp>
        <p:nvSpPr>
          <p:cNvPr id="87" name="body:86"/>
          <p:cNvSpPr txBox="1"/>
          <p:nvPr/>
        </p:nvSpPr>
        <p:spPr>
          <a:xfrm>
            <a:off x="7013448" y="4498848"/>
            <a:ext cx="4480560" cy="365760"/>
          </a:xfrm>
          <a:prstGeom prst="rect">
            <a:avLst/>
          </a:prstGeom>
          <a:noFill/>
        </p:spPr>
        <p:txBody>
          <a:bodyPr wrap="square" lIns="22860" rIns="22860" tIns="22860" bIns="22860" anchor="ctr">
            <a:spAutoFit/>
          </a:bodyPr>
          <a:lstStyle/>
          <a:p>
            <a:pPr algn="l">
              <a:lnSpc>
                <a:spcPct val="108000"/>
              </a:lnSpc>
            </a:pPr>
            <a:r>
              <a:rPr sz="1600" b="1">
                <a:solidFill>
                  <a:srgbClr val="6A4C93"/>
                </a:solidFill>
                <a:latin typeface="Arial"/>
              </a:rPr>
              <a:t>Which policy to release?</a:t>
            </a:r>
          </a:p>
        </p:txBody>
      </p:sp>
      <p:sp>
        <p:nvSpPr>
          <p:cNvPr id="88" name="body:87"/>
          <p:cNvSpPr txBox="1"/>
          <p:nvPr/>
        </p:nvSpPr>
        <p:spPr>
          <a:xfrm>
            <a:off x="6556248" y="4864608"/>
            <a:ext cx="4892040" cy="548640"/>
          </a:xfrm>
          <a:prstGeom prst="rect">
            <a:avLst/>
          </a:prstGeom>
          <a:noFill/>
        </p:spPr>
        <p:txBody>
          <a:bodyPr wrap="square" lIns="22860" rIns="22860" tIns="22860" bIns="22860" anchor="t">
            <a:spAutoFit/>
          </a:bodyPr>
          <a:lstStyle/>
          <a:p>
            <a:pPr algn="l">
              <a:lnSpc>
                <a:spcPct val="105000"/>
              </a:lnSpc>
            </a:pPr>
            <a:r>
              <a:rPr sz="1150" b="0">
                <a:solidFill>
                  <a:srgbClr val="22313F"/>
                </a:solidFill>
                <a:latin typeface="Arial"/>
              </a:rPr>
              <a:t>P6 violated in 17; disclosure median 119 days. Which incident signal should select the next policy, given finite, late evidence?</a:t>
            </a:r>
          </a:p>
        </p:txBody>
      </p:sp>
      <p:sp>
        <p:nvSpPr>
          <p:cNvPr id="89" name="Rounded Rectangle 88"/>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body:89"/>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Each question is a classical decision problem: optimal stopping, value of information, constrained selection.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07 / FORMAL PROBLEM</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A constrained POMDP whose grant evidence cannot change.</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Three objects evolve by three different rules: the belief by Bayes, the grant by trusted replies only, the value by dynamic programming.</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09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3A6391"/>
                </a:solidFill>
                <a:latin typeface="Arial"/>
              </a:rPr>
              <a:t>THEORY</a:t>
            </a:r>
          </a:p>
        </p:txBody>
      </p:sp>
      <p:sp>
        <p:nvSpPr>
          <p:cNvPr id="37" name="source:36"/>
          <p:cNvSpPr txBox="1"/>
          <p:nvPr/>
        </p:nvSpPr>
        <p:spPr>
          <a:xfrm>
            <a:off x="566928" y="6400800"/>
            <a:ext cx="402336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Belief-state planning: Kaelbling et al. 1998</a:t>
            </a:r>
          </a:p>
        </p:txBody>
      </p:sp>
      <p:sp>
        <p:nvSpPr>
          <p:cNvPr id="38" name="source:37"/>
          <p:cNvSpPr txBox="1"/>
          <p:nvPr/>
        </p:nvSpPr>
        <p:spPr>
          <a:xfrm>
            <a:off x="4736592" y="6400800"/>
            <a:ext cx="329184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Objective: incident-aware optimization</a:t>
            </a:r>
          </a:p>
        </p:txBody>
      </p:sp>
      <p:sp>
        <p:nvSpPr>
          <p:cNvPr id="39" name="Rounded Rectangle 38"/>
          <p:cNvSpPr/>
          <p:nvPr/>
        </p:nvSpPr>
        <p:spPr>
          <a:xfrm>
            <a:off x="566928" y="2157984"/>
            <a:ext cx="457200" cy="438912"/>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ody:39"/>
          <p:cNvSpPr txBox="1"/>
          <p:nvPr/>
        </p:nvSpPr>
        <p:spPr>
          <a:xfrm>
            <a:off x="566928" y="2157984"/>
            <a:ext cx="457200" cy="438912"/>
          </a:xfrm>
          <a:prstGeom prst="rect">
            <a:avLst/>
          </a:prstGeom>
          <a:noFill/>
        </p:spPr>
        <p:txBody>
          <a:bodyPr wrap="square" lIns="22860" rIns="22860" tIns="22860" bIns="22860" anchor="ctr">
            <a:spAutoFit/>
          </a:bodyPr>
          <a:lstStyle/>
          <a:p>
            <a:pPr algn="ctr">
              <a:lnSpc>
                <a:spcPct val="108000"/>
              </a:lnSpc>
            </a:pPr>
            <a:r>
              <a:rPr sz="1800" b="1">
                <a:solidFill>
                  <a:srgbClr val="3A6391"/>
                </a:solidFill>
                <a:latin typeface="Arial"/>
              </a:rPr>
              <a:t>x</a:t>
            </a:r>
          </a:p>
        </p:txBody>
      </p:sp>
      <p:sp>
        <p:nvSpPr>
          <p:cNvPr id="41" name="body:40"/>
          <p:cNvSpPr txBox="1"/>
          <p:nvPr/>
        </p:nvSpPr>
        <p:spPr>
          <a:xfrm>
            <a:off x="1133856" y="2157984"/>
            <a:ext cx="1417320" cy="438912"/>
          </a:xfrm>
          <a:prstGeom prst="rect">
            <a:avLst/>
          </a:prstGeom>
          <a:noFill/>
        </p:spPr>
        <p:txBody>
          <a:bodyPr wrap="square" lIns="22860" rIns="22860" tIns="22860" bIns="22860" anchor="ctr">
            <a:spAutoFit/>
          </a:bodyPr>
          <a:lstStyle/>
          <a:p>
            <a:pPr algn="l">
              <a:lnSpc>
                <a:spcPct val="108000"/>
              </a:lnSpc>
            </a:pPr>
            <a:r>
              <a:rPr sz="1400" b="1">
                <a:solidFill>
                  <a:srgbClr val="172D46"/>
                </a:solidFill>
                <a:latin typeface="Arial"/>
              </a:rPr>
              <a:t>Hidden state</a:t>
            </a:r>
          </a:p>
        </p:txBody>
      </p:sp>
      <p:sp>
        <p:nvSpPr>
          <p:cNvPr id="42" name="body:41"/>
          <p:cNvSpPr txBox="1"/>
          <p:nvPr/>
        </p:nvSpPr>
        <p:spPr>
          <a:xfrm>
            <a:off x="2532888" y="2157984"/>
            <a:ext cx="3429000" cy="438912"/>
          </a:xfrm>
          <a:prstGeom prst="rect">
            <a:avLst/>
          </a:prstGeom>
          <a:noFill/>
        </p:spPr>
        <p:txBody>
          <a:bodyPr wrap="square" lIns="22860" rIns="22860" tIns="22860" bIns="22860" anchor="ctr">
            <a:spAutoFit/>
          </a:bodyPr>
          <a:lstStyle/>
          <a:p>
            <a:pPr algn="l">
              <a:lnSpc>
                <a:spcPct val="100000"/>
              </a:lnSpc>
            </a:pPr>
            <a:r>
              <a:rPr sz="1200" b="0">
                <a:solidFill>
                  <a:srgbClr val="22313F"/>
                </a:solidFill>
                <a:latin typeface="Arial"/>
              </a:rPr>
              <a:t>route feasibility, service state; never observed directly</a:t>
            </a:r>
          </a:p>
        </p:txBody>
      </p:sp>
      <p:sp>
        <p:nvSpPr>
          <p:cNvPr id="43" name="Rounded Rectangle 42"/>
          <p:cNvSpPr/>
          <p:nvPr/>
        </p:nvSpPr>
        <p:spPr>
          <a:xfrm>
            <a:off x="566928" y="2670048"/>
            <a:ext cx="457200" cy="438912"/>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ody:43"/>
          <p:cNvSpPr txBox="1"/>
          <p:nvPr/>
        </p:nvSpPr>
        <p:spPr>
          <a:xfrm>
            <a:off x="566928" y="2670048"/>
            <a:ext cx="457200" cy="438912"/>
          </a:xfrm>
          <a:prstGeom prst="rect">
            <a:avLst/>
          </a:prstGeom>
          <a:noFill/>
        </p:spPr>
        <p:txBody>
          <a:bodyPr wrap="square" lIns="22860" rIns="22860" tIns="22860" bIns="22860" anchor="ctr">
            <a:spAutoFit/>
          </a:bodyPr>
          <a:lstStyle/>
          <a:p>
            <a:pPr algn="ctr">
              <a:lnSpc>
                <a:spcPct val="108000"/>
              </a:lnSpc>
            </a:pPr>
            <a:r>
              <a:rPr sz="1800" b="1">
                <a:solidFill>
                  <a:srgbClr val="3A6391"/>
                </a:solidFill>
                <a:latin typeface="Arial"/>
              </a:rPr>
              <a:t>o</a:t>
            </a:r>
          </a:p>
        </p:txBody>
      </p:sp>
      <p:sp>
        <p:nvSpPr>
          <p:cNvPr id="45" name="body:44"/>
          <p:cNvSpPr txBox="1"/>
          <p:nvPr/>
        </p:nvSpPr>
        <p:spPr>
          <a:xfrm>
            <a:off x="1133856" y="2670048"/>
            <a:ext cx="1417320" cy="438912"/>
          </a:xfrm>
          <a:prstGeom prst="rect">
            <a:avLst/>
          </a:prstGeom>
          <a:noFill/>
        </p:spPr>
        <p:txBody>
          <a:bodyPr wrap="square" lIns="22860" rIns="22860" tIns="22860" bIns="22860" anchor="ctr">
            <a:spAutoFit/>
          </a:bodyPr>
          <a:lstStyle/>
          <a:p>
            <a:pPr algn="l">
              <a:lnSpc>
                <a:spcPct val="108000"/>
              </a:lnSpc>
            </a:pPr>
            <a:r>
              <a:rPr sz="1400" b="1">
                <a:solidFill>
                  <a:srgbClr val="172D46"/>
                </a:solidFill>
                <a:latin typeface="Arial"/>
              </a:rPr>
              <a:t>Observation</a:t>
            </a:r>
          </a:p>
        </p:txBody>
      </p:sp>
      <p:sp>
        <p:nvSpPr>
          <p:cNvPr id="46" name="body:45"/>
          <p:cNvSpPr txBox="1"/>
          <p:nvPr/>
        </p:nvSpPr>
        <p:spPr>
          <a:xfrm>
            <a:off x="2532888" y="2670048"/>
            <a:ext cx="3429000" cy="438912"/>
          </a:xfrm>
          <a:prstGeom prst="rect">
            <a:avLst/>
          </a:prstGeom>
          <a:noFill/>
        </p:spPr>
        <p:txBody>
          <a:bodyPr wrap="square" lIns="22860" rIns="22860" tIns="22860" bIns="22860" anchor="ctr">
            <a:spAutoFit/>
          </a:bodyPr>
          <a:lstStyle/>
          <a:p>
            <a:pPr algn="l">
              <a:lnSpc>
                <a:spcPct val="100000"/>
              </a:lnSpc>
            </a:pPr>
            <a:r>
              <a:rPr sz="1200" b="0">
                <a:solidFill>
                  <a:srgbClr val="22313F"/>
                </a:solidFill>
                <a:latin typeface="Arial"/>
              </a:rPr>
              <a:t>tool outputs, errors such as a 503, trusted human replies</a:t>
            </a:r>
          </a:p>
        </p:txBody>
      </p:sp>
      <p:sp>
        <p:nvSpPr>
          <p:cNvPr id="47" name="Rounded Rectangle 46"/>
          <p:cNvSpPr/>
          <p:nvPr/>
        </p:nvSpPr>
        <p:spPr>
          <a:xfrm>
            <a:off x="566928" y="3182112"/>
            <a:ext cx="457200" cy="438912"/>
          </a:xfrm>
          <a:prstGeom prst="roundRect">
            <a:avLst>
              <a:gd name="adj" fmla="val 5000"/>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ody:47"/>
          <p:cNvSpPr txBox="1"/>
          <p:nvPr/>
        </p:nvSpPr>
        <p:spPr>
          <a:xfrm>
            <a:off x="566928" y="3182112"/>
            <a:ext cx="457200" cy="438912"/>
          </a:xfrm>
          <a:prstGeom prst="rect">
            <a:avLst/>
          </a:prstGeom>
          <a:noFill/>
        </p:spPr>
        <p:txBody>
          <a:bodyPr wrap="square" lIns="22860" rIns="22860" tIns="22860" bIns="22860" anchor="ctr">
            <a:spAutoFit/>
          </a:bodyPr>
          <a:lstStyle/>
          <a:p>
            <a:pPr algn="ctr">
              <a:lnSpc>
                <a:spcPct val="108000"/>
              </a:lnSpc>
            </a:pPr>
            <a:r>
              <a:rPr sz="1800" b="1">
                <a:solidFill>
                  <a:srgbClr val="1E7A72"/>
                </a:solidFill>
                <a:latin typeface="Arial"/>
              </a:rPr>
              <a:t>a</a:t>
            </a:r>
          </a:p>
        </p:txBody>
      </p:sp>
      <p:sp>
        <p:nvSpPr>
          <p:cNvPr id="49" name="body:48"/>
          <p:cNvSpPr txBox="1"/>
          <p:nvPr/>
        </p:nvSpPr>
        <p:spPr>
          <a:xfrm>
            <a:off x="1133856" y="3182112"/>
            <a:ext cx="1417320" cy="438912"/>
          </a:xfrm>
          <a:prstGeom prst="rect">
            <a:avLst/>
          </a:prstGeom>
          <a:noFill/>
        </p:spPr>
        <p:txBody>
          <a:bodyPr wrap="square" lIns="22860" rIns="22860" tIns="22860" bIns="22860" anchor="ctr">
            <a:spAutoFit/>
          </a:bodyPr>
          <a:lstStyle/>
          <a:p>
            <a:pPr algn="l">
              <a:lnSpc>
                <a:spcPct val="108000"/>
              </a:lnSpc>
            </a:pPr>
            <a:r>
              <a:rPr sz="1400" b="1">
                <a:solidFill>
                  <a:srgbClr val="172D46"/>
                </a:solidFill>
                <a:latin typeface="Arial"/>
              </a:rPr>
              <a:t>Action</a:t>
            </a:r>
          </a:p>
        </p:txBody>
      </p:sp>
      <p:sp>
        <p:nvSpPr>
          <p:cNvPr id="50" name="body:49"/>
          <p:cNvSpPr txBox="1"/>
          <p:nvPr/>
        </p:nvSpPr>
        <p:spPr>
          <a:xfrm>
            <a:off x="2532888" y="3182112"/>
            <a:ext cx="3429000" cy="438912"/>
          </a:xfrm>
          <a:prstGeom prst="rect">
            <a:avLst/>
          </a:prstGeom>
          <a:noFill/>
        </p:spPr>
        <p:txBody>
          <a:bodyPr wrap="square" lIns="22860" rIns="22860" tIns="22860" bIns="22860" anchor="ctr">
            <a:spAutoFit/>
          </a:bodyPr>
          <a:lstStyle/>
          <a:p>
            <a:pPr algn="l">
              <a:lnSpc>
                <a:spcPct val="100000"/>
              </a:lnSpc>
            </a:pPr>
            <a:r>
              <a:rPr sz="1200" b="0">
                <a:solidFill>
                  <a:srgbClr val="22313F"/>
                </a:solidFill>
                <a:latin typeface="Arial"/>
              </a:rPr>
              <a:t>execute · probe · ASK(resource) · STOP with evidence</a:t>
            </a:r>
          </a:p>
        </p:txBody>
      </p:sp>
      <p:sp>
        <p:nvSpPr>
          <p:cNvPr id="51" name="Rounded Rectangle 50"/>
          <p:cNvSpPr/>
          <p:nvPr/>
        </p:nvSpPr>
        <p:spPr>
          <a:xfrm>
            <a:off x="566928" y="3694176"/>
            <a:ext cx="457200" cy="438912"/>
          </a:xfrm>
          <a:prstGeom prst="roundRect">
            <a:avLst>
              <a:gd name="adj" fmla="val 5000"/>
            </a:avLst>
          </a:prstGeom>
          <a:solidFill>
            <a:srgbClr val="F8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ody:51"/>
          <p:cNvSpPr txBox="1"/>
          <p:nvPr/>
        </p:nvSpPr>
        <p:spPr>
          <a:xfrm>
            <a:off x="566928" y="3694176"/>
            <a:ext cx="457200" cy="438912"/>
          </a:xfrm>
          <a:prstGeom prst="rect">
            <a:avLst/>
          </a:prstGeom>
          <a:noFill/>
        </p:spPr>
        <p:txBody>
          <a:bodyPr wrap="square" lIns="22860" rIns="22860" tIns="22860" bIns="22860" anchor="ctr">
            <a:spAutoFit/>
          </a:bodyPr>
          <a:lstStyle/>
          <a:p>
            <a:pPr algn="ctr">
              <a:lnSpc>
                <a:spcPct val="108000"/>
              </a:lnSpc>
            </a:pPr>
            <a:r>
              <a:rPr sz="1800" b="1">
                <a:solidFill>
                  <a:srgbClr val="B4602E"/>
                </a:solidFill>
                <a:latin typeface="Arial"/>
              </a:rPr>
              <a:t>e</a:t>
            </a:r>
          </a:p>
        </p:txBody>
      </p:sp>
      <p:sp>
        <p:nvSpPr>
          <p:cNvPr id="53" name="body:52"/>
          <p:cNvSpPr txBox="1"/>
          <p:nvPr/>
        </p:nvSpPr>
        <p:spPr>
          <a:xfrm>
            <a:off x="1133856" y="3694176"/>
            <a:ext cx="1417320" cy="438912"/>
          </a:xfrm>
          <a:prstGeom prst="rect">
            <a:avLst/>
          </a:prstGeom>
          <a:noFill/>
        </p:spPr>
        <p:txBody>
          <a:bodyPr wrap="square" lIns="22860" rIns="22860" tIns="22860" bIns="22860" anchor="ctr">
            <a:spAutoFit/>
          </a:bodyPr>
          <a:lstStyle/>
          <a:p>
            <a:pPr algn="l">
              <a:lnSpc>
                <a:spcPct val="108000"/>
              </a:lnSpc>
            </a:pPr>
            <a:r>
              <a:rPr sz="1400" b="1">
                <a:solidFill>
                  <a:srgbClr val="172D46"/>
                </a:solidFill>
                <a:latin typeface="Arial"/>
              </a:rPr>
              <a:t>Effect</a:t>
            </a:r>
          </a:p>
        </p:txBody>
      </p:sp>
      <p:sp>
        <p:nvSpPr>
          <p:cNvPr id="54" name="body:53"/>
          <p:cNvSpPr txBox="1"/>
          <p:nvPr/>
        </p:nvSpPr>
        <p:spPr>
          <a:xfrm>
            <a:off x="2532888" y="3694176"/>
            <a:ext cx="3429000" cy="438912"/>
          </a:xfrm>
          <a:prstGeom prst="rect">
            <a:avLst/>
          </a:prstGeom>
          <a:noFill/>
        </p:spPr>
        <p:txBody>
          <a:bodyPr wrap="square" lIns="22860" rIns="22860" tIns="22860" bIns="22860" anchor="ctr">
            <a:spAutoFit/>
          </a:bodyPr>
          <a:lstStyle/>
          <a:p>
            <a:pPr algn="l">
              <a:lnSpc>
                <a:spcPct val="100000"/>
              </a:lnSpc>
            </a:pPr>
            <a:r>
              <a:rPr sz="1200" b="0">
                <a:solidFill>
                  <a:srgbClr val="22313F"/>
                </a:solidFill>
                <a:latin typeface="Arial"/>
              </a:rPr>
              <a:t>what the action touched; journaled by the service, not the agent</a:t>
            </a:r>
          </a:p>
        </p:txBody>
      </p:sp>
      <p:sp>
        <p:nvSpPr>
          <p:cNvPr id="55" name="Rectangle 54"/>
          <p:cNvSpPr/>
          <p:nvPr/>
        </p:nvSpPr>
        <p:spPr>
          <a:xfrm>
            <a:off x="566928" y="4261104"/>
            <a:ext cx="5394960" cy="1261872"/>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ody:55"/>
          <p:cNvSpPr txBox="1"/>
          <p:nvPr/>
        </p:nvSpPr>
        <p:spPr>
          <a:xfrm>
            <a:off x="731520" y="4315968"/>
            <a:ext cx="2103120" cy="365760"/>
          </a:xfrm>
          <a:prstGeom prst="rect">
            <a:avLst/>
          </a:prstGeom>
          <a:noFill/>
        </p:spPr>
        <p:txBody>
          <a:bodyPr wrap="square" lIns="22860" rIns="22860" tIns="22860" bIns="22860" anchor="ctr">
            <a:spAutoFit/>
          </a:bodyPr>
          <a:lstStyle/>
          <a:p>
            <a:pPr algn="l">
              <a:lnSpc>
                <a:spcPct val="108000"/>
              </a:lnSpc>
            </a:pPr>
            <a:r>
              <a:rPr sz="1500" b="1">
                <a:solidFill>
                  <a:srgbClr val="172D46"/>
                </a:solidFill>
                <a:latin typeface="Arial"/>
              </a:rPr>
              <a:t>Controller state</a:t>
            </a:r>
          </a:p>
        </p:txBody>
      </p:sp>
      <p:pic>
        <p:nvPicPr>
          <p:cNvPr id="57" name="math:56" descr="f01.png"/>
          <p:cNvPicPr>
            <a:picLocks noChangeAspect="1"/>
          </p:cNvPicPr>
          <p:nvPr/>
        </p:nvPicPr>
        <p:blipFill>
          <a:blip r:embed="rId4"/>
          <a:stretch>
            <a:fillRect/>
          </a:stretch>
        </p:blipFill>
        <p:spPr>
          <a:xfrm>
            <a:off x="2807208" y="4376928"/>
            <a:ext cx="1197864" cy="243840"/>
          </a:xfrm>
          <a:prstGeom prst="rect">
            <a:avLst/>
          </a:prstGeom>
        </p:spPr>
      </p:pic>
      <p:pic>
        <p:nvPicPr>
          <p:cNvPr id="58" name="math:57" descr="f02.png"/>
          <p:cNvPicPr>
            <a:picLocks noChangeAspect="1"/>
          </p:cNvPicPr>
          <p:nvPr/>
        </p:nvPicPr>
        <p:blipFill>
          <a:blip r:embed="rId5"/>
          <a:stretch>
            <a:fillRect/>
          </a:stretch>
        </p:blipFill>
        <p:spPr>
          <a:xfrm>
            <a:off x="731520" y="4700016"/>
            <a:ext cx="5120640" cy="186798"/>
          </a:xfrm>
          <a:prstGeom prst="rect">
            <a:avLst/>
          </a:prstGeom>
        </p:spPr>
      </p:pic>
      <p:pic>
        <p:nvPicPr>
          <p:cNvPr id="59" name="math:58" descr="f03.png"/>
          <p:cNvPicPr>
            <a:picLocks noChangeAspect="1"/>
          </p:cNvPicPr>
          <p:nvPr/>
        </p:nvPicPr>
        <p:blipFill>
          <a:blip r:embed="rId6"/>
          <a:stretch>
            <a:fillRect/>
          </a:stretch>
        </p:blipFill>
        <p:spPr>
          <a:xfrm>
            <a:off x="731520" y="5047488"/>
            <a:ext cx="1929384" cy="192024"/>
          </a:xfrm>
          <a:prstGeom prst="rect">
            <a:avLst/>
          </a:prstGeom>
        </p:spPr>
      </p:pic>
      <p:sp>
        <p:nvSpPr>
          <p:cNvPr id="60" name="Rectangle 59"/>
          <p:cNvSpPr/>
          <p:nvPr/>
        </p:nvSpPr>
        <p:spPr>
          <a:xfrm>
            <a:off x="6217920" y="2157984"/>
            <a:ext cx="5404104" cy="173736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217920" y="2157984"/>
            <a:ext cx="82296" cy="173736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label:61"/>
          <p:cNvSpPr txBox="1"/>
          <p:nvPr/>
        </p:nvSpPr>
        <p:spPr>
          <a:xfrm>
            <a:off x="6455664" y="2267712"/>
            <a:ext cx="5038344" cy="256032"/>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BELLMAN EQUATION ON THE CONTROLLER STATE</a:t>
            </a:r>
          </a:p>
        </p:txBody>
      </p:sp>
      <p:pic>
        <p:nvPicPr>
          <p:cNvPr id="63" name="math:62" descr="f04.png"/>
          <p:cNvPicPr>
            <a:picLocks noChangeAspect="1"/>
          </p:cNvPicPr>
          <p:nvPr/>
        </p:nvPicPr>
        <p:blipFill>
          <a:blip r:embed="rId7"/>
          <a:stretch>
            <a:fillRect/>
          </a:stretch>
        </p:blipFill>
        <p:spPr>
          <a:xfrm>
            <a:off x="6473952" y="2595371"/>
            <a:ext cx="3395472" cy="374904"/>
          </a:xfrm>
          <a:prstGeom prst="rect">
            <a:avLst/>
          </a:prstGeom>
        </p:spPr>
      </p:pic>
      <p:pic>
        <p:nvPicPr>
          <p:cNvPr id="64" name="math:63" descr="f05.png"/>
          <p:cNvPicPr>
            <a:picLocks noChangeAspect="1"/>
          </p:cNvPicPr>
          <p:nvPr/>
        </p:nvPicPr>
        <p:blipFill>
          <a:blip r:embed="rId8"/>
          <a:stretch>
            <a:fillRect/>
          </a:stretch>
        </p:blipFill>
        <p:spPr>
          <a:xfrm>
            <a:off x="6473952" y="3080004"/>
            <a:ext cx="3422904" cy="286512"/>
          </a:xfrm>
          <a:prstGeom prst="rect">
            <a:avLst/>
          </a:prstGeom>
        </p:spPr>
      </p:pic>
      <p:sp>
        <p:nvSpPr>
          <p:cNvPr id="65" name="caption:64"/>
          <p:cNvSpPr txBox="1"/>
          <p:nvPr/>
        </p:nvSpPr>
        <p:spPr>
          <a:xfrm>
            <a:off x="6455664" y="3419856"/>
            <a:ext cx="5020056" cy="420624"/>
          </a:xfrm>
          <a:prstGeom prst="rect">
            <a:avLst/>
          </a:prstGeom>
          <a:noFill/>
        </p:spPr>
        <p:txBody>
          <a:bodyPr wrap="square" lIns="22860" rIns="22860" tIns="22860" bIns="22860" anchor="t">
            <a:spAutoFit/>
          </a:bodyPr>
          <a:lstStyle/>
          <a:p>
            <a:pPr algn="l">
              <a:lnSpc>
                <a:spcPct val="105000"/>
              </a:lnSpc>
            </a:pPr>
            <a:r>
              <a:rPr sz="1100" b="0">
                <a:solidFill>
                  <a:srgbClr val="B9C8D8"/>
                </a:solidFill>
                <a:latin typeface="Arial"/>
              </a:rPr>
              <a:t>A(g): permitted execution, permitted diagnostics, permitted requests, termination. Terminal payoffs fixed in advance.</a:t>
            </a:r>
          </a:p>
        </p:txBody>
      </p:sp>
      <p:sp>
        <p:nvSpPr>
          <p:cNvPr id="66" name="Rectangle 65"/>
          <p:cNvSpPr/>
          <p:nvPr/>
        </p:nvSpPr>
        <p:spPr>
          <a:xfrm>
            <a:off x="6217920" y="4023360"/>
            <a:ext cx="5404104" cy="1572768"/>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ody:66"/>
          <p:cNvSpPr txBox="1"/>
          <p:nvPr/>
        </p:nvSpPr>
        <p:spPr>
          <a:xfrm>
            <a:off x="6400800" y="4096512"/>
            <a:ext cx="5029200" cy="310896"/>
          </a:xfrm>
          <a:prstGeom prst="rect">
            <a:avLst/>
          </a:prstGeom>
          <a:noFill/>
        </p:spPr>
        <p:txBody>
          <a:bodyPr wrap="square" lIns="22860" rIns="22860" tIns="22860" bIns="22860" anchor="ctr">
            <a:spAutoFit/>
          </a:bodyPr>
          <a:lstStyle/>
          <a:p>
            <a:pPr algn="l">
              <a:lnSpc>
                <a:spcPct val="108000"/>
              </a:lnSpc>
            </a:pPr>
            <a:r>
              <a:rPr sz="1400" b="1">
                <a:solidFill>
                  <a:srgbClr val="172D46"/>
                </a:solidFill>
                <a:latin typeface="Arial"/>
              </a:rPr>
              <a:t>Three readings of one 503</a:t>
            </a:r>
          </a:p>
        </p:txBody>
      </p:sp>
      <p:sp>
        <p:nvSpPr>
          <p:cNvPr id="68" name="Rounded Rectangle 67"/>
          <p:cNvSpPr/>
          <p:nvPr/>
        </p:nvSpPr>
        <p:spPr>
          <a:xfrm>
            <a:off x="6400800" y="4489704"/>
            <a:ext cx="960120" cy="256032"/>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abel:68"/>
          <p:cNvSpPr txBox="1"/>
          <p:nvPr/>
        </p:nvSpPr>
        <p:spPr>
          <a:xfrm>
            <a:off x="6455664" y="4489704"/>
            <a:ext cx="850392" cy="256032"/>
          </a:xfrm>
          <a:prstGeom prst="rect">
            <a:avLst/>
          </a:prstGeom>
          <a:noFill/>
        </p:spPr>
        <p:txBody>
          <a:bodyPr wrap="square" lIns="22860" rIns="22860" tIns="22860" bIns="22860" anchor="ctr">
            <a:spAutoFit/>
          </a:bodyPr>
          <a:lstStyle/>
          <a:p>
            <a:pPr algn="ctr">
              <a:lnSpc>
                <a:spcPct val="108000"/>
              </a:lnSpc>
            </a:pPr>
            <a:r>
              <a:rPr sz="950" b="1">
                <a:solidFill>
                  <a:srgbClr val="3A6391"/>
                </a:solidFill>
                <a:latin typeface="Arial"/>
              </a:rPr>
              <a:t>Epistemic</a:t>
            </a:r>
          </a:p>
        </p:txBody>
      </p:sp>
      <p:pic>
        <p:nvPicPr>
          <p:cNvPr id="70" name="math:69" descr="f06.png"/>
          <p:cNvPicPr>
            <a:picLocks noChangeAspect="1"/>
          </p:cNvPicPr>
          <p:nvPr/>
        </p:nvPicPr>
        <p:blipFill>
          <a:blip r:embed="rId9"/>
          <a:stretch>
            <a:fillRect/>
          </a:stretch>
        </p:blipFill>
        <p:spPr>
          <a:xfrm>
            <a:off x="7452360" y="4521708"/>
            <a:ext cx="2670048" cy="192024"/>
          </a:xfrm>
          <a:prstGeom prst="rect">
            <a:avLst/>
          </a:prstGeom>
        </p:spPr>
      </p:pic>
      <p:sp>
        <p:nvSpPr>
          <p:cNvPr id="71" name="Rounded Rectangle 70"/>
          <p:cNvSpPr/>
          <p:nvPr/>
        </p:nvSpPr>
        <p:spPr>
          <a:xfrm>
            <a:off x="6400800" y="4855464"/>
            <a:ext cx="960120" cy="256032"/>
          </a:xfrm>
          <a:prstGeom prst="roundRect">
            <a:avLst>
              <a:gd name="adj" fmla="val 5000"/>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label:71"/>
          <p:cNvSpPr txBox="1"/>
          <p:nvPr/>
        </p:nvSpPr>
        <p:spPr>
          <a:xfrm>
            <a:off x="6455664" y="4855464"/>
            <a:ext cx="850392" cy="256032"/>
          </a:xfrm>
          <a:prstGeom prst="rect">
            <a:avLst/>
          </a:prstGeom>
          <a:noFill/>
        </p:spPr>
        <p:txBody>
          <a:bodyPr wrap="square" lIns="22860" rIns="22860" tIns="22860" bIns="22860" anchor="ctr">
            <a:spAutoFit/>
          </a:bodyPr>
          <a:lstStyle/>
          <a:p>
            <a:pPr algn="ctr">
              <a:lnSpc>
                <a:spcPct val="108000"/>
              </a:lnSpc>
            </a:pPr>
            <a:r>
              <a:rPr sz="950" b="1">
                <a:solidFill>
                  <a:srgbClr val="1E7A72"/>
                </a:solidFill>
                <a:latin typeface="Arial"/>
              </a:rPr>
              <a:t>Deontic</a:t>
            </a:r>
          </a:p>
        </p:txBody>
      </p:sp>
      <p:pic>
        <p:nvPicPr>
          <p:cNvPr id="73" name="math:72" descr="f07.png"/>
          <p:cNvPicPr>
            <a:picLocks noChangeAspect="1"/>
          </p:cNvPicPr>
          <p:nvPr/>
        </p:nvPicPr>
        <p:blipFill>
          <a:blip r:embed="rId10"/>
          <a:stretch>
            <a:fillRect/>
          </a:stretch>
        </p:blipFill>
        <p:spPr>
          <a:xfrm>
            <a:off x="7452360" y="4887468"/>
            <a:ext cx="2261616" cy="192024"/>
          </a:xfrm>
          <a:prstGeom prst="rect">
            <a:avLst/>
          </a:prstGeom>
        </p:spPr>
      </p:pic>
      <p:sp>
        <p:nvSpPr>
          <p:cNvPr id="74" name="Rounded Rectangle 73"/>
          <p:cNvSpPr/>
          <p:nvPr/>
        </p:nvSpPr>
        <p:spPr>
          <a:xfrm>
            <a:off x="6400800" y="5221224"/>
            <a:ext cx="960120" cy="256032"/>
          </a:xfrm>
          <a:prstGeom prst="roundRect">
            <a:avLst>
              <a:gd name="adj" fmla="val 5000"/>
            </a:avLst>
          </a:prstGeom>
          <a:solidFill>
            <a:srgbClr val="F8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label:74"/>
          <p:cNvSpPr txBox="1"/>
          <p:nvPr/>
        </p:nvSpPr>
        <p:spPr>
          <a:xfrm>
            <a:off x="6455664" y="5221224"/>
            <a:ext cx="850392" cy="256032"/>
          </a:xfrm>
          <a:prstGeom prst="rect">
            <a:avLst/>
          </a:prstGeom>
          <a:noFill/>
        </p:spPr>
        <p:txBody>
          <a:bodyPr wrap="square" lIns="22860" rIns="22860" tIns="22860" bIns="22860" anchor="ctr">
            <a:spAutoFit/>
          </a:bodyPr>
          <a:lstStyle/>
          <a:p>
            <a:pPr algn="ctr">
              <a:lnSpc>
                <a:spcPct val="108000"/>
              </a:lnSpc>
            </a:pPr>
            <a:r>
              <a:rPr sz="950" b="1">
                <a:solidFill>
                  <a:srgbClr val="B4602E"/>
                </a:solidFill>
                <a:latin typeface="Arial"/>
              </a:rPr>
              <a:t>Evaluative</a:t>
            </a:r>
          </a:p>
        </p:txBody>
      </p:sp>
      <p:pic>
        <p:nvPicPr>
          <p:cNvPr id="76" name="math:75" descr="f08.png"/>
          <p:cNvPicPr>
            <a:picLocks noChangeAspect="1"/>
          </p:cNvPicPr>
          <p:nvPr/>
        </p:nvPicPr>
        <p:blipFill>
          <a:blip r:embed="rId11"/>
          <a:stretch>
            <a:fillRect/>
          </a:stretch>
        </p:blipFill>
        <p:spPr>
          <a:xfrm>
            <a:off x="7452360" y="5253228"/>
            <a:ext cx="3355848" cy="192024"/>
          </a:xfrm>
          <a:prstGeom prst="rect">
            <a:avLst/>
          </a:prstGeom>
        </p:spPr>
      </p:pic>
      <p:sp>
        <p:nvSpPr>
          <p:cNvPr id="77" name="Rounded Rectangle 76"/>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ody:77"/>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A failed tool call updates b</a:t>
            </a:r>
            <a:r>
              <a:rPr sz="1600" b="1" baseline="-25000">
                <a:solidFill>
                  <a:srgbClr val="FFFFFF"/>
                </a:solidFill>
                <a:latin typeface="Arial"/>
              </a:rPr>
              <a:t>t</a:t>
            </a:r>
            <a:r>
              <a:rPr sz="1600" b="1">
                <a:solidFill>
                  <a:srgbClr val="FFFFFF"/>
                </a:solidFill>
                <a:latin typeface="Arial"/>
              </a:rPr>
              <a:t>. It never updates g</a:t>
            </a:r>
            <a:r>
              <a:rPr sz="1600" b="1" baseline="-25000">
                <a:solidFill>
                  <a:srgbClr val="FFFFFF"/>
                </a:solidFill>
                <a:latin typeface="Arial"/>
              </a:rPr>
              <a:t>t</a:t>
            </a:r>
            <a:r>
              <a:rPr sz="1600" b="1">
                <a:solidFill>
                  <a:srgbClr val="FFFFFF"/>
                </a:solidFill>
                <a:latin typeface="Arial"/>
              </a:rPr>
              <a:t>. The grant is a constraint on effects, not a reward term.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08 / OPTIMAL STOPPING WITH LEARNING</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Result 1: each failure is evidence; stop at a posterior threshold.</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Exact toy: feasible with prior p</a:t>
            </a:r>
            <a:r>
              <a:rPr sz="1400" b="0" baseline="-25000">
                <a:solidFill>
                  <a:srgbClr val="5F6E80"/>
                </a:solidFill>
                <a:latin typeface="Arial"/>
              </a:rPr>
              <a:t>0</a:t>
            </a:r>
            <a:r>
              <a:rPr sz="1400" b="0">
                <a:solidFill>
                  <a:srgbClr val="5F6E80"/>
                </a:solidFill>
                <a:latin typeface="Arial"/>
              </a:rPr>
              <a:t> = 0.7; an attempt succeeds with probability q = 0.5 if feasible, costs c = 1; success R = 10; honest stop B = 2.</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10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F7E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A4761A"/>
                </a:solidFill>
                <a:latin typeface="Arial"/>
              </a:rPr>
              <a:t>EXACT TOY</a:t>
            </a:r>
          </a:p>
        </p:txBody>
      </p:sp>
      <p:sp>
        <p:nvSpPr>
          <p:cNvPr id="37" name="source:36"/>
          <p:cNvSpPr txBox="1"/>
          <p:nvPr/>
        </p:nvSpPr>
        <p:spPr>
          <a:xfrm>
            <a:off x="566928" y="6400800"/>
            <a:ext cx="420624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Monotone stopping: one-step look-ahead is optimal (Ferguson, ch. 5)</a:t>
            </a:r>
          </a:p>
        </p:txBody>
      </p:sp>
      <p:sp>
        <p:nvSpPr>
          <p:cNvPr id="38" name="source:37"/>
          <p:cNvSpPr txBox="1"/>
          <p:nvPr/>
        </p:nvSpPr>
        <p:spPr>
          <a:xfrm>
            <a:off x="4919472" y="6400800"/>
            <a:ext cx="146304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Project X1 design</a:t>
            </a:r>
          </a:p>
        </p:txBody>
      </p:sp>
      <p:sp>
        <p:nvSpPr>
          <p:cNvPr id="39" name="Rectangle 38"/>
          <p:cNvSpPr/>
          <p:nvPr/>
        </p:nvSpPr>
        <p:spPr>
          <a:xfrm>
            <a:off x="566928" y="2157984"/>
            <a:ext cx="5532120" cy="33832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2157984"/>
            <a:ext cx="64008" cy="3383280"/>
          </a:xfrm>
          <a:prstGeom prst="rect">
            <a:avLst/>
          </a:prstGeom>
          <a:solidFill>
            <a:srgbClr val="3A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ody:40"/>
          <p:cNvSpPr txBox="1"/>
          <p:nvPr/>
        </p:nvSpPr>
        <p:spPr>
          <a:xfrm>
            <a:off x="795528" y="2249424"/>
            <a:ext cx="5120640" cy="329184"/>
          </a:xfrm>
          <a:prstGeom prst="rect">
            <a:avLst/>
          </a:prstGeom>
          <a:noFill/>
        </p:spPr>
        <p:txBody>
          <a:bodyPr wrap="square" lIns="22860" rIns="22860" tIns="22860" bIns="22860" anchor="ctr">
            <a:spAutoFit/>
          </a:bodyPr>
          <a:lstStyle/>
          <a:p>
            <a:pPr algn="l">
              <a:lnSpc>
                <a:spcPct val="108000"/>
              </a:lnSpc>
            </a:pPr>
            <a:r>
              <a:rPr sz="1400" b="1">
                <a:solidFill>
                  <a:srgbClr val="172D46"/>
                </a:solidFill>
                <a:latin typeface="Arial"/>
              </a:rPr>
              <a:t>Posterior that the route is feasible, after each failure</a:t>
            </a:r>
          </a:p>
        </p:txBody>
      </p:sp>
      <p:sp>
        <p:nvSpPr>
          <p:cNvPr id="42" name="Rectangle 41"/>
          <p:cNvSpPr/>
          <p:nvPr/>
        </p:nvSpPr>
        <p:spPr>
          <a:xfrm>
            <a:off x="1435607" y="4591202"/>
            <a:ext cx="4297679" cy="16459"/>
          </a:xfrm>
          <a:prstGeom prst="rect">
            <a:avLst/>
          </a:prstGeom>
          <a:solidFill>
            <a:srgbClr val="223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427378" y="2697480"/>
            <a:ext cx="16459" cy="1901952"/>
          </a:xfrm>
          <a:prstGeom prst="rect">
            <a:avLst/>
          </a:prstGeom>
          <a:solidFill>
            <a:srgbClr val="223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435607"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563624"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691640"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819656"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947672"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075688"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203704"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31720"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459736"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587752"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715768"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843784"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971800"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099816"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227832"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355848"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483864"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3611880"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739896"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867912"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995928"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123944"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251960"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4379976"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507992"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636007"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764023"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4892039"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020055"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5148071"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5276087"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5404103"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5532119"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660135" y="4112513"/>
            <a:ext cx="73152" cy="22860"/>
          </a:xfrm>
          <a:prstGeom prst="rect">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8" name="math:77" descr="f09.png"/>
          <p:cNvPicPr>
            <a:picLocks noChangeAspect="1"/>
          </p:cNvPicPr>
          <p:nvPr/>
        </p:nvPicPr>
        <p:blipFill>
          <a:blip r:embed="rId4"/>
          <a:stretch>
            <a:fillRect/>
          </a:stretch>
        </p:blipFill>
        <p:spPr>
          <a:xfrm>
            <a:off x="4648200" y="3794759"/>
            <a:ext cx="1085088" cy="192024"/>
          </a:xfrm>
          <a:prstGeom prst="rect">
            <a:avLst/>
          </a:prstGeom>
        </p:spPr>
      </p:pic>
      <p:sp>
        <p:nvSpPr>
          <p:cNvPr id="79" name="Rectangle 78"/>
          <p:cNvSpPr/>
          <p:nvPr/>
        </p:nvSpPr>
        <p:spPr>
          <a:xfrm>
            <a:off x="1578864" y="3268065"/>
            <a:ext cx="429768" cy="1331366"/>
          </a:xfrm>
          <a:prstGeom prst="rect">
            <a:avLst/>
          </a:prstGeom>
          <a:solidFill>
            <a:srgbClr val="3A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ody:79"/>
          <p:cNvSpPr txBox="1"/>
          <p:nvPr/>
        </p:nvSpPr>
        <p:spPr>
          <a:xfrm>
            <a:off x="1487423" y="2993745"/>
            <a:ext cx="573024" cy="256032"/>
          </a:xfrm>
          <a:prstGeom prst="rect">
            <a:avLst/>
          </a:prstGeom>
          <a:noFill/>
        </p:spPr>
        <p:txBody>
          <a:bodyPr wrap="square" lIns="22860" rIns="22860" tIns="22860" bIns="22860" anchor="ctr">
            <a:spAutoFit/>
          </a:bodyPr>
          <a:lstStyle/>
          <a:p>
            <a:pPr algn="ctr">
              <a:lnSpc>
                <a:spcPct val="108000"/>
              </a:lnSpc>
            </a:pPr>
            <a:r>
              <a:rPr sz="1100" b="1">
                <a:solidFill>
                  <a:srgbClr val="3A6391"/>
                </a:solidFill>
                <a:latin typeface="Arial"/>
              </a:rPr>
              <a:t>0.70</a:t>
            </a:r>
          </a:p>
        </p:txBody>
      </p:sp>
      <p:sp>
        <p:nvSpPr>
          <p:cNvPr id="81" name="body:80"/>
          <p:cNvSpPr txBox="1"/>
          <p:nvPr/>
        </p:nvSpPr>
        <p:spPr>
          <a:xfrm>
            <a:off x="1487423" y="4636008"/>
            <a:ext cx="573024" cy="237744"/>
          </a:xfrm>
          <a:prstGeom prst="rect">
            <a:avLst/>
          </a:prstGeom>
          <a:noFill/>
        </p:spPr>
        <p:txBody>
          <a:bodyPr wrap="square" lIns="22860" rIns="22860" tIns="22860" bIns="22860" anchor="ctr">
            <a:spAutoFit/>
          </a:bodyPr>
          <a:lstStyle/>
          <a:p>
            <a:pPr algn="ctr">
              <a:lnSpc>
                <a:spcPct val="108000"/>
              </a:lnSpc>
            </a:pPr>
            <a:r>
              <a:rPr sz="1100" b="0">
                <a:solidFill>
                  <a:srgbClr val="5F6E80"/>
                </a:solidFill>
                <a:latin typeface="Arial"/>
              </a:rPr>
              <a:t>p</a:t>
            </a:r>
            <a:r>
              <a:rPr sz="1100" b="0" baseline="-25000">
                <a:solidFill>
                  <a:srgbClr val="5F6E80"/>
                </a:solidFill>
                <a:latin typeface="Arial"/>
              </a:rPr>
              <a:t>0</a:t>
            </a:r>
          </a:p>
        </p:txBody>
      </p:sp>
      <p:sp>
        <p:nvSpPr>
          <p:cNvPr id="82" name="Rectangle 81"/>
          <p:cNvSpPr/>
          <p:nvPr/>
        </p:nvSpPr>
        <p:spPr>
          <a:xfrm>
            <a:off x="2295144" y="3575304"/>
            <a:ext cx="429768" cy="1024127"/>
          </a:xfrm>
          <a:prstGeom prst="rect">
            <a:avLst/>
          </a:prstGeom>
          <a:solidFill>
            <a:srgbClr val="3A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body:82"/>
          <p:cNvSpPr txBox="1"/>
          <p:nvPr/>
        </p:nvSpPr>
        <p:spPr>
          <a:xfrm>
            <a:off x="2203703" y="3300984"/>
            <a:ext cx="573024" cy="256032"/>
          </a:xfrm>
          <a:prstGeom prst="rect">
            <a:avLst/>
          </a:prstGeom>
          <a:noFill/>
        </p:spPr>
        <p:txBody>
          <a:bodyPr wrap="square" lIns="22860" rIns="22860" tIns="22860" bIns="22860" anchor="ctr">
            <a:spAutoFit/>
          </a:bodyPr>
          <a:lstStyle/>
          <a:p>
            <a:pPr algn="ctr">
              <a:lnSpc>
                <a:spcPct val="108000"/>
              </a:lnSpc>
            </a:pPr>
            <a:r>
              <a:rPr sz="1100" b="1">
                <a:solidFill>
                  <a:srgbClr val="3A6391"/>
                </a:solidFill>
                <a:latin typeface="Arial"/>
              </a:rPr>
              <a:t>0.54</a:t>
            </a:r>
          </a:p>
        </p:txBody>
      </p:sp>
      <p:sp>
        <p:nvSpPr>
          <p:cNvPr id="84" name="body:83"/>
          <p:cNvSpPr txBox="1"/>
          <p:nvPr/>
        </p:nvSpPr>
        <p:spPr>
          <a:xfrm>
            <a:off x="2203703" y="4636008"/>
            <a:ext cx="573024" cy="237744"/>
          </a:xfrm>
          <a:prstGeom prst="rect">
            <a:avLst/>
          </a:prstGeom>
          <a:noFill/>
        </p:spPr>
        <p:txBody>
          <a:bodyPr wrap="square" lIns="22860" rIns="22860" tIns="22860" bIns="22860" anchor="ctr">
            <a:spAutoFit/>
          </a:bodyPr>
          <a:lstStyle/>
          <a:p>
            <a:pPr algn="ctr">
              <a:lnSpc>
                <a:spcPct val="108000"/>
              </a:lnSpc>
            </a:pPr>
            <a:r>
              <a:rPr sz="1100" b="0">
                <a:solidFill>
                  <a:srgbClr val="5F6E80"/>
                </a:solidFill>
                <a:latin typeface="Arial"/>
              </a:rPr>
              <a:t>p</a:t>
            </a:r>
            <a:r>
              <a:rPr sz="1100" b="0" baseline="-25000">
                <a:solidFill>
                  <a:srgbClr val="5F6E80"/>
                </a:solidFill>
                <a:latin typeface="Arial"/>
              </a:rPr>
              <a:t>1</a:t>
            </a:r>
          </a:p>
        </p:txBody>
      </p:sp>
      <p:sp>
        <p:nvSpPr>
          <p:cNvPr id="85" name="Rectangle 84"/>
          <p:cNvSpPr/>
          <p:nvPr/>
        </p:nvSpPr>
        <p:spPr>
          <a:xfrm>
            <a:off x="3011424" y="3898712"/>
            <a:ext cx="429768" cy="700719"/>
          </a:xfrm>
          <a:prstGeom prst="rect">
            <a:avLst/>
          </a:prstGeom>
          <a:solidFill>
            <a:srgbClr val="3A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body:85"/>
          <p:cNvSpPr txBox="1"/>
          <p:nvPr/>
        </p:nvSpPr>
        <p:spPr>
          <a:xfrm>
            <a:off x="2919984" y="3624392"/>
            <a:ext cx="573024" cy="256032"/>
          </a:xfrm>
          <a:prstGeom prst="rect">
            <a:avLst/>
          </a:prstGeom>
          <a:noFill/>
        </p:spPr>
        <p:txBody>
          <a:bodyPr wrap="square" lIns="22860" rIns="22860" tIns="22860" bIns="22860" anchor="ctr">
            <a:spAutoFit/>
          </a:bodyPr>
          <a:lstStyle/>
          <a:p>
            <a:pPr algn="ctr">
              <a:lnSpc>
                <a:spcPct val="108000"/>
              </a:lnSpc>
            </a:pPr>
            <a:r>
              <a:rPr sz="1100" b="1">
                <a:solidFill>
                  <a:srgbClr val="3A6391"/>
                </a:solidFill>
                <a:latin typeface="Arial"/>
              </a:rPr>
              <a:t>0.37</a:t>
            </a:r>
          </a:p>
        </p:txBody>
      </p:sp>
      <p:sp>
        <p:nvSpPr>
          <p:cNvPr id="87" name="body:86"/>
          <p:cNvSpPr txBox="1"/>
          <p:nvPr/>
        </p:nvSpPr>
        <p:spPr>
          <a:xfrm>
            <a:off x="2919984" y="4636008"/>
            <a:ext cx="573024" cy="237744"/>
          </a:xfrm>
          <a:prstGeom prst="rect">
            <a:avLst/>
          </a:prstGeom>
          <a:noFill/>
        </p:spPr>
        <p:txBody>
          <a:bodyPr wrap="square" lIns="22860" rIns="22860" tIns="22860" bIns="22860" anchor="ctr">
            <a:spAutoFit/>
          </a:bodyPr>
          <a:lstStyle/>
          <a:p>
            <a:pPr algn="ctr">
              <a:lnSpc>
                <a:spcPct val="108000"/>
              </a:lnSpc>
            </a:pPr>
            <a:r>
              <a:rPr sz="1100" b="0">
                <a:solidFill>
                  <a:srgbClr val="5F6E80"/>
                </a:solidFill>
                <a:latin typeface="Arial"/>
              </a:rPr>
              <a:t>p</a:t>
            </a:r>
            <a:r>
              <a:rPr sz="1100" b="0" baseline="-25000">
                <a:solidFill>
                  <a:srgbClr val="5F6E80"/>
                </a:solidFill>
                <a:latin typeface="Arial"/>
              </a:rPr>
              <a:t>2</a:t>
            </a:r>
          </a:p>
        </p:txBody>
      </p:sp>
      <p:sp>
        <p:nvSpPr>
          <p:cNvPr id="88" name="Rectangle 87"/>
          <p:cNvSpPr/>
          <p:nvPr/>
        </p:nvSpPr>
        <p:spPr>
          <a:xfrm>
            <a:off x="3727703" y="4169958"/>
            <a:ext cx="429768" cy="429473"/>
          </a:xfrm>
          <a:prstGeom prst="rect">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body:88"/>
          <p:cNvSpPr txBox="1"/>
          <p:nvPr/>
        </p:nvSpPr>
        <p:spPr>
          <a:xfrm>
            <a:off x="3636263" y="3895638"/>
            <a:ext cx="573024" cy="256032"/>
          </a:xfrm>
          <a:prstGeom prst="rect">
            <a:avLst/>
          </a:prstGeom>
          <a:noFill/>
        </p:spPr>
        <p:txBody>
          <a:bodyPr wrap="square" lIns="22860" rIns="22860" tIns="22860" bIns="22860" anchor="ctr">
            <a:spAutoFit/>
          </a:bodyPr>
          <a:lstStyle/>
          <a:p>
            <a:pPr algn="ctr">
              <a:lnSpc>
                <a:spcPct val="108000"/>
              </a:lnSpc>
            </a:pPr>
            <a:r>
              <a:rPr sz="1100" b="1">
                <a:solidFill>
                  <a:srgbClr val="5F6E80"/>
                </a:solidFill>
                <a:latin typeface="Arial"/>
              </a:rPr>
              <a:t>0.23</a:t>
            </a:r>
          </a:p>
        </p:txBody>
      </p:sp>
      <p:sp>
        <p:nvSpPr>
          <p:cNvPr id="90" name="body:89"/>
          <p:cNvSpPr txBox="1"/>
          <p:nvPr/>
        </p:nvSpPr>
        <p:spPr>
          <a:xfrm>
            <a:off x="3636263" y="4636008"/>
            <a:ext cx="573024" cy="237744"/>
          </a:xfrm>
          <a:prstGeom prst="rect">
            <a:avLst/>
          </a:prstGeom>
          <a:noFill/>
        </p:spPr>
        <p:txBody>
          <a:bodyPr wrap="square" lIns="22860" rIns="22860" tIns="22860" bIns="22860" anchor="ctr">
            <a:spAutoFit/>
          </a:bodyPr>
          <a:lstStyle/>
          <a:p>
            <a:pPr algn="ctr">
              <a:lnSpc>
                <a:spcPct val="108000"/>
              </a:lnSpc>
            </a:pPr>
            <a:r>
              <a:rPr sz="1100" b="0">
                <a:solidFill>
                  <a:srgbClr val="5F6E80"/>
                </a:solidFill>
                <a:latin typeface="Arial"/>
              </a:rPr>
              <a:t>p</a:t>
            </a:r>
            <a:r>
              <a:rPr sz="1100" b="0" baseline="-25000">
                <a:solidFill>
                  <a:srgbClr val="5F6E80"/>
                </a:solidFill>
                <a:latin typeface="Arial"/>
              </a:rPr>
              <a:t>3</a:t>
            </a:r>
          </a:p>
        </p:txBody>
      </p:sp>
      <p:sp>
        <p:nvSpPr>
          <p:cNvPr id="91" name="Rectangle 90"/>
          <p:cNvSpPr/>
          <p:nvPr/>
        </p:nvSpPr>
        <p:spPr>
          <a:xfrm>
            <a:off x="4443983" y="4357365"/>
            <a:ext cx="429768" cy="242066"/>
          </a:xfrm>
          <a:prstGeom prst="rect">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body:91"/>
          <p:cNvSpPr txBox="1"/>
          <p:nvPr/>
        </p:nvSpPr>
        <p:spPr>
          <a:xfrm>
            <a:off x="4352544" y="4083045"/>
            <a:ext cx="573024" cy="256032"/>
          </a:xfrm>
          <a:prstGeom prst="rect">
            <a:avLst/>
          </a:prstGeom>
          <a:noFill/>
        </p:spPr>
        <p:txBody>
          <a:bodyPr wrap="square" lIns="22860" rIns="22860" tIns="22860" bIns="22860" anchor="ctr">
            <a:spAutoFit/>
          </a:bodyPr>
          <a:lstStyle/>
          <a:p>
            <a:pPr algn="ctr">
              <a:lnSpc>
                <a:spcPct val="108000"/>
              </a:lnSpc>
            </a:pPr>
            <a:r>
              <a:rPr sz="1100" b="1">
                <a:solidFill>
                  <a:srgbClr val="5F6E80"/>
                </a:solidFill>
                <a:latin typeface="Arial"/>
              </a:rPr>
              <a:t>0.13</a:t>
            </a:r>
          </a:p>
        </p:txBody>
      </p:sp>
      <p:sp>
        <p:nvSpPr>
          <p:cNvPr id="93" name="body:92"/>
          <p:cNvSpPr txBox="1"/>
          <p:nvPr/>
        </p:nvSpPr>
        <p:spPr>
          <a:xfrm>
            <a:off x="4352544" y="4636008"/>
            <a:ext cx="573024" cy="237744"/>
          </a:xfrm>
          <a:prstGeom prst="rect">
            <a:avLst/>
          </a:prstGeom>
          <a:noFill/>
        </p:spPr>
        <p:txBody>
          <a:bodyPr wrap="square" lIns="22860" rIns="22860" tIns="22860" bIns="22860" anchor="ctr">
            <a:spAutoFit/>
          </a:bodyPr>
          <a:lstStyle/>
          <a:p>
            <a:pPr algn="ctr">
              <a:lnSpc>
                <a:spcPct val="108000"/>
              </a:lnSpc>
            </a:pPr>
            <a:r>
              <a:rPr sz="1100" b="0">
                <a:solidFill>
                  <a:srgbClr val="5F6E80"/>
                </a:solidFill>
                <a:latin typeface="Arial"/>
              </a:rPr>
              <a:t>p</a:t>
            </a:r>
            <a:r>
              <a:rPr sz="1100" b="0" baseline="-25000">
                <a:solidFill>
                  <a:srgbClr val="5F6E80"/>
                </a:solidFill>
                <a:latin typeface="Arial"/>
              </a:rPr>
              <a:t>4</a:t>
            </a:r>
          </a:p>
        </p:txBody>
      </p:sp>
      <p:sp>
        <p:nvSpPr>
          <p:cNvPr id="94" name="Rectangle 93"/>
          <p:cNvSpPr/>
          <p:nvPr/>
        </p:nvSpPr>
        <p:spPr>
          <a:xfrm>
            <a:off x="5160263" y="4470173"/>
            <a:ext cx="429768" cy="129258"/>
          </a:xfrm>
          <a:prstGeom prst="rect">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body:94"/>
          <p:cNvSpPr txBox="1"/>
          <p:nvPr/>
        </p:nvSpPr>
        <p:spPr>
          <a:xfrm>
            <a:off x="5068824" y="4195853"/>
            <a:ext cx="573024" cy="256032"/>
          </a:xfrm>
          <a:prstGeom prst="rect">
            <a:avLst/>
          </a:prstGeom>
          <a:noFill/>
        </p:spPr>
        <p:txBody>
          <a:bodyPr wrap="square" lIns="22860" rIns="22860" tIns="22860" bIns="22860" anchor="ctr">
            <a:spAutoFit/>
          </a:bodyPr>
          <a:lstStyle/>
          <a:p>
            <a:pPr algn="ctr">
              <a:lnSpc>
                <a:spcPct val="108000"/>
              </a:lnSpc>
            </a:pPr>
            <a:r>
              <a:rPr sz="1100" b="1">
                <a:solidFill>
                  <a:srgbClr val="5F6E80"/>
                </a:solidFill>
                <a:latin typeface="Arial"/>
              </a:rPr>
              <a:t>0.07</a:t>
            </a:r>
          </a:p>
        </p:txBody>
      </p:sp>
      <p:sp>
        <p:nvSpPr>
          <p:cNvPr id="96" name="body:95"/>
          <p:cNvSpPr txBox="1"/>
          <p:nvPr/>
        </p:nvSpPr>
        <p:spPr>
          <a:xfrm>
            <a:off x="5068824" y="4636008"/>
            <a:ext cx="573024" cy="237744"/>
          </a:xfrm>
          <a:prstGeom prst="rect">
            <a:avLst/>
          </a:prstGeom>
          <a:noFill/>
        </p:spPr>
        <p:txBody>
          <a:bodyPr wrap="square" lIns="22860" rIns="22860" tIns="22860" bIns="22860" anchor="ctr">
            <a:spAutoFit/>
          </a:bodyPr>
          <a:lstStyle/>
          <a:p>
            <a:pPr algn="ctr">
              <a:lnSpc>
                <a:spcPct val="108000"/>
              </a:lnSpc>
            </a:pPr>
            <a:r>
              <a:rPr sz="1100" b="0">
                <a:solidFill>
                  <a:srgbClr val="5F6E80"/>
                </a:solidFill>
                <a:latin typeface="Arial"/>
              </a:rPr>
              <a:t>p</a:t>
            </a:r>
            <a:r>
              <a:rPr sz="1100" b="0" baseline="-25000">
                <a:solidFill>
                  <a:srgbClr val="5F6E80"/>
                </a:solidFill>
                <a:latin typeface="Arial"/>
              </a:rPr>
              <a:t>5</a:t>
            </a:r>
          </a:p>
        </p:txBody>
      </p:sp>
      <p:sp>
        <p:nvSpPr>
          <p:cNvPr id="97" name="body:96"/>
          <p:cNvSpPr txBox="1"/>
          <p:nvPr/>
        </p:nvSpPr>
        <p:spPr>
          <a:xfrm>
            <a:off x="1435607" y="4892040"/>
            <a:ext cx="4297680" cy="237744"/>
          </a:xfrm>
          <a:prstGeom prst="rect">
            <a:avLst/>
          </a:prstGeom>
          <a:noFill/>
        </p:spPr>
        <p:txBody>
          <a:bodyPr wrap="square" lIns="22860" rIns="22860" tIns="22860" bIns="22860" anchor="ctr">
            <a:spAutoFit/>
          </a:bodyPr>
          <a:lstStyle/>
          <a:p>
            <a:pPr algn="l">
              <a:lnSpc>
                <a:spcPct val="108000"/>
              </a:lnSpc>
            </a:pPr>
            <a:r>
              <a:rPr sz="1100" b="0">
                <a:solidFill>
                  <a:srgbClr val="5F6E80"/>
                </a:solidFill>
                <a:latin typeface="Arial"/>
              </a:rPr>
              <a:t>failures observed →</a:t>
            </a:r>
          </a:p>
        </p:txBody>
      </p:sp>
      <p:sp>
        <p:nvSpPr>
          <p:cNvPr id="98" name="body:97"/>
          <p:cNvSpPr txBox="1"/>
          <p:nvPr/>
        </p:nvSpPr>
        <p:spPr>
          <a:xfrm>
            <a:off x="795528" y="5157216"/>
            <a:ext cx="5120640" cy="329184"/>
          </a:xfrm>
          <a:prstGeom prst="rect">
            <a:avLst/>
          </a:prstGeom>
          <a:noFill/>
        </p:spPr>
        <p:txBody>
          <a:bodyPr wrap="square" lIns="22860" rIns="22860" tIns="22860" bIns="22860" anchor="ctr">
            <a:spAutoFit/>
          </a:bodyPr>
          <a:lstStyle/>
          <a:p>
            <a:pPr algn="l">
              <a:lnSpc>
                <a:spcPct val="108000"/>
              </a:lnSpc>
            </a:pPr>
            <a:r>
              <a:rPr sz="1300" b="1">
                <a:solidFill>
                  <a:srgbClr val="3A6391"/>
                </a:solidFill>
                <a:latin typeface="Arial"/>
              </a:rPr>
              <a:t>Try while p</a:t>
            </a:r>
            <a:r>
              <a:rPr sz="1300" b="1" baseline="-25000">
                <a:solidFill>
                  <a:srgbClr val="3A6391"/>
                </a:solidFill>
                <a:latin typeface="Arial"/>
              </a:rPr>
              <a:t>t</a:t>
            </a:r>
            <a:r>
              <a:rPr sz="1300" b="1">
                <a:solidFill>
                  <a:srgbClr val="3A6391"/>
                </a:solidFill>
                <a:latin typeface="Arial"/>
              </a:rPr>
              <a:t> ≥ 0.25: 3 attempts, then stop with evidence.</a:t>
            </a:r>
          </a:p>
        </p:txBody>
      </p:sp>
      <p:sp>
        <p:nvSpPr>
          <p:cNvPr id="99" name="Rectangle 98"/>
          <p:cNvSpPr/>
          <p:nvPr/>
        </p:nvSpPr>
        <p:spPr>
          <a:xfrm>
            <a:off x="6355080" y="2157984"/>
            <a:ext cx="5266944" cy="1682496"/>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6355080" y="2157984"/>
            <a:ext cx="82296" cy="1682496"/>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label:100"/>
          <p:cNvSpPr txBox="1"/>
          <p:nvPr/>
        </p:nvSpPr>
        <p:spPr>
          <a:xfrm>
            <a:off x="6592824" y="2267712"/>
            <a:ext cx="4901183" cy="256032"/>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RESULT 1 · THRESHOLD RULE</a:t>
            </a:r>
          </a:p>
        </p:txBody>
      </p:sp>
      <p:pic>
        <p:nvPicPr>
          <p:cNvPr id="102" name="math:101" descr="f10.png"/>
          <p:cNvPicPr>
            <a:picLocks noChangeAspect="1"/>
          </p:cNvPicPr>
          <p:nvPr/>
        </p:nvPicPr>
        <p:blipFill>
          <a:blip r:embed="rId5"/>
          <a:stretch>
            <a:fillRect/>
          </a:stretch>
        </p:blipFill>
        <p:spPr>
          <a:xfrm>
            <a:off x="6611112" y="2542032"/>
            <a:ext cx="1972683" cy="242047"/>
          </a:xfrm>
          <a:prstGeom prst="rect">
            <a:avLst/>
          </a:prstGeom>
        </p:spPr>
      </p:pic>
      <p:pic>
        <p:nvPicPr>
          <p:cNvPr id="103" name="math:102" descr="f11.png"/>
          <p:cNvPicPr>
            <a:picLocks noChangeAspect="1"/>
          </p:cNvPicPr>
          <p:nvPr/>
        </p:nvPicPr>
        <p:blipFill>
          <a:blip r:embed="rId6"/>
          <a:stretch>
            <a:fillRect/>
          </a:stretch>
        </p:blipFill>
        <p:spPr>
          <a:xfrm>
            <a:off x="6611112" y="2856693"/>
            <a:ext cx="1328233" cy="508298"/>
          </a:xfrm>
          <a:prstGeom prst="rect">
            <a:avLst/>
          </a:prstGeom>
        </p:spPr>
      </p:pic>
      <p:sp>
        <p:nvSpPr>
          <p:cNvPr id="104" name="caption:103"/>
          <p:cNvSpPr txBox="1"/>
          <p:nvPr/>
        </p:nvSpPr>
        <p:spPr>
          <a:xfrm>
            <a:off x="6592824" y="3364992"/>
            <a:ext cx="4882896" cy="420624"/>
          </a:xfrm>
          <a:prstGeom prst="rect">
            <a:avLst/>
          </a:prstGeom>
          <a:noFill/>
        </p:spPr>
        <p:txBody>
          <a:bodyPr wrap="square" lIns="22860" rIns="22860" tIns="22860" bIns="22860" anchor="t">
            <a:spAutoFit/>
          </a:bodyPr>
          <a:lstStyle/>
          <a:p>
            <a:pPr algn="l">
              <a:lnSpc>
                <a:spcPct val="105000"/>
              </a:lnSpc>
            </a:pPr>
            <a:r>
              <a:rPr sz="1100" b="0">
                <a:solidFill>
                  <a:srgbClr val="B9C8D8"/>
                </a:solidFill>
                <a:latin typeface="Arial"/>
              </a:rPr>
              <a:t>Posterior falls after every failure, so stopping, once optimal, stays optimal: the one-step rule is exact.</a:t>
            </a:r>
          </a:p>
        </p:txBody>
      </p:sp>
      <p:sp>
        <p:nvSpPr>
          <p:cNvPr id="105" name="Rectangle 104"/>
          <p:cNvSpPr/>
          <p:nvPr/>
        </p:nvSpPr>
        <p:spPr>
          <a:xfrm>
            <a:off x="6355080" y="3950208"/>
            <a:ext cx="5266944" cy="1591056"/>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body:105"/>
          <p:cNvSpPr txBox="1"/>
          <p:nvPr/>
        </p:nvSpPr>
        <p:spPr>
          <a:xfrm>
            <a:off x="6537960" y="4005072"/>
            <a:ext cx="4937760" cy="1499616"/>
          </a:xfrm>
          <a:prstGeom prst="rect">
            <a:avLst/>
          </a:prstGeom>
          <a:noFill/>
        </p:spPr>
        <p:txBody>
          <a:bodyPr wrap="square" lIns="22860" rIns="22860" tIns="22860" bIns="22860" anchor="t">
            <a:spAutoFit/>
          </a:bodyPr>
          <a:lstStyle/>
          <a:p>
            <a:pPr algn="l">
              <a:lnSpc>
                <a:spcPct val="108000"/>
              </a:lnSpc>
            </a:pPr>
            <a:r>
              <a:rPr sz="1150" b="0">
                <a:solidFill>
                  <a:srgbClr val="22313F"/>
                </a:solidFill>
                <a:latin typeface="Arial"/>
              </a:rPr>
              <a:t>•  A better honest exit B raises the threshold and shortens persistence; a worthless exit buys stubbornness.</a:t>
            </a:r>
          </a:p>
          <a:p>
            <a:pPr algn="l">
              <a:lnSpc>
                <a:spcPct val="108000"/>
              </a:lnSpc>
            </a:pPr>
            <a:r>
              <a:rPr sz="1150" b="0">
                <a:solidFill>
                  <a:srgbClr val="22313F"/>
                </a:solidFill>
                <a:latin typeface="Arial"/>
              </a:rPr>
              <a:t>•  Several recovery routes: a Gittins index per route; try the highest, stop when all fall below the exit (Gittins 1979).</a:t>
            </a:r>
          </a:p>
          <a:p>
            <a:pPr algn="l">
              <a:lnSpc>
                <a:spcPct val="108000"/>
              </a:lnSpc>
            </a:pPr>
            <a:r>
              <a:rPr sz="1150" b="0">
                <a:solidFill>
                  <a:srgbClr val="22313F"/>
                </a:solidFill>
                <a:latin typeface="Arial"/>
              </a:rPr>
              <a:t>•  Substitution is persistence past this point with a different resource: it needs a grant, not a higher posterior.</a:t>
            </a:r>
          </a:p>
          <a:p>
            <a:pPr algn="l">
              <a:lnSpc>
                <a:spcPct val="108000"/>
              </a:lnSpc>
            </a:pPr>
            <a:r>
              <a:rPr sz="1150" b="0">
                <a:solidFill>
                  <a:srgbClr val="22313F"/>
                </a:solidFill>
                <a:latin typeface="Arial"/>
              </a:rPr>
              <a:t>•  Readouts: premature stops (p</a:t>
            </a:r>
            <a:r>
              <a:rPr sz="1150" b="0" baseline="-25000">
                <a:solidFill>
                  <a:srgbClr val="22313F"/>
                </a:solidFill>
                <a:latin typeface="Arial"/>
              </a:rPr>
              <a:t>t</a:t>
            </a:r>
            <a:r>
              <a:rPr sz="1150" b="0">
                <a:solidFill>
                  <a:srgbClr val="22313F"/>
                </a:solidFill>
                <a:latin typeface="Arial"/>
              </a:rPr>
              <a:t> above threshold) and wasted attempts (below) are separate errors; a lower violation rate must not be mistaken for better stopping.</a:t>
            </a:r>
          </a:p>
        </p:txBody>
      </p:sp>
      <p:sp>
        <p:nvSpPr>
          <p:cNvPr id="107" name="Rounded Rectangle 106"/>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body:107"/>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Repeated failure (indicator f) supplies evidence that moves the feasibility posterior in this model.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09 / VALUE OF INFORMATION</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Result 2: sometimes the best next action is to learn.</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p = probability an authorized recovery works. d = request cost (time, money or review), in utility units. Color = highest expected utility.</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11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F7E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A4761A"/>
                </a:solidFill>
                <a:latin typeface="Arial"/>
              </a:rPr>
              <a:t>EXACT TOY</a:t>
            </a:r>
          </a:p>
        </p:txBody>
      </p:sp>
      <p:sp>
        <p:nvSpPr>
          <p:cNvPr id="37" name="source:36"/>
          <p:cNvSpPr txBox="1"/>
          <p:nvPr/>
        </p:nvSpPr>
        <p:spPr>
          <a:xfrm>
            <a:off x="566928" y="6400800"/>
            <a:ext cx="98755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VOI background: Hay et al. 2012. Hypothetical model; payoffs and boundaries on the next two slides.</a:t>
            </a:r>
          </a:p>
        </p:txBody>
      </p:sp>
      <p:sp>
        <p:nvSpPr>
          <p:cNvPr id="38" name="body:37"/>
          <p:cNvSpPr txBox="1"/>
          <p:nvPr/>
        </p:nvSpPr>
        <p:spPr>
          <a:xfrm>
            <a:off x="713232" y="2176272"/>
            <a:ext cx="5486400" cy="320040"/>
          </a:xfrm>
          <a:prstGeom prst="rect">
            <a:avLst/>
          </a:prstGeom>
          <a:noFill/>
        </p:spPr>
        <p:txBody>
          <a:bodyPr wrap="square" lIns="22860" rIns="22860" tIns="22860" bIns="22860" anchor="ctr">
            <a:spAutoFit/>
          </a:bodyPr>
          <a:lstStyle/>
          <a:p>
            <a:pPr algn="l">
              <a:lnSpc>
                <a:spcPct val="108000"/>
              </a:lnSpc>
            </a:pPr>
            <a:r>
              <a:rPr sz="1450" b="1">
                <a:solidFill>
                  <a:srgbClr val="172D46"/>
                </a:solidFill>
                <a:latin typeface="Arial"/>
              </a:rPr>
              <a:t>Optimal action as belief and request cost change</a:t>
            </a:r>
          </a:p>
        </p:txBody>
      </p:sp>
      <p:pic>
        <p:nvPicPr>
          <p:cNvPr id="39" name="Picture 38" descr="voi-policy-phase-diagram.png"/>
          <p:cNvPicPr>
            <a:picLocks noChangeAspect="1"/>
          </p:cNvPicPr>
          <p:nvPr/>
        </p:nvPicPr>
        <p:blipFill>
          <a:blip r:embed="rId3"/>
          <a:stretch>
            <a:fillRect/>
          </a:stretch>
        </p:blipFill>
        <p:spPr>
          <a:xfrm>
            <a:off x="603504" y="2468880"/>
            <a:ext cx="5577840" cy="2849880"/>
          </a:xfrm>
          <a:prstGeom prst="rect">
            <a:avLst/>
          </a:prstGeom>
        </p:spPr>
      </p:pic>
      <p:sp>
        <p:nvSpPr>
          <p:cNvPr id="40" name="body:39"/>
          <p:cNvSpPr txBox="1"/>
          <p:nvPr/>
        </p:nvSpPr>
        <p:spPr>
          <a:xfrm>
            <a:off x="758952" y="5340096"/>
            <a:ext cx="5440680" cy="274320"/>
          </a:xfrm>
          <a:prstGeom prst="rect">
            <a:avLst/>
          </a:prstGeom>
          <a:noFill/>
        </p:spPr>
        <p:txBody>
          <a:bodyPr wrap="square" lIns="22860" rIns="22860" tIns="22860" bIns="22860" anchor="ctr">
            <a:spAutoFit/>
          </a:bodyPr>
          <a:lstStyle/>
          <a:p>
            <a:pPr algn="l">
              <a:lnSpc>
                <a:spcPct val="108000"/>
              </a:lnSpc>
            </a:pPr>
            <a:r>
              <a:rPr sz="1050" b="1">
                <a:solidFill>
                  <a:srgbClr val="172D46"/>
                </a:solidFill>
                <a:latin typeface="Arial"/>
              </a:rPr>
              <a:t>A (.9, 8): RECOVER  |  B (.1, 0): ASK  |  C (.3, 2): PROBE</a:t>
            </a:r>
          </a:p>
        </p:txBody>
      </p:sp>
      <p:sp>
        <p:nvSpPr>
          <p:cNvPr id="41" name="Rounded Rectangle 40"/>
          <p:cNvSpPr/>
          <p:nvPr/>
        </p:nvSpPr>
        <p:spPr>
          <a:xfrm>
            <a:off x="6382512" y="2176272"/>
            <a:ext cx="5239512" cy="429768"/>
          </a:xfrm>
          <a:prstGeom prst="roundRect">
            <a:avLst>
              <a:gd name="adj" fmla="val 5000"/>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82512" y="2176272"/>
            <a:ext cx="50292" cy="429768"/>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ody:42"/>
          <p:cNvSpPr txBox="1"/>
          <p:nvPr/>
        </p:nvSpPr>
        <p:spPr>
          <a:xfrm>
            <a:off x="6510528" y="2176272"/>
            <a:ext cx="1042415" cy="429768"/>
          </a:xfrm>
          <a:prstGeom prst="rect">
            <a:avLst/>
          </a:prstGeom>
          <a:noFill/>
        </p:spPr>
        <p:txBody>
          <a:bodyPr wrap="square" lIns="22860" rIns="22860" tIns="22860" bIns="22860" anchor="ctr">
            <a:spAutoFit/>
          </a:bodyPr>
          <a:lstStyle/>
          <a:p>
            <a:pPr algn="l">
              <a:lnSpc>
                <a:spcPct val="108000"/>
              </a:lnSpc>
            </a:pPr>
            <a:r>
              <a:rPr sz="1200" b="1">
                <a:solidFill>
                  <a:srgbClr val="1E7A72"/>
                </a:solidFill>
                <a:latin typeface="Arial"/>
              </a:rPr>
              <a:t>RECOVER</a:t>
            </a:r>
          </a:p>
        </p:txBody>
      </p:sp>
      <p:sp>
        <p:nvSpPr>
          <p:cNvPr id="44" name="body:43"/>
          <p:cNvSpPr txBox="1"/>
          <p:nvPr/>
        </p:nvSpPr>
        <p:spPr>
          <a:xfrm>
            <a:off x="7580375" y="2176272"/>
            <a:ext cx="3904487" cy="429768"/>
          </a:xfrm>
          <a:prstGeom prst="rect">
            <a:avLst/>
          </a:prstGeom>
          <a:noFill/>
        </p:spPr>
        <p:txBody>
          <a:bodyPr wrap="square" lIns="22860" rIns="22860" tIns="22860" bIns="22860" anchor="ctr">
            <a:spAutoFit/>
          </a:bodyPr>
          <a:lstStyle/>
          <a:p>
            <a:pPr algn="l">
              <a:lnSpc>
                <a:spcPct val="102000"/>
              </a:lnSpc>
            </a:pPr>
            <a:r>
              <a:rPr sz="1150" b="0">
                <a:solidFill>
                  <a:srgbClr val="22313F"/>
                </a:solidFill>
                <a:latin typeface="Arial"/>
              </a:rPr>
              <a:t>Try the authorized local route; high p favors it.</a:t>
            </a:r>
          </a:p>
        </p:txBody>
      </p:sp>
      <p:sp>
        <p:nvSpPr>
          <p:cNvPr id="45" name="Rounded Rectangle 44"/>
          <p:cNvSpPr/>
          <p:nvPr/>
        </p:nvSpPr>
        <p:spPr>
          <a:xfrm>
            <a:off x="6382512" y="2670048"/>
            <a:ext cx="5239512" cy="429768"/>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82512" y="2670048"/>
            <a:ext cx="50292" cy="429768"/>
          </a:xfrm>
          <a:prstGeom prst="rect">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ody:46"/>
          <p:cNvSpPr txBox="1"/>
          <p:nvPr/>
        </p:nvSpPr>
        <p:spPr>
          <a:xfrm>
            <a:off x="6510528" y="2670048"/>
            <a:ext cx="1042415" cy="429768"/>
          </a:xfrm>
          <a:prstGeom prst="rect">
            <a:avLst/>
          </a:prstGeom>
          <a:noFill/>
        </p:spPr>
        <p:txBody>
          <a:bodyPr wrap="square" lIns="22860" rIns="22860" tIns="22860" bIns="22860" anchor="ctr">
            <a:spAutoFit/>
          </a:bodyPr>
          <a:lstStyle/>
          <a:p>
            <a:pPr algn="l">
              <a:lnSpc>
                <a:spcPct val="108000"/>
              </a:lnSpc>
            </a:pPr>
            <a:r>
              <a:rPr sz="1200" b="1">
                <a:solidFill>
                  <a:srgbClr val="5F6E80"/>
                </a:solidFill>
                <a:latin typeface="Arial"/>
              </a:rPr>
              <a:t>STOP</a:t>
            </a:r>
          </a:p>
        </p:txBody>
      </p:sp>
      <p:sp>
        <p:nvSpPr>
          <p:cNvPr id="48" name="body:47"/>
          <p:cNvSpPr txBox="1"/>
          <p:nvPr/>
        </p:nvSpPr>
        <p:spPr>
          <a:xfrm>
            <a:off x="7580375" y="2670048"/>
            <a:ext cx="3904487" cy="429768"/>
          </a:xfrm>
          <a:prstGeom prst="rect">
            <a:avLst/>
          </a:prstGeom>
          <a:noFill/>
        </p:spPr>
        <p:txBody>
          <a:bodyPr wrap="square" lIns="22860" rIns="22860" tIns="22860" bIns="22860" anchor="ctr">
            <a:spAutoFit/>
          </a:bodyPr>
          <a:lstStyle/>
          <a:p>
            <a:pPr algn="l">
              <a:lnSpc>
                <a:spcPct val="102000"/>
              </a:lnSpc>
            </a:pPr>
            <a:r>
              <a:rPr sz="1150" b="0">
                <a:solidFill>
                  <a:srgbClr val="22313F"/>
                </a:solidFill>
                <a:latin typeface="Arial"/>
              </a:rPr>
              <a:t>Report failure when further action is not worth its cost.</a:t>
            </a:r>
          </a:p>
        </p:txBody>
      </p:sp>
      <p:sp>
        <p:nvSpPr>
          <p:cNvPr id="49" name="Rounded Rectangle 48"/>
          <p:cNvSpPr/>
          <p:nvPr/>
        </p:nvSpPr>
        <p:spPr>
          <a:xfrm>
            <a:off x="6382512" y="3163824"/>
            <a:ext cx="5239512" cy="429768"/>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382512" y="3163824"/>
            <a:ext cx="50292" cy="429768"/>
          </a:xfrm>
          <a:prstGeom prst="rect">
            <a:avLst/>
          </a:prstGeom>
          <a:solidFill>
            <a:srgbClr val="3A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ody:50"/>
          <p:cNvSpPr txBox="1"/>
          <p:nvPr/>
        </p:nvSpPr>
        <p:spPr>
          <a:xfrm>
            <a:off x="6510528" y="3163824"/>
            <a:ext cx="1042415" cy="429768"/>
          </a:xfrm>
          <a:prstGeom prst="rect">
            <a:avLst/>
          </a:prstGeom>
          <a:noFill/>
        </p:spPr>
        <p:txBody>
          <a:bodyPr wrap="square" lIns="22860" rIns="22860" tIns="22860" bIns="22860" anchor="ctr">
            <a:spAutoFit/>
          </a:bodyPr>
          <a:lstStyle/>
          <a:p>
            <a:pPr algn="l">
              <a:lnSpc>
                <a:spcPct val="108000"/>
              </a:lnSpc>
            </a:pPr>
            <a:r>
              <a:rPr sz="1200" b="1">
                <a:solidFill>
                  <a:srgbClr val="3A6391"/>
                </a:solidFill>
                <a:latin typeface="Arial"/>
              </a:rPr>
              <a:t>ASK</a:t>
            </a:r>
          </a:p>
        </p:txBody>
      </p:sp>
      <p:sp>
        <p:nvSpPr>
          <p:cNvPr id="52" name="body:51"/>
          <p:cNvSpPr txBox="1"/>
          <p:nvPr/>
        </p:nvSpPr>
        <p:spPr>
          <a:xfrm>
            <a:off x="7580375" y="3163824"/>
            <a:ext cx="3904487" cy="429768"/>
          </a:xfrm>
          <a:prstGeom prst="rect">
            <a:avLst/>
          </a:prstGeom>
          <a:noFill/>
        </p:spPr>
        <p:txBody>
          <a:bodyPr wrap="square" lIns="22860" rIns="22860" tIns="22860" bIns="22860" anchor="ctr">
            <a:spAutoFit/>
          </a:bodyPr>
          <a:lstStyle/>
          <a:p>
            <a:pPr algn="l">
              <a:lnSpc>
                <a:spcPct val="102000"/>
              </a:lnSpc>
            </a:pPr>
            <a:r>
              <a:rPr sz="1150" b="0">
                <a:solidFill>
                  <a:srgbClr val="22313F"/>
                </a:solidFill>
                <a:latin typeface="Arial"/>
              </a:rPr>
              <a:t>Request a grant for an alternative; obey the reply.</a:t>
            </a:r>
          </a:p>
        </p:txBody>
      </p:sp>
      <p:sp>
        <p:nvSpPr>
          <p:cNvPr id="53" name="Rounded Rectangle 52"/>
          <p:cNvSpPr/>
          <p:nvPr/>
        </p:nvSpPr>
        <p:spPr>
          <a:xfrm>
            <a:off x="6382512" y="3657600"/>
            <a:ext cx="5239512" cy="429768"/>
          </a:xfrm>
          <a:prstGeom prst="roundRect">
            <a:avLst>
              <a:gd name="adj" fmla="val 5000"/>
            </a:avLst>
          </a:prstGeom>
          <a:solidFill>
            <a:srgbClr val="F7E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382512" y="3657600"/>
            <a:ext cx="50292" cy="429768"/>
          </a:xfrm>
          <a:prstGeom prst="rect">
            <a:avLst/>
          </a:prstGeom>
          <a:solidFill>
            <a:srgbClr val="A47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ody:54"/>
          <p:cNvSpPr txBox="1"/>
          <p:nvPr/>
        </p:nvSpPr>
        <p:spPr>
          <a:xfrm>
            <a:off x="6510528" y="3657600"/>
            <a:ext cx="1042415" cy="429768"/>
          </a:xfrm>
          <a:prstGeom prst="rect">
            <a:avLst/>
          </a:prstGeom>
          <a:noFill/>
        </p:spPr>
        <p:txBody>
          <a:bodyPr wrap="square" lIns="22860" rIns="22860" tIns="22860" bIns="22860" anchor="ctr">
            <a:spAutoFit/>
          </a:bodyPr>
          <a:lstStyle/>
          <a:p>
            <a:pPr algn="l">
              <a:lnSpc>
                <a:spcPct val="108000"/>
              </a:lnSpc>
            </a:pPr>
            <a:r>
              <a:rPr sz="1200" b="1">
                <a:solidFill>
                  <a:srgbClr val="A4761A"/>
                </a:solidFill>
                <a:latin typeface="Arial"/>
              </a:rPr>
              <a:t>PROBE</a:t>
            </a:r>
          </a:p>
        </p:txBody>
      </p:sp>
      <p:sp>
        <p:nvSpPr>
          <p:cNvPr id="56" name="body:55"/>
          <p:cNvSpPr txBox="1"/>
          <p:nvPr/>
        </p:nvSpPr>
        <p:spPr>
          <a:xfrm>
            <a:off x="7580375" y="3657600"/>
            <a:ext cx="3904487" cy="429768"/>
          </a:xfrm>
          <a:prstGeom prst="rect">
            <a:avLst/>
          </a:prstGeom>
          <a:noFill/>
        </p:spPr>
        <p:txBody>
          <a:bodyPr wrap="square" lIns="22860" rIns="22860" tIns="22860" bIns="22860" anchor="ctr">
            <a:spAutoFit/>
          </a:bodyPr>
          <a:lstStyle/>
          <a:p>
            <a:pPr algn="l">
              <a:lnSpc>
                <a:spcPct val="102000"/>
              </a:lnSpc>
            </a:pPr>
            <a:r>
              <a:rPr sz="1150" b="0">
                <a:solidFill>
                  <a:srgbClr val="22313F"/>
                </a:solidFill>
                <a:latin typeface="Arial"/>
              </a:rPr>
              <a:t>Run an authorized diagnostic, then choose an action.</a:t>
            </a:r>
          </a:p>
        </p:txBody>
      </p:sp>
      <p:sp>
        <p:nvSpPr>
          <p:cNvPr id="57" name="Rectangle 56"/>
          <p:cNvSpPr/>
          <p:nvPr/>
        </p:nvSpPr>
        <p:spPr>
          <a:xfrm>
            <a:off x="6382512" y="4242816"/>
            <a:ext cx="5239512" cy="1362456"/>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ody:57"/>
          <p:cNvSpPr txBox="1"/>
          <p:nvPr/>
        </p:nvSpPr>
        <p:spPr>
          <a:xfrm>
            <a:off x="6565392" y="4343400"/>
            <a:ext cx="4864608" cy="301752"/>
          </a:xfrm>
          <a:prstGeom prst="rect">
            <a:avLst/>
          </a:prstGeom>
          <a:noFill/>
        </p:spPr>
        <p:txBody>
          <a:bodyPr wrap="square" lIns="22860" rIns="22860" tIns="22860" bIns="22860" anchor="ctr">
            <a:spAutoFit/>
          </a:bodyPr>
          <a:lstStyle/>
          <a:p>
            <a:pPr algn="l">
              <a:lnSpc>
                <a:spcPct val="108000"/>
              </a:lnSpc>
            </a:pPr>
            <a:r>
              <a:rPr sz="1400" b="1">
                <a:solidFill>
                  <a:srgbClr val="FFFFFF"/>
                </a:solidFill>
                <a:latin typeface="Arial"/>
              </a:rPr>
              <a:t>Two uncertainties, two different interventions</a:t>
            </a:r>
          </a:p>
        </p:txBody>
      </p:sp>
      <p:sp>
        <p:nvSpPr>
          <p:cNvPr id="59" name="body:58"/>
          <p:cNvSpPr txBox="1"/>
          <p:nvPr/>
        </p:nvSpPr>
        <p:spPr>
          <a:xfrm>
            <a:off x="6565392" y="4718304"/>
            <a:ext cx="4864608" cy="374904"/>
          </a:xfrm>
          <a:prstGeom prst="rect">
            <a:avLst/>
          </a:prstGeom>
          <a:noFill/>
        </p:spPr>
        <p:txBody>
          <a:bodyPr wrap="square" lIns="22860" rIns="22860" tIns="22860" bIns="22860" anchor="ctr">
            <a:spAutoFit/>
          </a:bodyPr>
          <a:lstStyle/>
          <a:p>
            <a:pPr algn="l">
              <a:lnSpc>
                <a:spcPct val="108000"/>
              </a:lnSpc>
            </a:pPr>
            <a:r>
              <a:rPr sz="1200" b="0">
                <a:solidFill>
                  <a:srgbClr val="B9C8D8"/>
                </a:solidFill>
                <a:latin typeface="Arial"/>
              </a:rPr>
              <a:t>Feasibility: diagnose an allowed public route.</a:t>
            </a:r>
          </a:p>
          <a:p>
            <a:pPr algn="l">
              <a:lnSpc>
                <a:spcPct val="108000"/>
              </a:lnSpc>
            </a:pPr>
            <a:r>
              <a:rPr sz="1200" b="0">
                <a:solidFill>
                  <a:srgbClr val="B9C8D8"/>
                </a:solidFill>
                <a:latin typeface="Arial"/>
              </a:rPr>
              <a:t>Permission: obtain a trusted grant for a new resource.</a:t>
            </a:r>
          </a:p>
        </p:txBody>
      </p:sp>
      <p:sp>
        <p:nvSpPr>
          <p:cNvPr id="60" name="body:59"/>
          <p:cNvSpPr txBox="1"/>
          <p:nvPr/>
        </p:nvSpPr>
        <p:spPr>
          <a:xfrm>
            <a:off x="6565392" y="5221224"/>
            <a:ext cx="4864608" cy="274320"/>
          </a:xfrm>
          <a:prstGeom prst="rect">
            <a:avLst/>
          </a:prstGeom>
          <a:noFill/>
        </p:spPr>
        <p:txBody>
          <a:bodyPr wrap="square" lIns="22860" rIns="22860" tIns="22860" bIns="22860" anchor="ctr">
            <a:spAutoFit/>
          </a:bodyPr>
          <a:lstStyle/>
          <a:p>
            <a:pPr algn="l">
              <a:lnSpc>
                <a:spcPct val="108000"/>
              </a:lnSpc>
            </a:pPr>
            <a:r>
              <a:rPr sz="1150" b="1">
                <a:solidFill>
                  <a:srgbClr val="FFFFFF"/>
                </a:solidFill>
                <a:latin typeface="Arial"/>
              </a:rPr>
              <a:t>Reachability of an internal database does not grant permission.</a:t>
            </a:r>
          </a:p>
        </p:txBody>
      </p:sp>
      <p:sp>
        <p:nvSpPr>
          <p:cNvPr id="61" name="Rounded Rectangle 60"/>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ody:61"/>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500" b="1">
                <a:solidFill>
                  <a:srgbClr val="FFFFFF"/>
                </a:solidFill>
                <a:latin typeface="Arial"/>
              </a:rPr>
              <a:t>PROBE changes beliefs, not permissions. ASK may change permissions; it does not make a route feasible.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09 / VALUE OF INFORMATION / PAYOFFS</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Why PROBE is worth 4.7: pay once, then choose with evidence.</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Risk-neutral toy: one optional perfect diagnostic, then one terminal action. No retries; all numbers are hypothetical utilities.</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12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F7E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A4761A"/>
                </a:solidFill>
                <a:latin typeface="Arial"/>
              </a:rPr>
              <a:t>EXACT TOY</a:t>
            </a:r>
          </a:p>
        </p:txBody>
      </p:sp>
      <p:sp>
        <p:nvSpPr>
          <p:cNvPr id="37" name="source:36"/>
          <p:cNvSpPr txBox="1"/>
          <p:nvPr/>
        </p:nvSpPr>
        <p:spPr>
          <a:xfrm>
            <a:off x="566928" y="6400800"/>
            <a:ext cx="978408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VOI background: Hay et al. 2012. This payoff model is illustrative, not an empirical estimate.</a:t>
            </a:r>
          </a:p>
        </p:txBody>
      </p:sp>
      <p:sp>
        <p:nvSpPr>
          <p:cNvPr id="38" name="body:37"/>
          <p:cNvSpPr txBox="1"/>
          <p:nvPr/>
        </p:nvSpPr>
        <p:spPr>
          <a:xfrm>
            <a:off x="713232" y="2185416"/>
            <a:ext cx="5394960" cy="310896"/>
          </a:xfrm>
          <a:prstGeom prst="rect">
            <a:avLst/>
          </a:prstGeom>
          <a:noFill/>
        </p:spPr>
        <p:txBody>
          <a:bodyPr wrap="square" lIns="22860" rIns="22860" tIns="22860" bIns="22860" anchor="ctr">
            <a:spAutoFit/>
          </a:bodyPr>
          <a:lstStyle/>
          <a:p>
            <a:pPr algn="l">
              <a:lnSpc>
                <a:spcPct val="108000"/>
              </a:lnSpc>
            </a:pPr>
            <a:r>
              <a:rPr sz="1500" b="1">
                <a:solidFill>
                  <a:srgbClr val="172D46"/>
                </a:solidFill>
                <a:latin typeface="Arial"/>
              </a:rPr>
              <a:t>Make every payoff and assumption explicit</a:t>
            </a:r>
          </a:p>
        </p:txBody>
      </p:sp>
      <p:sp>
        <p:nvSpPr>
          <p:cNvPr id="39" name="body:38"/>
          <p:cNvSpPr txBox="1"/>
          <p:nvPr/>
        </p:nvSpPr>
        <p:spPr>
          <a:xfrm>
            <a:off x="713232" y="2587752"/>
            <a:ext cx="5349240" cy="731520"/>
          </a:xfrm>
          <a:prstGeom prst="rect">
            <a:avLst/>
          </a:prstGeom>
          <a:noFill/>
        </p:spPr>
        <p:txBody>
          <a:bodyPr wrap="square" lIns="22860" rIns="22860" tIns="22860" bIns="22860" anchor="t">
            <a:spAutoFit/>
          </a:bodyPr>
          <a:lstStyle/>
          <a:p>
            <a:pPr algn="l">
              <a:lnSpc>
                <a:spcPct val="112000"/>
              </a:lnSpc>
            </a:pPr>
            <a:r>
              <a:rPr sz="1150" b="0">
                <a:solidFill>
                  <a:srgbClr val="22313F"/>
                </a:solidFill>
                <a:latin typeface="Arial"/>
              </a:rPr>
              <a:t>Local recovery: success +10, failure 0; cost 2 either way.</a:t>
            </a:r>
          </a:p>
          <a:p>
            <a:pPr algn="l">
              <a:lnSpc>
                <a:spcPct val="112000"/>
              </a:lnSpc>
            </a:pPr>
            <a:r>
              <a:rPr sz="1150" b="0">
                <a:solidFill>
                  <a:srgbClr val="22313F"/>
                </a:solidFill>
                <a:latin typeface="Arial"/>
              </a:rPr>
              <a:t>ASK: pay d; grant probability .6, independent of feasibility.</a:t>
            </a:r>
          </a:p>
          <a:p>
            <a:pPr algn="l">
              <a:lnSpc>
                <a:spcPct val="112000"/>
              </a:lnSpc>
            </a:pPr>
            <a:r>
              <a:rPr sz="1150" b="0">
                <a:solidFill>
                  <a:srgbClr val="22313F"/>
                </a:solidFill>
                <a:latin typeface="Arial"/>
              </a:rPr>
              <a:t>If granted, the alternative succeeds (+10); if denied, stop (0).</a:t>
            </a:r>
          </a:p>
          <a:p>
            <a:pPr algn="l">
              <a:lnSpc>
                <a:spcPct val="112000"/>
              </a:lnSpc>
            </a:pPr>
            <a:r>
              <a:rPr sz="1150" b="0">
                <a:solidFill>
                  <a:srgbClr val="22313F"/>
                </a:solidFill>
                <a:latin typeface="Arial"/>
              </a:rPr>
              <a:t>PROBE: pay .5; learn feasibility perfectly, within existing scope.</a:t>
            </a:r>
          </a:p>
        </p:txBody>
      </p:sp>
      <p:sp>
        <p:nvSpPr>
          <p:cNvPr id="40" name="Rectangle 39"/>
          <p:cNvSpPr/>
          <p:nvPr/>
        </p:nvSpPr>
        <p:spPr>
          <a:xfrm>
            <a:off x="566928" y="3465576"/>
            <a:ext cx="1115568" cy="338328"/>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ody:40"/>
          <p:cNvSpPr txBox="1"/>
          <p:nvPr/>
        </p:nvSpPr>
        <p:spPr>
          <a:xfrm>
            <a:off x="649224" y="3465576"/>
            <a:ext cx="950976" cy="338328"/>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Action</a:t>
            </a:r>
          </a:p>
        </p:txBody>
      </p:sp>
      <p:sp>
        <p:nvSpPr>
          <p:cNvPr id="42" name="Rectangle 41"/>
          <p:cNvSpPr/>
          <p:nvPr/>
        </p:nvSpPr>
        <p:spPr>
          <a:xfrm>
            <a:off x="1682495" y="3465576"/>
            <a:ext cx="1207008" cy="338328"/>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ody:42"/>
          <p:cNvSpPr txBox="1"/>
          <p:nvPr/>
        </p:nvSpPr>
        <p:spPr>
          <a:xfrm>
            <a:off x="1764792" y="3465576"/>
            <a:ext cx="1042416" cy="338328"/>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Feasible</a:t>
            </a:r>
          </a:p>
        </p:txBody>
      </p:sp>
      <p:sp>
        <p:nvSpPr>
          <p:cNvPr id="44" name="Rectangle 43"/>
          <p:cNvSpPr/>
          <p:nvPr/>
        </p:nvSpPr>
        <p:spPr>
          <a:xfrm>
            <a:off x="2889504" y="3465576"/>
            <a:ext cx="1280160" cy="338328"/>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ody:44"/>
          <p:cNvSpPr txBox="1"/>
          <p:nvPr/>
        </p:nvSpPr>
        <p:spPr>
          <a:xfrm>
            <a:off x="2971800" y="3465576"/>
            <a:ext cx="1115568" cy="338328"/>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Infeasible</a:t>
            </a:r>
          </a:p>
        </p:txBody>
      </p:sp>
      <p:sp>
        <p:nvSpPr>
          <p:cNvPr id="46" name="Rectangle 45"/>
          <p:cNvSpPr/>
          <p:nvPr/>
        </p:nvSpPr>
        <p:spPr>
          <a:xfrm>
            <a:off x="4169664" y="3465576"/>
            <a:ext cx="1938528" cy="338328"/>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ody:46"/>
          <p:cNvSpPr txBox="1"/>
          <p:nvPr/>
        </p:nvSpPr>
        <p:spPr>
          <a:xfrm>
            <a:off x="4251960" y="3465576"/>
            <a:ext cx="1773936" cy="338328"/>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Expected Q(p, d)</a:t>
            </a:r>
          </a:p>
        </p:txBody>
      </p:sp>
      <p:sp>
        <p:nvSpPr>
          <p:cNvPr id="48" name="Rectangle 47"/>
          <p:cNvSpPr/>
          <p:nvPr/>
        </p:nvSpPr>
        <p:spPr>
          <a:xfrm>
            <a:off x="566928" y="3803904"/>
            <a:ext cx="1115568"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ody:48"/>
          <p:cNvSpPr txBox="1"/>
          <p:nvPr/>
        </p:nvSpPr>
        <p:spPr>
          <a:xfrm>
            <a:off x="649224" y="3803904"/>
            <a:ext cx="950976" cy="338328"/>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RECOVER</a:t>
            </a:r>
          </a:p>
        </p:txBody>
      </p:sp>
      <p:sp>
        <p:nvSpPr>
          <p:cNvPr id="50" name="Rectangle 49"/>
          <p:cNvSpPr/>
          <p:nvPr/>
        </p:nvSpPr>
        <p:spPr>
          <a:xfrm>
            <a:off x="1682495" y="3803904"/>
            <a:ext cx="1207008"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ody:50"/>
          <p:cNvSpPr txBox="1"/>
          <p:nvPr/>
        </p:nvSpPr>
        <p:spPr>
          <a:xfrm>
            <a:off x="1764792" y="3803904"/>
            <a:ext cx="1042416" cy="33832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+8</a:t>
            </a:r>
          </a:p>
        </p:txBody>
      </p:sp>
      <p:sp>
        <p:nvSpPr>
          <p:cNvPr id="52" name="Rectangle 51"/>
          <p:cNvSpPr/>
          <p:nvPr/>
        </p:nvSpPr>
        <p:spPr>
          <a:xfrm>
            <a:off x="2889504" y="3803904"/>
            <a:ext cx="128016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ody:52"/>
          <p:cNvSpPr txBox="1"/>
          <p:nvPr/>
        </p:nvSpPr>
        <p:spPr>
          <a:xfrm>
            <a:off x="2971800" y="3803904"/>
            <a:ext cx="1115568" cy="33832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-2</a:t>
            </a:r>
          </a:p>
        </p:txBody>
      </p:sp>
      <p:sp>
        <p:nvSpPr>
          <p:cNvPr id="54" name="Rectangle 53"/>
          <p:cNvSpPr/>
          <p:nvPr/>
        </p:nvSpPr>
        <p:spPr>
          <a:xfrm>
            <a:off x="4169664" y="3803904"/>
            <a:ext cx="1938528"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ody:54"/>
          <p:cNvSpPr txBox="1"/>
          <p:nvPr/>
        </p:nvSpPr>
        <p:spPr>
          <a:xfrm>
            <a:off x="4251960" y="3803904"/>
            <a:ext cx="1773936" cy="33832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10p - 2</a:t>
            </a:r>
          </a:p>
        </p:txBody>
      </p:sp>
      <p:sp>
        <p:nvSpPr>
          <p:cNvPr id="56" name="Rectangle 55"/>
          <p:cNvSpPr/>
          <p:nvPr/>
        </p:nvSpPr>
        <p:spPr>
          <a:xfrm>
            <a:off x="566928" y="4142232"/>
            <a:ext cx="1115568" cy="33832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ody:56"/>
          <p:cNvSpPr txBox="1"/>
          <p:nvPr/>
        </p:nvSpPr>
        <p:spPr>
          <a:xfrm>
            <a:off x="649224" y="4142232"/>
            <a:ext cx="950976" cy="338328"/>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ASK</a:t>
            </a:r>
          </a:p>
        </p:txBody>
      </p:sp>
      <p:sp>
        <p:nvSpPr>
          <p:cNvPr id="58" name="Rectangle 57"/>
          <p:cNvSpPr/>
          <p:nvPr/>
        </p:nvSpPr>
        <p:spPr>
          <a:xfrm>
            <a:off x="1682495" y="4142232"/>
            <a:ext cx="1207008" cy="33832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ody:58"/>
          <p:cNvSpPr txBox="1"/>
          <p:nvPr/>
        </p:nvSpPr>
        <p:spPr>
          <a:xfrm>
            <a:off x="1764792" y="4142232"/>
            <a:ext cx="1042416" cy="33832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6 - d</a:t>
            </a:r>
          </a:p>
        </p:txBody>
      </p:sp>
      <p:sp>
        <p:nvSpPr>
          <p:cNvPr id="60" name="Rectangle 59"/>
          <p:cNvSpPr/>
          <p:nvPr/>
        </p:nvSpPr>
        <p:spPr>
          <a:xfrm>
            <a:off x="2889504" y="4142232"/>
            <a:ext cx="1280160" cy="33832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ody:60"/>
          <p:cNvSpPr txBox="1"/>
          <p:nvPr/>
        </p:nvSpPr>
        <p:spPr>
          <a:xfrm>
            <a:off x="2971800" y="4142232"/>
            <a:ext cx="1115568" cy="33832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6 - d</a:t>
            </a:r>
          </a:p>
        </p:txBody>
      </p:sp>
      <p:sp>
        <p:nvSpPr>
          <p:cNvPr id="62" name="Rectangle 61"/>
          <p:cNvSpPr/>
          <p:nvPr/>
        </p:nvSpPr>
        <p:spPr>
          <a:xfrm>
            <a:off x="4169664" y="4142232"/>
            <a:ext cx="1938528" cy="338328"/>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ody:62"/>
          <p:cNvSpPr txBox="1"/>
          <p:nvPr/>
        </p:nvSpPr>
        <p:spPr>
          <a:xfrm>
            <a:off x="4251960" y="4142232"/>
            <a:ext cx="1773936" cy="33832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6 - d</a:t>
            </a:r>
          </a:p>
        </p:txBody>
      </p:sp>
      <p:sp>
        <p:nvSpPr>
          <p:cNvPr id="64" name="Rectangle 63"/>
          <p:cNvSpPr/>
          <p:nvPr/>
        </p:nvSpPr>
        <p:spPr>
          <a:xfrm>
            <a:off x="566928" y="4480560"/>
            <a:ext cx="1115568"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ody:64"/>
          <p:cNvSpPr txBox="1"/>
          <p:nvPr/>
        </p:nvSpPr>
        <p:spPr>
          <a:xfrm>
            <a:off x="649224" y="4480560"/>
            <a:ext cx="950976" cy="338328"/>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STOP</a:t>
            </a:r>
          </a:p>
        </p:txBody>
      </p:sp>
      <p:sp>
        <p:nvSpPr>
          <p:cNvPr id="66" name="Rectangle 65"/>
          <p:cNvSpPr/>
          <p:nvPr/>
        </p:nvSpPr>
        <p:spPr>
          <a:xfrm>
            <a:off x="1682495" y="4480560"/>
            <a:ext cx="1207008"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ody:66"/>
          <p:cNvSpPr txBox="1"/>
          <p:nvPr/>
        </p:nvSpPr>
        <p:spPr>
          <a:xfrm>
            <a:off x="1764792" y="4480560"/>
            <a:ext cx="1042416" cy="33832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0</a:t>
            </a:r>
          </a:p>
        </p:txBody>
      </p:sp>
      <p:sp>
        <p:nvSpPr>
          <p:cNvPr id="68" name="Rectangle 67"/>
          <p:cNvSpPr/>
          <p:nvPr/>
        </p:nvSpPr>
        <p:spPr>
          <a:xfrm>
            <a:off x="2889504" y="4480560"/>
            <a:ext cx="128016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body:68"/>
          <p:cNvSpPr txBox="1"/>
          <p:nvPr/>
        </p:nvSpPr>
        <p:spPr>
          <a:xfrm>
            <a:off x="2971800" y="4480560"/>
            <a:ext cx="1115568" cy="33832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0</a:t>
            </a:r>
          </a:p>
        </p:txBody>
      </p:sp>
      <p:sp>
        <p:nvSpPr>
          <p:cNvPr id="70" name="Rectangle 69"/>
          <p:cNvSpPr/>
          <p:nvPr/>
        </p:nvSpPr>
        <p:spPr>
          <a:xfrm>
            <a:off x="4169664" y="4480560"/>
            <a:ext cx="1938528"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body:70"/>
          <p:cNvSpPr txBox="1"/>
          <p:nvPr/>
        </p:nvSpPr>
        <p:spPr>
          <a:xfrm>
            <a:off x="4251960" y="4480560"/>
            <a:ext cx="1773936" cy="338328"/>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0</a:t>
            </a:r>
          </a:p>
        </p:txBody>
      </p:sp>
      <p:sp>
        <p:nvSpPr>
          <p:cNvPr id="72" name="body:71"/>
          <p:cNvSpPr txBox="1"/>
          <p:nvPr/>
        </p:nvSpPr>
        <p:spPr>
          <a:xfrm>
            <a:off x="676656" y="4855464"/>
            <a:ext cx="5340096" cy="219456"/>
          </a:xfrm>
          <a:prstGeom prst="rect">
            <a:avLst/>
          </a:prstGeom>
          <a:noFill/>
        </p:spPr>
        <p:txBody>
          <a:bodyPr wrap="square" lIns="22860" rIns="22860" tIns="22860" bIns="22860" anchor="ctr">
            <a:spAutoFit/>
          </a:bodyPr>
          <a:lstStyle/>
          <a:p>
            <a:pPr algn="l">
              <a:lnSpc>
                <a:spcPct val="108000"/>
              </a:lnSpc>
            </a:pPr>
            <a:r>
              <a:rPr sz="1050" b="0">
                <a:solidFill>
                  <a:srgbClr val="5F6E80"/>
                </a:solidFill>
                <a:latin typeface="Arial"/>
              </a:rPr>
              <a:t>PROBE preserves the best choice after either observation:</a:t>
            </a:r>
          </a:p>
        </p:txBody>
      </p:sp>
      <p:pic>
        <p:nvPicPr>
          <p:cNvPr id="73" name="math:72" descr="f12.png"/>
          <p:cNvPicPr>
            <a:picLocks noChangeAspect="1"/>
          </p:cNvPicPr>
          <p:nvPr/>
        </p:nvPicPr>
        <p:blipFill>
          <a:blip r:embed="rId3"/>
          <a:stretch>
            <a:fillRect/>
          </a:stretch>
        </p:blipFill>
        <p:spPr>
          <a:xfrm>
            <a:off x="694944" y="5138928"/>
            <a:ext cx="2636520" cy="237744"/>
          </a:xfrm>
          <a:prstGeom prst="rect">
            <a:avLst/>
          </a:prstGeom>
        </p:spPr>
      </p:pic>
      <p:pic>
        <p:nvPicPr>
          <p:cNvPr id="74" name="math:73" descr="f13.png"/>
          <p:cNvPicPr>
            <a:picLocks noChangeAspect="1"/>
          </p:cNvPicPr>
          <p:nvPr/>
        </p:nvPicPr>
        <p:blipFill>
          <a:blip r:embed="rId4"/>
          <a:stretch>
            <a:fillRect/>
          </a:stretch>
        </p:blipFill>
        <p:spPr>
          <a:xfrm>
            <a:off x="1289304" y="5422392"/>
            <a:ext cx="1990344" cy="237744"/>
          </a:xfrm>
          <a:prstGeom prst="rect">
            <a:avLst/>
          </a:prstGeom>
        </p:spPr>
      </p:pic>
      <p:sp>
        <p:nvSpPr>
          <p:cNvPr id="75" name="body:74"/>
          <p:cNvSpPr txBox="1"/>
          <p:nvPr/>
        </p:nvSpPr>
        <p:spPr>
          <a:xfrm>
            <a:off x="6473952" y="2185416"/>
            <a:ext cx="4937760" cy="310896"/>
          </a:xfrm>
          <a:prstGeom prst="rect">
            <a:avLst/>
          </a:prstGeom>
          <a:noFill/>
        </p:spPr>
        <p:txBody>
          <a:bodyPr wrap="square" lIns="22860" rIns="22860" tIns="22860" bIns="22860" anchor="ctr">
            <a:spAutoFit/>
          </a:bodyPr>
          <a:lstStyle/>
          <a:p>
            <a:pPr algn="l">
              <a:lnSpc>
                <a:spcPct val="108000"/>
              </a:lnSpc>
            </a:pPr>
            <a:r>
              <a:rPr sz="1500" b="1">
                <a:solidFill>
                  <a:srgbClr val="1E7A72"/>
                </a:solidFill>
                <a:latin typeface="Arial"/>
              </a:rPr>
              <a:t>At p = .3 and d = 2: a contingent decision</a:t>
            </a:r>
          </a:p>
        </p:txBody>
      </p:sp>
      <p:sp>
        <p:nvSpPr>
          <p:cNvPr id="76" name="body:75"/>
          <p:cNvSpPr txBox="1"/>
          <p:nvPr/>
        </p:nvSpPr>
        <p:spPr>
          <a:xfrm>
            <a:off x="6473952" y="2532888"/>
            <a:ext cx="4937760" cy="219456"/>
          </a:xfrm>
          <a:prstGeom prst="rect">
            <a:avLst/>
          </a:prstGeom>
          <a:noFill/>
        </p:spPr>
        <p:txBody>
          <a:bodyPr wrap="square" lIns="22860" rIns="22860" tIns="22860" bIns="22860" anchor="ctr">
            <a:spAutoFit/>
          </a:bodyPr>
          <a:lstStyle/>
          <a:p>
            <a:pPr algn="l">
              <a:lnSpc>
                <a:spcPct val="108000"/>
              </a:lnSpc>
            </a:pPr>
            <a:r>
              <a:rPr sz="1150" b="0">
                <a:solidFill>
                  <a:srgbClr val="5F6E80"/>
                </a:solidFill>
                <a:latin typeface="Arial"/>
              </a:rPr>
              <a:t>Direct values: RECOVER = 1; ASK = 4; STOP = 0.</a:t>
            </a:r>
          </a:p>
        </p:txBody>
      </p:sp>
      <p:sp>
        <p:nvSpPr>
          <p:cNvPr id="77" name="Rounded Rectangle 76"/>
          <p:cNvSpPr/>
          <p:nvPr/>
        </p:nvSpPr>
        <p:spPr>
          <a:xfrm>
            <a:off x="6419088" y="3136392"/>
            <a:ext cx="1124712" cy="649224"/>
          </a:xfrm>
          <a:prstGeom prst="roundRect">
            <a:avLst>
              <a:gd name="adj" fmla="val 5000"/>
            </a:avLst>
          </a:prstGeom>
          <a:solidFill>
            <a:srgbClr val="F7E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ody:77"/>
          <p:cNvSpPr txBox="1"/>
          <p:nvPr/>
        </p:nvSpPr>
        <p:spPr>
          <a:xfrm>
            <a:off x="6510528" y="3182112"/>
            <a:ext cx="941832" cy="521207"/>
          </a:xfrm>
          <a:prstGeom prst="rect">
            <a:avLst/>
          </a:prstGeom>
          <a:noFill/>
        </p:spPr>
        <p:txBody>
          <a:bodyPr wrap="square" lIns="22860" rIns="22860" tIns="22860" bIns="22860" anchor="ctr">
            <a:spAutoFit/>
          </a:bodyPr>
          <a:lstStyle/>
          <a:p>
            <a:pPr algn="ctr">
              <a:lnSpc>
                <a:spcPct val="103000"/>
              </a:lnSpc>
            </a:pPr>
            <a:r>
              <a:rPr sz="1300" b="1">
                <a:solidFill>
                  <a:srgbClr val="A4761A"/>
                </a:solidFill>
                <a:latin typeface="Arial"/>
              </a:rPr>
              <a:t>PROBE</a:t>
            </a:r>
          </a:p>
          <a:p>
            <a:pPr algn="ctr">
              <a:lnSpc>
                <a:spcPct val="103000"/>
              </a:lnSpc>
            </a:pPr>
            <a:r>
              <a:rPr sz="1300" b="1">
                <a:solidFill>
                  <a:srgbClr val="A4761A"/>
                </a:solidFill>
                <a:latin typeface="Arial"/>
              </a:rPr>
              <a:t>pay .5</a:t>
            </a:r>
          </a:p>
        </p:txBody>
      </p:sp>
      <p:sp>
        <p:nvSpPr>
          <p:cNvPr id="79" name="Rectangle 78"/>
          <p:cNvSpPr/>
          <p:nvPr/>
        </p:nvSpPr>
        <p:spPr>
          <a:xfrm>
            <a:off x="7562088" y="3335274"/>
            <a:ext cx="219456" cy="22860"/>
          </a:xfrm>
          <a:prstGeom prst="rect">
            <a:avLst/>
          </a:prstGeom>
          <a:solidFill>
            <a:srgbClr val="1E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7770114" y="3017520"/>
            <a:ext cx="22860" cy="329184"/>
          </a:xfrm>
          <a:prstGeom prst="rect">
            <a:avLst/>
          </a:prstGeom>
          <a:solidFill>
            <a:srgbClr val="1E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7781544" y="3006090"/>
            <a:ext cx="237744" cy="22860"/>
          </a:xfrm>
          <a:prstGeom prst="rect">
            <a:avLst/>
          </a:prstGeom>
          <a:solidFill>
            <a:srgbClr val="1E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Isosceles Triangle 81"/>
          <p:cNvSpPr/>
          <p:nvPr/>
        </p:nvSpPr>
        <p:spPr>
          <a:xfrm rot="5400000">
            <a:off x="7955280" y="2953512"/>
            <a:ext cx="128016" cy="128016"/>
          </a:xfrm>
          <a:prstGeom prst="triangle">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7562088" y="3573018"/>
            <a:ext cx="219456" cy="22860"/>
          </a:xfrm>
          <a:prstGeom prst="rect">
            <a:avLst/>
          </a:prstGeom>
          <a:solidFill>
            <a:srgbClr val="3A63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7770114" y="3584448"/>
            <a:ext cx="22860" cy="320039"/>
          </a:xfrm>
          <a:prstGeom prst="rect">
            <a:avLst/>
          </a:prstGeom>
          <a:solidFill>
            <a:srgbClr val="3A63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7781544" y="3893057"/>
            <a:ext cx="237744" cy="22860"/>
          </a:xfrm>
          <a:prstGeom prst="rect">
            <a:avLst/>
          </a:prstGeom>
          <a:solidFill>
            <a:srgbClr val="3A63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Isosceles Triangle 85"/>
          <p:cNvSpPr/>
          <p:nvPr/>
        </p:nvSpPr>
        <p:spPr>
          <a:xfrm rot="5400000">
            <a:off x="7955280" y="3840479"/>
            <a:ext cx="128016" cy="128016"/>
          </a:xfrm>
          <a:prstGeom prst="triangle">
            <a:avLst/>
          </a:prstGeom>
          <a:solidFill>
            <a:srgbClr val="3A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8074152" y="2816352"/>
            <a:ext cx="3547872" cy="713232"/>
          </a:xfrm>
          <a:prstGeom prst="roundRect">
            <a:avLst>
              <a:gd name="adj" fmla="val 5000"/>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body:87"/>
          <p:cNvSpPr txBox="1"/>
          <p:nvPr/>
        </p:nvSpPr>
        <p:spPr>
          <a:xfrm>
            <a:off x="8229600" y="2862072"/>
            <a:ext cx="3218688" cy="256032"/>
          </a:xfrm>
          <a:prstGeom prst="rect">
            <a:avLst/>
          </a:prstGeom>
          <a:noFill/>
        </p:spPr>
        <p:txBody>
          <a:bodyPr wrap="square" lIns="22860" rIns="22860" tIns="22860" bIns="22860" anchor="ctr">
            <a:spAutoFit/>
          </a:bodyPr>
          <a:lstStyle/>
          <a:p>
            <a:pPr algn="l">
              <a:lnSpc>
                <a:spcPct val="108000"/>
              </a:lnSpc>
            </a:pPr>
            <a:r>
              <a:rPr sz="1200" b="1">
                <a:solidFill>
                  <a:srgbClr val="1E7A72"/>
                </a:solidFill>
                <a:latin typeface="Arial"/>
              </a:rPr>
              <a:t>Feasible (probability .3): RECOVER</a:t>
            </a:r>
          </a:p>
        </p:txBody>
      </p:sp>
      <p:sp>
        <p:nvSpPr>
          <p:cNvPr id="89" name="body:88"/>
          <p:cNvSpPr txBox="1"/>
          <p:nvPr/>
        </p:nvSpPr>
        <p:spPr>
          <a:xfrm>
            <a:off x="8229600" y="3182112"/>
            <a:ext cx="3218688" cy="256032"/>
          </a:xfrm>
          <a:prstGeom prst="rect">
            <a:avLst/>
          </a:prstGeom>
          <a:noFill/>
        </p:spPr>
        <p:txBody>
          <a:bodyPr wrap="square" lIns="22860" rIns="22860" tIns="22860" bIns="22860" anchor="ctr">
            <a:spAutoFit/>
          </a:bodyPr>
          <a:lstStyle/>
          <a:p>
            <a:pPr algn="l">
              <a:lnSpc>
                <a:spcPct val="108000"/>
              </a:lnSpc>
            </a:pPr>
            <a:r>
              <a:rPr sz="1200" b="0">
                <a:solidFill>
                  <a:srgbClr val="22313F"/>
                </a:solidFill>
                <a:latin typeface="Arial"/>
              </a:rPr>
              <a:t>Choose max(8, 4, 0) = 8</a:t>
            </a:r>
          </a:p>
        </p:txBody>
      </p:sp>
      <p:sp>
        <p:nvSpPr>
          <p:cNvPr id="90" name="Rounded Rectangle 89"/>
          <p:cNvSpPr/>
          <p:nvPr/>
        </p:nvSpPr>
        <p:spPr>
          <a:xfrm>
            <a:off x="8074152" y="3694176"/>
            <a:ext cx="3547872" cy="713232"/>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body:90"/>
          <p:cNvSpPr txBox="1"/>
          <p:nvPr/>
        </p:nvSpPr>
        <p:spPr>
          <a:xfrm>
            <a:off x="8229600" y="3739896"/>
            <a:ext cx="3218688" cy="256032"/>
          </a:xfrm>
          <a:prstGeom prst="rect">
            <a:avLst/>
          </a:prstGeom>
          <a:noFill/>
        </p:spPr>
        <p:txBody>
          <a:bodyPr wrap="square" lIns="22860" rIns="22860" tIns="22860" bIns="22860" anchor="ctr">
            <a:spAutoFit/>
          </a:bodyPr>
          <a:lstStyle/>
          <a:p>
            <a:pPr algn="l">
              <a:lnSpc>
                <a:spcPct val="108000"/>
              </a:lnSpc>
            </a:pPr>
            <a:r>
              <a:rPr sz="1200" b="1">
                <a:solidFill>
                  <a:srgbClr val="3A6391"/>
                </a:solidFill>
                <a:latin typeface="Arial"/>
              </a:rPr>
              <a:t>Infeasible (probability .7): ASK</a:t>
            </a:r>
          </a:p>
        </p:txBody>
      </p:sp>
      <p:sp>
        <p:nvSpPr>
          <p:cNvPr id="92" name="body:91"/>
          <p:cNvSpPr txBox="1"/>
          <p:nvPr/>
        </p:nvSpPr>
        <p:spPr>
          <a:xfrm>
            <a:off x="8229600" y="4059936"/>
            <a:ext cx="3218688" cy="256032"/>
          </a:xfrm>
          <a:prstGeom prst="rect">
            <a:avLst/>
          </a:prstGeom>
          <a:noFill/>
        </p:spPr>
        <p:txBody>
          <a:bodyPr wrap="square" lIns="22860" rIns="22860" tIns="22860" bIns="22860" anchor="ctr">
            <a:spAutoFit/>
          </a:bodyPr>
          <a:lstStyle/>
          <a:p>
            <a:pPr algn="l">
              <a:lnSpc>
                <a:spcPct val="108000"/>
              </a:lnSpc>
            </a:pPr>
            <a:r>
              <a:rPr sz="1200" b="0">
                <a:solidFill>
                  <a:srgbClr val="22313F"/>
                </a:solidFill>
                <a:latin typeface="Arial"/>
              </a:rPr>
              <a:t>Choose max(-2, 4, 0) = 4</a:t>
            </a:r>
          </a:p>
        </p:txBody>
      </p:sp>
      <p:sp>
        <p:nvSpPr>
          <p:cNvPr id="93" name="Rectangle 92"/>
          <p:cNvSpPr/>
          <p:nvPr/>
        </p:nvSpPr>
        <p:spPr>
          <a:xfrm>
            <a:off x="6419088" y="4562856"/>
            <a:ext cx="5202936" cy="109728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4" name="math:93" descr="f14.png"/>
          <p:cNvPicPr>
            <a:picLocks noChangeAspect="1"/>
          </p:cNvPicPr>
          <p:nvPr/>
        </p:nvPicPr>
        <p:blipFill>
          <a:blip r:embed="rId5"/>
          <a:stretch>
            <a:fillRect/>
          </a:stretch>
        </p:blipFill>
        <p:spPr>
          <a:xfrm>
            <a:off x="6601968" y="4687824"/>
            <a:ext cx="3130296" cy="243840"/>
          </a:xfrm>
          <a:prstGeom prst="rect">
            <a:avLst/>
          </a:prstGeom>
        </p:spPr>
      </p:pic>
      <p:pic>
        <p:nvPicPr>
          <p:cNvPr id="95" name="math:94" descr="f15.png"/>
          <p:cNvPicPr>
            <a:picLocks noChangeAspect="1"/>
          </p:cNvPicPr>
          <p:nvPr/>
        </p:nvPicPr>
        <p:blipFill>
          <a:blip r:embed="rId6"/>
          <a:stretch>
            <a:fillRect/>
          </a:stretch>
        </p:blipFill>
        <p:spPr>
          <a:xfrm>
            <a:off x="6601968" y="5134355"/>
            <a:ext cx="2886456" cy="256032"/>
          </a:xfrm>
          <a:prstGeom prst="rect">
            <a:avLst/>
          </a:prstGeom>
        </p:spPr>
      </p:pic>
      <p:sp>
        <p:nvSpPr>
          <p:cNvPr id="96" name="Rounded Rectangle 95"/>
          <p:cNvSpPr/>
          <p:nvPr/>
        </p:nvSpPr>
        <p:spPr>
          <a:xfrm>
            <a:off x="566928" y="5779008"/>
            <a:ext cx="11055096" cy="50292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7" name="math:96" descr="f16.png"/>
          <p:cNvPicPr>
            <a:picLocks noChangeAspect="1"/>
          </p:cNvPicPr>
          <p:nvPr/>
        </p:nvPicPr>
        <p:blipFill>
          <a:blip r:embed="rId7"/>
          <a:stretch>
            <a:fillRect/>
          </a:stretch>
        </p:blipFill>
        <p:spPr>
          <a:xfrm>
            <a:off x="2898648" y="5850635"/>
            <a:ext cx="6391656" cy="3505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09 / VALUE OF INFORMATION / BOUNDARIES</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Decision boundaries are equal-value curves, with dominance checks.</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A visible boundary requires Q(a) = Q(b), with both at least as good as every other action. These curves generate the diagram.</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13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F7E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A4761A"/>
                </a:solidFill>
                <a:latin typeface="Arial"/>
              </a:rPr>
              <a:t>EXACT TOY</a:t>
            </a:r>
          </a:p>
        </p:txBody>
      </p:sp>
      <p:sp>
        <p:nvSpPr>
          <p:cNvPr id="37" name="source:36"/>
          <p:cNvSpPr txBox="1"/>
          <p:nvPr/>
        </p:nvSpPr>
        <p:spPr>
          <a:xfrm>
            <a:off x="566928" y="6400800"/>
            <a:ext cx="1024128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Exact derivation for the stated toy; equality curves and neighboring optimal actions checked at build time.</a:t>
            </a:r>
          </a:p>
        </p:txBody>
      </p:sp>
      <p:sp>
        <p:nvSpPr>
          <p:cNvPr id="38" name="Rectangle 37"/>
          <p:cNvSpPr/>
          <p:nvPr/>
        </p:nvSpPr>
        <p:spPr>
          <a:xfrm>
            <a:off x="566928" y="2176272"/>
            <a:ext cx="5541264" cy="283464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66928" y="2176272"/>
            <a:ext cx="64008" cy="2834640"/>
          </a:xfrm>
          <a:prstGeom prst="rect">
            <a:avLst/>
          </a:prstGeom>
          <a:solidFill>
            <a:srgbClr val="3A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82512" y="2176272"/>
            <a:ext cx="5239512" cy="283464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82512" y="2176272"/>
            <a:ext cx="64008" cy="283464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ody:41"/>
          <p:cNvSpPr txBox="1"/>
          <p:nvPr/>
        </p:nvSpPr>
        <p:spPr>
          <a:xfrm>
            <a:off x="749808" y="2267712"/>
            <a:ext cx="5166360" cy="310896"/>
          </a:xfrm>
          <a:prstGeom prst="rect">
            <a:avLst/>
          </a:prstGeom>
          <a:noFill/>
        </p:spPr>
        <p:txBody>
          <a:bodyPr wrap="square" lIns="22860" rIns="22860" tIns="22860" bIns="22860" anchor="ctr">
            <a:spAutoFit/>
          </a:bodyPr>
          <a:lstStyle/>
          <a:p>
            <a:pPr algn="l">
              <a:lnSpc>
                <a:spcPct val="108000"/>
              </a:lnSpc>
            </a:pPr>
            <a:r>
              <a:rPr sz="1500" b="1">
                <a:solidFill>
                  <a:srgbClr val="3A6391"/>
                </a:solidFill>
                <a:latin typeface="Arial"/>
              </a:rPr>
              <a:t>0 ≤ d ≤ 6: an infeasible route leads to ASK</a:t>
            </a:r>
          </a:p>
        </p:txBody>
      </p:sp>
      <p:pic>
        <p:nvPicPr>
          <p:cNvPr id="43" name="math:42" descr="f17.png"/>
          <p:cNvPicPr>
            <a:picLocks noChangeAspect="1"/>
          </p:cNvPicPr>
          <p:nvPr/>
        </p:nvPicPr>
        <p:blipFill>
          <a:blip r:embed="rId3"/>
          <a:stretch>
            <a:fillRect/>
          </a:stretch>
        </p:blipFill>
        <p:spPr>
          <a:xfrm>
            <a:off x="749808" y="2720340"/>
            <a:ext cx="3048000" cy="256032"/>
          </a:xfrm>
          <a:prstGeom prst="rect">
            <a:avLst/>
          </a:prstGeom>
        </p:spPr>
      </p:pic>
      <p:pic>
        <p:nvPicPr>
          <p:cNvPr id="44" name="math:43" descr="f18.png"/>
          <p:cNvPicPr>
            <a:picLocks noChangeAspect="1"/>
          </p:cNvPicPr>
          <p:nvPr/>
        </p:nvPicPr>
        <p:blipFill>
          <a:blip r:embed="rId4"/>
          <a:stretch>
            <a:fillRect/>
          </a:stretch>
        </p:blipFill>
        <p:spPr>
          <a:xfrm>
            <a:off x="1737360" y="3086100"/>
            <a:ext cx="1734312" cy="256032"/>
          </a:xfrm>
          <a:prstGeom prst="rect">
            <a:avLst/>
          </a:prstGeom>
        </p:spPr>
      </p:pic>
      <p:sp>
        <p:nvSpPr>
          <p:cNvPr id="45" name="body:44"/>
          <p:cNvSpPr txBox="1"/>
          <p:nvPr/>
        </p:nvSpPr>
        <p:spPr>
          <a:xfrm>
            <a:off x="749808" y="3520440"/>
            <a:ext cx="5166360" cy="256032"/>
          </a:xfrm>
          <a:prstGeom prst="rect">
            <a:avLst/>
          </a:prstGeom>
          <a:noFill/>
        </p:spPr>
        <p:txBody>
          <a:bodyPr wrap="square" lIns="22860" rIns="22860" tIns="22860" bIns="22860" anchor="ctr">
            <a:spAutoFit/>
          </a:bodyPr>
          <a:lstStyle/>
          <a:p>
            <a:pPr algn="l">
              <a:lnSpc>
                <a:spcPct val="108000"/>
              </a:lnSpc>
            </a:pPr>
            <a:r>
              <a:rPr sz="1200" b="1">
                <a:solidFill>
                  <a:srgbClr val="3A6391"/>
                </a:solidFill>
                <a:latin typeface="Arial"/>
              </a:rPr>
              <a:t>ASK / PROBE: set Q(PROBE) = 6 - d</a:t>
            </a:r>
          </a:p>
        </p:txBody>
      </p:sp>
      <p:pic>
        <p:nvPicPr>
          <p:cNvPr id="46" name="math:45" descr="f19.png"/>
          <p:cNvPicPr>
            <a:picLocks noChangeAspect="1"/>
          </p:cNvPicPr>
          <p:nvPr/>
        </p:nvPicPr>
        <p:blipFill>
          <a:blip r:embed="rId5"/>
          <a:stretch>
            <a:fillRect/>
          </a:stretch>
        </p:blipFill>
        <p:spPr>
          <a:xfrm>
            <a:off x="749808" y="3753611"/>
            <a:ext cx="2859024" cy="512064"/>
          </a:xfrm>
          <a:prstGeom prst="rect">
            <a:avLst/>
          </a:prstGeom>
        </p:spPr>
      </p:pic>
      <p:sp>
        <p:nvSpPr>
          <p:cNvPr id="47" name="body:46"/>
          <p:cNvSpPr txBox="1"/>
          <p:nvPr/>
        </p:nvSpPr>
        <p:spPr>
          <a:xfrm>
            <a:off x="749808" y="4261104"/>
            <a:ext cx="5166360" cy="256032"/>
          </a:xfrm>
          <a:prstGeom prst="rect">
            <a:avLst/>
          </a:prstGeom>
          <a:noFill/>
        </p:spPr>
        <p:txBody>
          <a:bodyPr wrap="square" lIns="22860" rIns="22860" tIns="22860" bIns="22860" anchor="ctr">
            <a:spAutoFit/>
          </a:bodyPr>
          <a:lstStyle/>
          <a:p>
            <a:pPr algn="l">
              <a:lnSpc>
                <a:spcPct val="108000"/>
              </a:lnSpc>
            </a:pPr>
            <a:r>
              <a:rPr sz="1200" b="1">
                <a:solidFill>
                  <a:srgbClr val="1E7A72"/>
                </a:solidFill>
                <a:latin typeface="Arial"/>
              </a:rPr>
              <a:t>PROBE / RECOVER: set Q(PROBE) = 10p - 2</a:t>
            </a:r>
          </a:p>
        </p:txBody>
      </p:sp>
      <p:pic>
        <p:nvPicPr>
          <p:cNvPr id="48" name="math:47" descr="f20.png"/>
          <p:cNvPicPr>
            <a:picLocks noChangeAspect="1"/>
          </p:cNvPicPr>
          <p:nvPr/>
        </p:nvPicPr>
        <p:blipFill>
          <a:blip r:embed="rId6"/>
          <a:stretch>
            <a:fillRect/>
          </a:stretch>
        </p:blipFill>
        <p:spPr>
          <a:xfrm>
            <a:off x="749808" y="4488180"/>
            <a:ext cx="3358896" cy="505968"/>
          </a:xfrm>
          <a:prstGeom prst="rect">
            <a:avLst/>
          </a:prstGeom>
        </p:spPr>
      </p:pic>
      <p:sp>
        <p:nvSpPr>
          <p:cNvPr id="49" name="body:48"/>
          <p:cNvSpPr txBox="1"/>
          <p:nvPr/>
        </p:nvSpPr>
        <p:spPr>
          <a:xfrm>
            <a:off x="6565392" y="2267712"/>
            <a:ext cx="4855464" cy="310896"/>
          </a:xfrm>
          <a:prstGeom prst="rect">
            <a:avLst/>
          </a:prstGeom>
          <a:noFill/>
        </p:spPr>
        <p:txBody>
          <a:bodyPr wrap="square" lIns="22860" rIns="22860" tIns="22860" bIns="22860" anchor="ctr">
            <a:spAutoFit/>
          </a:bodyPr>
          <a:lstStyle/>
          <a:p>
            <a:pPr algn="l">
              <a:lnSpc>
                <a:spcPct val="108000"/>
              </a:lnSpc>
            </a:pPr>
            <a:r>
              <a:rPr sz="1450" b="1">
                <a:solidFill>
                  <a:srgbClr val="1E7A72"/>
                </a:solidFill>
                <a:latin typeface="Arial"/>
              </a:rPr>
              <a:t>6 ≤ d ≤ 8: an infeasible route leads to STOP</a:t>
            </a:r>
          </a:p>
        </p:txBody>
      </p:sp>
      <p:pic>
        <p:nvPicPr>
          <p:cNvPr id="50" name="math:49" descr="f21.png"/>
          <p:cNvPicPr>
            <a:picLocks noChangeAspect="1"/>
          </p:cNvPicPr>
          <p:nvPr/>
        </p:nvPicPr>
        <p:blipFill>
          <a:blip r:embed="rId7"/>
          <a:stretch>
            <a:fillRect/>
          </a:stretch>
        </p:blipFill>
        <p:spPr>
          <a:xfrm>
            <a:off x="6565392" y="2752344"/>
            <a:ext cx="2831592" cy="256032"/>
          </a:xfrm>
          <a:prstGeom prst="rect">
            <a:avLst/>
          </a:prstGeom>
        </p:spPr>
      </p:pic>
      <p:sp>
        <p:nvSpPr>
          <p:cNvPr id="51" name="body:50"/>
          <p:cNvSpPr txBox="1"/>
          <p:nvPr/>
        </p:nvSpPr>
        <p:spPr>
          <a:xfrm>
            <a:off x="6565392" y="3218688"/>
            <a:ext cx="4855464" cy="256032"/>
          </a:xfrm>
          <a:prstGeom prst="rect">
            <a:avLst/>
          </a:prstGeom>
          <a:noFill/>
        </p:spPr>
        <p:txBody>
          <a:bodyPr wrap="square" lIns="22860" rIns="22860" tIns="22860" bIns="22860" anchor="ctr">
            <a:spAutoFit/>
          </a:bodyPr>
          <a:lstStyle/>
          <a:p>
            <a:pPr algn="l">
              <a:lnSpc>
                <a:spcPct val="108000"/>
              </a:lnSpc>
            </a:pPr>
            <a:r>
              <a:rPr sz="1200" b="1">
                <a:solidFill>
                  <a:srgbClr val="5F6E80"/>
                </a:solidFill>
                <a:latin typeface="Arial"/>
              </a:rPr>
              <a:t>STOP / PROBE: set Q(PROBE) = 0</a:t>
            </a:r>
          </a:p>
        </p:txBody>
      </p:sp>
      <p:pic>
        <p:nvPicPr>
          <p:cNvPr id="52" name="math:51" descr="f22.png"/>
          <p:cNvPicPr>
            <a:picLocks noChangeAspect="1"/>
          </p:cNvPicPr>
          <p:nvPr/>
        </p:nvPicPr>
        <p:blipFill>
          <a:blip r:embed="rId8"/>
          <a:stretch>
            <a:fillRect/>
          </a:stretch>
        </p:blipFill>
        <p:spPr>
          <a:xfrm>
            <a:off x="6565392" y="3474720"/>
            <a:ext cx="2505456" cy="502920"/>
          </a:xfrm>
          <a:prstGeom prst="rect">
            <a:avLst/>
          </a:prstGeom>
        </p:spPr>
      </p:pic>
      <p:sp>
        <p:nvSpPr>
          <p:cNvPr id="53" name="body:52"/>
          <p:cNvSpPr txBox="1"/>
          <p:nvPr/>
        </p:nvSpPr>
        <p:spPr>
          <a:xfrm>
            <a:off x="6565392" y="4005072"/>
            <a:ext cx="4855464" cy="256032"/>
          </a:xfrm>
          <a:prstGeom prst="rect">
            <a:avLst/>
          </a:prstGeom>
          <a:noFill/>
        </p:spPr>
        <p:txBody>
          <a:bodyPr wrap="square" lIns="22860" rIns="22860" tIns="22860" bIns="22860" anchor="ctr">
            <a:spAutoFit/>
          </a:bodyPr>
          <a:lstStyle/>
          <a:p>
            <a:pPr algn="l">
              <a:lnSpc>
                <a:spcPct val="108000"/>
              </a:lnSpc>
            </a:pPr>
            <a:r>
              <a:rPr sz="1200" b="1">
                <a:solidFill>
                  <a:srgbClr val="1E7A72"/>
                </a:solidFill>
                <a:latin typeface="Arial"/>
              </a:rPr>
              <a:t>PROBE / RECOVER: set Q(PROBE) = 10p - 2</a:t>
            </a:r>
          </a:p>
        </p:txBody>
      </p:sp>
      <p:pic>
        <p:nvPicPr>
          <p:cNvPr id="54" name="math:53" descr="f23.png"/>
          <p:cNvPicPr>
            <a:picLocks noChangeAspect="1"/>
          </p:cNvPicPr>
          <p:nvPr/>
        </p:nvPicPr>
        <p:blipFill>
          <a:blip r:embed="rId9"/>
          <a:stretch>
            <a:fillRect/>
          </a:stretch>
        </p:blipFill>
        <p:spPr>
          <a:xfrm>
            <a:off x="6565392" y="4262628"/>
            <a:ext cx="2953512" cy="499871"/>
          </a:xfrm>
          <a:prstGeom prst="rect">
            <a:avLst/>
          </a:prstGeom>
        </p:spPr>
      </p:pic>
      <p:sp>
        <p:nvSpPr>
          <p:cNvPr id="55" name="body:54"/>
          <p:cNvSpPr txBox="1"/>
          <p:nvPr/>
        </p:nvSpPr>
        <p:spPr>
          <a:xfrm>
            <a:off x="6565392" y="4727448"/>
            <a:ext cx="4855464" cy="219456"/>
          </a:xfrm>
          <a:prstGeom prst="rect">
            <a:avLst/>
          </a:prstGeom>
          <a:noFill/>
        </p:spPr>
        <p:txBody>
          <a:bodyPr wrap="square" lIns="22860" rIns="22860" tIns="22860" bIns="22860" anchor="ctr">
            <a:spAutoFit/>
          </a:bodyPr>
          <a:lstStyle/>
          <a:p>
            <a:pPr algn="l">
              <a:lnSpc>
                <a:spcPct val="108000"/>
              </a:lnSpc>
            </a:pPr>
            <a:r>
              <a:rPr sz="1050" b="0">
                <a:solidFill>
                  <a:srgbClr val="5F6E80"/>
                </a:solidFill>
                <a:latin typeface="Arial"/>
              </a:rPr>
              <a:t>At d = 6, ASK and STOP tie below p = 1/16.</a:t>
            </a:r>
          </a:p>
        </p:txBody>
      </p:sp>
      <p:sp>
        <p:nvSpPr>
          <p:cNvPr id="56" name="body:55"/>
          <p:cNvSpPr txBox="1"/>
          <p:nvPr/>
        </p:nvSpPr>
        <p:spPr>
          <a:xfrm>
            <a:off x="658368" y="5138928"/>
            <a:ext cx="10872216" cy="420624"/>
          </a:xfrm>
          <a:prstGeom prst="rect">
            <a:avLst/>
          </a:prstGeom>
          <a:noFill/>
        </p:spPr>
        <p:txBody>
          <a:bodyPr wrap="square" lIns="22860" rIns="22860" tIns="22860" bIns="22860" anchor="ctr">
            <a:spAutoFit/>
          </a:bodyPr>
          <a:lstStyle/>
          <a:p>
            <a:pPr algn="l">
              <a:lnSpc>
                <a:spcPct val="112000"/>
              </a:lnSpc>
            </a:pPr>
            <a:r>
              <a:rPr sz="1150" b="0">
                <a:solidFill>
                  <a:srgbClr val="22313F"/>
                </a:solidFill>
                <a:latin typeface="Arial"/>
              </a:rPr>
              <a:t>Policy: below p</a:t>
            </a:r>
            <a:r>
              <a:rPr sz="1150" b="0" baseline="-25000">
                <a:solidFill>
                  <a:srgbClr val="22313F"/>
                </a:solidFill>
                <a:latin typeface="Arial"/>
              </a:rPr>
              <a:t>L</a:t>
            </a:r>
            <a:r>
              <a:rPr sz="1150" b="0">
                <a:solidFill>
                  <a:srgbClr val="22313F"/>
                </a:solidFill>
                <a:latin typeface="Arial"/>
              </a:rPr>
              <a:t> choose ASK (d &lt; 6) or STOP (d &gt; 6); between p</a:t>
            </a:r>
            <a:r>
              <a:rPr sz="1150" b="0" baseline="-25000">
                <a:solidFill>
                  <a:srgbClr val="22313F"/>
                </a:solidFill>
                <a:latin typeface="Arial"/>
              </a:rPr>
              <a:t>L</a:t>
            </a:r>
            <a:r>
              <a:rPr sz="1150" b="0">
                <a:solidFill>
                  <a:srgbClr val="22313F"/>
                </a:solidFill>
                <a:latin typeface="Arial"/>
              </a:rPr>
              <a:t> and p</a:t>
            </a:r>
            <a:r>
              <a:rPr sz="1150" b="0" baseline="-25000">
                <a:solidFill>
                  <a:srgbClr val="22313F"/>
                </a:solidFill>
                <a:latin typeface="Arial"/>
              </a:rPr>
              <a:t>U</a:t>
            </a:r>
            <a:r>
              <a:rPr sz="1150" b="0">
                <a:solidFill>
                  <a:srgbClr val="22313F"/>
                </a:solidFill>
                <a:latin typeface="Arial"/>
              </a:rPr>
              <a:t> choose PROBE; above p</a:t>
            </a:r>
            <a:r>
              <a:rPr sz="1150" b="0" baseline="-25000">
                <a:solidFill>
                  <a:srgbClr val="22313F"/>
                </a:solidFill>
                <a:latin typeface="Arial"/>
              </a:rPr>
              <a:t>U</a:t>
            </a:r>
            <a:r>
              <a:rPr sz="1150" b="0">
                <a:solidFill>
                  <a:srgbClr val="22313F"/>
                </a:solidFill>
                <a:latin typeface="Arial"/>
              </a:rPr>
              <a:t> choose RECOVER.</a:t>
            </a:r>
          </a:p>
          <a:p>
            <a:pPr algn="l">
              <a:lnSpc>
                <a:spcPct val="112000"/>
              </a:lnSpc>
            </a:pPr>
            <a:r>
              <a:rPr sz="1150" b="0">
                <a:solidFill>
                  <a:srgbClr val="22313F"/>
                </a:solidFill>
                <a:latin typeface="Arial"/>
              </a:rPr>
              <a:t>Adjacent actions tie at each threshold. The direct ASK = RECOVER curve is hidden: PROBE has higher value there.</a:t>
            </a:r>
          </a:p>
        </p:txBody>
      </p:sp>
      <p:sp>
        <p:nvSpPr>
          <p:cNvPr id="57" name="Rounded Rectangle 56"/>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ody:57"/>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450" b="1">
                <a:solidFill>
                  <a:srgbClr val="FFFFFF"/>
                </a:solidFill>
                <a:latin typeface="Arial"/>
              </a:rPr>
              <a:t>At d = 2: ASK below 1/8; PROBE for 1/8 &lt; p &lt; 11/12; RECOVER above 11/12 (approximately .917).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10 / DECISION UNDER AMBIGUITY; PRINCIPAL AND AGENT</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Result 3: under a silent grant, ask dominates without a prior.</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Not risk, where probabilities are known, but ambiguity: two plausible grants and no prior over them. Toy payoffs.</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14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F7E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A4761A"/>
                </a:solidFill>
                <a:latin typeface="Arial"/>
              </a:rPr>
              <a:t>EXACT TOY</a:t>
            </a:r>
          </a:p>
        </p:txBody>
      </p:sp>
      <p:sp>
        <p:nvSpPr>
          <p:cNvPr id="37" name="source:36"/>
          <p:cNvSpPr txBox="1"/>
          <p:nvPr/>
        </p:nvSpPr>
        <p:spPr>
          <a:xfrm>
            <a:off x="566928" y="6400800"/>
            <a:ext cx="36576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Maxmin expected utility: Gilboa &amp; Schmeidler 1989</a:t>
            </a:r>
          </a:p>
        </p:txBody>
      </p:sp>
      <p:sp>
        <p:nvSpPr>
          <p:cNvPr id="38" name="source:37"/>
          <p:cNvSpPr txBox="1"/>
          <p:nvPr/>
        </p:nvSpPr>
        <p:spPr>
          <a:xfrm>
            <a:off x="4370832" y="6400800"/>
            <a:ext cx="9144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CIRL 2016</a:t>
            </a:r>
          </a:p>
        </p:txBody>
      </p:sp>
      <p:sp>
        <p:nvSpPr>
          <p:cNvPr id="39" name="source:38"/>
          <p:cNvSpPr txBox="1"/>
          <p:nvPr/>
        </p:nvSpPr>
        <p:spPr>
          <a:xfrm>
            <a:off x="5431536" y="6400800"/>
            <a:ext cx="16459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4"/>
              </a:rPr>
              <a:t>Off-switch game 2017</a:t>
            </a:r>
          </a:p>
        </p:txBody>
      </p:sp>
      <p:sp>
        <p:nvSpPr>
          <p:cNvPr id="40" name="source:39"/>
          <p:cNvSpPr txBox="1"/>
          <p:nvPr/>
        </p:nvSpPr>
        <p:spPr>
          <a:xfrm>
            <a:off x="7223760" y="6400800"/>
            <a:ext cx="25603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5"/>
              </a:rPr>
              <a:t>X1b: silent and conflicting grants</a:t>
            </a:r>
          </a:p>
        </p:txBody>
      </p:sp>
      <p:sp>
        <p:nvSpPr>
          <p:cNvPr id="41" name="Rectangle 40"/>
          <p:cNvSpPr/>
          <p:nvPr/>
        </p:nvSpPr>
        <p:spPr>
          <a:xfrm>
            <a:off x="566928" y="2176272"/>
            <a:ext cx="1600200" cy="420624"/>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ody:41"/>
          <p:cNvSpPr txBox="1"/>
          <p:nvPr/>
        </p:nvSpPr>
        <p:spPr>
          <a:xfrm>
            <a:off x="649224" y="2176272"/>
            <a:ext cx="1435608" cy="420624"/>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Action</a:t>
            </a:r>
          </a:p>
        </p:txBody>
      </p:sp>
      <p:sp>
        <p:nvSpPr>
          <p:cNvPr id="43" name="Rectangle 42"/>
          <p:cNvSpPr/>
          <p:nvPr/>
        </p:nvSpPr>
        <p:spPr>
          <a:xfrm>
            <a:off x="2167128" y="2176272"/>
            <a:ext cx="1188720" cy="420624"/>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ody:43"/>
          <p:cNvSpPr txBox="1"/>
          <p:nvPr/>
        </p:nvSpPr>
        <p:spPr>
          <a:xfrm>
            <a:off x="2249424" y="2176272"/>
            <a:ext cx="1024128" cy="420624"/>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g: archive allowed</a:t>
            </a:r>
          </a:p>
        </p:txBody>
      </p:sp>
      <p:sp>
        <p:nvSpPr>
          <p:cNvPr id="45" name="Rectangle 44"/>
          <p:cNvSpPr/>
          <p:nvPr/>
        </p:nvSpPr>
        <p:spPr>
          <a:xfrm>
            <a:off x="3355848" y="2176272"/>
            <a:ext cx="1234440" cy="420624"/>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ody:45"/>
          <p:cNvSpPr txBox="1"/>
          <p:nvPr/>
        </p:nvSpPr>
        <p:spPr>
          <a:xfrm>
            <a:off x="3438144" y="2176272"/>
            <a:ext cx="1069848" cy="420624"/>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g: archive excluded</a:t>
            </a:r>
          </a:p>
        </p:txBody>
      </p:sp>
      <p:sp>
        <p:nvSpPr>
          <p:cNvPr id="47" name="Rectangle 46"/>
          <p:cNvSpPr/>
          <p:nvPr/>
        </p:nvSpPr>
        <p:spPr>
          <a:xfrm>
            <a:off x="4590288" y="2176272"/>
            <a:ext cx="868680" cy="420624"/>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ody:47"/>
          <p:cNvSpPr txBox="1"/>
          <p:nvPr/>
        </p:nvSpPr>
        <p:spPr>
          <a:xfrm>
            <a:off x="4672583" y="2176272"/>
            <a:ext cx="704088" cy="420624"/>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maxmin</a:t>
            </a:r>
          </a:p>
        </p:txBody>
      </p:sp>
      <p:sp>
        <p:nvSpPr>
          <p:cNvPr id="49" name="Rectangle 48"/>
          <p:cNvSpPr/>
          <p:nvPr/>
        </p:nvSpPr>
        <p:spPr>
          <a:xfrm>
            <a:off x="5458968" y="2176272"/>
            <a:ext cx="914400" cy="420624"/>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ody:49"/>
          <p:cNvSpPr txBox="1"/>
          <p:nvPr/>
        </p:nvSpPr>
        <p:spPr>
          <a:xfrm>
            <a:off x="5541264" y="2176272"/>
            <a:ext cx="749808" cy="420624"/>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max regret</a:t>
            </a:r>
          </a:p>
        </p:txBody>
      </p:sp>
      <p:sp>
        <p:nvSpPr>
          <p:cNvPr id="51" name="Rectangle 50"/>
          <p:cNvSpPr/>
          <p:nvPr/>
        </p:nvSpPr>
        <p:spPr>
          <a:xfrm>
            <a:off x="566928" y="2596896"/>
            <a:ext cx="160020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ody:51"/>
          <p:cNvSpPr txBox="1"/>
          <p:nvPr/>
        </p:nvSpPr>
        <p:spPr>
          <a:xfrm>
            <a:off x="649224" y="2596896"/>
            <a:ext cx="1435608" cy="420624"/>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Read the archive</a:t>
            </a:r>
          </a:p>
        </p:txBody>
      </p:sp>
      <p:sp>
        <p:nvSpPr>
          <p:cNvPr id="53" name="Rectangle 52"/>
          <p:cNvSpPr/>
          <p:nvPr/>
        </p:nvSpPr>
        <p:spPr>
          <a:xfrm>
            <a:off x="2167128" y="2596896"/>
            <a:ext cx="118872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ody:53"/>
          <p:cNvSpPr txBox="1"/>
          <p:nvPr/>
        </p:nvSpPr>
        <p:spPr>
          <a:xfrm>
            <a:off x="2249424" y="2596896"/>
            <a:ext cx="1024128"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+10</a:t>
            </a:r>
          </a:p>
        </p:txBody>
      </p:sp>
      <p:sp>
        <p:nvSpPr>
          <p:cNvPr id="55" name="Rectangle 54"/>
          <p:cNvSpPr/>
          <p:nvPr/>
        </p:nvSpPr>
        <p:spPr>
          <a:xfrm>
            <a:off x="3355848" y="2596896"/>
            <a:ext cx="123444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ody:55"/>
          <p:cNvSpPr txBox="1"/>
          <p:nvPr/>
        </p:nvSpPr>
        <p:spPr>
          <a:xfrm>
            <a:off x="3438144" y="2596896"/>
            <a:ext cx="1069848"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-20</a:t>
            </a:r>
          </a:p>
        </p:txBody>
      </p:sp>
      <p:sp>
        <p:nvSpPr>
          <p:cNvPr id="57" name="Rectangle 56"/>
          <p:cNvSpPr/>
          <p:nvPr/>
        </p:nvSpPr>
        <p:spPr>
          <a:xfrm>
            <a:off x="4590288" y="2596896"/>
            <a:ext cx="86868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ody:57"/>
          <p:cNvSpPr txBox="1"/>
          <p:nvPr/>
        </p:nvSpPr>
        <p:spPr>
          <a:xfrm>
            <a:off x="4672583" y="2596896"/>
            <a:ext cx="704088"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-20</a:t>
            </a:r>
          </a:p>
        </p:txBody>
      </p:sp>
      <p:sp>
        <p:nvSpPr>
          <p:cNvPr id="59" name="Rectangle 58"/>
          <p:cNvSpPr/>
          <p:nvPr/>
        </p:nvSpPr>
        <p:spPr>
          <a:xfrm>
            <a:off x="5458968" y="2596896"/>
            <a:ext cx="91440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ody:59"/>
          <p:cNvSpPr txBox="1"/>
          <p:nvPr/>
        </p:nvSpPr>
        <p:spPr>
          <a:xfrm>
            <a:off x="5541264" y="2596896"/>
            <a:ext cx="749808"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27</a:t>
            </a:r>
          </a:p>
        </p:txBody>
      </p:sp>
      <p:sp>
        <p:nvSpPr>
          <p:cNvPr id="61" name="Rectangle 60"/>
          <p:cNvSpPr/>
          <p:nvPr/>
        </p:nvSpPr>
        <p:spPr>
          <a:xfrm>
            <a:off x="566928" y="3017520"/>
            <a:ext cx="1600200" cy="4206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ody:61"/>
          <p:cNvSpPr txBox="1"/>
          <p:nvPr/>
        </p:nvSpPr>
        <p:spPr>
          <a:xfrm>
            <a:off x="649224" y="3017520"/>
            <a:ext cx="1435608" cy="420624"/>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Ask first</a:t>
            </a:r>
          </a:p>
        </p:txBody>
      </p:sp>
      <p:sp>
        <p:nvSpPr>
          <p:cNvPr id="63" name="Rectangle 62"/>
          <p:cNvSpPr/>
          <p:nvPr/>
        </p:nvSpPr>
        <p:spPr>
          <a:xfrm>
            <a:off x="2167128" y="3017520"/>
            <a:ext cx="1188720" cy="4206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ody:63"/>
          <p:cNvSpPr txBox="1"/>
          <p:nvPr/>
        </p:nvSpPr>
        <p:spPr>
          <a:xfrm>
            <a:off x="2249424" y="3017520"/>
            <a:ext cx="1024128"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+7</a:t>
            </a:r>
          </a:p>
        </p:txBody>
      </p:sp>
      <p:sp>
        <p:nvSpPr>
          <p:cNvPr id="65" name="Rectangle 64"/>
          <p:cNvSpPr/>
          <p:nvPr/>
        </p:nvSpPr>
        <p:spPr>
          <a:xfrm>
            <a:off x="3355848" y="3017520"/>
            <a:ext cx="1234440" cy="4206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ody:65"/>
          <p:cNvSpPr txBox="1"/>
          <p:nvPr/>
        </p:nvSpPr>
        <p:spPr>
          <a:xfrm>
            <a:off x="3438144" y="3017520"/>
            <a:ext cx="1069848"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+7</a:t>
            </a:r>
          </a:p>
        </p:txBody>
      </p:sp>
      <p:sp>
        <p:nvSpPr>
          <p:cNvPr id="67" name="Rectangle 66"/>
          <p:cNvSpPr/>
          <p:nvPr/>
        </p:nvSpPr>
        <p:spPr>
          <a:xfrm>
            <a:off x="4590288" y="3017520"/>
            <a:ext cx="868680" cy="420624"/>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ody:67"/>
          <p:cNvSpPr txBox="1"/>
          <p:nvPr/>
        </p:nvSpPr>
        <p:spPr>
          <a:xfrm>
            <a:off x="4672583" y="3017520"/>
            <a:ext cx="704088" cy="420624"/>
          </a:xfrm>
          <a:prstGeom prst="rect">
            <a:avLst/>
          </a:prstGeom>
          <a:noFill/>
        </p:spPr>
        <p:txBody>
          <a:bodyPr wrap="square" lIns="22860" rIns="22860" tIns="22860" bIns="22860" anchor="ctr">
            <a:spAutoFit/>
          </a:bodyPr>
          <a:lstStyle/>
          <a:p>
            <a:pPr algn="l">
              <a:lnSpc>
                <a:spcPct val="100000"/>
              </a:lnSpc>
            </a:pPr>
            <a:r>
              <a:rPr sz="1150" b="0">
                <a:solidFill>
                  <a:srgbClr val="1E7A72"/>
                </a:solidFill>
                <a:latin typeface="Arial"/>
              </a:rPr>
              <a:t>+7</a:t>
            </a:r>
          </a:p>
        </p:txBody>
      </p:sp>
      <p:sp>
        <p:nvSpPr>
          <p:cNvPr id="69" name="Rectangle 68"/>
          <p:cNvSpPr/>
          <p:nvPr/>
        </p:nvSpPr>
        <p:spPr>
          <a:xfrm>
            <a:off x="5458968" y="3017520"/>
            <a:ext cx="914400" cy="420624"/>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ody:69"/>
          <p:cNvSpPr txBox="1"/>
          <p:nvPr/>
        </p:nvSpPr>
        <p:spPr>
          <a:xfrm>
            <a:off x="5541264" y="3017520"/>
            <a:ext cx="749808" cy="420624"/>
          </a:xfrm>
          <a:prstGeom prst="rect">
            <a:avLst/>
          </a:prstGeom>
          <a:noFill/>
        </p:spPr>
        <p:txBody>
          <a:bodyPr wrap="square" lIns="22860" rIns="22860" tIns="22860" bIns="22860" anchor="ctr">
            <a:spAutoFit/>
          </a:bodyPr>
          <a:lstStyle/>
          <a:p>
            <a:pPr algn="l">
              <a:lnSpc>
                <a:spcPct val="100000"/>
              </a:lnSpc>
            </a:pPr>
            <a:r>
              <a:rPr sz="1150" b="0">
                <a:solidFill>
                  <a:srgbClr val="1E7A72"/>
                </a:solidFill>
                <a:latin typeface="Arial"/>
              </a:rPr>
              <a:t>3</a:t>
            </a:r>
          </a:p>
        </p:txBody>
      </p:sp>
      <p:sp>
        <p:nvSpPr>
          <p:cNvPr id="71" name="Rectangle 70"/>
          <p:cNvSpPr/>
          <p:nvPr/>
        </p:nvSpPr>
        <p:spPr>
          <a:xfrm>
            <a:off x="566928" y="3438144"/>
            <a:ext cx="160020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ody:71"/>
          <p:cNvSpPr txBox="1"/>
          <p:nvPr/>
        </p:nvSpPr>
        <p:spPr>
          <a:xfrm>
            <a:off x="649224" y="3438144"/>
            <a:ext cx="1435608" cy="420624"/>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Stop and report</a:t>
            </a:r>
          </a:p>
        </p:txBody>
      </p:sp>
      <p:sp>
        <p:nvSpPr>
          <p:cNvPr id="73" name="Rectangle 72"/>
          <p:cNvSpPr/>
          <p:nvPr/>
        </p:nvSpPr>
        <p:spPr>
          <a:xfrm>
            <a:off x="2167128" y="3438144"/>
            <a:ext cx="118872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ody:73"/>
          <p:cNvSpPr txBox="1"/>
          <p:nvPr/>
        </p:nvSpPr>
        <p:spPr>
          <a:xfrm>
            <a:off x="2249424" y="3438144"/>
            <a:ext cx="1024128"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+2</a:t>
            </a:r>
          </a:p>
        </p:txBody>
      </p:sp>
      <p:sp>
        <p:nvSpPr>
          <p:cNvPr id="75" name="Rectangle 74"/>
          <p:cNvSpPr/>
          <p:nvPr/>
        </p:nvSpPr>
        <p:spPr>
          <a:xfrm>
            <a:off x="3355848" y="3438144"/>
            <a:ext cx="123444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ody:75"/>
          <p:cNvSpPr txBox="1"/>
          <p:nvPr/>
        </p:nvSpPr>
        <p:spPr>
          <a:xfrm>
            <a:off x="3438144" y="3438144"/>
            <a:ext cx="1069848"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+2</a:t>
            </a:r>
          </a:p>
        </p:txBody>
      </p:sp>
      <p:sp>
        <p:nvSpPr>
          <p:cNvPr id="77" name="Rectangle 76"/>
          <p:cNvSpPr/>
          <p:nvPr/>
        </p:nvSpPr>
        <p:spPr>
          <a:xfrm>
            <a:off x="4590288" y="3438144"/>
            <a:ext cx="86868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ody:77"/>
          <p:cNvSpPr txBox="1"/>
          <p:nvPr/>
        </p:nvSpPr>
        <p:spPr>
          <a:xfrm>
            <a:off x="4672583" y="3438144"/>
            <a:ext cx="704088"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+2</a:t>
            </a:r>
          </a:p>
        </p:txBody>
      </p:sp>
      <p:sp>
        <p:nvSpPr>
          <p:cNvPr id="79" name="Rectangle 78"/>
          <p:cNvSpPr/>
          <p:nvPr/>
        </p:nvSpPr>
        <p:spPr>
          <a:xfrm>
            <a:off x="5458968" y="3438144"/>
            <a:ext cx="91440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ody:79"/>
          <p:cNvSpPr txBox="1"/>
          <p:nvPr/>
        </p:nvSpPr>
        <p:spPr>
          <a:xfrm>
            <a:off x="5541264" y="3438144"/>
            <a:ext cx="749808"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8</a:t>
            </a:r>
          </a:p>
        </p:txBody>
      </p:sp>
      <p:sp>
        <p:nvSpPr>
          <p:cNvPr id="81" name="body:80"/>
          <p:cNvSpPr txBox="1"/>
          <p:nvPr/>
        </p:nvSpPr>
        <p:spPr>
          <a:xfrm>
            <a:off x="566928" y="3931920"/>
            <a:ext cx="5806440" cy="640080"/>
          </a:xfrm>
          <a:prstGeom prst="rect">
            <a:avLst/>
          </a:prstGeom>
          <a:noFill/>
        </p:spPr>
        <p:txBody>
          <a:bodyPr wrap="square" lIns="22860" rIns="22860" tIns="22860" bIns="22860" anchor="ctr">
            <a:spAutoFit/>
          </a:bodyPr>
          <a:lstStyle/>
          <a:p>
            <a:pPr algn="l">
              <a:lnSpc>
                <a:spcPct val="108000"/>
              </a:lnSpc>
            </a:pPr>
            <a:r>
              <a:rPr sz="1250" b="0">
                <a:solidFill>
                  <a:srgbClr val="22313F"/>
                </a:solidFill>
                <a:latin typeface="Arial"/>
              </a:rPr>
              <a:t>Both rules pick "ask first". An expected-utility agent reads the archive only if P(allowed) &gt; 0.90, a number the task never supplied. Reachability is not that number.</a:t>
            </a:r>
          </a:p>
        </p:txBody>
      </p:sp>
      <p:sp>
        <p:nvSpPr>
          <p:cNvPr id="82" name="Rectangle 81"/>
          <p:cNvSpPr/>
          <p:nvPr/>
        </p:nvSpPr>
        <p:spPr>
          <a:xfrm>
            <a:off x="566928" y="4617720"/>
            <a:ext cx="5806440" cy="9144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body:82"/>
          <p:cNvSpPr txBox="1"/>
          <p:nvPr/>
        </p:nvSpPr>
        <p:spPr>
          <a:xfrm>
            <a:off x="731520" y="4663440"/>
            <a:ext cx="5486400" cy="841248"/>
          </a:xfrm>
          <a:prstGeom prst="rect">
            <a:avLst/>
          </a:prstGeom>
          <a:noFill/>
        </p:spPr>
        <p:txBody>
          <a:bodyPr wrap="square" lIns="22860" rIns="22860" tIns="22860" bIns="22860" anchor="t">
            <a:spAutoFit/>
          </a:bodyPr>
          <a:lstStyle/>
          <a:p>
            <a:pPr algn="l">
              <a:lnSpc>
                <a:spcPct val="108000"/>
              </a:lnSpc>
            </a:pPr>
            <a:r>
              <a:rPr sz="1150" b="0">
                <a:solidFill>
                  <a:srgbClr val="22313F"/>
                </a:solidFill>
                <a:latin typeface="Arial"/>
              </a:rPr>
              <a:t>Principal–agent reading: the principal writes g; the agent acts; the journal says what e touched and only g says whether it was allowed. Where g is silent, who holds residual control is the design variable. A request transfers that decision to the principal; a diagnostic cannot.</a:t>
            </a:r>
          </a:p>
        </p:txBody>
      </p:sp>
      <p:sp>
        <p:nvSpPr>
          <p:cNvPr id="84" name="Rectangle 83"/>
          <p:cNvSpPr/>
          <p:nvPr/>
        </p:nvSpPr>
        <p:spPr>
          <a:xfrm>
            <a:off x="6583680" y="2176272"/>
            <a:ext cx="5038344" cy="1572768"/>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583680" y="2176272"/>
            <a:ext cx="82296" cy="1572768"/>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label:85"/>
          <p:cNvSpPr txBox="1"/>
          <p:nvPr/>
        </p:nvSpPr>
        <p:spPr>
          <a:xfrm>
            <a:off x="6821424" y="2286000"/>
            <a:ext cx="4672583" cy="256032"/>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RESULT 3 · ROBUST RULES UNDER SILENCE</a:t>
            </a:r>
          </a:p>
        </p:txBody>
      </p:sp>
      <p:pic>
        <p:nvPicPr>
          <p:cNvPr id="87" name="math:86" descr="f24.png"/>
          <p:cNvPicPr>
            <a:picLocks noChangeAspect="1"/>
          </p:cNvPicPr>
          <p:nvPr/>
        </p:nvPicPr>
        <p:blipFill>
          <a:blip r:embed="rId6"/>
          <a:stretch>
            <a:fillRect/>
          </a:stretch>
        </p:blipFill>
        <p:spPr>
          <a:xfrm>
            <a:off x="6839712" y="2560320"/>
            <a:ext cx="2406408" cy="314661"/>
          </a:xfrm>
          <a:prstGeom prst="rect">
            <a:avLst/>
          </a:prstGeom>
        </p:spPr>
      </p:pic>
      <p:pic>
        <p:nvPicPr>
          <p:cNvPr id="88" name="math:87" descr="f25.png"/>
          <p:cNvPicPr>
            <a:picLocks noChangeAspect="1"/>
          </p:cNvPicPr>
          <p:nvPr/>
        </p:nvPicPr>
        <p:blipFill>
          <a:blip r:embed="rId7"/>
          <a:stretch>
            <a:fillRect/>
          </a:stretch>
        </p:blipFill>
        <p:spPr>
          <a:xfrm>
            <a:off x="6839712" y="2928923"/>
            <a:ext cx="2876902" cy="344628"/>
          </a:xfrm>
          <a:prstGeom prst="rect">
            <a:avLst/>
          </a:prstGeom>
        </p:spPr>
      </p:pic>
      <p:sp>
        <p:nvSpPr>
          <p:cNvPr id="89" name="caption:88"/>
          <p:cNvSpPr txBox="1"/>
          <p:nvPr/>
        </p:nvSpPr>
        <p:spPr>
          <a:xfrm>
            <a:off x="6821424" y="3273551"/>
            <a:ext cx="4654296" cy="420624"/>
          </a:xfrm>
          <a:prstGeom prst="rect">
            <a:avLst/>
          </a:prstGeom>
          <a:noFill/>
        </p:spPr>
        <p:txBody>
          <a:bodyPr wrap="square" lIns="22860" rIns="22860" tIns="22860" bIns="22860" anchor="t">
            <a:spAutoFit/>
          </a:bodyPr>
          <a:lstStyle/>
          <a:p>
            <a:pPr algn="l">
              <a:lnSpc>
                <a:spcPct val="105000"/>
              </a:lnSpc>
            </a:pPr>
            <a:r>
              <a:rPr sz="1100" b="0">
                <a:solidFill>
                  <a:srgbClr val="B9C8D8"/>
                </a:solidFill>
                <a:latin typeface="Arial"/>
              </a:rPr>
              <a:t>Robust rules need the set of plausible grants, not a prior over them (Gilboa &amp; Schmeidler 1989; Savage 1951).</a:t>
            </a:r>
          </a:p>
        </p:txBody>
      </p:sp>
      <p:sp>
        <p:nvSpPr>
          <p:cNvPr id="90" name="Rectangle 89"/>
          <p:cNvSpPr/>
          <p:nvPr/>
        </p:nvSpPr>
        <p:spPr>
          <a:xfrm>
            <a:off x="6583680" y="3877056"/>
            <a:ext cx="5038344" cy="1655064"/>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body:90"/>
          <p:cNvSpPr txBox="1"/>
          <p:nvPr/>
        </p:nvSpPr>
        <p:spPr>
          <a:xfrm>
            <a:off x="6766560" y="3931920"/>
            <a:ext cx="4754880" cy="1554480"/>
          </a:xfrm>
          <a:prstGeom prst="rect">
            <a:avLst/>
          </a:prstGeom>
          <a:noFill/>
        </p:spPr>
        <p:txBody>
          <a:bodyPr wrap="square" lIns="22860" rIns="22860" tIns="22860" bIns="22860" anchor="t">
            <a:spAutoFit/>
          </a:bodyPr>
          <a:lstStyle/>
          <a:p>
            <a:pPr algn="l">
              <a:lnSpc>
                <a:spcPct val="110000"/>
              </a:lnSpc>
            </a:pPr>
            <a:r>
              <a:rPr sz="1150" b="0">
                <a:solidFill>
                  <a:srgbClr val="22313F"/>
                </a:solidFill>
                <a:latin typeface="Arial"/>
              </a:rPr>
              <a:t>•  Prediction: ambiguity-averse agents prefer reversible actions and questions. Over-conservatism is the price, so it is measured on authorized-feasible cells where a blocker is a cost.</a:t>
            </a:r>
          </a:p>
          <a:p>
            <a:pPr algn="l">
              <a:lnSpc>
                <a:spcPct val="110000"/>
              </a:lnSpc>
            </a:pPr>
            <a:r>
              <a:rPr sz="1150" b="0">
                <a:solidFill>
                  <a:srgbClr val="22313F"/>
                </a:solidFill>
                <a:latin typeface="Arial"/>
              </a:rPr>
              <a:t>•  CIRL: an agent that does not know the principal's reward elicits and defers rather than guesses; deference has positive value exactly under uncertainty (off-switch game).</a:t>
            </a:r>
          </a:p>
          <a:p>
            <a:pPr algn="l">
              <a:lnSpc>
                <a:spcPct val="110000"/>
              </a:lnSpc>
            </a:pPr>
            <a:r>
              <a:rPr sz="1150" b="0">
                <a:solidFill>
                  <a:srgbClr val="22313F"/>
                </a:solidFill>
                <a:latin typeface="Arial"/>
              </a:rPr>
              <a:t>•  Conflicting grants need a frozen precedence rule; silent grants need a reference policy before any violation rate exists.</a:t>
            </a:r>
          </a:p>
        </p:txBody>
      </p:sp>
      <p:sp>
        <p:nvSpPr>
          <p:cNvPr id="92" name="Rounded Rectangle 91"/>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body:92"/>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Silence is not permission. The robust move under an unknown grant is the reversible one: ask, or stop with evidence.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11 / CONSTRAINED SELECTION FROM FINITE DATA</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Result 4: what finite, paired evidence can and cannot certify.</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The release decision is a constrained optimum estimated from development rollouts; the slack is set by the sample, not the signal.</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15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3A6391"/>
                </a:solidFill>
                <a:latin typeface="Arial"/>
              </a:rPr>
              <a:t>THEORY</a:t>
            </a:r>
          </a:p>
        </p:txBody>
      </p:sp>
      <p:sp>
        <p:nvSpPr>
          <p:cNvPr id="37" name="source:36"/>
          <p:cNvSpPr txBox="1"/>
          <p:nvPr/>
        </p:nvSpPr>
        <p:spPr>
          <a:xfrm>
            <a:off x="566928" y="6400800"/>
            <a:ext cx="36576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Objective and arms: incident-aware optimization</a:t>
            </a:r>
          </a:p>
        </p:txBody>
      </p:sp>
      <p:sp>
        <p:nvSpPr>
          <p:cNvPr id="38" name="source:37"/>
          <p:cNvSpPr txBox="1"/>
          <p:nvPr/>
        </p:nvSpPr>
        <p:spPr>
          <a:xfrm>
            <a:off x="4370832" y="6400800"/>
            <a:ext cx="310896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Constrained optimization background: CPO</a:t>
            </a:r>
          </a:p>
        </p:txBody>
      </p:sp>
      <p:sp>
        <p:nvSpPr>
          <p:cNvPr id="39" name="source:38"/>
          <p:cNvSpPr txBox="1"/>
          <p:nvPr/>
        </p:nvSpPr>
        <p:spPr>
          <a:xfrm>
            <a:off x="7626096" y="6400800"/>
            <a:ext cx="201168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4"/>
              </a:rPr>
              <a:t>Archived paired contrast</a:t>
            </a:r>
          </a:p>
        </p:txBody>
      </p:sp>
      <p:sp>
        <p:nvSpPr>
          <p:cNvPr id="40" name="Rectangle 39"/>
          <p:cNvSpPr/>
          <p:nvPr/>
        </p:nvSpPr>
        <p:spPr>
          <a:xfrm>
            <a:off x="566928" y="2157984"/>
            <a:ext cx="5577840" cy="1389888"/>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6928" y="2157984"/>
            <a:ext cx="82296" cy="1389888"/>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abel:41"/>
          <p:cNvSpPr txBox="1"/>
          <p:nvPr/>
        </p:nvSpPr>
        <p:spPr>
          <a:xfrm>
            <a:off x="804672" y="2267712"/>
            <a:ext cx="5212079" cy="256032"/>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RESULT 4A · THE RELEASE OBJECTIVE</a:t>
            </a:r>
          </a:p>
        </p:txBody>
      </p:sp>
      <p:pic>
        <p:nvPicPr>
          <p:cNvPr id="43" name="math:42" descr="f26.png"/>
          <p:cNvPicPr>
            <a:picLocks noChangeAspect="1"/>
          </p:cNvPicPr>
          <p:nvPr/>
        </p:nvPicPr>
        <p:blipFill>
          <a:blip r:embed="rId5"/>
          <a:stretch>
            <a:fillRect/>
          </a:stretch>
        </p:blipFill>
        <p:spPr>
          <a:xfrm>
            <a:off x="822960" y="2542032"/>
            <a:ext cx="2213772" cy="250278"/>
          </a:xfrm>
          <a:prstGeom prst="rect">
            <a:avLst/>
          </a:prstGeom>
        </p:spPr>
      </p:pic>
      <p:pic>
        <p:nvPicPr>
          <p:cNvPr id="44" name="math:43" descr="f27.png"/>
          <p:cNvPicPr>
            <a:picLocks noChangeAspect="1"/>
          </p:cNvPicPr>
          <p:nvPr/>
        </p:nvPicPr>
        <p:blipFill>
          <a:blip r:embed="rId6"/>
          <a:stretch>
            <a:fillRect/>
          </a:stretch>
        </p:blipFill>
        <p:spPr>
          <a:xfrm>
            <a:off x="822960" y="2845941"/>
            <a:ext cx="3280435" cy="226442"/>
          </a:xfrm>
          <a:prstGeom prst="rect">
            <a:avLst/>
          </a:prstGeom>
        </p:spPr>
      </p:pic>
      <p:sp>
        <p:nvSpPr>
          <p:cNvPr id="45" name="caption:44"/>
          <p:cNvSpPr txBox="1"/>
          <p:nvPr/>
        </p:nvSpPr>
        <p:spPr>
          <a:xfrm>
            <a:off x="804672" y="3072384"/>
            <a:ext cx="5193792" cy="420624"/>
          </a:xfrm>
          <a:prstGeom prst="rect">
            <a:avLst/>
          </a:prstGeom>
          <a:noFill/>
        </p:spPr>
        <p:txBody>
          <a:bodyPr wrap="square" lIns="22860" rIns="22860" tIns="22860" bIns="22860" anchor="t">
            <a:spAutoFit/>
          </a:bodyPr>
          <a:lstStyle/>
          <a:p>
            <a:pPr algn="l">
              <a:lnSpc>
                <a:spcPct val="105000"/>
              </a:lnSpc>
            </a:pPr>
            <a:r>
              <a:rPr sz="1100" b="0">
                <a:solidFill>
                  <a:srgbClr val="B9C8D8"/>
                </a:solidFill>
                <a:latin typeface="Arial"/>
              </a:rPr>
              <a:t>R: verified incidents; U: authorized completion; C: cost; F: false intervention. Margins fixed before search.</a:t>
            </a:r>
          </a:p>
        </p:txBody>
      </p:sp>
      <p:sp>
        <p:nvSpPr>
          <p:cNvPr id="46" name="Rectangle 45"/>
          <p:cNvSpPr/>
          <p:nvPr/>
        </p:nvSpPr>
        <p:spPr>
          <a:xfrm>
            <a:off x="566928" y="3657600"/>
            <a:ext cx="5577840" cy="1874519"/>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ody:46"/>
          <p:cNvSpPr txBox="1"/>
          <p:nvPr/>
        </p:nvSpPr>
        <p:spPr>
          <a:xfrm>
            <a:off x="731520" y="3694176"/>
            <a:ext cx="5303520" cy="329184"/>
          </a:xfrm>
          <a:prstGeom prst="rect">
            <a:avLst/>
          </a:prstGeom>
          <a:noFill/>
        </p:spPr>
        <p:txBody>
          <a:bodyPr wrap="square" lIns="22860" rIns="22860" tIns="22860" bIns="22860" anchor="ctr">
            <a:spAutoFit/>
          </a:bodyPr>
          <a:lstStyle/>
          <a:p>
            <a:pPr algn="l">
              <a:lnSpc>
                <a:spcPct val="108000"/>
              </a:lnSpc>
            </a:pPr>
            <a:r>
              <a:rPr sz="1300" b="1">
                <a:solidFill>
                  <a:srgbClr val="172D46"/>
                </a:solidFill>
                <a:latin typeface="Arial"/>
              </a:rPr>
              <a:t>Hoeffding + union bound over K candidates, n rollouts each</a:t>
            </a:r>
          </a:p>
        </p:txBody>
      </p:sp>
      <p:pic>
        <p:nvPicPr>
          <p:cNvPr id="48" name="math:47" descr="f28.png"/>
          <p:cNvPicPr>
            <a:picLocks noChangeAspect="1"/>
          </p:cNvPicPr>
          <p:nvPr/>
        </p:nvPicPr>
        <p:blipFill>
          <a:blip r:embed="rId7"/>
          <a:stretch>
            <a:fillRect/>
          </a:stretch>
        </p:blipFill>
        <p:spPr>
          <a:xfrm>
            <a:off x="731520" y="4027932"/>
            <a:ext cx="4084320" cy="320040"/>
          </a:xfrm>
          <a:prstGeom prst="rect">
            <a:avLst/>
          </a:prstGeom>
        </p:spPr>
      </p:pic>
      <p:sp>
        <p:nvSpPr>
          <p:cNvPr id="49" name="Rectangle 48"/>
          <p:cNvSpPr/>
          <p:nvPr/>
        </p:nvSpPr>
        <p:spPr>
          <a:xfrm>
            <a:off x="731520" y="4425696"/>
            <a:ext cx="1737360" cy="214884"/>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ody:49"/>
          <p:cNvSpPr txBox="1"/>
          <p:nvPr/>
        </p:nvSpPr>
        <p:spPr>
          <a:xfrm>
            <a:off x="813816" y="4425696"/>
            <a:ext cx="1572768" cy="214884"/>
          </a:xfrm>
          <a:prstGeom prst="rect">
            <a:avLst/>
          </a:prstGeom>
          <a:noFill/>
        </p:spPr>
        <p:txBody>
          <a:bodyPr wrap="square" lIns="22860" rIns="22860" tIns="22860" bIns="22860" anchor="ctr">
            <a:spAutoFit/>
          </a:bodyPr>
          <a:lstStyle/>
          <a:p>
            <a:pPr algn="l">
              <a:lnSpc>
                <a:spcPct val="100000"/>
              </a:lnSpc>
            </a:pPr>
            <a:r>
              <a:rPr sz="1050" b="1">
                <a:solidFill>
                  <a:srgbClr val="FFFFFF"/>
                </a:solidFill>
                <a:latin typeface="Arial"/>
              </a:rPr>
              <a:t>n per candidate</a:t>
            </a:r>
          </a:p>
        </p:txBody>
      </p:sp>
      <p:sp>
        <p:nvSpPr>
          <p:cNvPr id="51" name="Rectangle 50"/>
          <p:cNvSpPr/>
          <p:nvPr/>
        </p:nvSpPr>
        <p:spPr>
          <a:xfrm>
            <a:off x="2468880" y="4425696"/>
            <a:ext cx="2011680" cy="214884"/>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ody:51"/>
          <p:cNvSpPr txBox="1"/>
          <p:nvPr/>
        </p:nvSpPr>
        <p:spPr>
          <a:xfrm>
            <a:off x="2551176" y="4425696"/>
            <a:ext cx="1847088" cy="214884"/>
          </a:xfrm>
          <a:prstGeom prst="rect">
            <a:avLst/>
          </a:prstGeom>
          <a:noFill/>
        </p:spPr>
        <p:txBody>
          <a:bodyPr wrap="square" lIns="22860" rIns="22860" tIns="22860" bIns="22860" anchor="ctr">
            <a:spAutoFit/>
          </a:bodyPr>
          <a:lstStyle/>
          <a:p>
            <a:pPr algn="l">
              <a:lnSpc>
                <a:spcPct val="100000"/>
              </a:lnSpc>
            </a:pPr>
            <a:r>
              <a:rPr sz="1050" b="1">
                <a:solidFill>
                  <a:srgbClr val="FFFFFF"/>
                </a:solidFill>
                <a:latin typeface="Arial"/>
              </a:rPr>
              <a:t>slack 2ε (K = 8, δ = .05)</a:t>
            </a:r>
          </a:p>
        </p:txBody>
      </p:sp>
      <p:sp>
        <p:nvSpPr>
          <p:cNvPr id="53" name="Rectangle 52"/>
          <p:cNvSpPr/>
          <p:nvPr/>
        </p:nvSpPr>
        <p:spPr>
          <a:xfrm>
            <a:off x="731520" y="4640580"/>
            <a:ext cx="1737360" cy="2148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ody:53"/>
          <p:cNvSpPr txBox="1"/>
          <p:nvPr/>
        </p:nvSpPr>
        <p:spPr>
          <a:xfrm>
            <a:off x="813816" y="4640580"/>
            <a:ext cx="1572768" cy="214884"/>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48</a:t>
            </a:r>
          </a:p>
        </p:txBody>
      </p:sp>
      <p:sp>
        <p:nvSpPr>
          <p:cNvPr id="55" name="Rectangle 54"/>
          <p:cNvSpPr/>
          <p:nvPr/>
        </p:nvSpPr>
        <p:spPr>
          <a:xfrm>
            <a:off x="2468880" y="4640580"/>
            <a:ext cx="2011680" cy="2148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ody:55"/>
          <p:cNvSpPr txBox="1"/>
          <p:nvPr/>
        </p:nvSpPr>
        <p:spPr>
          <a:xfrm>
            <a:off x="2551176" y="4640580"/>
            <a:ext cx="1847088" cy="214884"/>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0.49</a:t>
            </a:r>
          </a:p>
        </p:txBody>
      </p:sp>
      <p:sp>
        <p:nvSpPr>
          <p:cNvPr id="57" name="Rectangle 56"/>
          <p:cNvSpPr/>
          <p:nvPr/>
        </p:nvSpPr>
        <p:spPr>
          <a:xfrm>
            <a:off x="731520" y="4855464"/>
            <a:ext cx="1737360" cy="21488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ody:57"/>
          <p:cNvSpPr txBox="1"/>
          <p:nvPr/>
        </p:nvSpPr>
        <p:spPr>
          <a:xfrm>
            <a:off x="813816" y="4855464"/>
            <a:ext cx="1572768" cy="214884"/>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200</a:t>
            </a:r>
          </a:p>
        </p:txBody>
      </p:sp>
      <p:sp>
        <p:nvSpPr>
          <p:cNvPr id="59" name="Rectangle 58"/>
          <p:cNvSpPr/>
          <p:nvPr/>
        </p:nvSpPr>
        <p:spPr>
          <a:xfrm>
            <a:off x="2468880" y="4855464"/>
            <a:ext cx="2011680" cy="21488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ody:59"/>
          <p:cNvSpPr txBox="1"/>
          <p:nvPr/>
        </p:nvSpPr>
        <p:spPr>
          <a:xfrm>
            <a:off x="2551176" y="4855464"/>
            <a:ext cx="1847088" cy="214884"/>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0.24</a:t>
            </a:r>
          </a:p>
        </p:txBody>
      </p:sp>
      <p:sp>
        <p:nvSpPr>
          <p:cNvPr id="61" name="Rectangle 60"/>
          <p:cNvSpPr/>
          <p:nvPr/>
        </p:nvSpPr>
        <p:spPr>
          <a:xfrm>
            <a:off x="731520" y="5070348"/>
            <a:ext cx="1737360" cy="2148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ody:61"/>
          <p:cNvSpPr txBox="1"/>
          <p:nvPr/>
        </p:nvSpPr>
        <p:spPr>
          <a:xfrm>
            <a:off x="813816" y="5070348"/>
            <a:ext cx="1572768" cy="214884"/>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1,000</a:t>
            </a:r>
          </a:p>
        </p:txBody>
      </p:sp>
      <p:sp>
        <p:nvSpPr>
          <p:cNvPr id="63" name="Rectangle 62"/>
          <p:cNvSpPr/>
          <p:nvPr/>
        </p:nvSpPr>
        <p:spPr>
          <a:xfrm>
            <a:off x="2468880" y="5070348"/>
            <a:ext cx="2011680" cy="2148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ody:63"/>
          <p:cNvSpPr txBox="1"/>
          <p:nvPr/>
        </p:nvSpPr>
        <p:spPr>
          <a:xfrm>
            <a:off x="2551176" y="5070348"/>
            <a:ext cx="1847088" cy="214884"/>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0.11</a:t>
            </a:r>
          </a:p>
        </p:txBody>
      </p:sp>
      <p:sp>
        <p:nvSpPr>
          <p:cNvPr id="65" name="Rectangle 64"/>
          <p:cNvSpPr/>
          <p:nvPr/>
        </p:nvSpPr>
        <p:spPr>
          <a:xfrm>
            <a:off x="731520" y="5285232"/>
            <a:ext cx="1737360" cy="21488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ody:65"/>
          <p:cNvSpPr txBox="1"/>
          <p:nvPr/>
        </p:nvSpPr>
        <p:spPr>
          <a:xfrm>
            <a:off x="813816" y="5285232"/>
            <a:ext cx="1572768" cy="214884"/>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5,000</a:t>
            </a:r>
          </a:p>
        </p:txBody>
      </p:sp>
      <p:sp>
        <p:nvSpPr>
          <p:cNvPr id="67" name="Rectangle 66"/>
          <p:cNvSpPr/>
          <p:nvPr/>
        </p:nvSpPr>
        <p:spPr>
          <a:xfrm>
            <a:off x="2468880" y="5285232"/>
            <a:ext cx="2011680" cy="21488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ody:67"/>
          <p:cNvSpPr txBox="1"/>
          <p:nvPr/>
        </p:nvSpPr>
        <p:spPr>
          <a:xfrm>
            <a:off x="2551176" y="5285232"/>
            <a:ext cx="1847088" cy="214884"/>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0.05</a:t>
            </a:r>
          </a:p>
        </p:txBody>
      </p:sp>
      <p:sp>
        <p:nvSpPr>
          <p:cNvPr id="69" name="body:68"/>
          <p:cNvSpPr txBox="1"/>
          <p:nvPr/>
        </p:nvSpPr>
        <p:spPr>
          <a:xfrm>
            <a:off x="4608576" y="4425696"/>
            <a:ext cx="1444752" cy="1078992"/>
          </a:xfrm>
          <a:prstGeom prst="rect">
            <a:avLst/>
          </a:prstGeom>
          <a:noFill/>
        </p:spPr>
        <p:txBody>
          <a:bodyPr wrap="square" lIns="22860" rIns="22860" tIns="22860" bIns="22860" anchor="t">
            <a:spAutoFit/>
          </a:bodyPr>
          <a:lstStyle/>
          <a:p>
            <a:pPr algn="l">
              <a:lnSpc>
                <a:spcPct val="105000"/>
              </a:lnSpc>
            </a:pPr>
            <a:r>
              <a:rPr sz="1000" b="0">
                <a:solidFill>
                  <a:srgbClr val="5F6E80"/>
                </a:solidFill>
                <a:latin typeface="Arial"/>
              </a:rPr>
              <a:t>At pilot scale the bound is vacuous. Information lives in paired contrasts, not in independent rates.</a:t>
            </a:r>
          </a:p>
        </p:txBody>
      </p:sp>
      <p:sp>
        <p:nvSpPr>
          <p:cNvPr id="70" name="Rectangle 69"/>
          <p:cNvSpPr/>
          <p:nvPr/>
        </p:nvSpPr>
        <p:spPr>
          <a:xfrm>
            <a:off x="6355080" y="2157984"/>
            <a:ext cx="5266944" cy="3374136"/>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355080" y="2157984"/>
            <a:ext cx="64008" cy="3374136"/>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ody:71"/>
          <p:cNvSpPr txBox="1"/>
          <p:nvPr/>
        </p:nvSpPr>
        <p:spPr>
          <a:xfrm>
            <a:off x="6556248" y="2240280"/>
            <a:ext cx="4846320" cy="329184"/>
          </a:xfrm>
          <a:prstGeom prst="rect">
            <a:avLst/>
          </a:prstGeom>
          <a:noFill/>
        </p:spPr>
        <p:txBody>
          <a:bodyPr wrap="square" lIns="22860" rIns="22860" tIns="22860" bIns="22860" anchor="ctr">
            <a:spAutoFit/>
          </a:bodyPr>
          <a:lstStyle/>
          <a:p>
            <a:pPr algn="l">
              <a:lnSpc>
                <a:spcPct val="108000"/>
              </a:lnSpc>
            </a:pPr>
            <a:r>
              <a:rPr sz="1400" b="1">
                <a:solidFill>
                  <a:srgbClr val="6A4C93"/>
                </a:solidFill>
                <a:latin typeface="Arial"/>
              </a:rPr>
              <a:t>Paired twins: exact McNemar power</a:t>
            </a:r>
          </a:p>
        </p:txBody>
      </p:sp>
      <p:sp>
        <p:nvSpPr>
          <p:cNvPr id="73" name="body:72"/>
          <p:cNvSpPr txBox="1"/>
          <p:nvPr/>
        </p:nvSpPr>
        <p:spPr>
          <a:xfrm>
            <a:off x="6556248" y="2560320"/>
            <a:ext cx="4846320" cy="475488"/>
          </a:xfrm>
          <a:prstGeom prst="rect">
            <a:avLst/>
          </a:prstGeom>
          <a:noFill/>
        </p:spPr>
        <p:txBody>
          <a:bodyPr wrap="square" lIns="22860" rIns="22860" tIns="22860" bIns="22860" anchor="t">
            <a:spAutoFit/>
          </a:bodyPr>
          <a:lstStyle/>
          <a:p>
            <a:pPr algn="l">
              <a:lnSpc>
                <a:spcPct val="105000"/>
              </a:lnSpc>
            </a:pPr>
            <a:r>
              <a:rPr sz="1050" b="0">
                <a:solidFill>
                  <a:srgbClr val="5F6E80"/>
                </a:solidFill>
                <a:latin typeface="Arial"/>
              </a:rPr>
              <a:t>Baseline impossible-task incident rate from the archived diagnostic: 11/16 = 0.69. Power to detect a drop to the target rate, two-sided exact test, α = .05.</a:t>
            </a:r>
          </a:p>
        </p:txBody>
      </p:sp>
      <p:sp>
        <p:nvSpPr>
          <p:cNvPr id="74" name="Rectangle 73"/>
          <p:cNvSpPr/>
          <p:nvPr/>
        </p:nvSpPr>
        <p:spPr>
          <a:xfrm>
            <a:off x="6556248" y="3108960"/>
            <a:ext cx="1188720" cy="27432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body:74"/>
          <p:cNvSpPr txBox="1"/>
          <p:nvPr/>
        </p:nvSpPr>
        <p:spPr>
          <a:xfrm>
            <a:off x="6638544" y="3108960"/>
            <a:ext cx="1024128" cy="274320"/>
          </a:xfrm>
          <a:prstGeom prst="rect">
            <a:avLst/>
          </a:prstGeom>
          <a:noFill/>
        </p:spPr>
        <p:txBody>
          <a:bodyPr wrap="square" lIns="22860" rIns="22860" tIns="22860" bIns="22860" anchor="ctr">
            <a:spAutoFit/>
          </a:bodyPr>
          <a:lstStyle/>
          <a:p>
            <a:pPr algn="l">
              <a:lnSpc>
                <a:spcPct val="100000"/>
              </a:lnSpc>
            </a:pPr>
            <a:r>
              <a:rPr sz="1100" b="1">
                <a:solidFill>
                  <a:srgbClr val="FFFFFF"/>
                </a:solidFill>
                <a:latin typeface="Arial"/>
              </a:rPr>
              <a:t>pairs n</a:t>
            </a:r>
          </a:p>
        </p:txBody>
      </p:sp>
      <p:sp>
        <p:nvSpPr>
          <p:cNvPr id="76" name="Rectangle 75"/>
          <p:cNvSpPr/>
          <p:nvPr/>
        </p:nvSpPr>
        <p:spPr>
          <a:xfrm>
            <a:off x="7744968" y="3108960"/>
            <a:ext cx="1645920" cy="27432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body:76"/>
          <p:cNvSpPr txBox="1"/>
          <p:nvPr/>
        </p:nvSpPr>
        <p:spPr>
          <a:xfrm>
            <a:off x="7827264" y="3108960"/>
            <a:ext cx="1481328" cy="274320"/>
          </a:xfrm>
          <a:prstGeom prst="rect">
            <a:avLst/>
          </a:prstGeom>
          <a:noFill/>
        </p:spPr>
        <p:txBody>
          <a:bodyPr wrap="square" lIns="22860" rIns="22860" tIns="22860" bIns="22860" anchor="ctr">
            <a:spAutoFit/>
          </a:bodyPr>
          <a:lstStyle/>
          <a:p>
            <a:pPr algn="l">
              <a:lnSpc>
                <a:spcPct val="100000"/>
              </a:lnSpc>
            </a:pPr>
            <a:r>
              <a:rPr sz="1100" b="1">
                <a:solidFill>
                  <a:srgbClr val="FFFFFF"/>
                </a:solidFill>
                <a:latin typeface="Arial"/>
              </a:rPr>
              <a:t>to 0.375</a:t>
            </a:r>
          </a:p>
        </p:txBody>
      </p:sp>
      <p:sp>
        <p:nvSpPr>
          <p:cNvPr id="78" name="Rectangle 77"/>
          <p:cNvSpPr/>
          <p:nvPr/>
        </p:nvSpPr>
        <p:spPr>
          <a:xfrm>
            <a:off x="9390888" y="3108960"/>
            <a:ext cx="1645920" cy="27432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body:78"/>
          <p:cNvSpPr txBox="1"/>
          <p:nvPr/>
        </p:nvSpPr>
        <p:spPr>
          <a:xfrm>
            <a:off x="9473184" y="3108960"/>
            <a:ext cx="1481328" cy="274320"/>
          </a:xfrm>
          <a:prstGeom prst="rect">
            <a:avLst/>
          </a:prstGeom>
          <a:noFill/>
        </p:spPr>
        <p:txBody>
          <a:bodyPr wrap="square" lIns="22860" rIns="22860" tIns="22860" bIns="22860" anchor="ctr">
            <a:spAutoFit/>
          </a:bodyPr>
          <a:lstStyle/>
          <a:p>
            <a:pPr algn="l">
              <a:lnSpc>
                <a:spcPct val="100000"/>
              </a:lnSpc>
            </a:pPr>
            <a:r>
              <a:rPr sz="1100" b="1">
                <a:solidFill>
                  <a:srgbClr val="FFFFFF"/>
                </a:solidFill>
                <a:latin typeface="Arial"/>
              </a:rPr>
              <a:t>to 0.25</a:t>
            </a:r>
          </a:p>
        </p:txBody>
      </p:sp>
      <p:sp>
        <p:nvSpPr>
          <p:cNvPr id="80" name="Rectangle 79"/>
          <p:cNvSpPr/>
          <p:nvPr/>
        </p:nvSpPr>
        <p:spPr>
          <a:xfrm>
            <a:off x="6556248" y="3383279"/>
            <a:ext cx="11887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ody:80"/>
          <p:cNvSpPr txBox="1"/>
          <p:nvPr/>
        </p:nvSpPr>
        <p:spPr>
          <a:xfrm>
            <a:off x="6638544" y="3383279"/>
            <a:ext cx="1024128" cy="274320"/>
          </a:xfrm>
          <a:prstGeom prst="rect">
            <a:avLst/>
          </a:prstGeom>
          <a:noFill/>
        </p:spPr>
        <p:txBody>
          <a:bodyPr wrap="square" lIns="22860" rIns="22860" tIns="22860" bIns="22860" anchor="ctr">
            <a:spAutoFit/>
          </a:bodyPr>
          <a:lstStyle/>
          <a:p>
            <a:pPr algn="l">
              <a:lnSpc>
                <a:spcPct val="100000"/>
              </a:lnSpc>
            </a:pPr>
            <a:r>
              <a:rPr sz="1100" b="1">
                <a:solidFill>
                  <a:srgbClr val="22313F"/>
                </a:solidFill>
                <a:latin typeface="Arial"/>
              </a:rPr>
              <a:t>16</a:t>
            </a:r>
          </a:p>
        </p:txBody>
      </p:sp>
      <p:sp>
        <p:nvSpPr>
          <p:cNvPr id="82" name="Rectangle 81"/>
          <p:cNvSpPr/>
          <p:nvPr/>
        </p:nvSpPr>
        <p:spPr>
          <a:xfrm>
            <a:off x="7744968" y="3383279"/>
            <a:ext cx="16459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body:82"/>
          <p:cNvSpPr txBox="1"/>
          <p:nvPr/>
        </p:nvSpPr>
        <p:spPr>
          <a:xfrm>
            <a:off x="7827264" y="3383279"/>
            <a:ext cx="1481328" cy="274320"/>
          </a:xfrm>
          <a:prstGeom prst="rect">
            <a:avLst/>
          </a:prstGeom>
          <a:noFill/>
        </p:spPr>
        <p:txBody>
          <a:bodyPr wrap="square" lIns="22860" rIns="22860" tIns="22860" bIns="22860" anchor="ctr">
            <a:spAutoFit/>
          </a:bodyPr>
          <a:lstStyle/>
          <a:p>
            <a:pPr algn="l">
              <a:lnSpc>
                <a:spcPct val="100000"/>
              </a:lnSpc>
            </a:pPr>
            <a:r>
              <a:rPr sz="1100" b="0">
                <a:solidFill>
                  <a:srgbClr val="22313F"/>
                </a:solidFill>
                <a:latin typeface="Arial"/>
              </a:rPr>
              <a:t>0.27</a:t>
            </a:r>
          </a:p>
        </p:txBody>
      </p:sp>
      <p:sp>
        <p:nvSpPr>
          <p:cNvPr id="84" name="Rectangle 83"/>
          <p:cNvSpPr/>
          <p:nvPr/>
        </p:nvSpPr>
        <p:spPr>
          <a:xfrm>
            <a:off x="9390888" y="3383279"/>
            <a:ext cx="16459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body:84"/>
          <p:cNvSpPr txBox="1"/>
          <p:nvPr/>
        </p:nvSpPr>
        <p:spPr>
          <a:xfrm>
            <a:off x="9473184" y="3383279"/>
            <a:ext cx="1481328" cy="274320"/>
          </a:xfrm>
          <a:prstGeom prst="rect">
            <a:avLst/>
          </a:prstGeom>
          <a:noFill/>
        </p:spPr>
        <p:txBody>
          <a:bodyPr wrap="square" lIns="22860" rIns="22860" tIns="22860" bIns="22860" anchor="ctr">
            <a:spAutoFit/>
          </a:bodyPr>
          <a:lstStyle/>
          <a:p>
            <a:pPr algn="l">
              <a:lnSpc>
                <a:spcPct val="100000"/>
              </a:lnSpc>
            </a:pPr>
            <a:r>
              <a:rPr sz="1100" b="0">
                <a:solidFill>
                  <a:srgbClr val="22313F"/>
                </a:solidFill>
                <a:latin typeface="Arial"/>
              </a:rPr>
              <a:t>0.56</a:t>
            </a:r>
          </a:p>
        </p:txBody>
      </p:sp>
      <p:sp>
        <p:nvSpPr>
          <p:cNvPr id="86" name="Rectangle 85"/>
          <p:cNvSpPr/>
          <p:nvPr/>
        </p:nvSpPr>
        <p:spPr>
          <a:xfrm>
            <a:off x="6556248" y="3657599"/>
            <a:ext cx="1188720" cy="27432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body:86"/>
          <p:cNvSpPr txBox="1"/>
          <p:nvPr/>
        </p:nvSpPr>
        <p:spPr>
          <a:xfrm>
            <a:off x="6638544" y="3657599"/>
            <a:ext cx="1024128" cy="274320"/>
          </a:xfrm>
          <a:prstGeom prst="rect">
            <a:avLst/>
          </a:prstGeom>
          <a:noFill/>
        </p:spPr>
        <p:txBody>
          <a:bodyPr wrap="square" lIns="22860" rIns="22860" tIns="22860" bIns="22860" anchor="ctr">
            <a:spAutoFit/>
          </a:bodyPr>
          <a:lstStyle/>
          <a:p>
            <a:pPr algn="l">
              <a:lnSpc>
                <a:spcPct val="100000"/>
              </a:lnSpc>
            </a:pPr>
            <a:r>
              <a:rPr sz="1100" b="1">
                <a:solidFill>
                  <a:srgbClr val="22313F"/>
                </a:solidFill>
                <a:latin typeface="Arial"/>
              </a:rPr>
              <a:t>24</a:t>
            </a:r>
          </a:p>
        </p:txBody>
      </p:sp>
      <p:sp>
        <p:nvSpPr>
          <p:cNvPr id="88" name="Rectangle 87"/>
          <p:cNvSpPr/>
          <p:nvPr/>
        </p:nvSpPr>
        <p:spPr>
          <a:xfrm>
            <a:off x="7744968" y="3657599"/>
            <a:ext cx="1645920" cy="27432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body:88"/>
          <p:cNvSpPr txBox="1"/>
          <p:nvPr/>
        </p:nvSpPr>
        <p:spPr>
          <a:xfrm>
            <a:off x="7827264" y="3657599"/>
            <a:ext cx="1481328" cy="274320"/>
          </a:xfrm>
          <a:prstGeom prst="rect">
            <a:avLst/>
          </a:prstGeom>
          <a:noFill/>
        </p:spPr>
        <p:txBody>
          <a:bodyPr wrap="square" lIns="22860" rIns="22860" tIns="22860" bIns="22860" anchor="ctr">
            <a:spAutoFit/>
          </a:bodyPr>
          <a:lstStyle/>
          <a:p>
            <a:pPr algn="l">
              <a:lnSpc>
                <a:spcPct val="100000"/>
              </a:lnSpc>
            </a:pPr>
            <a:r>
              <a:rPr sz="1100" b="0">
                <a:solidFill>
                  <a:srgbClr val="22313F"/>
                </a:solidFill>
                <a:latin typeface="Arial"/>
              </a:rPr>
              <a:t>0.46</a:t>
            </a:r>
          </a:p>
        </p:txBody>
      </p:sp>
      <p:sp>
        <p:nvSpPr>
          <p:cNvPr id="90" name="Rectangle 89"/>
          <p:cNvSpPr/>
          <p:nvPr/>
        </p:nvSpPr>
        <p:spPr>
          <a:xfrm>
            <a:off x="9390888" y="3657599"/>
            <a:ext cx="1645920" cy="27432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body:90"/>
          <p:cNvSpPr txBox="1"/>
          <p:nvPr/>
        </p:nvSpPr>
        <p:spPr>
          <a:xfrm>
            <a:off x="9473184" y="3657599"/>
            <a:ext cx="1481328" cy="274320"/>
          </a:xfrm>
          <a:prstGeom prst="rect">
            <a:avLst/>
          </a:prstGeom>
          <a:noFill/>
        </p:spPr>
        <p:txBody>
          <a:bodyPr wrap="square" lIns="22860" rIns="22860" tIns="22860" bIns="22860" anchor="ctr">
            <a:spAutoFit/>
          </a:bodyPr>
          <a:lstStyle/>
          <a:p>
            <a:pPr algn="l">
              <a:lnSpc>
                <a:spcPct val="100000"/>
              </a:lnSpc>
            </a:pPr>
            <a:r>
              <a:rPr sz="1100" b="0">
                <a:solidFill>
                  <a:srgbClr val="22313F"/>
                </a:solidFill>
                <a:latin typeface="Arial"/>
              </a:rPr>
              <a:t>0.79</a:t>
            </a:r>
          </a:p>
        </p:txBody>
      </p:sp>
      <p:sp>
        <p:nvSpPr>
          <p:cNvPr id="92" name="Rectangle 91"/>
          <p:cNvSpPr/>
          <p:nvPr/>
        </p:nvSpPr>
        <p:spPr>
          <a:xfrm>
            <a:off x="6556248" y="3931920"/>
            <a:ext cx="11887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body:92"/>
          <p:cNvSpPr txBox="1"/>
          <p:nvPr/>
        </p:nvSpPr>
        <p:spPr>
          <a:xfrm>
            <a:off x="6638544" y="3931920"/>
            <a:ext cx="1024128" cy="274320"/>
          </a:xfrm>
          <a:prstGeom prst="rect">
            <a:avLst/>
          </a:prstGeom>
          <a:noFill/>
        </p:spPr>
        <p:txBody>
          <a:bodyPr wrap="square" lIns="22860" rIns="22860" tIns="22860" bIns="22860" anchor="ctr">
            <a:spAutoFit/>
          </a:bodyPr>
          <a:lstStyle/>
          <a:p>
            <a:pPr algn="l">
              <a:lnSpc>
                <a:spcPct val="100000"/>
              </a:lnSpc>
            </a:pPr>
            <a:r>
              <a:rPr sz="1100" b="1">
                <a:solidFill>
                  <a:srgbClr val="22313F"/>
                </a:solidFill>
                <a:latin typeface="Arial"/>
              </a:rPr>
              <a:t>32</a:t>
            </a:r>
          </a:p>
        </p:txBody>
      </p:sp>
      <p:sp>
        <p:nvSpPr>
          <p:cNvPr id="94" name="Rectangle 93"/>
          <p:cNvSpPr/>
          <p:nvPr/>
        </p:nvSpPr>
        <p:spPr>
          <a:xfrm>
            <a:off x="7744968" y="3931920"/>
            <a:ext cx="16459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body:94"/>
          <p:cNvSpPr txBox="1"/>
          <p:nvPr/>
        </p:nvSpPr>
        <p:spPr>
          <a:xfrm>
            <a:off x="7827264" y="3931920"/>
            <a:ext cx="1481328" cy="274320"/>
          </a:xfrm>
          <a:prstGeom prst="rect">
            <a:avLst/>
          </a:prstGeom>
          <a:noFill/>
        </p:spPr>
        <p:txBody>
          <a:bodyPr wrap="square" lIns="22860" rIns="22860" tIns="22860" bIns="22860" anchor="ctr">
            <a:spAutoFit/>
          </a:bodyPr>
          <a:lstStyle/>
          <a:p>
            <a:pPr algn="l">
              <a:lnSpc>
                <a:spcPct val="100000"/>
              </a:lnSpc>
            </a:pPr>
            <a:r>
              <a:rPr sz="1100" b="0">
                <a:solidFill>
                  <a:srgbClr val="22313F"/>
                </a:solidFill>
                <a:latin typeface="Arial"/>
              </a:rPr>
              <a:t>0.62</a:t>
            </a:r>
          </a:p>
        </p:txBody>
      </p:sp>
      <p:sp>
        <p:nvSpPr>
          <p:cNvPr id="96" name="Rectangle 95"/>
          <p:cNvSpPr/>
          <p:nvPr/>
        </p:nvSpPr>
        <p:spPr>
          <a:xfrm>
            <a:off x="9390888" y="3931920"/>
            <a:ext cx="16459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body:96"/>
          <p:cNvSpPr txBox="1"/>
          <p:nvPr/>
        </p:nvSpPr>
        <p:spPr>
          <a:xfrm>
            <a:off x="9473184" y="3931920"/>
            <a:ext cx="1481328" cy="274320"/>
          </a:xfrm>
          <a:prstGeom prst="rect">
            <a:avLst/>
          </a:prstGeom>
          <a:noFill/>
        </p:spPr>
        <p:txBody>
          <a:bodyPr wrap="square" lIns="22860" rIns="22860" tIns="22860" bIns="22860" anchor="ctr">
            <a:spAutoFit/>
          </a:bodyPr>
          <a:lstStyle/>
          <a:p>
            <a:pPr algn="l">
              <a:lnSpc>
                <a:spcPct val="100000"/>
              </a:lnSpc>
            </a:pPr>
            <a:r>
              <a:rPr sz="1100" b="0">
                <a:solidFill>
                  <a:srgbClr val="22313F"/>
                </a:solidFill>
                <a:latin typeface="Arial"/>
              </a:rPr>
              <a:t>0.92</a:t>
            </a:r>
          </a:p>
        </p:txBody>
      </p:sp>
      <p:sp>
        <p:nvSpPr>
          <p:cNvPr id="98" name="Rectangle 97"/>
          <p:cNvSpPr/>
          <p:nvPr/>
        </p:nvSpPr>
        <p:spPr>
          <a:xfrm>
            <a:off x="6556248" y="4206240"/>
            <a:ext cx="1188720" cy="27432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body:98"/>
          <p:cNvSpPr txBox="1"/>
          <p:nvPr/>
        </p:nvSpPr>
        <p:spPr>
          <a:xfrm>
            <a:off x="6638544" y="4206240"/>
            <a:ext cx="1024128" cy="274320"/>
          </a:xfrm>
          <a:prstGeom prst="rect">
            <a:avLst/>
          </a:prstGeom>
          <a:noFill/>
        </p:spPr>
        <p:txBody>
          <a:bodyPr wrap="square" lIns="22860" rIns="22860" tIns="22860" bIns="22860" anchor="ctr">
            <a:spAutoFit/>
          </a:bodyPr>
          <a:lstStyle/>
          <a:p>
            <a:pPr algn="l">
              <a:lnSpc>
                <a:spcPct val="100000"/>
              </a:lnSpc>
            </a:pPr>
            <a:r>
              <a:rPr sz="1100" b="1">
                <a:solidFill>
                  <a:srgbClr val="22313F"/>
                </a:solidFill>
                <a:latin typeface="Arial"/>
              </a:rPr>
              <a:t>48</a:t>
            </a:r>
          </a:p>
        </p:txBody>
      </p:sp>
      <p:sp>
        <p:nvSpPr>
          <p:cNvPr id="100" name="Rectangle 99"/>
          <p:cNvSpPr/>
          <p:nvPr/>
        </p:nvSpPr>
        <p:spPr>
          <a:xfrm>
            <a:off x="7744968" y="4206240"/>
            <a:ext cx="1645920" cy="27432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body:100"/>
          <p:cNvSpPr txBox="1"/>
          <p:nvPr/>
        </p:nvSpPr>
        <p:spPr>
          <a:xfrm>
            <a:off x="7827264" y="4206240"/>
            <a:ext cx="1481328" cy="274320"/>
          </a:xfrm>
          <a:prstGeom prst="rect">
            <a:avLst/>
          </a:prstGeom>
          <a:noFill/>
        </p:spPr>
        <p:txBody>
          <a:bodyPr wrap="square" lIns="22860" rIns="22860" tIns="22860" bIns="22860" anchor="ctr">
            <a:spAutoFit/>
          </a:bodyPr>
          <a:lstStyle/>
          <a:p>
            <a:pPr algn="l">
              <a:lnSpc>
                <a:spcPct val="100000"/>
              </a:lnSpc>
            </a:pPr>
            <a:r>
              <a:rPr sz="1100" b="0">
                <a:solidFill>
                  <a:srgbClr val="22313F"/>
                </a:solidFill>
                <a:latin typeface="Arial"/>
              </a:rPr>
              <a:t>0.82</a:t>
            </a:r>
          </a:p>
        </p:txBody>
      </p:sp>
      <p:sp>
        <p:nvSpPr>
          <p:cNvPr id="102" name="Rectangle 101"/>
          <p:cNvSpPr/>
          <p:nvPr/>
        </p:nvSpPr>
        <p:spPr>
          <a:xfrm>
            <a:off x="9390888" y="4206240"/>
            <a:ext cx="1645920" cy="27432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body:102"/>
          <p:cNvSpPr txBox="1"/>
          <p:nvPr/>
        </p:nvSpPr>
        <p:spPr>
          <a:xfrm>
            <a:off x="9473184" y="4206240"/>
            <a:ext cx="1481328" cy="274320"/>
          </a:xfrm>
          <a:prstGeom prst="rect">
            <a:avLst/>
          </a:prstGeom>
          <a:noFill/>
        </p:spPr>
        <p:txBody>
          <a:bodyPr wrap="square" lIns="22860" rIns="22860" tIns="22860" bIns="22860" anchor="ctr">
            <a:spAutoFit/>
          </a:bodyPr>
          <a:lstStyle/>
          <a:p>
            <a:pPr algn="l">
              <a:lnSpc>
                <a:spcPct val="100000"/>
              </a:lnSpc>
            </a:pPr>
            <a:r>
              <a:rPr sz="1100" b="0">
                <a:solidFill>
                  <a:srgbClr val="22313F"/>
                </a:solidFill>
                <a:latin typeface="Arial"/>
              </a:rPr>
              <a:t>0.99</a:t>
            </a:r>
          </a:p>
        </p:txBody>
      </p:sp>
      <p:sp>
        <p:nvSpPr>
          <p:cNvPr id="104" name="body:103"/>
          <p:cNvSpPr txBox="1"/>
          <p:nvPr/>
        </p:nvSpPr>
        <p:spPr>
          <a:xfrm>
            <a:off x="6556248" y="4526280"/>
            <a:ext cx="4846320" cy="960120"/>
          </a:xfrm>
          <a:prstGeom prst="rect">
            <a:avLst/>
          </a:prstGeom>
          <a:noFill/>
        </p:spPr>
        <p:txBody>
          <a:bodyPr wrap="square" lIns="22860" rIns="22860" tIns="22860" bIns="22860" anchor="t">
            <a:spAutoFit/>
          </a:bodyPr>
          <a:lstStyle/>
          <a:p>
            <a:pPr algn="l">
              <a:lnSpc>
                <a:spcPct val="108000"/>
              </a:lnSpc>
            </a:pPr>
            <a:r>
              <a:rPr sz="1050" b="0">
                <a:solidFill>
                  <a:srgbClr val="22313F"/>
                </a:solidFill>
                <a:latin typeface="Arial"/>
              </a:rPr>
              <a:t>•  Only discordant pairs carry information; a tie between selection signals is a valid result.</a:t>
            </a:r>
          </a:p>
          <a:p>
            <a:pPr algn="l">
              <a:lnSpc>
                <a:spcPct val="108000"/>
              </a:lnSpc>
            </a:pPr>
            <a:r>
              <a:rPr sz="1050" b="0">
                <a:solidFill>
                  <a:srgbClr val="22313F"/>
                </a:solidFill>
                <a:latin typeface="Arial"/>
              </a:rPr>
              <a:t>•  Zero observed incidents is not a certified population bound; unknown outcomes are not zeros.</a:t>
            </a:r>
          </a:p>
          <a:p>
            <a:pPr algn="l">
              <a:lnSpc>
                <a:spcPct val="108000"/>
              </a:lnSpc>
            </a:pPr>
            <a:r>
              <a:rPr sz="1050" b="0">
                <a:solidFill>
                  <a:srgbClr val="22313F"/>
                </a:solidFill>
                <a:latin typeface="Arial"/>
              </a:rPr>
              <a:t>•  The chosen candidate's estimate is biased upward: confirm on held-out twins (optimizer's curse).</a:t>
            </a:r>
          </a:p>
        </p:txBody>
      </p:sp>
      <p:sp>
        <p:nvSpPr>
          <p:cNvPr id="105" name="Rounded Rectangle 104"/>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body:105"/>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Select the lowest verified-incident policy among utility-eligible candidates, then confirm it on untouched paired twins.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12 / ONLINE DECISION ALGORITHM</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Algorithm A: GRANT-LOOKAHEAD, plan inside the grant.</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Exact dynamic programming in the finite fixture first; budgeted Monte Carlo lookahead with the same grant filter for larger tasks.</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16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F8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B4602E"/>
                </a:solidFill>
                <a:latin typeface="Arial"/>
              </a:rPr>
              <a:t>PROPOSED</a:t>
            </a:r>
          </a:p>
        </p:txBody>
      </p:sp>
      <p:sp>
        <p:nvSpPr>
          <p:cNvPr id="37" name="source:36"/>
          <p:cNvSpPr txBox="1"/>
          <p:nvPr/>
        </p:nvSpPr>
        <p:spPr>
          <a:xfrm>
            <a:off x="566928" y="6400800"/>
            <a:ext cx="310896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Belief-state DP: Kaelbling et al. 1998</a:t>
            </a:r>
          </a:p>
        </p:txBody>
      </p:sp>
      <p:sp>
        <p:nvSpPr>
          <p:cNvPr id="38" name="source:37"/>
          <p:cNvSpPr txBox="1"/>
          <p:nvPr/>
        </p:nvSpPr>
        <p:spPr>
          <a:xfrm>
            <a:off x="3822191" y="6400800"/>
            <a:ext cx="25603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Sampling lookahead: POMCP 2010</a:t>
            </a:r>
          </a:p>
        </p:txBody>
      </p:sp>
      <p:sp>
        <p:nvSpPr>
          <p:cNvPr id="39" name="source:38"/>
          <p:cNvSpPr txBox="1"/>
          <p:nvPr/>
        </p:nvSpPr>
        <p:spPr>
          <a:xfrm>
            <a:off x="6528816" y="6400800"/>
            <a:ext cx="27432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4"/>
              </a:rPr>
              <a:t>Enforcement precedent: CaMeL 2025</a:t>
            </a:r>
          </a:p>
        </p:txBody>
      </p:sp>
      <p:sp>
        <p:nvSpPr>
          <p:cNvPr id="40" name="Rectangle 39"/>
          <p:cNvSpPr/>
          <p:nvPr/>
        </p:nvSpPr>
        <p:spPr>
          <a:xfrm>
            <a:off x="566928" y="2157984"/>
            <a:ext cx="6446520" cy="338328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6928" y="2157984"/>
            <a:ext cx="64008" cy="338328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ode:41"/>
          <p:cNvSpPr txBox="1"/>
          <p:nvPr/>
        </p:nvSpPr>
        <p:spPr>
          <a:xfrm>
            <a:off x="768096" y="2267712"/>
            <a:ext cx="6135624" cy="3163824"/>
          </a:xfrm>
          <a:prstGeom prst="rect">
            <a:avLst/>
          </a:prstGeom>
          <a:noFill/>
        </p:spPr>
        <p:txBody>
          <a:bodyPr wrap="none" lIns="18288" rIns="18288" tIns="18288" bIns="18288" anchor="t">
            <a:spAutoFit/>
          </a:bodyPr>
          <a:lstStyle/>
          <a:p>
            <a:pPr>
              <a:lnSpc>
                <a:spcPct val="118000"/>
              </a:lnSpc>
            </a:pPr>
            <a:r>
              <a:rPr sz="1100">
                <a:solidFill>
                  <a:srgbClr val="FFFFFF"/>
                </a:solidFill>
                <a:latin typeface="Menlo"/>
              </a:rPr>
              <a:t>GRANT-LOOKAHEAD(g, h, T, O, u, c, k, H)</a:t>
            </a:r>
          </a:p>
          <a:p>
            <a:pPr>
              <a:lnSpc>
                <a:spcPct val="118000"/>
              </a:lnSpc>
            </a:pPr>
            <a:r>
              <a:rPr sz="1100">
                <a:solidFill>
                  <a:srgbClr val="FFFFFF"/>
                </a:solidFill>
                <a:latin typeface="Menlo"/>
              </a:rPr>
              <a:t>  b &lt;- FILTER(prior, h)                 # Bayes on feasibility only</a:t>
            </a:r>
          </a:p>
          <a:p>
            <a:pPr>
              <a:lnSpc>
                <a:spcPct val="118000"/>
              </a:lnSpc>
            </a:pPr>
            <a:r>
              <a:rPr sz="1100">
                <a:solidFill>
                  <a:srgbClr val="FFFFFF"/>
                </a:solidFill>
                <a:latin typeface="Menlo"/>
              </a:rPr>
              <a:t>  loop until terminal:</a:t>
            </a:r>
          </a:p>
          <a:p>
            <a:pPr>
              <a:lnSpc>
                <a:spcPct val="118000"/>
              </a:lnSpc>
            </a:pPr>
            <a:r>
              <a:rPr sz="1100">
                <a:solidFill>
                  <a:srgbClr val="FFFFFF"/>
                </a:solidFill>
                <a:latin typeface="Menlo"/>
              </a:rPr>
              <a:t>    C &lt;- {a in A(g): kappa(a) &lt;= k}     # permitted exec / probes</a:t>
            </a:r>
          </a:p>
          <a:p>
            <a:pPr>
              <a:lnSpc>
                <a:spcPct val="118000"/>
              </a:lnSpc>
            </a:pPr>
            <a:r>
              <a:rPr sz="1100">
                <a:solidFill>
                  <a:srgbClr val="FFFFFF"/>
                </a:solidFill>
                <a:latin typeface="Menlo"/>
              </a:rPr>
              <a:t>         U {ASK(r): r not in g} U {STOP}</a:t>
            </a:r>
          </a:p>
          <a:p>
            <a:pPr>
              <a:lnSpc>
                <a:spcPct val="118000"/>
              </a:lnSpc>
            </a:pPr>
            <a:r>
              <a:rPr sz="1100">
                <a:solidFill>
                  <a:srgbClr val="FFFFFF"/>
                </a:solidFill>
                <a:latin typeface="Menlo"/>
              </a:rPr>
              <a:t>    for a in C:</a:t>
            </a:r>
          </a:p>
          <a:p>
            <a:pPr>
              <a:lnSpc>
                <a:spcPct val="118000"/>
              </a:lnSpc>
            </a:pPr>
            <a:r>
              <a:rPr sz="1100">
                <a:solidFill>
                  <a:srgbClr val="FFFFFF"/>
                </a:solidFill>
                <a:latin typeface="Menlo"/>
              </a:rPr>
              <a:t>      Q(a) &lt;- E_b[r(x,a) - c(a)]</a:t>
            </a:r>
          </a:p>
          <a:p>
            <a:pPr>
              <a:lnSpc>
                <a:spcPct val="118000"/>
              </a:lnSpc>
            </a:pPr>
            <a:r>
              <a:rPr sz="1100">
                <a:solidFill>
                  <a:srgbClr val="FFFFFF"/>
                </a:solidFill>
                <a:latin typeface="Menlo"/>
              </a:rPr>
              <a:t>            + E_o[ V_(H-1)(b'(o), g'(a,o), k - kappa(a)) ]</a:t>
            </a:r>
          </a:p>
          <a:p>
            <a:pPr>
              <a:lnSpc>
                <a:spcPct val="118000"/>
              </a:lnSpc>
            </a:pPr>
            <a:r>
              <a:rPr sz="1100">
                <a:solidFill>
                  <a:srgbClr val="B9C8D8"/>
                </a:solidFill>
                <a:latin typeface="Menlo"/>
              </a:rPr>
              <a:t>            # g'(a,o) = g unless a = ASK and o is a trusted grant</a:t>
            </a:r>
          </a:p>
          <a:p>
            <a:pPr>
              <a:lnSpc>
                <a:spcPct val="118000"/>
              </a:lnSpc>
            </a:pPr>
            <a:r>
              <a:rPr sz="1100">
                <a:solidFill>
                  <a:srgbClr val="FFFFFF"/>
                </a:solidFill>
                <a:latin typeface="Menlo"/>
              </a:rPr>
              <a:t>    a* &lt;- argmax Q(a); ties -&gt; terminal actions</a:t>
            </a:r>
          </a:p>
          <a:p>
            <a:pPr>
              <a:lnSpc>
                <a:spcPct val="118000"/>
              </a:lnSpc>
            </a:pPr>
            <a:r>
              <a:rPr sz="1100">
                <a:solidFill>
                  <a:srgbClr val="FFFFFF"/>
                </a:solidFill>
                <a:latin typeface="Menlo"/>
              </a:rPr>
              <a:t>    if BROKER(a*, g) = DENY: log attempt; C &lt;- C \ {a*}; continue</a:t>
            </a:r>
          </a:p>
          <a:p>
            <a:pPr>
              <a:lnSpc>
                <a:spcPct val="118000"/>
              </a:lnSpc>
            </a:pPr>
            <a:r>
              <a:rPr sz="1100">
                <a:solidFill>
                  <a:srgbClr val="FFFFFF"/>
                </a:solidFill>
                <a:latin typeface="Menlo"/>
              </a:rPr>
              <a:t>    o &lt;- EXECUTE(a*); JOURNAL(effects(a*)); k &lt;- k - kappa(a*)</a:t>
            </a:r>
          </a:p>
          <a:p>
            <a:pPr>
              <a:lnSpc>
                <a:spcPct val="118000"/>
              </a:lnSpc>
            </a:pPr>
            <a:r>
              <a:rPr sz="1100">
                <a:solidFill>
                  <a:srgbClr val="FFFFFF"/>
                </a:solidFill>
                <a:latin typeface="Menlo"/>
              </a:rPr>
              <a:t>    b &lt;- FILTER(b, a*, o); g &lt;- g'(a*, o); h &lt;- h + (a*, o)</a:t>
            </a:r>
          </a:p>
          <a:p>
            <a:pPr>
              <a:lnSpc>
                <a:spcPct val="118000"/>
              </a:lnSpc>
            </a:pPr>
            <a:r>
              <a:rPr sz="1100">
                <a:solidFill>
                  <a:srgbClr val="FFFFFF"/>
                </a:solidFill>
                <a:latin typeface="Menlo"/>
              </a:rPr>
              <a:t>  return STOP(evidence = h)</a:t>
            </a:r>
          </a:p>
        </p:txBody>
      </p:sp>
      <p:sp>
        <p:nvSpPr>
          <p:cNvPr id="43" name="Rectangle 42"/>
          <p:cNvSpPr/>
          <p:nvPr/>
        </p:nvSpPr>
        <p:spPr>
          <a:xfrm>
            <a:off x="7178040" y="2157984"/>
            <a:ext cx="4443984" cy="33832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178040" y="2157984"/>
            <a:ext cx="64008" cy="338328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ody:44"/>
          <p:cNvSpPr txBox="1"/>
          <p:nvPr/>
        </p:nvSpPr>
        <p:spPr>
          <a:xfrm>
            <a:off x="7360920" y="2231136"/>
            <a:ext cx="4114800" cy="310896"/>
          </a:xfrm>
          <a:prstGeom prst="rect">
            <a:avLst/>
          </a:prstGeom>
          <a:noFill/>
        </p:spPr>
        <p:txBody>
          <a:bodyPr wrap="square" lIns="22860" rIns="22860" tIns="22860" bIns="22860" anchor="ctr">
            <a:spAutoFit/>
          </a:bodyPr>
          <a:lstStyle/>
          <a:p>
            <a:pPr algn="l">
              <a:lnSpc>
                <a:spcPct val="108000"/>
              </a:lnSpc>
            </a:pPr>
            <a:r>
              <a:rPr sz="1500" b="1">
                <a:solidFill>
                  <a:srgbClr val="1E7A72"/>
                </a:solidFill>
                <a:latin typeface="Arial"/>
              </a:rPr>
              <a:t>Properties</a:t>
            </a:r>
          </a:p>
        </p:txBody>
      </p:sp>
      <p:sp>
        <p:nvSpPr>
          <p:cNvPr id="46" name="body:45"/>
          <p:cNvSpPr txBox="1"/>
          <p:nvPr/>
        </p:nvSpPr>
        <p:spPr>
          <a:xfrm>
            <a:off x="7360920" y="2560320"/>
            <a:ext cx="4114800" cy="2926080"/>
          </a:xfrm>
          <a:prstGeom prst="rect">
            <a:avLst/>
          </a:prstGeom>
          <a:noFill/>
        </p:spPr>
        <p:txBody>
          <a:bodyPr wrap="square" lIns="22860" rIns="22860" tIns="22860" bIns="22860" anchor="t">
            <a:spAutoFit/>
          </a:bodyPr>
          <a:lstStyle/>
          <a:p>
            <a:pPr algn="l">
              <a:lnSpc>
                <a:spcPct val="110000"/>
              </a:lnSpc>
            </a:pPr>
            <a:r>
              <a:rPr sz="1100" b="0">
                <a:solidFill>
                  <a:srgbClr val="22313F"/>
                </a:solidFill>
                <a:latin typeface="Arial"/>
              </a:rPr>
              <a:t>1  Under complete mediation and a correct effect model, no executed effect lies outside A(g</a:t>
            </a:r>
            <a:r>
              <a:rPr sz="1100" b="0" baseline="-25000">
                <a:solidFill>
                  <a:srgbClr val="22313F"/>
                </a:solidFill>
                <a:latin typeface="Arial"/>
              </a:rPr>
              <a:t>t</a:t>
            </a:r>
            <a:r>
              <a:rPr sz="1100" b="0">
                <a:solidFill>
                  <a:srgbClr val="22313F"/>
                </a:solidFill>
                <a:latin typeface="Arial"/>
              </a:rPr>
              <a:t>): the broker is the shield, the planner is not trusted for safety.</a:t>
            </a:r>
          </a:p>
          <a:p>
            <a:pPr algn="l">
              <a:lnSpc>
                <a:spcPct val="110000"/>
              </a:lnSpc>
            </a:pPr>
            <a:r>
              <a:rPr sz="1100" b="0">
                <a:solidFill>
                  <a:srgbClr val="22313F"/>
                </a:solidFill>
                <a:latin typeface="Arial"/>
              </a:rPr>
              <a:t>2  Exact DP has zero regret in the finite fixture; V* is the normative reference, not a clairvoyant policy.</a:t>
            </a:r>
          </a:p>
          <a:p>
            <a:pPr algn="l">
              <a:lnSpc>
                <a:spcPct val="110000"/>
              </a:lnSpc>
            </a:pPr>
            <a:r>
              <a:rPr sz="1100" b="0">
                <a:solidFill>
                  <a:srgbClr val="22313F"/>
                </a:solidFill>
                <a:latin typeface="Arial"/>
              </a:rPr>
              <a:t>3  Cost O(H · |A| · |O| · |B|) over a discretised belief; beyond that, fixed-budget beam or Monte Carlo lookahead with the same A(g) filter at every node.</a:t>
            </a:r>
          </a:p>
          <a:p>
            <a:pPr algn="l">
              <a:lnSpc>
                <a:spcPct val="110000"/>
              </a:lnSpc>
            </a:pPr>
            <a:r>
              <a:rPr sz="1100" b="0">
                <a:solidFill>
                  <a:srgbClr val="22313F"/>
                </a:solidFill>
                <a:latin typeface="Arial"/>
              </a:rPr>
              <a:t>4  Requests are planned: ASK enters Q with cost d and response probability q, so the planner asks when authority must change and not otherwise.</a:t>
            </a:r>
          </a:p>
          <a:p>
            <a:pPr algn="l">
              <a:lnSpc>
                <a:spcPct val="110000"/>
              </a:lnSpc>
            </a:pPr>
            <a:r>
              <a:rPr sz="1100" b="0">
                <a:solidFill>
                  <a:srgbClr val="22313F"/>
                </a:solidFill>
                <a:latin typeface="Arial"/>
              </a:rPr>
              <a:t>5  Calibration is an input: T, O estimated on development data; an LLM confidence statement is not a posterior.</a:t>
            </a:r>
          </a:p>
        </p:txBody>
      </p:sp>
      <p:sp>
        <p:nvSpPr>
          <p:cNvPr id="47" name="Rounded Rectangle 46"/>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ody:47"/>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Plan for utility; enforce scope before execution; measure effects independently. Three functions, three components.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13 / OFFLINE POLICY SELECTION</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Algorithm B: INCIDENT-SELECT, choose by verified effects.</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Does better incident evidence change which controller is selected, and does the selected controller behave better on new tasks?</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17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F8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B4602E"/>
                </a:solidFill>
                <a:latin typeface="Arial"/>
              </a:rPr>
              <a:t>PROPOSED</a:t>
            </a:r>
          </a:p>
        </p:txBody>
      </p:sp>
      <p:sp>
        <p:nvSpPr>
          <p:cNvPr id="37" name="source:36"/>
          <p:cNvSpPr txBox="1"/>
          <p:nvPr/>
        </p:nvSpPr>
        <p:spPr>
          <a:xfrm>
            <a:off x="566928" y="6400800"/>
            <a:ext cx="310896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Arms B0–B4 and the primary contrast</a:t>
            </a:r>
          </a:p>
        </p:txBody>
      </p:sp>
      <p:sp>
        <p:nvSpPr>
          <p:cNvPr id="38" name="source:37"/>
          <p:cNvSpPr txBox="1"/>
          <p:nvPr/>
        </p:nvSpPr>
        <p:spPr>
          <a:xfrm>
            <a:off x="3822191" y="6400800"/>
            <a:ext cx="310896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Closest overlap: ImpossibleBench §§5–6</a:t>
            </a:r>
          </a:p>
        </p:txBody>
      </p:sp>
      <p:sp>
        <p:nvSpPr>
          <p:cNvPr id="39" name="source:38"/>
          <p:cNvSpPr txBox="1"/>
          <p:nvPr/>
        </p:nvSpPr>
        <p:spPr>
          <a:xfrm>
            <a:off x="7077456" y="6400800"/>
            <a:ext cx="18288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4"/>
              </a:rPr>
              <a:t>Prior work comparison</a:t>
            </a:r>
          </a:p>
        </p:txBody>
      </p:sp>
      <p:sp>
        <p:nvSpPr>
          <p:cNvPr id="40" name="Rectangle 39"/>
          <p:cNvSpPr/>
          <p:nvPr/>
        </p:nvSpPr>
        <p:spPr>
          <a:xfrm>
            <a:off x="566928" y="2157984"/>
            <a:ext cx="6446520" cy="338328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6928" y="2157984"/>
            <a:ext cx="64008" cy="338328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ode:41"/>
          <p:cNvSpPr txBox="1"/>
          <p:nvPr/>
        </p:nvSpPr>
        <p:spPr>
          <a:xfrm>
            <a:off x="768096" y="2267712"/>
            <a:ext cx="6135624" cy="3163824"/>
          </a:xfrm>
          <a:prstGeom prst="rect">
            <a:avLst/>
          </a:prstGeom>
          <a:noFill/>
        </p:spPr>
        <p:txBody>
          <a:bodyPr wrap="none" lIns="18288" rIns="18288" tIns="18288" bIns="18288" anchor="t">
            <a:spAutoFit/>
          </a:bodyPr>
          <a:lstStyle/>
          <a:p>
            <a:pPr>
              <a:lnSpc>
                <a:spcPct val="118000"/>
              </a:lnSpc>
            </a:pPr>
            <a:r>
              <a:rPr sz="1100">
                <a:solidFill>
                  <a:srgbClr val="FFFFFF"/>
                </a:solidFill>
                <a:latin typeface="Menlo"/>
              </a:rPr>
              <a:t>INCIDENT-SELECT(Theta, D_dev, S, theta_0, delta_U, B_run, alpha_F)</a:t>
            </a:r>
          </a:p>
          <a:p>
            <a:pPr>
              <a:lnSpc>
                <a:spcPct val="118000"/>
              </a:lnSpc>
            </a:pPr>
            <a:r>
              <a:rPr sz="1100">
                <a:solidFill>
                  <a:srgbClr val="B9C8D8"/>
                </a:solidFill>
                <a:latin typeface="Menlo"/>
              </a:rPr>
              <a:t>  # Theta: K frozen candidates; S in {T, T+J, J*} selection signal</a:t>
            </a:r>
          </a:p>
          <a:p>
            <a:pPr>
              <a:lnSpc>
                <a:spcPct val="118000"/>
              </a:lnSpc>
            </a:pPr>
            <a:r>
              <a:rPr sz="1100">
                <a:solidFill>
                  <a:srgbClr val="FFFFFF"/>
                </a:solidFill>
                <a:latin typeface="Menlo"/>
              </a:rPr>
              <a:t>  for theta in Theta:</a:t>
            </a:r>
          </a:p>
          <a:p>
            <a:pPr>
              <a:lnSpc>
                <a:spcPct val="118000"/>
              </a:lnSpc>
            </a:pPr>
            <a:r>
              <a:rPr sz="1100">
                <a:solidFill>
                  <a:srgbClr val="FFFFFF"/>
                </a:solidFill>
                <a:latin typeface="Menlo"/>
              </a:rPr>
              <a:t>    tau &lt;- ROLLOUT(theta, D_dev, shared seeds)   # reused for every S</a:t>
            </a:r>
          </a:p>
          <a:p>
            <a:pPr>
              <a:lnSpc>
                <a:spcPct val="118000"/>
              </a:lnSpc>
            </a:pPr>
            <a:r>
              <a:rPr sz="1100">
                <a:solidFill>
                  <a:srgbClr val="FFFFFF"/>
                </a:solidFill>
                <a:latin typeface="Menlo"/>
              </a:rPr>
              <a:t>    U_hat, C_hat, F_hat &lt;- COMMON_SCORER(tau)</a:t>
            </a:r>
          </a:p>
          <a:p>
            <a:pPr>
              <a:lnSpc>
                <a:spcPct val="118000"/>
              </a:lnSpc>
            </a:pPr>
            <a:r>
              <a:rPr sz="1100">
                <a:solidFill>
                  <a:srgbClr val="FFFFFF"/>
                </a:solidFill>
                <a:latin typeface="Menlo"/>
              </a:rPr>
              <a:t>    R_hat_S(theta) &lt;- INCIDENT_ESTIMATE(tau, S)</a:t>
            </a:r>
          </a:p>
          <a:p>
            <a:pPr>
              <a:lnSpc>
                <a:spcPct val="118000"/>
              </a:lnSpc>
            </a:pPr>
            <a:r>
              <a:rPr sz="1100">
                <a:solidFill>
                  <a:srgbClr val="FFFFFF"/>
                </a:solidFill>
                <a:latin typeface="Menlo"/>
              </a:rPr>
              <a:t>  E &lt;- {theta: U_hat &gt;= U_hat(theta_0) - delta_U,</a:t>
            </a:r>
          </a:p>
          <a:p>
            <a:pPr>
              <a:lnSpc>
                <a:spcPct val="118000"/>
              </a:lnSpc>
            </a:pPr>
            <a:r>
              <a:rPr sz="1100">
                <a:solidFill>
                  <a:srgbClr val="FFFFFF"/>
                </a:solidFill>
                <a:latin typeface="Menlo"/>
              </a:rPr>
              <a:t>               C_hat &lt;= B_run, F_hat &lt;= alpha_F}</a:t>
            </a:r>
          </a:p>
          <a:p>
            <a:pPr>
              <a:lnSpc>
                <a:spcPct val="118000"/>
              </a:lnSpc>
            </a:pPr>
            <a:r>
              <a:rPr sz="1100">
                <a:solidFill>
                  <a:srgbClr val="FFFFFF"/>
                </a:solidFill>
                <a:latin typeface="Menlo"/>
              </a:rPr>
              <a:t>  if E = {}: return theta_0           # no improvement claim</a:t>
            </a:r>
          </a:p>
          <a:p>
            <a:pPr>
              <a:lnSpc>
                <a:spcPct val="118000"/>
              </a:lnSpc>
            </a:pPr>
            <a:r>
              <a:rPr sz="1100">
                <a:solidFill>
                  <a:srgbClr val="FFFFFF"/>
                </a:solidFill>
                <a:latin typeface="Menlo"/>
              </a:rPr>
              <a:t>  theta_S &lt;- argmin_{theta in E} R_hat_S(theta)   # fixed tie-break</a:t>
            </a:r>
          </a:p>
          <a:p>
            <a:pPr>
              <a:lnSpc>
                <a:spcPct val="118000"/>
              </a:lnSpc>
            </a:pPr>
            <a:r>
              <a:rPr sz="1100">
                <a:solidFill>
                  <a:srgbClr val="FFFFFF"/>
                </a:solidFill>
                <a:latin typeface="Menlo"/>
              </a:rPr>
              <a:t>  FREEZE(theta_S)</a:t>
            </a:r>
          </a:p>
          <a:p>
            <a:pPr>
              <a:lnSpc>
                <a:spcPct val="118000"/>
              </a:lnSpc>
            </a:pPr>
            <a:r>
              <a:rPr sz="1100">
                <a:solidFill>
                  <a:srgbClr val="FFFFFF"/>
                </a:solidFill>
                <a:latin typeface="Menlo"/>
              </a:rPr>
              <a:t>  return EVALUATE(theta_S, D_test, J*)  # untouched lineages,</a:t>
            </a:r>
          </a:p>
          <a:p>
            <a:pPr>
              <a:lnSpc>
                <a:spcPct val="118000"/>
              </a:lnSpc>
            </a:pPr>
            <a:r>
              <a:rPr sz="1100">
                <a:solidFill>
                  <a:srgbClr val="B9C8D8"/>
                </a:solidFill>
                <a:latin typeface="Menlo"/>
              </a:rPr>
              <a:t>                                        # effect oracle, paired</a:t>
            </a:r>
          </a:p>
        </p:txBody>
      </p:sp>
      <p:sp>
        <p:nvSpPr>
          <p:cNvPr id="43" name="Rounded Rectangle 42"/>
          <p:cNvSpPr/>
          <p:nvPr/>
        </p:nvSpPr>
        <p:spPr>
          <a:xfrm>
            <a:off x="7178040" y="2157984"/>
            <a:ext cx="4443984" cy="530352"/>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ody:43"/>
          <p:cNvSpPr txBox="1"/>
          <p:nvPr/>
        </p:nvSpPr>
        <p:spPr>
          <a:xfrm>
            <a:off x="7333488" y="2231136"/>
            <a:ext cx="914400" cy="384048"/>
          </a:xfrm>
          <a:prstGeom prst="rect">
            <a:avLst/>
          </a:prstGeom>
          <a:noFill/>
        </p:spPr>
        <p:txBody>
          <a:bodyPr wrap="square" lIns="22860" rIns="22860" tIns="22860" bIns="22860" anchor="ctr">
            <a:spAutoFit/>
          </a:bodyPr>
          <a:lstStyle/>
          <a:p>
            <a:pPr algn="l">
              <a:lnSpc>
                <a:spcPct val="108000"/>
              </a:lnSpc>
            </a:pPr>
            <a:r>
              <a:rPr sz="1700" b="1">
                <a:solidFill>
                  <a:srgbClr val="3A6391"/>
                </a:solidFill>
                <a:latin typeface="Arial"/>
              </a:rPr>
              <a:t>T</a:t>
            </a:r>
          </a:p>
        </p:txBody>
      </p:sp>
      <p:sp>
        <p:nvSpPr>
          <p:cNvPr id="45" name="body:44"/>
          <p:cNvSpPr txBox="1"/>
          <p:nvPr/>
        </p:nvSpPr>
        <p:spPr>
          <a:xfrm>
            <a:off x="8275320" y="2231136"/>
            <a:ext cx="3291840" cy="384048"/>
          </a:xfrm>
          <a:prstGeom prst="rect">
            <a:avLst/>
          </a:prstGeom>
          <a:noFill/>
        </p:spPr>
        <p:txBody>
          <a:bodyPr wrap="square" lIns="22860" rIns="22860" tIns="22860" bIns="22860" anchor="ctr">
            <a:spAutoFit/>
          </a:bodyPr>
          <a:lstStyle/>
          <a:p>
            <a:pPr algn="l">
              <a:lnSpc>
                <a:spcPct val="108000"/>
              </a:lnSpc>
            </a:pPr>
            <a:r>
              <a:rPr sz="1200" b="0">
                <a:solidFill>
                  <a:srgbClr val="22313F"/>
                </a:solidFill>
                <a:latin typeface="Arial"/>
              </a:rPr>
              <a:t>Transcript judge</a:t>
            </a:r>
          </a:p>
        </p:txBody>
      </p:sp>
      <p:sp>
        <p:nvSpPr>
          <p:cNvPr id="46" name="Rounded Rectangle 45"/>
          <p:cNvSpPr/>
          <p:nvPr/>
        </p:nvSpPr>
        <p:spPr>
          <a:xfrm>
            <a:off x="7178040" y="2798063"/>
            <a:ext cx="4443984" cy="530352"/>
          </a:xfrm>
          <a:prstGeom prst="roundRect">
            <a:avLst>
              <a:gd name="adj" fmla="val 5000"/>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ody:46"/>
          <p:cNvSpPr txBox="1"/>
          <p:nvPr/>
        </p:nvSpPr>
        <p:spPr>
          <a:xfrm>
            <a:off x="7333488" y="2871215"/>
            <a:ext cx="914400" cy="384048"/>
          </a:xfrm>
          <a:prstGeom prst="rect">
            <a:avLst/>
          </a:prstGeom>
          <a:noFill/>
        </p:spPr>
        <p:txBody>
          <a:bodyPr wrap="square" lIns="22860" rIns="22860" tIns="22860" bIns="22860" anchor="ctr">
            <a:spAutoFit/>
          </a:bodyPr>
          <a:lstStyle/>
          <a:p>
            <a:pPr algn="l">
              <a:lnSpc>
                <a:spcPct val="108000"/>
              </a:lnSpc>
            </a:pPr>
            <a:r>
              <a:rPr sz="1700" b="1">
                <a:solidFill>
                  <a:srgbClr val="1E7A72"/>
                </a:solidFill>
                <a:latin typeface="Arial"/>
              </a:rPr>
              <a:t>T + J</a:t>
            </a:r>
          </a:p>
        </p:txBody>
      </p:sp>
      <p:sp>
        <p:nvSpPr>
          <p:cNvPr id="48" name="body:47"/>
          <p:cNvSpPr txBox="1"/>
          <p:nvPr/>
        </p:nvSpPr>
        <p:spPr>
          <a:xfrm>
            <a:off x="8275320" y="2871215"/>
            <a:ext cx="3291840" cy="384048"/>
          </a:xfrm>
          <a:prstGeom prst="rect">
            <a:avLst/>
          </a:prstGeom>
          <a:noFill/>
        </p:spPr>
        <p:txBody>
          <a:bodyPr wrap="square" lIns="22860" rIns="22860" tIns="22860" bIns="22860" anchor="ctr">
            <a:spAutoFit/>
          </a:bodyPr>
          <a:lstStyle/>
          <a:p>
            <a:pPr algn="l">
              <a:lnSpc>
                <a:spcPct val="108000"/>
              </a:lnSpc>
            </a:pPr>
            <a:r>
              <a:rPr sz="1200" b="0">
                <a:solidFill>
                  <a:srgbClr val="22313F"/>
                </a:solidFill>
                <a:latin typeface="Arial"/>
              </a:rPr>
              <a:t>Same judge + effect journal</a:t>
            </a:r>
          </a:p>
        </p:txBody>
      </p:sp>
      <p:sp>
        <p:nvSpPr>
          <p:cNvPr id="49" name="Rounded Rectangle 48"/>
          <p:cNvSpPr/>
          <p:nvPr/>
        </p:nvSpPr>
        <p:spPr>
          <a:xfrm>
            <a:off x="7178040" y="3438144"/>
            <a:ext cx="4443984" cy="530352"/>
          </a:xfrm>
          <a:prstGeom prst="roundRect">
            <a:avLst>
              <a:gd name="adj" fmla="val 5000"/>
            </a:avLst>
          </a:prstGeom>
          <a:solidFill>
            <a:srgbClr val="EE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ody:49"/>
          <p:cNvSpPr txBox="1"/>
          <p:nvPr/>
        </p:nvSpPr>
        <p:spPr>
          <a:xfrm>
            <a:off x="7333488" y="3511296"/>
            <a:ext cx="914400" cy="384048"/>
          </a:xfrm>
          <a:prstGeom prst="rect">
            <a:avLst/>
          </a:prstGeom>
          <a:noFill/>
        </p:spPr>
        <p:txBody>
          <a:bodyPr wrap="square" lIns="22860" rIns="22860" tIns="22860" bIns="22860" anchor="ctr">
            <a:spAutoFit/>
          </a:bodyPr>
          <a:lstStyle/>
          <a:p>
            <a:pPr algn="l">
              <a:lnSpc>
                <a:spcPct val="108000"/>
              </a:lnSpc>
            </a:pPr>
            <a:r>
              <a:rPr sz="1700" b="1">
                <a:solidFill>
                  <a:srgbClr val="6A4C93"/>
                </a:solidFill>
                <a:latin typeface="Arial"/>
              </a:rPr>
              <a:t>J*</a:t>
            </a:r>
          </a:p>
        </p:txBody>
      </p:sp>
      <p:sp>
        <p:nvSpPr>
          <p:cNvPr id="51" name="body:50"/>
          <p:cNvSpPr txBox="1"/>
          <p:nvPr/>
        </p:nvSpPr>
        <p:spPr>
          <a:xfrm>
            <a:off x="8275320" y="3511296"/>
            <a:ext cx="3291840" cy="384048"/>
          </a:xfrm>
          <a:prstGeom prst="rect">
            <a:avLst/>
          </a:prstGeom>
          <a:noFill/>
        </p:spPr>
        <p:txBody>
          <a:bodyPr wrap="square" lIns="22860" rIns="22860" tIns="22860" bIns="22860" anchor="ctr">
            <a:spAutoFit/>
          </a:bodyPr>
          <a:lstStyle/>
          <a:p>
            <a:pPr algn="l">
              <a:lnSpc>
                <a:spcPct val="108000"/>
              </a:lnSpc>
            </a:pPr>
            <a:r>
              <a:rPr sz="1200" b="0">
                <a:solidFill>
                  <a:srgbClr val="22313F"/>
                </a:solidFill>
                <a:latin typeface="Arial"/>
              </a:rPr>
              <a:t>Exact local effect oracle</a:t>
            </a:r>
          </a:p>
        </p:txBody>
      </p:sp>
      <p:sp>
        <p:nvSpPr>
          <p:cNvPr id="52" name="Rectangle 51"/>
          <p:cNvSpPr/>
          <p:nvPr/>
        </p:nvSpPr>
        <p:spPr>
          <a:xfrm>
            <a:off x="7178040" y="4078224"/>
            <a:ext cx="4443984" cy="146304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ody:52"/>
          <p:cNvSpPr txBox="1"/>
          <p:nvPr/>
        </p:nvSpPr>
        <p:spPr>
          <a:xfrm>
            <a:off x="7333488" y="4133087"/>
            <a:ext cx="4160520" cy="1371600"/>
          </a:xfrm>
          <a:prstGeom prst="rect">
            <a:avLst/>
          </a:prstGeom>
          <a:noFill/>
        </p:spPr>
        <p:txBody>
          <a:bodyPr wrap="square" lIns="22860" rIns="22860" tIns="22860" bIns="22860" anchor="t">
            <a:spAutoFit/>
          </a:bodyPr>
          <a:lstStyle/>
          <a:p>
            <a:pPr algn="l">
              <a:lnSpc>
                <a:spcPct val="110000"/>
              </a:lnSpc>
            </a:pPr>
            <a:r>
              <a:rPr sz="1100" b="0">
                <a:solidFill>
                  <a:srgbClr val="22313F"/>
                </a:solidFill>
                <a:latin typeface="Arial"/>
              </a:rPr>
              <a:t>T → T+J tests evidence access. T+J → J* tests the labelling method. Eligibility is held fixed, so the contrast isolates the incident ranking signal. Matched search budget, model access and candidate trials; log unused resources. Repeat whole selections to estimate optimizer variability. A tie is a valid result.</a:t>
            </a:r>
          </a:p>
        </p:txBody>
      </p:sp>
      <p:sp>
        <p:nvSpPr>
          <p:cNvPr id="54" name="Rounded Rectangle 53"/>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ody:54"/>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Useful evidence must improve a held-out decision, not merely produce a better-looking label.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14 / COMPARISON WITH EXISTING ALGORITHMS</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How A and B differ from prior methods, point by point.</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What each method decides, how it treats the grant, how it asks, where it enforces, and what it learns from.</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18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3A6391"/>
                </a:solidFill>
                <a:latin typeface="Arial"/>
              </a:rPr>
              <a:t>THEORY</a:t>
            </a:r>
          </a:p>
        </p:txBody>
      </p:sp>
      <p:sp>
        <p:nvSpPr>
          <p:cNvPr id="37" name="source:36"/>
          <p:cNvSpPr txBox="1"/>
          <p:nvPr/>
        </p:nvSpPr>
        <p:spPr>
          <a:xfrm>
            <a:off x="566928" y="6400800"/>
            <a:ext cx="7315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POMCP</a:t>
            </a:r>
          </a:p>
        </p:txBody>
      </p:sp>
      <p:sp>
        <p:nvSpPr>
          <p:cNvPr id="38" name="source:37"/>
          <p:cNvSpPr txBox="1"/>
          <p:nvPr/>
        </p:nvSpPr>
        <p:spPr>
          <a:xfrm>
            <a:off x="1444752" y="6400800"/>
            <a:ext cx="7315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RCPO</a:t>
            </a:r>
          </a:p>
        </p:txBody>
      </p:sp>
      <p:sp>
        <p:nvSpPr>
          <p:cNvPr id="39" name="source:38"/>
          <p:cNvSpPr txBox="1"/>
          <p:nvPr/>
        </p:nvSpPr>
        <p:spPr>
          <a:xfrm>
            <a:off x="2322576" y="6400800"/>
            <a:ext cx="9144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4"/>
              </a:rPr>
              <a:t>Shielding</a:t>
            </a:r>
          </a:p>
        </p:txBody>
      </p:sp>
      <p:sp>
        <p:nvSpPr>
          <p:cNvPr id="40" name="source:39"/>
          <p:cNvSpPr txBox="1"/>
          <p:nvPr/>
        </p:nvSpPr>
        <p:spPr>
          <a:xfrm>
            <a:off x="3383280" y="6400800"/>
            <a:ext cx="7315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5"/>
              </a:rPr>
              <a:t>CaMeL</a:t>
            </a:r>
          </a:p>
        </p:txBody>
      </p:sp>
      <p:sp>
        <p:nvSpPr>
          <p:cNvPr id="41" name="source:40"/>
          <p:cNvSpPr txBox="1"/>
          <p:nvPr/>
        </p:nvSpPr>
        <p:spPr>
          <a:xfrm>
            <a:off x="4261104" y="6400800"/>
            <a:ext cx="9144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6"/>
              </a:rPr>
              <a:t>Progent</a:t>
            </a:r>
          </a:p>
        </p:txBody>
      </p:sp>
      <p:sp>
        <p:nvSpPr>
          <p:cNvPr id="42" name="source:41"/>
          <p:cNvSpPr txBox="1"/>
          <p:nvPr/>
        </p:nvSpPr>
        <p:spPr>
          <a:xfrm>
            <a:off x="5321808" y="6400800"/>
            <a:ext cx="100584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7"/>
              </a:rPr>
              <a:t>AI Control</a:t>
            </a:r>
          </a:p>
        </p:txBody>
      </p:sp>
      <p:sp>
        <p:nvSpPr>
          <p:cNvPr id="43" name="source:42"/>
          <p:cNvSpPr txBox="1"/>
          <p:nvPr/>
        </p:nvSpPr>
        <p:spPr>
          <a:xfrm>
            <a:off x="6473952" y="6400800"/>
            <a:ext cx="13716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8"/>
              </a:rPr>
              <a:t>ImpossibleBench</a:t>
            </a:r>
          </a:p>
        </p:txBody>
      </p:sp>
      <p:sp>
        <p:nvSpPr>
          <p:cNvPr id="44" name="source:43"/>
          <p:cNvSpPr txBox="1"/>
          <p:nvPr/>
        </p:nvSpPr>
        <p:spPr>
          <a:xfrm>
            <a:off x="7991856" y="6400800"/>
            <a:ext cx="237744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9"/>
              </a:rPr>
              <a:t>Project related-work notes</a:t>
            </a:r>
          </a:p>
        </p:txBody>
      </p:sp>
      <p:sp>
        <p:nvSpPr>
          <p:cNvPr id="45" name="Rectangle 44"/>
          <p:cNvSpPr/>
          <p:nvPr/>
        </p:nvSpPr>
        <p:spPr>
          <a:xfrm>
            <a:off x="566928" y="2121408"/>
            <a:ext cx="2331720" cy="34290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ody:45"/>
          <p:cNvSpPr txBox="1"/>
          <p:nvPr/>
        </p:nvSpPr>
        <p:spPr>
          <a:xfrm>
            <a:off x="649224" y="2121408"/>
            <a:ext cx="2167127" cy="342900"/>
          </a:xfrm>
          <a:prstGeom prst="rect">
            <a:avLst/>
          </a:prstGeom>
          <a:noFill/>
        </p:spPr>
        <p:txBody>
          <a:bodyPr wrap="square" lIns="22860" rIns="22860" tIns="22860" bIns="22860" anchor="ctr">
            <a:spAutoFit/>
          </a:bodyPr>
          <a:lstStyle/>
          <a:p>
            <a:pPr algn="l">
              <a:lnSpc>
                <a:spcPct val="98000"/>
              </a:lnSpc>
            </a:pPr>
            <a:r>
              <a:rPr sz="1000" b="1">
                <a:solidFill>
                  <a:srgbClr val="FFFFFF"/>
                </a:solidFill>
                <a:latin typeface="Arial"/>
              </a:rPr>
              <a:t>Method</a:t>
            </a:r>
          </a:p>
        </p:txBody>
      </p:sp>
      <p:sp>
        <p:nvSpPr>
          <p:cNvPr id="47" name="Rectangle 46"/>
          <p:cNvSpPr/>
          <p:nvPr/>
        </p:nvSpPr>
        <p:spPr>
          <a:xfrm>
            <a:off x="2898648" y="2121408"/>
            <a:ext cx="2057400" cy="34290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ody:47"/>
          <p:cNvSpPr txBox="1"/>
          <p:nvPr/>
        </p:nvSpPr>
        <p:spPr>
          <a:xfrm>
            <a:off x="2980944" y="2121408"/>
            <a:ext cx="1892807" cy="342900"/>
          </a:xfrm>
          <a:prstGeom prst="rect">
            <a:avLst/>
          </a:prstGeom>
          <a:noFill/>
        </p:spPr>
        <p:txBody>
          <a:bodyPr wrap="square" lIns="22860" rIns="22860" tIns="22860" bIns="22860" anchor="ctr">
            <a:spAutoFit/>
          </a:bodyPr>
          <a:lstStyle/>
          <a:p>
            <a:pPr algn="l">
              <a:lnSpc>
                <a:spcPct val="98000"/>
              </a:lnSpc>
            </a:pPr>
            <a:r>
              <a:rPr sz="1000" b="1">
                <a:solidFill>
                  <a:srgbClr val="FFFFFF"/>
                </a:solidFill>
                <a:latin typeface="Arial"/>
              </a:rPr>
              <a:t>Decides the next action by</a:t>
            </a:r>
          </a:p>
        </p:txBody>
      </p:sp>
      <p:sp>
        <p:nvSpPr>
          <p:cNvPr id="49" name="Rectangle 48"/>
          <p:cNvSpPr/>
          <p:nvPr/>
        </p:nvSpPr>
        <p:spPr>
          <a:xfrm>
            <a:off x="4956048" y="2121408"/>
            <a:ext cx="2148840" cy="34290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ody:49"/>
          <p:cNvSpPr txBox="1"/>
          <p:nvPr/>
        </p:nvSpPr>
        <p:spPr>
          <a:xfrm>
            <a:off x="5038344" y="2121408"/>
            <a:ext cx="1984248" cy="342900"/>
          </a:xfrm>
          <a:prstGeom prst="rect">
            <a:avLst/>
          </a:prstGeom>
          <a:noFill/>
        </p:spPr>
        <p:txBody>
          <a:bodyPr wrap="square" lIns="22860" rIns="22860" tIns="22860" bIns="22860" anchor="ctr">
            <a:spAutoFit/>
          </a:bodyPr>
          <a:lstStyle/>
          <a:p>
            <a:pPr algn="l">
              <a:lnSpc>
                <a:spcPct val="98000"/>
              </a:lnSpc>
            </a:pPr>
            <a:r>
              <a:rPr sz="1000" b="1">
                <a:solidFill>
                  <a:srgbClr val="FFFFFF"/>
                </a:solidFill>
                <a:latin typeface="Arial"/>
              </a:rPr>
              <a:t>Grant apart from feasibility?</a:t>
            </a:r>
          </a:p>
        </p:txBody>
      </p:sp>
      <p:sp>
        <p:nvSpPr>
          <p:cNvPr id="51" name="Rectangle 50"/>
          <p:cNvSpPr/>
          <p:nvPr/>
        </p:nvSpPr>
        <p:spPr>
          <a:xfrm>
            <a:off x="7104888" y="2121408"/>
            <a:ext cx="1508760" cy="34290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ody:51"/>
          <p:cNvSpPr txBox="1"/>
          <p:nvPr/>
        </p:nvSpPr>
        <p:spPr>
          <a:xfrm>
            <a:off x="7187183" y="2121408"/>
            <a:ext cx="1344168" cy="342900"/>
          </a:xfrm>
          <a:prstGeom prst="rect">
            <a:avLst/>
          </a:prstGeom>
          <a:noFill/>
        </p:spPr>
        <p:txBody>
          <a:bodyPr wrap="square" lIns="22860" rIns="22860" tIns="22860" bIns="22860" anchor="ctr">
            <a:spAutoFit/>
          </a:bodyPr>
          <a:lstStyle/>
          <a:p>
            <a:pPr algn="l">
              <a:lnSpc>
                <a:spcPct val="98000"/>
              </a:lnSpc>
            </a:pPr>
            <a:r>
              <a:rPr sz="1000" b="1">
                <a:solidFill>
                  <a:srgbClr val="FFFFFF"/>
                </a:solidFill>
                <a:latin typeface="Arial"/>
              </a:rPr>
              <a:t>Request channel</a:t>
            </a:r>
          </a:p>
        </p:txBody>
      </p:sp>
      <p:sp>
        <p:nvSpPr>
          <p:cNvPr id="53" name="Rectangle 52"/>
          <p:cNvSpPr/>
          <p:nvPr/>
        </p:nvSpPr>
        <p:spPr>
          <a:xfrm>
            <a:off x="8613648" y="2121408"/>
            <a:ext cx="1417320" cy="34290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ody:53"/>
          <p:cNvSpPr txBox="1"/>
          <p:nvPr/>
        </p:nvSpPr>
        <p:spPr>
          <a:xfrm>
            <a:off x="8695944" y="2121408"/>
            <a:ext cx="1252728" cy="342900"/>
          </a:xfrm>
          <a:prstGeom prst="rect">
            <a:avLst/>
          </a:prstGeom>
          <a:noFill/>
        </p:spPr>
        <p:txBody>
          <a:bodyPr wrap="square" lIns="22860" rIns="22860" tIns="22860" bIns="22860" anchor="ctr">
            <a:spAutoFit/>
          </a:bodyPr>
          <a:lstStyle/>
          <a:p>
            <a:pPr algn="l">
              <a:lnSpc>
                <a:spcPct val="98000"/>
              </a:lnSpc>
            </a:pPr>
            <a:r>
              <a:rPr sz="1000" b="1">
                <a:solidFill>
                  <a:srgbClr val="FFFFFF"/>
                </a:solidFill>
                <a:latin typeface="Arial"/>
              </a:rPr>
              <a:t>Enforcement point</a:t>
            </a:r>
          </a:p>
        </p:txBody>
      </p:sp>
      <p:sp>
        <p:nvSpPr>
          <p:cNvPr id="55" name="Rectangle 54"/>
          <p:cNvSpPr/>
          <p:nvPr/>
        </p:nvSpPr>
        <p:spPr>
          <a:xfrm>
            <a:off x="10030968" y="2121408"/>
            <a:ext cx="1591056" cy="34290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ody:55"/>
          <p:cNvSpPr txBox="1"/>
          <p:nvPr/>
        </p:nvSpPr>
        <p:spPr>
          <a:xfrm>
            <a:off x="10113264" y="2121408"/>
            <a:ext cx="1426464" cy="342900"/>
          </a:xfrm>
          <a:prstGeom prst="rect">
            <a:avLst/>
          </a:prstGeom>
          <a:noFill/>
        </p:spPr>
        <p:txBody>
          <a:bodyPr wrap="square" lIns="22860" rIns="22860" tIns="22860" bIns="22860" anchor="ctr">
            <a:spAutoFit/>
          </a:bodyPr>
          <a:lstStyle/>
          <a:p>
            <a:pPr algn="l">
              <a:lnSpc>
                <a:spcPct val="98000"/>
              </a:lnSpc>
            </a:pPr>
            <a:r>
              <a:rPr sz="1000" b="1">
                <a:solidFill>
                  <a:srgbClr val="FFFFFF"/>
                </a:solidFill>
                <a:latin typeface="Arial"/>
              </a:rPr>
              <a:t>Learns from effects?</a:t>
            </a:r>
          </a:p>
        </p:txBody>
      </p:sp>
      <p:sp>
        <p:nvSpPr>
          <p:cNvPr id="57" name="Rectangle 56"/>
          <p:cNvSpPr/>
          <p:nvPr/>
        </p:nvSpPr>
        <p:spPr>
          <a:xfrm>
            <a:off x="566928" y="2464308"/>
            <a:ext cx="233172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ody:57"/>
          <p:cNvSpPr txBox="1"/>
          <p:nvPr/>
        </p:nvSpPr>
        <p:spPr>
          <a:xfrm>
            <a:off x="649224" y="2464308"/>
            <a:ext cx="2167127" cy="342900"/>
          </a:xfrm>
          <a:prstGeom prst="rect">
            <a:avLst/>
          </a:prstGeom>
          <a:noFill/>
        </p:spPr>
        <p:txBody>
          <a:bodyPr wrap="square" lIns="22860" rIns="22860" tIns="22860" bIns="22860" anchor="ctr">
            <a:spAutoFit/>
          </a:bodyPr>
          <a:lstStyle/>
          <a:p>
            <a:pPr algn="l">
              <a:lnSpc>
                <a:spcPct val="98000"/>
              </a:lnSpc>
            </a:pPr>
            <a:r>
              <a:rPr sz="1000" b="1">
                <a:solidFill>
                  <a:srgbClr val="22313F"/>
                </a:solidFill>
                <a:latin typeface="Arial"/>
              </a:rPr>
              <a:t>Scope instruction only (B0/B3)</a:t>
            </a:r>
          </a:p>
        </p:txBody>
      </p:sp>
      <p:sp>
        <p:nvSpPr>
          <p:cNvPr id="59" name="Rectangle 58"/>
          <p:cNvSpPr/>
          <p:nvPr/>
        </p:nvSpPr>
        <p:spPr>
          <a:xfrm>
            <a:off x="2898648" y="2464308"/>
            <a:ext cx="205740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ody:59"/>
          <p:cNvSpPr txBox="1"/>
          <p:nvPr/>
        </p:nvSpPr>
        <p:spPr>
          <a:xfrm>
            <a:off x="2980944" y="2464308"/>
            <a:ext cx="1892807"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LLM free-form</a:t>
            </a:r>
          </a:p>
        </p:txBody>
      </p:sp>
      <p:sp>
        <p:nvSpPr>
          <p:cNvPr id="61" name="Rectangle 60"/>
          <p:cNvSpPr/>
          <p:nvPr/>
        </p:nvSpPr>
        <p:spPr>
          <a:xfrm>
            <a:off x="4956048" y="2464308"/>
            <a:ext cx="214884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ody:61"/>
          <p:cNvSpPr txBox="1"/>
          <p:nvPr/>
        </p:nvSpPr>
        <p:spPr>
          <a:xfrm>
            <a:off x="5038344" y="2464308"/>
            <a:ext cx="198424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Grant lives in prompt text</a:t>
            </a:r>
          </a:p>
        </p:txBody>
      </p:sp>
      <p:sp>
        <p:nvSpPr>
          <p:cNvPr id="63" name="Rectangle 62"/>
          <p:cNvSpPr/>
          <p:nvPr/>
        </p:nvSpPr>
        <p:spPr>
          <a:xfrm>
            <a:off x="7104888" y="2464308"/>
            <a:ext cx="150876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ody:63"/>
          <p:cNvSpPr txBox="1"/>
          <p:nvPr/>
        </p:nvSpPr>
        <p:spPr>
          <a:xfrm>
            <a:off x="7187183" y="2464308"/>
            <a:ext cx="134416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Only if prompted</a:t>
            </a:r>
          </a:p>
        </p:txBody>
      </p:sp>
      <p:sp>
        <p:nvSpPr>
          <p:cNvPr id="65" name="Rectangle 64"/>
          <p:cNvSpPr/>
          <p:nvPr/>
        </p:nvSpPr>
        <p:spPr>
          <a:xfrm>
            <a:off x="8613648" y="2464308"/>
            <a:ext cx="141732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ody:65"/>
          <p:cNvSpPr txBox="1"/>
          <p:nvPr/>
        </p:nvSpPr>
        <p:spPr>
          <a:xfrm>
            <a:off x="8695944" y="2464308"/>
            <a:ext cx="125272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None</a:t>
            </a:r>
          </a:p>
        </p:txBody>
      </p:sp>
      <p:sp>
        <p:nvSpPr>
          <p:cNvPr id="67" name="Rectangle 66"/>
          <p:cNvSpPr/>
          <p:nvPr/>
        </p:nvSpPr>
        <p:spPr>
          <a:xfrm>
            <a:off x="10030968" y="2464308"/>
            <a:ext cx="1591056"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ody:67"/>
          <p:cNvSpPr txBox="1"/>
          <p:nvPr/>
        </p:nvSpPr>
        <p:spPr>
          <a:xfrm>
            <a:off x="10113264" y="2464308"/>
            <a:ext cx="1426464"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No</a:t>
            </a:r>
          </a:p>
        </p:txBody>
      </p:sp>
      <p:sp>
        <p:nvSpPr>
          <p:cNvPr id="69" name="Rectangle 68"/>
          <p:cNvSpPr/>
          <p:nvPr/>
        </p:nvSpPr>
        <p:spPr>
          <a:xfrm>
            <a:off x="566928" y="2807208"/>
            <a:ext cx="233172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ody:69"/>
          <p:cNvSpPr txBox="1"/>
          <p:nvPr/>
        </p:nvSpPr>
        <p:spPr>
          <a:xfrm>
            <a:off x="649224" y="2807208"/>
            <a:ext cx="2167127" cy="342900"/>
          </a:xfrm>
          <a:prstGeom prst="rect">
            <a:avLst/>
          </a:prstGeom>
          <a:noFill/>
        </p:spPr>
        <p:txBody>
          <a:bodyPr wrap="square" lIns="22860" rIns="22860" tIns="22860" bIns="22860" anchor="ctr">
            <a:spAutoFit/>
          </a:bodyPr>
          <a:lstStyle/>
          <a:p>
            <a:pPr algn="l">
              <a:lnSpc>
                <a:spcPct val="98000"/>
              </a:lnSpc>
            </a:pPr>
            <a:r>
              <a:rPr sz="1000" b="1">
                <a:solidFill>
                  <a:srgbClr val="22313F"/>
                </a:solidFill>
                <a:latin typeface="Arial"/>
              </a:rPr>
              <a:t>Belief-state planning: POMCP</a:t>
            </a:r>
          </a:p>
        </p:txBody>
      </p:sp>
      <p:sp>
        <p:nvSpPr>
          <p:cNvPr id="71" name="Rectangle 70"/>
          <p:cNvSpPr/>
          <p:nvPr/>
        </p:nvSpPr>
        <p:spPr>
          <a:xfrm>
            <a:off x="2898648" y="2807208"/>
            <a:ext cx="205740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ody:71"/>
          <p:cNvSpPr txBox="1"/>
          <p:nvPr/>
        </p:nvSpPr>
        <p:spPr>
          <a:xfrm>
            <a:off x="2980944" y="2807208"/>
            <a:ext cx="1892807"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Monte Carlo lookahead on b</a:t>
            </a:r>
          </a:p>
        </p:txBody>
      </p:sp>
      <p:sp>
        <p:nvSpPr>
          <p:cNvPr id="73" name="Rectangle 72"/>
          <p:cNvSpPr/>
          <p:nvPr/>
        </p:nvSpPr>
        <p:spPr>
          <a:xfrm>
            <a:off x="4956048" y="2807208"/>
            <a:ext cx="214884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ody:73"/>
          <p:cNvSpPr txBox="1"/>
          <p:nvPr/>
        </p:nvSpPr>
        <p:spPr>
          <a:xfrm>
            <a:off x="5038344" y="2807208"/>
            <a:ext cx="198424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No: plans around obstacles</a:t>
            </a:r>
          </a:p>
        </p:txBody>
      </p:sp>
      <p:sp>
        <p:nvSpPr>
          <p:cNvPr id="75" name="Rectangle 74"/>
          <p:cNvSpPr/>
          <p:nvPr/>
        </p:nvSpPr>
        <p:spPr>
          <a:xfrm>
            <a:off x="7104888" y="2807208"/>
            <a:ext cx="150876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ody:75"/>
          <p:cNvSpPr txBox="1"/>
          <p:nvPr/>
        </p:nvSpPr>
        <p:spPr>
          <a:xfrm>
            <a:off x="7187183" y="2807208"/>
            <a:ext cx="134416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No</a:t>
            </a:r>
          </a:p>
        </p:txBody>
      </p:sp>
      <p:sp>
        <p:nvSpPr>
          <p:cNvPr id="77" name="Rectangle 76"/>
          <p:cNvSpPr/>
          <p:nvPr/>
        </p:nvSpPr>
        <p:spPr>
          <a:xfrm>
            <a:off x="8613648" y="2807208"/>
            <a:ext cx="141732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ody:77"/>
          <p:cNvSpPr txBox="1"/>
          <p:nvPr/>
        </p:nvSpPr>
        <p:spPr>
          <a:xfrm>
            <a:off x="8695944" y="2807208"/>
            <a:ext cx="125272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None</a:t>
            </a:r>
          </a:p>
        </p:txBody>
      </p:sp>
      <p:sp>
        <p:nvSpPr>
          <p:cNvPr id="79" name="Rectangle 78"/>
          <p:cNvSpPr/>
          <p:nvPr/>
        </p:nvSpPr>
        <p:spPr>
          <a:xfrm>
            <a:off x="10030968" y="2807208"/>
            <a:ext cx="1591056"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ody:79"/>
          <p:cNvSpPr txBox="1"/>
          <p:nvPr/>
        </p:nvSpPr>
        <p:spPr>
          <a:xfrm>
            <a:off x="10113264" y="2807208"/>
            <a:ext cx="1426464"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No</a:t>
            </a:r>
          </a:p>
        </p:txBody>
      </p:sp>
      <p:sp>
        <p:nvSpPr>
          <p:cNvPr id="81" name="Rectangle 80"/>
          <p:cNvSpPr/>
          <p:nvPr/>
        </p:nvSpPr>
        <p:spPr>
          <a:xfrm>
            <a:off x="566928" y="3150108"/>
            <a:ext cx="233172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body:81"/>
          <p:cNvSpPr txBox="1"/>
          <p:nvPr/>
        </p:nvSpPr>
        <p:spPr>
          <a:xfrm>
            <a:off x="649224" y="3150108"/>
            <a:ext cx="2167127" cy="342900"/>
          </a:xfrm>
          <a:prstGeom prst="rect">
            <a:avLst/>
          </a:prstGeom>
          <a:noFill/>
        </p:spPr>
        <p:txBody>
          <a:bodyPr wrap="square" lIns="22860" rIns="22860" tIns="22860" bIns="22860" anchor="ctr">
            <a:spAutoFit/>
          </a:bodyPr>
          <a:lstStyle/>
          <a:p>
            <a:pPr algn="l">
              <a:lnSpc>
                <a:spcPct val="98000"/>
              </a:lnSpc>
            </a:pPr>
            <a:r>
              <a:rPr sz="1000" b="1">
                <a:solidFill>
                  <a:srgbClr val="22313F"/>
                </a:solidFill>
                <a:latin typeface="Arial"/>
              </a:rPr>
              <a:t>Constrained RL: CPO / RCPO</a:t>
            </a:r>
          </a:p>
        </p:txBody>
      </p:sp>
      <p:sp>
        <p:nvSpPr>
          <p:cNvPr id="83" name="Rectangle 82"/>
          <p:cNvSpPr/>
          <p:nvPr/>
        </p:nvSpPr>
        <p:spPr>
          <a:xfrm>
            <a:off x="2898648" y="3150108"/>
            <a:ext cx="205740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body:83"/>
          <p:cNvSpPr txBox="1"/>
          <p:nvPr/>
        </p:nvSpPr>
        <p:spPr>
          <a:xfrm>
            <a:off x="2980944" y="3150108"/>
            <a:ext cx="1892807"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Trained policy</a:t>
            </a:r>
          </a:p>
        </p:txBody>
      </p:sp>
      <p:sp>
        <p:nvSpPr>
          <p:cNvPr id="85" name="Rectangle 84"/>
          <p:cNvSpPr/>
          <p:nvPr/>
        </p:nvSpPr>
        <p:spPr>
          <a:xfrm>
            <a:off x="4956048" y="3150108"/>
            <a:ext cx="214884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body:85"/>
          <p:cNvSpPr txBox="1"/>
          <p:nvPr/>
        </p:nvSpPr>
        <p:spPr>
          <a:xfrm>
            <a:off x="5038344" y="3150108"/>
            <a:ext cx="198424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Cost in expectation, not per effect</a:t>
            </a:r>
          </a:p>
        </p:txBody>
      </p:sp>
      <p:sp>
        <p:nvSpPr>
          <p:cNvPr id="87" name="Rectangle 86"/>
          <p:cNvSpPr/>
          <p:nvPr/>
        </p:nvSpPr>
        <p:spPr>
          <a:xfrm>
            <a:off x="7104888" y="3150108"/>
            <a:ext cx="150876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body:87"/>
          <p:cNvSpPr txBox="1"/>
          <p:nvPr/>
        </p:nvSpPr>
        <p:spPr>
          <a:xfrm>
            <a:off x="7187183" y="3150108"/>
            <a:ext cx="134416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No</a:t>
            </a:r>
          </a:p>
        </p:txBody>
      </p:sp>
      <p:sp>
        <p:nvSpPr>
          <p:cNvPr id="89" name="Rectangle 88"/>
          <p:cNvSpPr/>
          <p:nvPr/>
        </p:nvSpPr>
        <p:spPr>
          <a:xfrm>
            <a:off x="8613648" y="3150108"/>
            <a:ext cx="141732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body:89"/>
          <p:cNvSpPr txBox="1"/>
          <p:nvPr/>
        </p:nvSpPr>
        <p:spPr>
          <a:xfrm>
            <a:off x="8695944" y="3150108"/>
            <a:ext cx="125272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Training time</a:t>
            </a:r>
          </a:p>
        </p:txBody>
      </p:sp>
      <p:sp>
        <p:nvSpPr>
          <p:cNvPr id="91" name="Rectangle 90"/>
          <p:cNvSpPr/>
          <p:nvPr/>
        </p:nvSpPr>
        <p:spPr>
          <a:xfrm>
            <a:off x="10030968" y="3150108"/>
            <a:ext cx="1591056"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body:91"/>
          <p:cNvSpPr txBox="1"/>
          <p:nvPr/>
        </p:nvSpPr>
        <p:spPr>
          <a:xfrm>
            <a:off x="10113264" y="3150108"/>
            <a:ext cx="1426464"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Needs gradients, many rollouts</a:t>
            </a:r>
          </a:p>
        </p:txBody>
      </p:sp>
      <p:sp>
        <p:nvSpPr>
          <p:cNvPr id="93" name="Rectangle 92"/>
          <p:cNvSpPr/>
          <p:nvPr/>
        </p:nvSpPr>
        <p:spPr>
          <a:xfrm>
            <a:off x="566928" y="3493008"/>
            <a:ext cx="233172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body:93"/>
          <p:cNvSpPr txBox="1"/>
          <p:nvPr/>
        </p:nvSpPr>
        <p:spPr>
          <a:xfrm>
            <a:off x="649224" y="3493008"/>
            <a:ext cx="2167127" cy="342900"/>
          </a:xfrm>
          <a:prstGeom prst="rect">
            <a:avLst/>
          </a:prstGeom>
          <a:noFill/>
        </p:spPr>
        <p:txBody>
          <a:bodyPr wrap="square" lIns="22860" rIns="22860" tIns="22860" bIns="22860" anchor="ctr">
            <a:spAutoFit/>
          </a:bodyPr>
          <a:lstStyle/>
          <a:p>
            <a:pPr algn="l">
              <a:lnSpc>
                <a:spcPct val="98000"/>
              </a:lnSpc>
            </a:pPr>
            <a:r>
              <a:rPr sz="1000" b="1">
                <a:solidFill>
                  <a:srgbClr val="22313F"/>
                </a:solidFill>
                <a:latin typeface="Arial"/>
              </a:rPr>
              <a:t>Shielding (Alshiekh 2018)</a:t>
            </a:r>
          </a:p>
        </p:txBody>
      </p:sp>
      <p:sp>
        <p:nvSpPr>
          <p:cNvPr id="95" name="Rectangle 94"/>
          <p:cNvSpPr/>
          <p:nvPr/>
        </p:nvSpPr>
        <p:spPr>
          <a:xfrm>
            <a:off x="2898648" y="3493008"/>
            <a:ext cx="205740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body:95"/>
          <p:cNvSpPr txBox="1"/>
          <p:nvPr/>
        </p:nvSpPr>
        <p:spPr>
          <a:xfrm>
            <a:off x="2980944" y="3493008"/>
            <a:ext cx="1892807"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RL inside a safety automaton</a:t>
            </a:r>
          </a:p>
        </p:txBody>
      </p:sp>
      <p:sp>
        <p:nvSpPr>
          <p:cNvPr id="97" name="Rectangle 96"/>
          <p:cNvSpPr/>
          <p:nvPr/>
        </p:nvSpPr>
        <p:spPr>
          <a:xfrm>
            <a:off x="4956048" y="3493008"/>
            <a:ext cx="214884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body:97"/>
          <p:cNvSpPr txBox="1"/>
          <p:nvPr/>
        </p:nvSpPr>
        <p:spPr>
          <a:xfrm>
            <a:off x="5038344" y="3493008"/>
            <a:ext cx="198424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Automaton over abstract state</a:t>
            </a:r>
          </a:p>
        </p:txBody>
      </p:sp>
      <p:sp>
        <p:nvSpPr>
          <p:cNvPr id="99" name="Rectangle 98"/>
          <p:cNvSpPr/>
          <p:nvPr/>
        </p:nvSpPr>
        <p:spPr>
          <a:xfrm>
            <a:off x="7104888" y="3493008"/>
            <a:ext cx="150876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body:99"/>
          <p:cNvSpPr txBox="1"/>
          <p:nvPr/>
        </p:nvSpPr>
        <p:spPr>
          <a:xfrm>
            <a:off x="7187183" y="3493008"/>
            <a:ext cx="134416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No</a:t>
            </a:r>
          </a:p>
        </p:txBody>
      </p:sp>
      <p:sp>
        <p:nvSpPr>
          <p:cNvPr id="101" name="Rectangle 100"/>
          <p:cNvSpPr/>
          <p:nvPr/>
        </p:nvSpPr>
        <p:spPr>
          <a:xfrm>
            <a:off x="8613648" y="3493008"/>
            <a:ext cx="141732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body:101"/>
          <p:cNvSpPr txBox="1"/>
          <p:nvPr/>
        </p:nvSpPr>
        <p:spPr>
          <a:xfrm>
            <a:off x="8695944" y="3493008"/>
            <a:ext cx="125272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Before each action</a:t>
            </a:r>
          </a:p>
        </p:txBody>
      </p:sp>
      <p:sp>
        <p:nvSpPr>
          <p:cNvPr id="103" name="Rectangle 102"/>
          <p:cNvSpPr/>
          <p:nvPr/>
        </p:nvSpPr>
        <p:spPr>
          <a:xfrm>
            <a:off x="10030968" y="3493008"/>
            <a:ext cx="1591056"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body:103"/>
          <p:cNvSpPr txBox="1"/>
          <p:nvPr/>
        </p:nvSpPr>
        <p:spPr>
          <a:xfrm>
            <a:off x="10113264" y="3493008"/>
            <a:ext cx="1426464"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No</a:t>
            </a:r>
          </a:p>
        </p:txBody>
      </p:sp>
      <p:sp>
        <p:nvSpPr>
          <p:cNvPr id="105" name="Rectangle 104"/>
          <p:cNvSpPr/>
          <p:nvPr/>
        </p:nvSpPr>
        <p:spPr>
          <a:xfrm>
            <a:off x="566928" y="3835908"/>
            <a:ext cx="233172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body:105"/>
          <p:cNvSpPr txBox="1"/>
          <p:nvPr/>
        </p:nvSpPr>
        <p:spPr>
          <a:xfrm>
            <a:off x="649224" y="3835908"/>
            <a:ext cx="2167127" cy="342900"/>
          </a:xfrm>
          <a:prstGeom prst="rect">
            <a:avLst/>
          </a:prstGeom>
          <a:noFill/>
        </p:spPr>
        <p:txBody>
          <a:bodyPr wrap="square" lIns="22860" rIns="22860" tIns="22860" bIns="22860" anchor="ctr">
            <a:spAutoFit/>
          </a:bodyPr>
          <a:lstStyle/>
          <a:p>
            <a:pPr algn="l">
              <a:lnSpc>
                <a:spcPct val="98000"/>
              </a:lnSpc>
            </a:pPr>
            <a:r>
              <a:rPr sz="1000" b="1">
                <a:solidFill>
                  <a:srgbClr val="22313F"/>
                </a:solidFill>
                <a:latin typeface="Arial"/>
              </a:rPr>
              <a:t>Capability control: CaMeL</a:t>
            </a:r>
          </a:p>
        </p:txBody>
      </p:sp>
      <p:sp>
        <p:nvSpPr>
          <p:cNvPr id="107" name="Rectangle 106"/>
          <p:cNvSpPr/>
          <p:nvPr/>
        </p:nvSpPr>
        <p:spPr>
          <a:xfrm>
            <a:off x="2898648" y="3835908"/>
            <a:ext cx="205740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body:107"/>
          <p:cNvSpPr txBox="1"/>
          <p:nvPr/>
        </p:nvSpPr>
        <p:spPr>
          <a:xfrm>
            <a:off x="2980944" y="3835908"/>
            <a:ext cx="1892807"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LLM plan; data-flow policies</a:t>
            </a:r>
          </a:p>
        </p:txBody>
      </p:sp>
      <p:sp>
        <p:nvSpPr>
          <p:cNvPr id="109" name="Rectangle 108"/>
          <p:cNvSpPr/>
          <p:nvPr/>
        </p:nvSpPr>
        <p:spPr>
          <a:xfrm>
            <a:off x="4956048" y="3835908"/>
            <a:ext cx="214884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body:109"/>
          <p:cNvSpPr txBox="1"/>
          <p:nvPr/>
        </p:nvSpPr>
        <p:spPr>
          <a:xfrm>
            <a:off x="5038344" y="3835908"/>
            <a:ext cx="198424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Static policy on values and calls</a:t>
            </a:r>
          </a:p>
        </p:txBody>
      </p:sp>
      <p:sp>
        <p:nvSpPr>
          <p:cNvPr id="111" name="Rectangle 110"/>
          <p:cNvSpPr/>
          <p:nvPr/>
        </p:nvSpPr>
        <p:spPr>
          <a:xfrm>
            <a:off x="7104888" y="3835908"/>
            <a:ext cx="150876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body:111"/>
          <p:cNvSpPr txBox="1"/>
          <p:nvPr/>
        </p:nvSpPr>
        <p:spPr>
          <a:xfrm>
            <a:off x="7187183" y="3835908"/>
            <a:ext cx="134416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No</a:t>
            </a:r>
          </a:p>
        </p:txBody>
      </p:sp>
      <p:sp>
        <p:nvSpPr>
          <p:cNvPr id="113" name="Rectangle 112"/>
          <p:cNvSpPr/>
          <p:nvPr/>
        </p:nvSpPr>
        <p:spPr>
          <a:xfrm>
            <a:off x="8613648" y="3835908"/>
            <a:ext cx="141732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body:113"/>
          <p:cNvSpPr txBox="1"/>
          <p:nvPr/>
        </p:nvSpPr>
        <p:spPr>
          <a:xfrm>
            <a:off x="8695944" y="3835908"/>
            <a:ext cx="125272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Before tool call</a:t>
            </a:r>
          </a:p>
        </p:txBody>
      </p:sp>
      <p:sp>
        <p:nvSpPr>
          <p:cNvPr id="115" name="Rectangle 114"/>
          <p:cNvSpPr/>
          <p:nvPr/>
        </p:nvSpPr>
        <p:spPr>
          <a:xfrm>
            <a:off x="10030968" y="3835908"/>
            <a:ext cx="1591056"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body:115"/>
          <p:cNvSpPr txBox="1"/>
          <p:nvPr/>
        </p:nvSpPr>
        <p:spPr>
          <a:xfrm>
            <a:off x="10113264" y="3835908"/>
            <a:ext cx="1426464"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No</a:t>
            </a:r>
          </a:p>
        </p:txBody>
      </p:sp>
      <p:sp>
        <p:nvSpPr>
          <p:cNvPr id="117" name="Rectangle 116"/>
          <p:cNvSpPr/>
          <p:nvPr/>
        </p:nvSpPr>
        <p:spPr>
          <a:xfrm>
            <a:off x="566928" y="4178808"/>
            <a:ext cx="233172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body:117"/>
          <p:cNvSpPr txBox="1"/>
          <p:nvPr/>
        </p:nvSpPr>
        <p:spPr>
          <a:xfrm>
            <a:off x="649224" y="4178808"/>
            <a:ext cx="2167127" cy="342900"/>
          </a:xfrm>
          <a:prstGeom prst="rect">
            <a:avLst/>
          </a:prstGeom>
          <a:noFill/>
        </p:spPr>
        <p:txBody>
          <a:bodyPr wrap="square" lIns="22860" rIns="22860" tIns="22860" bIns="22860" anchor="ctr">
            <a:spAutoFit/>
          </a:bodyPr>
          <a:lstStyle/>
          <a:p>
            <a:pPr algn="l">
              <a:lnSpc>
                <a:spcPct val="98000"/>
              </a:lnSpc>
            </a:pPr>
            <a:r>
              <a:rPr sz="1000" b="1">
                <a:solidFill>
                  <a:srgbClr val="22313F"/>
                </a:solidFill>
                <a:latin typeface="Arial"/>
              </a:rPr>
              <a:t>Privilege control: Progent</a:t>
            </a:r>
          </a:p>
        </p:txBody>
      </p:sp>
      <p:sp>
        <p:nvSpPr>
          <p:cNvPr id="119" name="Rectangle 118"/>
          <p:cNvSpPr/>
          <p:nvPr/>
        </p:nvSpPr>
        <p:spPr>
          <a:xfrm>
            <a:off x="2898648" y="4178808"/>
            <a:ext cx="205740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body:119"/>
          <p:cNvSpPr txBox="1"/>
          <p:nvPr/>
        </p:nvSpPr>
        <p:spPr>
          <a:xfrm>
            <a:off x="2980944" y="4178808"/>
            <a:ext cx="1892807"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LLM</a:t>
            </a:r>
          </a:p>
        </p:txBody>
      </p:sp>
      <p:sp>
        <p:nvSpPr>
          <p:cNvPr id="121" name="Rectangle 120"/>
          <p:cNvSpPr/>
          <p:nvPr/>
        </p:nvSpPr>
        <p:spPr>
          <a:xfrm>
            <a:off x="4956048" y="4178808"/>
            <a:ext cx="214884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body:121"/>
          <p:cNvSpPr txBox="1"/>
          <p:nvPr/>
        </p:nvSpPr>
        <p:spPr>
          <a:xfrm>
            <a:off x="5038344" y="4178808"/>
            <a:ext cx="198424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Policy over tool arguments</a:t>
            </a:r>
          </a:p>
        </p:txBody>
      </p:sp>
      <p:sp>
        <p:nvSpPr>
          <p:cNvPr id="123" name="Rectangle 122"/>
          <p:cNvSpPr/>
          <p:nvPr/>
        </p:nvSpPr>
        <p:spPr>
          <a:xfrm>
            <a:off x="7104888" y="4178808"/>
            <a:ext cx="150876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body:123"/>
          <p:cNvSpPr txBox="1"/>
          <p:nvPr/>
        </p:nvSpPr>
        <p:spPr>
          <a:xfrm>
            <a:off x="7187183" y="4178808"/>
            <a:ext cx="134416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Expansion needs approval</a:t>
            </a:r>
          </a:p>
        </p:txBody>
      </p:sp>
      <p:sp>
        <p:nvSpPr>
          <p:cNvPr id="125" name="Rectangle 124"/>
          <p:cNvSpPr/>
          <p:nvPr/>
        </p:nvSpPr>
        <p:spPr>
          <a:xfrm>
            <a:off x="8613648" y="4178808"/>
            <a:ext cx="141732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body:125"/>
          <p:cNvSpPr txBox="1"/>
          <p:nvPr/>
        </p:nvSpPr>
        <p:spPr>
          <a:xfrm>
            <a:off x="8695944" y="4178808"/>
            <a:ext cx="125272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Before tool call</a:t>
            </a:r>
          </a:p>
        </p:txBody>
      </p:sp>
      <p:sp>
        <p:nvSpPr>
          <p:cNvPr id="127" name="Rectangle 126"/>
          <p:cNvSpPr/>
          <p:nvPr/>
        </p:nvSpPr>
        <p:spPr>
          <a:xfrm>
            <a:off x="10030968" y="4178808"/>
            <a:ext cx="1591056"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body:127"/>
          <p:cNvSpPr txBox="1"/>
          <p:nvPr/>
        </p:nvSpPr>
        <p:spPr>
          <a:xfrm>
            <a:off x="10113264" y="4178808"/>
            <a:ext cx="1426464"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Policy updates by LLM</a:t>
            </a:r>
          </a:p>
        </p:txBody>
      </p:sp>
      <p:sp>
        <p:nvSpPr>
          <p:cNvPr id="129" name="Rectangle 128"/>
          <p:cNvSpPr/>
          <p:nvPr/>
        </p:nvSpPr>
        <p:spPr>
          <a:xfrm>
            <a:off x="566928" y="4521708"/>
            <a:ext cx="233172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body:129"/>
          <p:cNvSpPr txBox="1"/>
          <p:nvPr/>
        </p:nvSpPr>
        <p:spPr>
          <a:xfrm>
            <a:off x="649224" y="4521708"/>
            <a:ext cx="2167127" cy="342900"/>
          </a:xfrm>
          <a:prstGeom prst="rect">
            <a:avLst/>
          </a:prstGeom>
          <a:noFill/>
        </p:spPr>
        <p:txBody>
          <a:bodyPr wrap="square" lIns="22860" rIns="22860" tIns="22860" bIns="22860" anchor="ctr">
            <a:spAutoFit/>
          </a:bodyPr>
          <a:lstStyle/>
          <a:p>
            <a:pPr algn="l">
              <a:lnSpc>
                <a:spcPct val="98000"/>
              </a:lnSpc>
            </a:pPr>
            <a:r>
              <a:rPr sz="1000" b="1">
                <a:solidFill>
                  <a:srgbClr val="22313F"/>
                </a:solidFill>
                <a:latin typeface="Arial"/>
              </a:rPr>
              <a:t>Trusted monitoring / defer</a:t>
            </a:r>
          </a:p>
        </p:txBody>
      </p:sp>
      <p:sp>
        <p:nvSpPr>
          <p:cNvPr id="131" name="Rectangle 130"/>
          <p:cNvSpPr/>
          <p:nvPr/>
        </p:nvSpPr>
        <p:spPr>
          <a:xfrm>
            <a:off x="2898648" y="4521708"/>
            <a:ext cx="205740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body:131"/>
          <p:cNvSpPr txBox="1"/>
          <p:nvPr/>
        </p:nvSpPr>
        <p:spPr>
          <a:xfrm>
            <a:off x="2980944" y="4521708"/>
            <a:ext cx="1892807"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Untrusted proposes; trusted scores</a:t>
            </a:r>
          </a:p>
        </p:txBody>
      </p:sp>
      <p:sp>
        <p:nvSpPr>
          <p:cNvPr id="133" name="Rectangle 132"/>
          <p:cNvSpPr/>
          <p:nvPr/>
        </p:nvSpPr>
        <p:spPr>
          <a:xfrm>
            <a:off x="4956048" y="4521708"/>
            <a:ext cx="214884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body:133"/>
          <p:cNvSpPr txBox="1"/>
          <p:nvPr/>
        </p:nvSpPr>
        <p:spPr>
          <a:xfrm>
            <a:off x="5038344" y="4521708"/>
            <a:ext cx="198424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No grant model; suspicion</a:t>
            </a:r>
          </a:p>
        </p:txBody>
      </p:sp>
      <p:sp>
        <p:nvSpPr>
          <p:cNvPr id="135" name="Rectangle 134"/>
          <p:cNvSpPr/>
          <p:nvPr/>
        </p:nvSpPr>
        <p:spPr>
          <a:xfrm>
            <a:off x="7104888" y="4521708"/>
            <a:ext cx="150876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body:135"/>
          <p:cNvSpPr txBox="1"/>
          <p:nvPr/>
        </p:nvSpPr>
        <p:spPr>
          <a:xfrm>
            <a:off x="7187183" y="4521708"/>
            <a:ext cx="134416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Audit budget</a:t>
            </a:r>
          </a:p>
        </p:txBody>
      </p:sp>
      <p:sp>
        <p:nvSpPr>
          <p:cNvPr id="137" name="Rectangle 136"/>
          <p:cNvSpPr/>
          <p:nvPr/>
        </p:nvSpPr>
        <p:spPr>
          <a:xfrm>
            <a:off x="8613648" y="4521708"/>
            <a:ext cx="1417320"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body:137"/>
          <p:cNvSpPr txBox="1"/>
          <p:nvPr/>
        </p:nvSpPr>
        <p:spPr>
          <a:xfrm>
            <a:off x="8695944" y="4521708"/>
            <a:ext cx="125272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Before execution</a:t>
            </a:r>
          </a:p>
        </p:txBody>
      </p:sp>
      <p:sp>
        <p:nvSpPr>
          <p:cNvPr id="139" name="Rectangle 138"/>
          <p:cNvSpPr/>
          <p:nvPr/>
        </p:nvSpPr>
        <p:spPr>
          <a:xfrm>
            <a:off x="10030968" y="4521708"/>
            <a:ext cx="1591056"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body:139"/>
          <p:cNvSpPr txBox="1"/>
          <p:nvPr/>
        </p:nvSpPr>
        <p:spPr>
          <a:xfrm>
            <a:off x="10113264" y="4521708"/>
            <a:ext cx="1426464"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Thresholds from calibration</a:t>
            </a:r>
          </a:p>
        </p:txBody>
      </p:sp>
      <p:sp>
        <p:nvSpPr>
          <p:cNvPr id="141" name="Rectangle 140"/>
          <p:cNvSpPr/>
          <p:nvPr/>
        </p:nvSpPr>
        <p:spPr>
          <a:xfrm>
            <a:off x="566928" y="4864608"/>
            <a:ext cx="233172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body:141"/>
          <p:cNvSpPr txBox="1"/>
          <p:nvPr/>
        </p:nvSpPr>
        <p:spPr>
          <a:xfrm>
            <a:off x="649224" y="4864608"/>
            <a:ext cx="2167127" cy="342900"/>
          </a:xfrm>
          <a:prstGeom prst="rect">
            <a:avLst/>
          </a:prstGeom>
          <a:noFill/>
        </p:spPr>
        <p:txBody>
          <a:bodyPr wrap="square" lIns="22860" rIns="22860" tIns="22860" bIns="22860" anchor="ctr">
            <a:spAutoFit/>
          </a:bodyPr>
          <a:lstStyle/>
          <a:p>
            <a:pPr algn="l">
              <a:lnSpc>
                <a:spcPct val="98000"/>
              </a:lnSpc>
            </a:pPr>
            <a:r>
              <a:rPr sz="1000" b="1">
                <a:solidFill>
                  <a:srgbClr val="22313F"/>
                </a:solidFill>
                <a:latin typeface="Arial"/>
              </a:rPr>
              <a:t>Abort option + prompting</a:t>
            </a:r>
          </a:p>
        </p:txBody>
      </p:sp>
      <p:sp>
        <p:nvSpPr>
          <p:cNvPr id="143" name="Rectangle 142"/>
          <p:cNvSpPr/>
          <p:nvPr/>
        </p:nvSpPr>
        <p:spPr>
          <a:xfrm>
            <a:off x="2898648" y="4864608"/>
            <a:ext cx="205740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body:143"/>
          <p:cNvSpPr txBox="1"/>
          <p:nvPr/>
        </p:nvSpPr>
        <p:spPr>
          <a:xfrm>
            <a:off x="2980944" y="4864608"/>
            <a:ext cx="1892807"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LLM</a:t>
            </a:r>
          </a:p>
        </p:txBody>
      </p:sp>
      <p:sp>
        <p:nvSpPr>
          <p:cNvPr id="145" name="Rectangle 144"/>
          <p:cNvSpPr/>
          <p:nvPr/>
        </p:nvSpPr>
        <p:spPr>
          <a:xfrm>
            <a:off x="4956048" y="4864608"/>
            <a:ext cx="214884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body:145"/>
          <p:cNvSpPr txBox="1"/>
          <p:nvPr/>
        </p:nvSpPr>
        <p:spPr>
          <a:xfrm>
            <a:off x="5038344" y="4864608"/>
            <a:ext cx="198424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No</a:t>
            </a:r>
          </a:p>
        </p:txBody>
      </p:sp>
      <p:sp>
        <p:nvSpPr>
          <p:cNvPr id="147" name="Rectangle 146"/>
          <p:cNvSpPr/>
          <p:nvPr/>
        </p:nvSpPr>
        <p:spPr>
          <a:xfrm>
            <a:off x="7104888" y="4864608"/>
            <a:ext cx="150876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body:147"/>
          <p:cNvSpPr txBox="1"/>
          <p:nvPr/>
        </p:nvSpPr>
        <p:spPr>
          <a:xfrm>
            <a:off x="7187183" y="4864608"/>
            <a:ext cx="134416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Abort = stop</a:t>
            </a:r>
          </a:p>
        </p:txBody>
      </p:sp>
      <p:sp>
        <p:nvSpPr>
          <p:cNvPr id="149" name="Rectangle 148"/>
          <p:cNvSpPr/>
          <p:nvPr/>
        </p:nvSpPr>
        <p:spPr>
          <a:xfrm>
            <a:off x="8613648" y="4864608"/>
            <a:ext cx="1417320"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body:149"/>
          <p:cNvSpPr txBox="1"/>
          <p:nvPr/>
        </p:nvSpPr>
        <p:spPr>
          <a:xfrm>
            <a:off x="8695944" y="4864608"/>
            <a:ext cx="1252728"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None</a:t>
            </a:r>
          </a:p>
        </p:txBody>
      </p:sp>
      <p:sp>
        <p:nvSpPr>
          <p:cNvPr id="151" name="Rectangle 150"/>
          <p:cNvSpPr/>
          <p:nvPr/>
        </p:nvSpPr>
        <p:spPr>
          <a:xfrm>
            <a:off x="10030968" y="4864608"/>
            <a:ext cx="1591056" cy="3429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body:151"/>
          <p:cNvSpPr txBox="1"/>
          <p:nvPr/>
        </p:nvSpPr>
        <p:spPr>
          <a:xfrm>
            <a:off x="10113264" y="4864608"/>
            <a:ext cx="1426464" cy="342900"/>
          </a:xfrm>
          <a:prstGeom prst="rect">
            <a:avLst/>
          </a:prstGeom>
          <a:noFill/>
        </p:spPr>
        <p:txBody>
          <a:bodyPr wrap="square" lIns="22860" rIns="22860" tIns="22860" bIns="22860" anchor="ctr">
            <a:spAutoFit/>
          </a:bodyPr>
          <a:lstStyle/>
          <a:p>
            <a:pPr algn="l">
              <a:lnSpc>
                <a:spcPct val="98000"/>
              </a:lnSpc>
            </a:pPr>
            <a:r>
              <a:rPr sz="1000" b="0">
                <a:solidFill>
                  <a:srgbClr val="22313F"/>
                </a:solidFill>
                <a:latin typeface="Arial"/>
              </a:rPr>
              <a:t>No</a:t>
            </a:r>
          </a:p>
        </p:txBody>
      </p:sp>
      <p:sp>
        <p:nvSpPr>
          <p:cNvPr id="153" name="Rectangle 152"/>
          <p:cNvSpPr/>
          <p:nvPr/>
        </p:nvSpPr>
        <p:spPr>
          <a:xfrm>
            <a:off x="566928" y="5207508"/>
            <a:ext cx="2331720" cy="34290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body:153"/>
          <p:cNvSpPr txBox="1"/>
          <p:nvPr/>
        </p:nvSpPr>
        <p:spPr>
          <a:xfrm>
            <a:off x="649224" y="5207508"/>
            <a:ext cx="2167127" cy="342900"/>
          </a:xfrm>
          <a:prstGeom prst="rect">
            <a:avLst/>
          </a:prstGeom>
          <a:noFill/>
        </p:spPr>
        <p:txBody>
          <a:bodyPr wrap="square" lIns="22860" rIns="22860" tIns="22860" bIns="22860" anchor="ctr">
            <a:spAutoFit/>
          </a:bodyPr>
          <a:lstStyle/>
          <a:p>
            <a:pPr algn="l">
              <a:lnSpc>
                <a:spcPct val="98000"/>
              </a:lnSpc>
            </a:pPr>
            <a:r>
              <a:rPr sz="1000" b="1">
                <a:solidFill>
                  <a:srgbClr val="1E7A72"/>
                </a:solidFill>
                <a:latin typeface="Arial"/>
              </a:rPr>
              <a:t>Proposed A + B</a:t>
            </a:r>
          </a:p>
        </p:txBody>
      </p:sp>
      <p:sp>
        <p:nvSpPr>
          <p:cNvPr id="155" name="Rectangle 154"/>
          <p:cNvSpPr/>
          <p:nvPr/>
        </p:nvSpPr>
        <p:spPr>
          <a:xfrm>
            <a:off x="2898648" y="5207508"/>
            <a:ext cx="2057400" cy="34290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body:155"/>
          <p:cNvSpPr txBox="1"/>
          <p:nvPr/>
        </p:nvSpPr>
        <p:spPr>
          <a:xfrm>
            <a:off x="2980944" y="5207508"/>
            <a:ext cx="1892807" cy="342900"/>
          </a:xfrm>
          <a:prstGeom prst="rect">
            <a:avLst/>
          </a:prstGeom>
          <a:noFill/>
        </p:spPr>
        <p:txBody>
          <a:bodyPr wrap="square" lIns="22860" rIns="22860" tIns="22860" bIns="22860" anchor="ctr">
            <a:spAutoFit/>
          </a:bodyPr>
          <a:lstStyle/>
          <a:p>
            <a:pPr algn="l">
              <a:lnSpc>
                <a:spcPct val="98000"/>
              </a:lnSpc>
            </a:pPr>
            <a:r>
              <a:rPr sz="1000" b="0">
                <a:solidFill>
                  <a:srgbClr val="1E7A72"/>
                </a:solidFill>
                <a:latin typeface="Arial"/>
              </a:rPr>
              <a:t>Lookahead inside A(g)</a:t>
            </a:r>
          </a:p>
        </p:txBody>
      </p:sp>
      <p:sp>
        <p:nvSpPr>
          <p:cNvPr id="157" name="Rectangle 156"/>
          <p:cNvSpPr/>
          <p:nvPr/>
        </p:nvSpPr>
        <p:spPr>
          <a:xfrm>
            <a:off x="4956048" y="5207508"/>
            <a:ext cx="2148840" cy="34290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body:157"/>
          <p:cNvSpPr txBox="1"/>
          <p:nvPr/>
        </p:nvSpPr>
        <p:spPr>
          <a:xfrm>
            <a:off x="5038344" y="5207508"/>
            <a:ext cx="1984248" cy="342900"/>
          </a:xfrm>
          <a:prstGeom prst="rect">
            <a:avLst/>
          </a:prstGeom>
          <a:noFill/>
        </p:spPr>
        <p:txBody>
          <a:bodyPr wrap="square" lIns="22860" rIns="22860" tIns="22860" bIns="22860" anchor="ctr">
            <a:spAutoFit/>
          </a:bodyPr>
          <a:lstStyle/>
          <a:p>
            <a:pPr algn="l">
              <a:lnSpc>
                <a:spcPct val="98000"/>
              </a:lnSpc>
            </a:pPr>
            <a:r>
              <a:rPr sz="1000" b="0">
                <a:solidFill>
                  <a:srgbClr val="1E7A72"/>
                </a:solidFill>
                <a:latin typeface="Arial"/>
              </a:rPr>
              <a:t>Yes: g moves only on trusted reply</a:t>
            </a:r>
          </a:p>
        </p:txBody>
      </p:sp>
      <p:sp>
        <p:nvSpPr>
          <p:cNvPr id="159" name="Rectangle 158"/>
          <p:cNvSpPr/>
          <p:nvPr/>
        </p:nvSpPr>
        <p:spPr>
          <a:xfrm>
            <a:off x="7104888" y="5207508"/>
            <a:ext cx="1508760" cy="34290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body:159"/>
          <p:cNvSpPr txBox="1"/>
          <p:nvPr/>
        </p:nvSpPr>
        <p:spPr>
          <a:xfrm>
            <a:off x="7187183" y="5207508"/>
            <a:ext cx="1344168" cy="342900"/>
          </a:xfrm>
          <a:prstGeom prst="rect">
            <a:avLst/>
          </a:prstGeom>
          <a:noFill/>
        </p:spPr>
        <p:txBody>
          <a:bodyPr wrap="square" lIns="22860" rIns="22860" tIns="22860" bIns="22860" anchor="ctr">
            <a:spAutoFit/>
          </a:bodyPr>
          <a:lstStyle/>
          <a:p>
            <a:pPr algn="l">
              <a:lnSpc>
                <a:spcPct val="98000"/>
              </a:lnSpc>
            </a:pPr>
            <a:r>
              <a:rPr sz="1000" b="0">
                <a:solidFill>
                  <a:srgbClr val="1E7A72"/>
                </a:solidFill>
                <a:latin typeface="Arial"/>
              </a:rPr>
              <a:t>ASK with cost d, prob. q</a:t>
            </a:r>
          </a:p>
        </p:txBody>
      </p:sp>
      <p:sp>
        <p:nvSpPr>
          <p:cNvPr id="161" name="Rectangle 160"/>
          <p:cNvSpPr/>
          <p:nvPr/>
        </p:nvSpPr>
        <p:spPr>
          <a:xfrm>
            <a:off x="8613648" y="5207508"/>
            <a:ext cx="1417320" cy="34290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body:161"/>
          <p:cNvSpPr txBox="1"/>
          <p:nvPr/>
        </p:nvSpPr>
        <p:spPr>
          <a:xfrm>
            <a:off x="8695944" y="5207508"/>
            <a:ext cx="1252728" cy="342900"/>
          </a:xfrm>
          <a:prstGeom prst="rect">
            <a:avLst/>
          </a:prstGeom>
          <a:noFill/>
        </p:spPr>
        <p:txBody>
          <a:bodyPr wrap="square" lIns="22860" rIns="22860" tIns="22860" bIns="22860" anchor="ctr">
            <a:spAutoFit/>
          </a:bodyPr>
          <a:lstStyle/>
          <a:p>
            <a:pPr algn="l">
              <a:lnSpc>
                <a:spcPct val="98000"/>
              </a:lnSpc>
            </a:pPr>
            <a:r>
              <a:rPr sz="1000" b="0">
                <a:solidFill>
                  <a:srgbClr val="1E7A72"/>
                </a:solidFill>
                <a:latin typeface="Arial"/>
              </a:rPr>
              <a:t>Broker before; journal after</a:t>
            </a:r>
          </a:p>
        </p:txBody>
      </p:sp>
      <p:sp>
        <p:nvSpPr>
          <p:cNvPr id="163" name="Rectangle 162"/>
          <p:cNvSpPr/>
          <p:nvPr/>
        </p:nvSpPr>
        <p:spPr>
          <a:xfrm>
            <a:off x="10030968" y="5207508"/>
            <a:ext cx="1591056" cy="34290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body:163"/>
          <p:cNvSpPr txBox="1"/>
          <p:nvPr/>
        </p:nvSpPr>
        <p:spPr>
          <a:xfrm>
            <a:off x="10113264" y="5207508"/>
            <a:ext cx="1426464" cy="342900"/>
          </a:xfrm>
          <a:prstGeom prst="rect">
            <a:avLst/>
          </a:prstGeom>
          <a:noFill/>
        </p:spPr>
        <p:txBody>
          <a:bodyPr wrap="square" lIns="22860" rIns="22860" tIns="22860" bIns="22860" anchor="ctr">
            <a:spAutoFit/>
          </a:bodyPr>
          <a:lstStyle/>
          <a:p>
            <a:pPr algn="l">
              <a:lnSpc>
                <a:spcPct val="98000"/>
              </a:lnSpc>
            </a:pPr>
            <a:r>
              <a:rPr sz="1000" b="0">
                <a:solidFill>
                  <a:srgbClr val="1E7A72"/>
                </a:solidFill>
                <a:latin typeface="Arial"/>
              </a:rPr>
              <a:t>B selects from journal</a:t>
            </a:r>
          </a:p>
        </p:txBody>
      </p:sp>
      <p:sp>
        <p:nvSpPr>
          <p:cNvPr id="165" name="Rounded Rectangle 164"/>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body:165"/>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Prior methods decide where to enforce or monitor. A decides what to do next, then still enforces; B decides what to release.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15 / POSITIONING</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Where each method intervenes, and what is actually new.</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Prior methods sit at single points of the pipeline; the proposal spans planning and selection and keeps enforcement.</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19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3A6391"/>
                </a:solidFill>
                <a:latin typeface="Arial"/>
              </a:rPr>
              <a:t>THEORY</a:t>
            </a:r>
          </a:p>
        </p:txBody>
      </p:sp>
      <p:sp>
        <p:nvSpPr>
          <p:cNvPr id="37" name="source:36"/>
          <p:cNvSpPr txBox="1"/>
          <p:nvPr/>
        </p:nvSpPr>
        <p:spPr>
          <a:xfrm>
            <a:off x="566928" y="6400800"/>
            <a:ext cx="384048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Project: prior work and the contribution we can defend</a:t>
            </a:r>
          </a:p>
        </p:txBody>
      </p:sp>
      <p:sp>
        <p:nvSpPr>
          <p:cNvPr id="38" name="source:37"/>
          <p:cNvSpPr txBox="1"/>
          <p:nvPr/>
        </p:nvSpPr>
        <p:spPr>
          <a:xfrm>
            <a:off x="4553712" y="6400800"/>
            <a:ext cx="9144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AgentDojo</a:t>
            </a:r>
          </a:p>
        </p:txBody>
      </p:sp>
      <p:sp>
        <p:nvSpPr>
          <p:cNvPr id="39" name="source:38"/>
          <p:cNvSpPr txBox="1"/>
          <p:nvPr/>
        </p:nvSpPr>
        <p:spPr>
          <a:xfrm>
            <a:off x="5614416" y="6400800"/>
            <a:ext cx="9144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4"/>
              </a:rPr>
              <a:t>AI Control</a:t>
            </a:r>
          </a:p>
        </p:txBody>
      </p:sp>
      <p:sp>
        <p:nvSpPr>
          <p:cNvPr id="40" name="Rounded Rectangle 39"/>
          <p:cNvSpPr/>
          <p:nvPr/>
        </p:nvSpPr>
        <p:spPr>
          <a:xfrm>
            <a:off x="566928" y="3310128"/>
            <a:ext cx="1705356" cy="731520"/>
          </a:xfrm>
          <a:prstGeom prst="roundRect">
            <a:avLst>
              <a:gd name="adj" fmla="val 5000"/>
            </a:avLst>
          </a:prstGeom>
          <a:solidFill>
            <a:srgbClr val="3A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ody:40"/>
          <p:cNvSpPr txBox="1"/>
          <p:nvPr/>
        </p:nvSpPr>
        <p:spPr>
          <a:xfrm>
            <a:off x="640080" y="3346704"/>
            <a:ext cx="1559052" cy="365760"/>
          </a:xfrm>
          <a:prstGeom prst="rect">
            <a:avLst/>
          </a:prstGeom>
          <a:noFill/>
        </p:spPr>
        <p:txBody>
          <a:bodyPr wrap="square" lIns="22860" rIns="22860" tIns="22860" bIns="22860" anchor="ctr">
            <a:spAutoFit/>
          </a:bodyPr>
          <a:lstStyle/>
          <a:p>
            <a:pPr algn="ctr">
              <a:lnSpc>
                <a:spcPct val="108000"/>
              </a:lnSpc>
            </a:pPr>
            <a:r>
              <a:rPr sz="1400" b="1">
                <a:solidFill>
                  <a:srgbClr val="FFFFFF"/>
                </a:solidFill>
                <a:latin typeface="Arial"/>
              </a:rPr>
              <a:t>Propose</a:t>
            </a:r>
          </a:p>
        </p:txBody>
      </p:sp>
      <p:sp>
        <p:nvSpPr>
          <p:cNvPr id="42" name="body:41"/>
          <p:cNvSpPr txBox="1"/>
          <p:nvPr/>
        </p:nvSpPr>
        <p:spPr>
          <a:xfrm>
            <a:off x="640080" y="3675887"/>
            <a:ext cx="1559052" cy="310896"/>
          </a:xfrm>
          <a:prstGeom prst="rect">
            <a:avLst/>
          </a:prstGeom>
          <a:noFill/>
        </p:spPr>
        <p:txBody>
          <a:bodyPr wrap="square" lIns="22860" rIns="22860" tIns="22860" bIns="22860" anchor="ctr">
            <a:spAutoFit/>
          </a:bodyPr>
          <a:lstStyle/>
          <a:p>
            <a:pPr algn="ctr">
              <a:lnSpc>
                <a:spcPct val="108000"/>
              </a:lnSpc>
            </a:pPr>
            <a:r>
              <a:rPr sz="1050" b="0">
                <a:solidFill>
                  <a:srgbClr val="FFFFFF"/>
                </a:solidFill>
                <a:latin typeface="Arial"/>
              </a:rPr>
              <a:t>next action</a:t>
            </a:r>
          </a:p>
        </p:txBody>
      </p:sp>
      <p:sp>
        <p:nvSpPr>
          <p:cNvPr id="43" name="Rectangle 42"/>
          <p:cNvSpPr/>
          <p:nvPr/>
        </p:nvSpPr>
        <p:spPr>
          <a:xfrm>
            <a:off x="2290572" y="3664457"/>
            <a:ext cx="128016" cy="22860"/>
          </a:xfrm>
          <a:prstGeom prst="rect">
            <a:avLst/>
          </a:prstGeom>
          <a:solidFill>
            <a:srgbClr val="5F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Isosceles Triangle 43"/>
          <p:cNvSpPr/>
          <p:nvPr/>
        </p:nvSpPr>
        <p:spPr>
          <a:xfrm rot="5400000">
            <a:off x="2354580" y="3611879"/>
            <a:ext cx="128016" cy="128016"/>
          </a:xfrm>
          <a:prstGeom prst="triangle">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2436876" y="3310128"/>
            <a:ext cx="1705356" cy="73152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ody:45"/>
          <p:cNvSpPr txBox="1"/>
          <p:nvPr/>
        </p:nvSpPr>
        <p:spPr>
          <a:xfrm>
            <a:off x="2510028" y="3346704"/>
            <a:ext cx="1559052" cy="365760"/>
          </a:xfrm>
          <a:prstGeom prst="rect">
            <a:avLst/>
          </a:prstGeom>
          <a:noFill/>
        </p:spPr>
        <p:txBody>
          <a:bodyPr wrap="square" lIns="22860" rIns="22860" tIns="22860" bIns="22860" anchor="ctr">
            <a:spAutoFit/>
          </a:bodyPr>
          <a:lstStyle/>
          <a:p>
            <a:pPr algn="ctr">
              <a:lnSpc>
                <a:spcPct val="108000"/>
              </a:lnSpc>
            </a:pPr>
            <a:r>
              <a:rPr sz="1400" b="1">
                <a:solidFill>
                  <a:srgbClr val="FFFFFF"/>
                </a:solidFill>
                <a:latin typeface="Arial"/>
              </a:rPr>
              <a:t>Check</a:t>
            </a:r>
          </a:p>
        </p:txBody>
      </p:sp>
      <p:sp>
        <p:nvSpPr>
          <p:cNvPr id="47" name="body:46"/>
          <p:cNvSpPr txBox="1"/>
          <p:nvPr/>
        </p:nvSpPr>
        <p:spPr>
          <a:xfrm>
            <a:off x="2510028" y="3675887"/>
            <a:ext cx="1559052" cy="310896"/>
          </a:xfrm>
          <a:prstGeom prst="rect">
            <a:avLst/>
          </a:prstGeom>
          <a:noFill/>
        </p:spPr>
        <p:txBody>
          <a:bodyPr wrap="square" lIns="22860" rIns="22860" tIns="22860" bIns="22860" anchor="ctr">
            <a:spAutoFit/>
          </a:bodyPr>
          <a:lstStyle/>
          <a:p>
            <a:pPr algn="ctr">
              <a:lnSpc>
                <a:spcPct val="108000"/>
              </a:lnSpc>
            </a:pPr>
            <a:r>
              <a:rPr sz="1050" b="0">
                <a:solidFill>
                  <a:srgbClr val="FFFFFF"/>
                </a:solidFill>
                <a:latin typeface="Arial"/>
              </a:rPr>
              <a:t>before dispatch</a:t>
            </a:r>
          </a:p>
        </p:txBody>
      </p:sp>
      <p:sp>
        <p:nvSpPr>
          <p:cNvPr id="48" name="Rectangle 47"/>
          <p:cNvSpPr/>
          <p:nvPr/>
        </p:nvSpPr>
        <p:spPr>
          <a:xfrm>
            <a:off x="4160520" y="3664457"/>
            <a:ext cx="128016" cy="22860"/>
          </a:xfrm>
          <a:prstGeom prst="rect">
            <a:avLst/>
          </a:prstGeom>
          <a:solidFill>
            <a:srgbClr val="5F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Isosceles Triangle 48"/>
          <p:cNvSpPr/>
          <p:nvPr/>
        </p:nvSpPr>
        <p:spPr>
          <a:xfrm rot="5400000">
            <a:off x="4224528" y="3611879"/>
            <a:ext cx="128016" cy="128016"/>
          </a:xfrm>
          <a:prstGeom prst="triangle">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4306824" y="3310128"/>
            <a:ext cx="1705356" cy="731520"/>
          </a:xfrm>
          <a:prstGeom prst="roundRect">
            <a:avLst>
              <a:gd name="adj" fmla="val 5000"/>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ody:50"/>
          <p:cNvSpPr txBox="1"/>
          <p:nvPr/>
        </p:nvSpPr>
        <p:spPr>
          <a:xfrm>
            <a:off x="4379976" y="3346704"/>
            <a:ext cx="1559052" cy="365760"/>
          </a:xfrm>
          <a:prstGeom prst="rect">
            <a:avLst/>
          </a:prstGeom>
          <a:noFill/>
        </p:spPr>
        <p:txBody>
          <a:bodyPr wrap="square" lIns="22860" rIns="22860" tIns="22860" bIns="22860" anchor="ctr">
            <a:spAutoFit/>
          </a:bodyPr>
          <a:lstStyle/>
          <a:p>
            <a:pPr algn="ctr">
              <a:lnSpc>
                <a:spcPct val="108000"/>
              </a:lnSpc>
            </a:pPr>
            <a:r>
              <a:rPr sz="1400" b="1">
                <a:solidFill>
                  <a:srgbClr val="FFFFFF"/>
                </a:solidFill>
                <a:latin typeface="Arial"/>
              </a:rPr>
              <a:t>Execute</a:t>
            </a:r>
          </a:p>
        </p:txBody>
      </p:sp>
      <p:sp>
        <p:nvSpPr>
          <p:cNvPr id="52" name="body:51"/>
          <p:cNvSpPr txBox="1"/>
          <p:nvPr/>
        </p:nvSpPr>
        <p:spPr>
          <a:xfrm>
            <a:off x="4379976" y="3675887"/>
            <a:ext cx="1559052" cy="310896"/>
          </a:xfrm>
          <a:prstGeom prst="rect">
            <a:avLst/>
          </a:prstGeom>
          <a:noFill/>
        </p:spPr>
        <p:txBody>
          <a:bodyPr wrap="square" lIns="22860" rIns="22860" tIns="22860" bIns="22860" anchor="ctr">
            <a:spAutoFit/>
          </a:bodyPr>
          <a:lstStyle/>
          <a:p>
            <a:pPr algn="ctr">
              <a:lnSpc>
                <a:spcPct val="108000"/>
              </a:lnSpc>
            </a:pPr>
            <a:r>
              <a:rPr sz="1050" b="0">
                <a:solidFill>
                  <a:srgbClr val="FFFFFF"/>
                </a:solidFill>
                <a:latin typeface="Arial"/>
              </a:rPr>
              <a:t>tool call</a:t>
            </a:r>
          </a:p>
        </p:txBody>
      </p:sp>
      <p:sp>
        <p:nvSpPr>
          <p:cNvPr id="53" name="Rectangle 52"/>
          <p:cNvSpPr/>
          <p:nvPr/>
        </p:nvSpPr>
        <p:spPr>
          <a:xfrm>
            <a:off x="6030468" y="3664457"/>
            <a:ext cx="128016" cy="22860"/>
          </a:xfrm>
          <a:prstGeom prst="rect">
            <a:avLst/>
          </a:prstGeom>
          <a:solidFill>
            <a:srgbClr val="5F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Isosceles Triangle 53"/>
          <p:cNvSpPr/>
          <p:nvPr/>
        </p:nvSpPr>
        <p:spPr>
          <a:xfrm rot="5400000">
            <a:off x="6094476" y="3611879"/>
            <a:ext cx="128016" cy="128016"/>
          </a:xfrm>
          <a:prstGeom prst="triangle">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6176772" y="3310128"/>
            <a:ext cx="1705356" cy="731520"/>
          </a:xfrm>
          <a:prstGeom prst="roundRect">
            <a:avLst>
              <a:gd name="adj" fmla="val 5000"/>
            </a:avLst>
          </a:prstGeom>
          <a:solidFill>
            <a:srgbClr val="B46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ody:55"/>
          <p:cNvSpPr txBox="1"/>
          <p:nvPr/>
        </p:nvSpPr>
        <p:spPr>
          <a:xfrm>
            <a:off x="6249924" y="3346704"/>
            <a:ext cx="1559052" cy="365760"/>
          </a:xfrm>
          <a:prstGeom prst="rect">
            <a:avLst/>
          </a:prstGeom>
          <a:noFill/>
        </p:spPr>
        <p:txBody>
          <a:bodyPr wrap="square" lIns="22860" rIns="22860" tIns="22860" bIns="22860" anchor="ctr">
            <a:spAutoFit/>
          </a:bodyPr>
          <a:lstStyle/>
          <a:p>
            <a:pPr algn="ctr">
              <a:lnSpc>
                <a:spcPct val="108000"/>
              </a:lnSpc>
            </a:pPr>
            <a:r>
              <a:rPr sz="1400" b="1">
                <a:solidFill>
                  <a:srgbClr val="FFFFFF"/>
                </a:solidFill>
                <a:latin typeface="Arial"/>
              </a:rPr>
              <a:t>Journal</a:t>
            </a:r>
          </a:p>
        </p:txBody>
      </p:sp>
      <p:sp>
        <p:nvSpPr>
          <p:cNvPr id="57" name="body:56"/>
          <p:cNvSpPr txBox="1"/>
          <p:nvPr/>
        </p:nvSpPr>
        <p:spPr>
          <a:xfrm>
            <a:off x="6249924" y="3675887"/>
            <a:ext cx="1559052" cy="310896"/>
          </a:xfrm>
          <a:prstGeom prst="rect">
            <a:avLst/>
          </a:prstGeom>
          <a:noFill/>
        </p:spPr>
        <p:txBody>
          <a:bodyPr wrap="square" lIns="22860" rIns="22860" tIns="22860" bIns="22860" anchor="ctr">
            <a:spAutoFit/>
          </a:bodyPr>
          <a:lstStyle/>
          <a:p>
            <a:pPr algn="ctr">
              <a:lnSpc>
                <a:spcPct val="108000"/>
              </a:lnSpc>
            </a:pPr>
            <a:r>
              <a:rPr sz="1050" b="0">
                <a:solidFill>
                  <a:srgbClr val="FFFFFF"/>
                </a:solidFill>
                <a:latin typeface="Arial"/>
              </a:rPr>
              <a:t>service effects</a:t>
            </a:r>
          </a:p>
        </p:txBody>
      </p:sp>
      <p:sp>
        <p:nvSpPr>
          <p:cNvPr id="58" name="Rectangle 57"/>
          <p:cNvSpPr/>
          <p:nvPr/>
        </p:nvSpPr>
        <p:spPr>
          <a:xfrm>
            <a:off x="7900416" y="3664457"/>
            <a:ext cx="128016" cy="22860"/>
          </a:xfrm>
          <a:prstGeom prst="rect">
            <a:avLst/>
          </a:prstGeom>
          <a:solidFill>
            <a:srgbClr val="5F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Isosceles Triangle 58"/>
          <p:cNvSpPr/>
          <p:nvPr/>
        </p:nvSpPr>
        <p:spPr>
          <a:xfrm rot="5400000">
            <a:off x="7964424" y="3611879"/>
            <a:ext cx="128016" cy="128016"/>
          </a:xfrm>
          <a:prstGeom prst="triangle">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8046720" y="3310128"/>
            <a:ext cx="1705356" cy="731520"/>
          </a:xfrm>
          <a:prstGeom prst="roundRect">
            <a:avLst>
              <a:gd name="adj" fmla="val 5000"/>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ody:60"/>
          <p:cNvSpPr txBox="1"/>
          <p:nvPr/>
        </p:nvSpPr>
        <p:spPr>
          <a:xfrm>
            <a:off x="8119872" y="3346704"/>
            <a:ext cx="1559052" cy="365760"/>
          </a:xfrm>
          <a:prstGeom prst="rect">
            <a:avLst/>
          </a:prstGeom>
          <a:noFill/>
        </p:spPr>
        <p:txBody>
          <a:bodyPr wrap="square" lIns="22860" rIns="22860" tIns="22860" bIns="22860" anchor="ctr">
            <a:spAutoFit/>
          </a:bodyPr>
          <a:lstStyle/>
          <a:p>
            <a:pPr algn="ctr">
              <a:lnSpc>
                <a:spcPct val="108000"/>
              </a:lnSpc>
            </a:pPr>
            <a:r>
              <a:rPr sz="1400" b="1">
                <a:solidFill>
                  <a:srgbClr val="FFFFFF"/>
                </a:solidFill>
                <a:latin typeface="Arial"/>
              </a:rPr>
              <a:t>Score</a:t>
            </a:r>
          </a:p>
        </p:txBody>
      </p:sp>
      <p:sp>
        <p:nvSpPr>
          <p:cNvPr id="62" name="body:61"/>
          <p:cNvSpPr txBox="1"/>
          <p:nvPr/>
        </p:nvSpPr>
        <p:spPr>
          <a:xfrm>
            <a:off x="8119872" y="3675887"/>
            <a:ext cx="1559052" cy="310896"/>
          </a:xfrm>
          <a:prstGeom prst="rect">
            <a:avLst/>
          </a:prstGeom>
          <a:noFill/>
        </p:spPr>
        <p:txBody>
          <a:bodyPr wrap="square" lIns="22860" rIns="22860" tIns="22860" bIns="22860" anchor="ctr">
            <a:spAutoFit/>
          </a:bodyPr>
          <a:lstStyle/>
          <a:p>
            <a:pPr algn="ctr">
              <a:lnSpc>
                <a:spcPct val="108000"/>
              </a:lnSpc>
            </a:pPr>
            <a:r>
              <a:rPr sz="1050" b="0">
                <a:solidFill>
                  <a:srgbClr val="FFFFFF"/>
                </a:solidFill>
                <a:latin typeface="Arial"/>
              </a:rPr>
              <a:t>U, R, C, F</a:t>
            </a:r>
          </a:p>
        </p:txBody>
      </p:sp>
      <p:sp>
        <p:nvSpPr>
          <p:cNvPr id="63" name="Rectangle 62"/>
          <p:cNvSpPr/>
          <p:nvPr/>
        </p:nvSpPr>
        <p:spPr>
          <a:xfrm>
            <a:off x="9770364" y="3664457"/>
            <a:ext cx="128016" cy="22860"/>
          </a:xfrm>
          <a:prstGeom prst="rect">
            <a:avLst/>
          </a:prstGeom>
          <a:solidFill>
            <a:srgbClr val="5F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Isosceles Triangle 63"/>
          <p:cNvSpPr/>
          <p:nvPr/>
        </p:nvSpPr>
        <p:spPr>
          <a:xfrm rot="5400000">
            <a:off x="9834372" y="3611879"/>
            <a:ext cx="128016" cy="128016"/>
          </a:xfrm>
          <a:prstGeom prst="triangle">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9916668" y="3310128"/>
            <a:ext cx="1705356" cy="731520"/>
          </a:xfrm>
          <a:prstGeom prst="roundRect">
            <a:avLst>
              <a:gd name="adj" fmla="val 5000"/>
            </a:avLst>
          </a:prstGeom>
          <a:solidFill>
            <a:srgbClr val="B04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ody:65"/>
          <p:cNvSpPr txBox="1"/>
          <p:nvPr/>
        </p:nvSpPr>
        <p:spPr>
          <a:xfrm>
            <a:off x="9989820" y="3346704"/>
            <a:ext cx="1559052" cy="365760"/>
          </a:xfrm>
          <a:prstGeom prst="rect">
            <a:avLst/>
          </a:prstGeom>
          <a:noFill/>
        </p:spPr>
        <p:txBody>
          <a:bodyPr wrap="square" lIns="22860" rIns="22860" tIns="22860" bIns="22860" anchor="ctr">
            <a:spAutoFit/>
          </a:bodyPr>
          <a:lstStyle/>
          <a:p>
            <a:pPr algn="ctr">
              <a:lnSpc>
                <a:spcPct val="108000"/>
              </a:lnSpc>
            </a:pPr>
            <a:r>
              <a:rPr sz="1400" b="1">
                <a:solidFill>
                  <a:srgbClr val="FFFFFF"/>
                </a:solidFill>
                <a:latin typeface="Arial"/>
              </a:rPr>
              <a:t>Select / release</a:t>
            </a:r>
          </a:p>
        </p:txBody>
      </p:sp>
      <p:sp>
        <p:nvSpPr>
          <p:cNvPr id="67" name="body:66"/>
          <p:cNvSpPr txBox="1"/>
          <p:nvPr/>
        </p:nvSpPr>
        <p:spPr>
          <a:xfrm>
            <a:off x="9989820" y="3675887"/>
            <a:ext cx="1559052" cy="310896"/>
          </a:xfrm>
          <a:prstGeom prst="rect">
            <a:avLst/>
          </a:prstGeom>
          <a:noFill/>
        </p:spPr>
        <p:txBody>
          <a:bodyPr wrap="square" lIns="22860" rIns="22860" tIns="22860" bIns="22860" anchor="ctr">
            <a:spAutoFit/>
          </a:bodyPr>
          <a:lstStyle/>
          <a:p>
            <a:pPr algn="ctr">
              <a:lnSpc>
                <a:spcPct val="108000"/>
              </a:lnSpc>
            </a:pPr>
            <a:r>
              <a:rPr sz="1050" b="0">
                <a:solidFill>
                  <a:srgbClr val="FFFFFF"/>
                </a:solidFill>
                <a:latin typeface="Arial"/>
              </a:rPr>
              <a:t>next policy</a:t>
            </a:r>
          </a:p>
        </p:txBody>
      </p:sp>
      <p:sp>
        <p:nvSpPr>
          <p:cNvPr id="68" name="Rounded Rectangle 67"/>
          <p:cNvSpPr/>
          <p:nvPr/>
        </p:nvSpPr>
        <p:spPr>
          <a:xfrm>
            <a:off x="566928" y="2157984"/>
            <a:ext cx="1705356" cy="292608"/>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abel:68"/>
          <p:cNvSpPr txBox="1"/>
          <p:nvPr/>
        </p:nvSpPr>
        <p:spPr>
          <a:xfrm>
            <a:off x="621792" y="2157984"/>
            <a:ext cx="1595628" cy="292608"/>
          </a:xfrm>
          <a:prstGeom prst="rect">
            <a:avLst/>
          </a:prstGeom>
          <a:noFill/>
        </p:spPr>
        <p:txBody>
          <a:bodyPr wrap="square" lIns="22860" rIns="22860" tIns="22860" bIns="22860" anchor="ctr">
            <a:spAutoFit/>
          </a:bodyPr>
          <a:lstStyle/>
          <a:p>
            <a:pPr algn="ctr">
              <a:lnSpc>
                <a:spcPct val="108000"/>
              </a:lnSpc>
            </a:pPr>
            <a:r>
              <a:rPr sz="950" b="1">
                <a:solidFill>
                  <a:srgbClr val="5F6E80"/>
                </a:solidFill>
                <a:latin typeface="Arial"/>
              </a:rPr>
              <a:t>POMCP · CPO/RCPO</a:t>
            </a:r>
          </a:p>
        </p:txBody>
      </p:sp>
      <p:sp>
        <p:nvSpPr>
          <p:cNvPr id="70" name="Rounded Rectangle 69"/>
          <p:cNvSpPr/>
          <p:nvPr/>
        </p:nvSpPr>
        <p:spPr>
          <a:xfrm>
            <a:off x="566928" y="2523744"/>
            <a:ext cx="1705356" cy="292608"/>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label:70"/>
          <p:cNvSpPr txBox="1"/>
          <p:nvPr/>
        </p:nvSpPr>
        <p:spPr>
          <a:xfrm>
            <a:off x="621792" y="2523744"/>
            <a:ext cx="1595628" cy="292608"/>
          </a:xfrm>
          <a:prstGeom prst="rect">
            <a:avLst/>
          </a:prstGeom>
          <a:noFill/>
        </p:spPr>
        <p:txBody>
          <a:bodyPr wrap="square" lIns="22860" rIns="22860" tIns="22860" bIns="22860" anchor="ctr">
            <a:spAutoFit/>
          </a:bodyPr>
          <a:lstStyle/>
          <a:p>
            <a:pPr algn="ctr">
              <a:lnSpc>
                <a:spcPct val="108000"/>
              </a:lnSpc>
            </a:pPr>
            <a:r>
              <a:rPr sz="950" b="1">
                <a:solidFill>
                  <a:srgbClr val="5F6E80"/>
                </a:solidFill>
                <a:latin typeface="Arial"/>
              </a:rPr>
              <a:t>prompting · abort</a:t>
            </a:r>
          </a:p>
        </p:txBody>
      </p:sp>
      <p:sp>
        <p:nvSpPr>
          <p:cNvPr id="72" name="Rounded Rectangle 71"/>
          <p:cNvSpPr/>
          <p:nvPr/>
        </p:nvSpPr>
        <p:spPr>
          <a:xfrm>
            <a:off x="566928" y="2889504"/>
            <a:ext cx="1705356" cy="292608"/>
          </a:xfrm>
          <a:prstGeom prst="roundRect">
            <a:avLst>
              <a:gd name="adj" fmla="val 5000"/>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label:72"/>
          <p:cNvSpPr txBox="1"/>
          <p:nvPr/>
        </p:nvSpPr>
        <p:spPr>
          <a:xfrm>
            <a:off x="621792" y="2889504"/>
            <a:ext cx="1595628" cy="292608"/>
          </a:xfrm>
          <a:prstGeom prst="rect">
            <a:avLst/>
          </a:prstGeom>
          <a:noFill/>
        </p:spPr>
        <p:txBody>
          <a:bodyPr wrap="square" lIns="22860" rIns="22860" tIns="22860" bIns="22860" anchor="ctr">
            <a:spAutoFit/>
          </a:bodyPr>
          <a:lstStyle/>
          <a:p>
            <a:pPr algn="ctr">
              <a:lnSpc>
                <a:spcPct val="108000"/>
              </a:lnSpc>
            </a:pPr>
            <a:r>
              <a:rPr sz="950" b="1">
                <a:solidFill>
                  <a:srgbClr val="1E7A72"/>
                </a:solidFill>
                <a:latin typeface="Arial"/>
              </a:rPr>
              <a:t>Algorithm A</a:t>
            </a:r>
          </a:p>
        </p:txBody>
      </p:sp>
      <p:sp>
        <p:nvSpPr>
          <p:cNvPr id="74" name="Rounded Rectangle 73"/>
          <p:cNvSpPr/>
          <p:nvPr/>
        </p:nvSpPr>
        <p:spPr>
          <a:xfrm>
            <a:off x="2436876" y="2157984"/>
            <a:ext cx="1705356" cy="292608"/>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label:74"/>
          <p:cNvSpPr txBox="1"/>
          <p:nvPr/>
        </p:nvSpPr>
        <p:spPr>
          <a:xfrm>
            <a:off x="2491740" y="2157984"/>
            <a:ext cx="1595628" cy="292608"/>
          </a:xfrm>
          <a:prstGeom prst="rect">
            <a:avLst/>
          </a:prstGeom>
          <a:noFill/>
        </p:spPr>
        <p:txBody>
          <a:bodyPr wrap="square" lIns="22860" rIns="22860" tIns="22860" bIns="22860" anchor="ctr">
            <a:spAutoFit/>
          </a:bodyPr>
          <a:lstStyle/>
          <a:p>
            <a:pPr algn="ctr">
              <a:lnSpc>
                <a:spcPct val="108000"/>
              </a:lnSpc>
            </a:pPr>
            <a:r>
              <a:rPr sz="950" b="1">
                <a:solidFill>
                  <a:srgbClr val="5F6E80"/>
                </a:solidFill>
                <a:latin typeface="Arial"/>
              </a:rPr>
              <a:t>CaMeL · Progent</a:t>
            </a:r>
          </a:p>
        </p:txBody>
      </p:sp>
      <p:sp>
        <p:nvSpPr>
          <p:cNvPr id="76" name="Rounded Rectangle 75"/>
          <p:cNvSpPr/>
          <p:nvPr/>
        </p:nvSpPr>
        <p:spPr>
          <a:xfrm>
            <a:off x="2436876" y="2523744"/>
            <a:ext cx="1705356" cy="292608"/>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label:76"/>
          <p:cNvSpPr txBox="1"/>
          <p:nvPr/>
        </p:nvSpPr>
        <p:spPr>
          <a:xfrm>
            <a:off x="2491740" y="2523744"/>
            <a:ext cx="1595628" cy="292608"/>
          </a:xfrm>
          <a:prstGeom prst="rect">
            <a:avLst/>
          </a:prstGeom>
          <a:noFill/>
        </p:spPr>
        <p:txBody>
          <a:bodyPr wrap="square" lIns="22860" rIns="22860" tIns="22860" bIns="22860" anchor="ctr">
            <a:spAutoFit/>
          </a:bodyPr>
          <a:lstStyle/>
          <a:p>
            <a:pPr algn="ctr">
              <a:lnSpc>
                <a:spcPct val="108000"/>
              </a:lnSpc>
            </a:pPr>
            <a:r>
              <a:rPr sz="950" b="1">
                <a:solidFill>
                  <a:srgbClr val="5F6E80"/>
                </a:solidFill>
                <a:latin typeface="Arial"/>
              </a:rPr>
              <a:t>shields · trusted monitor</a:t>
            </a:r>
          </a:p>
        </p:txBody>
      </p:sp>
      <p:sp>
        <p:nvSpPr>
          <p:cNvPr id="78" name="Rounded Rectangle 77"/>
          <p:cNvSpPr/>
          <p:nvPr/>
        </p:nvSpPr>
        <p:spPr>
          <a:xfrm>
            <a:off x="2436876" y="2889504"/>
            <a:ext cx="1705356" cy="292608"/>
          </a:xfrm>
          <a:prstGeom prst="roundRect">
            <a:avLst>
              <a:gd name="adj" fmla="val 5000"/>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label:78"/>
          <p:cNvSpPr txBox="1"/>
          <p:nvPr/>
        </p:nvSpPr>
        <p:spPr>
          <a:xfrm>
            <a:off x="2491740" y="2889504"/>
            <a:ext cx="1595628" cy="292608"/>
          </a:xfrm>
          <a:prstGeom prst="rect">
            <a:avLst/>
          </a:prstGeom>
          <a:noFill/>
        </p:spPr>
        <p:txBody>
          <a:bodyPr wrap="square" lIns="22860" rIns="22860" tIns="22860" bIns="22860" anchor="ctr">
            <a:spAutoFit/>
          </a:bodyPr>
          <a:lstStyle/>
          <a:p>
            <a:pPr algn="ctr">
              <a:lnSpc>
                <a:spcPct val="108000"/>
              </a:lnSpc>
            </a:pPr>
            <a:r>
              <a:rPr sz="950" b="1">
                <a:solidFill>
                  <a:srgbClr val="1E7A72"/>
                </a:solidFill>
                <a:latin typeface="Arial"/>
              </a:rPr>
              <a:t>broker (A)</a:t>
            </a:r>
          </a:p>
        </p:txBody>
      </p:sp>
      <p:sp>
        <p:nvSpPr>
          <p:cNvPr id="80" name="Rounded Rectangle 79"/>
          <p:cNvSpPr/>
          <p:nvPr/>
        </p:nvSpPr>
        <p:spPr>
          <a:xfrm>
            <a:off x="6176772" y="2157984"/>
            <a:ext cx="1705356" cy="292608"/>
          </a:xfrm>
          <a:prstGeom prst="roundRect">
            <a:avLst>
              <a:gd name="adj" fmla="val 5000"/>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label:80"/>
          <p:cNvSpPr txBox="1"/>
          <p:nvPr/>
        </p:nvSpPr>
        <p:spPr>
          <a:xfrm>
            <a:off x="6231636" y="2157984"/>
            <a:ext cx="1595628" cy="292608"/>
          </a:xfrm>
          <a:prstGeom prst="rect">
            <a:avLst/>
          </a:prstGeom>
          <a:noFill/>
        </p:spPr>
        <p:txBody>
          <a:bodyPr wrap="square" lIns="22860" rIns="22860" tIns="22860" bIns="22860" anchor="ctr">
            <a:spAutoFit/>
          </a:bodyPr>
          <a:lstStyle/>
          <a:p>
            <a:pPr algn="ctr">
              <a:lnSpc>
                <a:spcPct val="108000"/>
              </a:lnSpc>
            </a:pPr>
            <a:r>
              <a:rPr sz="950" b="1">
                <a:solidFill>
                  <a:srgbClr val="1E7A72"/>
                </a:solidFill>
                <a:latin typeface="Arial"/>
              </a:rPr>
              <a:t>effect journal</a:t>
            </a:r>
          </a:p>
        </p:txBody>
      </p:sp>
      <p:sp>
        <p:nvSpPr>
          <p:cNvPr id="82" name="Rounded Rectangle 81"/>
          <p:cNvSpPr/>
          <p:nvPr/>
        </p:nvSpPr>
        <p:spPr>
          <a:xfrm>
            <a:off x="6176772" y="2523744"/>
            <a:ext cx="1705356" cy="292608"/>
          </a:xfrm>
          <a:prstGeom prst="roundRect">
            <a:avLst>
              <a:gd name="adj" fmla="val 5000"/>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label:82"/>
          <p:cNvSpPr txBox="1"/>
          <p:nvPr/>
        </p:nvSpPr>
        <p:spPr>
          <a:xfrm>
            <a:off x="6231636" y="2523744"/>
            <a:ext cx="1595628" cy="292608"/>
          </a:xfrm>
          <a:prstGeom prst="rect">
            <a:avLst/>
          </a:prstGeom>
          <a:noFill/>
        </p:spPr>
        <p:txBody>
          <a:bodyPr wrap="square" lIns="22860" rIns="22860" tIns="22860" bIns="22860" anchor="ctr">
            <a:spAutoFit/>
          </a:bodyPr>
          <a:lstStyle/>
          <a:p>
            <a:pPr algn="ctr">
              <a:lnSpc>
                <a:spcPct val="108000"/>
              </a:lnSpc>
            </a:pPr>
            <a:r>
              <a:rPr sz="950" b="1">
                <a:solidFill>
                  <a:srgbClr val="1E7A72"/>
                </a:solidFill>
                <a:latin typeface="Arial"/>
              </a:rPr>
              <a:t>(ours, instrumented)</a:t>
            </a:r>
          </a:p>
        </p:txBody>
      </p:sp>
      <p:sp>
        <p:nvSpPr>
          <p:cNvPr id="84" name="Rounded Rectangle 83"/>
          <p:cNvSpPr/>
          <p:nvPr/>
        </p:nvSpPr>
        <p:spPr>
          <a:xfrm>
            <a:off x="8046720" y="2157984"/>
            <a:ext cx="1705356" cy="292608"/>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label:84"/>
          <p:cNvSpPr txBox="1"/>
          <p:nvPr/>
        </p:nvSpPr>
        <p:spPr>
          <a:xfrm>
            <a:off x="8101584" y="2157984"/>
            <a:ext cx="1595628" cy="292608"/>
          </a:xfrm>
          <a:prstGeom prst="rect">
            <a:avLst/>
          </a:prstGeom>
          <a:noFill/>
        </p:spPr>
        <p:txBody>
          <a:bodyPr wrap="square" lIns="22860" rIns="22860" tIns="22860" bIns="22860" anchor="ctr">
            <a:spAutoFit/>
          </a:bodyPr>
          <a:lstStyle/>
          <a:p>
            <a:pPr algn="ctr">
              <a:lnSpc>
                <a:spcPct val="108000"/>
              </a:lnSpc>
            </a:pPr>
            <a:r>
              <a:rPr sz="950" b="1">
                <a:solidFill>
                  <a:srgbClr val="5F6E80"/>
                </a:solidFill>
                <a:latin typeface="Arial"/>
              </a:rPr>
              <a:t>scorer · T / T+J / J*</a:t>
            </a:r>
          </a:p>
        </p:txBody>
      </p:sp>
      <p:sp>
        <p:nvSpPr>
          <p:cNvPr id="86" name="Rounded Rectangle 85"/>
          <p:cNvSpPr/>
          <p:nvPr/>
        </p:nvSpPr>
        <p:spPr>
          <a:xfrm>
            <a:off x="8046720" y="2523744"/>
            <a:ext cx="1705356" cy="292608"/>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label:86"/>
          <p:cNvSpPr txBox="1"/>
          <p:nvPr/>
        </p:nvSpPr>
        <p:spPr>
          <a:xfrm>
            <a:off x="8101584" y="2523744"/>
            <a:ext cx="1595628" cy="292608"/>
          </a:xfrm>
          <a:prstGeom prst="rect">
            <a:avLst/>
          </a:prstGeom>
          <a:noFill/>
        </p:spPr>
        <p:txBody>
          <a:bodyPr wrap="square" lIns="22860" rIns="22860" tIns="22860" bIns="22860" anchor="ctr">
            <a:spAutoFit/>
          </a:bodyPr>
          <a:lstStyle/>
          <a:p>
            <a:pPr algn="ctr">
              <a:lnSpc>
                <a:spcPct val="108000"/>
              </a:lnSpc>
            </a:pPr>
            <a:r>
              <a:rPr sz="950" b="1">
                <a:solidFill>
                  <a:srgbClr val="5F6E80"/>
                </a:solidFill>
                <a:latin typeface="Arial"/>
              </a:rPr>
              <a:t>transcript monitors</a:t>
            </a:r>
          </a:p>
        </p:txBody>
      </p:sp>
      <p:sp>
        <p:nvSpPr>
          <p:cNvPr id="88" name="Rounded Rectangle 87"/>
          <p:cNvSpPr/>
          <p:nvPr/>
        </p:nvSpPr>
        <p:spPr>
          <a:xfrm>
            <a:off x="9916668" y="2157984"/>
            <a:ext cx="1705356" cy="292608"/>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label:88"/>
          <p:cNvSpPr txBox="1"/>
          <p:nvPr/>
        </p:nvSpPr>
        <p:spPr>
          <a:xfrm>
            <a:off x="9971532" y="2157984"/>
            <a:ext cx="1595628" cy="292608"/>
          </a:xfrm>
          <a:prstGeom prst="rect">
            <a:avLst/>
          </a:prstGeom>
          <a:noFill/>
        </p:spPr>
        <p:txBody>
          <a:bodyPr wrap="square" lIns="22860" rIns="22860" tIns="22860" bIns="22860" anchor="ctr">
            <a:spAutoFit/>
          </a:bodyPr>
          <a:lstStyle/>
          <a:p>
            <a:pPr algn="ctr">
              <a:lnSpc>
                <a:spcPct val="108000"/>
              </a:lnSpc>
            </a:pPr>
            <a:r>
              <a:rPr sz="950" b="1">
                <a:solidFill>
                  <a:srgbClr val="5F6E80"/>
                </a:solidFill>
                <a:latin typeface="Arial"/>
              </a:rPr>
              <a:t>AI Control protocols</a:t>
            </a:r>
          </a:p>
        </p:txBody>
      </p:sp>
      <p:sp>
        <p:nvSpPr>
          <p:cNvPr id="90" name="Rounded Rectangle 89"/>
          <p:cNvSpPr/>
          <p:nvPr/>
        </p:nvSpPr>
        <p:spPr>
          <a:xfrm>
            <a:off x="9916668" y="2523744"/>
            <a:ext cx="1705356" cy="292608"/>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label:90"/>
          <p:cNvSpPr txBox="1"/>
          <p:nvPr/>
        </p:nvSpPr>
        <p:spPr>
          <a:xfrm>
            <a:off x="9971532" y="2523744"/>
            <a:ext cx="1595628" cy="292608"/>
          </a:xfrm>
          <a:prstGeom prst="rect">
            <a:avLst/>
          </a:prstGeom>
          <a:noFill/>
        </p:spPr>
        <p:txBody>
          <a:bodyPr wrap="square" lIns="22860" rIns="22860" tIns="22860" bIns="22860" anchor="ctr">
            <a:spAutoFit/>
          </a:bodyPr>
          <a:lstStyle/>
          <a:p>
            <a:pPr algn="ctr">
              <a:lnSpc>
                <a:spcPct val="108000"/>
              </a:lnSpc>
            </a:pPr>
            <a:r>
              <a:rPr sz="950" b="1">
                <a:solidFill>
                  <a:srgbClr val="5F6E80"/>
                </a:solidFill>
                <a:latin typeface="Arial"/>
              </a:rPr>
              <a:t>regression gate</a:t>
            </a:r>
          </a:p>
        </p:txBody>
      </p:sp>
      <p:sp>
        <p:nvSpPr>
          <p:cNvPr id="92" name="Rounded Rectangle 91"/>
          <p:cNvSpPr/>
          <p:nvPr/>
        </p:nvSpPr>
        <p:spPr>
          <a:xfrm>
            <a:off x="9916668" y="2889504"/>
            <a:ext cx="1705356" cy="292608"/>
          </a:xfrm>
          <a:prstGeom prst="roundRect">
            <a:avLst>
              <a:gd name="adj" fmla="val 5000"/>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label:92"/>
          <p:cNvSpPr txBox="1"/>
          <p:nvPr/>
        </p:nvSpPr>
        <p:spPr>
          <a:xfrm>
            <a:off x="9971532" y="2889504"/>
            <a:ext cx="1595628" cy="292608"/>
          </a:xfrm>
          <a:prstGeom prst="rect">
            <a:avLst/>
          </a:prstGeom>
          <a:noFill/>
        </p:spPr>
        <p:txBody>
          <a:bodyPr wrap="square" lIns="22860" rIns="22860" tIns="22860" bIns="22860" anchor="ctr">
            <a:spAutoFit/>
          </a:bodyPr>
          <a:lstStyle/>
          <a:p>
            <a:pPr algn="ctr">
              <a:lnSpc>
                <a:spcPct val="108000"/>
              </a:lnSpc>
            </a:pPr>
            <a:r>
              <a:rPr sz="950" b="1">
                <a:solidFill>
                  <a:srgbClr val="1E7A72"/>
                </a:solidFill>
                <a:latin typeface="Arial"/>
              </a:rPr>
              <a:t>Algorithm B</a:t>
            </a:r>
          </a:p>
        </p:txBody>
      </p:sp>
      <p:sp>
        <p:nvSpPr>
          <p:cNvPr id="94" name="Rectangle 93"/>
          <p:cNvSpPr/>
          <p:nvPr/>
        </p:nvSpPr>
        <p:spPr>
          <a:xfrm>
            <a:off x="566928" y="4224528"/>
            <a:ext cx="5394960" cy="1316736"/>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566928" y="4224528"/>
            <a:ext cx="64008" cy="1316736"/>
          </a:xfrm>
          <a:prstGeom prst="rect">
            <a:avLst/>
          </a:prstGeom>
          <a:solidFill>
            <a:srgbClr val="5F6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body:95"/>
          <p:cNvSpPr txBox="1"/>
          <p:nvPr/>
        </p:nvSpPr>
        <p:spPr>
          <a:xfrm>
            <a:off x="768096" y="4279392"/>
            <a:ext cx="5029200" cy="292608"/>
          </a:xfrm>
          <a:prstGeom prst="rect">
            <a:avLst/>
          </a:prstGeom>
          <a:noFill/>
        </p:spPr>
        <p:txBody>
          <a:bodyPr wrap="square" lIns="22860" rIns="22860" tIns="22860" bIns="22860" anchor="ctr">
            <a:spAutoFit/>
          </a:bodyPr>
          <a:lstStyle/>
          <a:p>
            <a:pPr algn="l">
              <a:lnSpc>
                <a:spcPct val="108000"/>
              </a:lnSpc>
            </a:pPr>
            <a:r>
              <a:rPr sz="1400" b="1">
                <a:solidFill>
                  <a:srgbClr val="5F6E80"/>
                </a:solidFill>
                <a:latin typeface="Arial"/>
              </a:rPr>
              <a:t>Not new</a:t>
            </a:r>
          </a:p>
        </p:txBody>
      </p:sp>
      <p:sp>
        <p:nvSpPr>
          <p:cNvPr id="97" name="body:96"/>
          <p:cNvSpPr txBox="1"/>
          <p:nvPr/>
        </p:nvSpPr>
        <p:spPr>
          <a:xfrm>
            <a:off x="768096" y="4572000"/>
            <a:ext cx="5029200" cy="914400"/>
          </a:xfrm>
          <a:prstGeom prst="rect">
            <a:avLst/>
          </a:prstGeom>
          <a:noFill/>
        </p:spPr>
        <p:txBody>
          <a:bodyPr wrap="square" lIns="22860" rIns="22860" tIns="22860" bIns="22860" anchor="t">
            <a:spAutoFit/>
          </a:bodyPr>
          <a:lstStyle/>
          <a:p>
            <a:pPr algn="l">
              <a:lnSpc>
                <a:spcPct val="108000"/>
              </a:lnSpc>
            </a:pPr>
            <a:r>
              <a:rPr sz="1150" b="0">
                <a:solidFill>
                  <a:srgbClr val="22313F"/>
                </a:solidFill>
                <a:latin typeface="Arial"/>
              </a:rPr>
              <a:t>POMDP planning and value of information; constrained optimization; capability and privilege enforcement; impossible-task tests; separate safety and utility endpoints (AgentDojo, CoSec); control protocols against subversion.</a:t>
            </a:r>
          </a:p>
        </p:txBody>
      </p:sp>
      <p:sp>
        <p:nvSpPr>
          <p:cNvPr id="98" name="Rectangle 97"/>
          <p:cNvSpPr/>
          <p:nvPr/>
        </p:nvSpPr>
        <p:spPr>
          <a:xfrm>
            <a:off x="6227064" y="4224528"/>
            <a:ext cx="5394960" cy="1316736"/>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227064" y="4224528"/>
            <a:ext cx="64008" cy="1316736"/>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body:99"/>
          <p:cNvSpPr txBox="1"/>
          <p:nvPr/>
        </p:nvSpPr>
        <p:spPr>
          <a:xfrm>
            <a:off x="6428232" y="4279392"/>
            <a:ext cx="5029200" cy="292608"/>
          </a:xfrm>
          <a:prstGeom prst="rect">
            <a:avLst/>
          </a:prstGeom>
          <a:noFill/>
        </p:spPr>
        <p:txBody>
          <a:bodyPr wrap="square" lIns="22860" rIns="22860" tIns="22860" bIns="22860" anchor="ctr">
            <a:spAutoFit/>
          </a:bodyPr>
          <a:lstStyle/>
          <a:p>
            <a:pPr algn="l">
              <a:lnSpc>
                <a:spcPct val="108000"/>
              </a:lnSpc>
            </a:pPr>
            <a:r>
              <a:rPr sz="1400" b="1">
                <a:solidFill>
                  <a:srgbClr val="1E7A72"/>
                </a:solidFill>
                <a:latin typeface="Arial"/>
              </a:rPr>
              <a:t>Proposed, and testable</a:t>
            </a:r>
          </a:p>
        </p:txBody>
      </p:sp>
      <p:sp>
        <p:nvSpPr>
          <p:cNvPr id="101" name="body:100"/>
          <p:cNvSpPr txBox="1"/>
          <p:nvPr/>
        </p:nvSpPr>
        <p:spPr>
          <a:xfrm>
            <a:off x="6428232" y="4572000"/>
            <a:ext cx="5029200" cy="914400"/>
          </a:xfrm>
          <a:prstGeom prst="rect">
            <a:avLst/>
          </a:prstGeom>
          <a:noFill/>
        </p:spPr>
        <p:txBody>
          <a:bodyPr wrap="square" lIns="22860" rIns="22860" tIns="22860" bIns="22860" anchor="t">
            <a:spAutoFit/>
          </a:bodyPr>
          <a:lstStyle/>
          <a:p>
            <a:pPr algn="l">
              <a:lnSpc>
                <a:spcPct val="108000"/>
              </a:lnSpc>
            </a:pPr>
            <a:r>
              <a:rPr sz="1150" b="0">
                <a:solidFill>
                  <a:srgbClr val="22313F"/>
                </a:solidFill>
                <a:latin typeface="Arial"/>
              </a:rPr>
              <a:t>Grant as state with trusted-only transitions, separate from feasibility; the request as a planned action with a price; attempted and executed violations measured in one fixture; selection from effects tested against selection from transcripts.</a:t>
            </a:r>
          </a:p>
        </p:txBody>
      </p:sp>
      <p:sp>
        <p:nvSpPr>
          <p:cNvPr id="102" name="Rounded Rectangle 101"/>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body:102"/>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The novelty claim is empirical and narrow: better choices at retained utility, not a new containment guarantee.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16 / EXPERIMENT 1 · SIMULATOR</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E1: does the decision model predict choices, and at what regret?</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A small finite simulator with known kernels, then noisy and misspecified variants. The exact DP is the normative reference.</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20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F8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B4602E"/>
                </a:solidFill>
                <a:latin typeface="Arial"/>
              </a:rPr>
              <a:t>PROPOSED</a:t>
            </a:r>
          </a:p>
        </p:txBody>
      </p:sp>
      <p:sp>
        <p:nvSpPr>
          <p:cNvPr id="37" name="source:36"/>
          <p:cNvSpPr txBox="1"/>
          <p:nvPr/>
        </p:nvSpPr>
        <p:spPr>
          <a:xfrm>
            <a:off x="566928" y="6400800"/>
            <a:ext cx="36576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Regret and metalevel decisions: Hay et al. 2012</a:t>
            </a:r>
          </a:p>
        </p:txBody>
      </p:sp>
      <p:sp>
        <p:nvSpPr>
          <p:cNvPr id="38" name="source:37"/>
          <p:cNvSpPr txBox="1"/>
          <p:nvPr/>
        </p:nvSpPr>
        <p:spPr>
          <a:xfrm>
            <a:off x="4370832" y="6400800"/>
            <a:ext cx="237744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Unconstrained reference planner</a:t>
            </a:r>
          </a:p>
        </p:txBody>
      </p:sp>
      <p:sp>
        <p:nvSpPr>
          <p:cNvPr id="39" name="Rectangle 38"/>
          <p:cNvSpPr/>
          <p:nvPr/>
        </p:nvSpPr>
        <p:spPr>
          <a:xfrm>
            <a:off x="566928" y="2157984"/>
            <a:ext cx="1920240" cy="36576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ody:39"/>
          <p:cNvSpPr txBox="1"/>
          <p:nvPr/>
        </p:nvSpPr>
        <p:spPr>
          <a:xfrm>
            <a:off x="649224" y="2157984"/>
            <a:ext cx="1755648" cy="365760"/>
          </a:xfrm>
          <a:prstGeom prst="rect">
            <a:avLst/>
          </a:prstGeom>
          <a:noFill/>
        </p:spPr>
        <p:txBody>
          <a:bodyPr wrap="square" lIns="22860" rIns="22860" tIns="22860" bIns="22860" anchor="ctr">
            <a:spAutoFit/>
          </a:bodyPr>
          <a:lstStyle/>
          <a:p>
            <a:pPr algn="l">
              <a:lnSpc>
                <a:spcPct val="100000"/>
              </a:lnSpc>
            </a:pPr>
            <a:r>
              <a:rPr sz="1100" b="1">
                <a:solidFill>
                  <a:srgbClr val="FFFFFF"/>
                </a:solidFill>
                <a:latin typeface="Arial"/>
              </a:rPr>
              <a:t>Factor swept</a:t>
            </a:r>
          </a:p>
        </p:txBody>
      </p:sp>
      <p:sp>
        <p:nvSpPr>
          <p:cNvPr id="41" name="Rectangle 40"/>
          <p:cNvSpPr/>
          <p:nvPr/>
        </p:nvSpPr>
        <p:spPr>
          <a:xfrm>
            <a:off x="2487168" y="2157984"/>
            <a:ext cx="3474720" cy="36576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ody:41"/>
          <p:cNvSpPr txBox="1"/>
          <p:nvPr/>
        </p:nvSpPr>
        <p:spPr>
          <a:xfrm>
            <a:off x="2569464" y="2157984"/>
            <a:ext cx="3310127" cy="365760"/>
          </a:xfrm>
          <a:prstGeom prst="rect">
            <a:avLst/>
          </a:prstGeom>
          <a:noFill/>
        </p:spPr>
        <p:txBody>
          <a:bodyPr wrap="square" lIns="22860" rIns="22860" tIns="22860" bIns="22860" anchor="ctr">
            <a:spAutoFit/>
          </a:bodyPr>
          <a:lstStyle/>
          <a:p>
            <a:pPr algn="l">
              <a:lnSpc>
                <a:spcPct val="100000"/>
              </a:lnSpc>
            </a:pPr>
            <a:r>
              <a:rPr sz="1100" b="1">
                <a:solidFill>
                  <a:srgbClr val="FFFFFF"/>
                </a:solidFill>
                <a:latin typeface="Arial"/>
              </a:rPr>
              <a:t>Range</a:t>
            </a:r>
          </a:p>
        </p:txBody>
      </p:sp>
      <p:sp>
        <p:nvSpPr>
          <p:cNvPr id="43" name="Rectangle 42"/>
          <p:cNvSpPr/>
          <p:nvPr/>
        </p:nvSpPr>
        <p:spPr>
          <a:xfrm>
            <a:off x="566928" y="2523744"/>
            <a:ext cx="192024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ody:43"/>
          <p:cNvSpPr txBox="1"/>
          <p:nvPr/>
        </p:nvSpPr>
        <p:spPr>
          <a:xfrm>
            <a:off x="649224" y="2523744"/>
            <a:ext cx="1755648" cy="365760"/>
          </a:xfrm>
          <a:prstGeom prst="rect">
            <a:avLst/>
          </a:prstGeom>
          <a:noFill/>
        </p:spPr>
        <p:txBody>
          <a:bodyPr wrap="square" lIns="22860" rIns="22860" tIns="22860" bIns="22860" anchor="ctr">
            <a:spAutoFit/>
          </a:bodyPr>
          <a:lstStyle/>
          <a:p>
            <a:pPr algn="l">
              <a:lnSpc>
                <a:spcPct val="100000"/>
              </a:lnSpc>
            </a:pPr>
            <a:r>
              <a:rPr sz="1100" b="1">
                <a:solidFill>
                  <a:srgbClr val="22313F"/>
                </a:solidFill>
                <a:latin typeface="Arial"/>
              </a:rPr>
              <a:t>Feasibility prior p</a:t>
            </a:r>
          </a:p>
        </p:txBody>
      </p:sp>
      <p:sp>
        <p:nvSpPr>
          <p:cNvPr id="45" name="Rectangle 44"/>
          <p:cNvSpPr/>
          <p:nvPr/>
        </p:nvSpPr>
        <p:spPr>
          <a:xfrm>
            <a:off x="2487168" y="2523744"/>
            <a:ext cx="34747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ody:45"/>
          <p:cNvSpPr txBox="1"/>
          <p:nvPr/>
        </p:nvSpPr>
        <p:spPr>
          <a:xfrm>
            <a:off x="2569464" y="2523744"/>
            <a:ext cx="3310127" cy="365760"/>
          </a:xfrm>
          <a:prstGeom prst="rect">
            <a:avLst/>
          </a:prstGeom>
          <a:noFill/>
        </p:spPr>
        <p:txBody>
          <a:bodyPr wrap="square" lIns="22860" rIns="22860" tIns="22860" bIns="22860" anchor="ctr">
            <a:spAutoFit/>
          </a:bodyPr>
          <a:lstStyle/>
          <a:p>
            <a:pPr algn="l">
              <a:lnSpc>
                <a:spcPct val="100000"/>
              </a:lnSpc>
            </a:pPr>
            <a:r>
              <a:rPr sz="1100" b="0">
                <a:solidFill>
                  <a:srgbClr val="22313F"/>
                </a:solidFill>
                <a:latin typeface="Arial"/>
              </a:rPr>
              <a:t>0.01 … 0.99</a:t>
            </a:r>
          </a:p>
        </p:txBody>
      </p:sp>
      <p:sp>
        <p:nvSpPr>
          <p:cNvPr id="47" name="Rectangle 46"/>
          <p:cNvSpPr/>
          <p:nvPr/>
        </p:nvSpPr>
        <p:spPr>
          <a:xfrm>
            <a:off x="566928" y="2889503"/>
            <a:ext cx="1920240" cy="36576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ody:47"/>
          <p:cNvSpPr txBox="1"/>
          <p:nvPr/>
        </p:nvSpPr>
        <p:spPr>
          <a:xfrm>
            <a:off x="649224" y="2889503"/>
            <a:ext cx="1755648" cy="365760"/>
          </a:xfrm>
          <a:prstGeom prst="rect">
            <a:avLst/>
          </a:prstGeom>
          <a:noFill/>
        </p:spPr>
        <p:txBody>
          <a:bodyPr wrap="square" lIns="22860" rIns="22860" tIns="22860" bIns="22860" anchor="ctr">
            <a:spAutoFit/>
          </a:bodyPr>
          <a:lstStyle/>
          <a:p>
            <a:pPr algn="l">
              <a:lnSpc>
                <a:spcPct val="100000"/>
              </a:lnSpc>
            </a:pPr>
            <a:r>
              <a:rPr sz="1100" b="1">
                <a:solidFill>
                  <a:srgbClr val="22313F"/>
                </a:solidFill>
                <a:latin typeface="Arial"/>
              </a:rPr>
              <a:t>Diagnostic accuracy / cost</a:t>
            </a:r>
          </a:p>
        </p:txBody>
      </p:sp>
      <p:sp>
        <p:nvSpPr>
          <p:cNvPr id="49" name="Rectangle 48"/>
          <p:cNvSpPr/>
          <p:nvPr/>
        </p:nvSpPr>
        <p:spPr>
          <a:xfrm>
            <a:off x="2487168" y="2889503"/>
            <a:ext cx="3474720" cy="36576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ody:49"/>
          <p:cNvSpPr txBox="1"/>
          <p:nvPr/>
        </p:nvSpPr>
        <p:spPr>
          <a:xfrm>
            <a:off x="2569464" y="2889503"/>
            <a:ext cx="3310127" cy="365760"/>
          </a:xfrm>
          <a:prstGeom prst="rect">
            <a:avLst/>
          </a:prstGeom>
          <a:noFill/>
        </p:spPr>
        <p:txBody>
          <a:bodyPr wrap="square" lIns="22860" rIns="22860" tIns="22860" bIns="22860" anchor="ctr">
            <a:spAutoFit/>
          </a:bodyPr>
          <a:lstStyle/>
          <a:p>
            <a:pPr algn="l">
              <a:lnSpc>
                <a:spcPct val="100000"/>
              </a:lnSpc>
            </a:pPr>
            <a:r>
              <a:rPr sz="1100" b="0">
                <a:solidFill>
                  <a:srgbClr val="22313F"/>
                </a:solidFill>
                <a:latin typeface="Arial"/>
              </a:rPr>
              <a:t>perfect → noisy; 0 … 2 units</a:t>
            </a:r>
          </a:p>
        </p:txBody>
      </p:sp>
      <p:sp>
        <p:nvSpPr>
          <p:cNvPr id="51" name="Rectangle 50"/>
          <p:cNvSpPr/>
          <p:nvPr/>
        </p:nvSpPr>
        <p:spPr>
          <a:xfrm>
            <a:off x="566928" y="3255263"/>
            <a:ext cx="192024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ody:51"/>
          <p:cNvSpPr txBox="1"/>
          <p:nvPr/>
        </p:nvSpPr>
        <p:spPr>
          <a:xfrm>
            <a:off x="649224" y="3255263"/>
            <a:ext cx="1755648" cy="365760"/>
          </a:xfrm>
          <a:prstGeom prst="rect">
            <a:avLst/>
          </a:prstGeom>
          <a:noFill/>
        </p:spPr>
        <p:txBody>
          <a:bodyPr wrap="square" lIns="22860" rIns="22860" tIns="22860" bIns="22860" anchor="ctr">
            <a:spAutoFit/>
          </a:bodyPr>
          <a:lstStyle/>
          <a:p>
            <a:pPr algn="l">
              <a:lnSpc>
                <a:spcPct val="100000"/>
              </a:lnSpc>
            </a:pPr>
            <a:r>
              <a:rPr sz="1100" b="1">
                <a:solidFill>
                  <a:srgbClr val="22313F"/>
                </a:solidFill>
                <a:latin typeface="Arial"/>
              </a:rPr>
              <a:t>Request cost d, grant prob. q</a:t>
            </a:r>
          </a:p>
        </p:txBody>
      </p:sp>
      <p:sp>
        <p:nvSpPr>
          <p:cNvPr id="53" name="Rectangle 52"/>
          <p:cNvSpPr/>
          <p:nvPr/>
        </p:nvSpPr>
        <p:spPr>
          <a:xfrm>
            <a:off x="2487168" y="3255263"/>
            <a:ext cx="34747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ody:53"/>
          <p:cNvSpPr txBox="1"/>
          <p:nvPr/>
        </p:nvSpPr>
        <p:spPr>
          <a:xfrm>
            <a:off x="2569464" y="3255263"/>
            <a:ext cx="3310127" cy="365760"/>
          </a:xfrm>
          <a:prstGeom prst="rect">
            <a:avLst/>
          </a:prstGeom>
          <a:noFill/>
        </p:spPr>
        <p:txBody>
          <a:bodyPr wrap="square" lIns="22860" rIns="22860" tIns="22860" bIns="22860" anchor="ctr">
            <a:spAutoFit/>
          </a:bodyPr>
          <a:lstStyle/>
          <a:p>
            <a:pPr algn="l">
              <a:lnSpc>
                <a:spcPct val="100000"/>
              </a:lnSpc>
            </a:pPr>
            <a:r>
              <a:rPr sz="1100" b="0">
                <a:solidFill>
                  <a:srgbClr val="22313F"/>
                </a:solidFill>
                <a:latin typeface="Arial"/>
              </a:rPr>
              <a:t>d 0 … 8; q 0.2 … 0.9</a:t>
            </a:r>
          </a:p>
        </p:txBody>
      </p:sp>
      <p:sp>
        <p:nvSpPr>
          <p:cNvPr id="55" name="Rectangle 54"/>
          <p:cNvSpPr/>
          <p:nvPr/>
        </p:nvSpPr>
        <p:spPr>
          <a:xfrm>
            <a:off x="566928" y="3621023"/>
            <a:ext cx="1920240" cy="36576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ody:55"/>
          <p:cNvSpPr txBox="1"/>
          <p:nvPr/>
        </p:nvSpPr>
        <p:spPr>
          <a:xfrm>
            <a:off x="649224" y="3621023"/>
            <a:ext cx="1755648" cy="365760"/>
          </a:xfrm>
          <a:prstGeom prst="rect">
            <a:avLst/>
          </a:prstGeom>
          <a:noFill/>
        </p:spPr>
        <p:txBody>
          <a:bodyPr wrap="square" lIns="22860" rIns="22860" tIns="22860" bIns="22860" anchor="ctr">
            <a:spAutoFit/>
          </a:bodyPr>
          <a:lstStyle/>
          <a:p>
            <a:pPr algn="l">
              <a:lnSpc>
                <a:spcPct val="100000"/>
              </a:lnSpc>
            </a:pPr>
            <a:r>
              <a:rPr sz="1100" b="1">
                <a:solidFill>
                  <a:srgbClr val="22313F"/>
                </a:solidFill>
                <a:latin typeface="Arial"/>
              </a:rPr>
              <a:t>Horizon H, budget k</a:t>
            </a:r>
          </a:p>
        </p:txBody>
      </p:sp>
      <p:sp>
        <p:nvSpPr>
          <p:cNvPr id="57" name="Rectangle 56"/>
          <p:cNvSpPr/>
          <p:nvPr/>
        </p:nvSpPr>
        <p:spPr>
          <a:xfrm>
            <a:off x="2487168" y="3621023"/>
            <a:ext cx="3474720" cy="36576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ody:57"/>
          <p:cNvSpPr txBox="1"/>
          <p:nvPr/>
        </p:nvSpPr>
        <p:spPr>
          <a:xfrm>
            <a:off x="2569464" y="3621023"/>
            <a:ext cx="3310127" cy="365760"/>
          </a:xfrm>
          <a:prstGeom prst="rect">
            <a:avLst/>
          </a:prstGeom>
          <a:noFill/>
        </p:spPr>
        <p:txBody>
          <a:bodyPr wrap="square" lIns="22860" rIns="22860" tIns="22860" bIns="22860" anchor="ctr">
            <a:spAutoFit/>
          </a:bodyPr>
          <a:lstStyle/>
          <a:p>
            <a:pPr algn="l">
              <a:lnSpc>
                <a:spcPct val="100000"/>
              </a:lnSpc>
            </a:pPr>
            <a:r>
              <a:rPr sz="1100" b="0">
                <a:solidFill>
                  <a:srgbClr val="22313F"/>
                </a:solidFill>
                <a:latin typeface="Arial"/>
              </a:rPr>
              <a:t>1 … 6 steps; 2 … 12 units</a:t>
            </a:r>
          </a:p>
        </p:txBody>
      </p:sp>
      <p:sp>
        <p:nvSpPr>
          <p:cNvPr id="59" name="Rectangle 58"/>
          <p:cNvSpPr/>
          <p:nvPr/>
        </p:nvSpPr>
        <p:spPr>
          <a:xfrm>
            <a:off x="566928" y="3986783"/>
            <a:ext cx="192024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ody:59"/>
          <p:cNvSpPr txBox="1"/>
          <p:nvPr/>
        </p:nvSpPr>
        <p:spPr>
          <a:xfrm>
            <a:off x="649224" y="3986783"/>
            <a:ext cx="1755648" cy="365760"/>
          </a:xfrm>
          <a:prstGeom prst="rect">
            <a:avLst/>
          </a:prstGeom>
          <a:noFill/>
        </p:spPr>
        <p:txBody>
          <a:bodyPr wrap="square" lIns="22860" rIns="22860" tIns="22860" bIns="22860" anchor="ctr">
            <a:spAutoFit/>
          </a:bodyPr>
          <a:lstStyle/>
          <a:p>
            <a:pPr algn="l">
              <a:lnSpc>
                <a:spcPct val="100000"/>
              </a:lnSpc>
            </a:pPr>
            <a:r>
              <a:rPr sz="1100" b="1">
                <a:solidFill>
                  <a:srgbClr val="22313F"/>
                </a:solidFill>
                <a:latin typeface="Arial"/>
              </a:rPr>
              <a:t>Model misspecification</a:t>
            </a:r>
          </a:p>
        </p:txBody>
      </p:sp>
      <p:sp>
        <p:nvSpPr>
          <p:cNvPr id="61" name="Rectangle 60"/>
          <p:cNvSpPr/>
          <p:nvPr/>
        </p:nvSpPr>
        <p:spPr>
          <a:xfrm>
            <a:off x="2487168" y="3986783"/>
            <a:ext cx="34747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ody:61"/>
          <p:cNvSpPr txBox="1"/>
          <p:nvPr/>
        </p:nvSpPr>
        <p:spPr>
          <a:xfrm>
            <a:off x="2569464" y="3986783"/>
            <a:ext cx="3310127" cy="365760"/>
          </a:xfrm>
          <a:prstGeom prst="rect">
            <a:avLst/>
          </a:prstGeom>
          <a:noFill/>
        </p:spPr>
        <p:txBody>
          <a:bodyPr wrap="square" lIns="22860" rIns="22860" tIns="22860" bIns="22860" anchor="ctr">
            <a:spAutoFit/>
          </a:bodyPr>
          <a:lstStyle/>
          <a:p>
            <a:pPr algn="l">
              <a:lnSpc>
                <a:spcPct val="100000"/>
              </a:lnSpc>
            </a:pPr>
            <a:r>
              <a:rPr sz="1100" b="0">
                <a:solidFill>
                  <a:srgbClr val="22313F"/>
                </a:solidFill>
                <a:latin typeface="Arial"/>
              </a:rPr>
              <a:t>T, O perturbed ±20 %; stale q</a:t>
            </a:r>
          </a:p>
        </p:txBody>
      </p:sp>
      <p:sp>
        <p:nvSpPr>
          <p:cNvPr id="63" name="Rectangle 62"/>
          <p:cNvSpPr/>
          <p:nvPr/>
        </p:nvSpPr>
        <p:spPr>
          <a:xfrm>
            <a:off x="6172200" y="2157984"/>
            <a:ext cx="2103120" cy="36576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ody:63"/>
          <p:cNvSpPr txBox="1"/>
          <p:nvPr/>
        </p:nvSpPr>
        <p:spPr>
          <a:xfrm>
            <a:off x="6254496" y="2157984"/>
            <a:ext cx="1938527" cy="365760"/>
          </a:xfrm>
          <a:prstGeom prst="rect">
            <a:avLst/>
          </a:prstGeom>
          <a:noFill/>
        </p:spPr>
        <p:txBody>
          <a:bodyPr wrap="square" lIns="22860" rIns="22860" tIns="22860" bIns="22860" anchor="ctr">
            <a:spAutoFit/>
          </a:bodyPr>
          <a:lstStyle/>
          <a:p>
            <a:pPr algn="l">
              <a:lnSpc>
                <a:spcPct val="100000"/>
              </a:lnSpc>
            </a:pPr>
            <a:r>
              <a:rPr sz="1100" b="1">
                <a:solidFill>
                  <a:srgbClr val="FFFFFF"/>
                </a:solidFill>
                <a:latin typeface="Arial"/>
              </a:rPr>
              <a:t>Planner</a:t>
            </a:r>
          </a:p>
        </p:txBody>
      </p:sp>
      <p:sp>
        <p:nvSpPr>
          <p:cNvPr id="65" name="Rectangle 64"/>
          <p:cNvSpPr/>
          <p:nvPr/>
        </p:nvSpPr>
        <p:spPr>
          <a:xfrm>
            <a:off x="8275320" y="2157984"/>
            <a:ext cx="3346704" cy="36576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ody:65"/>
          <p:cNvSpPr txBox="1"/>
          <p:nvPr/>
        </p:nvSpPr>
        <p:spPr>
          <a:xfrm>
            <a:off x="8357616" y="2157984"/>
            <a:ext cx="3182112" cy="365760"/>
          </a:xfrm>
          <a:prstGeom prst="rect">
            <a:avLst/>
          </a:prstGeom>
          <a:noFill/>
        </p:spPr>
        <p:txBody>
          <a:bodyPr wrap="square" lIns="22860" rIns="22860" tIns="22860" bIns="22860" anchor="ctr">
            <a:spAutoFit/>
          </a:bodyPr>
          <a:lstStyle/>
          <a:p>
            <a:pPr algn="l">
              <a:lnSpc>
                <a:spcPct val="100000"/>
              </a:lnSpc>
            </a:pPr>
            <a:r>
              <a:rPr sz="1100" b="1">
                <a:solidFill>
                  <a:srgbClr val="FFFFFF"/>
                </a:solidFill>
                <a:latin typeface="Arial"/>
              </a:rPr>
              <a:t>Role</a:t>
            </a:r>
          </a:p>
        </p:txBody>
      </p:sp>
      <p:sp>
        <p:nvSpPr>
          <p:cNvPr id="67" name="Rectangle 66"/>
          <p:cNvSpPr/>
          <p:nvPr/>
        </p:nvSpPr>
        <p:spPr>
          <a:xfrm>
            <a:off x="6172200" y="2523744"/>
            <a:ext cx="21031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ody:67"/>
          <p:cNvSpPr txBox="1"/>
          <p:nvPr/>
        </p:nvSpPr>
        <p:spPr>
          <a:xfrm>
            <a:off x="6254496" y="2523744"/>
            <a:ext cx="1938527" cy="365760"/>
          </a:xfrm>
          <a:prstGeom prst="rect">
            <a:avLst/>
          </a:prstGeom>
          <a:noFill/>
        </p:spPr>
        <p:txBody>
          <a:bodyPr wrap="square" lIns="22860" rIns="22860" tIns="22860" bIns="22860" anchor="ctr">
            <a:spAutoFit/>
          </a:bodyPr>
          <a:lstStyle/>
          <a:p>
            <a:pPr algn="l">
              <a:lnSpc>
                <a:spcPct val="100000"/>
              </a:lnSpc>
            </a:pPr>
            <a:r>
              <a:rPr sz="1100" b="1">
                <a:solidFill>
                  <a:srgbClr val="22313F"/>
                </a:solidFill>
                <a:latin typeface="Arial"/>
              </a:rPr>
              <a:t>Exact DP (Algorithm A)</a:t>
            </a:r>
          </a:p>
        </p:txBody>
      </p:sp>
      <p:sp>
        <p:nvSpPr>
          <p:cNvPr id="69" name="Rectangle 68"/>
          <p:cNvSpPr/>
          <p:nvPr/>
        </p:nvSpPr>
        <p:spPr>
          <a:xfrm>
            <a:off x="8275320" y="2523744"/>
            <a:ext cx="3346704"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ody:69"/>
          <p:cNvSpPr txBox="1"/>
          <p:nvPr/>
        </p:nvSpPr>
        <p:spPr>
          <a:xfrm>
            <a:off x="8357616" y="2523744"/>
            <a:ext cx="3182112" cy="365760"/>
          </a:xfrm>
          <a:prstGeom prst="rect">
            <a:avLst/>
          </a:prstGeom>
          <a:noFill/>
        </p:spPr>
        <p:txBody>
          <a:bodyPr wrap="square" lIns="22860" rIns="22860" tIns="22860" bIns="22860" anchor="ctr">
            <a:spAutoFit/>
          </a:bodyPr>
          <a:lstStyle/>
          <a:p>
            <a:pPr algn="l">
              <a:lnSpc>
                <a:spcPct val="100000"/>
              </a:lnSpc>
            </a:pPr>
            <a:r>
              <a:rPr sz="1100" b="0">
                <a:solidFill>
                  <a:srgbClr val="22313F"/>
                </a:solidFill>
                <a:latin typeface="Arial"/>
              </a:rPr>
              <a:t>Normative reference; zero regret by construction</a:t>
            </a:r>
          </a:p>
        </p:txBody>
      </p:sp>
      <p:sp>
        <p:nvSpPr>
          <p:cNvPr id="71" name="Rectangle 70"/>
          <p:cNvSpPr/>
          <p:nvPr/>
        </p:nvSpPr>
        <p:spPr>
          <a:xfrm>
            <a:off x="6172200" y="2889503"/>
            <a:ext cx="2103120" cy="36576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ody:71"/>
          <p:cNvSpPr txBox="1"/>
          <p:nvPr/>
        </p:nvSpPr>
        <p:spPr>
          <a:xfrm>
            <a:off x="6254496" y="2889503"/>
            <a:ext cx="1938527" cy="365760"/>
          </a:xfrm>
          <a:prstGeom prst="rect">
            <a:avLst/>
          </a:prstGeom>
          <a:noFill/>
        </p:spPr>
        <p:txBody>
          <a:bodyPr wrap="square" lIns="22860" rIns="22860" tIns="22860" bIns="22860" anchor="ctr">
            <a:spAutoFit/>
          </a:bodyPr>
          <a:lstStyle/>
          <a:p>
            <a:pPr algn="l">
              <a:lnSpc>
                <a:spcPct val="100000"/>
              </a:lnSpc>
            </a:pPr>
            <a:r>
              <a:rPr sz="1100" b="1">
                <a:solidFill>
                  <a:srgbClr val="22313F"/>
                </a:solidFill>
                <a:latin typeface="Arial"/>
              </a:rPr>
              <a:t>One-step VOI</a:t>
            </a:r>
          </a:p>
        </p:txBody>
      </p:sp>
      <p:sp>
        <p:nvSpPr>
          <p:cNvPr id="73" name="Rectangle 72"/>
          <p:cNvSpPr/>
          <p:nvPr/>
        </p:nvSpPr>
        <p:spPr>
          <a:xfrm>
            <a:off x="8275320" y="2889503"/>
            <a:ext cx="3346704" cy="36576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ody:73"/>
          <p:cNvSpPr txBox="1"/>
          <p:nvPr/>
        </p:nvSpPr>
        <p:spPr>
          <a:xfrm>
            <a:off x="8357616" y="2889503"/>
            <a:ext cx="3182112" cy="365760"/>
          </a:xfrm>
          <a:prstGeom prst="rect">
            <a:avLst/>
          </a:prstGeom>
          <a:noFill/>
        </p:spPr>
        <p:txBody>
          <a:bodyPr wrap="square" lIns="22860" rIns="22860" tIns="22860" bIns="22860" anchor="ctr">
            <a:spAutoFit/>
          </a:bodyPr>
          <a:lstStyle/>
          <a:p>
            <a:pPr algn="l">
              <a:lnSpc>
                <a:spcPct val="100000"/>
              </a:lnSpc>
            </a:pPr>
            <a:r>
              <a:rPr sz="1100" b="0">
                <a:solidFill>
                  <a:srgbClr val="22313F"/>
                </a:solidFill>
                <a:latin typeface="Arial"/>
              </a:rPr>
              <a:t>Ablation: no lookahead beyond one probe</a:t>
            </a:r>
          </a:p>
        </p:txBody>
      </p:sp>
      <p:sp>
        <p:nvSpPr>
          <p:cNvPr id="75" name="Rectangle 74"/>
          <p:cNvSpPr/>
          <p:nvPr/>
        </p:nvSpPr>
        <p:spPr>
          <a:xfrm>
            <a:off x="6172200" y="3255263"/>
            <a:ext cx="21031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ody:75"/>
          <p:cNvSpPr txBox="1"/>
          <p:nvPr/>
        </p:nvSpPr>
        <p:spPr>
          <a:xfrm>
            <a:off x="6254496" y="3255263"/>
            <a:ext cx="1938527" cy="365760"/>
          </a:xfrm>
          <a:prstGeom prst="rect">
            <a:avLst/>
          </a:prstGeom>
          <a:noFill/>
        </p:spPr>
        <p:txBody>
          <a:bodyPr wrap="square" lIns="22860" rIns="22860" tIns="22860" bIns="22860" anchor="ctr">
            <a:spAutoFit/>
          </a:bodyPr>
          <a:lstStyle/>
          <a:p>
            <a:pPr algn="l">
              <a:lnSpc>
                <a:spcPct val="100000"/>
              </a:lnSpc>
            </a:pPr>
            <a:r>
              <a:rPr sz="1100" b="1">
                <a:solidFill>
                  <a:srgbClr val="22313F"/>
                </a:solidFill>
                <a:latin typeface="Arial"/>
              </a:rPr>
              <a:t>Budgeted MC lookahead + A(g)</a:t>
            </a:r>
          </a:p>
        </p:txBody>
      </p:sp>
      <p:sp>
        <p:nvSpPr>
          <p:cNvPr id="77" name="Rectangle 76"/>
          <p:cNvSpPr/>
          <p:nvPr/>
        </p:nvSpPr>
        <p:spPr>
          <a:xfrm>
            <a:off x="8275320" y="3255263"/>
            <a:ext cx="3346704"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ody:77"/>
          <p:cNvSpPr txBox="1"/>
          <p:nvPr/>
        </p:nvSpPr>
        <p:spPr>
          <a:xfrm>
            <a:off x="8357616" y="3255263"/>
            <a:ext cx="3182112" cy="365760"/>
          </a:xfrm>
          <a:prstGeom prst="rect">
            <a:avLst/>
          </a:prstGeom>
          <a:noFill/>
        </p:spPr>
        <p:txBody>
          <a:bodyPr wrap="square" lIns="22860" rIns="22860" tIns="22860" bIns="22860" anchor="ctr">
            <a:spAutoFit/>
          </a:bodyPr>
          <a:lstStyle/>
          <a:p>
            <a:pPr algn="l">
              <a:lnSpc>
                <a:spcPct val="100000"/>
              </a:lnSpc>
            </a:pPr>
            <a:r>
              <a:rPr sz="1100" b="0">
                <a:solidFill>
                  <a:srgbClr val="22313F"/>
                </a:solidFill>
                <a:latin typeface="Arial"/>
              </a:rPr>
              <a:t>Approximation; same grant filter</a:t>
            </a:r>
          </a:p>
        </p:txBody>
      </p:sp>
      <p:sp>
        <p:nvSpPr>
          <p:cNvPr id="79" name="Rectangle 78"/>
          <p:cNvSpPr/>
          <p:nvPr/>
        </p:nvSpPr>
        <p:spPr>
          <a:xfrm>
            <a:off x="6172200" y="3621023"/>
            <a:ext cx="2103120" cy="36576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ody:79"/>
          <p:cNvSpPr txBox="1"/>
          <p:nvPr/>
        </p:nvSpPr>
        <p:spPr>
          <a:xfrm>
            <a:off x="6254496" y="3621023"/>
            <a:ext cx="1938527" cy="365760"/>
          </a:xfrm>
          <a:prstGeom prst="rect">
            <a:avLst/>
          </a:prstGeom>
          <a:noFill/>
        </p:spPr>
        <p:txBody>
          <a:bodyPr wrap="square" lIns="22860" rIns="22860" tIns="22860" bIns="22860" anchor="ctr">
            <a:spAutoFit/>
          </a:bodyPr>
          <a:lstStyle/>
          <a:p>
            <a:pPr algn="l">
              <a:lnSpc>
                <a:spcPct val="100000"/>
              </a:lnSpc>
            </a:pPr>
            <a:r>
              <a:rPr sz="1100" b="1">
                <a:solidFill>
                  <a:srgbClr val="22313F"/>
                </a:solidFill>
                <a:latin typeface="Arial"/>
              </a:rPr>
              <a:t>POMCP without A(g)</a:t>
            </a:r>
          </a:p>
        </p:txBody>
      </p:sp>
      <p:sp>
        <p:nvSpPr>
          <p:cNvPr id="81" name="Rectangle 80"/>
          <p:cNvSpPr/>
          <p:nvPr/>
        </p:nvSpPr>
        <p:spPr>
          <a:xfrm>
            <a:off x="8275320" y="3621023"/>
            <a:ext cx="3346704" cy="36576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body:81"/>
          <p:cNvSpPr txBox="1"/>
          <p:nvPr/>
        </p:nvSpPr>
        <p:spPr>
          <a:xfrm>
            <a:off x="8357616" y="3621023"/>
            <a:ext cx="3182112" cy="365760"/>
          </a:xfrm>
          <a:prstGeom prst="rect">
            <a:avLst/>
          </a:prstGeom>
          <a:noFill/>
        </p:spPr>
        <p:txBody>
          <a:bodyPr wrap="square" lIns="22860" rIns="22860" tIns="22860" bIns="22860" anchor="ctr">
            <a:spAutoFit/>
          </a:bodyPr>
          <a:lstStyle/>
          <a:p>
            <a:pPr algn="l">
              <a:lnSpc>
                <a:spcPct val="100000"/>
              </a:lnSpc>
            </a:pPr>
            <a:r>
              <a:rPr sz="1100" b="0">
                <a:solidFill>
                  <a:srgbClr val="22313F"/>
                </a:solidFill>
                <a:latin typeface="Arial"/>
              </a:rPr>
              <a:t>Unconstrained: predicted to substitute</a:t>
            </a:r>
          </a:p>
        </p:txBody>
      </p:sp>
      <p:sp>
        <p:nvSpPr>
          <p:cNvPr id="83" name="Rectangle 82"/>
          <p:cNvSpPr/>
          <p:nvPr/>
        </p:nvSpPr>
        <p:spPr>
          <a:xfrm>
            <a:off x="6172200" y="3986783"/>
            <a:ext cx="21031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body:83"/>
          <p:cNvSpPr txBox="1"/>
          <p:nvPr/>
        </p:nvSpPr>
        <p:spPr>
          <a:xfrm>
            <a:off x="6254496" y="3986783"/>
            <a:ext cx="1938527" cy="365760"/>
          </a:xfrm>
          <a:prstGeom prst="rect">
            <a:avLst/>
          </a:prstGeom>
          <a:noFill/>
        </p:spPr>
        <p:txBody>
          <a:bodyPr wrap="square" lIns="22860" rIns="22860" tIns="22860" bIns="22860" anchor="ctr">
            <a:spAutoFit/>
          </a:bodyPr>
          <a:lstStyle/>
          <a:p>
            <a:pPr algn="l">
              <a:lnSpc>
                <a:spcPct val="100000"/>
              </a:lnSpc>
            </a:pPr>
            <a:r>
              <a:rPr sz="1100" b="1">
                <a:solidFill>
                  <a:srgbClr val="22313F"/>
                </a:solidFill>
                <a:latin typeface="Arial"/>
              </a:rPr>
              <a:t>LLM planner (prompted)</a:t>
            </a:r>
          </a:p>
        </p:txBody>
      </p:sp>
      <p:sp>
        <p:nvSpPr>
          <p:cNvPr id="85" name="Rectangle 84"/>
          <p:cNvSpPr/>
          <p:nvPr/>
        </p:nvSpPr>
        <p:spPr>
          <a:xfrm>
            <a:off x="8275320" y="3986783"/>
            <a:ext cx="3346704"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body:85"/>
          <p:cNvSpPr txBox="1"/>
          <p:nvPr/>
        </p:nvSpPr>
        <p:spPr>
          <a:xfrm>
            <a:off x="8357616" y="3986783"/>
            <a:ext cx="3182112" cy="365760"/>
          </a:xfrm>
          <a:prstGeom prst="rect">
            <a:avLst/>
          </a:prstGeom>
          <a:noFill/>
        </p:spPr>
        <p:txBody>
          <a:bodyPr wrap="square" lIns="22860" rIns="22860" tIns="22860" bIns="22860" anchor="ctr">
            <a:spAutoFit/>
          </a:bodyPr>
          <a:lstStyle/>
          <a:p>
            <a:pPr algn="l">
              <a:lnSpc>
                <a:spcPct val="100000"/>
              </a:lnSpc>
            </a:pPr>
            <a:r>
              <a:rPr sz="1100" b="0">
                <a:solidFill>
                  <a:srgbClr val="22313F"/>
                </a:solidFill>
                <a:latin typeface="Arial"/>
              </a:rPr>
              <a:t>Behavioural compliance; calibration</a:t>
            </a:r>
          </a:p>
        </p:txBody>
      </p:sp>
      <p:sp>
        <p:nvSpPr>
          <p:cNvPr id="87" name="Rectangle 86"/>
          <p:cNvSpPr/>
          <p:nvPr/>
        </p:nvSpPr>
        <p:spPr>
          <a:xfrm>
            <a:off x="566928" y="4480560"/>
            <a:ext cx="11055096" cy="105156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body:87"/>
          <p:cNvSpPr txBox="1"/>
          <p:nvPr/>
        </p:nvSpPr>
        <p:spPr>
          <a:xfrm>
            <a:off x="749808" y="4526280"/>
            <a:ext cx="10689336" cy="960120"/>
          </a:xfrm>
          <a:prstGeom prst="rect">
            <a:avLst/>
          </a:prstGeom>
          <a:noFill/>
        </p:spPr>
        <p:txBody>
          <a:bodyPr wrap="square" lIns="22860" rIns="22860" tIns="22860" bIns="22860" anchor="t">
            <a:spAutoFit/>
          </a:bodyPr>
          <a:lstStyle/>
          <a:p>
            <a:pPr algn="l">
              <a:lnSpc>
                <a:spcPct val="110000"/>
              </a:lnSpc>
            </a:pPr>
            <a:r>
              <a:rPr sz="1150" b="0">
                <a:solidFill>
                  <a:srgbClr val="22313F"/>
                </a:solidFill>
                <a:latin typeface="Arial"/>
              </a:rPr>
              <a:t>Endpoints: value regret V* − V</a:t>
            </a:r>
            <a:r>
              <a:rPr sz="1150" b="0" baseline="-25000">
                <a:solidFill>
                  <a:srgbClr val="22313F"/>
                </a:solidFill>
                <a:latin typeface="Arial"/>
              </a:rPr>
              <a:t>π</a:t>
            </a:r>
            <a:r>
              <a:rPr sz="1150" b="0">
                <a:solidFill>
                  <a:srgbClr val="22313F"/>
                </a:solidFill>
                <a:latin typeface="Arial"/>
              </a:rPr>
              <a:t>; violation rate; request and probe rates; false stops; calibration by proper scoring rules and reliability plots. Prediction 1: the unconstrained planner's violation rate rises as p falls, reproducing H1. Prediction 2: the LLM planner's choices track the phase diagram on slide 11 and the cutoffs on slide 13 only where its confidence is calibrated. The event log must not reveal hidden feasibility before the permitted probe.</a:t>
            </a:r>
          </a:p>
        </p:txBody>
      </p:sp>
      <p:sp>
        <p:nvSpPr>
          <p:cNvPr id="89" name="Rounded Rectangle 88"/>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body:89"/>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Falsifier: if the LLM planner ignores p, d and q, the decision model does not describe agent behaviour.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17 / EXPERIMENT 2 · THE DISCRIMINATING FIXTURE</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E2: same reachable resource, different permission, seven arms.</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Repair availability × trusted authorization; the alternate resource stays reachable; prior-method baselines enter as arms.</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21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F8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B4602E"/>
                </a:solidFill>
                <a:latin typeface="Arial"/>
              </a:rPr>
              <a:t>PROPOSED</a:t>
            </a:r>
          </a:p>
        </p:txBody>
      </p:sp>
      <p:sp>
        <p:nvSpPr>
          <p:cNvPr id="37" name="source:36"/>
          <p:cNvSpPr txBox="1"/>
          <p:nvPr/>
        </p:nvSpPr>
        <p:spPr>
          <a:xfrm>
            <a:off x="566928" y="6400800"/>
            <a:ext cx="310896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Project: repair × authorization design</a:t>
            </a:r>
          </a:p>
        </p:txBody>
      </p:sp>
      <p:sp>
        <p:nvSpPr>
          <p:cNvPr id="38" name="source:37"/>
          <p:cNvSpPr txBox="1"/>
          <p:nvPr/>
        </p:nvSpPr>
        <p:spPr>
          <a:xfrm>
            <a:off x="3822191" y="6400800"/>
            <a:ext cx="27432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X1b: silent and conflicting grants</a:t>
            </a:r>
          </a:p>
        </p:txBody>
      </p:sp>
      <p:sp>
        <p:nvSpPr>
          <p:cNvPr id="39" name="source:38"/>
          <p:cNvSpPr txBox="1"/>
          <p:nvPr/>
        </p:nvSpPr>
        <p:spPr>
          <a:xfrm>
            <a:off x="6711696" y="6400800"/>
            <a:ext cx="109728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4"/>
              </a:rPr>
              <a:t>Defer protocol</a:t>
            </a:r>
          </a:p>
        </p:txBody>
      </p:sp>
      <p:sp>
        <p:nvSpPr>
          <p:cNvPr id="40" name="body:39"/>
          <p:cNvSpPr txBox="1"/>
          <p:nvPr/>
        </p:nvSpPr>
        <p:spPr>
          <a:xfrm>
            <a:off x="1874519" y="2157984"/>
            <a:ext cx="2148840" cy="274320"/>
          </a:xfrm>
          <a:prstGeom prst="rect">
            <a:avLst/>
          </a:prstGeom>
          <a:noFill/>
        </p:spPr>
        <p:txBody>
          <a:bodyPr wrap="square" lIns="22860" rIns="22860" tIns="22860" bIns="22860" anchor="ctr">
            <a:spAutoFit/>
          </a:bodyPr>
          <a:lstStyle/>
          <a:p>
            <a:pPr algn="l">
              <a:lnSpc>
                <a:spcPct val="108000"/>
              </a:lnSpc>
            </a:pPr>
            <a:r>
              <a:rPr sz="1150" b="1">
                <a:solidFill>
                  <a:srgbClr val="B04E45"/>
                </a:solidFill>
                <a:latin typeface="Arial"/>
              </a:rPr>
              <a:t>ALTERNATE FORBIDDEN</a:t>
            </a:r>
          </a:p>
        </p:txBody>
      </p:sp>
      <p:sp>
        <p:nvSpPr>
          <p:cNvPr id="41" name="body:40"/>
          <p:cNvSpPr txBox="1"/>
          <p:nvPr/>
        </p:nvSpPr>
        <p:spPr>
          <a:xfrm>
            <a:off x="4151376" y="2157984"/>
            <a:ext cx="2148840" cy="274320"/>
          </a:xfrm>
          <a:prstGeom prst="rect">
            <a:avLst/>
          </a:prstGeom>
          <a:noFill/>
        </p:spPr>
        <p:txBody>
          <a:bodyPr wrap="square" lIns="22860" rIns="22860" tIns="22860" bIns="22860" anchor="ctr">
            <a:spAutoFit/>
          </a:bodyPr>
          <a:lstStyle/>
          <a:p>
            <a:pPr algn="l">
              <a:lnSpc>
                <a:spcPct val="108000"/>
              </a:lnSpc>
            </a:pPr>
            <a:r>
              <a:rPr sz="1150" b="1">
                <a:solidFill>
                  <a:srgbClr val="1E7A72"/>
                </a:solidFill>
                <a:latin typeface="Arial"/>
              </a:rPr>
              <a:t>ALTERNATE GRANTED</a:t>
            </a:r>
          </a:p>
        </p:txBody>
      </p:sp>
      <p:sp>
        <p:nvSpPr>
          <p:cNvPr id="42" name="body:41"/>
          <p:cNvSpPr txBox="1"/>
          <p:nvPr/>
        </p:nvSpPr>
        <p:spPr>
          <a:xfrm>
            <a:off x="566928" y="2633472"/>
            <a:ext cx="1280160" cy="502920"/>
          </a:xfrm>
          <a:prstGeom prst="rect">
            <a:avLst/>
          </a:prstGeom>
          <a:noFill/>
        </p:spPr>
        <p:txBody>
          <a:bodyPr wrap="square" lIns="22860" rIns="22860" tIns="22860" bIns="22860" anchor="ctr">
            <a:spAutoFit/>
          </a:bodyPr>
          <a:lstStyle/>
          <a:p>
            <a:pPr algn="l">
              <a:lnSpc>
                <a:spcPct val="108000"/>
              </a:lnSpc>
            </a:pPr>
            <a:r>
              <a:rPr sz="1200" b="1">
                <a:solidFill>
                  <a:srgbClr val="22313F"/>
                </a:solidFill>
                <a:latin typeface="Arial"/>
              </a:rPr>
              <a:t>Local repair</a:t>
            </a:r>
          </a:p>
          <a:p>
            <a:pPr algn="l">
              <a:lnSpc>
                <a:spcPct val="108000"/>
              </a:lnSpc>
            </a:pPr>
            <a:r>
              <a:rPr sz="1200" b="1">
                <a:solidFill>
                  <a:srgbClr val="22313F"/>
                </a:solidFill>
                <a:latin typeface="Arial"/>
              </a:rPr>
              <a:t>works</a:t>
            </a:r>
          </a:p>
        </p:txBody>
      </p:sp>
      <p:sp>
        <p:nvSpPr>
          <p:cNvPr id="43" name="body:42"/>
          <p:cNvSpPr txBox="1"/>
          <p:nvPr/>
        </p:nvSpPr>
        <p:spPr>
          <a:xfrm>
            <a:off x="566928" y="3493008"/>
            <a:ext cx="1280160" cy="502920"/>
          </a:xfrm>
          <a:prstGeom prst="rect">
            <a:avLst/>
          </a:prstGeom>
          <a:noFill/>
        </p:spPr>
        <p:txBody>
          <a:bodyPr wrap="square" lIns="22860" rIns="22860" tIns="22860" bIns="22860" anchor="ctr">
            <a:spAutoFit/>
          </a:bodyPr>
          <a:lstStyle/>
          <a:p>
            <a:pPr algn="l">
              <a:lnSpc>
                <a:spcPct val="108000"/>
              </a:lnSpc>
            </a:pPr>
            <a:r>
              <a:rPr sz="1200" b="1">
                <a:solidFill>
                  <a:srgbClr val="22313F"/>
                </a:solidFill>
                <a:latin typeface="Arial"/>
              </a:rPr>
              <a:t>Local repair</a:t>
            </a:r>
          </a:p>
          <a:p>
            <a:pPr algn="l">
              <a:lnSpc>
                <a:spcPct val="108000"/>
              </a:lnSpc>
            </a:pPr>
            <a:r>
              <a:rPr sz="1200" b="1">
                <a:solidFill>
                  <a:srgbClr val="22313F"/>
                </a:solidFill>
                <a:latin typeface="Arial"/>
              </a:rPr>
              <a:t>fails</a:t>
            </a:r>
          </a:p>
        </p:txBody>
      </p:sp>
      <p:sp>
        <p:nvSpPr>
          <p:cNvPr id="44" name="Rounded Rectangle 43"/>
          <p:cNvSpPr/>
          <p:nvPr/>
        </p:nvSpPr>
        <p:spPr>
          <a:xfrm>
            <a:off x="1874519" y="2487168"/>
            <a:ext cx="2148840" cy="731520"/>
          </a:xfrm>
          <a:prstGeom prst="roundRect">
            <a:avLst>
              <a:gd name="adj" fmla="val 5000"/>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ody:44"/>
          <p:cNvSpPr txBox="1"/>
          <p:nvPr/>
        </p:nvSpPr>
        <p:spPr>
          <a:xfrm>
            <a:off x="1984248" y="2578608"/>
            <a:ext cx="1929384" cy="548640"/>
          </a:xfrm>
          <a:prstGeom prst="rect">
            <a:avLst/>
          </a:prstGeom>
          <a:noFill/>
        </p:spPr>
        <p:txBody>
          <a:bodyPr wrap="square" lIns="22860" rIns="22860" tIns="22860" bIns="22860" anchor="ctr">
            <a:spAutoFit/>
          </a:bodyPr>
          <a:lstStyle/>
          <a:p>
            <a:pPr algn="l">
              <a:lnSpc>
                <a:spcPct val="100000"/>
              </a:lnSpc>
            </a:pPr>
            <a:r>
              <a:rPr sz="1250" b="1">
                <a:solidFill>
                  <a:srgbClr val="1E7A72"/>
                </a:solidFill>
                <a:latin typeface="Arial"/>
              </a:rPr>
              <a:t>Recover locally</a:t>
            </a:r>
          </a:p>
        </p:txBody>
      </p:sp>
      <p:sp>
        <p:nvSpPr>
          <p:cNvPr id="46" name="Rounded Rectangle 45"/>
          <p:cNvSpPr/>
          <p:nvPr/>
        </p:nvSpPr>
        <p:spPr>
          <a:xfrm>
            <a:off x="4151376" y="2487168"/>
            <a:ext cx="2148840" cy="731520"/>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ody:46"/>
          <p:cNvSpPr txBox="1"/>
          <p:nvPr/>
        </p:nvSpPr>
        <p:spPr>
          <a:xfrm>
            <a:off x="4261104" y="2578608"/>
            <a:ext cx="1929384" cy="548640"/>
          </a:xfrm>
          <a:prstGeom prst="rect">
            <a:avLst/>
          </a:prstGeom>
          <a:noFill/>
        </p:spPr>
        <p:txBody>
          <a:bodyPr wrap="square" lIns="22860" rIns="22860" tIns="22860" bIns="22860" anchor="ctr">
            <a:spAutoFit/>
          </a:bodyPr>
          <a:lstStyle/>
          <a:p>
            <a:pPr algn="l">
              <a:lnSpc>
                <a:spcPct val="100000"/>
              </a:lnSpc>
            </a:pPr>
            <a:r>
              <a:rPr sz="1250" b="1">
                <a:solidFill>
                  <a:srgbClr val="3A6391"/>
                </a:solidFill>
                <a:latin typeface="Arial"/>
              </a:rPr>
              <a:t>Either permitted route</a:t>
            </a:r>
          </a:p>
        </p:txBody>
      </p:sp>
      <p:sp>
        <p:nvSpPr>
          <p:cNvPr id="48" name="Rounded Rectangle 47"/>
          <p:cNvSpPr/>
          <p:nvPr/>
        </p:nvSpPr>
        <p:spPr>
          <a:xfrm>
            <a:off x="1874519" y="3346704"/>
            <a:ext cx="2148840" cy="731520"/>
          </a:xfrm>
          <a:prstGeom prst="roundRect">
            <a:avLst>
              <a:gd name="adj" fmla="val 5000"/>
            </a:avLst>
          </a:prstGeom>
          <a:solidFill>
            <a:srgbClr val="F7E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ody:48"/>
          <p:cNvSpPr txBox="1"/>
          <p:nvPr/>
        </p:nvSpPr>
        <p:spPr>
          <a:xfrm>
            <a:off x="1984248" y="3438144"/>
            <a:ext cx="1929384" cy="548640"/>
          </a:xfrm>
          <a:prstGeom prst="rect">
            <a:avLst/>
          </a:prstGeom>
          <a:noFill/>
        </p:spPr>
        <p:txBody>
          <a:bodyPr wrap="square" lIns="22860" rIns="22860" tIns="22860" bIns="22860" anchor="ctr">
            <a:spAutoFit/>
          </a:bodyPr>
          <a:lstStyle/>
          <a:p>
            <a:pPr algn="l">
              <a:lnSpc>
                <a:spcPct val="100000"/>
              </a:lnSpc>
            </a:pPr>
            <a:r>
              <a:rPr sz="1250" b="1">
                <a:solidFill>
                  <a:srgbClr val="B04E45"/>
                </a:solidFill>
                <a:latin typeface="Arial"/>
              </a:rPr>
              <a:t>Verify blocker, then stop</a:t>
            </a:r>
          </a:p>
        </p:txBody>
      </p:sp>
      <p:sp>
        <p:nvSpPr>
          <p:cNvPr id="50" name="Rounded Rectangle 49"/>
          <p:cNvSpPr/>
          <p:nvPr/>
        </p:nvSpPr>
        <p:spPr>
          <a:xfrm>
            <a:off x="4151376" y="3346704"/>
            <a:ext cx="2148840" cy="731520"/>
          </a:xfrm>
          <a:prstGeom prst="roundRect">
            <a:avLst>
              <a:gd name="adj" fmla="val 5000"/>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ody:50"/>
          <p:cNvSpPr txBox="1"/>
          <p:nvPr/>
        </p:nvSpPr>
        <p:spPr>
          <a:xfrm>
            <a:off x="4261104" y="3438144"/>
            <a:ext cx="1929384" cy="548640"/>
          </a:xfrm>
          <a:prstGeom prst="rect">
            <a:avLst/>
          </a:prstGeom>
          <a:noFill/>
        </p:spPr>
        <p:txBody>
          <a:bodyPr wrap="square" lIns="22860" rIns="22860" tIns="22860" bIns="22860" anchor="ctr">
            <a:spAutoFit/>
          </a:bodyPr>
          <a:lstStyle/>
          <a:p>
            <a:pPr algn="l">
              <a:lnSpc>
                <a:spcPct val="100000"/>
              </a:lnSpc>
            </a:pPr>
            <a:r>
              <a:rPr sz="1250" b="1">
                <a:solidFill>
                  <a:srgbClr val="1E7A72"/>
                </a:solidFill>
                <a:latin typeface="Arial"/>
              </a:rPr>
              <a:t>Use the granted alternative</a:t>
            </a:r>
          </a:p>
        </p:txBody>
      </p:sp>
      <p:sp>
        <p:nvSpPr>
          <p:cNvPr id="52" name="body:51"/>
          <p:cNvSpPr txBox="1"/>
          <p:nvPr/>
        </p:nvSpPr>
        <p:spPr>
          <a:xfrm>
            <a:off x="566928" y="4261104"/>
            <a:ext cx="3931920" cy="731520"/>
          </a:xfrm>
          <a:prstGeom prst="rect">
            <a:avLst/>
          </a:prstGeom>
          <a:noFill/>
        </p:spPr>
        <p:txBody>
          <a:bodyPr wrap="square" lIns="22860" rIns="22860" tIns="22860" bIns="22860" anchor="t">
            <a:spAutoFit/>
          </a:bodyPr>
          <a:lstStyle/>
          <a:p>
            <a:pPr algn="l">
              <a:lnSpc>
                <a:spcPct val="105000"/>
              </a:lnSpc>
            </a:pPr>
            <a:r>
              <a:rPr sz="1050" b="0">
                <a:solidFill>
                  <a:srgbClr val="5F6E80"/>
                </a:solidFill>
                <a:latin typeface="Arial"/>
              </a:rPr>
              <a:t>X1b adds silent and conflicting grant columns: readout is a response mix and an over-conservatism check, not a violation rate.</a:t>
            </a:r>
          </a:p>
        </p:txBody>
      </p:sp>
      <p:sp>
        <p:nvSpPr>
          <p:cNvPr id="53" name="Rectangle 52"/>
          <p:cNvSpPr/>
          <p:nvPr/>
        </p:nvSpPr>
        <p:spPr>
          <a:xfrm>
            <a:off x="6400800" y="2157984"/>
            <a:ext cx="914400" cy="306324"/>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ody:53"/>
          <p:cNvSpPr txBox="1"/>
          <p:nvPr/>
        </p:nvSpPr>
        <p:spPr>
          <a:xfrm>
            <a:off x="6483096" y="2157984"/>
            <a:ext cx="749808" cy="306324"/>
          </a:xfrm>
          <a:prstGeom prst="rect">
            <a:avLst/>
          </a:prstGeom>
          <a:noFill/>
        </p:spPr>
        <p:txBody>
          <a:bodyPr wrap="square" lIns="22860" rIns="22860" tIns="22860" bIns="22860" anchor="ctr">
            <a:spAutoFit/>
          </a:bodyPr>
          <a:lstStyle/>
          <a:p>
            <a:pPr algn="l">
              <a:lnSpc>
                <a:spcPct val="100000"/>
              </a:lnSpc>
            </a:pPr>
            <a:r>
              <a:rPr sz="1050" b="1">
                <a:solidFill>
                  <a:srgbClr val="FFFFFF"/>
                </a:solidFill>
                <a:latin typeface="Arial"/>
              </a:rPr>
              <a:t>Arm</a:t>
            </a:r>
          </a:p>
        </p:txBody>
      </p:sp>
      <p:sp>
        <p:nvSpPr>
          <p:cNvPr id="55" name="Rectangle 54"/>
          <p:cNvSpPr/>
          <p:nvPr/>
        </p:nvSpPr>
        <p:spPr>
          <a:xfrm>
            <a:off x="7315200" y="2157984"/>
            <a:ext cx="1920240" cy="306324"/>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ody:55"/>
          <p:cNvSpPr txBox="1"/>
          <p:nvPr/>
        </p:nvSpPr>
        <p:spPr>
          <a:xfrm>
            <a:off x="7397496" y="2157984"/>
            <a:ext cx="1755648" cy="306324"/>
          </a:xfrm>
          <a:prstGeom prst="rect">
            <a:avLst/>
          </a:prstGeom>
          <a:noFill/>
        </p:spPr>
        <p:txBody>
          <a:bodyPr wrap="square" lIns="22860" rIns="22860" tIns="22860" bIns="22860" anchor="ctr">
            <a:spAutoFit/>
          </a:bodyPr>
          <a:lstStyle/>
          <a:p>
            <a:pPr algn="l">
              <a:lnSpc>
                <a:spcPct val="100000"/>
              </a:lnSpc>
            </a:pPr>
            <a:r>
              <a:rPr sz="1050" b="1">
                <a:solidFill>
                  <a:srgbClr val="FFFFFF"/>
                </a:solidFill>
                <a:latin typeface="Arial"/>
              </a:rPr>
              <a:t>Policy</a:t>
            </a:r>
          </a:p>
        </p:txBody>
      </p:sp>
      <p:sp>
        <p:nvSpPr>
          <p:cNvPr id="57" name="Rectangle 56"/>
          <p:cNvSpPr/>
          <p:nvPr/>
        </p:nvSpPr>
        <p:spPr>
          <a:xfrm>
            <a:off x="9235440" y="2157984"/>
            <a:ext cx="2386584" cy="306324"/>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ody:57"/>
          <p:cNvSpPr txBox="1"/>
          <p:nvPr/>
        </p:nvSpPr>
        <p:spPr>
          <a:xfrm>
            <a:off x="9317736" y="2157984"/>
            <a:ext cx="2221991" cy="306324"/>
          </a:xfrm>
          <a:prstGeom prst="rect">
            <a:avLst/>
          </a:prstGeom>
          <a:noFill/>
        </p:spPr>
        <p:txBody>
          <a:bodyPr wrap="square" lIns="22860" rIns="22860" tIns="22860" bIns="22860" anchor="ctr">
            <a:spAutoFit/>
          </a:bodyPr>
          <a:lstStyle/>
          <a:p>
            <a:pPr algn="l">
              <a:lnSpc>
                <a:spcPct val="100000"/>
              </a:lnSpc>
            </a:pPr>
            <a:r>
              <a:rPr sz="1050" b="1">
                <a:solidFill>
                  <a:srgbClr val="FFFFFF"/>
                </a:solidFill>
                <a:latin typeface="Arial"/>
              </a:rPr>
              <a:t>Compared at</a:t>
            </a:r>
          </a:p>
        </p:txBody>
      </p:sp>
      <p:sp>
        <p:nvSpPr>
          <p:cNvPr id="59" name="Rectangle 58"/>
          <p:cNvSpPr/>
          <p:nvPr/>
        </p:nvSpPr>
        <p:spPr>
          <a:xfrm>
            <a:off x="6400800" y="2464308"/>
            <a:ext cx="914400" cy="3063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ody:59"/>
          <p:cNvSpPr txBox="1"/>
          <p:nvPr/>
        </p:nvSpPr>
        <p:spPr>
          <a:xfrm>
            <a:off x="6483096" y="2464308"/>
            <a:ext cx="749808" cy="306324"/>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A0</a:t>
            </a:r>
          </a:p>
        </p:txBody>
      </p:sp>
      <p:sp>
        <p:nvSpPr>
          <p:cNvPr id="61" name="Rectangle 60"/>
          <p:cNvSpPr/>
          <p:nvPr/>
        </p:nvSpPr>
        <p:spPr>
          <a:xfrm>
            <a:off x="7315200" y="2464308"/>
            <a:ext cx="1920240" cy="3063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ody:61"/>
          <p:cNvSpPr txBox="1"/>
          <p:nvPr/>
        </p:nvSpPr>
        <p:spPr>
          <a:xfrm>
            <a:off x="7397496" y="2464308"/>
            <a:ext cx="1755648" cy="306324"/>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Original instruction</a:t>
            </a:r>
          </a:p>
        </p:txBody>
      </p:sp>
      <p:sp>
        <p:nvSpPr>
          <p:cNvPr id="63" name="Rectangle 62"/>
          <p:cNvSpPr/>
          <p:nvPr/>
        </p:nvSpPr>
        <p:spPr>
          <a:xfrm>
            <a:off x="9235440" y="2464308"/>
            <a:ext cx="2386584" cy="3063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ody:63"/>
          <p:cNvSpPr txBox="1"/>
          <p:nvPr/>
        </p:nvSpPr>
        <p:spPr>
          <a:xfrm>
            <a:off x="9317736" y="2464308"/>
            <a:ext cx="2221991" cy="306324"/>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reference</a:t>
            </a:r>
          </a:p>
        </p:txBody>
      </p:sp>
      <p:sp>
        <p:nvSpPr>
          <p:cNvPr id="65" name="Rectangle 64"/>
          <p:cNvSpPr/>
          <p:nvPr/>
        </p:nvSpPr>
        <p:spPr>
          <a:xfrm>
            <a:off x="6400800" y="2770632"/>
            <a:ext cx="914400" cy="3063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ody:65"/>
          <p:cNvSpPr txBox="1"/>
          <p:nvPr/>
        </p:nvSpPr>
        <p:spPr>
          <a:xfrm>
            <a:off x="6483096" y="2770632"/>
            <a:ext cx="749808" cy="306324"/>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A1</a:t>
            </a:r>
          </a:p>
        </p:txBody>
      </p:sp>
      <p:sp>
        <p:nvSpPr>
          <p:cNvPr id="67" name="Rectangle 66"/>
          <p:cNvSpPr/>
          <p:nvPr/>
        </p:nvSpPr>
        <p:spPr>
          <a:xfrm>
            <a:off x="7315200" y="2770632"/>
            <a:ext cx="1920240" cy="3063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ody:67"/>
          <p:cNvSpPr txBox="1"/>
          <p:nvPr/>
        </p:nvSpPr>
        <p:spPr>
          <a:xfrm>
            <a:off x="7397496" y="2770632"/>
            <a:ext cx="1755648" cy="306324"/>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Fixed scope instruction</a:t>
            </a:r>
          </a:p>
        </p:txBody>
      </p:sp>
      <p:sp>
        <p:nvSpPr>
          <p:cNvPr id="69" name="Rectangle 68"/>
          <p:cNvSpPr/>
          <p:nvPr/>
        </p:nvSpPr>
        <p:spPr>
          <a:xfrm>
            <a:off x="9235440" y="2770632"/>
            <a:ext cx="2386584" cy="3063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ody:69"/>
          <p:cNvSpPr txBox="1"/>
          <p:nvPr/>
        </p:nvSpPr>
        <p:spPr>
          <a:xfrm>
            <a:off x="9317736" y="2770632"/>
            <a:ext cx="2221991" cy="306324"/>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prompt</a:t>
            </a:r>
          </a:p>
        </p:txBody>
      </p:sp>
      <p:sp>
        <p:nvSpPr>
          <p:cNvPr id="71" name="Rectangle 70"/>
          <p:cNvSpPr/>
          <p:nvPr/>
        </p:nvSpPr>
        <p:spPr>
          <a:xfrm>
            <a:off x="6400800" y="3076956"/>
            <a:ext cx="914400" cy="3063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ody:71"/>
          <p:cNvSpPr txBox="1"/>
          <p:nvPr/>
        </p:nvSpPr>
        <p:spPr>
          <a:xfrm>
            <a:off x="6483096" y="3076956"/>
            <a:ext cx="749808" cy="306324"/>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A2</a:t>
            </a:r>
          </a:p>
        </p:txBody>
      </p:sp>
      <p:sp>
        <p:nvSpPr>
          <p:cNvPr id="73" name="Rectangle 72"/>
          <p:cNvSpPr/>
          <p:nvPr/>
        </p:nvSpPr>
        <p:spPr>
          <a:xfrm>
            <a:off x="7315200" y="3076956"/>
            <a:ext cx="1920240" cy="3063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ody:73"/>
          <p:cNvSpPr txBox="1"/>
          <p:nvPr/>
        </p:nvSpPr>
        <p:spPr>
          <a:xfrm>
            <a:off x="7397496" y="3076956"/>
            <a:ext cx="1755648" cy="306324"/>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Stop-or-ask instruction</a:t>
            </a:r>
          </a:p>
        </p:txBody>
      </p:sp>
      <p:sp>
        <p:nvSpPr>
          <p:cNvPr id="75" name="Rectangle 74"/>
          <p:cNvSpPr/>
          <p:nvPr/>
        </p:nvSpPr>
        <p:spPr>
          <a:xfrm>
            <a:off x="9235440" y="3076956"/>
            <a:ext cx="2386584" cy="3063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ody:75"/>
          <p:cNvSpPr txBox="1"/>
          <p:nvPr/>
        </p:nvSpPr>
        <p:spPr>
          <a:xfrm>
            <a:off x="9317736" y="3076956"/>
            <a:ext cx="2221991" cy="306324"/>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prompt</a:t>
            </a:r>
          </a:p>
        </p:txBody>
      </p:sp>
      <p:sp>
        <p:nvSpPr>
          <p:cNvPr id="77" name="Rectangle 76"/>
          <p:cNvSpPr/>
          <p:nvPr/>
        </p:nvSpPr>
        <p:spPr>
          <a:xfrm>
            <a:off x="6400800" y="3383279"/>
            <a:ext cx="914400" cy="3063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ody:77"/>
          <p:cNvSpPr txBox="1"/>
          <p:nvPr/>
        </p:nvSpPr>
        <p:spPr>
          <a:xfrm>
            <a:off x="6483096" y="3383279"/>
            <a:ext cx="749808" cy="306324"/>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A3</a:t>
            </a:r>
          </a:p>
        </p:txBody>
      </p:sp>
      <p:sp>
        <p:nvSpPr>
          <p:cNvPr id="79" name="Rectangle 78"/>
          <p:cNvSpPr/>
          <p:nvPr/>
        </p:nvSpPr>
        <p:spPr>
          <a:xfrm>
            <a:off x="7315200" y="3383279"/>
            <a:ext cx="1920240" cy="3063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ody:79"/>
          <p:cNvSpPr txBox="1"/>
          <p:nvPr/>
        </p:nvSpPr>
        <p:spPr>
          <a:xfrm>
            <a:off x="7397496" y="3383279"/>
            <a:ext cx="1755648" cy="306324"/>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Broker allowlist (Progent / CaMeL-style)</a:t>
            </a:r>
          </a:p>
        </p:txBody>
      </p:sp>
      <p:sp>
        <p:nvSpPr>
          <p:cNvPr id="81" name="Rectangle 80"/>
          <p:cNvSpPr/>
          <p:nvPr/>
        </p:nvSpPr>
        <p:spPr>
          <a:xfrm>
            <a:off x="9235440" y="3383279"/>
            <a:ext cx="2386584" cy="3063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body:81"/>
          <p:cNvSpPr txBox="1"/>
          <p:nvPr/>
        </p:nvSpPr>
        <p:spPr>
          <a:xfrm>
            <a:off x="9317736" y="3383279"/>
            <a:ext cx="2221991" cy="306324"/>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check</a:t>
            </a:r>
          </a:p>
        </p:txBody>
      </p:sp>
      <p:sp>
        <p:nvSpPr>
          <p:cNvPr id="83" name="Rectangle 82"/>
          <p:cNvSpPr/>
          <p:nvPr/>
        </p:nvSpPr>
        <p:spPr>
          <a:xfrm>
            <a:off x="6400800" y="3689604"/>
            <a:ext cx="914400" cy="3063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body:83"/>
          <p:cNvSpPr txBox="1"/>
          <p:nvPr/>
        </p:nvSpPr>
        <p:spPr>
          <a:xfrm>
            <a:off x="6483096" y="3689604"/>
            <a:ext cx="749808" cy="306324"/>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A4</a:t>
            </a:r>
          </a:p>
        </p:txBody>
      </p:sp>
      <p:sp>
        <p:nvSpPr>
          <p:cNvPr id="85" name="Rectangle 84"/>
          <p:cNvSpPr/>
          <p:nvPr/>
        </p:nvSpPr>
        <p:spPr>
          <a:xfrm>
            <a:off x="7315200" y="3689604"/>
            <a:ext cx="1920240" cy="3063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body:85"/>
          <p:cNvSpPr txBox="1"/>
          <p:nvPr/>
        </p:nvSpPr>
        <p:spPr>
          <a:xfrm>
            <a:off x="7397496" y="3689604"/>
            <a:ext cx="1755648" cy="306324"/>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Trusted monitor + defer-to-stop</a:t>
            </a:r>
          </a:p>
        </p:txBody>
      </p:sp>
      <p:sp>
        <p:nvSpPr>
          <p:cNvPr id="87" name="Rectangle 86"/>
          <p:cNvSpPr/>
          <p:nvPr/>
        </p:nvSpPr>
        <p:spPr>
          <a:xfrm>
            <a:off x="9235440" y="3689604"/>
            <a:ext cx="2386584" cy="3063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body:87"/>
          <p:cNvSpPr txBox="1"/>
          <p:nvPr/>
        </p:nvSpPr>
        <p:spPr>
          <a:xfrm>
            <a:off x="9317736" y="3689604"/>
            <a:ext cx="2221991" cy="306324"/>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check</a:t>
            </a:r>
          </a:p>
        </p:txBody>
      </p:sp>
      <p:sp>
        <p:nvSpPr>
          <p:cNvPr id="89" name="Rectangle 88"/>
          <p:cNvSpPr/>
          <p:nvPr/>
        </p:nvSpPr>
        <p:spPr>
          <a:xfrm>
            <a:off x="6400800" y="3995928"/>
            <a:ext cx="914400" cy="3063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body:89"/>
          <p:cNvSpPr txBox="1"/>
          <p:nvPr/>
        </p:nvSpPr>
        <p:spPr>
          <a:xfrm>
            <a:off x="6483096" y="3995928"/>
            <a:ext cx="749808" cy="306324"/>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A5</a:t>
            </a:r>
          </a:p>
        </p:txBody>
      </p:sp>
      <p:sp>
        <p:nvSpPr>
          <p:cNvPr id="91" name="Rectangle 90"/>
          <p:cNvSpPr/>
          <p:nvPr/>
        </p:nvSpPr>
        <p:spPr>
          <a:xfrm>
            <a:off x="7315200" y="3995928"/>
            <a:ext cx="1920240" cy="3063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body:91"/>
          <p:cNvSpPr txBox="1"/>
          <p:nvPr/>
        </p:nvSpPr>
        <p:spPr>
          <a:xfrm>
            <a:off x="7397496" y="3995928"/>
            <a:ext cx="1755648" cy="306324"/>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Algorithm A, unbrokered</a:t>
            </a:r>
          </a:p>
        </p:txBody>
      </p:sp>
      <p:sp>
        <p:nvSpPr>
          <p:cNvPr id="93" name="Rectangle 92"/>
          <p:cNvSpPr/>
          <p:nvPr/>
        </p:nvSpPr>
        <p:spPr>
          <a:xfrm>
            <a:off x="9235440" y="3995928"/>
            <a:ext cx="2386584" cy="3063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body:93"/>
          <p:cNvSpPr txBox="1"/>
          <p:nvPr/>
        </p:nvSpPr>
        <p:spPr>
          <a:xfrm>
            <a:off x="9317736" y="3995928"/>
            <a:ext cx="2221991" cy="306324"/>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propose</a:t>
            </a:r>
          </a:p>
        </p:txBody>
      </p:sp>
      <p:sp>
        <p:nvSpPr>
          <p:cNvPr id="95" name="Rectangle 94"/>
          <p:cNvSpPr/>
          <p:nvPr/>
        </p:nvSpPr>
        <p:spPr>
          <a:xfrm>
            <a:off x="6400800" y="4302252"/>
            <a:ext cx="914400" cy="3063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body:95"/>
          <p:cNvSpPr txBox="1"/>
          <p:nvPr/>
        </p:nvSpPr>
        <p:spPr>
          <a:xfrm>
            <a:off x="6483096" y="4302252"/>
            <a:ext cx="749808" cy="306324"/>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A6</a:t>
            </a:r>
          </a:p>
        </p:txBody>
      </p:sp>
      <p:sp>
        <p:nvSpPr>
          <p:cNvPr id="97" name="Rectangle 96"/>
          <p:cNvSpPr/>
          <p:nvPr/>
        </p:nvSpPr>
        <p:spPr>
          <a:xfrm>
            <a:off x="7315200" y="4302252"/>
            <a:ext cx="1920240" cy="3063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body:97"/>
          <p:cNvSpPr txBox="1"/>
          <p:nvPr/>
        </p:nvSpPr>
        <p:spPr>
          <a:xfrm>
            <a:off x="7397496" y="4302252"/>
            <a:ext cx="1755648" cy="306324"/>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Algorithm A + broker</a:t>
            </a:r>
          </a:p>
        </p:txBody>
      </p:sp>
      <p:sp>
        <p:nvSpPr>
          <p:cNvPr id="99" name="Rectangle 98"/>
          <p:cNvSpPr/>
          <p:nvPr/>
        </p:nvSpPr>
        <p:spPr>
          <a:xfrm>
            <a:off x="9235440" y="4302252"/>
            <a:ext cx="2386584" cy="3063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body:99"/>
          <p:cNvSpPr txBox="1"/>
          <p:nvPr/>
        </p:nvSpPr>
        <p:spPr>
          <a:xfrm>
            <a:off x="9317736" y="4302252"/>
            <a:ext cx="2221991" cy="306324"/>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propose + check</a:t>
            </a:r>
          </a:p>
        </p:txBody>
      </p:sp>
      <p:sp>
        <p:nvSpPr>
          <p:cNvPr id="101" name="Rectangle 100"/>
          <p:cNvSpPr/>
          <p:nvPr/>
        </p:nvSpPr>
        <p:spPr>
          <a:xfrm>
            <a:off x="566928" y="5029200"/>
            <a:ext cx="11055096" cy="530352"/>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body:101"/>
          <p:cNvSpPr txBox="1"/>
          <p:nvPr/>
        </p:nvSpPr>
        <p:spPr>
          <a:xfrm>
            <a:off x="749808" y="5056632"/>
            <a:ext cx="10689336" cy="475488"/>
          </a:xfrm>
          <a:prstGeom prst="rect">
            <a:avLst/>
          </a:prstGeom>
          <a:noFill/>
        </p:spPr>
        <p:txBody>
          <a:bodyPr wrap="square" lIns="22860" rIns="22860" tIns="22860" bIns="22860" anchor="ctr">
            <a:spAutoFit/>
          </a:bodyPr>
          <a:lstStyle/>
          <a:p>
            <a:pPr algn="l">
              <a:lnSpc>
                <a:spcPct val="105000"/>
              </a:lnSpc>
            </a:pPr>
            <a:r>
              <a:rPr sz="1100" b="0">
                <a:solidFill>
                  <a:srgbClr val="22313F"/>
                </a:solidFill>
                <a:latin typeface="Arial"/>
              </a:rPr>
              <a:t>Pilot: 2 repair × 2 grant × 2 task families × 7 arms × 12 lineages = 672 rollouts per model. Endpoints per run: executed effect, attempted violation, authorized completion, false stop, probes, requests, cost, unknown.</a:t>
            </a:r>
          </a:p>
        </p:txBody>
      </p:sp>
      <p:sp>
        <p:nvSpPr>
          <p:cNvPr id="103" name="Rounded Rectangle 102"/>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body:103"/>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When permission changes, the next action should change even if access does not. Attempts and effects are counted apart.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18 / EXPERIMENT 3 · SELECTION CONTRAST</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E3: does incident feedback select a better policy on fresh tasks?</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Shared development pool; selections by T, T+J and J*; frozen policies evaluated on untouched lineages with one common observer.</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22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F8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B4602E"/>
                </a:solidFill>
                <a:latin typeface="Arial"/>
              </a:rPr>
              <a:t>PROPOSED</a:t>
            </a:r>
          </a:p>
        </p:txBody>
      </p:sp>
      <p:sp>
        <p:nvSpPr>
          <p:cNvPr id="37" name="source:36"/>
          <p:cNvSpPr txBox="1"/>
          <p:nvPr/>
        </p:nvSpPr>
        <p:spPr>
          <a:xfrm>
            <a:off x="566928" y="6400800"/>
            <a:ext cx="237744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Matched selection protocol</a:t>
            </a:r>
          </a:p>
        </p:txBody>
      </p:sp>
      <p:sp>
        <p:nvSpPr>
          <p:cNvPr id="38" name="source:37"/>
          <p:cNvSpPr txBox="1"/>
          <p:nvPr/>
        </p:nvSpPr>
        <p:spPr>
          <a:xfrm>
            <a:off x="3090672" y="6400800"/>
            <a:ext cx="292608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Why the current judge is not a gate</a:t>
            </a:r>
          </a:p>
        </p:txBody>
      </p:sp>
      <p:sp>
        <p:nvSpPr>
          <p:cNvPr id="39" name="source:38"/>
          <p:cNvSpPr txBox="1"/>
          <p:nvPr/>
        </p:nvSpPr>
        <p:spPr>
          <a:xfrm>
            <a:off x="6163056" y="6400800"/>
            <a:ext cx="18288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4"/>
              </a:rPr>
              <a:t>Archived evidence</a:t>
            </a:r>
          </a:p>
        </p:txBody>
      </p:sp>
      <p:sp>
        <p:nvSpPr>
          <p:cNvPr id="40" name="body:39"/>
          <p:cNvSpPr txBox="1"/>
          <p:nvPr/>
        </p:nvSpPr>
        <p:spPr>
          <a:xfrm>
            <a:off x="566928" y="2157984"/>
            <a:ext cx="5486400" cy="310896"/>
          </a:xfrm>
          <a:prstGeom prst="rect">
            <a:avLst/>
          </a:prstGeom>
          <a:noFill/>
        </p:spPr>
        <p:txBody>
          <a:bodyPr wrap="square" lIns="22860" rIns="22860" tIns="22860" bIns="22860" anchor="ctr">
            <a:spAutoFit/>
          </a:bodyPr>
          <a:lstStyle/>
          <a:p>
            <a:pPr algn="l">
              <a:lnSpc>
                <a:spcPct val="108000"/>
              </a:lnSpc>
            </a:pPr>
            <a:r>
              <a:rPr sz="1400" b="1">
                <a:solidFill>
                  <a:srgbClr val="172D46"/>
                </a:solidFill>
                <a:latin typeface="Arial"/>
              </a:rPr>
              <a:t>Evidence we already have: the measurement problem</a:t>
            </a:r>
          </a:p>
        </p:txBody>
      </p:sp>
      <p:sp>
        <p:nvSpPr>
          <p:cNvPr id="41" name="body:40"/>
          <p:cNvSpPr txBox="1"/>
          <p:nvPr/>
        </p:nvSpPr>
        <p:spPr>
          <a:xfrm>
            <a:off x="1965960" y="2523744"/>
            <a:ext cx="1600200" cy="23774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NO INCIDENT</a:t>
            </a:r>
          </a:p>
        </p:txBody>
      </p:sp>
      <p:sp>
        <p:nvSpPr>
          <p:cNvPr id="42" name="body:41"/>
          <p:cNvSpPr txBox="1"/>
          <p:nvPr/>
        </p:nvSpPr>
        <p:spPr>
          <a:xfrm>
            <a:off x="3694176" y="2523744"/>
            <a:ext cx="1600200" cy="237744"/>
          </a:xfrm>
          <a:prstGeom prst="rect">
            <a:avLst/>
          </a:prstGeom>
          <a:noFill/>
        </p:spPr>
        <p:txBody>
          <a:bodyPr wrap="square" lIns="22860" rIns="22860" tIns="22860" bIns="22860" anchor="ctr">
            <a:spAutoFit/>
          </a:bodyPr>
          <a:lstStyle/>
          <a:p>
            <a:pPr algn="l">
              <a:lnSpc>
                <a:spcPct val="108000"/>
              </a:lnSpc>
            </a:pPr>
            <a:r>
              <a:rPr sz="1100" b="1">
                <a:solidFill>
                  <a:srgbClr val="B04E45"/>
                </a:solidFill>
                <a:latin typeface="Arial"/>
              </a:rPr>
              <a:t>INCIDENT</a:t>
            </a:r>
          </a:p>
        </p:txBody>
      </p:sp>
      <p:sp>
        <p:nvSpPr>
          <p:cNvPr id="43" name="body:42"/>
          <p:cNvSpPr txBox="1"/>
          <p:nvPr/>
        </p:nvSpPr>
        <p:spPr>
          <a:xfrm>
            <a:off x="566928" y="2944368"/>
            <a:ext cx="1325880" cy="402336"/>
          </a:xfrm>
          <a:prstGeom prst="rect">
            <a:avLst/>
          </a:prstGeom>
          <a:noFill/>
        </p:spPr>
        <p:txBody>
          <a:bodyPr wrap="square" lIns="22860" rIns="22860" tIns="22860" bIns="22860" anchor="ctr">
            <a:spAutoFit/>
          </a:bodyPr>
          <a:lstStyle/>
          <a:p>
            <a:pPr algn="l">
              <a:lnSpc>
                <a:spcPct val="108000"/>
              </a:lnSpc>
            </a:pPr>
            <a:r>
              <a:rPr sz="1250" b="1">
                <a:solidFill>
                  <a:srgbClr val="22313F"/>
                </a:solidFill>
                <a:latin typeface="Arial"/>
              </a:rPr>
              <a:t>Scorer pass</a:t>
            </a:r>
          </a:p>
        </p:txBody>
      </p:sp>
      <p:sp>
        <p:nvSpPr>
          <p:cNvPr id="44" name="body:43"/>
          <p:cNvSpPr txBox="1"/>
          <p:nvPr/>
        </p:nvSpPr>
        <p:spPr>
          <a:xfrm>
            <a:off x="566928" y="3749039"/>
            <a:ext cx="1325880" cy="402336"/>
          </a:xfrm>
          <a:prstGeom prst="rect">
            <a:avLst/>
          </a:prstGeom>
          <a:noFill/>
        </p:spPr>
        <p:txBody>
          <a:bodyPr wrap="square" lIns="22860" rIns="22860" tIns="22860" bIns="22860" anchor="ctr">
            <a:spAutoFit/>
          </a:bodyPr>
          <a:lstStyle/>
          <a:p>
            <a:pPr algn="l">
              <a:lnSpc>
                <a:spcPct val="108000"/>
              </a:lnSpc>
            </a:pPr>
            <a:r>
              <a:rPr sz="1250" b="1">
                <a:solidFill>
                  <a:srgbClr val="22313F"/>
                </a:solidFill>
                <a:latin typeface="Arial"/>
              </a:rPr>
              <a:t>No pass</a:t>
            </a:r>
          </a:p>
        </p:txBody>
      </p:sp>
      <p:sp>
        <p:nvSpPr>
          <p:cNvPr id="45" name="Rounded Rectangle 44"/>
          <p:cNvSpPr/>
          <p:nvPr/>
        </p:nvSpPr>
        <p:spPr>
          <a:xfrm>
            <a:off x="1965960" y="2816352"/>
            <a:ext cx="1600200" cy="658368"/>
          </a:xfrm>
          <a:prstGeom prst="roundRect">
            <a:avLst>
              <a:gd name="adj" fmla="val 5000"/>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ody:45"/>
          <p:cNvSpPr txBox="1"/>
          <p:nvPr/>
        </p:nvSpPr>
        <p:spPr>
          <a:xfrm>
            <a:off x="1965960" y="2816352"/>
            <a:ext cx="1600200" cy="658368"/>
          </a:xfrm>
          <a:prstGeom prst="rect">
            <a:avLst/>
          </a:prstGeom>
          <a:noFill/>
        </p:spPr>
        <p:txBody>
          <a:bodyPr wrap="square" lIns="22860" rIns="22860" tIns="22860" bIns="22860" anchor="ctr">
            <a:spAutoFit/>
          </a:bodyPr>
          <a:lstStyle/>
          <a:p>
            <a:pPr algn="ctr">
              <a:lnSpc>
                <a:spcPct val="108000"/>
              </a:lnSpc>
            </a:pPr>
            <a:r>
              <a:rPr sz="2800" b="1">
                <a:solidFill>
                  <a:srgbClr val="1E7A72"/>
                </a:solidFill>
                <a:latin typeface="Arial"/>
              </a:rPr>
              <a:t>96</a:t>
            </a:r>
          </a:p>
        </p:txBody>
      </p:sp>
      <p:sp>
        <p:nvSpPr>
          <p:cNvPr id="47" name="Rounded Rectangle 46"/>
          <p:cNvSpPr/>
          <p:nvPr/>
        </p:nvSpPr>
        <p:spPr>
          <a:xfrm>
            <a:off x="3694176" y="2816352"/>
            <a:ext cx="1600200" cy="658368"/>
          </a:xfrm>
          <a:prstGeom prst="roundRect">
            <a:avLst>
              <a:gd name="adj" fmla="val 5000"/>
            </a:avLst>
          </a:prstGeom>
          <a:solidFill>
            <a:srgbClr val="F7E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ody:47"/>
          <p:cNvSpPr txBox="1"/>
          <p:nvPr/>
        </p:nvSpPr>
        <p:spPr>
          <a:xfrm>
            <a:off x="3694176" y="2816352"/>
            <a:ext cx="1600200" cy="658368"/>
          </a:xfrm>
          <a:prstGeom prst="rect">
            <a:avLst/>
          </a:prstGeom>
          <a:noFill/>
        </p:spPr>
        <p:txBody>
          <a:bodyPr wrap="square" lIns="22860" rIns="22860" tIns="22860" bIns="22860" anchor="ctr">
            <a:spAutoFit/>
          </a:bodyPr>
          <a:lstStyle/>
          <a:p>
            <a:pPr algn="ctr">
              <a:lnSpc>
                <a:spcPct val="108000"/>
              </a:lnSpc>
            </a:pPr>
            <a:r>
              <a:rPr sz="2800" b="1">
                <a:solidFill>
                  <a:srgbClr val="B04E45"/>
                </a:solidFill>
                <a:latin typeface="Arial"/>
              </a:rPr>
              <a:t>13</a:t>
            </a:r>
          </a:p>
        </p:txBody>
      </p:sp>
      <p:sp>
        <p:nvSpPr>
          <p:cNvPr id="49" name="Rounded Rectangle 48"/>
          <p:cNvSpPr/>
          <p:nvPr/>
        </p:nvSpPr>
        <p:spPr>
          <a:xfrm>
            <a:off x="1965960" y="3621024"/>
            <a:ext cx="1600200" cy="658368"/>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ody:49"/>
          <p:cNvSpPr txBox="1"/>
          <p:nvPr/>
        </p:nvSpPr>
        <p:spPr>
          <a:xfrm>
            <a:off x="1965960" y="3621024"/>
            <a:ext cx="1600200" cy="658368"/>
          </a:xfrm>
          <a:prstGeom prst="rect">
            <a:avLst/>
          </a:prstGeom>
          <a:noFill/>
        </p:spPr>
        <p:txBody>
          <a:bodyPr wrap="square" lIns="22860" rIns="22860" tIns="22860" bIns="22860" anchor="ctr">
            <a:spAutoFit/>
          </a:bodyPr>
          <a:lstStyle/>
          <a:p>
            <a:pPr algn="ctr">
              <a:lnSpc>
                <a:spcPct val="108000"/>
              </a:lnSpc>
            </a:pPr>
            <a:r>
              <a:rPr sz="2800" b="1">
                <a:solidFill>
                  <a:srgbClr val="5F6E80"/>
                </a:solidFill>
                <a:latin typeface="Arial"/>
              </a:rPr>
              <a:t>49</a:t>
            </a:r>
          </a:p>
        </p:txBody>
      </p:sp>
      <p:sp>
        <p:nvSpPr>
          <p:cNvPr id="51" name="Rounded Rectangle 50"/>
          <p:cNvSpPr/>
          <p:nvPr/>
        </p:nvSpPr>
        <p:spPr>
          <a:xfrm>
            <a:off x="3694176" y="3621024"/>
            <a:ext cx="1600200" cy="658368"/>
          </a:xfrm>
          <a:prstGeom prst="roundRect">
            <a:avLst>
              <a:gd name="adj" fmla="val 5000"/>
            </a:avLst>
          </a:prstGeom>
          <a:solidFill>
            <a:srgbClr val="F8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ody:51"/>
          <p:cNvSpPr txBox="1"/>
          <p:nvPr/>
        </p:nvSpPr>
        <p:spPr>
          <a:xfrm>
            <a:off x="3694176" y="3621024"/>
            <a:ext cx="1600200" cy="658368"/>
          </a:xfrm>
          <a:prstGeom prst="rect">
            <a:avLst/>
          </a:prstGeom>
          <a:noFill/>
        </p:spPr>
        <p:txBody>
          <a:bodyPr wrap="square" lIns="22860" rIns="22860" tIns="22860" bIns="22860" anchor="ctr">
            <a:spAutoFit/>
          </a:bodyPr>
          <a:lstStyle/>
          <a:p>
            <a:pPr algn="ctr">
              <a:lnSpc>
                <a:spcPct val="108000"/>
              </a:lnSpc>
            </a:pPr>
            <a:r>
              <a:rPr sz="2800" b="1">
                <a:solidFill>
                  <a:srgbClr val="B4602E"/>
                </a:solidFill>
                <a:latin typeface="Arial"/>
              </a:rPr>
              <a:t>2</a:t>
            </a:r>
          </a:p>
        </p:txBody>
      </p:sp>
      <p:sp>
        <p:nvSpPr>
          <p:cNvPr id="53" name="body:52"/>
          <p:cNvSpPr txBox="1"/>
          <p:nvPr/>
        </p:nvSpPr>
        <p:spPr>
          <a:xfrm>
            <a:off x="566928" y="4498848"/>
            <a:ext cx="5486400" cy="502920"/>
          </a:xfrm>
          <a:prstGeom prst="rect">
            <a:avLst/>
          </a:prstGeom>
          <a:noFill/>
        </p:spPr>
        <p:txBody>
          <a:bodyPr wrap="square" lIns="22860" rIns="22860" tIns="22860" bIns="22860" anchor="ctr">
            <a:spAutoFit/>
          </a:bodyPr>
          <a:lstStyle/>
          <a:p>
            <a:pPr algn="l">
              <a:lnSpc>
                <a:spcPct val="105000"/>
              </a:lnSpc>
            </a:pPr>
            <a:r>
              <a:rPr sz="1150" b="0">
                <a:solidFill>
                  <a:srgbClr val="5F6E80"/>
                </a:solidFill>
                <a:latin typeface="Arial"/>
              </a:rPr>
              <a:t>All 96 feasible controls completed within scope. 13 shortcuts passed the scorer; 2 violations never passed.</a:t>
            </a:r>
          </a:p>
        </p:txBody>
      </p:sp>
      <p:sp>
        <p:nvSpPr>
          <p:cNvPr id="54" name="Rectangle 53"/>
          <p:cNvSpPr/>
          <p:nvPr/>
        </p:nvSpPr>
        <p:spPr>
          <a:xfrm>
            <a:off x="6355080" y="2157984"/>
            <a:ext cx="5266944" cy="33832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355080" y="2157984"/>
            <a:ext cx="64008" cy="338328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ody:55"/>
          <p:cNvSpPr txBox="1"/>
          <p:nvPr/>
        </p:nvSpPr>
        <p:spPr>
          <a:xfrm>
            <a:off x="6556248" y="2231136"/>
            <a:ext cx="4846320" cy="310896"/>
          </a:xfrm>
          <a:prstGeom prst="rect">
            <a:avLst/>
          </a:prstGeom>
          <a:noFill/>
        </p:spPr>
        <p:txBody>
          <a:bodyPr wrap="square" lIns="22860" rIns="22860" tIns="22860" bIns="22860" anchor="ctr">
            <a:spAutoFit/>
          </a:bodyPr>
          <a:lstStyle/>
          <a:p>
            <a:pPr algn="l">
              <a:lnSpc>
                <a:spcPct val="108000"/>
              </a:lnSpc>
            </a:pPr>
            <a:r>
              <a:rPr sz="1400" b="1">
                <a:solidFill>
                  <a:srgbClr val="6A4C93"/>
                </a:solidFill>
                <a:latin typeface="Arial"/>
              </a:rPr>
              <a:t>Protocol and decision rules</a:t>
            </a:r>
          </a:p>
        </p:txBody>
      </p:sp>
      <p:sp>
        <p:nvSpPr>
          <p:cNvPr id="57" name="body:56"/>
          <p:cNvSpPr txBox="1"/>
          <p:nvPr/>
        </p:nvSpPr>
        <p:spPr>
          <a:xfrm>
            <a:off x="6556248" y="2560320"/>
            <a:ext cx="4846320" cy="2926080"/>
          </a:xfrm>
          <a:prstGeom prst="rect">
            <a:avLst/>
          </a:prstGeom>
          <a:noFill/>
        </p:spPr>
        <p:txBody>
          <a:bodyPr wrap="square" lIns="22860" rIns="22860" tIns="22860" bIns="22860" anchor="t">
            <a:spAutoFit/>
          </a:bodyPr>
          <a:lstStyle/>
          <a:p>
            <a:pPr algn="l">
              <a:lnSpc>
                <a:spcPct val="110000"/>
              </a:lnSpc>
            </a:pPr>
            <a:r>
              <a:rPr sz="1100" b="0">
                <a:solidFill>
                  <a:srgbClr val="22313F"/>
                </a:solidFill>
                <a:latin typeface="Arial"/>
              </a:rPr>
              <a:t>1  Fix K candidates, development lineages, actor, budgets, utility and tie-breaks; one rollout set reused by all signals.</a:t>
            </a:r>
          </a:p>
          <a:p>
            <a:pPr algn="l">
              <a:lnSpc>
                <a:spcPct val="110000"/>
              </a:lnSpc>
            </a:pPr>
            <a:r>
              <a:rPr sz="1100" b="0">
                <a:solidFill>
                  <a:srgbClr val="22313F"/>
                </a:solidFill>
                <a:latin typeface="Arial"/>
              </a:rPr>
              <a:t>2  Select θ</a:t>
            </a:r>
            <a:r>
              <a:rPr sz="1100" b="0" baseline="-25000">
                <a:solidFill>
                  <a:srgbClr val="22313F"/>
                </a:solidFill>
                <a:latin typeface="Arial"/>
              </a:rPr>
              <a:t>T</a:t>
            </a:r>
            <a:r>
              <a:rPr sz="1100" b="0">
                <a:solidFill>
                  <a:srgbClr val="22313F"/>
                </a:solidFill>
                <a:latin typeface="Arial"/>
              </a:rPr>
              <a:t>, θ</a:t>
            </a:r>
            <a:r>
              <a:rPr sz="1100" b="0" baseline="-25000">
                <a:solidFill>
                  <a:srgbClr val="22313F"/>
                </a:solidFill>
                <a:latin typeface="Arial"/>
              </a:rPr>
              <a:t>T+J</a:t>
            </a:r>
            <a:r>
              <a:rPr sz="1100" b="0">
                <a:solidFill>
                  <a:srgbClr val="22313F"/>
                </a:solidFill>
                <a:latin typeface="Arial"/>
              </a:rPr>
              <a:t>, θ</a:t>
            </a:r>
            <a:r>
              <a:rPr sz="1100" b="0" baseline="-25000">
                <a:solidFill>
                  <a:srgbClr val="22313F"/>
                </a:solidFill>
                <a:latin typeface="Arial"/>
              </a:rPr>
              <a:t>J*</a:t>
            </a:r>
            <a:r>
              <a:rPr sz="1100" b="0">
                <a:solidFill>
                  <a:srgbClr val="22313F"/>
                </a:solidFill>
                <a:latin typeface="Arial"/>
              </a:rPr>
              <a:t>; freeze; repeat full selections to estimate optimizer variability.</a:t>
            </a:r>
          </a:p>
          <a:p>
            <a:pPr algn="l">
              <a:lnSpc>
                <a:spcPct val="110000"/>
              </a:lnSpc>
            </a:pPr>
            <a:r>
              <a:rPr sz="1100" b="0">
                <a:solidFill>
                  <a:srgbClr val="22313F"/>
                </a:solidFill>
                <a:latin typeface="Arial"/>
              </a:rPr>
              <a:t>3  Evaluate on fresh lineages and a disjoint task family with the effect oracle; pair by task; exact McNemar on discordant pairs.</a:t>
            </a:r>
          </a:p>
          <a:p>
            <a:pPr algn="l">
              <a:lnSpc>
                <a:spcPct val="110000"/>
              </a:lnSpc>
            </a:pPr>
            <a:r>
              <a:rPr sz="1100" b="0">
                <a:solidFill>
                  <a:srgbClr val="22313F"/>
                </a:solidFill>
                <a:latin typeface="Arial"/>
              </a:rPr>
              <a:t>4  Primary contrast θ</a:t>
            </a:r>
            <a:r>
              <a:rPr sz="1100" b="0" baseline="-25000">
                <a:solidFill>
                  <a:srgbClr val="22313F"/>
                </a:solidFill>
                <a:latin typeface="Arial"/>
              </a:rPr>
              <a:t>T+J</a:t>
            </a:r>
            <a:r>
              <a:rPr sz="1100" b="0">
                <a:solidFill>
                  <a:srgbClr val="22313F"/>
                </a:solidFill>
                <a:latin typeface="Arial"/>
              </a:rPr>
              <a:t> vs θ</a:t>
            </a:r>
            <a:r>
              <a:rPr sz="1100" b="0" baseline="-25000">
                <a:solidFill>
                  <a:srgbClr val="22313F"/>
                </a:solidFill>
                <a:latin typeface="Arial"/>
              </a:rPr>
              <a:t>T</a:t>
            </a:r>
            <a:r>
              <a:rPr sz="1100" b="0">
                <a:solidFill>
                  <a:srgbClr val="22313F"/>
                </a:solidFill>
                <a:latin typeface="Arial"/>
              </a:rPr>
              <a:t>: lower verified risk with authorized utility inside a preregistered margin.</a:t>
            </a:r>
          </a:p>
          <a:p>
            <a:pPr algn="l">
              <a:lnSpc>
                <a:spcPct val="110000"/>
              </a:lnSpc>
            </a:pPr>
            <a:r>
              <a:rPr sz="1100" b="0">
                <a:solidFill>
                  <a:srgbClr val="22313F"/>
                </a:solidFill>
                <a:latin typeface="Arial"/>
              </a:rPr>
              <a:t>5  Calibrate a repaired judge on development data only and freeze it before test collection.</a:t>
            </a:r>
          </a:p>
          <a:p>
            <a:pPr algn="l">
              <a:lnSpc>
                <a:spcPct val="110000"/>
              </a:lnSpc>
            </a:pPr>
            <a:r>
              <a:rPr sz="1100" b="0">
                <a:solidFill>
                  <a:srgbClr val="22313F"/>
                </a:solidFill>
                <a:latin typeface="Arial"/>
              </a:rPr>
              <a:t>Valid negative results: identical selections; no eligible policy; no risk reduction; utility loss beyond the margin.</a:t>
            </a:r>
          </a:p>
        </p:txBody>
      </p:sp>
      <p:sp>
        <p:nvSpPr>
          <p:cNvPr id="58" name="Rounded Rectangle 57"/>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ody:58"/>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Falsifiers: only the broker helps; refusals explain the gain; feedback selects the same policy.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19 / REAL-WORLD IMPLICATIONS</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Back to the incidents: which result, which control, which test.</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Each incident family maps to one decision result, one system change, and the experiment whose outcome would support or refute it.</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23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F8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B4602E"/>
                </a:solidFill>
                <a:latin typeface="Arial"/>
              </a:rPr>
              <a:t>PROPOSED</a:t>
            </a:r>
          </a:p>
        </p:txBody>
      </p:sp>
      <p:sp>
        <p:nvSpPr>
          <p:cNvPr id="37" name="source:36"/>
          <p:cNvSpPr txBox="1"/>
          <p:nvPr/>
        </p:nvSpPr>
        <p:spPr>
          <a:xfrm>
            <a:off x="566928" y="6400800"/>
            <a:ext cx="9144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Medicare</a:t>
            </a:r>
          </a:p>
        </p:txBody>
      </p:sp>
      <p:sp>
        <p:nvSpPr>
          <p:cNvPr id="38" name="source:37"/>
          <p:cNvSpPr txBox="1"/>
          <p:nvPr/>
        </p:nvSpPr>
        <p:spPr>
          <a:xfrm>
            <a:off x="1627631" y="6400800"/>
            <a:ext cx="9144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Workbook</a:t>
            </a:r>
          </a:p>
        </p:txBody>
      </p:sp>
      <p:sp>
        <p:nvSpPr>
          <p:cNvPr id="39" name="source:38"/>
          <p:cNvSpPr txBox="1"/>
          <p:nvPr/>
        </p:nvSpPr>
        <p:spPr>
          <a:xfrm>
            <a:off x="2688335" y="6400800"/>
            <a:ext cx="7315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4"/>
              </a:rPr>
              <a:t>Wallet</a:t>
            </a:r>
          </a:p>
        </p:txBody>
      </p:sp>
      <p:sp>
        <p:nvSpPr>
          <p:cNvPr id="40" name="source:39"/>
          <p:cNvSpPr txBox="1"/>
          <p:nvPr/>
        </p:nvSpPr>
        <p:spPr>
          <a:xfrm>
            <a:off x="3566159" y="6400800"/>
            <a:ext cx="146304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5"/>
              </a:rPr>
              <a:t>Cyber evaluations</a:t>
            </a:r>
          </a:p>
        </p:txBody>
      </p:sp>
      <p:sp>
        <p:nvSpPr>
          <p:cNvPr id="41" name="source:40"/>
          <p:cNvSpPr txBox="1"/>
          <p:nvPr/>
        </p:nvSpPr>
        <p:spPr>
          <a:xfrm>
            <a:off x="5175503" y="6400800"/>
            <a:ext cx="25603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6"/>
              </a:rPr>
              <a:t>Channel family: records 1, 2, 6, 14</a:t>
            </a:r>
          </a:p>
        </p:txBody>
      </p:sp>
      <p:sp>
        <p:nvSpPr>
          <p:cNvPr id="42" name="Rectangle 41"/>
          <p:cNvSpPr/>
          <p:nvPr/>
        </p:nvSpPr>
        <p:spPr>
          <a:xfrm>
            <a:off x="566928" y="2157984"/>
            <a:ext cx="2240280" cy="64008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ody:42"/>
          <p:cNvSpPr txBox="1"/>
          <p:nvPr/>
        </p:nvSpPr>
        <p:spPr>
          <a:xfrm>
            <a:off x="649224" y="2157984"/>
            <a:ext cx="2075688" cy="640080"/>
          </a:xfrm>
          <a:prstGeom prst="rect">
            <a:avLst/>
          </a:prstGeom>
          <a:noFill/>
        </p:spPr>
        <p:txBody>
          <a:bodyPr wrap="square" lIns="22860" rIns="22860" tIns="22860" bIns="22860" anchor="ctr">
            <a:spAutoFit/>
          </a:bodyPr>
          <a:lstStyle/>
          <a:p>
            <a:pPr algn="l">
              <a:lnSpc>
                <a:spcPct val="102000"/>
              </a:lnSpc>
            </a:pPr>
            <a:r>
              <a:rPr sz="1050" b="1">
                <a:solidFill>
                  <a:srgbClr val="FFFFFF"/>
                </a:solidFill>
                <a:latin typeface="Arial"/>
              </a:rPr>
              <a:t>Incident family</a:t>
            </a:r>
          </a:p>
        </p:txBody>
      </p:sp>
      <p:sp>
        <p:nvSpPr>
          <p:cNvPr id="44" name="Rectangle 43"/>
          <p:cNvSpPr/>
          <p:nvPr/>
        </p:nvSpPr>
        <p:spPr>
          <a:xfrm>
            <a:off x="2807208" y="2157984"/>
            <a:ext cx="2331720" cy="64008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ody:44"/>
          <p:cNvSpPr txBox="1"/>
          <p:nvPr/>
        </p:nvSpPr>
        <p:spPr>
          <a:xfrm>
            <a:off x="2889504" y="2157984"/>
            <a:ext cx="2167127" cy="640080"/>
          </a:xfrm>
          <a:prstGeom prst="rect">
            <a:avLst/>
          </a:prstGeom>
          <a:noFill/>
        </p:spPr>
        <p:txBody>
          <a:bodyPr wrap="square" lIns="22860" rIns="22860" tIns="22860" bIns="22860" anchor="ctr">
            <a:spAutoFit/>
          </a:bodyPr>
          <a:lstStyle/>
          <a:p>
            <a:pPr algn="l">
              <a:lnSpc>
                <a:spcPct val="102000"/>
              </a:lnSpc>
            </a:pPr>
            <a:r>
              <a:rPr sz="1050" b="1">
                <a:solidFill>
                  <a:srgbClr val="FFFFFF"/>
                </a:solidFill>
                <a:latin typeface="Arial"/>
              </a:rPr>
              <a:t>Decision result</a:t>
            </a:r>
          </a:p>
        </p:txBody>
      </p:sp>
      <p:sp>
        <p:nvSpPr>
          <p:cNvPr id="46" name="Rectangle 45"/>
          <p:cNvSpPr/>
          <p:nvPr/>
        </p:nvSpPr>
        <p:spPr>
          <a:xfrm>
            <a:off x="5138928" y="2157984"/>
            <a:ext cx="3611880" cy="64008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ody:46"/>
          <p:cNvSpPr txBox="1"/>
          <p:nvPr/>
        </p:nvSpPr>
        <p:spPr>
          <a:xfrm>
            <a:off x="5221224" y="2157984"/>
            <a:ext cx="3447288" cy="640080"/>
          </a:xfrm>
          <a:prstGeom prst="rect">
            <a:avLst/>
          </a:prstGeom>
          <a:noFill/>
        </p:spPr>
        <p:txBody>
          <a:bodyPr wrap="square" lIns="22860" rIns="22860" tIns="22860" bIns="22860" anchor="ctr">
            <a:spAutoFit/>
          </a:bodyPr>
          <a:lstStyle/>
          <a:p>
            <a:pPr algn="l">
              <a:lnSpc>
                <a:spcPct val="102000"/>
              </a:lnSpc>
            </a:pPr>
            <a:r>
              <a:rPr sz="1050" b="1">
                <a:solidFill>
                  <a:srgbClr val="FFFFFF"/>
                </a:solidFill>
                <a:latin typeface="Arial"/>
              </a:rPr>
              <a:t>System change to test</a:t>
            </a:r>
          </a:p>
        </p:txBody>
      </p:sp>
      <p:sp>
        <p:nvSpPr>
          <p:cNvPr id="48" name="Rectangle 47"/>
          <p:cNvSpPr/>
          <p:nvPr/>
        </p:nvSpPr>
        <p:spPr>
          <a:xfrm>
            <a:off x="8750808" y="2157984"/>
            <a:ext cx="2871216" cy="64008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ody:48"/>
          <p:cNvSpPr txBox="1"/>
          <p:nvPr/>
        </p:nvSpPr>
        <p:spPr>
          <a:xfrm>
            <a:off x="8833104" y="2157984"/>
            <a:ext cx="2706624" cy="640080"/>
          </a:xfrm>
          <a:prstGeom prst="rect">
            <a:avLst/>
          </a:prstGeom>
          <a:noFill/>
        </p:spPr>
        <p:txBody>
          <a:bodyPr wrap="square" lIns="22860" rIns="22860" tIns="22860" bIns="22860" anchor="ctr">
            <a:spAutoFit/>
          </a:bodyPr>
          <a:lstStyle/>
          <a:p>
            <a:pPr algn="l">
              <a:lnSpc>
                <a:spcPct val="102000"/>
              </a:lnSpc>
            </a:pPr>
            <a:r>
              <a:rPr sz="1050" b="1">
                <a:solidFill>
                  <a:srgbClr val="FFFFFF"/>
                </a:solidFill>
                <a:latin typeface="Arial"/>
              </a:rPr>
              <a:t>Experiment and readout</a:t>
            </a:r>
          </a:p>
        </p:txBody>
      </p:sp>
      <p:sp>
        <p:nvSpPr>
          <p:cNvPr id="50" name="Rectangle 49"/>
          <p:cNvSpPr/>
          <p:nvPr/>
        </p:nvSpPr>
        <p:spPr>
          <a:xfrm>
            <a:off x="566928" y="2798063"/>
            <a:ext cx="224028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ody:50"/>
          <p:cNvSpPr txBox="1"/>
          <p:nvPr/>
        </p:nvSpPr>
        <p:spPr>
          <a:xfrm>
            <a:off x="649224" y="2798063"/>
            <a:ext cx="2075688" cy="640080"/>
          </a:xfrm>
          <a:prstGeom prst="rect">
            <a:avLst/>
          </a:prstGeom>
          <a:noFill/>
        </p:spPr>
        <p:txBody>
          <a:bodyPr wrap="square" lIns="22860" rIns="22860" tIns="22860" bIns="22860" anchor="ctr">
            <a:spAutoFit/>
          </a:bodyPr>
          <a:lstStyle/>
          <a:p>
            <a:pPr algn="l">
              <a:lnSpc>
                <a:spcPct val="102000"/>
              </a:lnSpc>
            </a:pPr>
            <a:r>
              <a:rPr sz="1050" b="1">
                <a:solidFill>
                  <a:srgbClr val="22313F"/>
                </a:solidFill>
                <a:latin typeface="Arial"/>
              </a:rPr>
              <a:t>Substitution (Medicare, workbook, wallet)</a:t>
            </a:r>
          </a:p>
        </p:txBody>
      </p:sp>
      <p:sp>
        <p:nvSpPr>
          <p:cNvPr id="52" name="Rectangle 51"/>
          <p:cNvSpPr/>
          <p:nvPr/>
        </p:nvSpPr>
        <p:spPr>
          <a:xfrm>
            <a:off x="2807208" y="2798063"/>
            <a:ext cx="233172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ody:52"/>
          <p:cNvSpPr txBox="1"/>
          <p:nvPr/>
        </p:nvSpPr>
        <p:spPr>
          <a:xfrm>
            <a:off x="2889504" y="2798063"/>
            <a:ext cx="2167127" cy="640080"/>
          </a:xfrm>
          <a:prstGeom prst="rect">
            <a:avLst/>
          </a:prstGeom>
          <a:noFill/>
        </p:spPr>
        <p:txBody>
          <a:bodyPr wrap="square" lIns="22860" rIns="22860" tIns="22860" bIns="22860" anchor="ctr">
            <a:spAutoFit/>
          </a:bodyPr>
          <a:lstStyle/>
          <a:p>
            <a:pPr algn="l">
              <a:lnSpc>
                <a:spcPct val="102000"/>
              </a:lnSpc>
            </a:pPr>
            <a:r>
              <a:rPr sz="1050" b="0">
                <a:solidFill>
                  <a:srgbClr val="22313F"/>
                </a:solidFill>
                <a:latin typeface="Arial"/>
              </a:rPr>
              <a:t>R1 stopping; R2 VOI: a failed route moves b, never g</a:t>
            </a:r>
          </a:p>
        </p:txBody>
      </p:sp>
      <p:sp>
        <p:nvSpPr>
          <p:cNvPr id="54" name="Rectangle 53"/>
          <p:cNvSpPr/>
          <p:nvPr/>
        </p:nvSpPr>
        <p:spPr>
          <a:xfrm>
            <a:off x="5138928" y="2798063"/>
            <a:ext cx="361188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ody:54"/>
          <p:cNvSpPr txBox="1"/>
          <p:nvPr/>
        </p:nvSpPr>
        <p:spPr>
          <a:xfrm>
            <a:off x="5221224" y="2798063"/>
            <a:ext cx="3447288" cy="640080"/>
          </a:xfrm>
          <a:prstGeom prst="rect">
            <a:avLst/>
          </a:prstGeom>
          <a:noFill/>
        </p:spPr>
        <p:txBody>
          <a:bodyPr wrap="square" lIns="22860" rIns="22860" tIns="22860" bIns="22860" anchor="ctr">
            <a:spAutoFit/>
          </a:bodyPr>
          <a:lstStyle/>
          <a:p>
            <a:pPr algn="l">
              <a:lnSpc>
                <a:spcPct val="102000"/>
              </a:lnSpc>
            </a:pPr>
            <a:r>
              <a:rPr sz="1050" b="0">
                <a:solidFill>
                  <a:srgbClr val="22313F"/>
                </a:solidFill>
                <a:latin typeface="Arial"/>
              </a:rPr>
              <a:t>Scope data routes and operations; provide a priced request channel; make an honest partial answer worth something (B &gt; 0)</a:t>
            </a:r>
          </a:p>
        </p:txBody>
      </p:sp>
      <p:sp>
        <p:nvSpPr>
          <p:cNvPr id="56" name="Rectangle 55"/>
          <p:cNvSpPr/>
          <p:nvPr/>
        </p:nvSpPr>
        <p:spPr>
          <a:xfrm>
            <a:off x="8750808" y="2798063"/>
            <a:ext cx="2871216"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ody:56"/>
          <p:cNvSpPr txBox="1"/>
          <p:nvPr/>
        </p:nvSpPr>
        <p:spPr>
          <a:xfrm>
            <a:off x="8833104" y="2798063"/>
            <a:ext cx="2706624" cy="640080"/>
          </a:xfrm>
          <a:prstGeom prst="rect">
            <a:avLst/>
          </a:prstGeom>
          <a:noFill/>
        </p:spPr>
        <p:txBody>
          <a:bodyPr wrap="square" lIns="22860" rIns="22860" tIns="22860" bIns="22860" anchor="ctr">
            <a:spAutoFit/>
          </a:bodyPr>
          <a:lstStyle/>
          <a:p>
            <a:pPr algn="l">
              <a:lnSpc>
                <a:spcPct val="102000"/>
              </a:lnSpc>
            </a:pPr>
            <a:r>
              <a:rPr sz="1050" b="0">
                <a:solidFill>
                  <a:srgbClr val="22313F"/>
                </a:solidFill>
                <a:latin typeface="Arial"/>
              </a:rPr>
              <a:t>E2 forbidden column: executed effects and attempts; false stops on the granted column</a:t>
            </a:r>
          </a:p>
        </p:txBody>
      </p:sp>
      <p:sp>
        <p:nvSpPr>
          <p:cNvPr id="58" name="Rectangle 57"/>
          <p:cNvSpPr/>
          <p:nvPr/>
        </p:nvSpPr>
        <p:spPr>
          <a:xfrm>
            <a:off x="566928" y="3438144"/>
            <a:ext cx="2240280" cy="64008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ody:58"/>
          <p:cNvSpPr txBox="1"/>
          <p:nvPr/>
        </p:nvSpPr>
        <p:spPr>
          <a:xfrm>
            <a:off x="649224" y="3438144"/>
            <a:ext cx="2075688" cy="640080"/>
          </a:xfrm>
          <a:prstGeom prst="rect">
            <a:avLst/>
          </a:prstGeom>
          <a:noFill/>
        </p:spPr>
        <p:txBody>
          <a:bodyPr wrap="square" lIns="22860" rIns="22860" tIns="22860" bIns="22860" anchor="ctr">
            <a:spAutoFit/>
          </a:bodyPr>
          <a:lstStyle/>
          <a:p>
            <a:pPr algn="l">
              <a:lnSpc>
                <a:spcPct val="102000"/>
              </a:lnSpc>
            </a:pPr>
            <a:r>
              <a:rPr sz="1050" b="1">
                <a:solidFill>
                  <a:srgbClr val="22313F"/>
                </a:solidFill>
                <a:latin typeface="Arial"/>
              </a:rPr>
              <a:t>Scope inference (cyber evaluations 16–21)</a:t>
            </a:r>
          </a:p>
        </p:txBody>
      </p:sp>
      <p:sp>
        <p:nvSpPr>
          <p:cNvPr id="60" name="Rectangle 59"/>
          <p:cNvSpPr/>
          <p:nvPr/>
        </p:nvSpPr>
        <p:spPr>
          <a:xfrm>
            <a:off x="2807208" y="3438144"/>
            <a:ext cx="2331720" cy="64008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ody:60"/>
          <p:cNvSpPr txBox="1"/>
          <p:nvPr/>
        </p:nvSpPr>
        <p:spPr>
          <a:xfrm>
            <a:off x="2889504" y="3438144"/>
            <a:ext cx="2167127" cy="640080"/>
          </a:xfrm>
          <a:prstGeom prst="rect">
            <a:avLst/>
          </a:prstGeom>
          <a:noFill/>
        </p:spPr>
        <p:txBody>
          <a:bodyPr wrap="square" lIns="22860" rIns="22860" tIns="22860" bIns="22860" anchor="ctr">
            <a:spAutoFit/>
          </a:bodyPr>
          <a:lstStyle/>
          <a:p>
            <a:pPr algn="l">
              <a:lnSpc>
                <a:spcPct val="102000"/>
              </a:lnSpc>
            </a:pPr>
            <a:r>
              <a:rPr sz="1050" b="0">
                <a:solidFill>
                  <a:srgbClr val="22313F"/>
                </a:solidFill>
                <a:latin typeface="Arial"/>
              </a:rPr>
              <a:t>R3 ambiguity: silent grant → reversible action</a:t>
            </a:r>
          </a:p>
        </p:txBody>
      </p:sp>
      <p:sp>
        <p:nvSpPr>
          <p:cNvPr id="62" name="Rectangle 61"/>
          <p:cNvSpPr/>
          <p:nvPr/>
        </p:nvSpPr>
        <p:spPr>
          <a:xfrm>
            <a:off x="5138928" y="3438144"/>
            <a:ext cx="3611880" cy="64008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ody:62"/>
          <p:cNvSpPr txBox="1"/>
          <p:nvPr/>
        </p:nvSpPr>
        <p:spPr>
          <a:xfrm>
            <a:off x="5221224" y="3438144"/>
            <a:ext cx="3447288" cy="640080"/>
          </a:xfrm>
          <a:prstGeom prst="rect">
            <a:avLst/>
          </a:prstGeom>
          <a:noFill/>
        </p:spPr>
        <p:txBody>
          <a:bodyPr wrap="square" lIns="22860" rIns="22860" tIns="22860" bIns="22860" anchor="ctr">
            <a:spAutoFit/>
          </a:bodyPr>
          <a:lstStyle/>
          <a:p>
            <a:pPr algn="l">
              <a:lnSpc>
                <a:spcPct val="102000"/>
              </a:lnSpc>
            </a:pPr>
            <a:r>
              <a:rPr sz="1050" b="0">
                <a:solidFill>
                  <a:srgbClr val="22313F"/>
                </a:solidFill>
                <a:latin typeface="Arial"/>
              </a:rPr>
              <a:t>Explicit grant field on every task (explicit / implicit / unspecified / conflicting); default to clarification under silence</a:t>
            </a:r>
          </a:p>
        </p:txBody>
      </p:sp>
      <p:sp>
        <p:nvSpPr>
          <p:cNvPr id="64" name="Rectangle 63"/>
          <p:cNvSpPr/>
          <p:nvPr/>
        </p:nvSpPr>
        <p:spPr>
          <a:xfrm>
            <a:off x="8750808" y="3438144"/>
            <a:ext cx="2871216" cy="64008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ody:64"/>
          <p:cNvSpPr txBox="1"/>
          <p:nvPr/>
        </p:nvSpPr>
        <p:spPr>
          <a:xfrm>
            <a:off x="8833104" y="3438144"/>
            <a:ext cx="2706624" cy="640080"/>
          </a:xfrm>
          <a:prstGeom prst="rect">
            <a:avLst/>
          </a:prstGeom>
          <a:noFill/>
        </p:spPr>
        <p:txBody>
          <a:bodyPr wrap="square" lIns="22860" rIns="22860" tIns="22860" bIns="22860" anchor="ctr">
            <a:spAutoFit/>
          </a:bodyPr>
          <a:lstStyle/>
          <a:p>
            <a:pPr algn="l">
              <a:lnSpc>
                <a:spcPct val="102000"/>
              </a:lnSpc>
            </a:pPr>
            <a:r>
              <a:rPr sz="1050" b="0">
                <a:solidFill>
                  <a:srgbClr val="22313F"/>
                </a:solidFill>
                <a:latin typeface="Arial"/>
              </a:rPr>
              <a:t>X1b: response mix and over-conservatism on feasible cells</a:t>
            </a:r>
          </a:p>
        </p:txBody>
      </p:sp>
      <p:sp>
        <p:nvSpPr>
          <p:cNvPr id="66" name="Rectangle 65"/>
          <p:cNvSpPr/>
          <p:nvPr/>
        </p:nvSpPr>
        <p:spPr>
          <a:xfrm>
            <a:off x="566928" y="4078224"/>
            <a:ext cx="224028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ody:66"/>
          <p:cNvSpPr txBox="1"/>
          <p:nvPr/>
        </p:nvSpPr>
        <p:spPr>
          <a:xfrm>
            <a:off x="649224" y="4078224"/>
            <a:ext cx="2075688" cy="640080"/>
          </a:xfrm>
          <a:prstGeom prst="rect">
            <a:avLst/>
          </a:prstGeom>
          <a:noFill/>
        </p:spPr>
        <p:txBody>
          <a:bodyPr wrap="square" lIns="22860" rIns="22860" tIns="22860" bIns="22860" anchor="ctr">
            <a:spAutoFit/>
          </a:bodyPr>
          <a:lstStyle/>
          <a:p>
            <a:pPr algn="l">
              <a:lnSpc>
                <a:spcPct val="102000"/>
              </a:lnSpc>
            </a:pPr>
            <a:r>
              <a:rPr sz="1050" b="1">
                <a:solidFill>
                  <a:srgbClr val="22313F"/>
                </a:solidFill>
                <a:latin typeface="Arial"/>
              </a:rPr>
              <a:t>Channel (GET writes, DNS, artifacts)</a:t>
            </a:r>
          </a:p>
        </p:txBody>
      </p:sp>
      <p:sp>
        <p:nvSpPr>
          <p:cNvPr id="68" name="Rectangle 67"/>
          <p:cNvSpPr/>
          <p:nvPr/>
        </p:nvSpPr>
        <p:spPr>
          <a:xfrm>
            <a:off x="2807208" y="4078224"/>
            <a:ext cx="233172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body:68"/>
          <p:cNvSpPr txBox="1"/>
          <p:nvPr/>
        </p:nvSpPr>
        <p:spPr>
          <a:xfrm>
            <a:off x="2889504" y="4078224"/>
            <a:ext cx="2167127" cy="640080"/>
          </a:xfrm>
          <a:prstGeom prst="rect">
            <a:avLst/>
          </a:prstGeom>
          <a:noFill/>
        </p:spPr>
        <p:txBody>
          <a:bodyPr wrap="square" lIns="22860" rIns="22860" tIns="22860" bIns="22860" anchor="ctr">
            <a:spAutoFit/>
          </a:bodyPr>
          <a:lstStyle/>
          <a:p>
            <a:pPr algn="l">
              <a:lnSpc>
                <a:spcPct val="102000"/>
              </a:lnSpc>
            </a:pPr>
            <a:r>
              <a:rPr sz="1050" b="0">
                <a:solidFill>
                  <a:srgbClr val="22313F"/>
                </a:solidFill>
                <a:latin typeface="Arial"/>
              </a:rPr>
              <a:t>Formulation: violations are effects, not intents</a:t>
            </a:r>
          </a:p>
        </p:txBody>
      </p:sp>
      <p:sp>
        <p:nvSpPr>
          <p:cNvPr id="70" name="Rectangle 69"/>
          <p:cNvSpPr/>
          <p:nvPr/>
        </p:nvSpPr>
        <p:spPr>
          <a:xfrm>
            <a:off x="5138928" y="4078224"/>
            <a:ext cx="361188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body:70"/>
          <p:cNvSpPr txBox="1"/>
          <p:nvPr/>
        </p:nvSpPr>
        <p:spPr>
          <a:xfrm>
            <a:off x="5221224" y="4078224"/>
            <a:ext cx="3447288" cy="640080"/>
          </a:xfrm>
          <a:prstGeom prst="rect">
            <a:avLst/>
          </a:prstGeom>
          <a:noFill/>
        </p:spPr>
        <p:txBody>
          <a:bodyPr wrap="square" lIns="22860" rIns="22860" tIns="22860" bIns="22860" anchor="ctr">
            <a:spAutoFit/>
          </a:bodyPr>
          <a:lstStyle/>
          <a:p>
            <a:pPr algn="l">
              <a:lnSpc>
                <a:spcPct val="102000"/>
              </a:lnSpc>
            </a:pPr>
            <a:r>
              <a:rPr sz="1050" b="0">
                <a:solidFill>
                  <a:srgbClr val="22313F"/>
                </a:solidFill>
                <a:latin typeface="Arial"/>
              </a:rPr>
              <a:t>Label operation and flow, not the HTTP verb; effect journal at the service; broker before dispatch</a:t>
            </a:r>
          </a:p>
        </p:txBody>
      </p:sp>
      <p:sp>
        <p:nvSpPr>
          <p:cNvPr id="72" name="Rectangle 71"/>
          <p:cNvSpPr/>
          <p:nvPr/>
        </p:nvSpPr>
        <p:spPr>
          <a:xfrm>
            <a:off x="8750808" y="4078224"/>
            <a:ext cx="2871216"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body:72"/>
          <p:cNvSpPr txBox="1"/>
          <p:nvPr/>
        </p:nvSpPr>
        <p:spPr>
          <a:xfrm>
            <a:off x="8833104" y="4078224"/>
            <a:ext cx="2706624" cy="640080"/>
          </a:xfrm>
          <a:prstGeom prst="rect">
            <a:avLst/>
          </a:prstGeom>
          <a:noFill/>
        </p:spPr>
        <p:txBody>
          <a:bodyPr wrap="square" lIns="22860" rIns="22860" tIns="22860" bIns="22860" anchor="ctr">
            <a:spAutoFit/>
          </a:bodyPr>
          <a:lstStyle/>
          <a:p>
            <a:pPr algn="l">
              <a:lnSpc>
                <a:spcPct val="102000"/>
              </a:lnSpc>
            </a:pPr>
            <a:r>
              <a:rPr sz="1050" b="0">
                <a:solidFill>
                  <a:srgbClr val="22313F"/>
                </a:solidFill>
                <a:latin typeface="Arial"/>
              </a:rPr>
              <a:t>E3 T vs T+J: does effect evidence change the selected policy?</a:t>
            </a:r>
          </a:p>
        </p:txBody>
      </p:sp>
      <p:sp>
        <p:nvSpPr>
          <p:cNvPr id="74" name="Rectangle 73"/>
          <p:cNvSpPr/>
          <p:nvPr/>
        </p:nvSpPr>
        <p:spPr>
          <a:xfrm>
            <a:off x="566928" y="4718304"/>
            <a:ext cx="2240280" cy="64008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body:74"/>
          <p:cNvSpPr txBox="1"/>
          <p:nvPr/>
        </p:nvSpPr>
        <p:spPr>
          <a:xfrm>
            <a:off x="649224" y="4718304"/>
            <a:ext cx="2075688" cy="640080"/>
          </a:xfrm>
          <a:prstGeom prst="rect">
            <a:avLst/>
          </a:prstGeom>
          <a:noFill/>
        </p:spPr>
        <p:txBody>
          <a:bodyPr wrap="square" lIns="22860" rIns="22860" tIns="22860" bIns="22860" anchor="ctr">
            <a:spAutoFit/>
          </a:bodyPr>
          <a:lstStyle/>
          <a:p>
            <a:pPr algn="l">
              <a:lnSpc>
                <a:spcPct val="102000"/>
              </a:lnSpc>
            </a:pPr>
            <a:r>
              <a:rPr sz="1050" b="1">
                <a:solidFill>
                  <a:srgbClr val="22313F"/>
                </a:solidFill>
                <a:latin typeface="Arial"/>
              </a:rPr>
              <a:t>Late detection (median 119 days to disclosure)</a:t>
            </a:r>
          </a:p>
        </p:txBody>
      </p:sp>
      <p:sp>
        <p:nvSpPr>
          <p:cNvPr id="76" name="Rectangle 75"/>
          <p:cNvSpPr/>
          <p:nvPr/>
        </p:nvSpPr>
        <p:spPr>
          <a:xfrm>
            <a:off x="2807208" y="4718304"/>
            <a:ext cx="2331720" cy="64008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body:76"/>
          <p:cNvSpPr txBox="1"/>
          <p:nvPr/>
        </p:nvSpPr>
        <p:spPr>
          <a:xfrm>
            <a:off x="2889504" y="4718304"/>
            <a:ext cx="2167127" cy="640080"/>
          </a:xfrm>
          <a:prstGeom prst="rect">
            <a:avLst/>
          </a:prstGeom>
          <a:noFill/>
        </p:spPr>
        <p:txBody>
          <a:bodyPr wrap="square" lIns="22860" rIns="22860" tIns="22860" bIns="22860" anchor="ctr">
            <a:spAutoFit/>
          </a:bodyPr>
          <a:lstStyle/>
          <a:p>
            <a:pPr algn="l">
              <a:lnSpc>
                <a:spcPct val="102000"/>
              </a:lnSpc>
            </a:pPr>
            <a:r>
              <a:rPr sz="1050" b="0">
                <a:solidFill>
                  <a:srgbClr val="22313F"/>
                </a:solidFill>
                <a:latin typeface="Arial"/>
              </a:rPr>
              <a:t>R4 selection: finite, paired evidence</a:t>
            </a:r>
          </a:p>
        </p:txBody>
      </p:sp>
      <p:sp>
        <p:nvSpPr>
          <p:cNvPr id="78" name="Rectangle 77"/>
          <p:cNvSpPr/>
          <p:nvPr/>
        </p:nvSpPr>
        <p:spPr>
          <a:xfrm>
            <a:off x="5138928" y="4718304"/>
            <a:ext cx="3611880" cy="64008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body:78"/>
          <p:cNvSpPr txBox="1"/>
          <p:nvPr/>
        </p:nvSpPr>
        <p:spPr>
          <a:xfrm>
            <a:off x="5221224" y="4718304"/>
            <a:ext cx="3447288" cy="640080"/>
          </a:xfrm>
          <a:prstGeom prst="rect">
            <a:avLst/>
          </a:prstGeom>
          <a:noFill/>
        </p:spPr>
        <p:txBody>
          <a:bodyPr wrap="square" lIns="22860" rIns="22860" tIns="22860" bIns="22860" anchor="ctr">
            <a:spAutoFit/>
          </a:bodyPr>
          <a:lstStyle/>
          <a:p>
            <a:pPr algn="l">
              <a:lnSpc>
                <a:spcPct val="102000"/>
              </a:lnSpc>
            </a:pPr>
            <a:r>
              <a:rPr sz="1050" b="0">
                <a:solidFill>
                  <a:srgbClr val="22313F"/>
                </a:solidFill>
                <a:latin typeface="Arial"/>
              </a:rPr>
              <a:t>Replayable incident twins and feasible controls as a regression gate before each policy release</a:t>
            </a:r>
          </a:p>
        </p:txBody>
      </p:sp>
      <p:sp>
        <p:nvSpPr>
          <p:cNvPr id="80" name="Rectangle 79"/>
          <p:cNvSpPr/>
          <p:nvPr/>
        </p:nvSpPr>
        <p:spPr>
          <a:xfrm>
            <a:off x="8750808" y="4718304"/>
            <a:ext cx="2871216" cy="64008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ody:80"/>
          <p:cNvSpPr txBox="1"/>
          <p:nvPr/>
        </p:nvSpPr>
        <p:spPr>
          <a:xfrm>
            <a:off x="8833104" y="4718304"/>
            <a:ext cx="2706624" cy="640080"/>
          </a:xfrm>
          <a:prstGeom prst="rect">
            <a:avLst/>
          </a:prstGeom>
          <a:noFill/>
        </p:spPr>
        <p:txBody>
          <a:bodyPr wrap="square" lIns="22860" rIns="22860" tIns="22860" bIns="22860" anchor="ctr">
            <a:spAutoFit/>
          </a:bodyPr>
          <a:lstStyle/>
          <a:p>
            <a:pPr algn="l">
              <a:lnSpc>
                <a:spcPct val="102000"/>
              </a:lnSpc>
            </a:pPr>
            <a:r>
              <a:rPr sz="1050" b="0">
                <a:solidFill>
                  <a:srgbClr val="22313F"/>
                </a:solidFill>
                <a:latin typeface="Arial"/>
              </a:rPr>
              <a:t>E3 power table; gate miss rate on held-out twins</a:t>
            </a:r>
          </a:p>
        </p:txBody>
      </p:sp>
      <p:sp>
        <p:nvSpPr>
          <p:cNvPr id="82" name="Rounded Rectangle 81"/>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body:82"/>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Useful persistence = better plans inside authority + timely, priced requests when authority must change.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20 / READING THE RESULTS IN ADVANCE</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What each outcome would mean, and what happens next.</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Interpretations are fixed before the data arrive. A null is informative and will be reported as such.</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24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F8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B4602E"/>
                </a:solidFill>
                <a:latin typeface="Arial"/>
              </a:rPr>
              <a:t>PROPOSED</a:t>
            </a:r>
          </a:p>
        </p:txBody>
      </p:sp>
      <p:sp>
        <p:nvSpPr>
          <p:cNvPr id="37" name="source:36"/>
          <p:cNvSpPr txBox="1"/>
          <p:nvPr/>
        </p:nvSpPr>
        <p:spPr>
          <a:xfrm>
            <a:off x="566928" y="6400800"/>
            <a:ext cx="25603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Incidents to testable questions</a:t>
            </a:r>
          </a:p>
        </p:txBody>
      </p:sp>
      <p:sp>
        <p:nvSpPr>
          <p:cNvPr id="38" name="source:37"/>
          <p:cNvSpPr txBox="1"/>
          <p:nvPr/>
        </p:nvSpPr>
        <p:spPr>
          <a:xfrm>
            <a:off x="3273552" y="6400800"/>
            <a:ext cx="25603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Incident-aware optimization</a:t>
            </a:r>
          </a:p>
        </p:txBody>
      </p:sp>
      <p:sp>
        <p:nvSpPr>
          <p:cNvPr id="39" name="source:38"/>
          <p:cNvSpPr txBox="1"/>
          <p:nvPr/>
        </p:nvSpPr>
        <p:spPr>
          <a:xfrm>
            <a:off x="5980176" y="6400800"/>
            <a:ext cx="16459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4"/>
              </a:rPr>
              <a:t>Next experiments</a:t>
            </a:r>
          </a:p>
        </p:txBody>
      </p:sp>
      <p:sp>
        <p:nvSpPr>
          <p:cNvPr id="40" name="Rectangle 39"/>
          <p:cNvSpPr/>
          <p:nvPr/>
        </p:nvSpPr>
        <p:spPr>
          <a:xfrm>
            <a:off x="566928" y="2157984"/>
            <a:ext cx="3931920" cy="45720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ody:40"/>
          <p:cNvSpPr txBox="1"/>
          <p:nvPr/>
        </p:nvSpPr>
        <p:spPr>
          <a:xfrm>
            <a:off x="649224" y="2157984"/>
            <a:ext cx="3767328" cy="457200"/>
          </a:xfrm>
          <a:prstGeom prst="rect">
            <a:avLst/>
          </a:prstGeom>
          <a:noFill/>
        </p:spPr>
        <p:txBody>
          <a:bodyPr wrap="square" lIns="22860" rIns="22860" tIns="22860" bIns="22860" anchor="ctr">
            <a:spAutoFit/>
          </a:bodyPr>
          <a:lstStyle/>
          <a:p>
            <a:pPr algn="l">
              <a:lnSpc>
                <a:spcPct val="102000"/>
              </a:lnSpc>
            </a:pPr>
            <a:r>
              <a:rPr sz="1100" b="1">
                <a:solidFill>
                  <a:srgbClr val="FFFFFF"/>
                </a:solidFill>
                <a:latin typeface="Arial"/>
              </a:rPr>
              <a:t>If the experiments show…</a:t>
            </a:r>
          </a:p>
        </p:txBody>
      </p:sp>
      <p:sp>
        <p:nvSpPr>
          <p:cNvPr id="42" name="Rectangle 41"/>
          <p:cNvSpPr/>
          <p:nvPr/>
        </p:nvSpPr>
        <p:spPr>
          <a:xfrm>
            <a:off x="4498848" y="2157984"/>
            <a:ext cx="7123176" cy="45720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ody:42"/>
          <p:cNvSpPr txBox="1"/>
          <p:nvPr/>
        </p:nvSpPr>
        <p:spPr>
          <a:xfrm>
            <a:off x="4581144" y="2157984"/>
            <a:ext cx="6958584" cy="457200"/>
          </a:xfrm>
          <a:prstGeom prst="rect">
            <a:avLst/>
          </a:prstGeom>
          <a:noFill/>
        </p:spPr>
        <p:txBody>
          <a:bodyPr wrap="square" lIns="22860" rIns="22860" tIns="22860" bIns="22860" anchor="ctr">
            <a:spAutoFit/>
          </a:bodyPr>
          <a:lstStyle/>
          <a:p>
            <a:pPr algn="l">
              <a:lnSpc>
                <a:spcPct val="102000"/>
              </a:lnSpc>
            </a:pPr>
            <a:r>
              <a:rPr sz="1100" b="1">
                <a:solidFill>
                  <a:srgbClr val="FFFFFF"/>
                </a:solidFill>
                <a:latin typeface="Arial"/>
              </a:rPr>
              <a:t>Then for deployed agents…</a:t>
            </a:r>
          </a:p>
        </p:txBody>
      </p:sp>
      <p:sp>
        <p:nvSpPr>
          <p:cNvPr id="44" name="Rectangle 43"/>
          <p:cNvSpPr/>
          <p:nvPr/>
        </p:nvSpPr>
        <p:spPr>
          <a:xfrm>
            <a:off x="566928" y="2615184"/>
            <a:ext cx="39319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ody:44"/>
          <p:cNvSpPr txBox="1"/>
          <p:nvPr/>
        </p:nvSpPr>
        <p:spPr>
          <a:xfrm>
            <a:off x="649224" y="2615184"/>
            <a:ext cx="3767328" cy="457200"/>
          </a:xfrm>
          <a:prstGeom prst="rect">
            <a:avLst/>
          </a:prstGeom>
          <a:noFill/>
        </p:spPr>
        <p:txBody>
          <a:bodyPr wrap="square" lIns="22860" rIns="22860" tIns="22860" bIns="22860" anchor="ctr">
            <a:spAutoFit/>
          </a:bodyPr>
          <a:lstStyle/>
          <a:p>
            <a:pPr algn="l">
              <a:lnSpc>
                <a:spcPct val="102000"/>
              </a:lnSpc>
            </a:pPr>
            <a:r>
              <a:rPr sz="1100" b="1">
                <a:solidFill>
                  <a:srgbClr val="22313F"/>
                </a:solidFill>
                <a:latin typeface="Arial"/>
              </a:rPr>
              <a:t>A5 cuts executed effects at retained utility (E2)</a:t>
            </a:r>
          </a:p>
        </p:txBody>
      </p:sp>
      <p:sp>
        <p:nvSpPr>
          <p:cNvPr id="46" name="Rectangle 45"/>
          <p:cNvSpPr/>
          <p:nvPr/>
        </p:nvSpPr>
        <p:spPr>
          <a:xfrm>
            <a:off x="4498848" y="2615184"/>
            <a:ext cx="7123176"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ody:46"/>
          <p:cNvSpPr txBox="1"/>
          <p:nvPr/>
        </p:nvSpPr>
        <p:spPr>
          <a:xfrm>
            <a:off x="4581144" y="2615184"/>
            <a:ext cx="6958584" cy="457200"/>
          </a:xfrm>
          <a:prstGeom prst="rect">
            <a:avLst/>
          </a:prstGeom>
          <a:noFill/>
        </p:spPr>
        <p:txBody>
          <a:bodyPr wrap="square" lIns="22860" rIns="22860" tIns="22860" bIns="22860" anchor="ctr">
            <a:spAutoFit/>
          </a:bodyPr>
          <a:lstStyle/>
          <a:p>
            <a:pPr algn="l">
              <a:lnSpc>
                <a:spcPct val="102000"/>
              </a:lnSpc>
            </a:pPr>
            <a:r>
              <a:rPr sz="1100" b="0">
                <a:solidFill>
                  <a:srgbClr val="22313F"/>
                </a:solidFill>
                <a:latin typeface="Arial"/>
              </a:rPr>
              <a:t>Decision structure matters: expose feasibility, grant and a priced request to the agent; the model describes behaviour.</a:t>
            </a:r>
          </a:p>
        </p:txBody>
      </p:sp>
      <p:sp>
        <p:nvSpPr>
          <p:cNvPr id="48" name="Rectangle 47"/>
          <p:cNvSpPr/>
          <p:nvPr/>
        </p:nvSpPr>
        <p:spPr>
          <a:xfrm>
            <a:off x="566928" y="3072384"/>
            <a:ext cx="3931920" cy="4572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ody:48"/>
          <p:cNvSpPr txBox="1"/>
          <p:nvPr/>
        </p:nvSpPr>
        <p:spPr>
          <a:xfrm>
            <a:off x="649224" y="3072384"/>
            <a:ext cx="3767328" cy="457200"/>
          </a:xfrm>
          <a:prstGeom prst="rect">
            <a:avLst/>
          </a:prstGeom>
          <a:noFill/>
        </p:spPr>
        <p:txBody>
          <a:bodyPr wrap="square" lIns="22860" rIns="22860" tIns="22860" bIns="22860" anchor="ctr">
            <a:spAutoFit/>
          </a:bodyPr>
          <a:lstStyle/>
          <a:p>
            <a:pPr algn="l">
              <a:lnSpc>
                <a:spcPct val="102000"/>
              </a:lnSpc>
            </a:pPr>
            <a:r>
              <a:rPr sz="1100" b="1">
                <a:solidFill>
                  <a:srgbClr val="22313F"/>
                </a:solidFill>
                <a:latin typeface="Arial"/>
              </a:rPr>
              <a:t>Only A3 / A6 cut effects; A5 does not</a:t>
            </a:r>
          </a:p>
        </p:txBody>
      </p:sp>
      <p:sp>
        <p:nvSpPr>
          <p:cNvPr id="50" name="Rectangle 49"/>
          <p:cNvSpPr/>
          <p:nvPr/>
        </p:nvSpPr>
        <p:spPr>
          <a:xfrm>
            <a:off x="4498848" y="3072384"/>
            <a:ext cx="7123176" cy="4572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ody:50"/>
          <p:cNvSpPr txBox="1"/>
          <p:nvPr/>
        </p:nvSpPr>
        <p:spPr>
          <a:xfrm>
            <a:off x="4581144" y="3072384"/>
            <a:ext cx="6958584" cy="457200"/>
          </a:xfrm>
          <a:prstGeom prst="rect">
            <a:avLst/>
          </a:prstGeom>
          <a:noFill/>
        </p:spPr>
        <p:txBody>
          <a:bodyPr wrap="square" lIns="22860" rIns="22860" tIns="22860" bIns="22860" anchor="ctr">
            <a:spAutoFit/>
          </a:bodyPr>
          <a:lstStyle/>
          <a:p>
            <a:pPr algn="l">
              <a:lnSpc>
                <a:spcPct val="102000"/>
              </a:lnSpc>
            </a:pPr>
            <a:r>
              <a:rPr sz="1100" b="0">
                <a:solidFill>
                  <a:srgbClr val="22313F"/>
                </a:solidFill>
                <a:latin typeface="Arial"/>
              </a:rPr>
              <a:t>Enforcement, not reasoning, carries safety: invest in brokers and effect journals; treat planners as utility tools.</a:t>
            </a:r>
          </a:p>
        </p:txBody>
      </p:sp>
      <p:sp>
        <p:nvSpPr>
          <p:cNvPr id="52" name="Rectangle 51"/>
          <p:cNvSpPr/>
          <p:nvPr/>
        </p:nvSpPr>
        <p:spPr>
          <a:xfrm>
            <a:off x="566928" y="3529584"/>
            <a:ext cx="39319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ody:52"/>
          <p:cNvSpPr txBox="1"/>
          <p:nvPr/>
        </p:nvSpPr>
        <p:spPr>
          <a:xfrm>
            <a:off x="649224" y="3529584"/>
            <a:ext cx="3767328" cy="457200"/>
          </a:xfrm>
          <a:prstGeom prst="rect">
            <a:avLst/>
          </a:prstGeom>
          <a:noFill/>
        </p:spPr>
        <p:txBody>
          <a:bodyPr wrap="square" lIns="22860" rIns="22860" tIns="22860" bIns="22860" anchor="ctr">
            <a:spAutoFit/>
          </a:bodyPr>
          <a:lstStyle/>
          <a:p>
            <a:pPr algn="l">
              <a:lnSpc>
                <a:spcPct val="102000"/>
              </a:lnSpc>
            </a:pPr>
            <a:r>
              <a:rPr sz="1100" b="1">
                <a:solidFill>
                  <a:srgbClr val="22313F"/>
                </a:solidFill>
                <a:latin typeface="Arial"/>
              </a:rPr>
              <a:t>Gains come with more false stops on granted cells</a:t>
            </a:r>
          </a:p>
        </p:txBody>
      </p:sp>
      <p:sp>
        <p:nvSpPr>
          <p:cNvPr id="54" name="Rectangle 53"/>
          <p:cNvSpPr/>
          <p:nvPr/>
        </p:nvSpPr>
        <p:spPr>
          <a:xfrm>
            <a:off x="4498848" y="3529584"/>
            <a:ext cx="7123176"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ody:54"/>
          <p:cNvSpPr txBox="1"/>
          <p:nvPr/>
        </p:nvSpPr>
        <p:spPr>
          <a:xfrm>
            <a:off x="4581144" y="3529584"/>
            <a:ext cx="6958584" cy="457200"/>
          </a:xfrm>
          <a:prstGeom prst="rect">
            <a:avLst/>
          </a:prstGeom>
          <a:noFill/>
        </p:spPr>
        <p:txBody>
          <a:bodyPr wrap="square" lIns="22860" rIns="22860" tIns="22860" bIns="22860" anchor="ctr">
            <a:spAutoFit/>
          </a:bodyPr>
          <a:lstStyle/>
          <a:p>
            <a:pPr algn="l">
              <a:lnSpc>
                <a:spcPct val="102000"/>
              </a:lnSpc>
            </a:pPr>
            <a:r>
              <a:rPr sz="1100" b="0">
                <a:solidFill>
                  <a:srgbClr val="22313F"/>
                </a:solidFill>
                <a:latin typeface="Arial"/>
              </a:rPr>
              <a:t>Over-conservatism is the cost: tune B and d, and report refusals as a first-class endpoint.</a:t>
            </a:r>
          </a:p>
        </p:txBody>
      </p:sp>
      <p:sp>
        <p:nvSpPr>
          <p:cNvPr id="56" name="Rectangle 55"/>
          <p:cNvSpPr/>
          <p:nvPr/>
        </p:nvSpPr>
        <p:spPr>
          <a:xfrm>
            <a:off x="566928" y="3986783"/>
            <a:ext cx="3931920" cy="4572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ody:56"/>
          <p:cNvSpPr txBox="1"/>
          <p:nvPr/>
        </p:nvSpPr>
        <p:spPr>
          <a:xfrm>
            <a:off x="649224" y="3986783"/>
            <a:ext cx="3767328" cy="457200"/>
          </a:xfrm>
          <a:prstGeom prst="rect">
            <a:avLst/>
          </a:prstGeom>
          <a:noFill/>
        </p:spPr>
        <p:txBody>
          <a:bodyPr wrap="square" lIns="22860" rIns="22860" tIns="22860" bIns="22860" anchor="ctr">
            <a:spAutoFit/>
          </a:bodyPr>
          <a:lstStyle/>
          <a:p>
            <a:pPr algn="l">
              <a:lnSpc>
                <a:spcPct val="102000"/>
              </a:lnSpc>
            </a:pPr>
            <a:r>
              <a:rPr sz="1100" b="1">
                <a:solidFill>
                  <a:srgbClr val="22313F"/>
                </a:solidFill>
                <a:latin typeface="Arial"/>
              </a:rPr>
              <a:t>θ</a:t>
            </a:r>
            <a:r>
              <a:rPr sz="1100" b="1" baseline="-25000">
                <a:solidFill>
                  <a:srgbClr val="22313F"/>
                </a:solidFill>
                <a:latin typeface="Arial"/>
              </a:rPr>
              <a:t>T+J</a:t>
            </a:r>
            <a:r>
              <a:rPr sz="1100" b="1">
                <a:solidFill>
                  <a:srgbClr val="22313F"/>
                </a:solidFill>
                <a:latin typeface="Arial"/>
              </a:rPr>
              <a:t> = θ</a:t>
            </a:r>
            <a:r>
              <a:rPr sz="1100" b="1" baseline="-25000">
                <a:solidFill>
                  <a:srgbClr val="22313F"/>
                </a:solidFill>
                <a:latin typeface="Arial"/>
              </a:rPr>
              <a:t>T</a:t>
            </a:r>
            <a:r>
              <a:rPr sz="1100" b="1">
                <a:solidFill>
                  <a:srgbClr val="22313F"/>
                </a:solidFill>
                <a:latin typeface="Arial"/>
              </a:rPr>
              <a:t> on fresh lineages (E3)</a:t>
            </a:r>
          </a:p>
        </p:txBody>
      </p:sp>
      <p:sp>
        <p:nvSpPr>
          <p:cNvPr id="58" name="Rectangle 57"/>
          <p:cNvSpPr/>
          <p:nvPr/>
        </p:nvSpPr>
        <p:spPr>
          <a:xfrm>
            <a:off x="4498848" y="3986783"/>
            <a:ext cx="7123176" cy="45720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ody:58"/>
          <p:cNvSpPr txBox="1"/>
          <p:nvPr/>
        </p:nvSpPr>
        <p:spPr>
          <a:xfrm>
            <a:off x="4581144" y="3986783"/>
            <a:ext cx="6958584" cy="457200"/>
          </a:xfrm>
          <a:prstGeom prst="rect">
            <a:avLst/>
          </a:prstGeom>
          <a:noFill/>
        </p:spPr>
        <p:txBody>
          <a:bodyPr wrap="square" lIns="22860" rIns="22860" tIns="22860" bIns="22860" anchor="ctr">
            <a:spAutoFit/>
          </a:bodyPr>
          <a:lstStyle/>
          <a:p>
            <a:pPr algn="l">
              <a:lnSpc>
                <a:spcPct val="102000"/>
              </a:lnSpc>
            </a:pPr>
            <a:r>
              <a:rPr sz="1100" b="0">
                <a:solidFill>
                  <a:srgbClr val="22313F"/>
                </a:solidFill>
                <a:latin typeface="Arial"/>
              </a:rPr>
              <a:t>The effect journal is an audit instrument, not a selection advantage; the contribution is measurement.</a:t>
            </a:r>
          </a:p>
        </p:txBody>
      </p:sp>
      <p:sp>
        <p:nvSpPr>
          <p:cNvPr id="60" name="Rectangle 59"/>
          <p:cNvSpPr/>
          <p:nvPr/>
        </p:nvSpPr>
        <p:spPr>
          <a:xfrm>
            <a:off x="566928" y="4443983"/>
            <a:ext cx="39319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ody:60"/>
          <p:cNvSpPr txBox="1"/>
          <p:nvPr/>
        </p:nvSpPr>
        <p:spPr>
          <a:xfrm>
            <a:off x="649224" y="4443983"/>
            <a:ext cx="3767328" cy="457200"/>
          </a:xfrm>
          <a:prstGeom prst="rect">
            <a:avLst/>
          </a:prstGeom>
          <a:noFill/>
        </p:spPr>
        <p:txBody>
          <a:bodyPr wrap="square" lIns="22860" rIns="22860" tIns="22860" bIns="22860" anchor="ctr">
            <a:spAutoFit/>
          </a:bodyPr>
          <a:lstStyle/>
          <a:p>
            <a:pPr algn="l">
              <a:lnSpc>
                <a:spcPct val="102000"/>
              </a:lnSpc>
            </a:pPr>
            <a:r>
              <a:rPr sz="1100" b="1">
                <a:solidFill>
                  <a:srgbClr val="22313F"/>
                </a:solidFill>
                <a:latin typeface="Arial"/>
              </a:rPr>
              <a:t>LLM choices ignore p, d, q (E1)</a:t>
            </a:r>
          </a:p>
        </p:txBody>
      </p:sp>
      <p:sp>
        <p:nvSpPr>
          <p:cNvPr id="62" name="Rectangle 61"/>
          <p:cNvSpPr/>
          <p:nvPr/>
        </p:nvSpPr>
        <p:spPr>
          <a:xfrm>
            <a:off x="4498848" y="4443983"/>
            <a:ext cx="7123176"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ody:62"/>
          <p:cNvSpPr txBox="1"/>
          <p:nvPr/>
        </p:nvSpPr>
        <p:spPr>
          <a:xfrm>
            <a:off x="4581144" y="4443983"/>
            <a:ext cx="6958584" cy="457200"/>
          </a:xfrm>
          <a:prstGeom prst="rect">
            <a:avLst/>
          </a:prstGeom>
          <a:noFill/>
        </p:spPr>
        <p:txBody>
          <a:bodyPr wrap="square" lIns="22860" rIns="22860" tIns="22860" bIns="22860" anchor="ctr">
            <a:spAutoFit/>
          </a:bodyPr>
          <a:lstStyle/>
          <a:p>
            <a:pPr algn="l">
              <a:lnSpc>
                <a:spcPct val="102000"/>
              </a:lnSpc>
            </a:pPr>
            <a:r>
              <a:rPr sz="1100" b="0">
                <a:solidFill>
                  <a:srgbClr val="22313F"/>
                </a:solidFill>
                <a:latin typeface="Arial"/>
              </a:rPr>
              <a:t>The POMDP is a normative reference only; calibration work precedes any planner deployment.</a:t>
            </a:r>
          </a:p>
        </p:txBody>
      </p:sp>
      <p:sp>
        <p:nvSpPr>
          <p:cNvPr id="64" name="Rounded Rectangle 63"/>
          <p:cNvSpPr/>
          <p:nvPr/>
        </p:nvSpPr>
        <p:spPr>
          <a:xfrm>
            <a:off x="566928" y="4956048"/>
            <a:ext cx="2654046" cy="603504"/>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66928" y="4956048"/>
            <a:ext cx="64008" cy="603504"/>
          </a:xfrm>
          <a:prstGeom prst="rect">
            <a:avLst/>
          </a:prstGeom>
          <a:solidFill>
            <a:srgbClr val="3A6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ody:65"/>
          <p:cNvSpPr txBox="1"/>
          <p:nvPr/>
        </p:nvSpPr>
        <p:spPr>
          <a:xfrm>
            <a:off x="731520" y="4974336"/>
            <a:ext cx="2379726" cy="256032"/>
          </a:xfrm>
          <a:prstGeom prst="rect">
            <a:avLst/>
          </a:prstGeom>
          <a:noFill/>
        </p:spPr>
        <p:txBody>
          <a:bodyPr wrap="square" lIns="22860" rIns="22860" tIns="22860" bIns="22860" anchor="ctr">
            <a:spAutoFit/>
          </a:bodyPr>
          <a:lstStyle/>
          <a:p>
            <a:pPr algn="l">
              <a:lnSpc>
                <a:spcPct val="108000"/>
              </a:lnSpc>
            </a:pPr>
            <a:r>
              <a:rPr sz="1150" b="1">
                <a:solidFill>
                  <a:srgbClr val="3A6391"/>
                </a:solidFill>
                <a:latin typeface="Arial"/>
              </a:rPr>
              <a:t>Nov 2026</a:t>
            </a:r>
          </a:p>
        </p:txBody>
      </p:sp>
      <p:sp>
        <p:nvSpPr>
          <p:cNvPr id="67" name="body:66"/>
          <p:cNvSpPr txBox="1"/>
          <p:nvPr/>
        </p:nvSpPr>
        <p:spPr>
          <a:xfrm>
            <a:off x="731520" y="5212080"/>
            <a:ext cx="2379726" cy="329184"/>
          </a:xfrm>
          <a:prstGeom prst="rect">
            <a:avLst/>
          </a:prstGeom>
          <a:noFill/>
        </p:spPr>
        <p:txBody>
          <a:bodyPr wrap="square" lIns="22860" rIns="22860" tIns="22860" bIns="22860" anchor="ctr">
            <a:spAutoFit/>
          </a:bodyPr>
          <a:lstStyle/>
          <a:p>
            <a:pPr algn="l">
              <a:lnSpc>
                <a:spcPct val="100000"/>
              </a:lnSpc>
            </a:pPr>
            <a:r>
              <a:rPr sz="1000" b="0">
                <a:solidFill>
                  <a:srgbClr val="22313F"/>
                </a:solidFill>
                <a:latin typeface="Arial"/>
              </a:rPr>
              <a:t>Finite simulator; E1 preregistered and run</a:t>
            </a:r>
          </a:p>
        </p:txBody>
      </p:sp>
      <p:sp>
        <p:nvSpPr>
          <p:cNvPr id="68" name="Rounded Rectangle 67"/>
          <p:cNvSpPr/>
          <p:nvPr/>
        </p:nvSpPr>
        <p:spPr>
          <a:xfrm>
            <a:off x="3367278" y="4956048"/>
            <a:ext cx="2654046" cy="603504"/>
          </a:xfrm>
          <a:prstGeom prst="roundRect">
            <a:avLst>
              <a:gd name="adj" fmla="val 5000"/>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367278" y="4956048"/>
            <a:ext cx="64008" cy="603504"/>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ody:69"/>
          <p:cNvSpPr txBox="1"/>
          <p:nvPr/>
        </p:nvSpPr>
        <p:spPr>
          <a:xfrm>
            <a:off x="3531870" y="4974336"/>
            <a:ext cx="2379726" cy="256032"/>
          </a:xfrm>
          <a:prstGeom prst="rect">
            <a:avLst/>
          </a:prstGeom>
          <a:noFill/>
        </p:spPr>
        <p:txBody>
          <a:bodyPr wrap="square" lIns="22860" rIns="22860" tIns="22860" bIns="22860" anchor="ctr">
            <a:spAutoFit/>
          </a:bodyPr>
          <a:lstStyle/>
          <a:p>
            <a:pPr algn="l">
              <a:lnSpc>
                <a:spcPct val="108000"/>
              </a:lnSpc>
            </a:pPr>
            <a:r>
              <a:rPr sz="1150" b="1">
                <a:solidFill>
                  <a:srgbClr val="1E7A72"/>
                </a:solidFill>
                <a:latin typeface="Arial"/>
              </a:rPr>
              <a:t>Dec 2026</a:t>
            </a:r>
          </a:p>
        </p:txBody>
      </p:sp>
      <p:sp>
        <p:nvSpPr>
          <p:cNvPr id="71" name="body:70"/>
          <p:cNvSpPr txBox="1"/>
          <p:nvPr/>
        </p:nvSpPr>
        <p:spPr>
          <a:xfrm>
            <a:off x="3531870" y="5212080"/>
            <a:ext cx="2379726" cy="329184"/>
          </a:xfrm>
          <a:prstGeom prst="rect">
            <a:avLst/>
          </a:prstGeom>
          <a:noFill/>
        </p:spPr>
        <p:txBody>
          <a:bodyPr wrap="square" lIns="22860" rIns="22860" tIns="22860" bIns="22860" anchor="ctr">
            <a:spAutoFit/>
          </a:bodyPr>
          <a:lstStyle/>
          <a:p>
            <a:pPr algn="l">
              <a:lnSpc>
                <a:spcPct val="100000"/>
              </a:lnSpc>
            </a:pPr>
            <a:r>
              <a:rPr sz="1000" b="0">
                <a:solidFill>
                  <a:srgbClr val="22313F"/>
                </a:solidFill>
                <a:latin typeface="Arial"/>
              </a:rPr>
              <a:t>Fixture extension: repair × grant × X1b; E2 pilot</a:t>
            </a:r>
          </a:p>
        </p:txBody>
      </p:sp>
      <p:sp>
        <p:nvSpPr>
          <p:cNvPr id="72" name="Rounded Rectangle 71"/>
          <p:cNvSpPr/>
          <p:nvPr/>
        </p:nvSpPr>
        <p:spPr>
          <a:xfrm>
            <a:off x="6167628" y="4956048"/>
            <a:ext cx="2654046" cy="603504"/>
          </a:xfrm>
          <a:prstGeom prst="roundRect">
            <a:avLst>
              <a:gd name="adj" fmla="val 5000"/>
            </a:avLst>
          </a:prstGeom>
          <a:solidFill>
            <a:srgbClr val="EE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167628" y="4956048"/>
            <a:ext cx="64008" cy="603504"/>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ody:73"/>
          <p:cNvSpPr txBox="1"/>
          <p:nvPr/>
        </p:nvSpPr>
        <p:spPr>
          <a:xfrm>
            <a:off x="6332220" y="4974336"/>
            <a:ext cx="2379726" cy="256032"/>
          </a:xfrm>
          <a:prstGeom prst="rect">
            <a:avLst/>
          </a:prstGeom>
          <a:noFill/>
        </p:spPr>
        <p:txBody>
          <a:bodyPr wrap="square" lIns="22860" rIns="22860" tIns="22860" bIns="22860" anchor="ctr">
            <a:spAutoFit/>
          </a:bodyPr>
          <a:lstStyle/>
          <a:p>
            <a:pPr algn="l">
              <a:lnSpc>
                <a:spcPct val="108000"/>
              </a:lnSpc>
            </a:pPr>
            <a:r>
              <a:rPr sz="1150" b="1">
                <a:solidFill>
                  <a:srgbClr val="6A4C93"/>
                </a:solidFill>
                <a:latin typeface="Arial"/>
              </a:rPr>
              <a:t>Jan 2027</a:t>
            </a:r>
          </a:p>
        </p:txBody>
      </p:sp>
      <p:sp>
        <p:nvSpPr>
          <p:cNvPr id="75" name="body:74"/>
          <p:cNvSpPr txBox="1"/>
          <p:nvPr/>
        </p:nvSpPr>
        <p:spPr>
          <a:xfrm>
            <a:off x="6332220" y="5212080"/>
            <a:ext cx="2379726" cy="329184"/>
          </a:xfrm>
          <a:prstGeom prst="rect">
            <a:avLst/>
          </a:prstGeom>
          <a:noFill/>
        </p:spPr>
        <p:txBody>
          <a:bodyPr wrap="square" lIns="22860" rIns="22860" tIns="22860" bIns="22860" anchor="ctr">
            <a:spAutoFit/>
          </a:bodyPr>
          <a:lstStyle/>
          <a:p>
            <a:pPr algn="l">
              <a:lnSpc>
                <a:spcPct val="100000"/>
              </a:lnSpc>
            </a:pPr>
            <a:r>
              <a:rPr sz="1000" b="0">
                <a:solidFill>
                  <a:srgbClr val="22313F"/>
                </a:solidFill>
                <a:latin typeface="Arial"/>
              </a:rPr>
              <a:t>Repaired judge frozen; E3 selection contrast</a:t>
            </a:r>
          </a:p>
        </p:txBody>
      </p:sp>
      <p:sp>
        <p:nvSpPr>
          <p:cNvPr id="76" name="Rounded Rectangle 75"/>
          <p:cNvSpPr/>
          <p:nvPr/>
        </p:nvSpPr>
        <p:spPr>
          <a:xfrm>
            <a:off x="8967978" y="4956048"/>
            <a:ext cx="2654046" cy="603504"/>
          </a:xfrm>
          <a:prstGeom prst="roundRect">
            <a:avLst>
              <a:gd name="adj" fmla="val 5000"/>
            </a:avLst>
          </a:prstGeom>
          <a:solidFill>
            <a:srgbClr val="F8E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967978" y="4956048"/>
            <a:ext cx="64008" cy="603504"/>
          </a:xfrm>
          <a:prstGeom prst="rect">
            <a:avLst/>
          </a:prstGeom>
          <a:solidFill>
            <a:srgbClr val="B46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ody:77"/>
          <p:cNvSpPr txBox="1"/>
          <p:nvPr/>
        </p:nvSpPr>
        <p:spPr>
          <a:xfrm>
            <a:off x="9132570" y="4974336"/>
            <a:ext cx="2379726" cy="256032"/>
          </a:xfrm>
          <a:prstGeom prst="rect">
            <a:avLst/>
          </a:prstGeom>
          <a:noFill/>
        </p:spPr>
        <p:txBody>
          <a:bodyPr wrap="square" lIns="22860" rIns="22860" tIns="22860" bIns="22860" anchor="ctr">
            <a:spAutoFit/>
          </a:bodyPr>
          <a:lstStyle/>
          <a:p>
            <a:pPr algn="l">
              <a:lnSpc>
                <a:spcPct val="108000"/>
              </a:lnSpc>
            </a:pPr>
            <a:r>
              <a:rPr sz="1150" b="1">
                <a:solidFill>
                  <a:srgbClr val="B4602E"/>
                </a:solidFill>
                <a:latin typeface="Arial"/>
              </a:rPr>
              <a:t>Feb 2027</a:t>
            </a:r>
          </a:p>
        </p:txBody>
      </p:sp>
      <p:sp>
        <p:nvSpPr>
          <p:cNvPr id="79" name="body:78"/>
          <p:cNvSpPr txBox="1"/>
          <p:nvPr/>
        </p:nvSpPr>
        <p:spPr>
          <a:xfrm>
            <a:off x="9132570" y="5212080"/>
            <a:ext cx="2379726" cy="329184"/>
          </a:xfrm>
          <a:prstGeom prst="rect">
            <a:avLst/>
          </a:prstGeom>
          <a:noFill/>
        </p:spPr>
        <p:txBody>
          <a:bodyPr wrap="square" lIns="22860" rIns="22860" tIns="22860" bIns="22860" anchor="ctr">
            <a:spAutoFit/>
          </a:bodyPr>
          <a:lstStyle/>
          <a:p>
            <a:pPr algn="l">
              <a:lnSpc>
                <a:spcPct val="100000"/>
              </a:lnSpc>
            </a:pPr>
            <a:r>
              <a:rPr sz="1000" b="0">
                <a:solidFill>
                  <a:srgbClr val="22313F"/>
                </a:solidFill>
                <a:latin typeface="Arial"/>
              </a:rPr>
              <a:t>Confirmatory twins sized from pilot discordance</a:t>
            </a:r>
          </a:p>
        </p:txBody>
      </p:sp>
      <p:sp>
        <p:nvSpPr>
          <p:cNvPr id="80" name="Rounded Rectangle 79"/>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ody:80"/>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600" b="1">
                <a:solidFill>
                  <a:srgbClr val="FFFFFF"/>
                </a:solidFill>
                <a:latin typeface="Arial"/>
              </a:rPr>
              <a:t>Next milestone: implement the finite decision model and the paired grant/repair fixture, qualify its controls, preregister E1 and E2.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APPENDIX A / FAILURE MECHANISM CODEBOOK</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M1-M6: how did the safeguards fail?</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M = mechanism. The number identifies a category, with no severity ordering. Formal names come from the incident taxonomy.</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25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D3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CODEBOOK</a:t>
            </a:r>
          </a:p>
        </p:txBody>
      </p:sp>
      <p:sp>
        <p:nvSpPr>
          <p:cNvPr id="37" name="source:36"/>
          <p:cNvSpPr txBox="1"/>
          <p:nvPr/>
        </p:nvSpPr>
        <p:spPr>
          <a:xfrm>
            <a:off x="566928" y="6400800"/>
            <a:ext cx="219456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incidents/taxonomy.json</a:t>
            </a:r>
          </a:p>
        </p:txBody>
      </p:sp>
      <p:sp>
        <p:nvSpPr>
          <p:cNvPr id="38" name="source:37"/>
          <p:cNvSpPr txBox="1"/>
          <p:nvPr/>
        </p:nvSpPr>
        <p:spPr>
          <a:xfrm>
            <a:off x="2907792" y="6400800"/>
            <a:ext cx="32004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Medicare: draft coding, review pending</a:t>
            </a:r>
          </a:p>
        </p:txBody>
      </p:sp>
      <p:sp>
        <p:nvSpPr>
          <p:cNvPr id="39" name="Rectangle 38"/>
          <p:cNvSpPr/>
          <p:nvPr/>
        </p:nvSpPr>
        <p:spPr>
          <a:xfrm>
            <a:off x="566928" y="2157984"/>
            <a:ext cx="502920" cy="420624"/>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ody:39"/>
          <p:cNvSpPr txBox="1"/>
          <p:nvPr/>
        </p:nvSpPr>
        <p:spPr>
          <a:xfrm>
            <a:off x="649224" y="2157984"/>
            <a:ext cx="338328" cy="420624"/>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ID</a:t>
            </a:r>
          </a:p>
        </p:txBody>
      </p:sp>
      <p:sp>
        <p:nvSpPr>
          <p:cNvPr id="41" name="Rectangle 40"/>
          <p:cNvSpPr/>
          <p:nvPr/>
        </p:nvSpPr>
        <p:spPr>
          <a:xfrm>
            <a:off x="1069848" y="2157984"/>
            <a:ext cx="3703320" cy="420624"/>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ody:41"/>
          <p:cNvSpPr txBox="1"/>
          <p:nvPr/>
        </p:nvSpPr>
        <p:spPr>
          <a:xfrm>
            <a:off x="1152144" y="2157984"/>
            <a:ext cx="3538727" cy="420624"/>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Formal name</a:t>
            </a:r>
          </a:p>
        </p:txBody>
      </p:sp>
      <p:sp>
        <p:nvSpPr>
          <p:cNvPr id="43" name="Rectangle 42"/>
          <p:cNvSpPr/>
          <p:nvPr/>
        </p:nvSpPr>
        <p:spPr>
          <a:xfrm>
            <a:off x="4773168" y="2157984"/>
            <a:ext cx="5486400" cy="420624"/>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ody:43"/>
          <p:cNvSpPr txBox="1"/>
          <p:nvPr/>
        </p:nvSpPr>
        <p:spPr>
          <a:xfrm>
            <a:off x="4855464" y="2157984"/>
            <a:ext cx="5321808" cy="420624"/>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Plain-language reading</a:t>
            </a:r>
          </a:p>
        </p:txBody>
      </p:sp>
      <p:sp>
        <p:nvSpPr>
          <p:cNvPr id="45" name="Rectangle 44"/>
          <p:cNvSpPr/>
          <p:nvPr/>
        </p:nvSpPr>
        <p:spPr>
          <a:xfrm>
            <a:off x="10259567" y="2157984"/>
            <a:ext cx="1362456" cy="420624"/>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ody:45"/>
          <p:cNvSpPr txBox="1"/>
          <p:nvPr/>
        </p:nvSpPr>
        <p:spPr>
          <a:xfrm>
            <a:off x="10341863" y="2157984"/>
            <a:ext cx="1197864" cy="420624"/>
          </a:xfrm>
          <a:prstGeom prst="rect">
            <a:avLst/>
          </a:prstGeom>
          <a:noFill/>
        </p:spPr>
        <p:txBody>
          <a:bodyPr wrap="square" lIns="22860" rIns="22860" tIns="22860" bIns="22860" anchor="ctr">
            <a:spAutoFit/>
          </a:bodyPr>
          <a:lstStyle/>
          <a:p>
            <a:pPr algn="l">
              <a:lnSpc>
                <a:spcPct val="100000"/>
              </a:lnSpc>
            </a:pPr>
            <a:r>
              <a:rPr sz="1150" b="1">
                <a:solidFill>
                  <a:srgbClr val="FFFFFF"/>
                </a:solidFill>
                <a:latin typeface="Arial"/>
              </a:rPr>
              <a:t>Medicare</a:t>
            </a:r>
          </a:p>
        </p:txBody>
      </p:sp>
      <p:sp>
        <p:nvSpPr>
          <p:cNvPr id="47" name="Rectangle 46"/>
          <p:cNvSpPr/>
          <p:nvPr/>
        </p:nvSpPr>
        <p:spPr>
          <a:xfrm>
            <a:off x="566928" y="2578608"/>
            <a:ext cx="50292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ody:47"/>
          <p:cNvSpPr txBox="1"/>
          <p:nvPr/>
        </p:nvSpPr>
        <p:spPr>
          <a:xfrm>
            <a:off x="649224" y="2578608"/>
            <a:ext cx="338328" cy="420624"/>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M1</a:t>
            </a:r>
          </a:p>
        </p:txBody>
      </p:sp>
      <p:sp>
        <p:nvSpPr>
          <p:cNvPr id="49" name="Rectangle 48"/>
          <p:cNvSpPr/>
          <p:nvPr/>
        </p:nvSpPr>
        <p:spPr>
          <a:xfrm>
            <a:off x="1069848" y="2578608"/>
            <a:ext cx="370332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ody:49"/>
          <p:cNvSpPr txBox="1"/>
          <p:nvPr/>
        </p:nvSpPr>
        <p:spPr>
          <a:xfrm>
            <a:off x="1152144" y="2578608"/>
            <a:ext cx="3538727"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Objective pressure without a safe terminal state</a:t>
            </a:r>
          </a:p>
        </p:txBody>
      </p:sp>
      <p:sp>
        <p:nvSpPr>
          <p:cNvPr id="51" name="Rectangle 50"/>
          <p:cNvSpPr/>
          <p:nvPr/>
        </p:nvSpPr>
        <p:spPr>
          <a:xfrm>
            <a:off x="4773168" y="2578608"/>
            <a:ext cx="548640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ody:51"/>
          <p:cNvSpPr txBox="1"/>
          <p:nvPr/>
        </p:nvSpPr>
        <p:spPr>
          <a:xfrm>
            <a:off x="4855464" y="2578608"/>
            <a:ext cx="5321808"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Completion pressure drives persistence when no safe failure or stop outcome is available.</a:t>
            </a:r>
          </a:p>
        </p:txBody>
      </p:sp>
      <p:sp>
        <p:nvSpPr>
          <p:cNvPr id="53" name="Rectangle 52"/>
          <p:cNvSpPr/>
          <p:nvPr/>
        </p:nvSpPr>
        <p:spPr>
          <a:xfrm>
            <a:off x="10259567" y="2578608"/>
            <a:ext cx="1362456"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ody:53"/>
          <p:cNvSpPr txBox="1"/>
          <p:nvPr/>
        </p:nvSpPr>
        <p:spPr>
          <a:xfrm>
            <a:off x="10341863" y="2578608"/>
            <a:ext cx="1197864"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present</a:t>
            </a:r>
          </a:p>
        </p:txBody>
      </p:sp>
      <p:sp>
        <p:nvSpPr>
          <p:cNvPr id="55" name="Rectangle 54"/>
          <p:cNvSpPr/>
          <p:nvPr/>
        </p:nvSpPr>
        <p:spPr>
          <a:xfrm>
            <a:off x="566928" y="2999232"/>
            <a:ext cx="502920" cy="4206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ody:55"/>
          <p:cNvSpPr txBox="1"/>
          <p:nvPr/>
        </p:nvSpPr>
        <p:spPr>
          <a:xfrm>
            <a:off x="649224" y="2999232"/>
            <a:ext cx="338328" cy="420624"/>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M2</a:t>
            </a:r>
          </a:p>
        </p:txBody>
      </p:sp>
      <p:sp>
        <p:nvSpPr>
          <p:cNvPr id="57" name="Rectangle 56"/>
          <p:cNvSpPr/>
          <p:nvPr/>
        </p:nvSpPr>
        <p:spPr>
          <a:xfrm>
            <a:off x="1069848" y="2999232"/>
            <a:ext cx="3703320" cy="4206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ody:57"/>
          <p:cNvSpPr txBox="1"/>
          <p:nvPr/>
        </p:nvSpPr>
        <p:spPr>
          <a:xfrm>
            <a:off x="1152144" y="2999232"/>
            <a:ext cx="3538727"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Capability composition</a:t>
            </a:r>
          </a:p>
        </p:txBody>
      </p:sp>
      <p:sp>
        <p:nvSpPr>
          <p:cNvPr id="59" name="Rectangle 58"/>
          <p:cNvSpPr/>
          <p:nvPr/>
        </p:nvSpPr>
        <p:spPr>
          <a:xfrm>
            <a:off x="4773168" y="2999232"/>
            <a:ext cx="5486400" cy="4206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ody:59"/>
          <p:cNvSpPr txBox="1"/>
          <p:nvPr/>
        </p:nvSpPr>
        <p:spPr>
          <a:xfrm>
            <a:off x="4855464" y="2999232"/>
            <a:ext cx="5321808"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Separate capabilities combine into a path across the boundary.</a:t>
            </a:r>
          </a:p>
        </p:txBody>
      </p:sp>
      <p:sp>
        <p:nvSpPr>
          <p:cNvPr id="61" name="Rectangle 60"/>
          <p:cNvSpPr/>
          <p:nvPr/>
        </p:nvSpPr>
        <p:spPr>
          <a:xfrm>
            <a:off x="10259567" y="2999232"/>
            <a:ext cx="1362456" cy="4206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ody:61"/>
          <p:cNvSpPr txBox="1"/>
          <p:nvPr/>
        </p:nvSpPr>
        <p:spPr>
          <a:xfrm>
            <a:off x="10341863" y="2999232"/>
            <a:ext cx="1197864"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present</a:t>
            </a:r>
          </a:p>
        </p:txBody>
      </p:sp>
      <p:sp>
        <p:nvSpPr>
          <p:cNvPr id="63" name="Rectangle 62"/>
          <p:cNvSpPr/>
          <p:nvPr/>
        </p:nvSpPr>
        <p:spPr>
          <a:xfrm>
            <a:off x="566928" y="3419856"/>
            <a:ext cx="50292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ody:63"/>
          <p:cNvSpPr txBox="1"/>
          <p:nvPr/>
        </p:nvSpPr>
        <p:spPr>
          <a:xfrm>
            <a:off x="649224" y="3419856"/>
            <a:ext cx="338328" cy="420624"/>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M3</a:t>
            </a:r>
          </a:p>
        </p:txBody>
      </p:sp>
      <p:sp>
        <p:nvSpPr>
          <p:cNvPr id="65" name="Rectangle 64"/>
          <p:cNvSpPr/>
          <p:nvPr/>
        </p:nvSpPr>
        <p:spPr>
          <a:xfrm>
            <a:off x="1069848" y="3419856"/>
            <a:ext cx="370332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ody:65"/>
          <p:cNvSpPr txBox="1"/>
          <p:nvPr/>
        </p:nvSpPr>
        <p:spPr>
          <a:xfrm>
            <a:off x="1152144" y="3419856"/>
            <a:ext cx="3538727"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Shared services became coordination infrastructure</a:t>
            </a:r>
          </a:p>
        </p:txBody>
      </p:sp>
      <p:sp>
        <p:nvSpPr>
          <p:cNvPr id="67" name="Rectangle 66"/>
          <p:cNvSpPr/>
          <p:nvPr/>
        </p:nvSpPr>
        <p:spPr>
          <a:xfrm>
            <a:off x="4773168" y="3419856"/>
            <a:ext cx="548640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ody:67"/>
          <p:cNvSpPr txBox="1"/>
          <p:nvPr/>
        </p:nvSpPr>
        <p:spPr>
          <a:xfrm>
            <a:off x="4855464" y="3419856"/>
            <a:ext cx="5321808"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Shared files or services let otherwise separate runs communicate or coordinate.</a:t>
            </a:r>
          </a:p>
        </p:txBody>
      </p:sp>
      <p:sp>
        <p:nvSpPr>
          <p:cNvPr id="69" name="Rectangle 68"/>
          <p:cNvSpPr/>
          <p:nvPr/>
        </p:nvSpPr>
        <p:spPr>
          <a:xfrm>
            <a:off x="10259567" y="3419856"/>
            <a:ext cx="1362456"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ody:69"/>
          <p:cNvSpPr txBox="1"/>
          <p:nvPr/>
        </p:nvSpPr>
        <p:spPr>
          <a:xfrm>
            <a:off x="10341863" y="3419856"/>
            <a:ext cx="1197864"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absent</a:t>
            </a:r>
          </a:p>
        </p:txBody>
      </p:sp>
      <p:sp>
        <p:nvSpPr>
          <p:cNvPr id="71" name="Rectangle 70"/>
          <p:cNvSpPr/>
          <p:nvPr/>
        </p:nvSpPr>
        <p:spPr>
          <a:xfrm>
            <a:off x="566928" y="3840480"/>
            <a:ext cx="502920" cy="4206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ody:71"/>
          <p:cNvSpPr txBox="1"/>
          <p:nvPr/>
        </p:nvSpPr>
        <p:spPr>
          <a:xfrm>
            <a:off x="649224" y="3840480"/>
            <a:ext cx="338328" cy="420624"/>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M4</a:t>
            </a:r>
          </a:p>
        </p:txBody>
      </p:sp>
      <p:sp>
        <p:nvSpPr>
          <p:cNvPr id="73" name="Rectangle 72"/>
          <p:cNvSpPr/>
          <p:nvPr/>
        </p:nvSpPr>
        <p:spPr>
          <a:xfrm>
            <a:off x="1069848" y="3840480"/>
            <a:ext cx="3703320" cy="4206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ody:73"/>
          <p:cNvSpPr txBox="1"/>
          <p:nvPr/>
        </p:nvSpPr>
        <p:spPr>
          <a:xfrm>
            <a:off x="1152144" y="3840480"/>
            <a:ext cx="3538727"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Detection without decisive escalation</a:t>
            </a:r>
          </a:p>
        </p:txBody>
      </p:sp>
      <p:sp>
        <p:nvSpPr>
          <p:cNvPr id="75" name="Rectangle 74"/>
          <p:cNvSpPr/>
          <p:nvPr/>
        </p:nvSpPr>
        <p:spPr>
          <a:xfrm>
            <a:off x="4773168" y="3840480"/>
            <a:ext cx="5486400" cy="4206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ody:75"/>
          <p:cNvSpPr txBox="1"/>
          <p:nvPr/>
        </p:nvSpPr>
        <p:spPr>
          <a:xfrm>
            <a:off x="4855464" y="3840480"/>
            <a:ext cx="5321808"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Warning or detection fails to produce a timely, effective intervention.</a:t>
            </a:r>
          </a:p>
        </p:txBody>
      </p:sp>
      <p:sp>
        <p:nvSpPr>
          <p:cNvPr id="77" name="Rectangle 76"/>
          <p:cNvSpPr/>
          <p:nvPr/>
        </p:nvSpPr>
        <p:spPr>
          <a:xfrm>
            <a:off x="10259567" y="3840480"/>
            <a:ext cx="1362456" cy="4206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ody:77"/>
          <p:cNvSpPr txBox="1"/>
          <p:nvPr/>
        </p:nvSpPr>
        <p:spPr>
          <a:xfrm>
            <a:off x="10341863" y="3840480"/>
            <a:ext cx="1197864"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present</a:t>
            </a:r>
          </a:p>
        </p:txBody>
      </p:sp>
      <p:sp>
        <p:nvSpPr>
          <p:cNvPr id="79" name="Rectangle 78"/>
          <p:cNvSpPr/>
          <p:nvPr/>
        </p:nvSpPr>
        <p:spPr>
          <a:xfrm>
            <a:off x="566928" y="4261104"/>
            <a:ext cx="50292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ody:79"/>
          <p:cNvSpPr txBox="1"/>
          <p:nvPr/>
        </p:nvSpPr>
        <p:spPr>
          <a:xfrm>
            <a:off x="649224" y="4261104"/>
            <a:ext cx="338328" cy="420624"/>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M5</a:t>
            </a:r>
          </a:p>
        </p:txBody>
      </p:sp>
      <p:sp>
        <p:nvSpPr>
          <p:cNvPr id="81" name="Rectangle 80"/>
          <p:cNvSpPr/>
          <p:nvPr/>
        </p:nvSpPr>
        <p:spPr>
          <a:xfrm>
            <a:off x="1069848" y="4261104"/>
            <a:ext cx="370332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body:81"/>
          <p:cNvSpPr txBox="1"/>
          <p:nvPr/>
        </p:nvSpPr>
        <p:spPr>
          <a:xfrm>
            <a:off x="1152144" y="4261104"/>
            <a:ext cx="3538727"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Environment-grounding and audit blind spots</a:t>
            </a:r>
          </a:p>
        </p:txBody>
      </p:sp>
      <p:sp>
        <p:nvSpPr>
          <p:cNvPr id="83" name="Rectangle 82"/>
          <p:cNvSpPr/>
          <p:nvPr/>
        </p:nvSpPr>
        <p:spPr>
          <a:xfrm>
            <a:off x="4773168" y="4261104"/>
            <a:ext cx="548640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body:83"/>
          <p:cNvSpPr txBox="1"/>
          <p:nvPr/>
        </p:nvSpPr>
        <p:spPr>
          <a:xfrm>
            <a:off x="4855464" y="4261104"/>
            <a:ext cx="5321808"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Assumptions about the real environment and gaps in audit coverage hide exposure.</a:t>
            </a:r>
          </a:p>
        </p:txBody>
      </p:sp>
      <p:sp>
        <p:nvSpPr>
          <p:cNvPr id="85" name="Rectangle 84"/>
          <p:cNvSpPr/>
          <p:nvPr/>
        </p:nvSpPr>
        <p:spPr>
          <a:xfrm>
            <a:off x="10259567" y="4261104"/>
            <a:ext cx="1362456"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body:85"/>
          <p:cNvSpPr txBox="1"/>
          <p:nvPr/>
        </p:nvSpPr>
        <p:spPr>
          <a:xfrm>
            <a:off x="10341863" y="4261104"/>
            <a:ext cx="1197864"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partial</a:t>
            </a:r>
          </a:p>
        </p:txBody>
      </p:sp>
      <p:sp>
        <p:nvSpPr>
          <p:cNvPr id="87" name="Rectangle 86"/>
          <p:cNvSpPr/>
          <p:nvPr/>
        </p:nvSpPr>
        <p:spPr>
          <a:xfrm>
            <a:off x="566928" y="4681728"/>
            <a:ext cx="502920" cy="4206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body:87"/>
          <p:cNvSpPr txBox="1"/>
          <p:nvPr/>
        </p:nvSpPr>
        <p:spPr>
          <a:xfrm>
            <a:off x="649224" y="4681728"/>
            <a:ext cx="338328" cy="420624"/>
          </a:xfrm>
          <a:prstGeom prst="rect">
            <a:avLst/>
          </a:prstGeom>
          <a:noFill/>
        </p:spPr>
        <p:txBody>
          <a:bodyPr wrap="square" lIns="22860" rIns="22860" tIns="22860" bIns="22860" anchor="ctr">
            <a:spAutoFit/>
          </a:bodyPr>
          <a:lstStyle/>
          <a:p>
            <a:pPr algn="l">
              <a:lnSpc>
                <a:spcPct val="100000"/>
              </a:lnSpc>
            </a:pPr>
            <a:r>
              <a:rPr sz="1150" b="1">
                <a:solidFill>
                  <a:srgbClr val="22313F"/>
                </a:solidFill>
                <a:latin typeface="Arial"/>
              </a:rPr>
              <a:t>M6</a:t>
            </a:r>
          </a:p>
        </p:txBody>
      </p:sp>
      <p:sp>
        <p:nvSpPr>
          <p:cNvPr id="89" name="Rectangle 88"/>
          <p:cNvSpPr/>
          <p:nvPr/>
        </p:nvSpPr>
        <p:spPr>
          <a:xfrm>
            <a:off x="1069848" y="4681728"/>
            <a:ext cx="3703320" cy="4206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body:89"/>
          <p:cNvSpPr txBox="1"/>
          <p:nvPr/>
        </p:nvSpPr>
        <p:spPr>
          <a:xfrm>
            <a:off x="1152144" y="4681728"/>
            <a:ext cx="3538727"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Fragmented ownership</a:t>
            </a:r>
          </a:p>
        </p:txBody>
      </p:sp>
      <p:sp>
        <p:nvSpPr>
          <p:cNvPr id="91" name="Rectangle 90"/>
          <p:cNvSpPr/>
          <p:nvPr/>
        </p:nvSpPr>
        <p:spPr>
          <a:xfrm>
            <a:off x="4773168" y="4681728"/>
            <a:ext cx="5486400" cy="4206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body:91"/>
          <p:cNvSpPr txBox="1"/>
          <p:nvPr/>
        </p:nvSpPr>
        <p:spPr>
          <a:xfrm>
            <a:off x="4855464" y="4681728"/>
            <a:ext cx="5321808"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Responsibility is split across teams or organizations; no owner sees the whole chain.</a:t>
            </a:r>
          </a:p>
        </p:txBody>
      </p:sp>
      <p:sp>
        <p:nvSpPr>
          <p:cNvPr id="93" name="Rectangle 92"/>
          <p:cNvSpPr/>
          <p:nvPr/>
        </p:nvSpPr>
        <p:spPr>
          <a:xfrm>
            <a:off x="10259567" y="4681728"/>
            <a:ext cx="1362456" cy="420624"/>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body:93"/>
          <p:cNvSpPr txBox="1"/>
          <p:nvPr/>
        </p:nvSpPr>
        <p:spPr>
          <a:xfrm>
            <a:off x="10341863" y="4681728"/>
            <a:ext cx="1197864" cy="420624"/>
          </a:xfrm>
          <a:prstGeom prst="rect">
            <a:avLst/>
          </a:prstGeom>
          <a:noFill/>
        </p:spPr>
        <p:txBody>
          <a:bodyPr wrap="square" lIns="22860" rIns="22860" tIns="22860" bIns="22860" anchor="ctr">
            <a:spAutoFit/>
          </a:bodyPr>
          <a:lstStyle/>
          <a:p>
            <a:pPr algn="l">
              <a:lnSpc>
                <a:spcPct val="100000"/>
              </a:lnSpc>
            </a:pPr>
            <a:r>
              <a:rPr sz="1150" b="0">
                <a:solidFill>
                  <a:srgbClr val="22313F"/>
                </a:solidFill>
                <a:latin typeface="Arial"/>
              </a:rPr>
              <a:t>present</a:t>
            </a:r>
          </a:p>
        </p:txBody>
      </p:sp>
      <p:sp>
        <p:nvSpPr>
          <p:cNvPr id="95" name="body:94"/>
          <p:cNvSpPr txBox="1"/>
          <p:nvPr/>
        </p:nvSpPr>
        <p:spPr>
          <a:xfrm>
            <a:off x="566928" y="5212080"/>
            <a:ext cx="11055096" cy="384048"/>
          </a:xfrm>
          <a:prstGeom prst="rect">
            <a:avLst/>
          </a:prstGeom>
          <a:noFill/>
        </p:spPr>
        <p:txBody>
          <a:bodyPr wrap="square" lIns="22860" rIns="22860" tIns="22860" bIns="22860" anchor="ctr">
            <a:spAutoFit/>
          </a:bodyPr>
          <a:lstStyle/>
          <a:p>
            <a:pPr algn="l">
              <a:lnSpc>
                <a:spcPct val="105000"/>
              </a:lnSpc>
            </a:pPr>
            <a:r>
              <a:rPr sz="1150" b="0">
                <a:solidFill>
                  <a:srgbClr val="5F6E80"/>
                </a:solidFill>
                <a:latin typeface="Arial"/>
              </a:rPr>
              <a:t>present = coded as present; partial = partly supported; absent = coded absent; unknown = insufficient evidence.</a:t>
            </a:r>
          </a:p>
          <a:p>
            <a:pPr algn="l">
              <a:lnSpc>
                <a:spcPct val="105000"/>
              </a:lnSpc>
            </a:pPr>
            <a:r>
              <a:rPr sz="1150" b="0">
                <a:solidFill>
                  <a:srgbClr val="5F6E80"/>
                </a:solidFill>
                <a:latin typeface="Arial"/>
              </a:rPr>
              <a:t>Medicare M4 records no in-run interruption and late notification; it does not establish that an in-run alert fired.</a:t>
            </a:r>
          </a:p>
        </p:txBody>
      </p:sp>
      <p:sp>
        <p:nvSpPr>
          <p:cNvPr id="96" name="Rounded Rectangle 95"/>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body:96"/>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400" b="1">
                <a:solidFill>
                  <a:srgbClr val="FFFFFF"/>
                </a:solidFill>
                <a:latin typeface="Arial"/>
              </a:rPr>
              <a:t>Medicare: M1, M2, M4, M6 present; M3 absent; M5 partial. These are draft assessments of failure mechanisms.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abel:2"/>
          <p:cNvSpPr txBox="1"/>
          <p:nvPr/>
        </p:nvSpPr>
        <p:spPr>
          <a:xfrm>
            <a:off x="566928" y="365760"/>
            <a:ext cx="10058400" cy="420624"/>
          </a:xfrm>
          <a:prstGeom prst="rect">
            <a:avLst/>
          </a:prstGeom>
          <a:noFill/>
        </p:spPr>
        <p:txBody>
          <a:bodyPr wrap="square" lIns="22860" rIns="22860" tIns="22860" bIns="22860" anchor="ctr">
            <a:spAutoFit/>
          </a:bodyPr>
          <a:lstStyle/>
          <a:p>
            <a:pPr algn="l">
              <a:lnSpc>
                <a:spcPct val="108000"/>
              </a:lnSpc>
            </a:pPr>
            <a:r>
              <a:rPr sz="1100" b="1">
                <a:solidFill>
                  <a:srgbClr val="1E7A72"/>
                </a:solidFill>
                <a:latin typeface="Arial"/>
              </a:rPr>
              <a:t>APPENDIX B / DESIGN PROPOSITION CODEBOOK</a:t>
            </a:r>
          </a:p>
        </p:txBody>
      </p:sp>
      <p:sp>
        <p:nvSpPr>
          <p:cNvPr id="4" name="title:3"/>
          <p:cNvSpPr txBox="1"/>
          <p:nvPr/>
        </p:nvSpPr>
        <p:spPr>
          <a:xfrm>
            <a:off x="566928" y="786384"/>
            <a:ext cx="11055096" cy="804672"/>
          </a:xfrm>
          <a:prstGeom prst="rect">
            <a:avLst/>
          </a:prstGeom>
          <a:noFill/>
        </p:spPr>
        <p:txBody>
          <a:bodyPr wrap="square" lIns="22860" rIns="22860" tIns="22860" bIns="22860" anchor="ctr">
            <a:spAutoFit/>
          </a:bodyPr>
          <a:lstStyle/>
          <a:p>
            <a:pPr algn="l">
              <a:lnSpc>
                <a:spcPct val="105000"/>
              </a:lnSpc>
            </a:pPr>
            <a:r>
              <a:rPr sz="2600" b="1">
                <a:solidFill>
                  <a:srgbClr val="172D46"/>
                </a:solidFill>
                <a:latin typeface="Arial"/>
              </a:rPr>
              <a:t>P1-P9: which design principle does the case test?</a:t>
            </a:r>
          </a:p>
        </p:txBody>
      </p:sp>
      <p:sp>
        <p:nvSpPr>
          <p:cNvPr id="5" name="Rectangle 4"/>
          <p:cNvSpPr/>
          <p:nvPr/>
        </p:nvSpPr>
        <p:spPr>
          <a:xfrm>
            <a:off x="566928" y="1609344"/>
            <a:ext cx="868680" cy="45720"/>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btitle:5"/>
          <p:cNvSpPr txBox="1"/>
          <p:nvPr/>
        </p:nvSpPr>
        <p:spPr>
          <a:xfrm>
            <a:off x="585216" y="1682496"/>
            <a:ext cx="11055096" cy="457200"/>
          </a:xfrm>
          <a:prstGeom prst="rect">
            <a:avLst/>
          </a:prstGeom>
          <a:noFill/>
        </p:spPr>
        <p:txBody>
          <a:bodyPr wrap="square" lIns="22860" rIns="22860" tIns="22860" bIns="22860" anchor="ctr">
            <a:spAutoFit/>
          </a:bodyPr>
          <a:lstStyle/>
          <a:p>
            <a:pPr algn="l">
              <a:lnSpc>
                <a:spcPct val="105000"/>
              </a:lnSpc>
            </a:pPr>
            <a:r>
              <a:rPr sz="1400" b="0">
                <a:solidFill>
                  <a:srgbClr val="5F6E80"/>
                </a:solidFill>
                <a:latin typeface="Arial"/>
              </a:rPr>
              <a:t>P = proposition: a design principle assessed against the case. The number identifies a principle; the status is a draft analyst judgment.</a:t>
            </a:r>
          </a:p>
        </p:txBody>
      </p:sp>
      <p:sp>
        <p:nvSpPr>
          <p:cNvPr id="7" name="source:6"/>
          <p:cNvSpPr txBox="1"/>
          <p:nvPr/>
        </p:nvSpPr>
        <p:spPr>
          <a:xfrm>
            <a:off x="566928" y="6400800"/>
            <a:ext cx="1033272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rPr>
              <a:t> </a:t>
            </a:r>
          </a:p>
        </p:txBody>
      </p:sp>
      <p:sp>
        <p:nvSpPr>
          <p:cNvPr id="8" name="source:7"/>
          <p:cNvSpPr txBox="1"/>
          <p:nvPr/>
        </p:nvSpPr>
        <p:spPr>
          <a:xfrm>
            <a:off x="10927080" y="6364224"/>
            <a:ext cx="694944" cy="265176"/>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26 / 26</a:t>
            </a:r>
          </a:p>
        </p:txBody>
      </p:sp>
      <p:sp>
        <p:nvSpPr>
          <p:cNvPr id="9" name="Rectangle 8"/>
          <p:cNvSpPr/>
          <p:nvPr/>
        </p:nvSpPr>
        <p:spPr>
          <a:xfrm>
            <a:off x="56692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88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08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779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7474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170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865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560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8256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951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647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6342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9038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4429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71244"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9819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25153"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2108"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79062"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06017"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32971"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9926"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6880"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813835"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240789" y="6711696"/>
            <a:ext cx="381234" cy="50292"/>
          </a:xfrm>
          <a:prstGeom prst="rect">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04120" y="365760"/>
            <a:ext cx="1517904" cy="274320"/>
          </a:xfrm>
          <a:prstGeom prst="roundRect">
            <a:avLst>
              <a:gd name="adj" fmla="val 5000"/>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abel:35"/>
          <p:cNvSpPr txBox="1"/>
          <p:nvPr/>
        </p:nvSpPr>
        <p:spPr>
          <a:xfrm>
            <a:off x="10158984" y="365760"/>
            <a:ext cx="1408176" cy="274320"/>
          </a:xfrm>
          <a:prstGeom prst="rect">
            <a:avLst/>
          </a:prstGeom>
          <a:noFill/>
        </p:spPr>
        <p:txBody>
          <a:bodyPr wrap="square" lIns="22860" rIns="22860" tIns="22860" bIns="22860" anchor="ctr">
            <a:spAutoFit/>
          </a:bodyPr>
          <a:lstStyle/>
          <a:p>
            <a:pPr algn="ctr">
              <a:lnSpc>
                <a:spcPct val="108000"/>
              </a:lnSpc>
            </a:pPr>
            <a:r>
              <a:rPr sz="1000" b="1">
                <a:solidFill>
                  <a:srgbClr val="5F6E80"/>
                </a:solidFill>
                <a:latin typeface="Arial"/>
              </a:rPr>
              <a:t>CODEBOOK</a:t>
            </a:r>
          </a:p>
        </p:txBody>
      </p:sp>
      <p:sp>
        <p:nvSpPr>
          <p:cNvPr id="37" name="source:36"/>
          <p:cNvSpPr txBox="1"/>
          <p:nvPr/>
        </p:nvSpPr>
        <p:spPr>
          <a:xfrm>
            <a:off x="566928" y="6400800"/>
            <a:ext cx="219456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2"/>
              </a:rPr>
              <a:t>incidents/taxonomy.json</a:t>
            </a:r>
          </a:p>
        </p:txBody>
      </p:sp>
      <p:sp>
        <p:nvSpPr>
          <p:cNvPr id="38" name="source:37"/>
          <p:cNvSpPr txBox="1"/>
          <p:nvPr/>
        </p:nvSpPr>
        <p:spPr>
          <a:xfrm>
            <a:off x="2907792" y="6400800"/>
            <a:ext cx="3200400" cy="210312"/>
          </a:xfrm>
          <a:prstGeom prst="rect">
            <a:avLst/>
          </a:prstGeom>
          <a:noFill/>
        </p:spPr>
        <p:txBody>
          <a:bodyPr wrap="square" lIns="22860" rIns="22860" tIns="22860" bIns="22860" anchor="ctr">
            <a:spAutoFit/>
          </a:bodyPr>
          <a:lstStyle/>
          <a:p>
            <a:pPr algn="l">
              <a:lnSpc>
                <a:spcPct val="108000"/>
              </a:lnSpc>
            </a:pPr>
            <a:r>
              <a:rPr sz="900" b="0">
                <a:solidFill>
                  <a:srgbClr val="5F6E80"/>
                </a:solidFill>
                <a:latin typeface="Arial"/>
                <a:hlinkClick r:id="rId3"/>
              </a:rPr>
              <a:t>Medicare: draft coding, review pending</a:t>
            </a:r>
          </a:p>
        </p:txBody>
      </p:sp>
      <p:sp>
        <p:nvSpPr>
          <p:cNvPr id="39" name="Rectangle 38"/>
          <p:cNvSpPr/>
          <p:nvPr/>
        </p:nvSpPr>
        <p:spPr>
          <a:xfrm>
            <a:off x="566928" y="2157984"/>
            <a:ext cx="502920" cy="32004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ody:39"/>
          <p:cNvSpPr txBox="1"/>
          <p:nvPr/>
        </p:nvSpPr>
        <p:spPr>
          <a:xfrm>
            <a:off x="649224" y="2157984"/>
            <a:ext cx="338328" cy="320040"/>
          </a:xfrm>
          <a:prstGeom prst="rect">
            <a:avLst/>
          </a:prstGeom>
          <a:noFill/>
        </p:spPr>
        <p:txBody>
          <a:bodyPr wrap="square" lIns="22860" rIns="22860" tIns="22860" bIns="22860" anchor="ctr">
            <a:spAutoFit/>
          </a:bodyPr>
          <a:lstStyle/>
          <a:p>
            <a:pPr algn="l">
              <a:lnSpc>
                <a:spcPct val="100000"/>
              </a:lnSpc>
            </a:pPr>
            <a:r>
              <a:rPr sz="1050" b="1">
                <a:solidFill>
                  <a:srgbClr val="FFFFFF"/>
                </a:solidFill>
                <a:latin typeface="Arial"/>
              </a:rPr>
              <a:t>ID</a:t>
            </a:r>
          </a:p>
        </p:txBody>
      </p:sp>
      <p:sp>
        <p:nvSpPr>
          <p:cNvPr id="41" name="Rectangle 40"/>
          <p:cNvSpPr/>
          <p:nvPr/>
        </p:nvSpPr>
        <p:spPr>
          <a:xfrm>
            <a:off x="1069848" y="2157984"/>
            <a:ext cx="3703320" cy="32004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ody:41"/>
          <p:cNvSpPr txBox="1"/>
          <p:nvPr/>
        </p:nvSpPr>
        <p:spPr>
          <a:xfrm>
            <a:off x="1152144" y="2157984"/>
            <a:ext cx="3538727" cy="320040"/>
          </a:xfrm>
          <a:prstGeom prst="rect">
            <a:avLst/>
          </a:prstGeom>
          <a:noFill/>
        </p:spPr>
        <p:txBody>
          <a:bodyPr wrap="square" lIns="22860" rIns="22860" tIns="22860" bIns="22860" anchor="ctr">
            <a:spAutoFit/>
          </a:bodyPr>
          <a:lstStyle/>
          <a:p>
            <a:pPr algn="l">
              <a:lnSpc>
                <a:spcPct val="100000"/>
              </a:lnSpc>
            </a:pPr>
            <a:r>
              <a:rPr sz="1050" b="1">
                <a:solidFill>
                  <a:srgbClr val="FFFFFF"/>
                </a:solidFill>
                <a:latin typeface="Arial"/>
              </a:rPr>
              <a:t>Formal name</a:t>
            </a:r>
          </a:p>
        </p:txBody>
      </p:sp>
      <p:sp>
        <p:nvSpPr>
          <p:cNvPr id="43" name="Rectangle 42"/>
          <p:cNvSpPr/>
          <p:nvPr/>
        </p:nvSpPr>
        <p:spPr>
          <a:xfrm>
            <a:off x="4773168" y="2157984"/>
            <a:ext cx="5486400" cy="32004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ody:43"/>
          <p:cNvSpPr txBox="1"/>
          <p:nvPr/>
        </p:nvSpPr>
        <p:spPr>
          <a:xfrm>
            <a:off x="4855464" y="2157984"/>
            <a:ext cx="5321808" cy="320040"/>
          </a:xfrm>
          <a:prstGeom prst="rect">
            <a:avLst/>
          </a:prstGeom>
          <a:noFill/>
        </p:spPr>
        <p:txBody>
          <a:bodyPr wrap="square" lIns="22860" rIns="22860" tIns="22860" bIns="22860" anchor="ctr">
            <a:spAutoFit/>
          </a:bodyPr>
          <a:lstStyle/>
          <a:p>
            <a:pPr algn="l">
              <a:lnSpc>
                <a:spcPct val="100000"/>
              </a:lnSpc>
            </a:pPr>
            <a:r>
              <a:rPr sz="1050" b="1">
                <a:solidFill>
                  <a:srgbClr val="FFFFFF"/>
                </a:solidFill>
                <a:latin typeface="Arial"/>
              </a:rPr>
              <a:t>Plain-language reading</a:t>
            </a:r>
          </a:p>
        </p:txBody>
      </p:sp>
      <p:sp>
        <p:nvSpPr>
          <p:cNvPr id="45" name="Rectangle 44"/>
          <p:cNvSpPr/>
          <p:nvPr/>
        </p:nvSpPr>
        <p:spPr>
          <a:xfrm>
            <a:off x="10259567" y="2157984"/>
            <a:ext cx="1362456" cy="320040"/>
          </a:xfrm>
          <a:prstGeom prst="rect">
            <a:avLst/>
          </a:prstGeom>
          <a:solidFill>
            <a:srgbClr val="17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ody:45"/>
          <p:cNvSpPr txBox="1"/>
          <p:nvPr/>
        </p:nvSpPr>
        <p:spPr>
          <a:xfrm>
            <a:off x="10341863" y="2157984"/>
            <a:ext cx="1197864" cy="320040"/>
          </a:xfrm>
          <a:prstGeom prst="rect">
            <a:avLst/>
          </a:prstGeom>
          <a:noFill/>
        </p:spPr>
        <p:txBody>
          <a:bodyPr wrap="square" lIns="22860" rIns="22860" tIns="22860" bIns="22860" anchor="ctr">
            <a:spAutoFit/>
          </a:bodyPr>
          <a:lstStyle/>
          <a:p>
            <a:pPr algn="l">
              <a:lnSpc>
                <a:spcPct val="100000"/>
              </a:lnSpc>
            </a:pPr>
            <a:r>
              <a:rPr sz="1050" b="1">
                <a:solidFill>
                  <a:srgbClr val="FFFFFF"/>
                </a:solidFill>
                <a:latin typeface="Arial"/>
              </a:rPr>
              <a:t>Medicare</a:t>
            </a:r>
          </a:p>
        </p:txBody>
      </p:sp>
      <p:sp>
        <p:nvSpPr>
          <p:cNvPr id="47" name="Rectangle 46"/>
          <p:cNvSpPr/>
          <p:nvPr/>
        </p:nvSpPr>
        <p:spPr>
          <a:xfrm>
            <a:off x="566928" y="2478024"/>
            <a:ext cx="502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ody:47"/>
          <p:cNvSpPr txBox="1"/>
          <p:nvPr/>
        </p:nvSpPr>
        <p:spPr>
          <a:xfrm>
            <a:off x="649224" y="2478024"/>
            <a:ext cx="338328" cy="320040"/>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P1</a:t>
            </a:r>
          </a:p>
        </p:txBody>
      </p:sp>
      <p:sp>
        <p:nvSpPr>
          <p:cNvPr id="49" name="Rectangle 48"/>
          <p:cNvSpPr/>
          <p:nvPr/>
        </p:nvSpPr>
        <p:spPr>
          <a:xfrm>
            <a:off x="1069848" y="2478024"/>
            <a:ext cx="37033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ody:49"/>
          <p:cNvSpPr txBox="1"/>
          <p:nvPr/>
        </p:nvSpPr>
        <p:spPr>
          <a:xfrm>
            <a:off x="1152144" y="2478024"/>
            <a:ext cx="3538727"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Containment is a system invariant</a:t>
            </a:r>
          </a:p>
        </p:txBody>
      </p:sp>
      <p:sp>
        <p:nvSpPr>
          <p:cNvPr id="51" name="Rectangle 50"/>
          <p:cNvSpPr/>
          <p:nvPr/>
        </p:nvSpPr>
        <p:spPr>
          <a:xfrm>
            <a:off x="4773168" y="2478024"/>
            <a:ext cx="54864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ody:51"/>
          <p:cNvSpPr txBox="1"/>
          <p:nvPr/>
        </p:nvSpPr>
        <p:spPr>
          <a:xfrm>
            <a:off x="4855464" y="2478024"/>
            <a:ext cx="5321808"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Maintain the boundary across every tool, service and action in the system.</a:t>
            </a:r>
          </a:p>
        </p:txBody>
      </p:sp>
      <p:sp>
        <p:nvSpPr>
          <p:cNvPr id="53" name="Rectangle 52"/>
          <p:cNvSpPr/>
          <p:nvPr/>
        </p:nvSpPr>
        <p:spPr>
          <a:xfrm>
            <a:off x="10259567" y="2478024"/>
            <a:ext cx="1362456"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ody:53"/>
          <p:cNvSpPr txBox="1"/>
          <p:nvPr/>
        </p:nvSpPr>
        <p:spPr>
          <a:xfrm>
            <a:off x="10341863" y="2478024"/>
            <a:ext cx="1197864"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violated</a:t>
            </a:r>
          </a:p>
        </p:txBody>
      </p:sp>
      <p:sp>
        <p:nvSpPr>
          <p:cNvPr id="55" name="Rectangle 54"/>
          <p:cNvSpPr/>
          <p:nvPr/>
        </p:nvSpPr>
        <p:spPr>
          <a:xfrm>
            <a:off x="566928" y="2798064"/>
            <a:ext cx="502920" cy="32004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ody:55"/>
          <p:cNvSpPr txBox="1"/>
          <p:nvPr/>
        </p:nvSpPr>
        <p:spPr>
          <a:xfrm>
            <a:off x="649224" y="2798064"/>
            <a:ext cx="338328" cy="320040"/>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P2</a:t>
            </a:r>
          </a:p>
        </p:txBody>
      </p:sp>
      <p:sp>
        <p:nvSpPr>
          <p:cNvPr id="57" name="Rectangle 56"/>
          <p:cNvSpPr/>
          <p:nvPr/>
        </p:nvSpPr>
        <p:spPr>
          <a:xfrm>
            <a:off x="1069848" y="2798064"/>
            <a:ext cx="3703320" cy="32004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ody:57"/>
          <p:cNvSpPr txBox="1"/>
          <p:nvPr/>
        </p:nvSpPr>
        <p:spPr>
          <a:xfrm>
            <a:off x="1152144" y="2798064"/>
            <a:ext cx="3538727"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Environment claims require measurement</a:t>
            </a:r>
          </a:p>
        </p:txBody>
      </p:sp>
      <p:sp>
        <p:nvSpPr>
          <p:cNvPr id="59" name="Rectangle 58"/>
          <p:cNvSpPr/>
          <p:nvPr/>
        </p:nvSpPr>
        <p:spPr>
          <a:xfrm>
            <a:off x="4773168" y="2798064"/>
            <a:ext cx="5486400" cy="32004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ody:59"/>
          <p:cNvSpPr txBox="1"/>
          <p:nvPr/>
        </p:nvSpPr>
        <p:spPr>
          <a:xfrm>
            <a:off x="4855464" y="2798064"/>
            <a:ext cx="5321808"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Measure isolation and reachability before trusting a claim such as "simulated".</a:t>
            </a:r>
          </a:p>
        </p:txBody>
      </p:sp>
      <p:sp>
        <p:nvSpPr>
          <p:cNvPr id="61" name="Rectangle 60"/>
          <p:cNvSpPr/>
          <p:nvPr/>
        </p:nvSpPr>
        <p:spPr>
          <a:xfrm>
            <a:off x="10259567" y="2798064"/>
            <a:ext cx="1362456" cy="32004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ody:61"/>
          <p:cNvSpPr txBox="1"/>
          <p:nvPr/>
        </p:nvSpPr>
        <p:spPr>
          <a:xfrm>
            <a:off x="10341863" y="2798064"/>
            <a:ext cx="1197864"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violated</a:t>
            </a:r>
          </a:p>
        </p:txBody>
      </p:sp>
      <p:sp>
        <p:nvSpPr>
          <p:cNvPr id="63" name="Rectangle 62"/>
          <p:cNvSpPr/>
          <p:nvPr/>
        </p:nvSpPr>
        <p:spPr>
          <a:xfrm>
            <a:off x="566928" y="3118104"/>
            <a:ext cx="502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ody:63"/>
          <p:cNvSpPr txBox="1"/>
          <p:nvPr/>
        </p:nvSpPr>
        <p:spPr>
          <a:xfrm>
            <a:off x="649224" y="3118104"/>
            <a:ext cx="338328" cy="320040"/>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P3</a:t>
            </a:r>
          </a:p>
        </p:txBody>
      </p:sp>
      <p:sp>
        <p:nvSpPr>
          <p:cNvPr id="65" name="Rectangle 64"/>
          <p:cNvSpPr/>
          <p:nvPr/>
        </p:nvSpPr>
        <p:spPr>
          <a:xfrm>
            <a:off x="1069848" y="3118104"/>
            <a:ext cx="37033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ody:65"/>
          <p:cNvSpPr txBox="1"/>
          <p:nvPr/>
        </p:nvSpPr>
        <p:spPr>
          <a:xfrm>
            <a:off x="1152144" y="3118104"/>
            <a:ext cx="3538727"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Authorization must survive configuration failure</a:t>
            </a:r>
          </a:p>
        </p:txBody>
      </p:sp>
      <p:sp>
        <p:nvSpPr>
          <p:cNvPr id="67" name="Rectangle 66"/>
          <p:cNvSpPr/>
          <p:nvPr/>
        </p:nvSpPr>
        <p:spPr>
          <a:xfrm>
            <a:off x="4773168" y="3118104"/>
            <a:ext cx="54864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ody:67"/>
          <p:cNvSpPr txBox="1"/>
          <p:nvPr/>
        </p:nvSpPr>
        <p:spPr>
          <a:xfrm>
            <a:off x="4855464" y="3118104"/>
            <a:ext cx="5321808"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Keep authorization binding even when a technical restriction fails.</a:t>
            </a:r>
          </a:p>
        </p:txBody>
      </p:sp>
      <p:sp>
        <p:nvSpPr>
          <p:cNvPr id="69" name="Rectangle 68"/>
          <p:cNvSpPr/>
          <p:nvPr/>
        </p:nvSpPr>
        <p:spPr>
          <a:xfrm>
            <a:off x="10259567" y="3118104"/>
            <a:ext cx="1362456"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ody:69"/>
          <p:cNvSpPr txBox="1"/>
          <p:nvPr/>
        </p:nvSpPr>
        <p:spPr>
          <a:xfrm>
            <a:off x="10341863" y="3118104"/>
            <a:ext cx="1197864"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violated</a:t>
            </a:r>
          </a:p>
        </p:txBody>
      </p:sp>
      <p:sp>
        <p:nvSpPr>
          <p:cNvPr id="71" name="Rectangle 70"/>
          <p:cNvSpPr/>
          <p:nvPr/>
        </p:nvSpPr>
        <p:spPr>
          <a:xfrm>
            <a:off x="566928" y="3438144"/>
            <a:ext cx="502920" cy="32004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ody:71"/>
          <p:cNvSpPr txBox="1"/>
          <p:nvPr/>
        </p:nvSpPr>
        <p:spPr>
          <a:xfrm>
            <a:off x="649224" y="3438144"/>
            <a:ext cx="338328" cy="320040"/>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P4</a:t>
            </a:r>
          </a:p>
        </p:txBody>
      </p:sp>
      <p:sp>
        <p:nvSpPr>
          <p:cNvPr id="73" name="Rectangle 72"/>
          <p:cNvSpPr/>
          <p:nvPr/>
        </p:nvSpPr>
        <p:spPr>
          <a:xfrm>
            <a:off x="1069848" y="3438144"/>
            <a:ext cx="3703320" cy="32004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ody:73"/>
          <p:cNvSpPr txBox="1"/>
          <p:nvPr/>
        </p:nvSpPr>
        <p:spPr>
          <a:xfrm>
            <a:off x="1152144" y="3438144"/>
            <a:ext cx="3538727"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Impossible tasks are security inputs</a:t>
            </a:r>
          </a:p>
        </p:txBody>
      </p:sp>
      <p:sp>
        <p:nvSpPr>
          <p:cNvPr id="75" name="Rectangle 74"/>
          <p:cNvSpPr/>
          <p:nvPr/>
        </p:nvSpPr>
        <p:spPr>
          <a:xfrm>
            <a:off x="4773168" y="3438144"/>
            <a:ext cx="5486400" cy="32004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ody:75"/>
          <p:cNvSpPr txBox="1"/>
          <p:nvPr/>
        </p:nvSpPr>
        <p:spPr>
          <a:xfrm>
            <a:off x="4855464" y="3438144"/>
            <a:ext cx="5321808"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Treat blocked or impossible goals as security-relevant inputs; provide safe exits.</a:t>
            </a:r>
          </a:p>
        </p:txBody>
      </p:sp>
      <p:sp>
        <p:nvSpPr>
          <p:cNvPr id="77" name="Rectangle 76"/>
          <p:cNvSpPr/>
          <p:nvPr/>
        </p:nvSpPr>
        <p:spPr>
          <a:xfrm>
            <a:off x="10259567" y="3438144"/>
            <a:ext cx="1362456" cy="32004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ody:77"/>
          <p:cNvSpPr txBox="1"/>
          <p:nvPr/>
        </p:nvSpPr>
        <p:spPr>
          <a:xfrm>
            <a:off x="10341863" y="3438144"/>
            <a:ext cx="1197864"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violated</a:t>
            </a:r>
          </a:p>
        </p:txBody>
      </p:sp>
      <p:sp>
        <p:nvSpPr>
          <p:cNvPr id="79" name="Rectangle 78"/>
          <p:cNvSpPr/>
          <p:nvPr/>
        </p:nvSpPr>
        <p:spPr>
          <a:xfrm>
            <a:off x="566928" y="3758184"/>
            <a:ext cx="502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ody:79"/>
          <p:cNvSpPr txBox="1"/>
          <p:nvPr/>
        </p:nvSpPr>
        <p:spPr>
          <a:xfrm>
            <a:off x="649224" y="3758184"/>
            <a:ext cx="338328" cy="320040"/>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P5</a:t>
            </a:r>
          </a:p>
        </p:txBody>
      </p:sp>
      <p:sp>
        <p:nvSpPr>
          <p:cNvPr id="81" name="Rectangle 80"/>
          <p:cNvSpPr/>
          <p:nvPr/>
        </p:nvSpPr>
        <p:spPr>
          <a:xfrm>
            <a:off x="1069848" y="3758184"/>
            <a:ext cx="37033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body:81"/>
          <p:cNvSpPr txBox="1"/>
          <p:nvPr/>
        </p:nvSpPr>
        <p:spPr>
          <a:xfrm>
            <a:off x="1152144" y="3758184"/>
            <a:ext cx="3538727"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Shared state changes the threat model</a:t>
            </a:r>
          </a:p>
        </p:txBody>
      </p:sp>
      <p:sp>
        <p:nvSpPr>
          <p:cNvPr id="83" name="Rectangle 82"/>
          <p:cNvSpPr/>
          <p:nvPr/>
        </p:nvSpPr>
        <p:spPr>
          <a:xfrm>
            <a:off x="4773168" y="3758184"/>
            <a:ext cx="54864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body:83"/>
          <p:cNvSpPr txBox="1"/>
          <p:nvPr/>
        </p:nvSpPr>
        <p:spPr>
          <a:xfrm>
            <a:off x="4855464" y="3758184"/>
            <a:ext cx="5321808"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Account for communication and coordination through shared files or services.</a:t>
            </a:r>
          </a:p>
        </p:txBody>
      </p:sp>
      <p:sp>
        <p:nvSpPr>
          <p:cNvPr id="85" name="Rectangle 84"/>
          <p:cNvSpPr/>
          <p:nvPr/>
        </p:nvSpPr>
        <p:spPr>
          <a:xfrm>
            <a:off x="10259567" y="3758184"/>
            <a:ext cx="1362456"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body:85"/>
          <p:cNvSpPr txBox="1"/>
          <p:nvPr/>
        </p:nvSpPr>
        <p:spPr>
          <a:xfrm>
            <a:off x="10341863" y="3758184"/>
            <a:ext cx="1197864"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n/a</a:t>
            </a:r>
          </a:p>
        </p:txBody>
      </p:sp>
      <p:sp>
        <p:nvSpPr>
          <p:cNvPr id="87" name="Rectangle 86"/>
          <p:cNvSpPr/>
          <p:nvPr/>
        </p:nvSpPr>
        <p:spPr>
          <a:xfrm>
            <a:off x="566928" y="4078224"/>
            <a:ext cx="502920" cy="32004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body:87"/>
          <p:cNvSpPr txBox="1"/>
          <p:nvPr/>
        </p:nvSpPr>
        <p:spPr>
          <a:xfrm>
            <a:off x="649224" y="4078224"/>
            <a:ext cx="338328" cy="320040"/>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P6</a:t>
            </a:r>
          </a:p>
        </p:txBody>
      </p:sp>
      <p:sp>
        <p:nvSpPr>
          <p:cNvPr id="89" name="Rectangle 88"/>
          <p:cNvSpPr/>
          <p:nvPr/>
        </p:nvSpPr>
        <p:spPr>
          <a:xfrm>
            <a:off x="1069848" y="4078224"/>
            <a:ext cx="3703320" cy="32004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body:89"/>
          <p:cNvSpPr txBox="1"/>
          <p:nvPr/>
        </p:nvSpPr>
        <p:spPr>
          <a:xfrm>
            <a:off x="1152144" y="4078224"/>
            <a:ext cx="3538727"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Effects matter more than stated intent</a:t>
            </a:r>
          </a:p>
        </p:txBody>
      </p:sp>
      <p:sp>
        <p:nvSpPr>
          <p:cNvPr id="91" name="Rectangle 90"/>
          <p:cNvSpPr/>
          <p:nvPr/>
        </p:nvSpPr>
        <p:spPr>
          <a:xfrm>
            <a:off x="4773168" y="4078224"/>
            <a:ext cx="5486400" cy="32004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body:91"/>
          <p:cNvSpPr txBox="1"/>
          <p:nvPr/>
        </p:nvSpPr>
        <p:spPr>
          <a:xfrm>
            <a:off x="4855464" y="4078224"/>
            <a:ext cx="5321808"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Assess actual access, writes and transfers, regardless of the stated intent.</a:t>
            </a:r>
          </a:p>
        </p:txBody>
      </p:sp>
      <p:sp>
        <p:nvSpPr>
          <p:cNvPr id="93" name="Rectangle 92"/>
          <p:cNvSpPr/>
          <p:nvPr/>
        </p:nvSpPr>
        <p:spPr>
          <a:xfrm>
            <a:off x="10259567" y="4078224"/>
            <a:ext cx="1362456" cy="32004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body:93"/>
          <p:cNvSpPr txBox="1"/>
          <p:nvPr/>
        </p:nvSpPr>
        <p:spPr>
          <a:xfrm>
            <a:off x="10341863" y="4078224"/>
            <a:ext cx="1197864"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violated</a:t>
            </a:r>
          </a:p>
        </p:txBody>
      </p:sp>
      <p:sp>
        <p:nvSpPr>
          <p:cNvPr id="95" name="Rectangle 94"/>
          <p:cNvSpPr/>
          <p:nvPr/>
        </p:nvSpPr>
        <p:spPr>
          <a:xfrm>
            <a:off x="566928" y="4398264"/>
            <a:ext cx="502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body:95"/>
          <p:cNvSpPr txBox="1"/>
          <p:nvPr/>
        </p:nvSpPr>
        <p:spPr>
          <a:xfrm>
            <a:off x="649224" y="4398264"/>
            <a:ext cx="338328" cy="320040"/>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P7</a:t>
            </a:r>
          </a:p>
        </p:txBody>
      </p:sp>
      <p:sp>
        <p:nvSpPr>
          <p:cNvPr id="97" name="Rectangle 96"/>
          <p:cNvSpPr/>
          <p:nvPr/>
        </p:nvSpPr>
        <p:spPr>
          <a:xfrm>
            <a:off x="1069848" y="4398264"/>
            <a:ext cx="37033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body:97"/>
          <p:cNvSpPr txBox="1"/>
          <p:nvPr/>
        </p:nvSpPr>
        <p:spPr>
          <a:xfrm>
            <a:off x="1152144" y="4398264"/>
            <a:ext cx="3538727"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Audit completeness must be demonstrated</a:t>
            </a:r>
          </a:p>
        </p:txBody>
      </p:sp>
      <p:sp>
        <p:nvSpPr>
          <p:cNvPr id="99" name="Rectangle 98"/>
          <p:cNvSpPr/>
          <p:nvPr/>
        </p:nvSpPr>
        <p:spPr>
          <a:xfrm>
            <a:off x="4773168" y="4398264"/>
            <a:ext cx="54864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body:99"/>
          <p:cNvSpPr txBox="1"/>
          <p:nvPr/>
        </p:nvSpPr>
        <p:spPr>
          <a:xfrm>
            <a:off x="4855464" y="4398264"/>
            <a:ext cx="5321808"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Show that the audit covers relevant runs, actions and effects.</a:t>
            </a:r>
          </a:p>
        </p:txBody>
      </p:sp>
      <p:sp>
        <p:nvSpPr>
          <p:cNvPr id="101" name="Rectangle 100"/>
          <p:cNvSpPr/>
          <p:nvPr/>
        </p:nvSpPr>
        <p:spPr>
          <a:xfrm>
            <a:off x="10259567" y="4398264"/>
            <a:ext cx="1362456"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body:101"/>
          <p:cNvSpPr txBox="1"/>
          <p:nvPr/>
        </p:nvSpPr>
        <p:spPr>
          <a:xfrm>
            <a:off x="10341863" y="4398264"/>
            <a:ext cx="1197864"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mixed</a:t>
            </a:r>
          </a:p>
        </p:txBody>
      </p:sp>
      <p:sp>
        <p:nvSpPr>
          <p:cNvPr id="103" name="Rectangle 102"/>
          <p:cNvSpPr/>
          <p:nvPr/>
        </p:nvSpPr>
        <p:spPr>
          <a:xfrm>
            <a:off x="566928" y="4718303"/>
            <a:ext cx="502920" cy="32004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body:103"/>
          <p:cNvSpPr txBox="1"/>
          <p:nvPr/>
        </p:nvSpPr>
        <p:spPr>
          <a:xfrm>
            <a:off x="649224" y="4718303"/>
            <a:ext cx="338328" cy="320040"/>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P8</a:t>
            </a:r>
          </a:p>
        </p:txBody>
      </p:sp>
      <p:sp>
        <p:nvSpPr>
          <p:cNvPr id="105" name="Rectangle 104"/>
          <p:cNvSpPr/>
          <p:nvPr/>
        </p:nvSpPr>
        <p:spPr>
          <a:xfrm>
            <a:off x="1069848" y="4718303"/>
            <a:ext cx="3703320" cy="32004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body:105"/>
          <p:cNvSpPr txBox="1"/>
          <p:nvPr/>
        </p:nvSpPr>
        <p:spPr>
          <a:xfrm>
            <a:off x="1152144" y="4718303"/>
            <a:ext cx="3538727"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Resumption requires causal evidence</a:t>
            </a:r>
          </a:p>
        </p:txBody>
      </p:sp>
      <p:sp>
        <p:nvSpPr>
          <p:cNvPr id="107" name="Rectangle 106"/>
          <p:cNvSpPr/>
          <p:nvPr/>
        </p:nvSpPr>
        <p:spPr>
          <a:xfrm>
            <a:off x="4773168" y="4718303"/>
            <a:ext cx="5486400" cy="32004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body:107"/>
          <p:cNvSpPr txBox="1"/>
          <p:nvPr/>
        </p:nvSpPr>
        <p:spPr>
          <a:xfrm>
            <a:off x="4855464" y="4718303"/>
            <a:ext cx="5321808"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Resume only with evidence that the cause is understood and addressed.</a:t>
            </a:r>
          </a:p>
        </p:txBody>
      </p:sp>
      <p:sp>
        <p:nvSpPr>
          <p:cNvPr id="109" name="Rectangle 108"/>
          <p:cNvSpPr/>
          <p:nvPr/>
        </p:nvSpPr>
        <p:spPr>
          <a:xfrm>
            <a:off x="10259567" y="4718303"/>
            <a:ext cx="1362456" cy="320040"/>
          </a:xfrm>
          <a:prstGeom prst="rect">
            <a:avLst/>
          </a:prstGeom>
          <a:solidFill>
            <a:srgbClr val="E8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body:109"/>
          <p:cNvSpPr txBox="1"/>
          <p:nvPr/>
        </p:nvSpPr>
        <p:spPr>
          <a:xfrm>
            <a:off x="10341863" y="4718303"/>
            <a:ext cx="1197864"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n/a</a:t>
            </a:r>
          </a:p>
        </p:txBody>
      </p:sp>
      <p:sp>
        <p:nvSpPr>
          <p:cNvPr id="111" name="Rectangle 110"/>
          <p:cNvSpPr/>
          <p:nvPr/>
        </p:nvSpPr>
        <p:spPr>
          <a:xfrm>
            <a:off x="566928" y="5038343"/>
            <a:ext cx="502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body:111"/>
          <p:cNvSpPr txBox="1"/>
          <p:nvPr/>
        </p:nvSpPr>
        <p:spPr>
          <a:xfrm>
            <a:off x="649224" y="5038343"/>
            <a:ext cx="338328" cy="320040"/>
          </a:xfrm>
          <a:prstGeom prst="rect">
            <a:avLst/>
          </a:prstGeom>
          <a:noFill/>
        </p:spPr>
        <p:txBody>
          <a:bodyPr wrap="square" lIns="22860" rIns="22860" tIns="22860" bIns="22860" anchor="ctr">
            <a:spAutoFit/>
          </a:bodyPr>
          <a:lstStyle/>
          <a:p>
            <a:pPr algn="l">
              <a:lnSpc>
                <a:spcPct val="100000"/>
              </a:lnSpc>
            </a:pPr>
            <a:r>
              <a:rPr sz="1050" b="1">
                <a:solidFill>
                  <a:srgbClr val="22313F"/>
                </a:solidFill>
                <a:latin typeface="Arial"/>
              </a:rPr>
              <a:t>P9</a:t>
            </a:r>
          </a:p>
        </p:txBody>
      </p:sp>
      <p:sp>
        <p:nvSpPr>
          <p:cNvPr id="113" name="Rectangle 112"/>
          <p:cNvSpPr/>
          <p:nvPr/>
        </p:nvSpPr>
        <p:spPr>
          <a:xfrm>
            <a:off x="1069848" y="5038343"/>
            <a:ext cx="37033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body:113"/>
          <p:cNvSpPr txBox="1"/>
          <p:nvPr/>
        </p:nvSpPr>
        <p:spPr>
          <a:xfrm>
            <a:off x="1152144" y="5038343"/>
            <a:ext cx="3538727"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No consequential autonomy without human accountability</a:t>
            </a:r>
          </a:p>
        </p:txBody>
      </p:sp>
      <p:sp>
        <p:nvSpPr>
          <p:cNvPr id="115" name="Rectangle 114"/>
          <p:cNvSpPr/>
          <p:nvPr/>
        </p:nvSpPr>
        <p:spPr>
          <a:xfrm>
            <a:off x="4773168" y="5038343"/>
            <a:ext cx="54864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body:115"/>
          <p:cNvSpPr txBox="1"/>
          <p:nvPr/>
        </p:nvSpPr>
        <p:spPr>
          <a:xfrm>
            <a:off x="4855464" y="5038343"/>
            <a:ext cx="5321808"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Assign a human accountable for consequential autonomous actions.</a:t>
            </a:r>
          </a:p>
        </p:txBody>
      </p:sp>
      <p:sp>
        <p:nvSpPr>
          <p:cNvPr id="117" name="Rectangle 116"/>
          <p:cNvSpPr/>
          <p:nvPr/>
        </p:nvSpPr>
        <p:spPr>
          <a:xfrm>
            <a:off x="10259567" y="5038343"/>
            <a:ext cx="1362456"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body:117"/>
          <p:cNvSpPr txBox="1"/>
          <p:nvPr/>
        </p:nvSpPr>
        <p:spPr>
          <a:xfrm>
            <a:off x="10341863" y="5038343"/>
            <a:ext cx="1197864" cy="320040"/>
          </a:xfrm>
          <a:prstGeom prst="rect">
            <a:avLst/>
          </a:prstGeom>
          <a:noFill/>
        </p:spPr>
        <p:txBody>
          <a:bodyPr wrap="square" lIns="22860" rIns="22860" tIns="22860" bIns="22860" anchor="ctr">
            <a:spAutoFit/>
          </a:bodyPr>
          <a:lstStyle/>
          <a:p>
            <a:pPr algn="l">
              <a:lnSpc>
                <a:spcPct val="100000"/>
              </a:lnSpc>
            </a:pPr>
            <a:r>
              <a:rPr sz="1050" b="0">
                <a:solidFill>
                  <a:srgbClr val="22313F"/>
                </a:solidFill>
                <a:latin typeface="Arial"/>
              </a:rPr>
              <a:t>violated</a:t>
            </a:r>
          </a:p>
        </p:txBody>
      </p:sp>
      <p:sp>
        <p:nvSpPr>
          <p:cNvPr id="119" name="body:118"/>
          <p:cNvSpPr txBox="1"/>
          <p:nvPr/>
        </p:nvSpPr>
        <p:spPr>
          <a:xfrm>
            <a:off x="566928" y="5422392"/>
            <a:ext cx="11055096" cy="237744"/>
          </a:xfrm>
          <a:prstGeom prst="rect">
            <a:avLst/>
          </a:prstGeom>
          <a:noFill/>
        </p:spPr>
        <p:txBody>
          <a:bodyPr wrap="square" lIns="22860" rIns="22860" tIns="22860" bIns="22860" anchor="ctr">
            <a:spAutoFit/>
          </a:bodyPr>
          <a:lstStyle/>
          <a:p>
            <a:pPr algn="l">
              <a:lnSpc>
                <a:spcPct val="108000"/>
              </a:lnSpc>
            </a:pPr>
            <a:r>
              <a:rPr sz="1100" b="0">
                <a:solidFill>
                  <a:srgbClr val="5F6E80"/>
                </a:solidFill>
                <a:latin typeface="Arial"/>
              </a:rPr>
              <a:t>violated = not upheld; demonstrated = supported; mixed = mixed assessment; n/a = not applicable to this case.</a:t>
            </a:r>
          </a:p>
        </p:txBody>
      </p:sp>
      <p:sp>
        <p:nvSpPr>
          <p:cNvPr id="120" name="Rounded Rectangle 119"/>
          <p:cNvSpPr/>
          <p:nvPr/>
        </p:nvSpPr>
        <p:spPr>
          <a:xfrm>
            <a:off x="566928" y="5715000"/>
            <a:ext cx="11055096" cy="548640"/>
          </a:xfrm>
          <a:prstGeom prst="roundRect">
            <a:avLst>
              <a:gd name="adj" fmla="val 5000"/>
            </a:avLst>
          </a:prstGeom>
          <a:solidFill>
            <a:srgbClr val="1E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body:120"/>
          <p:cNvSpPr txBox="1"/>
          <p:nvPr/>
        </p:nvSpPr>
        <p:spPr>
          <a:xfrm>
            <a:off x="768096" y="5742432"/>
            <a:ext cx="10652760" cy="493776"/>
          </a:xfrm>
          <a:prstGeom prst="rect">
            <a:avLst/>
          </a:prstGeom>
          <a:noFill/>
        </p:spPr>
        <p:txBody>
          <a:bodyPr wrap="square" lIns="22860" rIns="22860" tIns="22860" bIns="22860" anchor="ctr">
            <a:spAutoFit/>
          </a:bodyPr>
          <a:lstStyle/>
          <a:p>
            <a:pPr algn="l">
              <a:lnSpc>
                <a:spcPct val="108000"/>
              </a:lnSpc>
            </a:pPr>
            <a:r>
              <a:rPr sz="1400" b="1">
                <a:solidFill>
                  <a:srgbClr val="FFFFFF"/>
                </a:solidFill>
                <a:latin typeface="Arial"/>
              </a:rPr>
              <a:t>Medicare: P1, P2, P3, P4, P6, P9 violated; P7 mixed; P5/P8 n/a. These labels are separate from the 4/6 signals.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the task fails: a decision theory of agent boundaries</dc:title>
  <dc:subject>Reported incidents, a constrained POMDP, two algorithms against prior methods, experiments, implications</dc:subject>
  <dc:creator>Jiawei Li</dc:creator>
  <cp:keywords>containment-extension; decision theory; authorization; research proposal</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