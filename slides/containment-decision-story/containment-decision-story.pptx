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prompt: a research agent gets an error while retrieving useful data; ask the audience what the next move should be. The talk treats containment-extension as a study of delegated action boundaries, not a claim to solve arbitrary sandbox escape. No hosted-model calls were made to build this deck; the planner and the selection procedure are proposals and have not been evaluated on LLM agents. The outline on the next slide gives the five parts and their slide ranges.</a:t>
            </a:r>
          </a:p>
          <a:p/>
          <a:p>
            <a:r>
              <a:t>Sources / 来源</a:t>
            </a:r>
          </a:p>
          <a:p>
            <a:r>
              <a:t>Project: From reported incidents to testable questions</a:t>
            </a:r>
          </a:p>
          <a:p>
            <a:r>
              <a:t>../../docs/trust4rsi-incident-to-experiment.md</a:t>
            </a:r>
          </a:p>
          <a:p>
            <a:r>
              <a:t>Project: public incident library, 26 records coded with the Raftari (2026) frame</a:t>
            </a:r>
          </a:p>
          <a:p>
            <a:r>
              <a:t>../../docs/incident-library-analysis.md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Roadmap for the five parts. Parts 01 and 05 are the real-world ends of the argument; 02 to 04 are the formal middle. Status chips on each slide distinguish REPORTED facts from public records, OBSERVED archived runs, EXACT TOY calculations, THEORY, and PROPOSED work. Slide ranges are checked at build time against the section kickers.</a:t>
            </a:r>
          </a:p>
          <a:p/>
          <a:p>
            <a:r>
              <a:t>Sources / 来源</a:t>
            </a:r>
          </a:p>
          <a:p>
            <a:r>
              <a:t>Project: From reported incidents to testable questions</a:t>
            </a:r>
          </a:p>
          <a:p>
            <a:r>
              <a:t>../../docs/trust4rsi-incident-to-experiment.md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Library counts are read from figures/incidents/analysis/summary.json at build time: n=26, live-access overreach 9, indicator f yes=9 unknown=13. Archived counts are recomputed from results/incident-study-v1/summary.json. These are analyst codings of public reports with a second reader still pending, and the archived runs come from one small service fixture. The framing follows the Trust4RSI paper plan: one decision point recurs across incidents, and the question is whether an explicit model of that decision yields better behaviour at retained utility.</a:t>
            </a:r>
          </a:p>
          <a:p/>
          <a:p>
            <a:r>
              <a:t>Sources / 来源</a:t>
            </a:r>
          </a:p>
          <a:p>
            <a:r>
              <a:t>Project: public incident library, 26 records coded with the Raftari (2026) frame</a:t>
            </a:r>
          </a:p>
          <a:p>
            <a:r>
              <a:t>../../docs/incident-library-analysis.md</a:t>
            </a:r>
          </a:p>
          <a:p>
            <a:r>
              <a:t>Project: 160-run incident study, completed 17 September 2026</a:t>
            </a:r>
          </a:p>
          <a:p>
            <a:r>
              <a:t>../../docs/incident-study-results.md</a:t>
            </a:r>
          </a:p>
          <a:p>
            <a:r>
              <a:t>Project: From reported incidents to testable questions</a:t>
            </a:r>
          </a:p>
          <a:p>
            <a:r>
              <a:t>../../docs/trust4rsi-incident-to-experiment.md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Latency figures are copied from the library summary; detection dates are known for only 12 entries, so the detection median is fragile. The point for the decision theory: labels arrive weeks to months after the action, so an online rule needs a model of the decision rather than observed incident rates, and an offline selection rule must work from replayable, instrumented cases. The stop-behaviour counts show that detection did not stop most incidents.</a:t>
            </a:r>
          </a:p>
          <a:p/>
          <a:p>
            <a:r>
              <a:t>Sources / 来源</a:t>
            </a:r>
          </a:p>
          <a:p>
            <a:r>
              <a:t>Project: public incident library, 26 records coded with the Raftari (2026) frame</a:t>
            </a:r>
          </a:p>
          <a:p>
            <a:r>
              <a:t>../../docs/incident-library-analysis.md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Chain and table fields are read from incidents/records/05-medicare.json: objective, the four coded actions, indicators, mechanisms and propositions. Facts come from the government press conference; the government states aggregate statistics only and no individual medical data accessed, and the forensic investigation was still open. We read this as: the failed search was evidence about feasibility, the agent treated it as licence to find another route, and no in-run signal stopped it. That is the decision point the formal model isolates: a belief update was mistaken for a grant update.</a:t>
            </a:r>
          </a:p>
          <a:p/>
          <a:p>
            <a:r>
              <a:t>Sources / 来源</a:t>
            </a:r>
          </a:p>
          <a:p>
            <a:r>
              <a:t>Australian Government briefing, 24 September 2026; incident in June</a:t>
            </a:r>
          </a:p>
          <a:p>
            <a:r>
              <a:t>https://ministers.finance.gov.au/financeminister/transcript/2026/09/24/press-conference-sydney</a:t>
            </a:r>
          </a:p>
          <a:p>
            <a:r>
              <a:t>Project: public incident library, 26 records coded with the Raftari (2026) frame</a:t>
            </a:r>
          </a:p>
          <a:p>
            <a:r>
              <a:t>../../docs/incident-library-analysis.md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Rows copy the public reports; stop labels come from the record files. The wallet report is outside the 26-record denominator. The decision-theoretic reading: in every row the belief that the allowed route works dropped to near zero, the substitute had high expected task value, and the only thing against it was the grant. Any planner whose objective is task value without an effect constraint prefers the substitute; that is why the formulation puts the grant in the action set rather than in the reward.</a:t>
            </a:r>
          </a:p>
          <a:p/>
          <a:p>
            <a:r>
              <a:t>Sources / 来源</a:t>
            </a:r>
          </a:p>
          <a:p>
            <a:r>
              <a:t>OpenAI, Unauthorized communication via temporary file hosting services, 16 September 2026; incident 14 April</a:t>
            </a:r>
          </a:p>
          <a:p>
            <a:r>
              <a:t>https://alignment.openai.com/misalignment-reports/unauthorized-communication-via-temporary-file-hosting-services/</a:t>
            </a:r>
          </a:p>
          <a:p>
            <a:r>
              <a:t>OpenAI, Using a funded test cryptocurrency wallet without authorization, 15 October 2026; incident 26 June</a:t>
            </a:r>
          </a:p>
          <a:p>
            <a:r>
              <a:t>https://alignment.openai.com/misalignment-reports/using-a-funded-test-cryptocurrency-wallet-without-authorization/</a:t>
            </a:r>
          </a:p>
          <a:p>
            <a:r>
              <a:t>Project: public incident library, 26 records coded with the Raftari (2026) frame</a:t>
            </a:r>
          </a:p>
          <a:p>
            <a:r>
              <a:t>../../docs/incident-library-analysis.md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of hosts and records are as reported by Anthropic and Google, not verified by us. These cases motivate the ambiguity result: the agent had two plausible grants (the target is in scope; it is not) and no prior over them. Maxmin and minimax-regret rules pick a reversible action, which here means a clarification. The experiment that tests this is X1b, where the grant is deliberately silent or self-contradictory.</a:t>
            </a:r>
          </a:p>
          <a:p/>
          <a:p>
            <a:r>
              <a:t>Sources / 来源</a:t>
            </a:r>
          </a:p>
          <a:p>
            <a:r>
              <a:t>Anthropic (9 September 2026), An alignment assessment of recent cybersecurity incidents</a:t>
            </a:r>
          </a:p>
          <a:p>
            <a:r>
              <a:t>https://www.anthropic.com/research/alignment-assessment-cybersecurity-incidents</a:t>
            </a:r>
          </a:p>
          <a:p>
            <a:r>
              <a:t>Project: public incident library, 26 records coded with the Raftari (2026) frame</a:t>
            </a:r>
          </a:p>
          <a:p>
            <a:r>
              <a:t>../../docs/incident-library-analysis.md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Bars are read from the library summary at build time. Co-occurrence: M1+M2 in 9 records and M2+M4 in 9. The three questions organise the rest of the deck. Q1 is optimal stopping with learning; Q2 is value of information plus a principal–agent twist, because a request can change the permitted set while a diagnostic cannot; Q3 is constrained policy selection from finite, delayed evidence. None of these is new; the claim is that stating them exactly yields testable behaviour.</a:t>
            </a:r>
          </a:p>
          <a:p/>
          <a:p>
            <a:r>
              <a:t>Sources / 来源</a:t>
            </a:r>
          </a:p>
          <a:p>
            <a:r>
              <a:t>Project: public incident library, 26 records coded with the Raftari (2026) frame</a:t>
            </a:r>
          </a:p>
          <a:p>
            <a:r>
              <a:t>../../docs/incident-library-analysis.md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Finite-horizon constrained POMDP. Hidden x_t includes route feasibility; g_t is the trusted, versioned authorization contract; k_t the remaining budget; h_t the history. Transition and observation kernels T and O; Bayesian filtering gives b′. A request can lead to a trusted grant update or denial with response probability q; q is not the probability that an ungranted action is secretly authorized. Reachability and tool success never update g. Missing scope is not filled by the agent: choose an already permitted alternative, request, or stop. In the closed fixture A(g) is exact and effect-based; open environments need validated effect prediction. Utility u is fixed in advance, including the value of justified termination. The action constraint is a specification; whether an LLM follows it is what the experiments measure. Constrained MDP background: Altman 1999; CPO is background for constrained optimization, not the algorithm used.</a:t>
            </a:r>
          </a:p>
          <a:p/>
          <a:p>
            <a:r>
              <a:t>Sources / 来源</a:t>
            </a:r>
          </a:p>
          <a:p>
            <a:r>
              <a:t>Kaelbling, Littman &amp; Cassandra (1998), Planning and Acting in Partially Observable Stochastic Domains</a:t>
            </a:r>
          </a:p>
          <a:p>
            <a:r>
              <a:t>https://cs.brown.edu/courses/csci2951-k/papers/kaelbling98.pdf</a:t>
            </a:r>
          </a:p>
          <a:p>
            <a:r>
              <a:t>Project: Incident-aware optimization of agent control policies</a:t>
            </a:r>
          </a:p>
          <a:p>
            <a:r>
              <a:t>../../docs/incident-aware-optimization.md</a:t>
            </a:r>
          </a:p>
          <a:p>
            <a:r>
              <a:t>Project: From reported incidents to testable questions</a:t>
            </a:r>
          </a:p>
          <a:p>
            <a:r>
              <a:t>../../docs/trust4rsi-incident-to-experiment.md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calculation: p0=0.7, q=0.5, R=10, B=2, c=1. Posterior sequence after failures: 0.700, 0.538, 0.368, 0.226, 0.127, 0.068. Threshold 0.250; the first posterior below it is p_3, so the agent attempts 3 times. One-step look-ahead is optimal here because the problem is monotone: a success ends the episode and every failure lowers p, so if stopping beats one more try now it beats it later (Ferguson, Optimal Stopping and Applications, ch. 5). Backward induction over a finite budget agrees, which the build validates. Calibrated q and risk neutrality are assumptions; an LLM confidence statement is not a calibrated posterior. The incident library records f in 9 of 26 and cannot tell for 13: reports rarely say whether the task was failing.</a:t>
            </a:r>
          </a:p>
          <a:p/>
          <a:p>
            <a:r>
              <a:t>Sources / 来源</a:t>
            </a:r>
          </a:p>
          <a:p>
            <a:r>
              <a:t>Ferguson, Optimal Stopping and Applications, ch. 5 (monotone case; one-step look-ahead)</a:t>
            </a:r>
          </a:p>
          <a:p>
            <a:r>
              <a:t>https://www.math.ucla.edu/~tom/Stopping/Contents.html</a:t>
            </a:r>
          </a:p>
          <a:p>
            <a:r>
              <a:t>Project: Next experiments, including X1b silent and conflicting grants</a:t>
            </a:r>
          </a:p>
          <a:p>
            <a:r>
              <a:t>../../docs/trust4rsi-next-experiments.md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toy calculation, not measured model performance. Hidden feasibility θ is Bernoulli(p). Direct authorized recovery yields +10 on success, 0 on failure, costs 2 either way: Q_recover = 10p − 2. A request costs d, obtains a valid grant with probability q = 0.6, then yields 10 if granted and 0 if denied; it includes obeying the reply. Recovery and request are terminal; stop pays 0. One permitted, non-mutating, perfect diagnostic costs 0.5 and leaves the commitment open: Q_probe = −0.5 + p·max(8, 6−d, 0) + (1−p)·max(−2, 6−d, 0). At p=.3, d=2 the optimum is to probe, recover if feasible, request if not: 4.7. Checks: p=.05,d=2 gives ASK; p=.95,d=2 gives RECOVER; p=.01,d=7 gives STOP. The chart evaluates these formulas on a grid; its boundaries are hypotheses for behaviour under this model. The off-switch game gives the same shape for deference: it has positive value exactly when the agent is uncertain.</a:t>
            </a:r>
          </a:p>
          <a:p/>
          <a:p>
            <a:r>
              <a:t>Sources / 来源</a:t>
            </a:r>
          </a:p>
          <a:p>
            <a:r>
              <a:t>Hay, Russell, Tolpin &amp; Shimony (2012), Selecting Computations: Theory and Applications</a:t>
            </a:r>
          </a:p>
          <a:p>
            <a:r>
              <a:t>https://arxiv.org/abs/1207.5879</a:t>
            </a:r>
          </a:p>
          <a:p>
            <a:r>
              <a:t>Hadfield-Menell et al. (2017), The Off-Switch Game</a:t>
            </a:r>
          </a:p>
          <a:p>
            <a:r>
              <a:t>https://arxiv.org/abs/1611.08219</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Toy payoffs: reading the archive pays +10 if allowed and −20 if it was excluded; asking pays +7 either way (delay cost); stopping pays +2. Maxmin picks "Ask first" and minimax regret picks "Ask first"; both computed at build time. An expected-utility agent prefers reading iff 10p − 20(1−p) &gt; 7, i.e. p &gt; 0.900. The scope-inference family shows agents behaving as if p were near one because the target was reachable. X1b adds unspecified and conflicting grant columns; its readout is a response mix (silent read / clarification / authorized completion) plus an over-conservatism check, never a violation rate under silence. Robust MDPs over an uncertainty set (Iyengar 2005) and attainable-utility preservation (Turner et al. 2020) are the RL analogues.</a:t>
            </a:r>
          </a:p>
          <a:p/>
          <a:p>
            <a:r>
              <a:t>Sources / 来源</a:t>
            </a:r>
          </a:p>
          <a:p>
            <a:r>
              <a:t>Gilboa &amp; Schmeidler (1989), Maxmin expected utility with non-unique prior</a:t>
            </a:r>
          </a:p>
          <a:p>
            <a:r>
              <a:t>https://doi.org/10.1016/0304-4068(89)90018-9</a:t>
            </a:r>
          </a:p>
          <a:p>
            <a:r>
              <a:t>Hadfield-Menell et al. (2016), Cooperative Inverse Reinforcement Learning</a:t>
            </a:r>
          </a:p>
          <a:p>
            <a:r>
              <a:t>https://arxiv.org/abs/1606.03137</a:t>
            </a:r>
          </a:p>
          <a:p>
            <a:r>
              <a:t>Hadfield-Menell et al. (2017), The Off-Switch Game</a:t>
            </a:r>
          </a:p>
          <a:p>
            <a:r>
              <a:t>https://arxiv.org/abs/1611.08219</a:t>
            </a:r>
          </a:p>
          <a:p>
            <a:r>
              <a:t>Project: Next experiments, including X1b silent and conflicting grants</a:t>
            </a:r>
          </a:p>
          <a:p>
            <a:r>
              <a:t>../../docs/trust4rsi-next-experiments.md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copied from docs/incident-aware-optimization.md with Altman 1999 and CPO as background. The selection bound is the standard Hoeffding inequality with a union bound over K candidates: each empirical risk is within ε of its mean with probability 1 − δ/K, so the empirical minimiser has true risk at most 2ε above the best eligible candidate. With K = 8 and n = 48 the slack is 0.49, which is useless; it falls to 0.05 only at n = 5000. The paired design is the alternative: twins differ only in the intervention, and the exact McNemar test uses discordant pairs. The power table is computed at build time from the archived baseline rate 0.6875 (results/baseline-diagnostic-v2/summary.json) against two hypothetical target rates. A Lagrangian relaxation prices the constraints, but hard wall versus soft penalty is not identifiable from finite data: a large multiplier reproduces zero violations.</a:t>
            </a:r>
          </a:p>
          <a:p/>
          <a:p>
            <a:r>
              <a:t>Sources / 来源</a:t>
            </a:r>
          </a:p>
          <a:p>
            <a:r>
              <a:t>Project: Incident-aware optimization of agent control policies</a:t>
            </a:r>
          </a:p>
          <a:p>
            <a:r>
              <a:t>../../docs/incident-aware-optimization.md</a:t>
            </a:r>
          </a:p>
          <a:p>
            <a:r>
              <a:t>Achiam et al. (2017), Constrained Policy Optimization</a:t>
            </a:r>
          </a:p>
          <a:p>
            <a:r>
              <a:t>https://arxiv.org/abs/1705.10528</a:t>
            </a:r>
          </a:p>
          <a:p>
            <a:r>
              <a:t>Project: Live follow-up results; calibration and selection limits</a:t>
            </a:r>
          </a:p>
          <a:p>
            <a:r>
              <a:t>../../docs/trust4rsi-live-followup-results.md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online algorithm; not evaluated on LLM agents. Candidate tool actions are normalised into effect-relevant fields (resource, owner, recipient, operation) and checked against the grant to form A(g); termination and permitted requests are always included. The unbrokered planner arm measures behavioural compliance; the otherwise identical brokered arm checks the action before dispatch and records attempted violations separately from executed effects. The effect journal is post-action evidence, not prevention. A simple allowlist broker is an engineering baseline, not a CaMeL reproduction. Monte Carlo lookahead follows POMCP sampling but filters by A(g) at every node; without that filter the same search reproduces the substitution family, which E1 tests directly.</a:t>
            </a:r>
          </a:p>
          <a:p/>
          <a:p>
            <a:r>
              <a:t>Sources / 来源</a:t>
            </a:r>
          </a:p>
          <a:p>
            <a:r>
              <a:t>Kaelbling, Littman &amp; Cassandra (1998), Planning and Acting in Partially Observable Stochastic Domains</a:t>
            </a:r>
          </a:p>
          <a:p>
            <a:r>
              <a:t>https://cs.brown.edu/courses/csci2951-k/papers/kaelbling98.pdf</a:t>
            </a:r>
          </a:p>
          <a:p>
            <a:r>
              <a:t>Silver &amp; Veness (2010), Monte-Carlo Planning in Large POMDPs (POMCP)</a:t>
            </a:r>
          </a:p>
          <a:p>
            <a:r>
              <a:t>https://papers.nips.cc/paper_files/paper/2010/hash/edfbe1afcf9246bb0d40eb4d8027d90f-Abstract.html</a:t>
            </a:r>
          </a:p>
          <a:p>
            <a:r>
              <a:t>Debenedetti et al. (2025), Defeating Prompt Injections by Design (CaMeL)</a:t>
            </a:r>
          </a:p>
          <a:p>
            <a:r>
              <a:t>https://arxiv.org/abs/2503.18813</a:t>
            </a:r>
          </a:p>
          <a:p>
            <a:r>
              <a:t>Project: From reported incidents to testable questions</a:t>
            </a:r>
          </a:p>
          <a:p>
            <a:r>
              <a:t>../../docs/trust4rsi-incident-to-experiment.md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Offline selection procedure. Fix K candidate controllers, a development set, actor model, rollout budgets, utility definition and tie-breaks; reuse the same trajectories across selection-signal arms. Choose the lowest estimated incident rate (or a prespecified conservative bound) among candidates within the utility margin and cost/review limits; if none qualify, retain the reference and make no improvement claim. T is an actor-visible transcript; J is an independent service-effect journal; the T+J judge uses the same model and rubric as T with extra evidence; J* uses explicit local grant and effect semantics and is a privileged reference, not a general truth oracle. Use disjoint development, calibration and test lineages; freeze a repaired judge after development calibration (the prior failed calibration is not a qualified gate). ImpossibleBench already studies prompting, abort options and monitors; the incremental claim here is the selection contrast.</a:t>
            </a:r>
          </a:p>
          <a:p/>
          <a:p>
            <a:r>
              <a:t>Sources / 来源</a:t>
            </a:r>
          </a:p>
          <a:p>
            <a:r>
              <a:t>Project: Incident-aware optimization of agent control policies</a:t>
            </a:r>
          </a:p>
          <a:p>
            <a:r>
              <a:t>../../docs/incident-aware-optimization.md</a:t>
            </a:r>
          </a:p>
          <a:p>
            <a:r>
              <a:t>Zhong, Raghunathan &amp; Carlini (2025), ImpossibleBench, sections 5-6</a:t>
            </a:r>
          </a:p>
          <a:p>
            <a:r>
              <a:t>https://arxiv.org/html/2510.20270v1</a:t>
            </a:r>
          </a:p>
          <a:p>
            <a:r>
              <a:t>Project: Live follow-up results; calibration and selection limits</a:t>
            </a:r>
          </a:p>
          <a:p>
            <a:r>
              <a:t>../../docs/trust4rsi-live-followup-results.md</a:t>
            </a:r>
          </a:p>
          <a:p>
            <a:r>
              <a:t>Project: Prior work and the contribution we can defend</a:t>
            </a:r>
          </a:p>
          <a:p>
            <a:r>
              <a:t>../../docs/trust4rsi-related-work.md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Characterisations are our reading of each paper, kept to what the method does by construction. POMCP (Silver &amp; Veness 2010) plans by sampling over beliefs with no effect constraint, so a blocked route is just an obstacle. CPO (Achiam 2017) and RCPO (Tessler 2018) enforce constraints in expectation during training and need gradient access. Shielding (Alshiekh 2018) filters unsafe actions with a temporal-logic automaton over an abstraction. CaMeL (Debenedetti 2025) separates trusted control flow from untrusted data and enforces policies at tool calls. Progent (Shi 2025) checks calls against a least-privilege policy over tool arguments; narrowing updates are auto-approved and expansions need approval. AI Control (Greenblatt 2023) assumes an intentionally subversive untrusted model and uses a trusted monitor with an audit budget. ImpossibleBench (Zhong 2025) studies prompting and abort options on impossible coding tasks. None of these is reproduced here; the comparison is structural, and the proposal has no empirical result yet.</a:t>
            </a:r>
          </a:p>
          <a:p/>
          <a:p>
            <a:r>
              <a:t>Sources / 来源</a:t>
            </a:r>
          </a:p>
          <a:p>
            <a:r>
              <a:t>Silver &amp; Veness (2010), Monte-Carlo Planning in Large POMDPs (POMCP)</a:t>
            </a:r>
          </a:p>
          <a:p>
            <a:r>
              <a:t>https://papers.nips.cc/paper_files/paper/2010/hash/edfbe1afcf9246bb0d40eb4d8027d90f-Abstract.html</a:t>
            </a:r>
          </a:p>
          <a:p>
            <a:r>
              <a:t>Achiam et al. (2017), Constrained Policy Optimization</a:t>
            </a:r>
          </a:p>
          <a:p>
            <a:r>
              <a:t>https://arxiv.org/abs/1705.10528</a:t>
            </a:r>
          </a:p>
          <a:p>
            <a:r>
              <a:t>Tessler, Mankowitz &amp; Mannor (2018), Reward Constrained Policy Optimization</a:t>
            </a:r>
          </a:p>
          <a:p>
            <a:r>
              <a:t>https://arxiv.org/abs/1805.11074</a:t>
            </a:r>
          </a:p>
          <a:p>
            <a:r>
              <a:t>Alshiekh et al. (2018), Safe Reinforcement Learning via Shielding</a:t>
            </a:r>
          </a:p>
          <a:p>
            <a:r>
              <a:t>https://arxiv.org/abs/1708.08611</a:t>
            </a:r>
          </a:p>
          <a:p>
            <a:r>
              <a:t>Debenedetti et al. (2025), Defeating Prompt Injections by Design (CaMeL)</a:t>
            </a:r>
          </a:p>
          <a:p>
            <a:r>
              <a:t>https://arxiv.org/abs/2503.18813</a:t>
            </a:r>
          </a:p>
          <a:p>
            <a:r>
              <a:t>Shi et al. (2025), Progent: Securing AI Agents with Privilege Control</a:t>
            </a:r>
          </a:p>
          <a:p>
            <a:r>
              <a:t>https://arxiv.org/abs/2504.11703</a:t>
            </a:r>
          </a:p>
          <a:p>
            <a:r>
              <a:t>Greenblatt et al. (2023), AI Control: Improving Safety Despite Intentional Subversion</a:t>
            </a:r>
          </a:p>
          <a:p>
            <a:r>
              <a:t>https://arxiv.org/abs/2312.06942</a:t>
            </a:r>
          </a:p>
          <a:p>
            <a:r>
              <a:t>Zhong, Raghunathan &amp; Carlini (2025), ImpossibleBench, sections 5-6</a:t>
            </a:r>
          </a:p>
          <a:p>
            <a:r>
              <a:t>https://arxiv.org/html/2510.20270v1</a:t>
            </a:r>
          </a:p>
          <a:p>
            <a:r>
              <a:t>Project: Prior work and the contribution we can defend</a:t>
            </a:r>
          </a:p>
          <a:p>
            <a:r>
              <a:t>../../docs/trust4rsi-related-work.md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places each prior method at its intervention point so comparisons happen at like points: a broker is compared with CaMeL-style and Progent-style enforcement before dispatch, the planner with POMCP and prompting at proposal, the selector with control-protocol evaluation and the regression gate at release. The right-hand card states the only novelty we intend to defend, and the left-hand card lists what is explicitly borrowed. The related-work document records the closest overlaps, including ImpossibleBench, the Anthropic incident assessment and CoSec.</a:t>
            </a:r>
          </a:p>
          <a:p/>
          <a:p>
            <a:r>
              <a:t>Sources / 来源</a:t>
            </a:r>
          </a:p>
          <a:p>
            <a:r>
              <a:t>Project: Prior work and the contribution we can defend</a:t>
            </a:r>
          </a:p>
          <a:p>
            <a:r>
              <a:t>../../docs/trust4rsi-related-work.md</a:t>
            </a:r>
          </a:p>
          <a:p>
            <a:r>
              <a:t>Debenedetti et al. (2024), AgentDojo</a:t>
            </a:r>
          </a:p>
          <a:p>
            <a:r>
              <a:t>https://arxiv.org/abs/2406.13352</a:t>
            </a:r>
          </a:p>
          <a:p>
            <a:r>
              <a:t>Greenblatt et al. (2023), AI Control: Improving Safety Despite Intentional Subversion</a:t>
            </a:r>
          </a:p>
          <a:p>
            <a:r>
              <a:t>https://arxiv.org/abs/2312.06942</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E1 is cheap and runs before any fixture extension: a finite simulator whose kernels are known, so regret is exact. Sweeps follow the toy results on slides 8–10. The POMCP-without-filter arm is the mechanistic version of H1: it should prefer the reachable substitute whenever the belief in local repair is low, with no change in the grant. The LLM planner arm is the first check that an LLM agent's choices move with the decision variables at all; calibration is evaluated with proper scoring rules. All E1 claims are about the model, not about safety in deployment.</a:t>
            </a:r>
          </a:p>
          <a:p/>
          <a:p>
            <a:r>
              <a:t>Sources / 来源</a:t>
            </a:r>
          </a:p>
          <a:p>
            <a:r>
              <a:t>Hay, Russell, Tolpin &amp; Shimony (2012), Selecting Computations: Theory and Applications</a:t>
            </a:r>
          </a:p>
          <a:p>
            <a:r>
              <a:t>https://arxiv.org/abs/1207.5879</a:t>
            </a:r>
          </a:p>
          <a:p>
            <a:r>
              <a:t>Silver &amp; Veness (2010), Monte-Carlo Planning in Large POMDPs (POMCP)</a:t>
            </a:r>
          </a:p>
          <a:p>
            <a:r>
              <a:t>https://papers.nips.cc/paper_files/paper/2010/hash/edfbe1afcf9246bb0d40eb4d8027d90f-Abstract.html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matrix is a normative reference, not observed results. Pair each task instance across local repair available/unavailable and alternate forbidden/granted with contents, reachability, schemas and budgets fixed; recoverable and unavailable variants share the initial failure history and a permitted probe reveals availability. Trusted permission is the treatment. Grants are fixed within an episode for the factorial; a separate dynamic-request study adds grant/deny responses with cost. A3 and A4 are engineering baselines in the spirit of Progent, CaMeL and defer-to-trusted, not reproductions. The pilot allocation is for precision estimation, not a powered confirmatory claim; twelve seeds of one template are not twelve lineages. Report all assigned runs with unknowns bounded, cluster paired uncertainty by lineage, and evaluate each model separately.</a:t>
            </a:r>
          </a:p>
          <a:p/>
          <a:p>
            <a:r>
              <a:t>Sources / 来源</a:t>
            </a:r>
          </a:p>
          <a:p>
            <a:r>
              <a:t>Project: From reported incidents to testable questions</a:t>
            </a:r>
          </a:p>
          <a:p>
            <a:r>
              <a:t>../../docs/trust4rsi-incident-to-experiment.md</a:t>
            </a:r>
          </a:p>
          <a:p>
            <a:r>
              <a:t>Project: Next experiments, including X1b silent and conflicting grants</a:t>
            </a:r>
          </a:p>
          <a:p>
            <a:r>
              <a:t>../../docs/trust4rsi-next-experiments.md</a:t>
            </a:r>
          </a:p>
          <a:p>
            <a:r>
              <a:t>Greenblatt et al. (2023), AI Control: Improving Safety Despite Intentional Subversion</a:t>
            </a:r>
          </a:p>
          <a:p>
            <a:r>
              <a:t>https://arxiv.org/abs/2312.06942</a:t>
            </a:r>
          </a:p>
          <a:p>
            <a:r>
              <a:t>Shi et al. (2025), Progent: Securing AI Agents with Privilege Control</a:t>
            </a:r>
          </a:p>
          <a:p>
            <a:r>
              <a:t>https://arxiv.org/abs/2504.11703</a:t>
            </a:r>
          </a:p>
          <a:p>
            <a:r>
              <a:t>Debenedetti et al. (2025), Defeating Prompt Injections by Design (CaMeL)</a:t>
            </a:r>
          </a:p>
          <a:p>
            <a:r>
              <a:t>https://arxiv.org/abs/2503.18813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recomputed from results/incident-study-v1/summary.json during this build: 96 passes without an effect, 13 scorer passes with an unauthorized effect, 49 no-passes without an effect, 2 no-passes with one. All 15 violating trajectories first read the previous-run answer archive. The matrix pools deliberately different arms and variants to show endpoint disagreement, not to estimate a deployment rate; the 49 clean no-passes were impossible cases, not premature refusals. Current follow-ups do not validate a transcript gate or show improved selection; the 12-case calibration failed and is not a qualified gate. E3 requires lower risk with retained utility, cost and coverage limits satisfied, and reports unknowns as bounds rather than as safe.</a:t>
            </a:r>
          </a:p>
          <a:p/>
          <a:p>
            <a:r>
              <a:t>Sources / 来源</a:t>
            </a:r>
          </a:p>
          <a:p>
            <a:r>
              <a:t>Project: Incident-aware optimization of agent control policies</a:t>
            </a:r>
          </a:p>
          <a:p>
            <a:r>
              <a:t>../../docs/incident-aware-optimization.md</a:t>
            </a:r>
          </a:p>
          <a:p>
            <a:r>
              <a:t>Project: Live follow-up results; calibration and selection limits</a:t>
            </a:r>
          </a:p>
          <a:p>
            <a:r>
              <a:t>../../docs/trust4rsi-live-followup-results.md</a:t>
            </a:r>
          </a:p>
          <a:p>
            <a:r>
              <a:t>Project: 160-run incident study, completed 17 September 2026</a:t>
            </a:r>
          </a:p>
          <a:p>
            <a:r>
              <a:t>../../docs/incident-study-results.md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counterfactual intervention hypotheses, not claims that any control would certainly have prevented the reported incidents. For statistics research, an access-denied observation does not certify global impossibility and an allowed source may exist. For workbook sharing, the reliability of the authorized transfer route changes the value of continued recovery. For deployment, success and low apparent harm do not replace an account holder's grant. For cyber evaluations, a matching domain name is not a grant. For the channel family, only the service knows what a call did. Each row names the experiment whose outcome would support or refute the proposed change; test each replay locally with dummy data, a trusted grant and an independent effect observer before broader validation.</a:t>
            </a:r>
          </a:p>
          <a:p/>
          <a:p>
            <a:r>
              <a:t>Sources / 来源</a:t>
            </a:r>
          </a:p>
          <a:p>
            <a:r>
              <a:t>Australian Government briefing, 24 September 2026; incident in June</a:t>
            </a:r>
          </a:p>
          <a:p>
            <a:r>
              <a:t>https://ministers.finance.gov.au/financeminister/transcript/2026/09/24/press-conference-sydney</a:t>
            </a:r>
          </a:p>
          <a:p>
            <a:r>
              <a:t>OpenAI, Unauthorized communication via temporary file hosting services, 16 September 2026; incident 14 April</a:t>
            </a:r>
          </a:p>
          <a:p>
            <a:r>
              <a:t>https://alignment.openai.com/misalignment-reports/unauthorized-communication-via-temporary-file-hosting-services/</a:t>
            </a:r>
          </a:p>
          <a:p>
            <a:r>
              <a:t>OpenAI, Using a funded test cryptocurrency wallet without authorization, 15 October 2026; incident 26 June</a:t>
            </a:r>
          </a:p>
          <a:p>
            <a:r>
              <a:t>https://alignment.openai.com/misalignment-reports/using-a-funded-test-cryptocurrency-wallet-without-authorization/</a:t>
            </a:r>
          </a:p>
          <a:p>
            <a:r>
              <a:t>Anthropic (9 September 2026), An alignment assessment of recent cybersecurity incidents</a:t>
            </a:r>
          </a:p>
          <a:p>
            <a:r>
              <a:t>https://www.anthropic.com/research/alignment-assessment-cybersecurity-incidents</a:t>
            </a:r>
          </a:p>
          <a:p>
            <a:r>
              <a:t>Project: public incident library, 26 records coded with the Raftari (2026) frame</a:t>
            </a:r>
          </a:p>
          <a:p>
            <a:r>
              <a:t>../../docs/incident-library-analysis.md</a:t>
            </a:r>
          </a:p>
          <a:p>
            <a:r>
              <a:t>Debenedetti et al. (2025), Defeating Prompt Injections by Design (CaMeL)</a:t>
            </a:r>
          </a:p>
          <a:p>
            <a:r>
              <a:t>https://arxiv.org/abs/2503.18813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outcome table is the preregistered interpretation. Each row names the arm or contrast and the implication, including the two negative readings in which only enforcement helps or the selection signals tie. Milestones are proposed dates, not commitments; the confirmatory sample is sized from pilot discordance under a prespecified risk reduction and utility noninferiority margin, before any new test cohort is collected. The deck contains 22 slides; citations, exact toy assumptions, study design and limitations are in the speaker notes and footers.</a:t>
            </a:r>
          </a:p>
          <a:p/>
          <a:p>
            <a:r>
              <a:t>Sources / 来源</a:t>
            </a:r>
          </a:p>
          <a:p>
            <a:r>
              <a:t>Project: From reported incidents to testable questions</a:t>
            </a:r>
          </a:p>
          <a:p>
            <a:r>
              <a:t>../../docs/trust4rsi-incident-to-experiment.md</a:t>
            </a:r>
          </a:p>
          <a:p>
            <a:r>
              <a:t>Project: Incident-aware optimization of agent control policies</a:t>
            </a:r>
          </a:p>
          <a:p>
            <a:r>
              <a:t>../../docs/incident-aware-optimization.md</a:t>
            </a:r>
          </a:p>
          <a:p>
            <a:r>
              <a:t>Project: Next experiments, including X1b silent and conflicting grants</a:t>
            </a:r>
          </a:p>
          <a:p>
            <a:r>
              <a:t>../../docs/trust4rsi-next-experiments.md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docs/incident-library-analysis.md" TargetMode="External"/><Relationship Id="rId3" Type="http://schemas.openxmlformats.org/officeDocument/2006/relationships/hyperlink" Target="../../docs/incident-study-results.md" TargetMode="External"/><Relationship Id="rId4" Type="http://schemas.openxmlformats.org/officeDocument/2006/relationships/hyperlink" Target="../../docs/trust4rsi-incident-to-experiment.md" TargetMode="Externa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docs/incident-library-analysis.md" TargetMode="External"/><Relationship Id="rId3" Type="http://schemas.openxmlformats.org/officeDocument/2006/relationships/image" Target="../media/image1.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inisters.finance.gov.au/financeminister/transcript/2026/09/24/press-conference-sydney" TargetMode="External"/><Relationship Id="rId3" Type="http://schemas.openxmlformats.org/officeDocument/2006/relationships/hyperlink" Target="../../docs/incident-library-analysis.md"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lignment.openai.com/misalignment-reports/unauthorized-communication-via-temporary-file-hosting-services/" TargetMode="External"/><Relationship Id="rId3" Type="http://schemas.openxmlformats.org/officeDocument/2006/relationships/hyperlink" Target="https://alignment.openai.com/misalignment-reports/using-a-funded-test-cryptocurrency-wallet-without-authorization/" TargetMode="External"/><Relationship Id="rId4" Type="http://schemas.openxmlformats.org/officeDocument/2006/relationships/hyperlink" Target="../../docs/incident-library-analysis.md" TargetMode="Externa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nthropic.com/research/alignment-assessment-cybersecurity-incidents" TargetMode="External"/><Relationship Id="rId3" Type="http://schemas.openxmlformats.org/officeDocument/2006/relationships/hyperlink" Target="../../docs/incident-library-analysis.md"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docs/incident-library-analysis.md" TargetMode="Externa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s.brown.edu/courses/csci2951-k/papers/kaelbling98.pdf" TargetMode="External"/><Relationship Id="rId3" Type="http://schemas.openxmlformats.org/officeDocument/2006/relationships/hyperlink" Target="../../docs/incident-aware-optimization.md" TargetMode="External"/><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image" Target="../media/image7.png"/><Relationship Id="rId10" Type="http://schemas.openxmlformats.org/officeDocument/2006/relationships/image" Target="../media/image8.png"/><Relationship Id="rId11" Type="http://schemas.openxmlformats.org/officeDocument/2006/relationships/image" Target="../media/image9.png"/><Relationship Id="rId1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ath.ucla.edu/~tom/Stopping/Contents.html" TargetMode="External"/><Relationship Id="rId3" Type="http://schemas.openxmlformats.org/officeDocument/2006/relationships/hyperlink" Target="../../docs/trust4rsi-next-experiments.md" TargetMode="External"/><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1207.5879" TargetMode="External"/><Relationship Id="rId3" Type="http://schemas.openxmlformats.org/officeDocument/2006/relationships/hyperlink" Target="https://arxiv.org/abs/1611.08219" TargetMode="External"/><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18.png"/><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0304-4068(89)90018-9" TargetMode="External"/><Relationship Id="rId3" Type="http://schemas.openxmlformats.org/officeDocument/2006/relationships/hyperlink" Target="https://arxiv.org/abs/1606.03137" TargetMode="External"/><Relationship Id="rId4" Type="http://schemas.openxmlformats.org/officeDocument/2006/relationships/hyperlink" Target="https://arxiv.org/abs/1611.08219" TargetMode="External"/><Relationship Id="rId5" Type="http://schemas.openxmlformats.org/officeDocument/2006/relationships/hyperlink" Target="../../docs/trust4rsi-next-experiments.md" TargetMode="External"/><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docs/incident-aware-optimization.md" TargetMode="External"/><Relationship Id="rId3" Type="http://schemas.openxmlformats.org/officeDocument/2006/relationships/hyperlink" Target="https://arxiv.org/abs/1705.10528" TargetMode="External"/><Relationship Id="rId4" Type="http://schemas.openxmlformats.org/officeDocument/2006/relationships/hyperlink" Target="../../docs/trust4rsi-live-followup-results.md" TargetMode="External"/><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s.brown.edu/courses/csci2951-k/papers/kaelbling98.pdf" TargetMode="External"/><Relationship Id="rId3" Type="http://schemas.openxmlformats.org/officeDocument/2006/relationships/hyperlink" Target="https://papers.nips.cc/paper_files/paper/2010/hash/edfbe1afcf9246bb0d40eb4d8027d90f-Abstract.html" TargetMode="External"/><Relationship Id="rId4" Type="http://schemas.openxmlformats.org/officeDocument/2006/relationships/hyperlink" Target="https://arxiv.org/abs/2503.18813" TargetMode="Externa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docs/incident-aware-optimization.md" TargetMode="External"/><Relationship Id="rId3" Type="http://schemas.openxmlformats.org/officeDocument/2006/relationships/hyperlink" Target="https://arxiv.org/html/2510.20270v1" TargetMode="External"/><Relationship Id="rId4" Type="http://schemas.openxmlformats.org/officeDocument/2006/relationships/hyperlink" Target="../../docs/trust4rsi-related-work.md" TargetMode="Externa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apers.nips.cc/paper_files/paper/2010/hash/edfbe1afcf9246bb0d40eb4d8027d90f-Abstract.html" TargetMode="External"/><Relationship Id="rId3" Type="http://schemas.openxmlformats.org/officeDocument/2006/relationships/hyperlink" Target="https://arxiv.org/abs/1805.11074" TargetMode="External"/><Relationship Id="rId4" Type="http://schemas.openxmlformats.org/officeDocument/2006/relationships/hyperlink" Target="https://arxiv.org/abs/1708.08611" TargetMode="External"/><Relationship Id="rId5" Type="http://schemas.openxmlformats.org/officeDocument/2006/relationships/hyperlink" Target="https://arxiv.org/abs/2503.18813" TargetMode="External"/><Relationship Id="rId6" Type="http://schemas.openxmlformats.org/officeDocument/2006/relationships/hyperlink" Target="https://arxiv.org/abs/2504.11703" TargetMode="External"/><Relationship Id="rId7" Type="http://schemas.openxmlformats.org/officeDocument/2006/relationships/hyperlink" Target="https://arxiv.org/abs/2312.06942" TargetMode="External"/><Relationship Id="rId8" Type="http://schemas.openxmlformats.org/officeDocument/2006/relationships/hyperlink" Target="https://arxiv.org/html/2510.20270v1" TargetMode="External"/><Relationship Id="rId9" Type="http://schemas.openxmlformats.org/officeDocument/2006/relationships/hyperlink" Target="../../docs/trust4rsi-related-work.md" TargetMode="Externa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docs/trust4rsi-related-work.md" TargetMode="External"/><Relationship Id="rId3" Type="http://schemas.openxmlformats.org/officeDocument/2006/relationships/hyperlink" Target="https://arxiv.org/abs/2406.13352" TargetMode="External"/><Relationship Id="rId4" Type="http://schemas.openxmlformats.org/officeDocument/2006/relationships/hyperlink" Target="https://arxiv.org/abs/2312.06942" TargetMode="Externa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1207.5879" TargetMode="External"/><Relationship Id="rId3" Type="http://schemas.openxmlformats.org/officeDocument/2006/relationships/hyperlink" Target="https://papers.nips.cc/paper_files/paper/2010/hash/edfbe1afcf9246bb0d40eb4d8027d90f-Abstract.html" TargetMode="Externa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docs/trust4rsi-incident-to-experiment.md" TargetMode="External"/><Relationship Id="rId3" Type="http://schemas.openxmlformats.org/officeDocument/2006/relationships/hyperlink" Target="../../docs/trust4rsi-next-experiments.md" TargetMode="External"/><Relationship Id="rId4" Type="http://schemas.openxmlformats.org/officeDocument/2006/relationships/hyperlink" Target="https://arxiv.org/abs/2312.06942" TargetMode="Externa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docs/incident-aware-optimization.md" TargetMode="External"/><Relationship Id="rId3" Type="http://schemas.openxmlformats.org/officeDocument/2006/relationships/hyperlink" Target="../../docs/trust4rsi-live-followup-results.md" TargetMode="External"/><Relationship Id="rId4" Type="http://schemas.openxmlformats.org/officeDocument/2006/relationships/hyperlink" Target="../../docs/incident-study-results.md" TargetMode="Externa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inisters.finance.gov.au/financeminister/transcript/2026/09/24/press-conference-sydney" TargetMode="External"/><Relationship Id="rId3" Type="http://schemas.openxmlformats.org/officeDocument/2006/relationships/hyperlink" Target="https://alignment.openai.com/misalignment-reports/unauthorized-communication-via-temporary-file-hosting-services/" TargetMode="External"/><Relationship Id="rId4" Type="http://schemas.openxmlformats.org/officeDocument/2006/relationships/hyperlink" Target="https://alignment.openai.com/misalignment-reports/using-a-funded-test-cryptocurrency-wallet-without-authorization/" TargetMode="External"/><Relationship Id="rId5" Type="http://schemas.openxmlformats.org/officeDocument/2006/relationships/hyperlink" Target="https://www.anthropic.com/research/alignment-assessment-cybersecurity-incidents" TargetMode="External"/><Relationship Id="rId6" Type="http://schemas.openxmlformats.org/officeDocument/2006/relationships/hyperlink" Target="../../docs/incident-library-analysis.md" TargetMode="Externa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docs/trust4rsi-incident-to-experiment.md" TargetMode="External"/><Relationship Id="rId3" Type="http://schemas.openxmlformats.org/officeDocument/2006/relationships/hyperlink" Target="../../docs/incident-aware-optimization.md" TargetMode="External"/><Relationship Id="rId4" Type="http://schemas.openxmlformats.org/officeDocument/2006/relationships/hyperlink" Target="../../docs/trust4rsi-next-experiments.md" TargetMode="External"/><Relationship Id="rId5"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F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label:2"/>
          <p:cNvSpPr txBox="1"/>
          <p:nvPr/>
        </p:nvSpPr>
        <p:spPr>
          <a:xfrm>
            <a:off x="566928" y="365760"/>
            <a:ext cx="10058400" cy="420624"/>
          </a:xfrm>
          <a:prstGeom prst="rect">
            <a:avLst/>
          </a:prstGeom>
          <a:noFill/>
        </p:spPr>
        <p:txBody>
          <a:bodyPr wrap="square" lIns="22860" rIns="22860" tIns="22860" bIns="22860" anchor="ctr">
            <a:spAutoFit/>
          </a:bodyPr>
          <a:lstStyle/>
          <a:p>
            <a:pPr algn="l">
              <a:lnSpc>
                <a:spcPct val="108000"/>
              </a:lnSpc>
            </a:pPr>
            <a:r>
              <a:rPr sz="1100" b="1">
                <a:solidFill>
                  <a:srgbClr val="B9C8D8"/>
                </a:solidFill>
                <a:latin typeface="Arial"/>
              </a:rPr>
              <a:t>CONTAINMENT-EXTENSION  ·  RESEARCH OUTLINE  ·  21 OCTOBER 2026</a:t>
            </a:r>
          </a:p>
        </p:txBody>
      </p:sp>
      <p:sp>
        <p:nvSpPr>
          <p:cNvPr id="4" name="source:3"/>
          <p:cNvSpPr txBox="1"/>
          <p:nvPr/>
        </p:nvSpPr>
        <p:spPr>
          <a:xfrm>
            <a:off x="566928" y="6400800"/>
            <a:ext cx="10332720" cy="210312"/>
          </a:xfrm>
          <a:prstGeom prst="rect">
            <a:avLst/>
          </a:prstGeom>
          <a:noFill/>
        </p:spPr>
        <p:txBody>
          <a:bodyPr wrap="square" lIns="22860" rIns="22860" tIns="22860" bIns="22860" anchor="ctr">
            <a:spAutoFit/>
          </a:bodyPr>
          <a:lstStyle/>
          <a:p>
            <a:pPr algn="l">
              <a:lnSpc>
                <a:spcPct val="108000"/>
              </a:lnSpc>
            </a:pPr>
            <a:r>
              <a:rPr sz="900" b="0">
                <a:solidFill>
                  <a:srgbClr val="B9C8D8"/>
                </a:solidFill>
                <a:latin typeface="Arial"/>
              </a:rPr>
              <a:t> </a:t>
            </a:r>
          </a:p>
        </p:txBody>
      </p:sp>
      <p:sp>
        <p:nvSpPr>
          <p:cNvPr id="5" name="source:4"/>
          <p:cNvSpPr txBox="1"/>
          <p:nvPr/>
        </p:nvSpPr>
        <p:spPr>
          <a:xfrm>
            <a:off x="10927080" y="6364224"/>
            <a:ext cx="694944" cy="265176"/>
          </a:xfrm>
          <a:prstGeom prst="rect">
            <a:avLst/>
          </a:prstGeom>
          <a:noFill/>
        </p:spPr>
        <p:txBody>
          <a:bodyPr wrap="square" lIns="22860" rIns="22860" tIns="22860" bIns="22860" anchor="ctr">
            <a:spAutoFit/>
          </a:bodyPr>
          <a:lstStyle/>
          <a:p>
            <a:pPr algn="ctr">
              <a:lnSpc>
                <a:spcPct val="108000"/>
              </a:lnSpc>
            </a:pPr>
            <a:r>
              <a:rPr sz="1000" b="1">
                <a:solidFill>
                  <a:srgbClr val="B9C8D8"/>
                </a:solidFill>
                <a:latin typeface="Arial"/>
              </a:rPr>
              <a:t>01 / 22</a:t>
            </a:r>
          </a:p>
        </p:txBody>
      </p:sp>
      <p:sp>
        <p:nvSpPr>
          <p:cNvPr id="6" name="Rectangle 5"/>
          <p:cNvSpPr/>
          <p:nvPr/>
        </p:nvSpPr>
        <p:spPr>
          <a:xfrm>
            <a:off x="56692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71510"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76093"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80675"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85258"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089840"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594423"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099005"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603588"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108170"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12753"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17336"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621918"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126501"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631083"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35666"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640248"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44831"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649413"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153996"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658578"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1163161"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ody:27"/>
          <p:cNvSpPr txBox="1"/>
          <p:nvPr/>
        </p:nvSpPr>
        <p:spPr>
          <a:xfrm>
            <a:off x="566928" y="1417320"/>
            <a:ext cx="9601200" cy="2103120"/>
          </a:xfrm>
          <a:prstGeom prst="rect">
            <a:avLst/>
          </a:prstGeom>
          <a:noFill/>
        </p:spPr>
        <p:txBody>
          <a:bodyPr wrap="square" lIns="22860" rIns="22860" tIns="22860" bIns="22860" anchor="t">
            <a:spAutoFit/>
          </a:bodyPr>
          <a:lstStyle/>
          <a:p>
            <a:pPr algn="l">
              <a:lnSpc>
                <a:spcPct val="112000"/>
              </a:lnSpc>
            </a:pPr>
            <a:r>
              <a:rPr sz="5000" b="0" i="0">
                <a:solidFill>
                  <a:srgbClr val="FFFFFF"/>
                </a:solidFill>
                <a:latin typeface="Georgia"/>
              </a:rPr>
              <a:t>When the task fails,</a:t>
            </a:r>
          </a:p>
          <a:p>
            <a:pPr algn="l">
              <a:lnSpc>
                <a:spcPct val="112000"/>
              </a:lnSpc>
            </a:pPr>
            <a:r>
              <a:rPr sz="5000" b="0" i="0">
                <a:solidFill>
                  <a:srgbClr val="FFFFFF"/>
                </a:solidFill>
                <a:latin typeface="Georgia"/>
              </a:rPr>
              <a:t>what may the agent change?</a:t>
            </a:r>
          </a:p>
        </p:txBody>
      </p:sp>
      <p:sp>
        <p:nvSpPr>
          <p:cNvPr id="29" name="Rectangle 28"/>
          <p:cNvSpPr/>
          <p:nvPr/>
        </p:nvSpPr>
        <p:spPr>
          <a:xfrm>
            <a:off x="566928" y="3730752"/>
            <a:ext cx="1280160" cy="4572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29"/>
          <p:cNvSpPr txBox="1"/>
          <p:nvPr/>
        </p:nvSpPr>
        <p:spPr>
          <a:xfrm>
            <a:off x="566928" y="3950208"/>
            <a:ext cx="9601200" cy="548640"/>
          </a:xfrm>
          <a:prstGeom prst="rect">
            <a:avLst/>
          </a:prstGeom>
          <a:noFill/>
        </p:spPr>
        <p:txBody>
          <a:bodyPr wrap="square" lIns="22860" rIns="22860" tIns="22860" bIns="22860" anchor="t">
            <a:spAutoFit/>
          </a:bodyPr>
          <a:lstStyle/>
          <a:p>
            <a:pPr algn="l">
              <a:lnSpc>
                <a:spcPct val="110000"/>
              </a:lnSpc>
            </a:pPr>
            <a:r>
              <a:rPr sz="2300" b="0" i="1">
                <a:solidFill>
                  <a:srgbClr val="B9C8D8"/>
                </a:solidFill>
                <a:latin typeface="Georgia"/>
              </a:rPr>
              <a:t>A decision theory of recovery, evidence, authority and stopping.</a:t>
            </a:r>
          </a:p>
        </p:txBody>
      </p:sp>
      <p:sp>
        <p:nvSpPr>
          <p:cNvPr id="31" name="body:30"/>
          <p:cNvSpPr txBox="1"/>
          <p:nvPr/>
        </p:nvSpPr>
        <p:spPr>
          <a:xfrm>
            <a:off x="566928" y="4553712"/>
            <a:ext cx="7315200" cy="384048"/>
          </a:xfrm>
          <a:prstGeom prst="rect">
            <a:avLst/>
          </a:prstGeom>
          <a:noFill/>
        </p:spPr>
        <p:txBody>
          <a:bodyPr wrap="square" lIns="22860" rIns="22860" tIns="22860" bIns="22860" anchor="t">
            <a:spAutoFit/>
          </a:bodyPr>
          <a:lstStyle/>
          <a:p>
            <a:pPr algn="l">
              <a:lnSpc>
                <a:spcPct val="110000"/>
              </a:lnSpc>
            </a:pPr>
            <a:r>
              <a:rPr sz="1700" b="0" i="0">
                <a:solidFill>
                  <a:srgbClr val="FFFFFF"/>
                </a:solidFill>
                <a:latin typeface="Georgia"/>
              </a:rPr>
              <a:t>Jiawei Li  ·  21 October 2026</a:t>
            </a:r>
          </a:p>
        </p:txBody>
      </p:sp>
      <p:sp>
        <p:nvSpPr>
          <p:cNvPr id="32" name="label:31"/>
          <p:cNvSpPr txBox="1"/>
          <p:nvPr/>
        </p:nvSpPr>
        <p:spPr>
          <a:xfrm>
            <a:off x="566928" y="5084064"/>
            <a:ext cx="3657600" cy="256032"/>
          </a:xfrm>
          <a:prstGeom prst="rect">
            <a:avLst/>
          </a:prstGeom>
          <a:noFill/>
        </p:spPr>
        <p:txBody>
          <a:bodyPr wrap="square" lIns="22860" rIns="22860" tIns="22860" bIns="22860" anchor="ctr">
            <a:spAutoFit/>
          </a:bodyPr>
          <a:lstStyle/>
          <a:p>
            <a:pPr algn="l">
              <a:lnSpc>
                <a:spcPct val="108000"/>
              </a:lnSpc>
            </a:pPr>
            <a:r>
              <a:rPr sz="1100" b="1">
                <a:solidFill>
                  <a:srgbClr val="1E7A72"/>
                </a:solidFill>
                <a:latin typeface="Arial"/>
              </a:rPr>
              <a:t>RESEARCH QUESTION</a:t>
            </a:r>
          </a:p>
        </p:txBody>
      </p:sp>
      <p:sp>
        <p:nvSpPr>
          <p:cNvPr id="33" name="body:32"/>
          <p:cNvSpPr txBox="1"/>
          <p:nvPr/>
        </p:nvSpPr>
        <p:spPr>
          <a:xfrm>
            <a:off x="566928" y="5321808"/>
            <a:ext cx="8412480" cy="658368"/>
          </a:xfrm>
          <a:prstGeom prst="rect">
            <a:avLst/>
          </a:prstGeom>
          <a:noFill/>
        </p:spPr>
        <p:txBody>
          <a:bodyPr wrap="square" lIns="22860" rIns="22860" tIns="22860" bIns="22860" anchor="t">
            <a:spAutoFit/>
          </a:bodyPr>
          <a:lstStyle/>
          <a:p>
            <a:pPr algn="l">
              <a:lnSpc>
                <a:spcPct val="118000"/>
              </a:lnSpc>
            </a:pPr>
            <a:r>
              <a:rPr sz="1600" b="0">
                <a:solidFill>
                  <a:srgbClr val="FFFFFF"/>
                </a:solidFill>
                <a:latin typeface="Arial"/>
              </a:rPr>
              <a:t>Can an agent stay useful after a route fails, treating the failure as evidence about feasibility and never as a grant of new authority?</a:t>
            </a:r>
          </a:p>
        </p:txBody>
      </p:sp>
      <p:sp>
        <p:nvSpPr>
          <p:cNvPr id="34" name="body:33"/>
          <p:cNvSpPr txBox="1"/>
          <p:nvPr/>
        </p:nvSpPr>
        <p:spPr>
          <a:xfrm>
            <a:off x="566928" y="6053328"/>
            <a:ext cx="8229600" cy="274320"/>
          </a:xfrm>
          <a:prstGeom prst="rect">
            <a:avLst/>
          </a:prstGeom>
          <a:noFill/>
        </p:spPr>
        <p:txBody>
          <a:bodyPr wrap="square" lIns="22860" rIns="22860" tIns="22860" bIns="22860" anchor="ctr">
            <a:spAutoFit/>
          </a:bodyPr>
          <a:lstStyle/>
          <a:p>
            <a:pPr algn="l">
              <a:lnSpc>
                <a:spcPct val="108000"/>
              </a:lnSpc>
            </a:pPr>
            <a:r>
              <a:rPr sz="1050" b="0">
                <a:solidFill>
                  <a:srgbClr val="B9C8D8"/>
                </a:solidFill>
                <a:latin typeface="Arial"/>
              </a:rPr>
              <a:t>No new model runs. Library counts, archived runs and toy calculations are recomputed at build time.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F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label:2"/>
          <p:cNvSpPr txBox="1"/>
          <p:nvPr/>
        </p:nvSpPr>
        <p:spPr>
          <a:xfrm>
            <a:off x="566928" y="365760"/>
            <a:ext cx="10058400" cy="420624"/>
          </a:xfrm>
          <a:prstGeom prst="rect">
            <a:avLst/>
          </a:prstGeom>
          <a:noFill/>
        </p:spPr>
        <p:txBody>
          <a:bodyPr wrap="square" lIns="22860" rIns="22860" tIns="22860" bIns="22860" anchor="ctr">
            <a:spAutoFit/>
          </a:bodyPr>
          <a:lstStyle/>
          <a:p>
            <a:pPr algn="l">
              <a:lnSpc>
                <a:spcPct val="108000"/>
              </a:lnSpc>
            </a:pPr>
            <a:r>
              <a:rPr sz="1100" b="1">
                <a:solidFill>
                  <a:srgbClr val="B9C8D8"/>
                </a:solidFill>
                <a:latin typeface="Arial"/>
              </a:rPr>
              <a:t>OUTLINE</a:t>
            </a:r>
          </a:p>
        </p:txBody>
      </p:sp>
      <p:sp>
        <p:nvSpPr>
          <p:cNvPr id="4" name="source:3"/>
          <p:cNvSpPr txBox="1"/>
          <p:nvPr/>
        </p:nvSpPr>
        <p:spPr>
          <a:xfrm>
            <a:off x="566928" y="6400800"/>
            <a:ext cx="10332720" cy="210312"/>
          </a:xfrm>
          <a:prstGeom prst="rect">
            <a:avLst/>
          </a:prstGeom>
          <a:noFill/>
        </p:spPr>
        <p:txBody>
          <a:bodyPr wrap="square" lIns="22860" rIns="22860" tIns="22860" bIns="22860" anchor="ctr">
            <a:spAutoFit/>
          </a:bodyPr>
          <a:lstStyle/>
          <a:p>
            <a:pPr algn="l">
              <a:lnSpc>
                <a:spcPct val="108000"/>
              </a:lnSpc>
            </a:pPr>
            <a:r>
              <a:rPr sz="900" b="0">
                <a:solidFill>
                  <a:srgbClr val="B9C8D8"/>
                </a:solidFill>
                <a:latin typeface="Arial"/>
              </a:rPr>
              <a:t> </a:t>
            </a:r>
          </a:p>
        </p:txBody>
      </p:sp>
      <p:sp>
        <p:nvSpPr>
          <p:cNvPr id="5" name="source:4"/>
          <p:cNvSpPr txBox="1"/>
          <p:nvPr/>
        </p:nvSpPr>
        <p:spPr>
          <a:xfrm>
            <a:off x="10927080" y="6364224"/>
            <a:ext cx="694944" cy="265176"/>
          </a:xfrm>
          <a:prstGeom prst="rect">
            <a:avLst/>
          </a:prstGeom>
          <a:noFill/>
        </p:spPr>
        <p:txBody>
          <a:bodyPr wrap="square" lIns="22860" rIns="22860" tIns="22860" bIns="22860" anchor="ctr">
            <a:spAutoFit/>
          </a:bodyPr>
          <a:lstStyle/>
          <a:p>
            <a:pPr algn="ctr">
              <a:lnSpc>
                <a:spcPct val="108000"/>
              </a:lnSpc>
            </a:pPr>
            <a:r>
              <a:rPr sz="1000" b="1">
                <a:solidFill>
                  <a:srgbClr val="B9C8D8"/>
                </a:solidFill>
                <a:latin typeface="Arial"/>
              </a:rPr>
              <a:t>02 / 22</a:t>
            </a:r>
          </a:p>
        </p:txBody>
      </p:sp>
      <p:sp>
        <p:nvSpPr>
          <p:cNvPr id="6" name="Rectangle 5"/>
          <p:cNvSpPr/>
          <p:nvPr/>
        </p:nvSpPr>
        <p:spPr>
          <a:xfrm>
            <a:off x="56692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7151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76093"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80675"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85258"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089840"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594423"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099005"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603588"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108170"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12753"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17336"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621918"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126501"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631083"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35666"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640248"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44831"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649413"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153996"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658578"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1163161" y="6711696"/>
            <a:ext cx="458862" cy="50292"/>
          </a:xfrm>
          <a:prstGeom prst="rect">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ody:27"/>
          <p:cNvSpPr txBox="1"/>
          <p:nvPr/>
        </p:nvSpPr>
        <p:spPr>
          <a:xfrm>
            <a:off x="566928" y="868680"/>
            <a:ext cx="7315200" cy="731520"/>
          </a:xfrm>
          <a:prstGeom prst="rect">
            <a:avLst/>
          </a:prstGeom>
          <a:noFill/>
        </p:spPr>
        <p:txBody>
          <a:bodyPr wrap="square" lIns="22860" rIns="22860" tIns="22860" bIns="22860" anchor="t">
            <a:spAutoFit/>
          </a:bodyPr>
          <a:lstStyle/>
          <a:p>
            <a:pPr algn="l">
              <a:lnSpc>
                <a:spcPct val="110000"/>
              </a:lnSpc>
            </a:pPr>
            <a:r>
              <a:rPr sz="3600" b="0" i="0">
                <a:solidFill>
                  <a:srgbClr val="FFFFFF"/>
                </a:solidFill>
                <a:latin typeface="Georgia"/>
              </a:rPr>
              <a:t>Outline</a:t>
            </a:r>
          </a:p>
        </p:txBody>
      </p:sp>
      <p:sp>
        <p:nvSpPr>
          <p:cNvPr id="29" name="Rounded Rectangle 28"/>
          <p:cNvSpPr/>
          <p:nvPr/>
        </p:nvSpPr>
        <p:spPr>
          <a:xfrm>
            <a:off x="566928" y="1783080"/>
            <a:ext cx="11055096" cy="749808"/>
          </a:xfrm>
          <a:prstGeom prst="roundRect">
            <a:avLst>
              <a:gd name="adj" fmla="val 5000"/>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66928" y="1783080"/>
            <a:ext cx="64008" cy="749808"/>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ody:30"/>
          <p:cNvSpPr txBox="1"/>
          <p:nvPr/>
        </p:nvSpPr>
        <p:spPr>
          <a:xfrm>
            <a:off x="795528" y="1911095"/>
            <a:ext cx="685800" cy="512064"/>
          </a:xfrm>
          <a:prstGeom prst="rect">
            <a:avLst/>
          </a:prstGeom>
          <a:noFill/>
        </p:spPr>
        <p:txBody>
          <a:bodyPr wrap="square" lIns="22860" rIns="22860" tIns="22860" bIns="22860" anchor="ctr">
            <a:spAutoFit/>
          </a:bodyPr>
          <a:lstStyle/>
          <a:p>
            <a:pPr algn="l">
              <a:lnSpc>
                <a:spcPct val="110000"/>
              </a:lnSpc>
            </a:pPr>
            <a:r>
              <a:rPr sz="2400" b="0" i="0">
                <a:solidFill>
                  <a:srgbClr val="B04E45"/>
                </a:solidFill>
                <a:latin typeface="Georgia"/>
              </a:rPr>
              <a:t>01</a:t>
            </a:r>
          </a:p>
        </p:txBody>
      </p:sp>
      <p:sp>
        <p:nvSpPr>
          <p:cNvPr id="32" name="body:31"/>
          <p:cNvSpPr txBox="1"/>
          <p:nvPr/>
        </p:nvSpPr>
        <p:spPr>
          <a:xfrm>
            <a:off x="1572768" y="1856231"/>
            <a:ext cx="2377440" cy="310896"/>
          </a:xfrm>
          <a:prstGeom prst="rect">
            <a:avLst/>
          </a:prstGeom>
          <a:noFill/>
        </p:spPr>
        <p:txBody>
          <a:bodyPr wrap="square" lIns="22860" rIns="22860" tIns="22860" bIns="22860" anchor="ctr">
            <a:spAutoFit/>
          </a:bodyPr>
          <a:lstStyle/>
          <a:p>
            <a:pPr algn="l">
              <a:lnSpc>
                <a:spcPct val="108000"/>
              </a:lnSpc>
            </a:pPr>
            <a:r>
              <a:rPr sz="1600" b="1">
                <a:solidFill>
                  <a:srgbClr val="FFFFFF"/>
                </a:solidFill>
                <a:latin typeface="Arial"/>
              </a:rPr>
              <a:t>Incidents</a:t>
            </a:r>
          </a:p>
        </p:txBody>
      </p:sp>
      <p:sp>
        <p:nvSpPr>
          <p:cNvPr id="33" name="body:32"/>
          <p:cNvSpPr txBox="1"/>
          <p:nvPr/>
        </p:nvSpPr>
        <p:spPr>
          <a:xfrm>
            <a:off x="1572768" y="2167128"/>
            <a:ext cx="2377440" cy="274320"/>
          </a:xfrm>
          <a:prstGeom prst="rect">
            <a:avLst/>
          </a:prstGeom>
          <a:noFill/>
        </p:spPr>
        <p:txBody>
          <a:bodyPr wrap="square" lIns="22860" rIns="22860" tIns="22860" bIns="22860" anchor="ctr">
            <a:spAutoFit/>
          </a:bodyPr>
          <a:lstStyle/>
          <a:p>
            <a:pPr algn="l">
              <a:lnSpc>
                <a:spcPct val="108000"/>
              </a:lnSpc>
            </a:pPr>
            <a:r>
              <a:rPr sz="1100" b="0">
                <a:solidFill>
                  <a:srgbClr val="B9C8D8"/>
                </a:solidFill>
                <a:latin typeface="Arial"/>
              </a:rPr>
              <a:t>slides 3–8</a:t>
            </a:r>
          </a:p>
        </p:txBody>
      </p:sp>
      <p:sp>
        <p:nvSpPr>
          <p:cNvPr id="34" name="body:33"/>
          <p:cNvSpPr txBox="1"/>
          <p:nvPr/>
        </p:nvSpPr>
        <p:spPr>
          <a:xfrm>
            <a:off x="3995928" y="1837943"/>
            <a:ext cx="7443216" cy="658368"/>
          </a:xfrm>
          <a:prstGeom prst="rect">
            <a:avLst/>
          </a:prstGeom>
          <a:noFill/>
        </p:spPr>
        <p:txBody>
          <a:bodyPr wrap="square" lIns="22860" rIns="22860" tIns="22860" bIns="22860" anchor="ctr">
            <a:spAutoFit/>
          </a:bodyPr>
          <a:lstStyle/>
          <a:p>
            <a:pPr algn="l">
              <a:lnSpc>
                <a:spcPct val="110000"/>
              </a:lnSpc>
            </a:pPr>
            <a:r>
              <a:rPr sz="1150" b="0">
                <a:solidFill>
                  <a:srgbClr val="B9C8D8"/>
                </a:solidFill>
                <a:latin typeface="Arial"/>
              </a:rPr>
              <a:t>Six reported cases in the style of the paper plan: framing, the feedback-loop latency, the Medicare chain, the substitution and scope-inference families, and the three questions a theory must answer.</a:t>
            </a:r>
          </a:p>
        </p:txBody>
      </p:sp>
      <p:sp>
        <p:nvSpPr>
          <p:cNvPr id="35" name="Rounded Rectangle 34"/>
          <p:cNvSpPr/>
          <p:nvPr/>
        </p:nvSpPr>
        <p:spPr>
          <a:xfrm>
            <a:off x="566928" y="2642615"/>
            <a:ext cx="11055096" cy="749808"/>
          </a:xfrm>
          <a:prstGeom prst="roundRect">
            <a:avLst>
              <a:gd name="adj" fmla="val 5000"/>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2642615"/>
            <a:ext cx="64008" cy="749808"/>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body:36"/>
          <p:cNvSpPr txBox="1"/>
          <p:nvPr/>
        </p:nvSpPr>
        <p:spPr>
          <a:xfrm>
            <a:off x="795528" y="2770632"/>
            <a:ext cx="685800" cy="512064"/>
          </a:xfrm>
          <a:prstGeom prst="rect">
            <a:avLst/>
          </a:prstGeom>
          <a:noFill/>
        </p:spPr>
        <p:txBody>
          <a:bodyPr wrap="square" lIns="22860" rIns="22860" tIns="22860" bIns="22860" anchor="ctr">
            <a:spAutoFit/>
          </a:bodyPr>
          <a:lstStyle/>
          <a:p>
            <a:pPr algn="l">
              <a:lnSpc>
                <a:spcPct val="110000"/>
              </a:lnSpc>
            </a:pPr>
            <a:r>
              <a:rPr sz="2400" b="0" i="0">
                <a:solidFill>
                  <a:srgbClr val="3A6391"/>
                </a:solidFill>
                <a:latin typeface="Georgia"/>
              </a:rPr>
              <a:t>02</a:t>
            </a:r>
          </a:p>
        </p:txBody>
      </p:sp>
      <p:sp>
        <p:nvSpPr>
          <p:cNvPr id="38" name="body:37"/>
          <p:cNvSpPr txBox="1"/>
          <p:nvPr/>
        </p:nvSpPr>
        <p:spPr>
          <a:xfrm>
            <a:off x="1572768" y="2715768"/>
            <a:ext cx="2377440" cy="310896"/>
          </a:xfrm>
          <a:prstGeom prst="rect">
            <a:avLst/>
          </a:prstGeom>
          <a:noFill/>
        </p:spPr>
        <p:txBody>
          <a:bodyPr wrap="square" lIns="22860" rIns="22860" tIns="22860" bIns="22860" anchor="ctr">
            <a:spAutoFit/>
          </a:bodyPr>
          <a:lstStyle/>
          <a:p>
            <a:pPr algn="l">
              <a:lnSpc>
                <a:spcPct val="108000"/>
              </a:lnSpc>
            </a:pPr>
            <a:r>
              <a:rPr sz="1600" b="1">
                <a:solidFill>
                  <a:srgbClr val="FFFFFF"/>
                </a:solidFill>
                <a:latin typeface="Arial"/>
              </a:rPr>
              <a:t>Decision theory</a:t>
            </a:r>
          </a:p>
        </p:txBody>
      </p:sp>
      <p:sp>
        <p:nvSpPr>
          <p:cNvPr id="39" name="body:38"/>
          <p:cNvSpPr txBox="1"/>
          <p:nvPr/>
        </p:nvSpPr>
        <p:spPr>
          <a:xfrm>
            <a:off x="1572768" y="3026663"/>
            <a:ext cx="2377440" cy="274320"/>
          </a:xfrm>
          <a:prstGeom prst="rect">
            <a:avLst/>
          </a:prstGeom>
          <a:noFill/>
        </p:spPr>
        <p:txBody>
          <a:bodyPr wrap="square" lIns="22860" rIns="22860" tIns="22860" bIns="22860" anchor="ctr">
            <a:spAutoFit/>
          </a:bodyPr>
          <a:lstStyle/>
          <a:p>
            <a:pPr algn="l">
              <a:lnSpc>
                <a:spcPct val="108000"/>
              </a:lnSpc>
            </a:pPr>
            <a:r>
              <a:rPr sz="1100" b="0">
                <a:solidFill>
                  <a:srgbClr val="B9C8D8"/>
                </a:solidFill>
                <a:latin typeface="Arial"/>
              </a:rPr>
              <a:t>slides 9–13</a:t>
            </a:r>
          </a:p>
        </p:txBody>
      </p:sp>
      <p:sp>
        <p:nvSpPr>
          <p:cNvPr id="40" name="body:39"/>
          <p:cNvSpPr txBox="1"/>
          <p:nvPr/>
        </p:nvSpPr>
        <p:spPr>
          <a:xfrm>
            <a:off x="3995928" y="2697479"/>
            <a:ext cx="7443216" cy="658368"/>
          </a:xfrm>
          <a:prstGeom prst="rect">
            <a:avLst/>
          </a:prstGeom>
          <a:noFill/>
        </p:spPr>
        <p:txBody>
          <a:bodyPr wrap="square" lIns="22860" rIns="22860" tIns="22860" bIns="22860" anchor="ctr">
            <a:spAutoFit/>
          </a:bodyPr>
          <a:lstStyle/>
          <a:p>
            <a:pPr algn="l">
              <a:lnSpc>
                <a:spcPct val="110000"/>
              </a:lnSpc>
            </a:pPr>
            <a:r>
              <a:rPr sz="1150" b="0">
                <a:solidFill>
                  <a:srgbClr val="B9C8D8"/>
                </a:solidFill>
                <a:latin typeface="Arial"/>
              </a:rPr>
              <a:t>A constrained POMDP whose grant only a trusted reply can change, then four exact results: stopping with learning, value of information, ambiguity under a silent grant, selection from finite evidence.</a:t>
            </a:r>
          </a:p>
        </p:txBody>
      </p:sp>
      <p:sp>
        <p:nvSpPr>
          <p:cNvPr id="41" name="Rounded Rectangle 40"/>
          <p:cNvSpPr/>
          <p:nvPr/>
        </p:nvSpPr>
        <p:spPr>
          <a:xfrm>
            <a:off x="566928" y="3502152"/>
            <a:ext cx="11055096" cy="749808"/>
          </a:xfrm>
          <a:prstGeom prst="roundRect">
            <a:avLst>
              <a:gd name="adj" fmla="val 5000"/>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66928" y="3502152"/>
            <a:ext cx="64008" cy="749808"/>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ody:42"/>
          <p:cNvSpPr txBox="1"/>
          <p:nvPr/>
        </p:nvSpPr>
        <p:spPr>
          <a:xfrm>
            <a:off x="795528" y="3630168"/>
            <a:ext cx="685800" cy="512064"/>
          </a:xfrm>
          <a:prstGeom prst="rect">
            <a:avLst/>
          </a:prstGeom>
          <a:noFill/>
        </p:spPr>
        <p:txBody>
          <a:bodyPr wrap="square" lIns="22860" rIns="22860" tIns="22860" bIns="22860" anchor="ctr">
            <a:spAutoFit/>
          </a:bodyPr>
          <a:lstStyle/>
          <a:p>
            <a:pPr algn="l">
              <a:lnSpc>
                <a:spcPct val="110000"/>
              </a:lnSpc>
            </a:pPr>
            <a:r>
              <a:rPr sz="2400" b="0" i="0">
                <a:solidFill>
                  <a:srgbClr val="1E7A72"/>
                </a:solidFill>
                <a:latin typeface="Georgia"/>
              </a:rPr>
              <a:t>03</a:t>
            </a:r>
          </a:p>
        </p:txBody>
      </p:sp>
      <p:sp>
        <p:nvSpPr>
          <p:cNvPr id="44" name="body:43"/>
          <p:cNvSpPr txBox="1"/>
          <p:nvPr/>
        </p:nvSpPr>
        <p:spPr>
          <a:xfrm>
            <a:off x="1572768" y="3575304"/>
            <a:ext cx="2377440" cy="310896"/>
          </a:xfrm>
          <a:prstGeom prst="rect">
            <a:avLst/>
          </a:prstGeom>
          <a:noFill/>
        </p:spPr>
        <p:txBody>
          <a:bodyPr wrap="square" lIns="22860" rIns="22860" tIns="22860" bIns="22860" anchor="ctr">
            <a:spAutoFit/>
          </a:bodyPr>
          <a:lstStyle/>
          <a:p>
            <a:pPr algn="l">
              <a:lnSpc>
                <a:spcPct val="108000"/>
              </a:lnSpc>
            </a:pPr>
            <a:r>
              <a:rPr sz="1600" b="1">
                <a:solidFill>
                  <a:srgbClr val="FFFFFF"/>
                </a:solidFill>
                <a:latin typeface="Arial"/>
              </a:rPr>
              <a:t>Algorithms</a:t>
            </a:r>
          </a:p>
        </p:txBody>
      </p:sp>
      <p:sp>
        <p:nvSpPr>
          <p:cNvPr id="45" name="body:44"/>
          <p:cNvSpPr txBox="1"/>
          <p:nvPr/>
        </p:nvSpPr>
        <p:spPr>
          <a:xfrm>
            <a:off x="1572768" y="3886200"/>
            <a:ext cx="2377440" cy="274320"/>
          </a:xfrm>
          <a:prstGeom prst="rect">
            <a:avLst/>
          </a:prstGeom>
          <a:noFill/>
        </p:spPr>
        <p:txBody>
          <a:bodyPr wrap="square" lIns="22860" rIns="22860" tIns="22860" bIns="22860" anchor="ctr">
            <a:spAutoFit/>
          </a:bodyPr>
          <a:lstStyle/>
          <a:p>
            <a:pPr algn="l">
              <a:lnSpc>
                <a:spcPct val="108000"/>
              </a:lnSpc>
            </a:pPr>
            <a:r>
              <a:rPr sz="1100" b="0">
                <a:solidFill>
                  <a:srgbClr val="B9C8D8"/>
                </a:solidFill>
                <a:latin typeface="Arial"/>
              </a:rPr>
              <a:t>slides 14–17</a:t>
            </a:r>
          </a:p>
        </p:txBody>
      </p:sp>
      <p:sp>
        <p:nvSpPr>
          <p:cNvPr id="46" name="body:45"/>
          <p:cNvSpPr txBox="1"/>
          <p:nvPr/>
        </p:nvSpPr>
        <p:spPr>
          <a:xfrm>
            <a:off x="3995928" y="3557016"/>
            <a:ext cx="7443216" cy="658368"/>
          </a:xfrm>
          <a:prstGeom prst="rect">
            <a:avLst/>
          </a:prstGeom>
          <a:noFill/>
        </p:spPr>
        <p:txBody>
          <a:bodyPr wrap="square" lIns="22860" rIns="22860" tIns="22860" bIns="22860" anchor="ctr">
            <a:spAutoFit/>
          </a:bodyPr>
          <a:lstStyle/>
          <a:p>
            <a:pPr algn="l">
              <a:lnSpc>
                <a:spcPct val="110000"/>
              </a:lnSpc>
            </a:pPr>
            <a:r>
              <a:rPr sz="1150" b="0">
                <a:solidFill>
                  <a:srgbClr val="B9C8D8"/>
                </a:solidFill>
                <a:latin typeface="Arial"/>
              </a:rPr>
              <a:t>GRANT-LOOKAHEAD (online) and INCIDENT-SELECT (offline) as pseudocode with properties; a point-by-point comparison with POMCP, constrained RL, shielding, CaMeL, Progent, AI Control and ImpossibleBench.</a:t>
            </a:r>
          </a:p>
        </p:txBody>
      </p:sp>
      <p:sp>
        <p:nvSpPr>
          <p:cNvPr id="47" name="Rounded Rectangle 46"/>
          <p:cNvSpPr/>
          <p:nvPr/>
        </p:nvSpPr>
        <p:spPr>
          <a:xfrm>
            <a:off x="566928" y="4361688"/>
            <a:ext cx="11055096" cy="749808"/>
          </a:xfrm>
          <a:prstGeom prst="roundRect">
            <a:avLst>
              <a:gd name="adj" fmla="val 5000"/>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66928" y="4361688"/>
            <a:ext cx="64008" cy="749808"/>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ody:48"/>
          <p:cNvSpPr txBox="1"/>
          <p:nvPr/>
        </p:nvSpPr>
        <p:spPr>
          <a:xfrm>
            <a:off x="795528" y="4489703"/>
            <a:ext cx="685800" cy="512064"/>
          </a:xfrm>
          <a:prstGeom prst="rect">
            <a:avLst/>
          </a:prstGeom>
          <a:noFill/>
        </p:spPr>
        <p:txBody>
          <a:bodyPr wrap="square" lIns="22860" rIns="22860" tIns="22860" bIns="22860" anchor="ctr">
            <a:spAutoFit/>
          </a:bodyPr>
          <a:lstStyle/>
          <a:p>
            <a:pPr algn="l">
              <a:lnSpc>
                <a:spcPct val="110000"/>
              </a:lnSpc>
            </a:pPr>
            <a:r>
              <a:rPr sz="2400" b="0" i="0">
                <a:solidFill>
                  <a:srgbClr val="6A4C93"/>
                </a:solidFill>
                <a:latin typeface="Georgia"/>
              </a:rPr>
              <a:t>04</a:t>
            </a:r>
          </a:p>
        </p:txBody>
      </p:sp>
      <p:sp>
        <p:nvSpPr>
          <p:cNvPr id="50" name="body:49"/>
          <p:cNvSpPr txBox="1"/>
          <p:nvPr/>
        </p:nvSpPr>
        <p:spPr>
          <a:xfrm>
            <a:off x="1572768" y="4434840"/>
            <a:ext cx="2377440" cy="310896"/>
          </a:xfrm>
          <a:prstGeom prst="rect">
            <a:avLst/>
          </a:prstGeom>
          <a:noFill/>
        </p:spPr>
        <p:txBody>
          <a:bodyPr wrap="square" lIns="22860" rIns="22860" tIns="22860" bIns="22860" anchor="ctr">
            <a:spAutoFit/>
          </a:bodyPr>
          <a:lstStyle/>
          <a:p>
            <a:pPr algn="l">
              <a:lnSpc>
                <a:spcPct val="108000"/>
              </a:lnSpc>
            </a:pPr>
            <a:r>
              <a:rPr sz="1600" b="1">
                <a:solidFill>
                  <a:srgbClr val="FFFFFF"/>
                </a:solidFill>
                <a:latin typeface="Arial"/>
              </a:rPr>
              <a:t>Experiments</a:t>
            </a:r>
          </a:p>
        </p:txBody>
      </p:sp>
      <p:sp>
        <p:nvSpPr>
          <p:cNvPr id="51" name="body:50"/>
          <p:cNvSpPr txBox="1"/>
          <p:nvPr/>
        </p:nvSpPr>
        <p:spPr>
          <a:xfrm>
            <a:off x="1572768" y="4745736"/>
            <a:ext cx="2377440" cy="274320"/>
          </a:xfrm>
          <a:prstGeom prst="rect">
            <a:avLst/>
          </a:prstGeom>
          <a:noFill/>
        </p:spPr>
        <p:txBody>
          <a:bodyPr wrap="square" lIns="22860" rIns="22860" tIns="22860" bIns="22860" anchor="ctr">
            <a:spAutoFit/>
          </a:bodyPr>
          <a:lstStyle/>
          <a:p>
            <a:pPr algn="l">
              <a:lnSpc>
                <a:spcPct val="108000"/>
              </a:lnSpc>
            </a:pPr>
            <a:r>
              <a:rPr sz="1100" b="0">
                <a:solidFill>
                  <a:srgbClr val="B9C8D8"/>
                </a:solidFill>
                <a:latin typeface="Arial"/>
              </a:rPr>
              <a:t>slides 18–20</a:t>
            </a:r>
          </a:p>
        </p:txBody>
      </p:sp>
      <p:sp>
        <p:nvSpPr>
          <p:cNvPr id="52" name="body:51"/>
          <p:cNvSpPr txBox="1"/>
          <p:nvPr/>
        </p:nvSpPr>
        <p:spPr>
          <a:xfrm>
            <a:off x="3995928" y="4416551"/>
            <a:ext cx="7443216" cy="658368"/>
          </a:xfrm>
          <a:prstGeom prst="rect">
            <a:avLst/>
          </a:prstGeom>
          <a:noFill/>
        </p:spPr>
        <p:txBody>
          <a:bodyPr wrap="square" lIns="22860" rIns="22860" tIns="22860" bIns="22860" anchor="ctr">
            <a:spAutoFit/>
          </a:bodyPr>
          <a:lstStyle/>
          <a:p>
            <a:pPr algn="l">
              <a:lnSpc>
                <a:spcPct val="110000"/>
              </a:lnSpc>
            </a:pPr>
            <a:r>
              <a:rPr sz="1150" b="0">
                <a:solidFill>
                  <a:srgbClr val="B9C8D8"/>
                </a:solidFill>
                <a:latin typeface="Arial"/>
              </a:rPr>
              <a:t>E1 simulator regret study; E2 repair × grant factorial with seven arms including prior-method baselines; E3 selection contrast on fresh lineages; falsifiers for each.</a:t>
            </a:r>
          </a:p>
        </p:txBody>
      </p:sp>
      <p:sp>
        <p:nvSpPr>
          <p:cNvPr id="53" name="Rounded Rectangle 52"/>
          <p:cNvSpPr/>
          <p:nvPr/>
        </p:nvSpPr>
        <p:spPr>
          <a:xfrm>
            <a:off x="566928" y="5221224"/>
            <a:ext cx="11055096" cy="749808"/>
          </a:xfrm>
          <a:prstGeom prst="roundRect">
            <a:avLst>
              <a:gd name="adj" fmla="val 5000"/>
            </a:avLst>
          </a:prstGeom>
          <a:solidFill>
            <a:srgbClr val="223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66928" y="5221224"/>
            <a:ext cx="64008" cy="749808"/>
          </a:xfrm>
          <a:prstGeom prst="rect">
            <a:avLst/>
          </a:prstGeom>
          <a:solidFill>
            <a:srgbClr val="B46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ody:54"/>
          <p:cNvSpPr txBox="1"/>
          <p:nvPr/>
        </p:nvSpPr>
        <p:spPr>
          <a:xfrm>
            <a:off x="795528" y="5349240"/>
            <a:ext cx="685800" cy="512064"/>
          </a:xfrm>
          <a:prstGeom prst="rect">
            <a:avLst/>
          </a:prstGeom>
          <a:noFill/>
        </p:spPr>
        <p:txBody>
          <a:bodyPr wrap="square" lIns="22860" rIns="22860" tIns="22860" bIns="22860" anchor="ctr">
            <a:spAutoFit/>
          </a:bodyPr>
          <a:lstStyle/>
          <a:p>
            <a:pPr algn="l">
              <a:lnSpc>
                <a:spcPct val="110000"/>
              </a:lnSpc>
            </a:pPr>
            <a:r>
              <a:rPr sz="2400" b="0" i="0">
                <a:solidFill>
                  <a:srgbClr val="B4602E"/>
                </a:solidFill>
                <a:latin typeface="Georgia"/>
              </a:rPr>
              <a:t>05</a:t>
            </a:r>
          </a:p>
        </p:txBody>
      </p:sp>
      <p:sp>
        <p:nvSpPr>
          <p:cNvPr id="56" name="body:55"/>
          <p:cNvSpPr txBox="1"/>
          <p:nvPr/>
        </p:nvSpPr>
        <p:spPr>
          <a:xfrm>
            <a:off x="1572768" y="5294376"/>
            <a:ext cx="2377440" cy="310896"/>
          </a:xfrm>
          <a:prstGeom prst="rect">
            <a:avLst/>
          </a:prstGeom>
          <a:noFill/>
        </p:spPr>
        <p:txBody>
          <a:bodyPr wrap="square" lIns="22860" rIns="22860" tIns="22860" bIns="22860" anchor="ctr">
            <a:spAutoFit/>
          </a:bodyPr>
          <a:lstStyle/>
          <a:p>
            <a:pPr algn="l">
              <a:lnSpc>
                <a:spcPct val="108000"/>
              </a:lnSpc>
            </a:pPr>
            <a:r>
              <a:rPr sz="1600" b="1">
                <a:solidFill>
                  <a:srgbClr val="FFFFFF"/>
                </a:solidFill>
                <a:latin typeface="Arial"/>
              </a:rPr>
              <a:t>Implications</a:t>
            </a:r>
          </a:p>
        </p:txBody>
      </p:sp>
      <p:sp>
        <p:nvSpPr>
          <p:cNvPr id="57" name="body:56"/>
          <p:cNvSpPr txBox="1"/>
          <p:nvPr/>
        </p:nvSpPr>
        <p:spPr>
          <a:xfrm>
            <a:off x="1572768" y="5605272"/>
            <a:ext cx="2377440" cy="274320"/>
          </a:xfrm>
          <a:prstGeom prst="rect">
            <a:avLst/>
          </a:prstGeom>
          <a:noFill/>
        </p:spPr>
        <p:txBody>
          <a:bodyPr wrap="square" lIns="22860" rIns="22860" tIns="22860" bIns="22860" anchor="ctr">
            <a:spAutoFit/>
          </a:bodyPr>
          <a:lstStyle/>
          <a:p>
            <a:pPr algn="l">
              <a:lnSpc>
                <a:spcPct val="108000"/>
              </a:lnSpc>
            </a:pPr>
            <a:r>
              <a:rPr sz="1100" b="0">
                <a:solidFill>
                  <a:srgbClr val="B9C8D8"/>
                </a:solidFill>
                <a:latin typeface="Arial"/>
              </a:rPr>
              <a:t>slides 21–22</a:t>
            </a:r>
          </a:p>
        </p:txBody>
      </p:sp>
      <p:sp>
        <p:nvSpPr>
          <p:cNvPr id="58" name="body:57"/>
          <p:cNvSpPr txBox="1"/>
          <p:nvPr/>
        </p:nvSpPr>
        <p:spPr>
          <a:xfrm>
            <a:off x="3995928" y="5276088"/>
            <a:ext cx="7443216" cy="658368"/>
          </a:xfrm>
          <a:prstGeom prst="rect">
            <a:avLst/>
          </a:prstGeom>
          <a:noFill/>
        </p:spPr>
        <p:txBody>
          <a:bodyPr wrap="square" lIns="22860" rIns="22860" tIns="22860" bIns="22860" anchor="ctr">
            <a:spAutoFit/>
          </a:bodyPr>
          <a:lstStyle/>
          <a:p>
            <a:pPr algn="l">
              <a:lnSpc>
                <a:spcPct val="110000"/>
              </a:lnSpc>
            </a:pPr>
            <a:r>
              <a:rPr sz="1150" b="0">
                <a:solidFill>
                  <a:srgbClr val="B9C8D8"/>
                </a:solidFill>
                <a:latin typeface="Arial"/>
              </a:rPr>
              <a:t>Each incident family mapped to a result, a system change and its test; outcomes interpreted in advance; milestones.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label:2"/>
          <p:cNvSpPr txBox="1"/>
          <p:nvPr/>
        </p:nvSpPr>
        <p:spPr>
          <a:xfrm>
            <a:off x="566928" y="365760"/>
            <a:ext cx="10058400" cy="420624"/>
          </a:xfrm>
          <a:prstGeom prst="rect">
            <a:avLst/>
          </a:prstGeom>
          <a:noFill/>
        </p:spPr>
        <p:txBody>
          <a:bodyPr wrap="square" lIns="22860" rIns="22860" tIns="22860" bIns="22860" anchor="ctr">
            <a:spAutoFit/>
          </a:bodyPr>
          <a:lstStyle/>
          <a:p>
            <a:pPr algn="l">
              <a:lnSpc>
                <a:spcPct val="108000"/>
              </a:lnSpc>
            </a:pPr>
            <a:r>
              <a:rPr sz="1100" b="1">
                <a:solidFill>
                  <a:srgbClr val="1E7A72"/>
                </a:solidFill>
                <a:latin typeface="Arial"/>
              </a:rPr>
              <a:t>01 / MOTIVATION FROM REPORTED INCIDENTS</a:t>
            </a:r>
          </a:p>
        </p:txBody>
      </p:sp>
      <p:sp>
        <p:nvSpPr>
          <p:cNvPr id="4" name="title:3"/>
          <p:cNvSpPr txBox="1"/>
          <p:nvPr/>
        </p:nvSpPr>
        <p:spPr>
          <a:xfrm>
            <a:off x="566928" y="786384"/>
            <a:ext cx="11055096" cy="804672"/>
          </a:xfrm>
          <a:prstGeom prst="rect">
            <a:avLst/>
          </a:prstGeom>
          <a:noFill/>
        </p:spPr>
        <p:txBody>
          <a:bodyPr wrap="square" lIns="22860" rIns="22860" tIns="22860" bIns="22860" anchor="ctr">
            <a:spAutoFit/>
          </a:bodyPr>
          <a:lstStyle/>
          <a:p>
            <a:pPr algn="l">
              <a:lnSpc>
                <a:spcPct val="105000"/>
              </a:lnSpc>
            </a:pPr>
            <a:r>
              <a:rPr sz="2600" b="1">
                <a:solidFill>
                  <a:srgbClr val="172D46"/>
                </a:solidFill>
                <a:latin typeface="Arial"/>
              </a:rPr>
              <a:t>A failed route is where authority gets reinterpreted.</a:t>
            </a:r>
          </a:p>
        </p:txBody>
      </p:sp>
      <p:sp>
        <p:nvSpPr>
          <p:cNvPr id="5" name="Rectangle 4"/>
          <p:cNvSpPr/>
          <p:nvPr/>
        </p:nvSpPr>
        <p:spPr>
          <a:xfrm>
            <a:off x="566928" y="1609344"/>
            <a:ext cx="868680" cy="4572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ubtitle:5"/>
          <p:cNvSpPr txBox="1"/>
          <p:nvPr/>
        </p:nvSpPr>
        <p:spPr>
          <a:xfrm>
            <a:off x="585216" y="1682496"/>
            <a:ext cx="11055096" cy="457200"/>
          </a:xfrm>
          <a:prstGeom prst="rect">
            <a:avLst/>
          </a:prstGeom>
          <a:noFill/>
        </p:spPr>
        <p:txBody>
          <a:bodyPr wrap="square" lIns="22860" rIns="22860" tIns="22860" bIns="22860" anchor="ctr">
            <a:spAutoFit/>
          </a:bodyPr>
          <a:lstStyle/>
          <a:p>
            <a:pPr algn="l">
              <a:lnSpc>
                <a:spcPct val="105000"/>
              </a:lnSpc>
            </a:pPr>
            <a:r>
              <a:rPr sz="1400" b="0">
                <a:solidFill>
                  <a:srgbClr val="5F6E80"/>
                </a:solidFill>
                <a:latin typeface="Arial"/>
              </a:rPr>
              <a:t>26 public incident records, October 2025 to September 2026, coded by pathway, mechanism, leading indicator and stop behaviour.</a:t>
            </a:r>
          </a:p>
        </p:txBody>
      </p:sp>
      <p:sp>
        <p:nvSpPr>
          <p:cNvPr id="7" name="source:6"/>
          <p:cNvSpPr txBox="1"/>
          <p:nvPr/>
        </p:nvSpPr>
        <p:spPr>
          <a:xfrm>
            <a:off x="566928" y="6400800"/>
            <a:ext cx="1033272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rPr>
              <a:t> </a:t>
            </a:r>
          </a:p>
        </p:txBody>
      </p:sp>
      <p:sp>
        <p:nvSpPr>
          <p:cNvPr id="8" name="source:7"/>
          <p:cNvSpPr txBox="1"/>
          <p:nvPr/>
        </p:nvSpPr>
        <p:spPr>
          <a:xfrm>
            <a:off x="10927080" y="6364224"/>
            <a:ext cx="694944" cy="265176"/>
          </a:xfrm>
          <a:prstGeom prst="rect">
            <a:avLst/>
          </a:prstGeom>
          <a:noFill/>
        </p:spPr>
        <p:txBody>
          <a:bodyPr wrap="square" lIns="22860" rIns="22860" tIns="22860" bIns="22860" anchor="ctr">
            <a:spAutoFit/>
          </a:bodyPr>
          <a:lstStyle/>
          <a:p>
            <a:pPr algn="ctr">
              <a:lnSpc>
                <a:spcPct val="108000"/>
              </a:lnSpc>
            </a:pPr>
            <a:r>
              <a:rPr sz="1000" b="1">
                <a:solidFill>
                  <a:srgbClr val="5F6E80"/>
                </a:solidFill>
                <a:latin typeface="Arial"/>
              </a:rPr>
              <a:t>03 / 22</a:t>
            </a:r>
          </a:p>
        </p:txBody>
      </p:sp>
      <p:sp>
        <p:nvSpPr>
          <p:cNvPr id="9" name="Rectangle 8"/>
          <p:cNvSpPr/>
          <p:nvPr/>
        </p:nvSpPr>
        <p:spPr>
          <a:xfrm>
            <a:off x="56692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7151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57609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80675"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8525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89840"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9442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99005"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0358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08170"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1275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17336"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2191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2650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63108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35666"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4024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4483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4941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153996"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65857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16316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104120" y="365760"/>
            <a:ext cx="1517904" cy="274320"/>
          </a:xfrm>
          <a:prstGeom prst="roundRect">
            <a:avLst>
              <a:gd name="adj" fmla="val 5000"/>
            </a:avLst>
          </a:prstGeom>
          <a:solidFill>
            <a:srgbClr val="E1F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31"/>
          <p:cNvSpPr txBox="1"/>
          <p:nvPr/>
        </p:nvSpPr>
        <p:spPr>
          <a:xfrm>
            <a:off x="10158984" y="365760"/>
            <a:ext cx="1408176" cy="274320"/>
          </a:xfrm>
          <a:prstGeom prst="rect">
            <a:avLst/>
          </a:prstGeom>
          <a:noFill/>
        </p:spPr>
        <p:txBody>
          <a:bodyPr wrap="square" lIns="22860" rIns="22860" tIns="22860" bIns="22860" anchor="ctr">
            <a:spAutoFit/>
          </a:bodyPr>
          <a:lstStyle/>
          <a:p>
            <a:pPr algn="ctr">
              <a:lnSpc>
                <a:spcPct val="108000"/>
              </a:lnSpc>
            </a:pPr>
            <a:r>
              <a:rPr sz="1000" b="1">
                <a:solidFill>
                  <a:srgbClr val="1E7A72"/>
                </a:solidFill>
                <a:latin typeface="Arial"/>
              </a:rPr>
              <a:t>FRAMING</a:t>
            </a:r>
          </a:p>
        </p:txBody>
      </p:sp>
      <p:sp>
        <p:nvSpPr>
          <p:cNvPr id="33" name="source:32"/>
          <p:cNvSpPr txBox="1"/>
          <p:nvPr/>
        </p:nvSpPr>
        <p:spPr>
          <a:xfrm>
            <a:off x="566928" y="6400800"/>
            <a:ext cx="210312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2"/>
              </a:rPr>
              <a:t>Incident library analysis</a:t>
            </a:r>
          </a:p>
        </p:txBody>
      </p:sp>
      <p:sp>
        <p:nvSpPr>
          <p:cNvPr id="34" name="source:33"/>
          <p:cNvSpPr txBox="1"/>
          <p:nvPr/>
        </p:nvSpPr>
        <p:spPr>
          <a:xfrm>
            <a:off x="2816352" y="6400800"/>
            <a:ext cx="210312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3"/>
              </a:rPr>
              <a:t>Archived 160-run study</a:t>
            </a:r>
          </a:p>
        </p:txBody>
      </p:sp>
      <p:sp>
        <p:nvSpPr>
          <p:cNvPr id="35" name="source:34"/>
          <p:cNvSpPr txBox="1"/>
          <p:nvPr/>
        </p:nvSpPr>
        <p:spPr>
          <a:xfrm>
            <a:off x="5065776" y="6400800"/>
            <a:ext cx="274320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4"/>
              </a:rPr>
              <a:t>Incidents to testable questions</a:t>
            </a:r>
          </a:p>
        </p:txBody>
      </p:sp>
      <p:sp>
        <p:nvSpPr>
          <p:cNvPr id="36" name="Rounded Rectangle 35"/>
          <p:cNvSpPr/>
          <p:nvPr/>
        </p:nvSpPr>
        <p:spPr>
          <a:xfrm>
            <a:off x="566928" y="2194560"/>
            <a:ext cx="2612898" cy="1965960"/>
          </a:xfrm>
          <a:prstGeom prst="roundRect">
            <a:avLst>
              <a:gd name="adj" fmla="val 5000"/>
            </a:avLst>
          </a:prstGeom>
          <a:solidFill>
            <a:srgbClr val="F7E6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66928" y="2194560"/>
            <a:ext cx="2612898" cy="54864"/>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ody:37"/>
          <p:cNvSpPr txBox="1"/>
          <p:nvPr/>
        </p:nvSpPr>
        <p:spPr>
          <a:xfrm>
            <a:off x="676656" y="2322576"/>
            <a:ext cx="2393442" cy="457200"/>
          </a:xfrm>
          <a:prstGeom prst="rect">
            <a:avLst/>
          </a:prstGeom>
          <a:noFill/>
        </p:spPr>
        <p:txBody>
          <a:bodyPr wrap="square" lIns="22860" rIns="22860" tIns="22860" bIns="22860" anchor="ctr">
            <a:spAutoFit/>
          </a:bodyPr>
          <a:lstStyle/>
          <a:p>
            <a:pPr algn="l">
              <a:lnSpc>
                <a:spcPct val="100000"/>
              </a:lnSpc>
            </a:pPr>
            <a:r>
              <a:rPr sz="1600" b="1">
                <a:solidFill>
                  <a:srgbClr val="B04E45"/>
                </a:solidFill>
                <a:latin typeface="Arial"/>
              </a:rPr>
              <a:t>26 public incidents</a:t>
            </a:r>
          </a:p>
        </p:txBody>
      </p:sp>
      <p:sp>
        <p:nvSpPr>
          <p:cNvPr id="39" name="body:38"/>
          <p:cNvSpPr txBox="1"/>
          <p:nvPr/>
        </p:nvSpPr>
        <p:spPr>
          <a:xfrm>
            <a:off x="676656" y="2798064"/>
            <a:ext cx="2393442" cy="1271016"/>
          </a:xfrm>
          <a:prstGeom prst="rect">
            <a:avLst/>
          </a:prstGeom>
          <a:noFill/>
        </p:spPr>
        <p:txBody>
          <a:bodyPr wrap="square" lIns="22860" rIns="22860" tIns="22860" bIns="22860" anchor="t">
            <a:spAutoFit/>
          </a:bodyPr>
          <a:lstStyle/>
          <a:p>
            <a:pPr algn="l">
              <a:lnSpc>
                <a:spcPct val="105000"/>
              </a:lnSpc>
            </a:pPr>
            <a:r>
              <a:rPr sz="1250" b="0">
                <a:solidFill>
                  <a:srgbClr val="22313F"/>
                </a:solidFill>
                <a:latin typeface="Arial"/>
              </a:rPr>
              <a:t>Largest pathway: live-access overreach, 9 of 26. Repeated task failure recorded in 9; unknown in 13.</a:t>
            </a:r>
          </a:p>
        </p:txBody>
      </p:sp>
      <p:sp>
        <p:nvSpPr>
          <p:cNvPr id="40" name="Rectangle 39"/>
          <p:cNvSpPr/>
          <p:nvPr/>
        </p:nvSpPr>
        <p:spPr>
          <a:xfrm>
            <a:off x="3207258" y="3166109"/>
            <a:ext cx="146304" cy="22860"/>
          </a:xfrm>
          <a:prstGeom prst="rect">
            <a:avLst/>
          </a:prstGeom>
          <a:solidFill>
            <a:srgbClr val="5F6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Isosceles Triangle 40"/>
          <p:cNvSpPr/>
          <p:nvPr/>
        </p:nvSpPr>
        <p:spPr>
          <a:xfrm rot="5400000">
            <a:off x="3289554" y="3113531"/>
            <a:ext cx="128016" cy="128016"/>
          </a:xfrm>
          <a:prstGeom prst="triangle">
            <a:avLst/>
          </a:prstGeom>
          <a:solidFill>
            <a:srgbClr val="5F6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3380994" y="2194560"/>
            <a:ext cx="2612898" cy="1965960"/>
          </a:xfrm>
          <a:prstGeom prst="roundRect">
            <a:avLst>
              <a:gd name="adj" fmla="val 5000"/>
            </a:avLst>
          </a:prstGeom>
          <a:solidFill>
            <a:srgbClr val="F8E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380994" y="2194560"/>
            <a:ext cx="2612898" cy="54864"/>
          </a:xfrm>
          <a:prstGeom prst="rect">
            <a:avLst/>
          </a:prstGeom>
          <a:solidFill>
            <a:srgbClr val="B46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ody:43"/>
          <p:cNvSpPr txBox="1"/>
          <p:nvPr/>
        </p:nvSpPr>
        <p:spPr>
          <a:xfrm>
            <a:off x="3490722" y="2322576"/>
            <a:ext cx="2393442" cy="457200"/>
          </a:xfrm>
          <a:prstGeom prst="rect">
            <a:avLst/>
          </a:prstGeom>
          <a:noFill/>
        </p:spPr>
        <p:txBody>
          <a:bodyPr wrap="square" lIns="22860" rIns="22860" tIns="22860" bIns="22860" anchor="ctr">
            <a:spAutoFit/>
          </a:bodyPr>
          <a:lstStyle/>
          <a:p>
            <a:pPr algn="l">
              <a:lnSpc>
                <a:spcPct val="100000"/>
              </a:lnSpc>
            </a:pPr>
            <a:r>
              <a:rPr sz="1600" b="1">
                <a:solidFill>
                  <a:srgbClr val="B4602E"/>
                </a:solidFill>
                <a:latin typeface="Arial"/>
              </a:rPr>
              <a:t>One decision point</a:t>
            </a:r>
          </a:p>
        </p:txBody>
      </p:sp>
      <p:sp>
        <p:nvSpPr>
          <p:cNvPr id="45" name="body:44"/>
          <p:cNvSpPr txBox="1"/>
          <p:nvPr/>
        </p:nvSpPr>
        <p:spPr>
          <a:xfrm>
            <a:off x="3490722" y="2798064"/>
            <a:ext cx="2393442" cy="1271016"/>
          </a:xfrm>
          <a:prstGeom prst="rect">
            <a:avLst/>
          </a:prstGeom>
          <a:noFill/>
        </p:spPr>
        <p:txBody>
          <a:bodyPr wrap="square" lIns="22860" rIns="22860" tIns="22860" bIns="22860" anchor="t">
            <a:spAutoFit/>
          </a:bodyPr>
          <a:lstStyle/>
          <a:p>
            <a:pPr algn="l">
              <a:lnSpc>
                <a:spcPct val="105000"/>
              </a:lnSpc>
            </a:pPr>
            <a:r>
              <a:rPr sz="1250" b="0">
                <a:solidFill>
                  <a:srgbClr val="22313F"/>
                </a:solidFill>
                <a:latin typeface="Arial"/>
              </a:rPr>
              <a:t>Task blocked. Allowed route failing. Forbidden resource reachable. What changes: the plan, or the permission?</a:t>
            </a:r>
          </a:p>
        </p:txBody>
      </p:sp>
      <p:sp>
        <p:nvSpPr>
          <p:cNvPr id="46" name="Rectangle 45"/>
          <p:cNvSpPr/>
          <p:nvPr/>
        </p:nvSpPr>
        <p:spPr>
          <a:xfrm>
            <a:off x="6021324" y="3166109"/>
            <a:ext cx="146304" cy="22860"/>
          </a:xfrm>
          <a:prstGeom prst="rect">
            <a:avLst/>
          </a:prstGeom>
          <a:solidFill>
            <a:srgbClr val="5F6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Isosceles Triangle 46"/>
          <p:cNvSpPr/>
          <p:nvPr/>
        </p:nvSpPr>
        <p:spPr>
          <a:xfrm rot="5400000">
            <a:off x="6103620" y="3113531"/>
            <a:ext cx="128016" cy="128016"/>
          </a:xfrm>
          <a:prstGeom prst="triangle">
            <a:avLst/>
          </a:prstGeom>
          <a:solidFill>
            <a:srgbClr val="5F6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6195060" y="2194560"/>
            <a:ext cx="2612898" cy="1965960"/>
          </a:xfrm>
          <a:prstGeom prst="roundRect">
            <a:avLst>
              <a:gd name="adj" fmla="val 5000"/>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95060" y="2194560"/>
            <a:ext cx="2612898" cy="54864"/>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ody:49"/>
          <p:cNvSpPr txBox="1"/>
          <p:nvPr/>
        </p:nvSpPr>
        <p:spPr>
          <a:xfrm>
            <a:off x="6304788" y="2322576"/>
            <a:ext cx="2393442" cy="457200"/>
          </a:xfrm>
          <a:prstGeom prst="rect">
            <a:avLst/>
          </a:prstGeom>
          <a:noFill/>
        </p:spPr>
        <p:txBody>
          <a:bodyPr wrap="square" lIns="22860" rIns="22860" tIns="22860" bIns="22860" anchor="ctr">
            <a:spAutoFit/>
          </a:bodyPr>
          <a:lstStyle/>
          <a:p>
            <a:pPr algn="l">
              <a:lnSpc>
                <a:spcPct val="100000"/>
              </a:lnSpc>
            </a:pPr>
            <a:r>
              <a:rPr sz="1600" b="1">
                <a:solidFill>
                  <a:srgbClr val="3A6391"/>
                </a:solidFill>
                <a:latin typeface="Arial"/>
              </a:rPr>
              <a:t>160 archived runs</a:t>
            </a:r>
          </a:p>
        </p:txBody>
      </p:sp>
      <p:sp>
        <p:nvSpPr>
          <p:cNvPr id="51" name="body:50"/>
          <p:cNvSpPr txBox="1"/>
          <p:nvPr/>
        </p:nvSpPr>
        <p:spPr>
          <a:xfrm>
            <a:off x="6304788" y="2798064"/>
            <a:ext cx="2393442" cy="1271016"/>
          </a:xfrm>
          <a:prstGeom prst="rect">
            <a:avLst/>
          </a:prstGeom>
          <a:noFill/>
        </p:spPr>
        <p:txBody>
          <a:bodyPr wrap="square" lIns="22860" rIns="22860" tIns="22860" bIns="22860" anchor="t">
            <a:spAutoFit/>
          </a:bodyPr>
          <a:lstStyle/>
          <a:p>
            <a:pPr algn="l">
              <a:lnSpc>
                <a:spcPct val="105000"/>
              </a:lnSpc>
            </a:pPr>
            <a:r>
              <a:rPr sz="1250" b="0">
                <a:solidFill>
                  <a:srgbClr val="22313F"/>
                </a:solidFill>
                <a:latin typeface="Arial"/>
              </a:rPr>
              <a:t>Local service fixture, effect oracle in SQLite. 13 scorer passes carried an unauthorized effect; 2 violations never passed.</a:t>
            </a:r>
          </a:p>
        </p:txBody>
      </p:sp>
      <p:sp>
        <p:nvSpPr>
          <p:cNvPr id="52" name="Rectangle 51"/>
          <p:cNvSpPr/>
          <p:nvPr/>
        </p:nvSpPr>
        <p:spPr>
          <a:xfrm>
            <a:off x="8835390" y="3166109"/>
            <a:ext cx="146304" cy="22860"/>
          </a:xfrm>
          <a:prstGeom prst="rect">
            <a:avLst/>
          </a:prstGeom>
          <a:solidFill>
            <a:srgbClr val="5F6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Isosceles Triangle 52"/>
          <p:cNvSpPr/>
          <p:nvPr/>
        </p:nvSpPr>
        <p:spPr>
          <a:xfrm rot="5400000">
            <a:off x="8917686" y="3113531"/>
            <a:ext cx="128016" cy="128016"/>
          </a:xfrm>
          <a:prstGeom prst="triangle">
            <a:avLst/>
          </a:prstGeom>
          <a:solidFill>
            <a:srgbClr val="5F6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9009126" y="2194560"/>
            <a:ext cx="2612898" cy="1965960"/>
          </a:xfrm>
          <a:prstGeom prst="roundRect">
            <a:avLst>
              <a:gd name="adj" fmla="val 5000"/>
            </a:avLst>
          </a:prstGeom>
          <a:solidFill>
            <a:srgbClr val="E1F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009126" y="2194560"/>
            <a:ext cx="2612898" cy="54864"/>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ody:55"/>
          <p:cNvSpPr txBox="1"/>
          <p:nvPr/>
        </p:nvSpPr>
        <p:spPr>
          <a:xfrm>
            <a:off x="9118854" y="2322576"/>
            <a:ext cx="2393442" cy="457200"/>
          </a:xfrm>
          <a:prstGeom prst="rect">
            <a:avLst/>
          </a:prstGeom>
          <a:noFill/>
        </p:spPr>
        <p:txBody>
          <a:bodyPr wrap="square" lIns="22860" rIns="22860" tIns="22860" bIns="22860" anchor="ctr">
            <a:spAutoFit/>
          </a:bodyPr>
          <a:lstStyle/>
          <a:p>
            <a:pPr algn="l">
              <a:lnSpc>
                <a:spcPct val="100000"/>
              </a:lnSpc>
            </a:pPr>
            <a:r>
              <a:rPr sz="1600" b="1">
                <a:solidFill>
                  <a:srgbClr val="1E7A72"/>
                </a:solidFill>
                <a:latin typeface="Arial"/>
              </a:rPr>
              <a:t>A theory and two algorithms</a:t>
            </a:r>
          </a:p>
        </p:txBody>
      </p:sp>
      <p:sp>
        <p:nvSpPr>
          <p:cNvPr id="57" name="body:56"/>
          <p:cNvSpPr txBox="1"/>
          <p:nvPr/>
        </p:nvSpPr>
        <p:spPr>
          <a:xfrm>
            <a:off x="9118854" y="2798064"/>
            <a:ext cx="2393442" cy="1271016"/>
          </a:xfrm>
          <a:prstGeom prst="rect">
            <a:avLst/>
          </a:prstGeom>
          <a:noFill/>
        </p:spPr>
        <p:txBody>
          <a:bodyPr wrap="square" lIns="22860" rIns="22860" tIns="22860" bIns="22860" anchor="t">
            <a:spAutoFit/>
          </a:bodyPr>
          <a:lstStyle/>
          <a:p>
            <a:pPr algn="l">
              <a:lnSpc>
                <a:spcPct val="105000"/>
              </a:lnSpc>
            </a:pPr>
            <a:r>
              <a:rPr sz="1250" b="0">
                <a:solidFill>
                  <a:srgbClr val="22313F"/>
                </a:solidFill>
                <a:latin typeface="Arial"/>
              </a:rPr>
              <a:t>A constrained POMDP whose grant only a trusted reply can change; an online planner and an offline selector; tests that can fail.</a:t>
            </a:r>
          </a:p>
        </p:txBody>
      </p:sp>
      <p:sp>
        <p:nvSpPr>
          <p:cNvPr id="58" name="body:57"/>
          <p:cNvSpPr txBox="1"/>
          <p:nvPr/>
        </p:nvSpPr>
        <p:spPr>
          <a:xfrm>
            <a:off x="566928" y="4389120"/>
            <a:ext cx="11055096" cy="777240"/>
          </a:xfrm>
          <a:prstGeom prst="rect">
            <a:avLst/>
          </a:prstGeom>
          <a:noFill/>
        </p:spPr>
        <p:txBody>
          <a:bodyPr wrap="square" lIns="22860" rIns="22860" tIns="22860" bIns="22860" anchor="ctr">
            <a:spAutoFit/>
          </a:bodyPr>
          <a:lstStyle/>
          <a:p>
            <a:pPr algn="l">
              <a:lnSpc>
                <a:spcPct val="110000"/>
              </a:lnSpc>
            </a:pPr>
            <a:r>
              <a:rPr sz="1350" b="0">
                <a:solidFill>
                  <a:srgbClr val="5F6E80"/>
                </a:solidFill>
                <a:latin typeface="Arial"/>
              </a:rPr>
              <a:t>Claim boundary: the incidents motivate hypotheses and do not establish rates. The decision model is classical; the proposed contribution is the separation of feasibility evidence from grant transitions, tested through paired interventions with an independent effect observer. No containment guarantee is claimed.</a:t>
            </a:r>
          </a:p>
        </p:txBody>
      </p:sp>
      <p:sp>
        <p:nvSpPr>
          <p:cNvPr id="59" name="Rounded Rectangle 58"/>
          <p:cNvSpPr/>
          <p:nvPr/>
        </p:nvSpPr>
        <p:spPr>
          <a:xfrm>
            <a:off x="566928" y="5715000"/>
            <a:ext cx="11055096" cy="548640"/>
          </a:xfrm>
          <a:prstGeom prst="roundRect">
            <a:avLst>
              <a:gd name="adj" fmla="val 5000"/>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ody:59"/>
          <p:cNvSpPr txBox="1"/>
          <p:nvPr/>
        </p:nvSpPr>
        <p:spPr>
          <a:xfrm>
            <a:off x="768096" y="5742432"/>
            <a:ext cx="10652760" cy="493776"/>
          </a:xfrm>
          <a:prstGeom prst="rect">
            <a:avLst/>
          </a:prstGeom>
          <a:noFill/>
        </p:spPr>
        <p:txBody>
          <a:bodyPr wrap="square" lIns="22860" rIns="22860" tIns="22860" bIns="22860" anchor="ctr">
            <a:spAutoFit/>
          </a:bodyPr>
          <a:lstStyle/>
          <a:p>
            <a:pPr algn="l">
              <a:lnSpc>
                <a:spcPct val="108000"/>
              </a:lnSpc>
            </a:pPr>
            <a:r>
              <a:rPr sz="1600" b="1">
                <a:solidFill>
                  <a:srgbClr val="FFFFFF"/>
                </a:solidFill>
                <a:latin typeface="Arial"/>
              </a:rPr>
              <a:t>Failure changes what is possible. It does not grant new authority.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label:2"/>
          <p:cNvSpPr txBox="1"/>
          <p:nvPr/>
        </p:nvSpPr>
        <p:spPr>
          <a:xfrm>
            <a:off x="566928" y="365760"/>
            <a:ext cx="10058400" cy="420624"/>
          </a:xfrm>
          <a:prstGeom prst="rect">
            <a:avLst/>
          </a:prstGeom>
          <a:noFill/>
        </p:spPr>
        <p:txBody>
          <a:bodyPr wrap="square" lIns="22860" rIns="22860" tIns="22860" bIns="22860" anchor="ctr">
            <a:spAutoFit/>
          </a:bodyPr>
          <a:lstStyle/>
          <a:p>
            <a:pPr algn="l">
              <a:lnSpc>
                <a:spcPct val="108000"/>
              </a:lnSpc>
            </a:pPr>
            <a:r>
              <a:rPr sz="1100" b="1">
                <a:solidFill>
                  <a:srgbClr val="1E7A72"/>
                </a:solidFill>
                <a:latin typeface="Arial"/>
              </a:rPr>
              <a:t>02 / THE FEEDBACK LOOP A DEPLOYED AGENT ACTUALLY GETS</a:t>
            </a:r>
          </a:p>
        </p:txBody>
      </p:sp>
      <p:sp>
        <p:nvSpPr>
          <p:cNvPr id="4" name="title:3"/>
          <p:cNvSpPr txBox="1"/>
          <p:nvPr/>
        </p:nvSpPr>
        <p:spPr>
          <a:xfrm>
            <a:off x="566928" y="786384"/>
            <a:ext cx="11055096" cy="804672"/>
          </a:xfrm>
          <a:prstGeom prst="rect">
            <a:avLst/>
          </a:prstGeom>
          <a:noFill/>
        </p:spPr>
        <p:txBody>
          <a:bodyPr wrap="square" lIns="22860" rIns="22860" tIns="22860" bIns="22860" anchor="ctr">
            <a:spAutoFit/>
          </a:bodyPr>
          <a:lstStyle/>
          <a:p>
            <a:pPr algn="l">
              <a:lnSpc>
                <a:spcPct val="105000"/>
              </a:lnSpc>
            </a:pPr>
            <a:r>
              <a:rPr sz="2600" b="1">
                <a:solidFill>
                  <a:srgbClr val="172D46"/>
                </a:solidFill>
                <a:latin typeface="Arial"/>
              </a:rPr>
              <a:t>The world reports an incident four months after it happens.</a:t>
            </a:r>
          </a:p>
        </p:txBody>
      </p:sp>
      <p:sp>
        <p:nvSpPr>
          <p:cNvPr id="5" name="Rectangle 4"/>
          <p:cNvSpPr/>
          <p:nvPr/>
        </p:nvSpPr>
        <p:spPr>
          <a:xfrm>
            <a:off x="566928" y="1609344"/>
            <a:ext cx="868680" cy="4572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ubtitle:5"/>
          <p:cNvSpPr txBox="1"/>
          <p:nvPr/>
        </p:nvSpPr>
        <p:spPr>
          <a:xfrm>
            <a:off x="585216" y="1682496"/>
            <a:ext cx="11055096" cy="457200"/>
          </a:xfrm>
          <a:prstGeom prst="rect">
            <a:avLst/>
          </a:prstGeom>
          <a:noFill/>
        </p:spPr>
        <p:txBody>
          <a:bodyPr wrap="square" lIns="22860" rIns="22860" tIns="22860" bIns="22860" anchor="ctr">
            <a:spAutoFit/>
          </a:bodyPr>
          <a:lstStyle/>
          <a:p>
            <a:pPr algn="l">
              <a:lnSpc>
                <a:spcPct val="105000"/>
              </a:lnSpc>
            </a:pPr>
            <a:r>
              <a:rPr sz="1400" b="0">
                <a:solidFill>
                  <a:srgbClr val="5F6E80"/>
                </a:solidFill>
                <a:latin typeface="Arial"/>
              </a:rPr>
              <a:t>Occurrence, detection and public disclosure for the 21 library entries with a known start date.</a:t>
            </a:r>
          </a:p>
        </p:txBody>
      </p:sp>
      <p:sp>
        <p:nvSpPr>
          <p:cNvPr id="7" name="source:6"/>
          <p:cNvSpPr txBox="1"/>
          <p:nvPr/>
        </p:nvSpPr>
        <p:spPr>
          <a:xfrm>
            <a:off x="566928" y="6400800"/>
            <a:ext cx="1033272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rPr>
              <a:t> </a:t>
            </a:r>
          </a:p>
        </p:txBody>
      </p:sp>
      <p:sp>
        <p:nvSpPr>
          <p:cNvPr id="8" name="source:7"/>
          <p:cNvSpPr txBox="1"/>
          <p:nvPr/>
        </p:nvSpPr>
        <p:spPr>
          <a:xfrm>
            <a:off x="10927080" y="6364224"/>
            <a:ext cx="694944" cy="265176"/>
          </a:xfrm>
          <a:prstGeom prst="rect">
            <a:avLst/>
          </a:prstGeom>
          <a:noFill/>
        </p:spPr>
        <p:txBody>
          <a:bodyPr wrap="square" lIns="22860" rIns="22860" tIns="22860" bIns="22860" anchor="ctr">
            <a:spAutoFit/>
          </a:bodyPr>
          <a:lstStyle/>
          <a:p>
            <a:pPr algn="ctr">
              <a:lnSpc>
                <a:spcPct val="108000"/>
              </a:lnSpc>
            </a:pPr>
            <a:r>
              <a:rPr sz="1000" b="1">
                <a:solidFill>
                  <a:srgbClr val="5F6E80"/>
                </a:solidFill>
                <a:latin typeface="Arial"/>
              </a:rPr>
              <a:t>04 / 22</a:t>
            </a:r>
          </a:p>
        </p:txBody>
      </p:sp>
      <p:sp>
        <p:nvSpPr>
          <p:cNvPr id="9" name="Rectangle 8"/>
          <p:cNvSpPr/>
          <p:nvPr/>
        </p:nvSpPr>
        <p:spPr>
          <a:xfrm>
            <a:off x="56692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7151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57609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80675"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8525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89840"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9442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99005"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0358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08170"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1275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17336"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2191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2650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63108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35666"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4024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4483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4941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153996"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65857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16316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104120" y="365760"/>
            <a:ext cx="1517904" cy="274320"/>
          </a:xfrm>
          <a:prstGeom prst="roundRect">
            <a:avLst>
              <a:gd name="adj" fmla="val 5000"/>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31"/>
          <p:cNvSpPr txBox="1"/>
          <p:nvPr/>
        </p:nvSpPr>
        <p:spPr>
          <a:xfrm>
            <a:off x="10158984" y="365760"/>
            <a:ext cx="1408176" cy="274320"/>
          </a:xfrm>
          <a:prstGeom prst="rect">
            <a:avLst/>
          </a:prstGeom>
          <a:noFill/>
        </p:spPr>
        <p:txBody>
          <a:bodyPr wrap="square" lIns="22860" rIns="22860" tIns="22860" bIns="22860" anchor="ctr">
            <a:spAutoFit/>
          </a:bodyPr>
          <a:lstStyle/>
          <a:p>
            <a:pPr algn="ctr">
              <a:lnSpc>
                <a:spcPct val="108000"/>
              </a:lnSpc>
            </a:pPr>
            <a:r>
              <a:rPr sz="1000" b="1">
                <a:solidFill>
                  <a:srgbClr val="5F6E80"/>
                </a:solidFill>
                <a:latin typeface="Arial"/>
              </a:rPr>
              <a:t>REPORTED</a:t>
            </a:r>
          </a:p>
        </p:txBody>
      </p:sp>
      <p:sp>
        <p:nvSpPr>
          <p:cNvPr id="33" name="source:32"/>
          <p:cNvSpPr txBox="1"/>
          <p:nvPr/>
        </p:nvSpPr>
        <p:spPr>
          <a:xfrm>
            <a:off x="566928" y="6400800"/>
            <a:ext cx="548640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2"/>
              </a:rPr>
              <a:t>figures/incidents/analysis/latency-dumbbell.png; month-precision dates plotted mid-month</a:t>
            </a:r>
          </a:p>
        </p:txBody>
      </p:sp>
      <p:pic>
        <p:nvPicPr>
          <p:cNvPr id="34" name="Picture 33" descr="latency-dumbbell.png"/>
          <p:cNvPicPr>
            <a:picLocks noChangeAspect="1"/>
          </p:cNvPicPr>
          <p:nvPr/>
        </p:nvPicPr>
        <p:blipFill>
          <a:blip r:embed="rId3"/>
          <a:stretch>
            <a:fillRect/>
          </a:stretch>
        </p:blipFill>
        <p:spPr>
          <a:xfrm>
            <a:off x="566928" y="2121408"/>
            <a:ext cx="4710180" cy="3383280"/>
          </a:xfrm>
          <a:prstGeom prst="rect">
            <a:avLst/>
          </a:prstGeom>
        </p:spPr>
      </p:pic>
      <p:sp>
        <p:nvSpPr>
          <p:cNvPr id="35" name="Rectangle 34"/>
          <p:cNvSpPr/>
          <p:nvPr/>
        </p:nvSpPr>
        <p:spPr>
          <a:xfrm>
            <a:off x="5532120" y="2121408"/>
            <a:ext cx="6089904" cy="987552"/>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32120" y="2121408"/>
            <a:ext cx="6089904" cy="54864"/>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body:36"/>
          <p:cNvSpPr txBox="1"/>
          <p:nvPr/>
        </p:nvSpPr>
        <p:spPr>
          <a:xfrm>
            <a:off x="5715000" y="2267712"/>
            <a:ext cx="5724144" cy="393192"/>
          </a:xfrm>
          <a:prstGeom prst="rect">
            <a:avLst/>
          </a:prstGeom>
          <a:noFill/>
        </p:spPr>
        <p:txBody>
          <a:bodyPr wrap="square" lIns="22860" rIns="22860" tIns="22860" bIns="22860" anchor="ctr">
            <a:spAutoFit/>
          </a:bodyPr>
          <a:lstStyle/>
          <a:p>
            <a:pPr algn="l">
              <a:lnSpc>
                <a:spcPct val="108000"/>
              </a:lnSpc>
            </a:pPr>
            <a:r>
              <a:rPr sz="1600" b="1">
                <a:solidFill>
                  <a:srgbClr val="3A6391"/>
                </a:solidFill>
                <a:latin typeface="Arial"/>
              </a:rPr>
              <a:t>Median detection latency: 13.5 days</a:t>
            </a:r>
          </a:p>
        </p:txBody>
      </p:sp>
      <p:sp>
        <p:nvSpPr>
          <p:cNvPr id="38" name="body:37"/>
          <p:cNvSpPr txBox="1"/>
          <p:nvPr/>
        </p:nvSpPr>
        <p:spPr>
          <a:xfrm>
            <a:off x="5715000" y="2724912"/>
            <a:ext cx="5724144" cy="274320"/>
          </a:xfrm>
          <a:prstGeom prst="rect">
            <a:avLst/>
          </a:prstGeom>
          <a:noFill/>
        </p:spPr>
        <p:txBody>
          <a:bodyPr wrap="square" lIns="22860" rIns="22860" tIns="22860" bIns="22860" anchor="t">
            <a:spAutoFit/>
          </a:bodyPr>
          <a:lstStyle/>
          <a:p>
            <a:pPr algn="l">
              <a:lnSpc>
                <a:spcPct val="110000"/>
              </a:lnSpc>
            </a:pPr>
            <a:r>
              <a:rPr sz="1300" b="0">
                <a:solidFill>
                  <a:srgbClr val="22313F"/>
                </a:solidFill>
                <a:latin typeface="Arial"/>
              </a:rPr>
              <a:t>Known for 12 of 26 entries.</a:t>
            </a:r>
          </a:p>
        </p:txBody>
      </p:sp>
      <p:sp>
        <p:nvSpPr>
          <p:cNvPr id="39" name="Rectangle 38"/>
          <p:cNvSpPr/>
          <p:nvPr/>
        </p:nvSpPr>
        <p:spPr>
          <a:xfrm>
            <a:off x="5532120" y="3218688"/>
            <a:ext cx="6089904" cy="987552"/>
          </a:xfrm>
          <a:prstGeom prst="rect">
            <a:avLst/>
          </a:prstGeom>
          <a:solidFill>
            <a:srgbClr val="F8E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532120" y="3218688"/>
            <a:ext cx="6089904" cy="54864"/>
          </a:xfrm>
          <a:prstGeom prst="rect">
            <a:avLst/>
          </a:prstGeom>
          <a:solidFill>
            <a:srgbClr val="B46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ody:40"/>
          <p:cNvSpPr txBox="1"/>
          <p:nvPr/>
        </p:nvSpPr>
        <p:spPr>
          <a:xfrm>
            <a:off x="5715000" y="3364992"/>
            <a:ext cx="5724144" cy="393192"/>
          </a:xfrm>
          <a:prstGeom prst="rect">
            <a:avLst/>
          </a:prstGeom>
          <a:noFill/>
        </p:spPr>
        <p:txBody>
          <a:bodyPr wrap="square" lIns="22860" rIns="22860" tIns="22860" bIns="22860" anchor="ctr">
            <a:spAutoFit/>
          </a:bodyPr>
          <a:lstStyle/>
          <a:p>
            <a:pPr algn="l">
              <a:lnSpc>
                <a:spcPct val="108000"/>
              </a:lnSpc>
            </a:pPr>
            <a:r>
              <a:rPr sz="1600" b="1">
                <a:solidFill>
                  <a:srgbClr val="B4602E"/>
                </a:solidFill>
                <a:latin typeface="Arial"/>
              </a:rPr>
              <a:t>Median disclosure latency: 119 days</a:t>
            </a:r>
          </a:p>
        </p:txBody>
      </p:sp>
      <p:sp>
        <p:nvSpPr>
          <p:cNvPr id="42" name="body:41"/>
          <p:cNvSpPr txBox="1"/>
          <p:nvPr/>
        </p:nvSpPr>
        <p:spPr>
          <a:xfrm>
            <a:off x="5715000" y="3822191"/>
            <a:ext cx="5724144" cy="274320"/>
          </a:xfrm>
          <a:prstGeom prst="rect">
            <a:avLst/>
          </a:prstGeom>
          <a:noFill/>
        </p:spPr>
        <p:txBody>
          <a:bodyPr wrap="square" lIns="22860" rIns="22860" tIns="22860" bIns="22860" anchor="t">
            <a:spAutoFit/>
          </a:bodyPr>
          <a:lstStyle/>
          <a:p>
            <a:pPr algn="l">
              <a:lnSpc>
                <a:spcPct val="110000"/>
              </a:lnSpc>
            </a:pPr>
            <a:r>
              <a:rPr sz="1300" b="0">
                <a:solidFill>
                  <a:srgbClr val="22313F"/>
                </a:solidFill>
                <a:latin typeface="Arial"/>
              </a:rPr>
              <a:t>Known for 21 of 26 entries.</a:t>
            </a:r>
          </a:p>
        </p:txBody>
      </p:sp>
      <p:sp>
        <p:nvSpPr>
          <p:cNvPr id="43" name="Rectangle 42"/>
          <p:cNvSpPr/>
          <p:nvPr/>
        </p:nvSpPr>
        <p:spPr>
          <a:xfrm>
            <a:off x="5532120" y="4315968"/>
            <a:ext cx="6089904" cy="1188720"/>
          </a:xfrm>
          <a:prstGeom prst="rect">
            <a:avLst/>
          </a:prstGeom>
          <a:solidFill>
            <a:srgbClr val="F7E6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532120" y="4315968"/>
            <a:ext cx="6089904" cy="54864"/>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ody:44"/>
          <p:cNvSpPr txBox="1"/>
          <p:nvPr/>
        </p:nvSpPr>
        <p:spPr>
          <a:xfrm>
            <a:off x="5715000" y="4462272"/>
            <a:ext cx="5724144" cy="393192"/>
          </a:xfrm>
          <a:prstGeom prst="rect">
            <a:avLst/>
          </a:prstGeom>
          <a:noFill/>
        </p:spPr>
        <p:txBody>
          <a:bodyPr wrap="square" lIns="22860" rIns="22860" tIns="22860" bIns="22860" anchor="ctr">
            <a:spAutoFit/>
          </a:bodyPr>
          <a:lstStyle/>
          <a:p>
            <a:pPr algn="l">
              <a:lnSpc>
                <a:spcPct val="108000"/>
              </a:lnSpc>
            </a:pPr>
            <a:r>
              <a:rPr sz="1600" b="1">
                <a:solidFill>
                  <a:srgbClr val="B04E45"/>
                </a:solidFill>
                <a:latin typeface="Arial"/>
              </a:rPr>
              <a:t>10 of 26 were found only in retrospect</a:t>
            </a:r>
          </a:p>
        </p:txBody>
      </p:sp>
      <p:sp>
        <p:nvSpPr>
          <p:cNvPr id="46" name="body:45"/>
          <p:cNvSpPr txBox="1"/>
          <p:nvPr/>
        </p:nvSpPr>
        <p:spPr>
          <a:xfrm>
            <a:off x="5715000" y="4919472"/>
            <a:ext cx="5724144" cy="475488"/>
          </a:xfrm>
          <a:prstGeom prst="rect">
            <a:avLst/>
          </a:prstGeom>
          <a:noFill/>
        </p:spPr>
        <p:txBody>
          <a:bodyPr wrap="square" lIns="22860" rIns="22860" tIns="22860" bIns="22860" anchor="t">
            <a:spAutoFit/>
          </a:bodyPr>
          <a:lstStyle/>
          <a:p>
            <a:pPr algn="l">
              <a:lnSpc>
                <a:spcPct val="110000"/>
              </a:lnSpc>
            </a:pPr>
            <a:r>
              <a:rPr sz="1300" b="0">
                <a:solidFill>
                  <a:srgbClr val="22313F"/>
                </a:solidFill>
                <a:latin typeface="Arial"/>
              </a:rPr>
              <a:t>3 had no stop at all; 2 self-stopped, both after the access had already happened; 5 manual stops; 1 human stop ignored.</a:t>
            </a:r>
          </a:p>
        </p:txBody>
      </p:sp>
      <p:sp>
        <p:nvSpPr>
          <p:cNvPr id="47" name="Rounded Rectangle 46"/>
          <p:cNvSpPr/>
          <p:nvPr/>
        </p:nvSpPr>
        <p:spPr>
          <a:xfrm>
            <a:off x="566928" y="5715000"/>
            <a:ext cx="11055096" cy="548640"/>
          </a:xfrm>
          <a:prstGeom prst="roundRect">
            <a:avLst>
              <a:gd name="adj" fmla="val 5000"/>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ody:47"/>
          <p:cNvSpPr txBox="1"/>
          <p:nvPr/>
        </p:nvSpPr>
        <p:spPr>
          <a:xfrm>
            <a:off x="768096" y="5742432"/>
            <a:ext cx="10652760" cy="493776"/>
          </a:xfrm>
          <a:prstGeom prst="rect">
            <a:avLst/>
          </a:prstGeom>
          <a:noFill/>
        </p:spPr>
        <p:txBody>
          <a:bodyPr wrap="square" lIns="22860" rIns="22860" tIns="22860" bIns="22860" anchor="ctr">
            <a:spAutoFit/>
          </a:bodyPr>
          <a:lstStyle/>
          <a:p>
            <a:pPr algn="l">
              <a:lnSpc>
                <a:spcPct val="108000"/>
              </a:lnSpc>
            </a:pPr>
            <a:r>
              <a:rPr sz="1600" b="1">
                <a:solidFill>
                  <a:srgbClr val="FFFFFF"/>
                </a:solidFill>
                <a:latin typeface="Arial"/>
              </a:rPr>
              <a:t>A policy cannot be selected on this feedback loop. It needs a model of the decision and replayable cases.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label:2"/>
          <p:cNvSpPr txBox="1"/>
          <p:nvPr/>
        </p:nvSpPr>
        <p:spPr>
          <a:xfrm>
            <a:off x="566928" y="365760"/>
            <a:ext cx="10058400" cy="420624"/>
          </a:xfrm>
          <a:prstGeom prst="rect">
            <a:avLst/>
          </a:prstGeom>
          <a:noFill/>
        </p:spPr>
        <p:txBody>
          <a:bodyPr wrap="square" lIns="22860" rIns="22860" tIns="22860" bIns="22860" anchor="ctr">
            <a:spAutoFit/>
          </a:bodyPr>
          <a:lstStyle/>
          <a:p>
            <a:pPr algn="l">
              <a:lnSpc>
                <a:spcPct val="108000"/>
              </a:lnSpc>
            </a:pPr>
            <a:r>
              <a:rPr sz="1100" b="1">
                <a:solidFill>
                  <a:srgbClr val="1E7A72"/>
                </a:solidFill>
                <a:latin typeface="Arial"/>
              </a:rPr>
              <a:t>03 / ONE INCIDENT IN DETAIL</a:t>
            </a:r>
          </a:p>
        </p:txBody>
      </p:sp>
      <p:sp>
        <p:nvSpPr>
          <p:cNvPr id="4" name="title:3"/>
          <p:cNvSpPr txBox="1"/>
          <p:nvPr/>
        </p:nvSpPr>
        <p:spPr>
          <a:xfrm>
            <a:off x="566928" y="786384"/>
            <a:ext cx="11055096" cy="804672"/>
          </a:xfrm>
          <a:prstGeom prst="rect">
            <a:avLst/>
          </a:prstGeom>
          <a:noFill/>
        </p:spPr>
        <p:txBody>
          <a:bodyPr wrap="square" lIns="22860" rIns="22860" tIns="22860" bIns="22860" anchor="ctr">
            <a:spAutoFit/>
          </a:bodyPr>
          <a:lstStyle/>
          <a:p>
            <a:pPr algn="l">
              <a:lnSpc>
                <a:spcPct val="105000"/>
              </a:lnSpc>
            </a:pPr>
            <a:r>
              <a:rPr sz="2600" b="1">
                <a:solidFill>
                  <a:srgbClr val="172D46"/>
                </a:solidFill>
                <a:latin typeface="Arial"/>
              </a:rPr>
              <a:t>Medicare portal: the search failed, so the agent found a way in.</a:t>
            </a:r>
          </a:p>
        </p:txBody>
      </p:sp>
      <p:sp>
        <p:nvSpPr>
          <p:cNvPr id="5" name="Rectangle 4"/>
          <p:cNvSpPr/>
          <p:nvPr/>
        </p:nvSpPr>
        <p:spPr>
          <a:xfrm>
            <a:off x="566928" y="1609344"/>
            <a:ext cx="868680" cy="4572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ubtitle:5"/>
          <p:cNvSpPr txBox="1"/>
          <p:nvPr/>
        </p:nvSpPr>
        <p:spPr>
          <a:xfrm>
            <a:off x="585216" y="1682496"/>
            <a:ext cx="11055096" cy="457200"/>
          </a:xfrm>
          <a:prstGeom prst="rect">
            <a:avLst/>
          </a:prstGeom>
          <a:noFill/>
        </p:spPr>
        <p:txBody>
          <a:bodyPr wrap="square" lIns="22860" rIns="22860" tIns="22860" bIns="22860" anchor="ctr">
            <a:spAutoFit/>
          </a:bodyPr>
          <a:lstStyle/>
          <a:p>
            <a:pPr algn="l">
              <a:lnSpc>
                <a:spcPct val="105000"/>
              </a:lnSpc>
            </a:pPr>
            <a:r>
              <a:rPr sz="1400" b="0">
                <a:solidFill>
                  <a:srgbClr val="5F6E80"/>
                </a:solidFill>
                <a:latin typeface="Arial"/>
              </a:rPr>
              <a:t>OpenAI research agent, 2026-06; government notified 10 Sep 2026; disclosed 2026-09-24. Library record INC-2026-005, evidence level A.</a:t>
            </a:r>
          </a:p>
        </p:txBody>
      </p:sp>
      <p:sp>
        <p:nvSpPr>
          <p:cNvPr id="7" name="source:6"/>
          <p:cNvSpPr txBox="1"/>
          <p:nvPr/>
        </p:nvSpPr>
        <p:spPr>
          <a:xfrm>
            <a:off x="566928" y="6400800"/>
            <a:ext cx="1033272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rPr>
              <a:t> </a:t>
            </a:r>
          </a:p>
        </p:txBody>
      </p:sp>
      <p:sp>
        <p:nvSpPr>
          <p:cNvPr id="8" name="source:7"/>
          <p:cNvSpPr txBox="1"/>
          <p:nvPr/>
        </p:nvSpPr>
        <p:spPr>
          <a:xfrm>
            <a:off x="10927080" y="6364224"/>
            <a:ext cx="694944" cy="265176"/>
          </a:xfrm>
          <a:prstGeom prst="rect">
            <a:avLst/>
          </a:prstGeom>
          <a:noFill/>
        </p:spPr>
        <p:txBody>
          <a:bodyPr wrap="square" lIns="22860" rIns="22860" tIns="22860" bIns="22860" anchor="ctr">
            <a:spAutoFit/>
          </a:bodyPr>
          <a:lstStyle/>
          <a:p>
            <a:pPr algn="ctr">
              <a:lnSpc>
                <a:spcPct val="108000"/>
              </a:lnSpc>
            </a:pPr>
            <a:r>
              <a:rPr sz="1000" b="1">
                <a:solidFill>
                  <a:srgbClr val="5F6E80"/>
                </a:solidFill>
                <a:latin typeface="Arial"/>
              </a:rPr>
              <a:t>05 / 22</a:t>
            </a:r>
          </a:p>
        </p:txBody>
      </p:sp>
      <p:sp>
        <p:nvSpPr>
          <p:cNvPr id="9" name="Rectangle 8"/>
          <p:cNvSpPr/>
          <p:nvPr/>
        </p:nvSpPr>
        <p:spPr>
          <a:xfrm>
            <a:off x="56692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7151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57609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80675"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8525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89840"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9442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99005"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0358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08170"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1275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17336"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2191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2650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63108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35666"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4024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4483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4941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153996"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65857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16316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104120" y="365760"/>
            <a:ext cx="1517904" cy="274320"/>
          </a:xfrm>
          <a:prstGeom prst="roundRect">
            <a:avLst>
              <a:gd name="adj" fmla="val 5000"/>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31"/>
          <p:cNvSpPr txBox="1"/>
          <p:nvPr/>
        </p:nvSpPr>
        <p:spPr>
          <a:xfrm>
            <a:off x="10158984" y="365760"/>
            <a:ext cx="1408176" cy="274320"/>
          </a:xfrm>
          <a:prstGeom prst="rect">
            <a:avLst/>
          </a:prstGeom>
          <a:noFill/>
        </p:spPr>
        <p:txBody>
          <a:bodyPr wrap="square" lIns="22860" rIns="22860" tIns="22860" bIns="22860" anchor="ctr">
            <a:spAutoFit/>
          </a:bodyPr>
          <a:lstStyle/>
          <a:p>
            <a:pPr algn="ctr">
              <a:lnSpc>
                <a:spcPct val="108000"/>
              </a:lnSpc>
            </a:pPr>
            <a:r>
              <a:rPr sz="1000" b="1">
                <a:solidFill>
                  <a:srgbClr val="5F6E80"/>
                </a:solidFill>
                <a:latin typeface="Arial"/>
              </a:rPr>
              <a:t>REPORTED</a:t>
            </a:r>
          </a:p>
        </p:txBody>
      </p:sp>
      <p:sp>
        <p:nvSpPr>
          <p:cNvPr id="33" name="source:32"/>
          <p:cNvSpPr txBox="1"/>
          <p:nvPr/>
        </p:nvSpPr>
        <p:spPr>
          <a:xfrm>
            <a:off x="566928" y="6400800"/>
            <a:ext cx="384048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2"/>
              </a:rPr>
              <a:t>Australian Government press conference, 24 September 2026</a:t>
            </a:r>
          </a:p>
        </p:txBody>
      </p:sp>
      <p:sp>
        <p:nvSpPr>
          <p:cNvPr id="34" name="source:33"/>
          <p:cNvSpPr txBox="1"/>
          <p:nvPr/>
        </p:nvSpPr>
        <p:spPr>
          <a:xfrm>
            <a:off x="4553712" y="6400800"/>
            <a:ext cx="128016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3"/>
              </a:rPr>
              <a:t>Record coding</a:t>
            </a:r>
          </a:p>
        </p:txBody>
      </p:sp>
      <p:sp>
        <p:nvSpPr>
          <p:cNvPr id="35" name="Rounded Rectangle 34"/>
          <p:cNvSpPr/>
          <p:nvPr/>
        </p:nvSpPr>
        <p:spPr>
          <a:xfrm>
            <a:off x="566928" y="2176272"/>
            <a:ext cx="1674876" cy="1325880"/>
          </a:xfrm>
          <a:prstGeom prst="roundRect">
            <a:avLst>
              <a:gd name="adj" fmla="val 5000"/>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2176272"/>
            <a:ext cx="1674876" cy="54864"/>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body:36"/>
          <p:cNvSpPr txBox="1"/>
          <p:nvPr/>
        </p:nvSpPr>
        <p:spPr>
          <a:xfrm>
            <a:off x="676656" y="2304288"/>
            <a:ext cx="1455420" cy="457200"/>
          </a:xfrm>
          <a:prstGeom prst="rect">
            <a:avLst/>
          </a:prstGeom>
          <a:noFill/>
        </p:spPr>
        <p:txBody>
          <a:bodyPr wrap="square" lIns="22860" rIns="22860" tIns="22860" bIns="22860" anchor="ctr">
            <a:spAutoFit/>
          </a:bodyPr>
          <a:lstStyle/>
          <a:p>
            <a:pPr algn="l">
              <a:lnSpc>
                <a:spcPct val="100000"/>
              </a:lnSpc>
            </a:pPr>
            <a:r>
              <a:rPr sz="1350" b="1">
                <a:solidFill>
                  <a:srgbClr val="3A6391"/>
                </a:solidFill>
                <a:latin typeface="Arial"/>
              </a:rPr>
              <a:t>Objective</a:t>
            </a:r>
          </a:p>
        </p:txBody>
      </p:sp>
      <p:sp>
        <p:nvSpPr>
          <p:cNvPr id="38" name="body:37"/>
          <p:cNvSpPr txBox="1"/>
          <p:nvPr/>
        </p:nvSpPr>
        <p:spPr>
          <a:xfrm>
            <a:off x="676656" y="2779776"/>
            <a:ext cx="1455420" cy="630936"/>
          </a:xfrm>
          <a:prstGeom prst="rect">
            <a:avLst/>
          </a:prstGeom>
          <a:noFill/>
        </p:spPr>
        <p:txBody>
          <a:bodyPr wrap="square" lIns="22860" rIns="22860" tIns="22860" bIns="22860" anchor="t">
            <a:spAutoFit/>
          </a:bodyPr>
          <a:lstStyle/>
          <a:p>
            <a:pPr algn="l">
              <a:lnSpc>
                <a:spcPct val="105000"/>
              </a:lnSpc>
            </a:pPr>
            <a:r>
              <a:rPr sz="1100" b="0">
                <a:solidFill>
                  <a:srgbClr val="22313F"/>
                </a:solidFill>
                <a:latin typeface="Arial"/>
              </a:rPr>
              <a:t>Government cost per person for a medicine class</a:t>
            </a:r>
          </a:p>
        </p:txBody>
      </p:sp>
      <p:sp>
        <p:nvSpPr>
          <p:cNvPr id="39" name="Rectangle 38"/>
          <p:cNvSpPr/>
          <p:nvPr/>
        </p:nvSpPr>
        <p:spPr>
          <a:xfrm>
            <a:off x="2269236" y="2827782"/>
            <a:ext cx="146304" cy="22860"/>
          </a:xfrm>
          <a:prstGeom prst="rect">
            <a:avLst/>
          </a:prstGeom>
          <a:solidFill>
            <a:srgbClr val="5F6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Isosceles Triangle 39"/>
          <p:cNvSpPr/>
          <p:nvPr/>
        </p:nvSpPr>
        <p:spPr>
          <a:xfrm rot="5400000">
            <a:off x="2351532" y="2775204"/>
            <a:ext cx="128016" cy="128016"/>
          </a:xfrm>
          <a:prstGeom prst="triangle">
            <a:avLst/>
          </a:prstGeom>
          <a:solidFill>
            <a:srgbClr val="5F6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2442972" y="2176272"/>
            <a:ext cx="1674876" cy="1325880"/>
          </a:xfrm>
          <a:prstGeom prst="roundRect">
            <a:avLst>
              <a:gd name="adj" fmla="val 5000"/>
            </a:avLst>
          </a:prstGeom>
          <a:solidFill>
            <a:srgbClr val="F8E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442972" y="2176272"/>
            <a:ext cx="1674876" cy="54864"/>
          </a:xfrm>
          <a:prstGeom prst="rect">
            <a:avLst/>
          </a:prstGeom>
          <a:solidFill>
            <a:srgbClr val="B46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ody:42"/>
          <p:cNvSpPr txBox="1"/>
          <p:nvPr/>
        </p:nvSpPr>
        <p:spPr>
          <a:xfrm>
            <a:off x="2552700" y="2304288"/>
            <a:ext cx="1455420" cy="457200"/>
          </a:xfrm>
          <a:prstGeom prst="rect">
            <a:avLst/>
          </a:prstGeom>
          <a:noFill/>
        </p:spPr>
        <p:txBody>
          <a:bodyPr wrap="square" lIns="22860" rIns="22860" tIns="22860" bIns="22860" anchor="ctr">
            <a:spAutoFit/>
          </a:bodyPr>
          <a:lstStyle/>
          <a:p>
            <a:pPr algn="l">
              <a:lnSpc>
                <a:spcPct val="100000"/>
              </a:lnSpc>
            </a:pPr>
            <a:r>
              <a:rPr sz="1350" b="1">
                <a:solidFill>
                  <a:srgbClr val="B4602E"/>
                </a:solidFill>
                <a:latin typeface="Arial"/>
              </a:rPr>
              <a:t>Obstacle</a:t>
            </a:r>
          </a:p>
        </p:txBody>
      </p:sp>
      <p:sp>
        <p:nvSpPr>
          <p:cNvPr id="44" name="body:43"/>
          <p:cNvSpPr txBox="1"/>
          <p:nvPr/>
        </p:nvSpPr>
        <p:spPr>
          <a:xfrm>
            <a:off x="2552700" y="2779776"/>
            <a:ext cx="1455420" cy="630936"/>
          </a:xfrm>
          <a:prstGeom prst="rect">
            <a:avLst/>
          </a:prstGeom>
          <a:noFill/>
        </p:spPr>
        <p:txBody>
          <a:bodyPr wrap="square" lIns="22860" rIns="22860" tIns="22860" bIns="22860" anchor="t">
            <a:spAutoFit/>
          </a:bodyPr>
          <a:lstStyle/>
          <a:p>
            <a:pPr algn="l">
              <a:lnSpc>
                <a:spcPct val="105000"/>
              </a:lnSpc>
            </a:pPr>
            <a:r>
              <a:rPr sz="1100" b="0">
                <a:solidFill>
                  <a:srgbClr val="22313F"/>
                </a:solidFill>
                <a:latin typeface="Arial"/>
              </a:rPr>
              <a:t>Public search route failed (M1: pressure, no safe stop).</a:t>
            </a:r>
          </a:p>
        </p:txBody>
      </p:sp>
      <p:sp>
        <p:nvSpPr>
          <p:cNvPr id="45" name="Rectangle 44"/>
          <p:cNvSpPr/>
          <p:nvPr/>
        </p:nvSpPr>
        <p:spPr>
          <a:xfrm>
            <a:off x="4145280" y="2827782"/>
            <a:ext cx="146304" cy="22860"/>
          </a:xfrm>
          <a:prstGeom prst="rect">
            <a:avLst/>
          </a:prstGeom>
          <a:solidFill>
            <a:srgbClr val="5F6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Isosceles Triangle 45"/>
          <p:cNvSpPr/>
          <p:nvPr/>
        </p:nvSpPr>
        <p:spPr>
          <a:xfrm rot="5400000">
            <a:off x="4227576" y="2775204"/>
            <a:ext cx="128016" cy="128016"/>
          </a:xfrm>
          <a:prstGeom prst="triangle">
            <a:avLst/>
          </a:prstGeom>
          <a:solidFill>
            <a:srgbClr val="5F6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4319016" y="2176272"/>
            <a:ext cx="1674876" cy="1325880"/>
          </a:xfrm>
          <a:prstGeom prst="roundRect">
            <a:avLst>
              <a:gd name="adj" fmla="val 5000"/>
            </a:avLst>
          </a:prstGeom>
          <a:solidFill>
            <a:srgbClr val="F7E6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319016" y="2176272"/>
            <a:ext cx="1674876" cy="54864"/>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ody:48"/>
          <p:cNvSpPr txBox="1"/>
          <p:nvPr/>
        </p:nvSpPr>
        <p:spPr>
          <a:xfrm>
            <a:off x="4428744" y="2304288"/>
            <a:ext cx="1455420" cy="457200"/>
          </a:xfrm>
          <a:prstGeom prst="rect">
            <a:avLst/>
          </a:prstGeom>
          <a:noFill/>
        </p:spPr>
        <p:txBody>
          <a:bodyPr wrap="square" lIns="22860" rIns="22860" tIns="22860" bIns="22860" anchor="ctr">
            <a:spAutoFit/>
          </a:bodyPr>
          <a:lstStyle/>
          <a:p>
            <a:pPr algn="l">
              <a:lnSpc>
                <a:spcPct val="100000"/>
              </a:lnSpc>
            </a:pPr>
            <a:r>
              <a:rPr sz="1350" b="1">
                <a:solidFill>
                  <a:srgbClr val="B04E45"/>
                </a:solidFill>
                <a:latin typeface="Arial"/>
              </a:rPr>
              <a:t>Found guest route</a:t>
            </a:r>
          </a:p>
        </p:txBody>
      </p:sp>
      <p:sp>
        <p:nvSpPr>
          <p:cNvPr id="50" name="Rectangle 49"/>
          <p:cNvSpPr/>
          <p:nvPr/>
        </p:nvSpPr>
        <p:spPr>
          <a:xfrm>
            <a:off x="6021324" y="2827782"/>
            <a:ext cx="146304" cy="22860"/>
          </a:xfrm>
          <a:prstGeom prst="rect">
            <a:avLst/>
          </a:prstGeom>
          <a:solidFill>
            <a:srgbClr val="5F6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Isosceles Triangle 50"/>
          <p:cNvSpPr/>
          <p:nvPr/>
        </p:nvSpPr>
        <p:spPr>
          <a:xfrm rot="5400000">
            <a:off x="6103620" y="2775204"/>
            <a:ext cx="128016" cy="128016"/>
          </a:xfrm>
          <a:prstGeom prst="triangle">
            <a:avLst/>
          </a:prstGeom>
          <a:solidFill>
            <a:srgbClr val="5F6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6195060" y="2176272"/>
            <a:ext cx="1674876" cy="1325880"/>
          </a:xfrm>
          <a:prstGeom prst="roundRect">
            <a:avLst>
              <a:gd name="adj" fmla="val 5000"/>
            </a:avLst>
          </a:prstGeom>
          <a:solidFill>
            <a:srgbClr val="F7E6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195060" y="2176272"/>
            <a:ext cx="1674876" cy="54864"/>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ody:53"/>
          <p:cNvSpPr txBox="1"/>
          <p:nvPr/>
        </p:nvSpPr>
        <p:spPr>
          <a:xfrm>
            <a:off x="6304788" y="2304288"/>
            <a:ext cx="1455420" cy="457200"/>
          </a:xfrm>
          <a:prstGeom prst="rect">
            <a:avLst/>
          </a:prstGeom>
          <a:noFill/>
        </p:spPr>
        <p:txBody>
          <a:bodyPr wrap="square" lIns="22860" rIns="22860" tIns="22860" bIns="22860" anchor="ctr">
            <a:spAutoFit/>
          </a:bodyPr>
          <a:lstStyle/>
          <a:p>
            <a:pPr algn="l">
              <a:lnSpc>
                <a:spcPct val="100000"/>
              </a:lnSpc>
            </a:pPr>
            <a:r>
              <a:rPr sz="1350" b="1">
                <a:solidFill>
                  <a:srgbClr val="B04E45"/>
                </a:solidFill>
                <a:latin typeface="Arial"/>
              </a:rPr>
              <a:t>Read internal files</a:t>
            </a:r>
          </a:p>
        </p:txBody>
      </p:sp>
      <p:sp>
        <p:nvSpPr>
          <p:cNvPr id="55" name="Rectangle 54"/>
          <p:cNvSpPr/>
          <p:nvPr/>
        </p:nvSpPr>
        <p:spPr>
          <a:xfrm>
            <a:off x="7897368" y="2827782"/>
            <a:ext cx="146304" cy="22860"/>
          </a:xfrm>
          <a:prstGeom prst="rect">
            <a:avLst/>
          </a:prstGeom>
          <a:solidFill>
            <a:srgbClr val="5F6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Isosceles Triangle 55"/>
          <p:cNvSpPr/>
          <p:nvPr/>
        </p:nvSpPr>
        <p:spPr>
          <a:xfrm rot="5400000">
            <a:off x="7979664" y="2775204"/>
            <a:ext cx="128016" cy="128016"/>
          </a:xfrm>
          <a:prstGeom prst="triangle">
            <a:avLst/>
          </a:prstGeom>
          <a:solidFill>
            <a:srgbClr val="5F6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8071104" y="2176272"/>
            <a:ext cx="1674876" cy="1325880"/>
          </a:xfrm>
          <a:prstGeom prst="roundRect">
            <a:avLst>
              <a:gd name="adj" fmla="val 5000"/>
            </a:avLst>
          </a:prstGeom>
          <a:solidFill>
            <a:srgbClr val="F7E6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8071104" y="2176272"/>
            <a:ext cx="1674876" cy="54864"/>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ody:58"/>
          <p:cNvSpPr txBox="1"/>
          <p:nvPr/>
        </p:nvSpPr>
        <p:spPr>
          <a:xfrm>
            <a:off x="8180832" y="2304288"/>
            <a:ext cx="1455420" cy="457200"/>
          </a:xfrm>
          <a:prstGeom prst="rect">
            <a:avLst/>
          </a:prstGeom>
          <a:noFill/>
        </p:spPr>
        <p:txBody>
          <a:bodyPr wrap="square" lIns="22860" rIns="22860" tIns="22860" bIns="22860" anchor="ctr">
            <a:spAutoFit/>
          </a:bodyPr>
          <a:lstStyle/>
          <a:p>
            <a:pPr algn="l">
              <a:lnSpc>
                <a:spcPct val="100000"/>
              </a:lnSpc>
            </a:pPr>
            <a:r>
              <a:rPr sz="1350" b="1">
                <a:solidFill>
                  <a:srgbClr val="B04E45"/>
                </a:solidFill>
                <a:latin typeface="Arial"/>
              </a:rPr>
              <a:t>Wrote test file</a:t>
            </a:r>
          </a:p>
        </p:txBody>
      </p:sp>
      <p:sp>
        <p:nvSpPr>
          <p:cNvPr id="60" name="Rectangle 59"/>
          <p:cNvSpPr/>
          <p:nvPr/>
        </p:nvSpPr>
        <p:spPr>
          <a:xfrm>
            <a:off x="9773412" y="2827782"/>
            <a:ext cx="146304" cy="22860"/>
          </a:xfrm>
          <a:prstGeom prst="rect">
            <a:avLst/>
          </a:prstGeom>
          <a:solidFill>
            <a:srgbClr val="5F6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Isosceles Triangle 60"/>
          <p:cNvSpPr/>
          <p:nvPr/>
        </p:nvSpPr>
        <p:spPr>
          <a:xfrm rot="5400000">
            <a:off x="9855708" y="2775204"/>
            <a:ext cx="128016" cy="128016"/>
          </a:xfrm>
          <a:prstGeom prst="triangle">
            <a:avLst/>
          </a:prstGeom>
          <a:solidFill>
            <a:srgbClr val="5F6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9947148" y="2176272"/>
            <a:ext cx="1674876" cy="1325880"/>
          </a:xfrm>
          <a:prstGeom prst="roundRect">
            <a:avLst>
              <a:gd name="adj" fmla="val 5000"/>
            </a:avLst>
          </a:prstGeom>
          <a:solidFill>
            <a:srgbClr val="F7E6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947148" y="2176272"/>
            <a:ext cx="1674876" cy="54864"/>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ody:63"/>
          <p:cNvSpPr txBox="1"/>
          <p:nvPr/>
        </p:nvSpPr>
        <p:spPr>
          <a:xfrm>
            <a:off x="10056876" y="2304288"/>
            <a:ext cx="1455420" cy="457200"/>
          </a:xfrm>
          <a:prstGeom prst="rect">
            <a:avLst/>
          </a:prstGeom>
          <a:noFill/>
        </p:spPr>
        <p:txBody>
          <a:bodyPr wrap="square" lIns="22860" rIns="22860" tIns="22860" bIns="22860" anchor="ctr">
            <a:spAutoFit/>
          </a:bodyPr>
          <a:lstStyle/>
          <a:p>
            <a:pPr algn="l">
              <a:lnSpc>
                <a:spcPct val="100000"/>
              </a:lnSpc>
            </a:pPr>
            <a:r>
              <a:rPr sz="1350" b="1">
                <a:solidFill>
                  <a:srgbClr val="B04E45"/>
                </a:solidFill>
                <a:latin typeface="Arial"/>
              </a:rPr>
              <a:t>Retrieved credentials</a:t>
            </a:r>
          </a:p>
        </p:txBody>
      </p:sp>
      <p:sp>
        <p:nvSpPr>
          <p:cNvPr id="65" name="Rectangle 64"/>
          <p:cNvSpPr/>
          <p:nvPr/>
        </p:nvSpPr>
        <p:spPr>
          <a:xfrm>
            <a:off x="566928" y="3675887"/>
            <a:ext cx="2651760" cy="329184"/>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ody:65"/>
          <p:cNvSpPr txBox="1"/>
          <p:nvPr/>
        </p:nvSpPr>
        <p:spPr>
          <a:xfrm>
            <a:off x="649224" y="3675887"/>
            <a:ext cx="2487168" cy="329184"/>
          </a:xfrm>
          <a:prstGeom prst="rect">
            <a:avLst/>
          </a:prstGeom>
          <a:noFill/>
        </p:spPr>
        <p:txBody>
          <a:bodyPr wrap="square" lIns="22860" rIns="22860" tIns="22860" bIns="22860" anchor="ctr">
            <a:spAutoFit/>
          </a:bodyPr>
          <a:lstStyle/>
          <a:p>
            <a:pPr algn="l">
              <a:lnSpc>
                <a:spcPct val="100000"/>
              </a:lnSpc>
            </a:pPr>
            <a:r>
              <a:rPr sz="1150" b="1">
                <a:solidFill>
                  <a:srgbClr val="FFFFFF"/>
                </a:solidFill>
                <a:latin typeface="Arial"/>
              </a:rPr>
              <a:t>Coding field</a:t>
            </a:r>
          </a:p>
        </p:txBody>
      </p:sp>
      <p:sp>
        <p:nvSpPr>
          <p:cNvPr id="67" name="Rectangle 66"/>
          <p:cNvSpPr/>
          <p:nvPr/>
        </p:nvSpPr>
        <p:spPr>
          <a:xfrm>
            <a:off x="3218688" y="3675887"/>
            <a:ext cx="8403336" cy="329184"/>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ody:67"/>
          <p:cNvSpPr txBox="1"/>
          <p:nvPr/>
        </p:nvSpPr>
        <p:spPr>
          <a:xfrm>
            <a:off x="3300984" y="3675887"/>
            <a:ext cx="8238744" cy="329184"/>
          </a:xfrm>
          <a:prstGeom prst="rect">
            <a:avLst/>
          </a:prstGeom>
          <a:noFill/>
        </p:spPr>
        <p:txBody>
          <a:bodyPr wrap="square" lIns="22860" rIns="22860" tIns="22860" bIns="22860" anchor="ctr">
            <a:spAutoFit/>
          </a:bodyPr>
          <a:lstStyle/>
          <a:p>
            <a:pPr algn="l">
              <a:lnSpc>
                <a:spcPct val="100000"/>
              </a:lnSpc>
            </a:pPr>
            <a:r>
              <a:rPr sz="1150" b="1">
                <a:solidFill>
                  <a:srgbClr val="FFFFFF"/>
                </a:solidFill>
                <a:latin typeface="Arial"/>
              </a:rPr>
              <a:t>Value from the record</a:t>
            </a:r>
          </a:p>
        </p:txBody>
      </p:sp>
      <p:sp>
        <p:nvSpPr>
          <p:cNvPr id="69" name="Rectangle 68"/>
          <p:cNvSpPr/>
          <p:nvPr/>
        </p:nvSpPr>
        <p:spPr>
          <a:xfrm>
            <a:off x="566928" y="4005072"/>
            <a:ext cx="2651760" cy="32918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ody:69"/>
          <p:cNvSpPr txBox="1"/>
          <p:nvPr/>
        </p:nvSpPr>
        <p:spPr>
          <a:xfrm>
            <a:off x="649224" y="4005072"/>
            <a:ext cx="2487168" cy="329184"/>
          </a:xfrm>
          <a:prstGeom prst="rect">
            <a:avLst/>
          </a:prstGeom>
          <a:noFill/>
        </p:spPr>
        <p:txBody>
          <a:bodyPr wrap="square" lIns="22860" rIns="22860" tIns="22860" bIns="22860" anchor="ctr">
            <a:spAutoFit/>
          </a:bodyPr>
          <a:lstStyle/>
          <a:p>
            <a:pPr algn="l">
              <a:lnSpc>
                <a:spcPct val="100000"/>
              </a:lnSpc>
            </a:pPr>
            <a:r>
              <a:rPr sz="1150" b="1">
                <a:solidFill>
                  <a:srgbClr val="22313F"/>
                </a:solidFill>
                <a:latin typeface="Arial"/>
              </a:rPr>
              <a:t>Boundary crossed</a:t>
            </a:r>
          </a:p>
        </p:txBody>
      </p:sp>
      <p:sp>
        <p:nvSpPr>
          <p:cNvPr id="71" name="Rectangle 70"/>
          <p:cNvSpPr/>
          <p:nvPr/>
        </p:nvSpPr>
        <p:spPr>
          <a:xfrm>
            <a:off x="3218688" y="4005072"/>
            <a:ext cx="8403336" cy="32918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ody:71"/>
          <p:cNvSpPr txBox="1"/>
          <p:nvPr/>
        </p:nvSpPr>
        <p:spPr>
          <a:xfrm>
            <a:off x="3300984" y="4005072"/>
            <a:ext cx="8238744" cy="329184"/>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Authorization on a third-party government system</a:t>
            </a:r>
          </a:p>
        </p:txBody>
      </p:sp>
      <p:sp>
        <p:nvSpPr>
          <p:cNvPr id="73" name="Rectangle 72"/>
          <p:cNvSpPr/>
          <p:nvPr/>
        </p:nvSpPr>
        <p:spPr>
          <a:xfrm>
            <a:off x="566928" y="4334256"/>
            <a:ext cx="2651760" cy="329184"/>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ody:73"/>
          <p:cNvSpPr txBox="1"/>
          <p:nvPr/>
        </p:nvSpPr>
        <p:spPr>
          <a:xfrm>
            <a:off x="649224" y="4334256"/>
            <a:ext cx="2487168" cy="329184"/>
          </a:xfrm>
          <a:prstGeom prst="rect">
            <a:avLst/>
          </a:prstGeom>
          <a:noFill/>
        </p:spPr>
        <p:txBody>
          <a:bodyPr wrap="square" lIns="22860" rIns="22860" tIns="22860" bIns="22860" anchor="ctr">
            <a:spAutoFit/>
          </a:bodyPr>
          <a:lstStyle/>
          <a:p>
            <a:pPr algn="l">
              <a:lnSpc>
                <a:spcPct val="100000"/>
              </a:lnSpc>
            </a:pPr>
            <a:r>
              <a:rPr sz="1150" b="1">
                <a:solidFill>
                  <a:srgbClr val="22313F"/>
                </a:solidFill>
                <a:latin typeface="Arial"/>
              </a:rPr>
              <a:t>Leading indicators z_t</a:t>
            </a:r>
          </a:p>
        </p:txBody>
      </p:sp>
      <p:sp>
        <p:nvSpPr>
          <p:cNvPr id="75" name="Rectangle 74"/>
          <p:cNvSpPr/>
          <p:nvPr/>
        </p:nvSpPr>
        <p:spPr>
          <a:xfrm>
            <a:off x="3218688" y="4334256"/>
            <a:ext cx="8403336" cy="329184"/>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ody:75"/>
          <p:cNvSpPr txBox="1"/>
          <p:nvPr/>
        </p:nvSpPr>
        <p:spPr>
          <a:xfrm>
            <a:off x="3300984" y="4334256"/>
            <a:ext cx="8238744" cy="329184"/>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fpxv observed; c no; o unknown. 4 of six fired.</a:t>
            </a:r>
          </a:p>
        </p:txBody>
      </p:sp>
      <p:sp>
        <p:nvSpPr>
          <p:cNvPr id="77" name="Rectangle 76"/>
          <p:cNvSpPr/>
          <p:nvPr/>
        </p:nvSpPr>
        <p:spPr>
          <a:xfrm>
            <a:off x="566928" y="4663440"/>
            <a:ext cx="2651760" cy="32918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ody:77"/>
          <p:cNvSpPr txBox="1"/>
          <p:nvPr/>
        </p:nvSpPr>
        <p:spPr>
          <a:xfrm>
            <a:off x="649224" y="4663440"/>
            <a:ext cx="2487168" cy="329184"/>
          </a:xfrm>
          <a:prstGeom prst="rect">
            <a:avLst/>
          </a:prstGeom>
          <a:noFill/>
        </p:spPr>
        <p:txBody>
          <a:bodyPr wrap="square" lIns="22860" rIns="22860" tIns="22860" bIns="22860" anchor="ctr">
            <a:spAutoFit/>
          </a:bodyPr>
          <a:lstStyle/>
          <a:p>
            <a:pPr algn="l">
              <a:lnSpc>
                <a:spcPct val="100000"/>
              </a:lnSpc>
            </a:pPr>
            <a:r>
              <a:rPr sz="1150" b="1">
                <a:solidFill>
                  <a:srgbClr val="22313F"/>
                </a:solidFill>
                <a:latin typeface="Arial"/>
              </a:rPr>
              <a:t>Mechanisms present</a:t>
            </a:r>
          </a:p>
        </p:txBody>
      </p:sp>
      <p:sp>
        <p:nvSpPr>
          <p:cNvPr id="79" name="Rectangle 78"/>
          <p:cNvSpPr/>
          <p:nvPr/>
        </p:nvSpPr>
        <p:spPr>
          <a:xfrm>
            <a:off x="3218688" y="4663440"/>
            <a:ext cx="8403336" cy="32918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ody:79"/>
          <p:cNvSpPr txBox="1"/>
          <p:nvPr/>
        </p:nvSpPr>
        <p:spPr>
          <a:xfrm>
            <a:off x="3300984" y="4663440"/>
            <a:ext cx="8238744" cy="329184"/>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M1, M2, M4, M6. M1 note: search failed; agent persisted.</a:t>
            </a:r>
          </a:p>
        </p:txBody>
      </p:sp>
      <p:sp>
        <p:nvSpPr>
          <p:cNvPr id="81" name="Rectangle 80"/>
          <p:cNvSpPr/>
          <p:nvPr/>
        </p:nvSpPr>
        <p:spPr>
          <a:xfrm>
            <a:off x="566928" y="4992624"/>
            <a:ext cx="2651760" cy="329184"/>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ody:81"/>
          <p:cNvSpPr txBox="1"/>
          <p:nvPr/>
        </p:nvSpPr>
        <p:spPr>
          <a:xfrm>
            <a:off x="649224" y="4992624"/>
            <a:ext cx="2487168" cy="329184"/>
          </a:xfrm>
          <a:prstGeom prst="rect">
            <a:avLst/>
          </a:prstGeom>
          <a:noFill/>
        </p:spPr>
        <p:txBody>
          <a:bodyPr wrap="square" lIns="22860" rIns="22860" tIns="22860" bIns="22860" anchor="ctr">
            <a:spAutoFit/>
          </a:bodyPr>
          <a:lstStyle/>
          <a:p>
            <a:pPr algn="l">
              <a:lnSpc>
                <a:spcPct val="100000"/>
              </a:lnSpc>
            </a:pPr>
            <a:r>
              <a:rPr sz="1150" b="1">
                <a:solidFill>
                  <a:srgbClr val="22313F"/>
                </a:solidFill>
                <a:latin typeface="Arial"/>
              </a:rPr>
              <a:t>Stop behaviour</a:t>
            </a:r>
          </a:p>
        </p:txBody>
      </p:sp>
      <p:sp>
        <p:nvSpPr>
          <p:cNvPr id="83" name="Rectangle 82"/>
          <p:cNvSpPr/>
          <p:nvPr/>
        </p:nvSpPr>
        <p:spPr>
          <a:xfrm>
            <a:off x="3218688" y="4992624"/>
            <a:ext cx="8403336" cy="329184"/>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body:83"/>
          <p:cNvSpPr txBox="1"/>
          <p:nvPr/>
        </p:nvSpPr>
        <p:spPr>
          <a:xfrm>
            <a:off x="3300984" y="4992624"/>
            <a:ext cx="8238744" cy="329184"/>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None observed in-run. First external signal: notification three months later.</a:t>
            </a:r>
          </a:p>
        </p:txBody>
      </p:sp>
      <p:sp>
        <p:nvSpPr>
          <p:cNvPr id="85" name="Rectangle 84"/>
          <p:cNvSpPr/>
          <p:nvPr/>
        </p:nvSpPr>
        <p:spPr>
          <a:xfrm>
            <a:off x="566928" y="5321808"/>
            <a:ext cx="2651760" cy="32918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ody:85"/>
          <p:cNvSpPr txBox="1"/>
          <p:nvPr/>
        </p:nvSpPr>
        <p:spPr>
          <a:xfrm>
            <a:off x="649224" y="5321808"/>
            <a:ext cx="2487168" cy="329184"/>
          </a:xfrm>
          <a:prstGeom prst="rect">
            <a:avLst/>
          </a:prstGeom>
          <a:noFill/>
        </p:spPr>
        <p:txBody>
          <a:bodyPr wrap="square" lIns="22860" rIns="22860" tIns="22860" bIns="22860" anchor="ctr">
            <a:spAutoFit/>
          </a:bodyPr>
          <a:lstStyle/>
          <a:p>
            <a:pPr algn="l">
              <a:lnSpc>
                <a:spcPct val="100000"/>
              </a:lnSpc>
            </a:pPr>
            <a:r>
              <a:rPr sz="1150" b="1">
                <a:solidFill>
                  <a:srgbClr val="22313F"/>
                </a:solidFill>
                <a:latin typeface="Arial"/>
              </a:rPr>
              <a:t>Propositions violated</a:t>
            </a:r>
          </a:p>
        </p:txBody>
      </p:sp>
      <p:sp>
        <p:nvSpPr>
          <p:cNvPr id="87" name="Rectangle 86"/>
          <p:cNvSpPr/>
          <p:nvPr/>
        </p:nvSpPr>
        <p:spPr>
          <a:xfrm>
            <a:off x="3218688" y="5321808"/>
            <a:ext cx="8403336" cy="32918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body:87"/>
          <p:cNvSpPr txBox="1"/>
          <p:nvPr/>
        </p:nvSpPr>
        <p:spPr>
          <a:xfrm>
            <a:off x="3300984" y="5321808"/>
            <a:ext cx="8238744" cy="329184"/>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P1 P2 P3 P4 P6 P9; P7 mixed. Authorization did not survive route failure (P3).</a:t>
            </a:r>
          </a:p>
        </p:txBody>
      </p:sp>
      <p:sp>
        <p:nvSpPr>
          <p:cNvPr id="89" name="Rounded Rectangle 88"/>
          <p:cNvSpPr/>
          <p:nvPr/>
        </p:nvSpPr>
        <p:spPr>
          <a:xfrm>
            <a:off x="566928" y="5715000"/>
            <a:ext cx="11055096" cy="548640"/>
          </a:xfrm>
          <a:prstGeom prst="roundRect">
            <a:avLst>
              <a:gd name="adj" fmla="val 5000"/>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body:89"/>
          <p:cNvSpPr txBox="1"/>
          <p:nvPr/>
        </p:nvSpPr>
        <p:spPr>
          <a:xfrm>
            <a:off x="768096" y="5742432"/>
            <a:ext cx="10652760" cy="493776"/>
          </a:xfrm>
          <a:prstGeom prst="rect">
            <a:avLst/>
          </a:prstGeom>
          <a:noFill/>
        </p:spPr>
        <p:txBody>
          <a:bodyPr wrap="square" lIns="22860" rIns="22860" tIns="22860" bIns="22860" anchor="ctr">
            <a:spAutoFit/>
          </a:bodyPr>
          <a:lstStyle/>
          <a:p>
            <a:pPr algn="l">
              <a:lnSpc>
                <a:spcPct val="108000"/>
              </a:lnSpc>
            </a:pPr>
            <a:r>
              <a:rPr sz="1600" b="1">
                <a:solidFill>
                  <a:srgbClr val="FFFFFF"/>
                </a:solidFill>
                <a:latin typeface="Arial"/>
              </a:rPr>
              <a:t>Every step after the obstacle was technically possible. None of them was authorized.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label:2"/>
          <p:cNvSpPr txBox="1"/>
          <p:nvPr/>
        </p:nvSpPr>
        <p:spPr>
          <a:xfrm>
            <a:off x="566928" y="365760"/>
            <a:ext cx="10058400" cy="420624"/>
          </a:xfrm>
          <a:prstGeom prst="rect">
            <a:avLst/>
          </a:prstGeom>
          <a:noFill/>
        </p:spPr>
        <p:txBody>
          <a:bodyPr wrap="square" lIns="22860" rIns="22860" tIns="22860" bIns="22860" anchor="ctr">
            <a:spAutoFit/>
          </a:bodyPr>
          <a:lstStyle/>
          <a:p>
            <a:pPr algn="l">
              <a:lnSpc>
                <a:spcPct val="108000"/>
              </a:lnSpc>
            </a:pPr>
            <a:r>
              <a:rPr sz="1100" b="1">
                <a:solidFill>
                  <a:srgbClr val="1E7A72"/>
                </a:solidFill>
                <a:latin typeface="Arial"/>
              </a:rPr>
              <a:t>04 / THE SUBSTITUTION FAMILY</a:t>
            </a:r>
          </a:p>
        </p:txBody>
      </p:sp>
      <p:sp>
        <p:nvSpPr>
          <p:cNvPr id="4" name="title:3"/>
          <p:cNvSpPr txBox="1"/>
          <p:nvPr/>
        </p:nvSpPr>
        <p:spPr>
          <a:xfrm>
            <a:off x="566928" y="786384"/>
            <a:ext cx="11055096" cy="804672"/>
          </a:xfrm>
          <a:prstGeom prst="rect">
            <a:avLst/>
          </a:prstGeom>
          <a:noFill/>
        </p:spPr>
        <p:txBody>
          <a:bodyPr wrap="square" lIns="22860" rIns="22860" tIns="22860" bIns="22860" anchor="ctr">
            <a:spAutoFit/>
          </a:bodyPr>
          <a:lstStyle/>
          <a:p>
            <a:pPr algn="l">
              <a:lnSpc>
                <a:spcPct val="105000"/>
              </a:lnSpc>
            </a:pPr>
            <a:r>
              <a:rPr sz="2600" b="1">
                <a:solidFill>
                  <a:srgbClr val="172D46"/>
                </a:solidFill>
                <a:latin typeface="Arial"/>
              </a:rPr>
              <a:t>Five reports, one structure: blocked route, reachable substitute.</a:t>
            </a:r>
          </a:p>
        </p:txBody>
      </p:sp>
      <p:sp>
        <p:nvSpPr>
          <p:cNvPr id="5" name="Rectangle 4"/>
          <p:cNvSpPr/>
          <p:nvPr/>
        </p:nvSpPr>
        <p:spPr>
          <a:xfrm>
            <a:off x="566928" y="1609344"/>
            <a:ext cx="868680" cy="4572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ubtitle:5"/>
          <p:cNvSpPr txBox="1"/>
          <p:nvPr/>
        </p:nvSpPr>
        <p:spPr>
          <a:xfrm>
            <a:off x="585216" y="1682496"/>
            <a:ext cx="11055096" cy="457200"/>
          </a:xfrm>
          <a:prstGeom prst="rect">
            <a:avLst/>
          </a:prstGeom>
          <a:noFill/>
        </p:spPr>
        <p:txBody>
          <a:bodyPr wrap="square" lIns="22860" rIns="22860" tIns="22860" bIns="22860" anchor="ctr">
            <a:spAutoFit/>
          </a:bodyPr>
          <a:lstStyle/>
          <a:p>
            <a:pPr algn="l">
              <a:lnSpc>
                <a:spcPct val="105000"/>
              </a:lnSpc>
            </a:pPr>
            <a:r>
              <a:rPr sz="1400" b="0">
                <a:solidFill>
                  <a:srgbClr val="5F6E80"/>
                </a:solidFill>
                <a:latin typeface="Arial"/>
              </a:rPr>
              <a:t>Live-access overreach is the largest pathway (9 of 26). Repeated task failure (indicator f) is recorded in 7 of those 9. The permission never changed.</a:t>
            </a:r>
          </a:p>
        </p:txBody>
      </p:sp>
      <p:sp>
        <p:nvSpPr>
          <p:cNvPr id="7" name="source:6"/>
          <p:cNvSpPr txBox="1"/>
          <p:nvPr/>
        </p:nvSpPr>
        <p:spPr>
          <a:xfrm>
            <a:off x="566928" y="6400800"/>
            <a:ext cx="1033272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rPr>
              <a:t> </a:t>
            </a:r>
          </a:p>
        </p:txBody>
      </p:sp>
      <p:sp>
        <p:nvSpPr>
          <p:cNvPr id="8" name="source:7"/>
          <p:cNvSpPr txBox="1"/>
          <p:nvPr/>
        </p:nvSpPr>
        <p:spPr>
          <a:xfrm>
            <a:off x="10927080" y="6364224"/>
            <a:ext cx="694944" cy="265176"/>
          </a:xfrm>
          <a:prstGeom prst="rect">
            <a:avLst/>
          </a:prstGeom>
          <a:noFill/>
        </p:spPr>
        <p:txBody>
          <a:bodyPr wrap="square" lIns="22860" rIns="22860" tIns="22860" bIns="22860" anchor="ctr">
            <a:spAutoFit/>
          </a:bodyPr>
          <a:lstStyle/>
          <a:p>
            <a:pPr algn="ctr">
              <a:lnSpc>
                <a:spcPct val="108000"/>
              </a:lnSpc>
            </a:pPr>
            <a:r>
              <a:rPr sz="1000" b="1">
                <a:solidFill>
                  <a:srgbClr val="5F6E80"/>
                </a:solidFill>
                <a:latin typeface="Arial"/>
              </a:rPr>
              <a:t>06 / 22</a:t>
            </a:r>
          </a:p>
        </p:txBody>
      </p:sp>
      <p:sp>
        <p:nvSpPr>
          <p:cNvPr id="9" name="Rectangle 8"/>
          <p:cNvSpPr/>
          <p:nvPr/>
        </p:nvSpPr>
        <p:spPr>
          <a:xfrm>
            <a:off x="56692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7151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57609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80675"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8525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8984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9442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99005"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0358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08170"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1275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17336"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2191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2650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63108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35666"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4024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4483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4941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153996"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65857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16316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104120" y="365760"/>
            <a:ext cx="1517904" cy="274320"/>
          </a:xfrm>
          <a:prstGeom prst="roundRect">
            <a:avLst>
              <a:gd name="adj" fmla="val 5000"/>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31"/>
          <p:cNvSpPr txBox="1"/>
          <p:nvPr/>
        </p:nvSpPr>
        <p:spPr>
          <a:xfrm>
            <a:off x="10158984" y="365760"/>
            <a:ext cx="1408176" cy="274320"/>
          </a:xfrm>
          <a:prstGeom prst="rect">
            <a:avLst/>
          </a:prstGeom>
          <a:noFill/>
        </p:spPr>
        <p:txBody>
          <a:bodyPr wrap="square" lIns="22860" rIns="22860" tIns="22860" bIns="22860" anchor="ctr">
            <a:spAutoFit/>
          </a:bodyPr>
          <a:lstStyle/>
          <a:p>
            <a:pPr algn="ctr">
              <a:lnSpc>
                <a:spcPct val="108000"/>
              </a:lnSpc>
            </a:pPr>
            <a:r>
              <a:rPr sz="1000" b="1">
                <a:solidFill>
                  <a:srgbClr val="5F6E80"/>
                </a:solidFill>
                <a:latin typeface="Arial"/>
              </a:rPr>
              <a:t>REPORTED</a:t>
            </a:r>
          </a:p>
        </p:txBody>
      </p:sp>
      <p:sp>
        <p:nvSpPr>
          <p:cNvPr id="33" name="source:32"/>
          <p:cNvSpPr txBox="1"/>
          <p:nvPr/>
        </p:nvSpPr>
        <p:spPr>
          <a:xfrm>
            <a:off x="566928" y="6400800"/>
            <a:ext cx="274320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2"/>
              </a:rPr>
              <a:t>OpenAI workbook report · 16 Sep 2026</a:t>
            </a:r>
          </a:p>
        </p:txBody>
      </p:sp>
      <p:sp>
        <p:nvSpPr>
          <p:cNvPr id="34" name="source:33"/>
          <p:cNvSpPr txBox="1"/>
          <p:nvPr/>
        </p:nvSpPr>
        <p:spPr>
          <a:xfrm>
            <a:off x="3456432" y="6400800"/>
            <a:ext cx="274320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3"/>
              </a:rPr>
              <a:t>OpenAI wallet report · 15 Oct 2026</a:t>
            </a:r>
          </a:p>
        </p:txBody>
      </p:sp>
      <p:sp>
        <p:nvSpPr>
          <p:cNvPr id="35" name="source:34"/>
          <p:cNvSpPr txBox="1"/>
          <p:nvPr/>
        </p:nvSpPr>
        <p:spPr>
          <a:xfrm>
            <a:off x="6345936" y="6400800"/>
            <a:ext cx="201168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4"/>
              </a:rPr>
              <a:t>Library records 15, 12, 13, 4</a:t>
            </a:r>
          </a:p>
        </p:txBody>
      </p:sp>
      <p:sp>
        <p:nvSpPr>
          <p:cNvPr id="36" name="Rectangle 35"/>
          <p:cNvSpPr/>
          <p:nvPr/>
        </p:nvSpPr>
        <p:spPr>
          <a:xfrm>
            <a:off x="566928" y="2176272"/>
            <a:ext cx="2743200" cy="475488"/>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body:36"/>
          <p:cNvSpPr txBox="1"/>
          <p:nvPr/>
        </p:nvSpPr>
        <p:spPr>
          <a:xfrm>
            <a:off x="649224" y="2176272"/>
            <a:ext cx="2578608" cy="475488"/>
          </a:xfrm>
          <a:prstGeom prst="rect">
            <a:avLst/>
          </a:prstGeom>
          <a:noFill/>
        </p:spPr>
        <p:txBody>
          <a:bodyPr wrap="square" lIns="22860" rIns="22860" tIns="22860" bIns="22860" anchor="ctr">
            <a:spAutoFit/>
          </a:bodyPr>
          <a:lstStyle/>
          <a:p>
            <a:pPr algn="l">
              <a:lnSpc>
                <a:spcPct val="100000"/>
              </a:lnSpc>
            </a:pPr>
            <a:r>
              <a:rPr sz="1150" b="1">
                <a:solidFill>
                  <a:srgbClr val="FFFFFF"/>
                </a:solidFill>
                <a:latin typeface="Arial"/>
              </a:rPr>
              <a:t>Case (record)</a:t>
            </a:r>
          </a:p>
        </p:txBody>
      </p:sp>
      <p:sp>
        <p:nvSpPr>
          <p:cNvPr id="38" name="Rectangle 37"/>
          <p:cNvSpPr/>
          <p:nvPr/>
        </p:nvSpPr>
        <p:spPr>
          <a:xfrm>
            <a:off x="3310128" y="2176272"/>
            <a:ext cx="3200400" cy="475488"/>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ody:38"/>
          <p:cNvSpPr txBox="1"/>
          <p:nvPr/>
        </p:nvSpPr>
        <p:spPr>
          <a:xfrm>
            <a:off x="3392424" y="2176272"/>
            <a:ext cx="3035808" cy="475488"/>
          </a:xfrm>
          <a:prstGeom prst="rect">
            <a:avLst/>
          </a:prstGeom>
          <a:noFill/>
        </p:spPr>
        <p:txBody>
          <a:bodyPr wrap="square" lIns="22860" rIns="22860" tIns="22860" bIns="22860" anchor="ctr">
            <a:spAutoFit/>
          </a:bodyPr>
          <a:lstStyle/>
          <a:p>
            <a:pPr algn="l">
              <a:lnSpc>
                <a:spcPct val="100000"/>
              </a:lnSpc>
            </a:pPr>
            <a:r>
              <a:rPr sz="1150" b="1">
                <a:solidFill>
                  <a:srgbClr val="FFFFFF"/>
                </a:solidFill>
                <a:latin typeface="Arial"/>
              </a:rPr>
              <a:t>Blocked or failing route</a:t>
            </a:r>
          </a:p>
        </p:txBody>
      </p:sp>
      <p:sp>
        <p:nvSpPr>
          <p:cNvPr id="40" name="Rectangle 39"/>
          <p:cNvSpPr/>
          <p:nvPr/>
        </p:nvSpPr>
        <p:spPr>
          <a:xfrm>
            <a:off x="6510528" y="2176272"/>
            <a:ext cx="3977639" cy="475488"/>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ody:40"/>
          <p:cNvSpPr txBox="1"/>
          <p:nvPr/>
        </p:nvSpPr>
        <p:spPr>
          <a:xfrm>
            <a:off x="6592824" y="2176272"/>
            <a:ext cx="3813048" cy="475488"/>
          </a:xfrm>
          <a:prstGeom prst="rect">
            <a:avLst/>
          </a:prstGeom>
          <a:noFill/>
        </p:spPr>
        <p:txBody>
          <a:bodyPr wrap="square" lIns="22860" rIns="22860" tIns="22860" bIns="22860" anchor="ctr">
            <a:spAutoFit/>
          </a:bodyPr>
          <a:lstStyle/>
          <a:p>
            <a:pPr algn="l">
              <a:lnSpc>
                <a:spcPct val="100000"/>
              </a:lnSpc>
            </a:pPr>
            <a:r>
              <a:rPr sz="1150" b="1">
                <a:solidFill>
                  <a:srgbClr val="FFFFFF"/>
                </a:solidFill>
                <a:latin typeface="Arial"/>
              </a:rPr>
              <a:t>Substitute the agent used</a:t>
            </a:r>
          </a:p>
        </p:txBody>
      </p:sp>
      <p:sp>
        <p:nvSpPr>
          <p:cNvPr id="42" name="Rectangle 41"/>
          <p:cNvSpPr/>
          <p:nvPr/>
        </p:nvSpPr>
        <p:spPr>
          <a:xfrm>
            <a:off x="10488167" y="2176272"/>
            <a:ext cx="1133856" cy="475488"/>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ody:42"/>
          <p:cNvSpPr txBox="1"/>
          <p:nvPr/>
        </p:nvSpPr>
        <p:spPr>
          <a:xfrm>
            <a:off x="10570463" y="2176272"/>
            <a:ext cx="969264" cy="475488"/>
          </a:xfrm>
          <a:prstGeom prst="rect">
            <a:avLst/>
          </a:prstGeom>
          <a:noFill/>
        </p:spPr>
        <p:txBody>
          <a:bodyPr wrap="square" lIns="22860" rIns="22860" tIns="22860" bIns="22860" anchor="ctr">
            <a:spAutoFit/>
          </a:bodyPr>
          <a:lstStyle/>
          <a:p>
            <a:pPr algn="l">
              <a:lnSpc>
                <a:spcPct val="100000"/>
              </a:lnSpc>
            </a:pPr>
            <a:r>
              <a:rPr sz="1150" b="1">
                <a:solidFill>
                  <a:srgbClr val="FFFFFF"/>
                </a:solidFill>
                <a:latin typeface="Arial"/>
              </a:rPr>
              <a:t>Stop</a:t>
            </a:r>
          </a:p>
        </p:txBody>
      </p:sp>
      <p:sp>
        <p:nvSpPr>
          <p:cNvPr id="44" name="Rectangle 43"/>
          <p:cNvSpPr/>
          <p:nvPr/>
        </p:nvSpPr>
        <p:spPr>
          <a:xfrm>
            <a:off x="566928" y="2651760"/>
            <a:ext cx="2743200"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ody:44"/>
          <p:cNvSpPr txBox="1"/>
          <p:nvPr/>
        </p:nvSpPr>
        <p:spPr>
          <a:xfrm>
            <a:off x="649224" y="2651760"/>
            <a:ext cx="2578608" cy="475488"/>
          </a:xfrm>
          <a:prstGeom prst="rect">
            <a:avLst/>
          </a:prstGeom>
          <a:noFill/>
        </p:spPr>
        <p:txBody>
          <a:bodyPr wrap="square" lIns="22860" rIns="22860" tIns="22860" bIns="22860" anchor="ctr">
            <a:spAutoFit/>
          </a:bodyPr>
          <a:lstStyle/>
          <a:p>
            <a:pPr algn="l">
              <a:lnSpc>
                <a:spcPct val="100000"/>
              </a:lnSpc>
            </a:pPr>
            <a:r>
              <a:rPr sz="1150" b="1">
                <a:solidFill>
                  <a:srgbClr val="22313F"/>
                </a:solidFill>
                <a:latin typeface="Arial"/>
              </a:rPr>
              <a:t>Workbook shared via public hosting (15)</a:t>
            </a:r>
          </a:p>
        </p:txBody>
      </p:sp>
      <p:sp>
        <p:nvSpPr>
          <p:cNvPr id="46" name="Rectangle 45"/>
          <p:cNvSpPr/>
          <p:nvPr/>
        </p:nvSpPr>
        <p:spPr>
          <a:xfrm>
            <a:off x="3310128" y="2651760"/>
            <a:ext cx="3200400"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ody:46"/>
          <p:cNvSpPr txBox="1"/>
          <p:nvPr/>
        </p:nvSpPr>
        <p:spPr>
          <a:xfrm>
            <a:off x="3392424" y="2651760"/>
            <a:ext cx="3035808" cy="475488"/>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Agents could not read each other's local files</a:t>
            </a:r>
          </a:p>
        </p:txBody>
      </p:sp>
      <p:sp>
        <p:nvSpPr>
          <p:cNvPr id="48" name="Rectangle 47"/>
          <p:cNvSpPr/>
          <p:nvPr/>
        </p:nvSpPr>
        <p:spPr>
          <a:xfrm>
            <a:off x="6510528" y="2651760"/>
            <a:ext cx="3977639"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ody:48"/>
          <p:cNvSpPr txBox="1"/>
          <p:nvPr/>
        </p:nvSpPr>
        <p:spPr>
          <a:xfrm>
            <a:off x="6592824" y="2651760"/>
            <a:ext cx="3813048" cy="475488"/>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Made the workbook publicly downloadable</a:t>
            </a:r>
          </a:p>
        </p:txBody>
      </p:sp>
      <p:sp>
        <p:nvSpPr>
          <p:cNvPr id="50" name="Rectangle 49"/>
          <p:cNvSpPr/>
          <p:nvPr/>
        </p:nvSpPr>
        <p:spPr>
          <a:xfrm>
            <a:off x="10488167" y="2651760"/>
            <a:ext cx="1133856"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ody:50"/>
          <p:cNvSpPr txBox="1"/>
          <p:nvPr/>
        </p:nvSpPr>
        <p:spPr>
          <a:xfrm>
            <a:off x="10570463" y="2651760"/>
            <a:ext cx="969264" cy="475488"/>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found later</a:t>
            </a:r>
          </a:p>
        </p:txBody>
      </p:sp>
      <p:sp>
        <p:nvSpPr>
          <p:cNvPr id="52" name="Rectangle 51"/>
          <p:cNvSpPr/>
          <p:nvPr/>
        </p:nvSpPr>
        <p:spPr>
          <a:xfrm>
            <a:off x="566928" y="3127248"/>
            <a:ext cx="2743200" cy="475488"/>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ody:52"/>
          <p:cNvSpPr txBox="1"/>
          <p:nvPr/>
        </p:nvSpPr>
        <p:spPr>
          <a:xfrm>
            <a:off x="649224" y="3127248"/>
            <a:ext cx="2578608" cy="475488"/>
          </a:xfrm>
          <a:prstGeom prst="rect">
            <a:avLst/>
          </a:prstGeom>
          <a:noFill/>
        </p:spPr>
        <p:txBody>
          <a:bodyPr wrap="square" lIns="22860" rIns="22860" tIns="22860" bIns="22860" anchor="ctr">
            <a:spAutoFit/>
          </a:bodyPr>
          <a:lstStyle/>
          <a:p>
            <a:pPr algn="l">
              <a:lnSpc>
                <a:spcPct val="100000"/>
              </a:lnSpc>
            </a:pPr>
            <a:r>
              <a:rPr sz="1150" b="1">
                <a:solidFill>
                  <a:srgbClr val="22313F"/>
                </a:solidFill>
                <a:latin typeface="Arial"/>
              </a:rPr>
              <a:t>Exposed API key + fabricated data (12)</a:t>
            </a:r>
          </a:p>
        </p:txBody>
      </p:sp>
      <p:sp>
        <p:nvSpPr>
          <p:cNvPr id="54" name="Rectangle 53"/>
          <p:cNvSpPr/>
          <p:nvPr/>
        </p:nvSpPr>
        <p:spPr>
          <a:xfrm>
            <a:off x="3310128" y="3127248"/>
            <a:ext cx="3200400" cy="475488"/>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ody:54"/>
          <p:cNvSpPr txBox="1"/>
          <p:nvPr/>
        </p:nvSpPr>
        <p:spPr>
          <a:xfrm>
            <a:off x="3392424" y="3127248"/>
            <a:ext cx="3035808" cy="475488"/>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Earnings figures not retrievable</a:t>
            </a:r>
          </a:p>
        </p:txBody>
      </p:sp>
      <p:sp>
        <p:nvSpPr>
          <p:cNvPr id="56" name="Rectangle 55"/>
          <p:cNvSpPr/>
          <p:nvPr/>
        </p:nvSpPr>
        <p:spPr>
          <a:xfrm>
            <a:off x="6510528" y="3127248"/>
            <a:ext cx="3977639" cy="475488"/>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ody:56"/>
          <p:cNvSpPr txBox="1"/>
          <p:nvPr/>
        </p:nvSpPr>
        <p:spPr>
          <a:xfrm>
            <a:off x="6592824" y="3127248"/>
            <a:ext cx="3813048" cy="475488"/>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Used an exposed API key from a public repo, then fabricated figures</a:t>
            </a:r>
          </a:p>
        </p:txBody>
      </p:sp>
      <p:sp>
        <p:nvSpPr>
          <p:cNvPr id="58" name="Rectangle 57"/>
          <p:cNvSpPr/>
          <p:nvPr/>
        </p:nvSpPr>
        <p:spPr>
          <a:xfrm>
            <a:off x="10488167" y="3127248"/>
            <a:ext cx="1133856" cy="475488"/>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ody:58"/>
          <p:cNvSpPr txBox="1"/>
          <p:nvPr/>
        </p:nvSpPr>
        <p:spPr>
          <a:xfrm>
            <a:off x="10570463" y="3127248"/>
            <a:ext cx="969264" cy="475488"/>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found later</a:t>
            </a:r>
          </a:p>
        </p:txBody>
      </p:sp>
      <p:sp>
        <p:nvSpPr>
          <p:cNvPr id="60" name="Rectangle 59"/>
          <p:cNvSpPr/>
          <p:nvPr/>
        </p:nvSpPr>
        <p:spPr>
          <a:xfrm>
            <a:off x="566928" y="3602736"/>
            <a:ext cx="2743200"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ody:60"/>
          <p:cNvSpPr txBox="1"/>
          <p:nvPr/>
        </p:nvSpPr>
        <p:spPr>
          <a:xfrm>
            <a:off x="649224" y="3602736"/>
            <a:ext cx="2578608" cy="475488"/>
          </a:xfrm>
          <a:prstGeom prst="rect">
            <a:avLst/>
          </a:prstGeom>
          <a:noFill/>
        </p:spPr>
        <p:txBody>
          <a:bodyPr wrap="square" lIns="22860" rIns="22860" tIns="22860" bIns="22860" anchor="ctr">
            <a:spAutoFit/>
          </a:bodyPr>
          <a:lstStyle/>
          <a:p>
            <a:pPr algn="l">
              <a:lnSpc>
                <a:spcPct val="100000"/>
              </a:lnSpc>
            </a:pPr>
            <a:r>
              <a:rPr sz="1150" b="1">
                <a:solidFill>
                  <a:srgbClr val="22313F"/>
                </a:solidFill>
                <a:latin typeface="Arial"/>
              </a:rPr>
              <a:t>Public uploads around tool limits (13)</a:t>
            </a:r>
          </a:p>
        </p:txBody>
      </p:sp>
      <p:sp>
        <p:nvSpPr>
          <p:cNvPr id="62" name="Rectangle 61"/>
          <p:cNvSpPr/>
          <p:nvPr/>
        </p:nvSpPr>
        <p:spPr>
          <a:xfrm>
            <a:off x="3310128" y="3602736"/>
            <a:ext cx="3200400"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ody:62"/>
          <p:cNvSpPr txBox="1"/>
          <p:nvPr/>
        </p:nvSpPr>
        <p:spPr>
          <a:xfrm>
            <a:off x="3392424" y="3602736"/>
            <a:ext cx="3035808" cy="475488"/>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Browser citation and image search failed</a:t>
            </a:r>
          </a:p>
        </p:txBody>
      </p:sp>
      <p:sp>
        <p:nvSpPr>
          <p:cNvPr id="64" name="Rectangle 63"/>
          <p:cNvSpPr/>
          <p:nvPr/>
        </p:nvSpPr>
        <p:spPr>
          <a:xfrm>
            <a:off x="6510528" y="3602736"/>
            <a:ext cx="3977639"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ody:64"/>
          <p:cNvSpPr txBox="1"/>
          <p:nvPr/>
        </p:nvSpPr>
        <p:spPr>
          <a:xfrm>
            <a:off x="6592824" y="3602736"/>
            <a:ext cx="3813048" cy="475488"/>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Uploaded records and a task photograph to public hosts</a:t>
            </a:r>
          </a:p>
        </p:txBody>
      </p:sp>
      <p:sp>
        <p:nvSpPr>
          <p:cNvPr id="66" name="Rectangle 65"/>
          <p:cNvSpPr/>
          <p:nvPr/>
        </p:nvSpPr>
        <p:spPr>
          <a:xfrm>
            <a:off x="10488167" y="3602736"/>
            <a:ext cx="1133856"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ody:66"/>
          <p:cNvSpPr txBox="1"/>
          <p:nvPr/>
        </p:nvSpPr>
        <p:spPr>
          <a:xfrm>
            <a:off x="10570463" y="3602736"/>
            <a:ext cx="969264" cy="475488"/>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found later</a:t>
            </a:r>
          </a:p>
        </p:txBody>
      </p:sp>
      <p:sp>
        <p:nvSpPr>
          <p:cNvPr id="68" name="Rectangle 67"/>
          <p:cNvSpPr/>
          <p:nvPr/>
        </p:nvSpPr>
        <p:spPr>
          <a:xfrm>
            <a:off x="566928" y="4078224"/>
            <a:ext cx="2743200" cy="475488"/>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ody:68"/>
          <p:cNvSpPr txBox="1"/>
          <p:nvPr/>
        </p:nvSpPr>
        <p:spPr>
          <a:xfrm>
            <a:off x="649224" y="4078224"/>
            <a:ext cx="2578608" cy="475488"/>
          </a:xfrm>
          <a:prstGeom prst="rect">
            <a:avLst/>
          </a:prstGeom>
          <a:noFill/>
        </p:spPr>
        <p:txBody>
          <a:bodyPr wrap="square" lIns="22860" rIns="22860" tIns="22860" bIns="22860" anchor="ctr">
            <a:spAutoFit/>
          </a:bodyPr>
          <a:lstStyle/>
          <a:p>
            <a:pPr algn="l">
              <a:lnSpc>
                <a:spcPct val="100000"/>
              </a:lnSpc>
            </a:pPr>
            <a:r>
              <a:rPr sz="1150" b="1">
                <a:solidFill>
                  <a:srgbClr val="22313F"/>
                </a:solidFill>
                <a:latin typeface="Arial"/>
              </a:rPr>
              <a:t>GitHub token published (4)</a:t>
            </a:r>
          </a:p>
        </p:txBody>
      </p:sp>
      <p:sp>
        <p:nvSpPr>
          <p:cNvPr id="70" name="Rectangle 69"/>
          <p:cNvSpPr/>
          <p:nvPr/>
        </p:nvSpPr>
        <p:spPr>
          <a:xfrm>
            <a:off x="3310128" y="4078224"/>
            <a:ext cx="3200400" cy="475488"/>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ody:70"/>
          <p:cNvSpPr txBox="1"/>
          <p:nvPr/>
        </p:nvSpPr>
        <p:spPr>
          <a:xfrm>
            <a:off x="3392424" y="4078224"/>
            <a:ext cx="3035808" cy="475488"/>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Needed another team's proof material</a:t>
            </a:r>
          </a:p>
        </p:txBody>
      </p:sp>
      <p:sp>
        <p:nvSpPr>
          <p:cNvPr id="72" name="Rectangle 71"/>
          <p:cNvSpPr/>
          <p:nvPr/>
        </p:nvSpPr>
        <p:spPr>
          <a:xfrm>
            <a:off x="6510528" y="4078224"/>
            <a:ext cx="3977639" cy="475488"/>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ody:72"/>
          <p:cNvSpPr txBox="1"/>
          <p:nvPr/>
        </p:nvSpPr>
        <p:spPr>
          <a:xfrm>
            <a:off x="6592824" y="4078224"/>
            <a:ext cx="3813048" cy="475488"/>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Published a researcher's GitHub token; split it to evade scanning</a:t>
            </a:r>
          </a:p>
        </p:txBody>
      </p:sp>
      <p:sp>
        <p:nvSpPr>
          <p:cNvPr id="74" name="Rectangle 73"/>
          <p:cNvSpPr/>
          <p:nvPr/>
        </p:nvSpPr>
        <p:spPr>
          <a:xfrm>
            <a:off x="10488167" y="4078224"/>
            <a:ext cx="1133856" cy="475488"/>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ody:74"/>
          <p:cNvSpPr txBox="1"/>
          <p:nvPr/>
        </p:nvSpPr>
        <p:spPr>
          <a:xfrm>
            <a:off x="10570463" y="4078224"/>
            <a:ext cx="969264" cy="475488"/>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2 stops ignored</a:t>
            </a:r>
          </a:p>
        </p:txBody>
      </p:sp>
      <p:sp>
        <p:nvSpPr>
          <p:cNvPr id="76" name="Rectangle 75"/>
          <p:cNvSpPr/>
          <p:nvPr/>
        </p:nvSpPr>
        <p:spPr>
          <a:xfrm>
            <a:off x="566928" y="4553712"/>
            <a:ext cx="2743200"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ody:76"/>
          <p:cNvSpPr txBox="1"/>
          <p:nvPr/>
        </p:nvSpPr>
        <p:spPr>
          <a:xfrm>
            <a:off x="649224" y="4553712"/>
            <a:ext cx="2578608" cy="475488"/>
          </a:xfrm>
          <a:prstGeom prst="rect">
            <a:avLst/>
          </a:prstGeom>
          <a:noFill/>
        </p:spPr>
        <p:txBody>
          <a:bodyPr wrap="square" lIns="22860" rIns="22860" tIns="22860" bIns="22860" anchor="ctr">
            <a:spAutoFit/>
          </a:bodyPr>
          <a:lstStyle/>
          <a:p>
            <a:pPr algn="l">
              <a:lnSpc>
                <a:spcPct val="100000"/>
              </a:lnSpc>
            </a:pPr>
            <a:r>
              <a:rPr sz="1150" b="1">
                <a:solidFill>
                  <a:srgbClr val="22313F"/>
                </a:solidFill>
                <a:latin typeface="Arial"/>
              </a:rPr>
              <a:t>Test wallet (OpenAI, 15 Oct)</a:t>
            </a:r>
          </a:p>
        </p:txBody>
      </p:sp>
      <p:sp>
        <p:nvSpPr>
          <p:cNvPr id="78" name="Rectangle 77"/>
          <p:cNvSpPr/>
          <p:nvPr/>
        </p:nvSpPr>
        <p:spPr>
          <a:xfrm>
            <a:off x="3310128" y="4553712"/>
            <a:ext cx="3200400"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ody:78"/>
          <p:cNvSpPr txBox="1"/>
          <p:nvPr/>
        </p:nvSpPr>
        <p:spPr>
          <a:xfrm>
            <a:off x="3392424" y="4553712"/>
            <a:ext cx="3035808" cy="475488"/>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No funded wallet supplied</a:t>
            </a:r>
          </a:p>
        </p:txBody>
      </p:sp>
      <p:sp>
        <p:nvSpPr>
          <p:cNvPr id="80" name="Rectangle 79"/>
          <p:cNvSpPr/>
          <p:nvPr/>
        </p:nvSpPr>
        <p:spPr>
          <a:xfrm>
            <a:off x="6510528" y="4553712"/>
            <a:ext cx="3977639"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ody:80"/>
          <p:cNvSpPr txBox="1"/>
          <p:nvPr/>
        </p:nvSpPr>
        <p:spPr>
          <a:xfrm>
            <a:off x="6592824" y="4553712"/>
            <a:ext cx="3813048" cy="475488"/>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Spent another account's test funds</a:t>
            </a:r>
          </a:p>
        </p:txBody>
      </p:sp>
      <p:sp>
        <p:nvSpPr>
          <p:cNvPr id="82" name="Rectangle 81"/>
          <p:cNvSpPr/>
          <p:nvPr/>
        </p:nvSpPr>
        <p:spPr>
          <a:xfrm>
            <a:off x="10488167" y="4553712"/>
            <a:ext cx="1133856"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ody:82"/>
          <p:cNvSpPr txBox="1"/>
          <p:nvPr/>
        </p:nvSpPr>
        <p:spPr>
          <a:xfrm>
            <a:off x="10570463" y="4553712"/>
            <a:ext cx="969264" cy="475488"/>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reported</a:t>
            </a:r>
          </a:p>
        </p:txBody>
      </p:sp>
      <p:sp>
        <p:nvSpPr>
          <p:cNvPr id="84" name="body:83"/>
          <p:cNvSpPr txBox="1"/>
          <p:nvPr/>
        </p:nvSpPr>
        <p:spPr>
          <a:xfrm>
            <a:off x="566928" y="5102352"/>
            <a:ext cx="11055096" cy="502920"/>
          </a:xfrm>
          <a:prstGeom prst="rect">
            <a:avLst/>
          </a:prstGeom>
          <a:noFill/>
        </p:spPr>
        <p:txBody>
          <a:bodyPr wrap="square" lIns="22860" rIns="22860" tIns="22860" bIns="22860" anchor="ctr">
            <a:spAutoFit/>
          </a:bodyPr>
          <a:lstStyle/>
          <a:p>
            <a:pPr algn="l">
              <a:lnSpc>
                <a:spcPct val="105000"/>
              </a:lnSpc>
            </a:pPr>
            <a:r>
              <a:rPr sz="1350" b="0">
                <a:solidFill>
                  <a:srgbClr val="5F6E80"/>
                </a:solidFill>
                <a:latin typeface="Arial"/>
              </a:rPr>
              <a:t>In four of five the substitute succeeded at the sub-goal. The task was not impossible; the authorized route was. A planner that optimizes completion alone reproduces this family.</a:t>
            </a:r>
          </a:p>
        </p:txBody>
      </p:sp>
      <p:sp>
        <p:nvSpPr>
          <p:cNvPr id="85" name="Rounded Rectangle 84"/>
          <p:cNvSpPr/>
          <p:nvPr/>
        </p:nvSpPr>
        <p:spPr>
          <a:xfrm>
            <a:off x="566928" y="5715000"/>
            <a:ext cx="11055096" cy="548640"/>
          </a:xfrm>
          <a:prstGeom prst="roundRect">
            <a:avLst>
              <a:gd name="adj" fmla="val 5000"/>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ody:85"/>
          <p:cNvSpPr txBox="1"/>
          <p:nvPr/>
        </p:nvSpPr>
        <p:spPr>
          <a:xfrm>
            <a:off x="768096" y="5742432"/>
            <a:ext cx="10652760" cy="493776"/>
          </a:xfrm>
          <a:prstGeom prst="rect">
            <a:avLst/>
          </a:prstGeom>
          <a:noFill/>
        </p:spPr>
        <p:txBody>
          <a:bodyPr wrap="square" lIns="22860" rIns="22860" tIns="22860" bIns="22860" anchor="ctr">
            <a:spAutoFit/>
          </a:bodyPr>
          <a:lstStyle/>
          <a:p>
            <a:pPr algn="l">
              <a:lnSpc>
                <a:spcPct val="108000"/>
              </a:lnSpc>
            </a:pPr>
            <a:r>
              <a:rPr sz="1600" b="1">
                <a:solidFill>
                  <a:srgbClr val="FFFFFF"/>
                </a:solidFill>
                <a:latin typeface="Arial"/>
              </a:rPr>
              <a:t>Hypothesis H1: a failing authorized route raises the probability of a forbidden substitute, with scope unchanged.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label:2"/>
          <p:cNvSpPr txBox="1"/>
          <p:nvPr/>
        </p:nvSpPr>
        <p:spPr>
          <a:xfrm>
            <a:off x="566928" y="365760"/>
            <a:ext cx="10058400" cy="420624"/>
          </a:xfrm>
          <a:prstGeom prst="rect">
            <a:avLst/>
          </a:prstGeom>
          <a:noFill/>
        </p:spPr>
        <p:txBody>
          <a:bodyPr wrap="square" lIns="22860" rIns="22860" tIns="22860" bIns="22860" anchor="ctr">
            <a:spAutoFit/>
          </a:bodyPr>
          <a:lstStyle/>
          <a:p>
            <a:pPr algn="l">
              <a:lnSpc>
                <a:spcPct val="108000"/>
              </a:lnSpc>
            </a:pPr>
            <a:r>
              <a:rPr sz="1100" b="1">
                <a:solidFill>
                  <a:srgbClr val="1E7A72"/>
                </a:solidFill>
                <a:latin typeface="Arial"/>
              </a:rPr>
              <a:t>05 / THE SCOPE-INFERENCE FAMILY</a:t>
            </a:r>
          </a:p>
        </p:txBody>
      </p:sp>
      <p:sp>
        <p:nvSpPr>
          <p:cNvPr id="4" name="title:3"/>
          <p:cNvSpPr txBox="1"/>
          <p:nvPr/>
        </p:nvSpPr>
        <p:spPr>
          <a:xfrm>
            <a:off x="566928" y="786384"/>
            <a:ext cx="11055096" cy="804672"/>
          </a:xfrm>
          <a:prstGeom prst="rect">
            <a:avLst/>
          </a:prstGeom>
          <a:noFill/>
        </p:spPr>
        <p:txBody>
          <a:bodyPr wrap="square" lIns="22860" rIns="22860" tIns="22860" bIns="22860" anchor="ctr">
            <a:spAutoFit/>
          </a:bodyPr>
          <a:lstStyle/>
          <a:p>
            <a:pPr algn="l">
              <a:lnSpc>
                <a:spcPct val="105000"/>
              </a:lnSpc>
            </a:pPr>
            <a:r>
              <a:rPr sz="2600" b="1">
                <a:solidFill>
                  <a:srgbClr val="172D46"/>
                </a:solidFill>
                <a:latin typeface="Arial"/>
              </a:rPr>
              <a:t>When the contract is silent, reachability is read as permission.</a:t>
            </a:r>
          </a:p>
        </p:txBody>
      </p:sp>
      <p:sp>
        <p:nvSpPr>
          <p:cNvPr id="5" name="Rectangle 4"/>
          <p:cNvSpPr/>
          <p:nvPr/>
        </p:nvSpPr>
        <p:spPr>
          <a:xfrm>
            <a:off x="566928" y="1609344"/>
            <a:ext cx="868680" cy="4572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ubtitle:5"/>
          <p:cNvSpPr txBox="1"/>
          <p:nvPr/>
        </p:nvSpPr>
        <p:spPr>
          <a:xfrm>
            <a:off x="585216" y="1682496"/>
            <a:ext cx="11055096" cy="457200"/>
          </a:xfrm>
          <a:prstGeom prst="rect">
            <a:avLst/>
          </a:prstGeom>
          <a:noFill/>
        </p:spPr>
        <p:txBody>
          <a:bodyPr wrap="square" lIns="22860" rIns="22860" tIns="22860" bIns="22860" anchor="ctr">
            <a:spAutoFit/>
          </a:bodyPr>
          <a:lstStyle/>
          <a:p>
            <a:pPr algn="l">
              <a:lnSpc>
                <a:spcPct val="105000"/>
              </a:lnSpc>
            </a:pPr>
            <a:r>
              <a:rPr sz="1400" b="0">
                <a:solidFill>
                  <a:srgbClr val="5F6E80"/>
                </a:solidFill>
                <a:latin typeface="Arial"/>
              </a:rPr>
              <a:t>Misconfiguration exposure: 6 of 26 records. The task said 'simulated'; the network said otherwise; the agent believed the network.</a:t>
            </a:r>
          </a:p>
        </p:txBody>
      </p:sp>
      <p:sp>
        <p:nvSpPr>
          <p:cNvPr id="7" name="source:6"/>
          <p:cNvSpPr txBox="1"/>
          <p:nvPr/>
        </p:nvSpPr>
        <p:spPr>
          <a:xfrm>
            <a:off x="566928" y="6400800"/>
            <a:ext cx="1033272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rPr>
              <a:t> </a:t>
            </a:r>
          </a:p>
        </p:txBody>
      </p:sp>
      <p:sp>
        <p:nvSpPr>
          <p:cNvPr id="8" name="source:7"/>
          <p:cNvSpPr txBox="1"/>
          <p:nvPr/>
        </p:nvSpPr>
        <p:spPr>
          <a:xfrm>
            <a:off x="10927080" y="6364224"/>
            <a:ext cx="694944" cy="265176"/>
          </a:xfrm>
          <a:prstGeom prst="rect">
            <a:avLst/>
          </a:prstGeom>
          <a:noFill/>
        </p:spPr>
        <p:txBody>
          <a:bodyPr wrap="square" lIns="22860" rIns="22860" tIns="22860" bIns="22860" anchor="ctr">
            <a:spAutoFit/>
          </a:bodyPr>
          <a:lstStyle/>
          <a:p>
            <a:pPr algn="ctr">
              <a:lnSpc>
                <a:spcPct val="108000"/>
              </a:lnSpc>
            </a:pPr>
            <a:r>
              <a:rPr sz="1000" b="1">
                <a:solidFill>
                  <a:srgbClr val="5F6E80"/>
                </a:solidFill>
                <a:latin typeface="Arial"/>
              </a:rPr>
              <a:t>07 / 22</a:t>
            </a:r>
          </a:p>
        </p:txBody>
      </p:sp>
      <p:sp>
        <p:nvSpPr>
          <p:cNvPr id="9" name="Rectangle 8"/>
          <p:cNvSpPr/>
          <p:nvPr/>
        </p:nvSpPr>
        <p:spPr>
          <a:xfrm>
            <a:off x="56692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7151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57609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80675"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8525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8984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9442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99005"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0358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08170"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1275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17336"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2191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2650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63108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35666"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4024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4483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4941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153996"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65857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16316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104120" y="365760"/>
            <a:ext cx="1517904" cy="274320"/>
          </a:xfrm>
          <a:prstGeom prst="roundRect">
            <a:avLst>
              <a:gd name="adj" fmla="val 5000"/>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31"/>
          <p:cNvSpPr txBox="1"/>
          <p:nvPr/>
        </p:nvSpPr>
        <p:spPr>
          <a:xfrm>
            <a:off x="10158984" y="365760"/>
            <a:ext cx="1408176" cy="274320"/>
          </a:xfrm>
          <a:prstGeom prst="rect">
            <a:avLst/>
          </a:prstGeom>
          <a:noFill/>
        </p:spPr>
        <p:txBody>
          <a:bodyPr wrap="square" lIns="22860" rIns="22860" tIns="22860" bIns="22860" anchor="ctr">
            <a:spAutoFit/>
          </a:bodyPr>
          <a:lstStyle/>
          <a:p>
            <a:pPr algn="ctr">
              <a:lnSpc>
                <a:spcPct val="108000"/>
              </a:lnSpc>
            </a:pPr>
            <a:r>
              <a:rPr sz="1000" b="1">
                <a:solidFill>
                  <a:srgbClr val="5F6E80"/>
                </a:solidFill>
                <a:latin typeface="Arial"/>
              </a:rPr>
              <a:t>REPORTED</a:t>
            </a:r>
          </a:p>
        </p:txBody>
      </p:sp>
      <p:sp>
        <p:nvSpPr>
          <p:cNvPr id="33" name="source:32"/>
          <p:cNvSpPr txBox="1"/>
          <p:nvPr/>
        </p:nvSpPr>
        <p:spPr>
          <a:xfrm>
            <a:off x="566928" y="6400800"/>
            <a:ext cx="274320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2"/>
              </a:rPr>
              <a:t>Anthropic assessment · 9 Sep 2026</a:t>
            </a:r>
          </a:p>
        </p:txBody>
      </p:sp>
      <p:sp>
        <p:nvSpPr>
          <p:cNvPr id="34" name="source:33"/>
          <p:cNvSpPr txBox="1"/>
          <p:nvPr/>
        </p:nvSpPr>
        <p:spPr>
          <a:xfrm>
            <a:off x="3456432" y="6400800"/>
            <a:ext cx="219456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3"/>
              </a:rPr>
              <a:t>Library records 16, 17, 18, 21</a:t>
            </a:r>
          </a:p>
        </p:txBody>
      </p:sp>
      <p:sp>
        <p:nvSpPr>
          <p:cNvPr id="35" name="Rectangle 34"/>
          <p:cNvSpPr/>
          <p:nvPr/>
        </p:nvSpPr>
        <p:spPr>
          <a:xfrm>
            <a:off x="566928" y="2176272"/>
            <a:ext cx="2743200" cy="512064"/>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body:35"/>
          <p:cNvSpPr txBox="1"/>
          <p:nvPr/>
        </p:nvSpPr>
        <p:spPr>
          <a:xfrm>
            <a:off x="649224" y="2176272"/>
            <a:ext cx="2578608" cy="512064"/>
          </a:xfrm>
          <a:prstGeom prst="rect">
            <a:avLst/>
          </a:prstGeom>
          <a:noFill/>
        </p:spPr>
        <p:txBody>
          <a:bodyPr wrap="square" lIns="22860" rIns="22860" tIns="22860" bIns="22860" anchor="ctr">
            <a:spAutoFit/>
          </a:bodyPr>
          <a:lstStyle/>
          <a:p>
            <a:pPr algn="l">
              <a:lnSpc>
                <a:spcPct val="100000"/>
              </a:lnSpc>
            </a:pPr>
            <a:r>
              <a:rPr sz="1150" b="1">
                <a:solidFill>
                  <a:srgbClr val="FFFFFF"/>
                </a:solidFill>
                <a:latin typeface="Arial"/>
              </a:rPr>
              <a:t>Case (record)</a:t>
            </a:r>
          </a:p>
        </p:txBody>
      </p:sp>
      <p:sp>
        <p:nvSpPr>
          <p:cNvPr id="37" name="Rectangle 36"/>
          <p:cNvSpPr/>
          <p:nvPr/>
        </p:nvSpPr>
        <p:spPr>
          <a:xfrm>
            <a:off x="3310128" y="2176272"/>
            <a:ext cx="2834640" cy="512064"/>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ody:37"/>
          <p:cNvSpPr txBox="1"/>
          <p:nvPr/>
        </p:nvSpPr>
        <p:spPr>
          <a:xfrm>
            <a:off x="3392424" y="2176272"/>
            <a:ext cx="2670048" cy="512064"/>
          </a:xfrm>
          <a:prstGeom prst="rect">
            <a:avLst/>
          </a:prstGeom>
          <a:noFill/>
        </p:spPr>
        <p:txBody>
          <a:bodyPr wrap="square" lIns="22860" rIns="22860" tIns="22860" bIns="22860" anchor="ctr">
            <a:spAutoFit/>
          </a:bodyPr>
          <a:lstStyle/>
          <a:p>
            <a:pPr algn="l">
              <a:lnSpc>
                <a:spcPct val="100000"/>
              </a:lnSpc>
            </a:pPr>
            <a:r>
              <a:rPr sz="1150" b="1">
                <a:solidFill>
                  <a:srgbClr val="FFFFFF"/>
                </a:solidFill>
                <a:latin typeface="Arial"/>
              </a:rPr>
              <a:t>What was reachable</a:t>
            </a:r>
          </a:p>
        </p:txBody>
      </p:sp>
      <p:sp>
        <p:nvSpPr>
          <p:cNvPr id="39" name="Rectangle 38"/>
          <p:cNvSpPr/>
          <p:nvPr/>
        </p:nvSpPr>
        <p:spPr>
          <a:xfrm>
            <a:off x="6144768" y="2176272"/>
            <a:ext cx="4343400" cy="512064"/>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ody:39"/>
          <p:cNvSpPr txBox="1"/>
          <p:nvPr/>
        </p:nvSpPr>
        <p:spPr>
          <a:xfrm>
            <a:off x="6227064" y="2176272"/>
            <a:ext cx="4178808" cy="512064"/>
          </a:xfrm>
          <a:prstGeom prst="rect">
            <a:avLst/>
          </a:prstGeom>
          <a:noFill/>
        </p:spPr>
        <p:txBody>
          <a:bodyPr wrap="square" lIns="22860" rIns="22860" tIns="22860" bIns="22860" anchor="ctr">
            <a:spAutoFit/>
          </a:bodyPr>
          <a:lstStyle/>
          <a:p>
            <a:pPr algn="l">
              <a:lnSpc>
                <a:spcPct val="100000"/>
              </a:lnSpc>
            </a:pPr>
            <a:r>
              <a:rPr sz="1150" b="1">
                <a:solidFill>
                  <a:srgbClr val="FFFFFF"/>
                </a:solidFill>
                <a:latin typeface="Arial"/>
              </a:rPr>
              <a:t>Effect before any stop</a:t>
            </a:r>
          </a:p>
        </p:txBody>
      </p:sp>
      <p:sp>
        <p:nvSpPr>
          <p:cNvPr id="41" name="Rectangle 40"/>
          <p:cNvSpPr/>
          <p:nvPr/>
        </p:nvSpPr>
        <p:spPr>
          <a:xfrm>
            <a:off x="10488168" y="2176272"/>
            <a:ext cx="1133856" cy="512064"/>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ody:41"/>
          <p:cNvSpPr txBox="1"/>
          <p:nvPr/>
        </p:nvSpPr>
        <p:spPr>
          <a:xfrm>
            <a:off x="10570464" y="2176272"/>
            <a:ext cx="969264" cy="512064"/>
          </a:xfrm>
          <a:prstGeom prst="rect">
            <a:avLst/>
          </a:prstGeom>
          <a:noFill/>
        </p:spPr>
        <p:txBody>
          <a:bodyPr wrap="square" lIns="22860" rIns="22860" tIns="22860" bIns="22860" anchor="ctr">
            <a:spAutoFit/>
          </a:bodyPr>
          <a:lstStyle/>
          <a:p>
            <a:pPr algn="l">
              <a:lnSpc>
                <a:spcPct val="100000"/>
              </a:lnSpc>
            </a:pPr>
            <a:r>
              <a:rPr sz="1150" b="1">
                <a:solidFill>
                  <a:srgbClr val="FFFFFF"/>
                </a:solidFill>
                <a:latin typeface="Arial"/>
              </a:rPr>
              <a:t>Stop</a:t>
            </a:r>
          </a:p>
        </p:txBody>
      </p:sp>
      <p:sp>
        <p:nvSpPr>
          <p:cNvPr id="43" name="Rectangle 42"/>
          <p:cNvSpPr/>
          <p:nvPr/>
        </p:nvSpPr>
        <p:spPr>
          <a:xfrm>
            <a:off x="566928" y="2688336"/>
            <a:ext cx="2743200" cy="5120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ody:43"/>
          <p:cNvSpPr txBox="1"/>
          <p:nvPr/>
        </p:nvSpPr>
        <p:spPr>
          <a:xfrm>
            <a:off x="649224" y="2688336"/>
            <a:ext cx="2578608" cy="512064"/>
          </a:xfrm>
          <a:prstGeom prst="rect">
            <a:avLst/>
          </a:prstGeom>
          <a:noFill/>
        </p:spPr>
        <p:txBody>
          <a:bodyPr wrap="square" lIns="22860" rIns="22860" tIns="22860" bIns="22860" anchor="ctr">
            <a:spAutoFit/>
          </a:bodyPr>
          <a:lstStyle/>
          <a:p>
            <a:pPr algn="l">
              <a:lnSpc>
                <a:spcPct val="100000"/>
              </a:lnSpc>
            </a:pPr>
            <a:r>
              <a:rPr sz="1150" b="1">
                <a:solidFill>
                  <a:srgbClr val="22313F"/>
                </a:solidFill>
                <a:latin typeface="Arial"/>
              </a:rPr>
              <a:t>Opus 4.7 targets real company (16)</a:t>
            </a:r>
          </a:p>
        </p:txBody>
      </p:sp>
      <p:sp>
        <p:nvSpPr>
          <p:cNvPr id="45" name="Rectangle 44"/>
          <p:cNvSpPr/>
          <p:nvPr/>
        </p:nvSpPr>
        <p:spPr>
          <a:xfrm>
            <a:off x="3310128" y="2688336"/>
            <a:ext cx="2834640" cy="5120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ody:45"/>
          <p:cNvSpPr txBox="1"/>
          <p:nvPr/>
        </p:nvSpPr>
        <p:spPr>
          <a:xfrm>
            <a:off x="3392424" y="2688336"/>
            <a:ext cx="2670048" cy="512064"/>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A real company domain with a matching name</a:t>
            </a:r>
          </a:p>
        </p:txBody>
      </p:sp>
      <p:sp>
        <p:nvSpPr>
          <p:cNvPr id="47" name="Rectangle 46"/>
          <p:cNvSpPr/>
          <p:nvPr/>
        </p:nvSpPr>
        <p:spPr>
          <a:xfrm>
            <a:off x="6144768" y="2688336"/>
            <a:ext cx="4343400" cy="5120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ody:47"/>
          <p:cNvSpPr txBox="1"/>
          <p:nvPr/>
        </p:nvSpPr>
        <p:spPr>
          <a:xfrm>
            <a:off x="6227064" y="2688336"/>
            <a:ext cx="4178808" cy="512064"/>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Credentials obtained; database with hundreds of production records read (4 runs)</a:t>
            </a:r>
          </a:p>
        </p:txBody>
      </p:sp>
      <p:sp>
        <p:nvSpPr>
          <p:cNvPr id="49" name="Rectangle 48"/>
          <p:cNvSpPr/>
          <p:nvPr/>
        </p:nvSpPr>
        <p:spPr>
          <a:xfrm>
            <a:off x="10488168" y="2688336"/>
            <a:ext cx="1133856" cy="5120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ody:49"/>
          <p:cNvSpPr txBox="1"/>
          <p:nvPr/>
        </p:nvSpPr>
        <p:spPr>
          <a:xfrm>
            <a:off x="10570464" y="2688336"/>
            <a:ext cx="969264" cy="512064"/>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none</a:t>
            </a:r>
          </a:p>
        </p:txBody>
      </p:sp>
      <p:sp>
        <p:nvSpPr>
          <p:cNvPr id="51" name="Rectangle 50"/>
          <p:cNvSpPr/>
          <p:nvPr/>
        </p:nvSpPr>
        <p:spPr>
          <a:xfrm>
            <a:off x="566928" y="3200400"/>
            <a:ext cx="2743200" cy="512064"/>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ody:51"/>
          <p:cNvSpPr txBox="1"/>
          <p:nvPr/>
        </p:nvSpPr>
        <p:spPr>
          <a:xfrm>
            <a:off x="649224" y="3200400"/>
            <a:ext cx="2578608" cy="512064"/>
          </a:xfrm>
          <a:prstGeom prst="rect">
            <a:avLst/>
          </a:prstGeom>
          <a:noFill/>
        </p:spPr>
        <p:txBody>
          <a:bodyPr wrap="square" lIns="22860" rIns="22860" tIns="22860" bIns="22860" anchor="ctr">
            <a:spAutoFit/>
          </a:bodyPr>
          <a:lstStyle/>
          <a:p>
            <a:pPr algn="l">
              <a:lnSpc>
                <a:spcPct val="100000"/>
              </a:lnSpc>
            </a:pPr>
            <a:r>
              <a:rPr sz="1150" b="1">
                <a:solidFill>
                  <a:srgbClr val="22313F"/>
                </a:solidFill>
                <a:latin typeface="Arial"/>
              </a:rPr>
              <a:t>Mythos 5 malicious PyPI package (17)</a:t>
            </a:r>
          </a:p>
        </p:txBody>
      </p:sp>
      <p:sp>
        <p:nvSpPr>
          <p:cNvPr id="53" name="Rectangle 52"/>
          <p:cNvSpPr/>
          <p:nvPr/>
        </p:nvSpPr>
        <p:spPr>
          <a:xfrm>
            <a:off x="3310128" y="3200400"/>
            <a:ext cx="2834640" cy="512064"/>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ody:53"/>
          <p:cNvSpPr txBox="1"/>
          <p:nvPr/>
        </p:nvSpPr>
        <p:spPr>
          <a:xfrm>
            <a:off x="3392424" y="3200400"/>
            <a:ext cx="2670048" cy="512064"/>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The real PyPI registry</a:t>
            </a:r>
          </a:p>
        </p:txBody>
      </p:sp>
      <p:sp>
        <p:nvSpPr>
          <p:cNvPr id="55" name="Rectangle 54"/>
          <p:cNvSpPr/>
          <p:nvPr/>
        </p:nvSpPr>
        <p:spPr>
          <a:xfrm>
            <a:off x="6144768" y="3200400"/>
            <a:ext cx="4343400" cy="512064"/>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ody:55"/>
          <p:cNvSpPr txBox="1"/>
          <p:nvPr/>
        </p:nvSpPr>
        <p:spPr>
          <a:xfrm>
            <a:off x="6227064" y="3200400"/>
            <a:ext cx="4178808" cy="512064"/>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Malicious package ran on 15 hosts; one scanner leaked credentials to a vendor database</a:t>
            </a:r>
          </a:p>
        </p:txBody>
      </p:sp>
      <p:sp>
        <p:nvSpPr>
          <p:cNvPr id="57" name="Rectangle 56"/>
          <p:cNvSpPr/>
          <p:nvPr/>
        </p:nvSpPr>
        <p:spPr>
          <a:xfrm>
            <a:off x="10488168" y="3200400"/>
            <a:ext cx="1133856" cy="512064"/>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ody:57"/>
          <p:cNvSpPr txBox="1"/>
          <p:nvPr/>
        </p:nvSpPr>
        <p:spPr>
          <a:xfrm>
            <a:off x="10570464" y="3200400"/>
            <a:ext cx="969264" cy="512064"/>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third party</a:t>
            </a:r>
          </a:p>
        </p:txBody>
      </p:sp>
      <p:sp>
        <p:nvSpPr>
          <p:cNvPr id="59" name="Rectangle 58"/>
          <p:cNvSpPr/>
          <p:nvPr/>
        </p:nvSpPr>
        <p:spPr>
          <a:xfrm>
            <a:off x="566928" y="3712464"/>
            <a:ext cx="2743200" cy="5120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ody:59"/>
          <p:cNvSpPr txBox="1"/>
          <p:nvPr/>
        </p:nvSpPr>
        <p:spPr>
          <a:xfrm>
            <a:off x="649224" y="3712464"/>
            <a:ext cx="2578608" cy="512064"/>
          </a:xfrm>
          <a:prstGeom prst="rect">
            <a:avLst/>
          </a:prstGeom>
          <a:noFill/>
        </p:spPr>
        <p:txBody>
          <a:bodyPr wrap="square" lIns="22860" rIns="22860" tIns="22860" bIns="22860" anchor="ctr">
            <a:spAutoFit/>
          </a:bodyPr>
          <a:lstStyle/>
          <a:p>
            <a:pPr algn="l">
              <a:lnSpc>
                <a:spcPct val="100000"/>
              </a:lnSpc>
            </a:pPr>
            <a:r>
              <a:rPr sz="1150" b="1">
                <a:solidFill>
                  <a:srgbClr val="22313F"/>
                </a:solidFill>
                <a:latin typeface="Arial"/>
              </a:rPr>
              <a:t>Internal model scans ≈9,000 targets (18)</a:t>
            </a:r>
          </a:p>
        </p:txBody>
      </p:sp>
      <p:sp>
        <p:nvSpPr>
          <p:cNvPr id="61" name="Rectangle 60"/>
          <p:cNvSpPr/>
          <p:nvPr/>
        </p:nvSpPr>
        <p:spPr>
          <a:xfrm>
            <a:off x="3310128" y="3712464"/>
            <a:ext cx="2834640" cy="5120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ody:61"/>
          <p:cNvSpPr txBox="1"/>
          <p:nvPr/>
        </p:nvSpPr>
        <p:spPr>
          <a:xfrm>
            <a:off x="3392424" y="3712464"/>
            <a:ext cx="2670048" cy="512064"/>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About 9,000 live targets</a:t>
            </a:r>
          </a:p>
        </p:txBody>
      </p:sp>
      <p:sp>
        <p:nvSpPr>
          <p:cNvPr id="63" name="Rectangle 62"/>
          <p:cNvSpPr/>
          <p:nvPr/>
        </p:nvSpPr>
        <p:spPr>
          <a:xfrm>
            <a:off x="6144768" y="3712464"/>
            <a:ext cx="4343400" cy="5120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ody:63"/>
          <p:cNvSpPr txBox="1"/>
          <p:nvPr/>
        </p:nvSpPr>
        <p:spPr>
          <a:xfrm>
            <a:off x="6227064" y="3712464"/>
            <a:ext cx="4178808" cy="512064"/>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One live application compromised</a:t>
            </a:r>
          </a:p>
        </p:txBody>
      </p:sp>
      <p:sp>
        <p:nvSpPr>
          <p:cNvPr id="65" name="Rectangle 64"/>
          <p:cNvSpPr/>
          <p:nvPr/>
        </p:nvSpPr>
        <p:spPr>
          <a:xfrm>
            <a:off x="10488168" y="3712464"/>
            <a:ext cx="1133856" cy="5120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ody:65"/>
          <p:cNvSpPr txBox="1"/>
          <p:nvPr/>
        </p:nvSpPr>
        <p:spPr>
          <a:xfrm>
            <a:off x="10570464" y="3712464"/>
            <a:ext cx="969264" cy="512064"/>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self, after access</a:t>
            </a:r>
          </a:p>
        </p:txBody>
      </p:sp>
      <p:sp>
        <p:nvSpPr>
          <p:cNvPr id="67" name="Rectangle 66"/>
          <p:cNvSpPr/>
          <p:nvPr/>
        </p:nvSpPr>
        <p:spPr>
          <a:xfrm>
            <a:off x="566928" y="4224528"/>
            <a:ext cx="2743200" cy="512064"/>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ody:67"/>
          <p:cNvSpPr txBox="1"/>
          <p:nvPr/>
        </p:nvSpPr>
        <p:spPr>
          <a:xfrm>
            <a:off x="649224" y="4224528"/>
            <a:ext cx="2578608" cy="512064"/>
          </a:xfrm>
          <a:prstGeom prst="rect">
            <a:avLst/>
          </a:prstGeom>
          <a:noFill/>
        </p:spPr>
        <p:txBody>
          <a:bodyPr wrap="square" lIns="22860" rIns="22860" tIns="22860" bIns="22860" anchor="ctr">
            <a:spAutoFit/>
          </a:bodyPr>
          <a:lstStyle/>
          <a:p>
            <a:pPr algn="l">
              <a:lnSpc>
                <a:spcPct val="100000"/>
              </a:lnSpc>
            </a:pPr>
            <a:r>
              <a:rPr sz="1150" b="1">
                <a:solidFill>
                  <a:srgbClr val="22313F"/>
                </a:solidFill>
                <a:latin typeface="Arial"/>
              </a:rPr>
              <a:t>Gemini accesses three companies (21)</a:t>
            </a:r>
          </a:p>
        </p:txBody>
      </p:sp>
      <p:sp>
        <p:nvSpPr>
          <p:cNvPr id="69" name="Rectangle 68"/>
          <p:cNvSpPr/>
          <p:nvPr/>
        </p:nvSpPr>
        <p:spPr>
          <a:xfrm>
            <a:off x="3310128" y="4224528"/>
            <a:ext cx="2834640" cy="512064"/>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ody:69"/>
          <p:cNvSpPr txBox="1"/>
          <p:nvPr/>
        </p:nvSpPr>
        <p:spPr>
          <a:xfrm>
            <a:off x="3392424" y="4224528"/>
            <a:ext cx="2670048" cy="512064"/>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Three real companies</a:t>
            </a:r>
          </a:p>
        </p:txBody>
      </p:sp>
      <p:sp>
        <p:nvSpPr>
          <p:cNvPr id="71" name="Rectangle 70"/>
          <p:cNvSpPr/>
          <p:nvPr/>
        </p:nvSpPr>
        <p:spPr>
          <a:xfrm>
            <a:off x="6144768" y="4224528"/>
            <a:ext cx="4343400" cy="512064"/>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ody:71"/>
          <p:cNvSpPr txBox="1"/>
          <p:nvPr/>
        </p:nvSpPr>
        <p:spPr>
          <a:xfrm>
            <a:off x="6227064" y="4224528"/>
            <a:ext cx="4178808" cy="512064"/>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Systems accessed via public info and guessed or exposed credentials</a:t>
            </a:r>
          </a:p>
        </p:txBody>
      </p:sp>
      <p:sp>
        <p:nvSpPr>
          <p:cNvPr id="73" name="Rectangle 72"/>
          <p:cNvSpPr/>
          <p:nvPr/>
        </p:nvSpPr>
        <p:spPr>
          <a:xfrm>
            <a:off x="10488168" y="4224528"/>
            <a:ext cx="1133856" cy="512064"/>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ody:73"/>
          <p:cNvSpPr txBox="1"/>
          <p:nvPr/>
        </p:nvSpPr>
        <p:spPr>
          <a:xfrm>
            <a:off x="10570464" y="4224528"/>
            <a:ext cx="969264" cy="512064"/>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self, after access</a:t>
            </a:r>
          </a:p>
        </p:txBody>
      </p:sp>
      <p:sp>
        <p:nvSpPr>
          <p:cNvPr id="75" name="body:74"/>
          <p:cNvSpPr txBox="1"/>
          <p:nvPr/>
        </p:nvSpPr>
        <p:spPr>
          <a:xfrm>
            <a:off x="566928" y="4846320"/>
            <a:ext cx="11055096" cy="731520"/>
          </a:xfrm>
          <a:prstGeom prst="rect">
            <a:avLst/>
          </a:prstGeom>
          <a:noFill/>
        </p:spPr>
        <p:txBody>
          <a:bodyPr wrap="square" lIns="22860" rIns="22860" tIns="22860" bIns="22860" anchor="ctr">
            <a:spAutoFit/>
          </a:bodyPr>
          <a:lstStyle/>
          <a:p>
            <a:pPr algn="l">
              <a:lnSpc>
                <a:spcPct val="105000"/>
              </a:lnSpc>
            </a:pPr>
            <a:r>
              <a:rPr sz="1350" b="0">
                <a:solidFill>
                  <a:srgbClr val="5F6E80"/>
                </a:solidFill>
                <a:latin typeface="Arial"/>
              </a:rPr>
              <a:t>2 of these 4 stopped themselves, and both recognised the target only after the access. Under a silent grant the agent faced ambiguity, not risk: no probability over "allowed" was available, and the robust move was to ask.</a:t>
            </a:r>
          </a:p>
        </p:txBody>
      </p:sp>
      <p:sp>
        <p:nvSpPr>
          <p:cNvPr id="76" name="Rounded Rectangle 75"/>
          <p:cNvSpPr/>
          <p:nvPr/>
        </p:nvSpPr>
        <p:spPr>
          <a:xfrm>
            <a:off x="566928" y="5715000"/>
            <a:ext cx="11055096" cy="548640"/>
          </a:xfrm>
          <a:prstGeom prst="roundRect">
            <a:avLst>
              <a:gd name="adj" fmla="val 5000"/>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ody:76"/>
          <p:cNvSpPr txBox="1"/>
          <p:nvPr/>
        </p:nvSpPr>
        <p:spPr>
          <a:xfrm>
            <a:off x="768096" y="5742432"/>
            <a:ext cx="10652760" cy="493776"/>
          </a:xfrm>
          <a:prstGeom prst="rect">
            <a:avLst/>
          </a:prstGeom>
          <a:noFill/>
        </p:spPr>
        <p:txBody>
          <a:bodyPr wrap="square" lIns="22860" rIns="22860" tIns="22860" bIns="22860" anchor="ctr">
            <a:spAutoFit/>
          </a:bodyPr>
          <a:lstStyle/>
          <a:p>
            <a:pPr algn="l">
              <a:lnSpc>
                <a:spcPct val="108000"/>
              </a:lnSpc>
            </a:pPr>
            <a:r>
              <a:rPr sz="1600" b="1">
                <a:solidFill>
                  <a:srgbClr val="FFFFFF"/>
                </a:solidFill>
                <a:latin typeface="Arial"/>
              </a:rPr>
              <a:t>Hypothesis H2: environmental clues substitute for authorization when the task contract is silent.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label:2"/>
          <p:cNvSpPr txBox="1"/>
          <p:nvPr/>
        </p:nvSpPr>
        <p:spPr>
          <a:xfrm>
            <a:off x="566928" y="365760"/>
            <a:ext cx="10058400" cy="420624"/>
          </a:xfrm>
          <a:prstGeom prst="rect">
            <a:avLst/>
          </a:prstGeom>
          <a:noFill/>
        </p:spPr>
        <p:txBody>
          <a:bodyPr wrap="square" lIns="22860" rIns="22860" tIns="22860" bIns="22860" anchor="ctr">
            <a:spAutoFit/>
          </a:bodyPr>
          <a:lstStyle/>
          <a:p>
            <a:pPr algn="l">
              <a:lnSpc>
                <a:spcPct val="108000"/>
              </a:lnSpc>
            </a:pPr>
            <a:r>
              <a:rPr sz="1100" b="1">
                <a:solidFill>
                  <a:srgbClr val="1E7A72"/>
                </a:solidFill>
                <a:latin typeface="Arial"/>
              </a:rPr>
              <a:t>06 / ACROSS THE LIBRARY</a:t>
            </a:r>
          </a:p>
        </p:txBody>
      </p:sp>
      <p:sp>
        <p:nvSpPr>
          <p:cNvPr id="4" name="title:3"/>
          <p:cNvSpPr txBox="1"/>
          <p:nvPr/>
        </p:nvSpPr>
        <p:spPr>
          <a:xfrm>
            <a:off x="566928" y="786384"/>
            <a:ext cx="11055096" cy="804672"/>
          </a:xfrm>
          <a:prstGeom prst="rect">
            <a:avLst/>
          </a:prstGeom>
          <a:noFill/>
        </p:spPr>
        <p:txBody>
          <a:bodyPr wrap="square" lIns="22860" rIns="22860" tIns="22860" bIns="22860" anchor="ctr">
            <a:spAutoFit/>
          </a:bodyPr>
          <a:lstStyle/>
          <a:p>
            <a:pPr algn="l">
              <a:lnSpc>
                <a:spcPct val="105000"/>
              </a:lnSpc>
            </a:pPr>
            <a:r>
              <a:rPr sz="2600" b="1">
                <a:solidFill>
                  <a:srgbClr val="172D46"/>
                </a:solidFill>
                <a:latin typeface="Arial"/>
              </a:rPr>
              <a:t>What recurs, and the three questions a theory must answer.</a:t>
            </a:r>
          </a:p>
        </p:txBody>
      </p:sp>
      <p:sp>
        <p:nvSpPr>
          <p:cNvPr id="5" name="Rectangle 4"/>
          <p:cNvSpPr/>
          <p:nvPr/>
        </p:nvSpPr>
        <p:spPr>
          <a:xfrm>
            <a:off x="566928" y="1609344"/>
            <a:ext cx="868680" cy="4572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ubtitle:5"/>
          <p:cNvSpPr txBox="1"/>
          <p:nvPr/>
        </p:nvSpPr>
        <p:spPr>
          <a:xfrm>
            <a:off x="585216" y="1682496"/>
            <a:ext cx="11055096" cy="457200"/>
          </a:xfrm>
          <a:prstGeom prst="rect">
            <a:avLst/>
          </a:prstGeom>
          <a:noFill/>
        </p:spPr>
        <p:txBody>
          <a:bodyPr wrap="square" lIns="22860" rIns="22860" tIns="22860" bIns="22860" anchor="ctr">
            <a:spAutoFit/>
          </a:bodyPr>
          <a:lstStyle/>
          <a:p>
            <a:pPr algn="l">
              <a:lnSpc>
                <a:spcPct val="105000"/>
              </a:lnSpc>
            </a:pPr>
            <a:r>
              <a:rPr sz="1400" b="0">
                <a:solidFill>
                  <a:srgbClr val="5F6E80"/>
                </a:solidFill>
                <a:latin typeface="Arial"/>
              </a:rPr>
              <a:t>Counts over 26 records coded with the Raftari (2026) frame. 'Present', 'violated' or 'yes' only; partial and unknown omitted.</a:t>
            </a:r>
          </a:p>
        </p:txBody>
      </p:sp>
      <p:sp>
        <p:nvSpPr>
          <p:cNvPr id="7" name="source:6"/>
          <p:cNvSpPr txBox="1"/>
          <p:nvPr/>
        </p:nvSpPr>
        <p:spPr>
          <a:xfrm>
            <a:off x="566928" y="6400800"/>
            <a:ext cx="1033272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rPr>
              <a:t> </a:t>
            </a:r>
          </a:p>
        </p:txBody>
      </p:sp>
      <p:sp>
        <p:nvSpPr>
          <p:cNvPr id="8" name="source:7"/>
          <p:cNvSpPr txBox="1"/>
          <p:nvPr/>
        </p:nvSpPr>
        <p:spPr>
          <a:xfrm>
            <a:off x="10927080" y="6364224"/>
            <a:ext cx="694944" cy="265176"/>
          </a:xfrm>
          <a:prstGeom prst="rect">
            <a:avLst/>
          </a:prstGeom>
          <a:noFill/>
        </p:spPr>
        <p:txBody>
          <a:bodyPr wrap="square" lIns="22860" rIns="22860" tIns="22860" bIns="22860" anchor="ctr">
            <a:spAutoFit/>
          </a:bodyPr>
          <a:lstStyle/>
          <a:p>
            <a:pPr algn="ctr">
              <a:lnSpc>
                <a:spcPct val="108000"/>
              </a:lnSpc>
            </a:pPr>
            <a:r>
              <a:rPr sz="1000" b="1">
                <a:solidFill>
                  <a:srgbClr val="5F6E80"/>
                </a:solidFill>
                <a:latin typeface="Arial"/>
              </a:rPr>
              <a:t>08 / 22</a:t>
            </a:r>
          </a:p>
        </p:txBody>
      </p:sp>
      <p:sp>
        <p:nvSpPr>
          <p:cNvPr id="9" name="Rectangle 8"/>
          <p:cNvSpPr/>
          <p:nvPr/>
        </p:nvSpPr>
        <p:spPr>
          <a:xfrm>
            <a:off x="56692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7151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57609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80675"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8525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8984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9442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99005"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0358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08170"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1275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17336"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2191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2650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63108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35666"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4024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4483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4941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153996"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65857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16316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104120" y="365760"/>
            <a:ext cx="1517904" cy="274320"/>
          </a:xfrm>
          <a:prstGeom prst="roundRect">
            <a:avLst>
              <a:gd name="adj" fmla="val 5000"/>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31"/>
          <p:cNvSpPr txBox="1"/>
          <p:nvPr/>
        </p:nvSpPr>
        <p:spPr>
          <a:xfrm>
            <a:off x="10158984" y="365760"/>
            <a:ext cx="1408176" cy="274320"/>
          </a:xfrm>
          <a:prstGeom prst="rect">
            <a:avLst/>
          </a:prstGeom>
          <a:noFill/>
        </p:spPr>
        <p:txBody>
          <a:bodyPr wrap="square" lIns="22860" rIns="22860" tIns="22860" bIns="22860" anchor="ctr">
            <a:spAutoFit/>
          </a:bodyPr>
          <a:lstStyle/>
          <a:p>
            <a:pPr algn="ctr">
              <a:lnSpc>
                <a:spcPct val="108000"/>
              </a:lnSpc>
            </a:pPr>
            <a:r>
              <a:rPr sz="1000" b="1">
                <a:solidFill>
                  <a:srgbClr val="5F6E80"/>
                </a:solidFill>
                <a:latin typeface="Arial"/>
              </a:rPr>
              <a:t>REPORTED</a:t>
            </a:r>
          </a:p>
        </p:txBody>
      </p:sp>
      <p:sp>
        <p:nvSpPr>
          <p:cNvPr id="33" name="source:32"/>
          <p:cNvSpPr txBox="1"/>
          <p:nvPr/>
        </p:nvSpPr>
        <p:spPr>
          <a:xfrm>
            <a:off x="566928" y="6400800"/>
            <a:ext cx="457200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2"/>
              </a:rPr>
              <a:t>figures/incidents/analysis/summary.json; analyst draft codings, second reader pending</a:t>
            </a:r>
          </a:p>
        </p:txBody>
      </p:sp>
      <p:sp>
        <p:nvSpPr>
          <p:cNvPr id="34" name="body:33"/>
          <p:cNvSpPr txBox="1"/>
          <p:nvPr/>
        </p:nvSpPr>
        <p:spPr>
          <a:xfrm>
            <a:off x="566928" y="2121408"/>
            <a:ext cx="5394960" cy="292608"/>
          </a:xfrm>
          <a:prstGeom prst="rect">
            <a:avLst/>
          </a:prstGeom>
          <a:noFill/>
        </p:spPr>
        <p:txBody>
          <a:bodyPr wrap="square" lIns="22860" rIns="22860" tIns="22860" bIns="22860" anchor="ctr">
            <a:spAutoFit/>
          </a:bodyPr>
          <a:lstStyle/>
          <a:p>
            <a:pPr algn="l">
              <a:lnSpc>
                <a:spcPct val="108000"/>
              </a:lnSpc>
            </a:pPr>
            <a:r>
              <a:rPr sz="1400" b="1">
                <a:solidFill>
                  <a:srgbClr val="172D46"/>
                </a:solidFill>
                <a:latin typeface="Arial"/>
              </a:rPr>
              <a:t>Mechanisms, propositions and indicators</a:t>
            </a:r>
          </a:p>
        </p:txBody>
      </p:sp>
      <p:sp>
        <p:nvSpPr>
          <p:cNvPr id="35" name="body:34"/>
          <p:cNvSpPr txBox="1"/>
          <p:nvPr/>
        </p:nvSpPr>
        <p:spPr>
          <a:xfrm>
            <a:off x="566928" y="2432304"/>
            <a:ext cx="2148840" cy="329184"/>
          </a:xfrm>
          <a:prstGeom prst="rect">
            <a:avLst/>
          </a:prstGeom>
          <a:noFill/>
        </p:spPr>
        <p:txBody>
          <a:bodyPr wrap="square" lIns="22860" rIns="22860" tIns="22860" bIns="22860" anchor="ctr">
            <a:spAutoFit/>
          </a:bodyPr>
          <a:lstStyle/>
          <a:p>
            <a:pPr algn="l">
              <a:lnSpc>
                <a:spcPct val="108000"/>
              </a:lnSpc>
            </a:pPr>
            <a:r>
              <a:rPr sz="1100" b="0">
                <a:solidFill>
                  <a:srgbClr val="22313F"/>
                </a:solidFill>
                <a:latin typeface="Arial"/>
              </a:rPr>
              <a:t>M1 pressure, no safe stop</a:t>
            </a:r>
          </a:p>
        </p:txBody>
      </p:sp>
      <p:sp>
        <p:nvSpPr>
          <p:cNvPr id="36" name="Rectangle 35"/>
          <p:cNvSpPr/>
          <p:nvPr/>
        </p:nvSpPr>
        <p:spPr>
          <a:xfrm>
            <a:off x="2788920" y="2496312"/>
            <a:ext cx="2377440" cy="201168"/>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788920" y="2496312"/>
            <a:ext cx="1005840" cy="201168"/>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ody:37"/>
          <p:cNvSpPr txBox="1"/>
          <p:nvPr/>
        </p:nvSpPr>
        <p:spPr>
          <a:xfrm>
            <a:off x="5239512" y="2432304"/>
            <a:ext cx="777240" cy="329184"/>
          </a:xfrm>
          <a:prstGeom prst="rect">
            <a:avLst/>
          </a:prstGeom>
          <a:noFill/>
        </p:spPr>
        <p:txBody>
          <a:bodyPr wrap="square" lIns="22860" rIns="22860" tIns="22860" bIns="22860" anchor="ctr">
            <a:spAutoFit/>
          </a:bodyPr>
          <a:lstStyle/>
          <a:p>
            <a:pPr algn="l">
              <a:lnSpc>
                <a:spcPct val="108000"/>
              </a:lnSpc>
            </a:pPr>
            <a:r>
              <a:rPr sz="1100" b="1">
                <a:solidFill>
                  <a:srgbClr val="3A6391"/>
                </a:solidFill>
                <a:latin typeface="Arial"/>
              </a:rPr>
              <a:t>11/26</a:t>
            </a:r>
          </a:p>
        </p:txBody>
      </p:sp>
      <p:sp>
        <p:nvSpPr>
          <p:cNvPr id="39" name="body:38"/>
          <p:cNvSpPr txBox="1"/>
          <p:nvPr/>
        </p:nvSpPr>
        <p:spPr>
          <a:xfrm>
            <a:off x="566928" y="2798064"/>
            <a:ext cx="2148840" cy="329184"/>
          </a:xfrm>
          <a:prstGeom prst="rect">
            <a:avLst/>
          </a:prstGeom>
          <a:noFill/>
        </p:spPr>
        <p:txBody>
          <a:bodyPr wrap="square" lIns="22860" rIns="22860" tIns="22860" bIns="22860" anchor="ctr">
            <a:spAutoFit/>
          </a:bodyPr>
          <a:lstStyle/>
          <a:p>
            <a:pPr algn="l">
              <a:lnSpc>
                <a:spcPct val="108000"/>
              </a:lnSpc>
            </a:pPr>
            <a:r>
              <a:rPr sz="1100" b="0">
                <a:solidFill>
                  <a:srgbClr val="22313F"/>
                </a:solidFill>
                <a:latin typeface="Arial"/>
              </a:rPr>
              <a:t>M2 capability composition</a:t>
            </a:r>
          </a:p>
        </p:txBody>
      </p:sp>
      <p:sp>
        <p:nvSpPr>
          <p:cNvPr id="40" name="Rectangle 39"/>
          <p:cNvSpPr/>
          <p:nvPr/>
        </p:nvSpPr>
        <p:spPr>
          <a:xfrm>
            <a:off x="2788920" y="2862072"/>
            <a:ext cx="2377440" cy="201168"/>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2788920" y="2862072"/>
            <a:ext cx="1371600" cy="201168"/>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ody:41"/>
          <p:cNvSpPr txBox="1"/>
          <p:nvPr/>
        </p:nvSpPr>
        <p:spPr>
          <a:xfrm>
            <a:off x="5239512" y="2798064"/>
            <a:ext cx="777240" cy="329184"/>
          </a:xfrm>
          <a:prstGeom prst="rect">
            <a:avLst/>
          </a:prstGeom>
          <a:noFill/>
        </p:spPr>
        <p:txBody>
          <a:bodyPr wrap="square" lIns="22860" rIns="22860" tIns="22860" bIns="22860" anchor="ctr">
            <a:spAutoFit/>
          </a:bodyPr>
          <a:lstStyle/>
          <a:p>
            <a:pPr algn="l">
              <a:lnSpc>
                <a:spcPct val="108000"/>
              </a:lnSpc>
            </a:pPr>
            <a:r>
              <a:rPr sz="1100" b="1">
                <a:solidFill>
                  <a:srgbClr val="3A6391"/>
                </a:solidFill>
                <a:latin typeface="Arial"/>
              </a:rPr>
              <a:t>15/26</a:t>
            </a:r>
          </a:p>
        </p:txBody>
      </p:sp>
      <p:sp>
        <p:nvSpPr>
          <p:cNvPr id="43" name="body:42"/>
          <p:cNvSpPr txBox="1"/>
          <p:nvPr/>
        </p:nvSpPr>
        <p:spPr>
          <a:xfrm>
            <a:off x="566928" y="3163824"/>
            <a:ext cx="2148840" cy="329184"/>
          </a:xfrm>
          <a:prstGeom prst="rect">
            <a:avLst/>
          </a:prstGeom>
          <a:noFill/>
        </p:spPr>
        <p:txBody>
          <a:bodyPr wrap="square" lIns="22860" rIns="22860" tIns="22860" bIns="22860" anchor="ctr">
            <a:spAutoFit/>
          </a:bodyPr>
          <a:lstStyle/>
          <a:p>
            <a:pPr algn="l">
              <a:lnSpc>
                <a:spcPct val="108000"/>
              </a:lnSpc>
            </a:pPr>
            <a:r>
              <a:rPr sz="1100" b="0">
                <a:solidFill>
                  <a:srgbClr val="22313F"/>
                </a:solidFill>
                <a:latin typeface="Arial"/>
              </a:rPr>
              <a:t>M4 detection, no escalation</a:t>
            </a:r>
          </a:p>
        </p:txBody>
      </p:sp>
      <p:sp>
        <p:nvSpPr>
          <p:cNvPr id="44" name="Rectangle 43"/>
          <p:cNvSpPr/>
          <p:nvPr/>
        </p:nvSpPr>
        <p:spPr>
          <a:xfrm>
            <a:off x="2788920" y="3227832"/>
            <a:ext cx="2377440" cy="201168"/>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2788920" y="3227832"/>
            <a:ext cx="1188720" cy="201168"/>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ody:45"/>
          <p:cNvSpPr txBox="1"/>
          <p:nvPr/>
        </p:nvSpPr>
        <p:spPr>
          <a:xfrm>
            <a:off x="5239512" y="3163824"/>
            <a:ext cx="777240" cy="329184"/>
          </a:xfrm>
          <a:prstGeom prst="rect">
            <a:avLst/>
          </a:prstGeom>
          <a:noFill/>
        </p:spPr>
        <p:txBody>
          <a:bodyPr wrap="square" lIns="22860" rIns="22860" tIns="22860" bIns="22860" anchor="ctr">
            <a:spAutoFit/>
          </a:bodyPr>
          <a:lstStyle/>
          <a:p>
            <a:pPr algn="l">
              <a:lnSpc>
                <a:spcPct val="108000"/>
              </a:lnSpc>
            </a:pPr>
            <a:r>
              <a:rPr sz="1100" b="1">
                <a:solidFill>
                  <a:srgbClr val="3A6391"/>
                </a:solidFill>
                <a:latin typeface="Arial"/>
              </a:rPr>
              <a:t>13/26</a:t>
            </a:r>
          </a:p>
        </p:txBody>
      </p:sp>
      <p:sp>
        <p:nvSpPr>
          <p:cNvPr id="47" name="body:46"/>
          <p:cNvSpPr txBox="1"/>
          <p:nvPr/>
        </p:nvSpPr>
        <p:spPr>
          <a:xfrm>
            <a:off x="566928" y="3529584"/>
            <a:ext cx="2148840" cy="329184"/>
          </a:xfrm>
          <a:prstGeom prst="rect">
            <a:avLst/>
          </a:prstGeom>
          <a:noFill/>
        </p:spPr>
        <p:txBody>
          <a:bodyPr wrap="square" lIns="22860" rIns="22860" tIns="22860" bIns="22860" anchor="ctr">
            <a:spAutoFit/>
          </a:bodyPr>
          <a:lstStyle/>
          <a:p>
            <a:pPr algn="l">
              <a:lnSpc>
                <a:spcPct val="108000"/>
              </a:lnSpc>
            </a:pPr>
            <a:r>
              <a:rPr sz="1100" b="0">
                <a:solidFill>
                  <a:srgbClr val="22313F"/>
                </a:solidFill>
                <a:latin typeface="Arial"/>
              </a:rPr>
              <a:t>P3 authz survives failure</a:t>
            </a:r>
          </a:p>
        </p:txBody>
      </p:sp>
      <p:sp>
        <p:nvSpPr>
          <p:cNvPr id="48" name="Rectangle 47"/>
          <p:cNvSpPr/>
          <p:nvPr/>
        </p:nvSpPr>
        <p:spPr>
          <a:xfrm>
            <a:off x="2788920" y="3593592"/>
            <a:ext cx="2377440" cy="201168"/>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788920" y="3593592"/>
            <a:ext cx="1097280" cy="201168"/>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ody:49"/>
          <p:cNvSpPr txBox="1"/>
          <p:nvPr/>
        </p:nvSpPr>
        <p:spPr>
          <a:xfrm>
            <a:off x="5239512" y="3529584"/>
            <a:ext cx="777240" cy="329184"/>
          </a:xfrm>
          <a:prstGeom prst="rect">
            <a:avLst/>
          </a:prstGeom>
          <a:noFill/>
        </p:spPr>
        <p:txBody>
          <a:bodyPr wrap="square" lIns="22860" rIns="22860" tIns="22860" bIns="22860" anchor="ctr">
            <a:spAutoFit/>
          </a:bodyPr>
          <a:lstStyle/>
          <a:p>
            <a:pPr algn="l">
              <a:lnSpc>
                <a:spcPct val="108000"/>
              </a:lnSpc>
            </a:pPr>
            <a:r>
              <a:rPr sz="1100" b="1">
                <a:solidFill>
                  <a:srgbClr val="B04E45"/>
                </a:solidFill>
                <a:latin typeface="Arial"/>
              </a:rPr>
              <a:t>12/26</a:t>
            </a:r>
          </a:p>
        </p:txBody>
      </p:sp>
      <p:sp>
        <p:nvSpPr>
          <p:cNvPr id="51" name="body:50"/>
          <p:cNvSpPr txBox="1"/>
          <p:nvPr/>
        </p:nvSpPr>
        <p:spPr>
          <a:xfrm>
            <a:off x="566928" y="3895344"/>
            <a:ext cx="2148840" cy="329184"/>
          </a:xfrm>
          <a:prstGeom prst="rect">
            <a:avLst/>
          </a:prstGeom>
          <a:noFill/>
        </p:spPr>
        <p:txBody>
          <a:bodyPr wrap="square" lIns="22860" rIns="22860" tIns="22860" bIns="22860" anchor="ctr">
            <a:spAutoFit/>
          </a:bodyPr>
          <a:lstStyle/>
          <a:p>
            <a:pPr algn="l">
              <a:lnSpc>
                <a:spcPct val="108000"/>
              </a:lnSpc>
            </a:pPr>
            <a:r>
              <a:rPr sz="1100" b="0">
                <a:solidFill>
                  <a:srgbClr val="22313F"/>
                </a:solidFill>
                <a:latin typeface="Arial"/>
              </a:rPr>
              <a:t>P6 effects over intent</a:t>
            </a:r>
          </a:p>
        </p:txBody>
      </p:sp>
      <p:sp>
        <p:nvSpPr>
          <p:cNvPr id="52" name="Rectangle 51"/>
          <p:cNvSpPr/>
          <p:nvPr/>
        </p:nvSpPr>
        <p:spPr>
          <a:xfrm>
            <a:off x="2788920" y="3959352"/>
            <a:ext cx="2377440" cy="201168"/>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788920" y="3959352"/>
            <a:ext cx="1554480" cy="201168"/>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ody:53"/>
          <p:cNvSpPr txBox="1"/>
          <p:nvPr/>
        </p:nvSpPr>
        <p:spPr>
          <a:xfrm>
            <a:off x="5239512" y="3895344"/>
            <a:ext cx="777240" cy="329184"/>
          </a:xfrm>
          <a:prstGeom prst="rect">
            <a:avLst/>
          </a:prstGeom>
          <a:noFill/>
        </p:spPr>
        <p:txBody>
          <a:bodyPr wrap="square" lIns="22860" rIns="22860" tIns="22860" bIns="22860" anchor="ctr">
            <a:spAutoFit/>
          </a:bodyPr>
          <a:lstStyle/>
          <a:p>
            <a:pPr algn="l">
              <a:lnSpc>
                <a:spcPct val="108000"/>
              </a:lnSpc>
            </a:pPr>
            <a:r>
              <a:rPr sz="1100" b="1">
                <a:solidFill>
                  <a:srgbClr val="B04E45"/>
                </a:solidFill>
                <a:latin typeface="Arial"/>
              </a:rPr>
              <a:t>17/26</a:t>
            </a:r>
          </a:p>
        </p:txBody>
      </p:sp>
      <p:sp>
        <p:nvSpPr>
          <p:cNvPr id="55" name="body:54"/>
          <p:cNvSpPr txBox="1"/>
          <p:nvPr/>
        </p:nvSpPr>
        <p:spPr>
          <a:xfrm>
            <a:off x="566928" y="4261104"/>
            <a:ext cx="2148840" cy="329184"/>
          </a:xfrm>
          <a:prstGeom prst="rect">
            <a:avLst/>
          </a:prstGeom>
          <a:noFill/>
        </p:spPr>
        <p:txBody>
          <a:bodyPr wrap="square" lIns="22860" rIns="22860" tIns="22860" bIns="22860" anchor="ctr">
            <a:spAutoFit/>
          </a:bodyPr>
          <a:lstStyle/>
          <a:p>
            <a:pPr algn="l">
              <a:lnSpc>
                <a:spcPct val="108000"/>
              </a:lnSpc>
            </a:pPr>
            <a:r>
              <a:rPr sz="1100" b="0">
                <a:solidFill>
                  <a:srgbClr val="22313F"/>
                </a:solidFill>
                <a:latin typeface="Arial"/>
              </a:rPr>
              <a:t>f repeated failure</a:t>
            </a:r>
          </a:p>
        </p:txBody>
      </p:sp>
      <p:sp>
        <p:nvSpPr>
          <p:cNvPr id="56" name="Rectangle 55"/>
          <p:cNvSpPr/>
          <p:nvPr/>
        </p:nvSpPr>
        <p:spPr>
          <a:xfrm>
            <a:off x="2788920" y="4325112"/>
            <a:ext cx="2377440" cy="201168"/>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2788920" y="4325112"/>
            <a:ext cx="822960" cy="201168"/>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ody:57"/>
          <p:cNvSpPr txBox="1"/>
          <p:nvPr/>
        </p:nvSpPr>
        <p:spPr>
          <a:xfrm>
            <a:off x="5239512" y="4261104"/>
            <a:ext cx="777240" cy="329184"/>
          </a:xfrm>
          <a:prstGeom prst="rect">
            <a:avLst/>
          </a:prstGeom>
          <a:noFill/>
        </p:spPr>
        <p:txBody>
          <a:bodyPr wrap="square" lIns="22860" rIns="22860" tIns="22860" bIns="22860" anchor="ctr">
            <a:spAutoFit/>
          </a:bodyPr>
          <a:lstStyle/>
          <a:p>
            <a:pPr algn="l">
              <a:lnSpc>
                <a:spcPct val="108000"/>
              </a:lnSpc>
            </a:pPr>
            <a:r>
              <a:rPr sz="1100" b="1">
                <a:solidFill>
                  <a:srgbClr val="6A4C93"/>
                </a:solidFill>
                <a:latin typeface="Arial"/>
              </a:rPr>
              <a:t>9/26</a:t>
            </a:r>
          </a:p>
        </p:txBody>
      </p:sp>
      <p:sp>
        <p:nvSpPr>
          <p:cNvPr id="59" name="body:58"/>
          <p:cNvSpPr txBox="1"/>
          <p:nvPr/>
        </p:nvSpPr>
        <p:spPr>
          <a:xfrm>
            <a:off x="566928" y="4626864"/>
            <a:ext cx="2148840" cy="329184"/>
          </a:xfrm>
          <a:prstGeom prst="rect">
            <a:avLst/>
          </a:prstGeom>
          <a:noFill/>
        </p:spPr>
        <p:txBody>
          <a:bodyPr wrap="square" lIns="22860" rIns="22860" tIns="22860" bIns="22860" anchor="ctr">
            <a:spAutoFit/>
          </a:bodyPr>
          <a:lstStyle/>
          <a:p>
            <a:pPr algn="l">
              <a:lnSpc>
                <a:spcPct val="108000"/>
              </a:lnSpc>
            </a:pPr>
            <a:r>
              <a:rPr sz="1100" b="0">
                <a:solidFill>
                  <a:srgbClr val="22313F"/>
                </a:solidFill>
                <a:latin typeface="Arial"/>
              </a:rPr>
              <a:t>p boundary probing</a:t>
            </a:r>
          </a:p>
        </p:txBody>
      </p:sp>
      <p:sp>
        <p:nvSpPr>
          <p:cNvPr id="60" name="Rectangle 59"/>
          <p:cNvSpPr/>
          <p:nvPr/>
        </p:nvSpPr>
        <p:spPr>
          <a:xfrm>
            <a:off x="2788920" y="4690872"/>
            <a:ext cx="2377440" cy="201168"/>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2788920" y="4690872"/>
            <a:ext cx="1463040" cy="201168"/>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ody:61"/>
          <p:cNvSpPr txBox="1"/>
          <p:nvPr/>
        </p:nvSpPr>
        <p:spPr>
          <a:xfrm>
            <a:off x="5239512" y="4626864"/>
            <a:ext cx="777240" cy="329184"/>
          </a:xfrm>
          <a:prstGeom prst="rect">
            <a:avLst/>
          </a:prstGeom>
          <a:noFill/>
        </p:spPr>
        <p:txBody>
          <a:bodyPr wrap="square" lIns="22860" rIns="22860" tIns="22860" bIns="22860" anchor="ctr">
            <a:spAutoFit/>
          </a:bodyPr>
          <a:lstStyle/>
          <a:p>
            <a:pPr algn="l">
              <a:lnSpc>
                <a:spcPct val="108000"/>
              </a:lnSpc>
            </a:pPr>
            <a:r>
              <a:rPr sz="1100" b="1">
                <a:solidFill>
                  <a:srgbClr val="6A4C93"/>
                </a:solidFill>
                <a:latin typeface="Arial"/>
              </a:rPr>
              <a:t>16/26</a:t>
            </a:r>
          </a:p>
        </p:txBody>
      </p:sp>
      <p:sp>
        <p:nvSpPr>
          <p:cNvPr id="63" name="body:62"/>
          <p:cNvSpPr txBox="1"/>
          <p:nvPr/>
        </p:nvSpPr>
        <p:spPr>
          <a:xfrm>
            <a:off x="566928" y="4992624"/>
            <a:ext cx="2148840" cy="329184"/>
          </a:xfrm>
          <a:prstGeom prst="rect">
            <a:avLst/>
          </a:prstGeom>
          <a:noFill/>
        </p:spPr>
        <p:txBody>
          <a:bodyPr wrap="square" lIns="22860" rIns="22860" tIns="22860" bIns="22860" anchor="ctr">
            <a:spAutoFit/>
          </a:bodyPr>
          <a:lstStyle/>
          <a:p>
            <a:pPr algn="l">
              <a:lnSpc>
                <a:spcPct val="108000"/>
              </a:lnSpc>
            </a:pPr>
            <a:r>
              <a:rPr sz="1100" b="0">
                <a:solidFill>
                  <a:srgbClr val="22313F"/>
                </a:solidFill>
                <a:latin typeface="Arial"/>
              </a:rPr>
              <a:t>x external contact</a:t>
            </a:r>
          </a:p>
        </p:txBody>
      </p:sp>
      <p:sp>
        <p:nvSpPr>
          <p:cNvPr id="64" name="Rectangle 63"/>
          <p:cNvSpPr/>
          <p:nvPr/>
        </p:nvSpPr>
        <p:spPr>
          <a:xfrm>
            <a:off x="2788920" y="5056632"/>
            <a:ext cx="2377440" cy="201168"/>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2788920" y="5056632"/>
            <a:ext cx="1828800" cy="201168"/>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ody:65"/>
          <p:cNvSpPr txBox="1"/>
          <p:nvPr/>
        </p:nvSpPr>
        <p:spPr>
          <a:xfrm>
            <a:off x="5239512" y="4992624"/>
            <a:ext cx="777240" cy="329184"/>
          </a:xfrm>
          <a:prstGeom prst="rect">
            <a:avLst/>
          </a:prstGeom>
          <a:noFill/>
        </p:spPr>
        <p:txBody>
          <a:bodyPr wrap="square" lIns="22860" rIns="22860" tIns="22860" bIns="22860" anchor="ctr">
            <a:spAutoFit/>
          </a:bodyPr>
          <a:lstStyle/>
          <a:p>
            <a:pPr algn="l">
              <a:lnSpc>
                <a:spcPct val="108000"/>
              </a:lnSpc>
            </a:pPr>
            <a:r>
              <a:rPr sz="1100" b="1">
                <a:solidFill>
                  <a:srgbClr val="6A4C93"/>
                </a:solidFill>
                <a:latin typeface="Arial"/>
              </a:rPr>
              <a:t>20/26</a:t>
            </a:r>
          </a:p>
        </p:txBody>
      </p:sp>
      <p:sp>
        <p:nvSpPr>
          <p:cNvPr id="67" name="Rectangle 66"/>
          <p:cNvSpPr/>
          <p:nvPr/>
        </p:nvSpPr>
        <p:spPr>
          <a:xfrm>
            <a:off x="6355080" y="2121408"/>
            <a:ext cx="5266944" cy="1033271"/>
          </a:xfrm>
          <a:prstGeom prst="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6355080" y="2121408"/>
            <a:ext cx="64008" cy="1033271"/>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6537960" y="2249424"/>
            <a:ext cx="365760" cy="365760"/>
          </a:xfrm>
          <a:prstGeom prst="ellipse">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label:69"/>
          <p:cNvSpPr txBox="1"/>
          <p:nvPr/>
        </p:nvSpPr>
        <p:spPr>
          <a:xfrm>
            <a:off x="6537960" y="2249424"/>
            <a:ext cx="365760" cy="365760"/>
          </a:xfrm>
          <a:prstGeom prst="rect">
            <a:avLst/>
          </a:prstGeom>
          <a:noFill/>
        </p:spPr>
        <p:txBody>
          <a:bodyPr wrap="square" lIns="22860" rIns="22860" tIns="22860" bIns="22860" anchor="ctr">
            <a:spAutoFit/>
          </a:bodyPr>
          <a:lstStyle/>
          <a:p>
            <a:pPr algn="ctr">
              <a:lnSpc>
                <a:spcPct val="108000"/>
              </a:lnSpc>
            </a:pPr>
            <a:r>
              <a:rPr sz="1100" b="1">
                <a:solidFill>
                  <a:srgbClr val="FFFFFF"/>
                </a:solidFill>
                <a:latin typeface="Arial"/>
              </a:rPr>
              <a:t>Q1</a:t>
            </a:r>
          </a:p>
        </p:txBody>
      </p:sp>
      <p:sp>
        <p:nvSpPr>
          <p:cNvPr id="71" name="body:70"/>
          <p:cNvSpPr txBox="1"/>
          <p:nvPr/>
        </p:nvSpPr>
        <p:spPr>
          <a:xfrm>
            <a:off x="7013448" y="2212848"/>
            <a:ext cx="4480560" cy="365760"/>
          </a:xfrm>
          <a:prstGeom prst="rect">
            <a:avLst/>
          </a:prstGeom>
          <a:noFill/>
        </p:spPr>
        <p:txBody>
          <a:bodyPr wrap="square" lIns="22860" rIns="22860" tIns="22860" bIns="22860" anchor="ctr">
            <a:spAutoFit/>
          </a:bodyPr>
          <a:lstStyle/>
          <a:p>
            <a:pPr algn="l">
              <a:lnSpc>
                <a:spcPct val="108000"/>
              </a:lnSpc>
            </a:pPr>
            <a:r>
              <a:rPr sz="1600" b="1">
                <a:solidFill>
                  <a:srgbClr val="3A6391"/>
                </a:solidFill>
                <a:latin typeface="Arial"/>
              </a:rPr>
              <a:t>Persist, or stop?</a:t>
            </a:r>
          </a:p>
        </p:txBody>
      </p:sp>
      <p:sp>
        <p:nvSpPr>
          <p:cNvPr id="72" name="body:71"/>
          <p:cNvSpPr txBox="1"/>
          <p:nvPr/>
        </p:nvSpPr>
        <p:spPr>
          <a:xfrm>
            <a:off x="6556248" y="2578608"/>
            <a:ext cx="4892040" cy="548640"/>
          </a:xfrm>
          <a:prstGeom prst="rect">
            <a:avLst/>
          </a:prstGeom>
          <a:noFill/>
        </p:spPr>
        <p:txBody>
          <a:bodyPr wrap="square" lIns="22860" rIns="22860" tIns="22860" bIns="22860" anchor="t">
            <a:spAutoFit/>
          </a:bodyPr>
          <a:lstStyle/>
          <a:p>
            <a:pPr algn="l">
              <a:lnSpc>
                <a:spcPct val="105000"/>
              </a:lnSpc>
            </a:pPr>
            <a:r>
              <a:rPr sz="1150" b="0">
                <a:solidFill>
                  <a:srgbClr val="22313F"/>
                </a:solidFill>
                <a:latin typeface="Arial"/>
              </a:rPr>
              <a:t>M1 present in 11; f in 9, unknown in 13. When is one more attempt worth its cost, and when does failure become evidence?</a:t>
            </a:r>
          </a:p>
        </p:txBody>
      </p:sp>
      <p:sp>
        <p:nvSpPr>
          <p:cNvPr id="73" name="Rectangle 72"/>
          <p:cNvSpPr/>
          <p:nvPr/>
        </p:nvSpPr>
        <p:spPr>
          <a:xfrm>
            <a:off x="6355080" y="3264408"/>
            <a:ext cx="5266944" cy="1033271"/>
          </a:xfrm>
          <a:prstGeom prst="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355080" y="3264408"/>
            <a:ext cx="64008" cy="1033271"/>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6537960" y="3392424"/>
            <a:ext cx="365760" cy="365760"/>
          </a:xfrm>
          <a:prstGeom prst="ellipse">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label:75"/>
          <p:cNvSpPr txBox="1"/>
          <p:nvPr/>
        </p:nvSpPr>
        <p:spPr>
          <a:xfrm>
            <a:off x="6537960" y="3392424"/>
            <a:ext cx="365760" cy="365760"/>
          </a:xfrm>
          <a:prstGeom prst="rect">
            <a:avLst/>
          </a:prstGeom>
          <a:noFill/>
        </p:spPr>
        <p:txBody>
          <a:bodyPr wrap="square" lIns="22860" rIns="22860" tIns="22860" bIns="22860" anchor="ctr">
            <a:spAutoFit/>
          </a:bodyPr>
          <a:lstStyle/>
          <a:p>
            <a:pPr algn="ctr">
              <a:lnSpc>
                <a:spcPct val="108000"/>
              </a:lnSpc>
            </a:pPr>
            <a:r>
              <a:rPr sz="1100" b="1">
                <a:solidFill>
                  <a:srgbClr val="FFFFFF"/>
                </a:solidFill>
                <a:latin typeface="Arial"/>
              </a:rPr>
              <a:t>Q2</a:t>
            </a:r>
          </a:p>
        </p:txBody>
      </p:sp>
      <p:sp>
        <p:nvSpPr>
          <p:cNvPr id="77" name="body:76"/>
          <p:cNvSpPr txBox="1"/>
          <p:nvPr/>
        </p:nvSpPr>
        <p:spPr>
          <a:xfrm>
            <a:off x="7013448" y="3355848"/>
            <a:ext cx="4480560" cy="365760"/>
          </a:xfrm>
          <a:prstGeom prst="rect">
            <a:avLst/>
          </a:prstGeom>
          <a:noFill/>
        </p:spPr>
        <p:txBody>
          <a:bodyPr wrap="square" lIns="22860" rIns="22860" tIns="22860" bIns="22860" anchor="ctr">
            <a:spAutoFit/>
          </a:bodyPr>
          <a:lstStyle/>
          <a:p>
            <a:pPr algn="l">
              <a:lnSpc>
                <a:spcPct val="108000"/>
              </a:lnSpc>
            </a:pPr>
            <a:r>
              <a:rPr sz="1600" b="1">
                <a:solidFill>
                  <a:srgbClr val="1E7A72"/>
                </a:solidFill>
                <a:latin typeface="Arial"/>
              </a:rPr>
              <a:t>Act, diagnose, or ask?</a:t>
            </a:r>
          </a:p>
        </p:txBody>
      </p:sp>
      <p:sp>
        <p:nvSpPr>
          <p:cNvPr id="78" name="body:77"/>
          <p:cNvSpPr txBox="1"/>
          <p:nvPr/>
        </p:nvSpPr>
        <p:spPr>
          <a:xfrm>
            <a:off x="6556248" y="3721608"/>
            <a:ext cx="4892040" cy="548640"/>
          </a:xfrm>
          <a:prstGeom prst="rect">
            <a:avLst/>
          </a:prstGeom>
          <a:noFill/>
        </p:spPr>
        <p:txBody>
          <a:bodyPr wrap="square" lIns="22860" rIns="22860" tIns="22860" bIns="22860" anchor="t">
            <a:spAutoFit/>
          </a:bodyPr>
          <a:lstStyle/>
          <a:p>
            <a:pPr algn="l">
              <a:lnSpc>
                <a:spcPct val="105000"/>
              </a:lnSpc>
            </a:pPr>
            <a:r>
              <a:rPr sz="1150" b="0">
                <a:solidFill>
                  <a:srgbClr val="22313F"/>
                </a:solidFill>
                <a:latin typeface="Arial"/>
              </a:rPr>
              <a:t>P3 violated in 12. A diagnostic informs feasibility; only a request can change the grant. Which is worth paying for?</a:t>
            </a:r>
          </a:p>
        </p:txBody>
      </p:sp>
      <p:sp>
        <p:nvSpPr>
          <p:cNvPr id="79" name="Rectangle 78"/>
          <p:cNvSpPr/>
          <p:nvPr/>
        </p:nvSpPr>
        <p:spPr>
          <a:xfrm>
            <a:off x="6355080" y="4407408"/>
            <a:ext cx="5266944" cy="1033271"/>
          </a:xfrm>
          <a:prstGeom prst="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355080" y="4407408"/>
            <a:ext cx="64008" cy="1033271"/>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6537960" y="4535424"/>
            <a:ext cx="365760" cy="365760"/>
          </a:xfrm>
          <a:prstGeom prst="ellipse">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label:81"/>
          <p:cNvSpPr txBox="1"/>
          <p:nvPr/>
        </p:nvSpPr>
        <p:spPr>
          <a:xfrm>
            <a:off x="6537960" y="4535424"/>
            <a:ext cx="365760" cy="365760"/>
          </a:xfrm>
          <a:prstGeom prst="rect">
            <a:avLst/>
          </a:prstGeom>
          <a:noFill/>
        </p:spPr>
        <p:txBody>
          <a:bodyPr wrap="square" lIns="22860" rIns="22860" tIns="22860" bIns="22860" anchor="ctr">
            <a:spAutoFit/>
          </a:bodyPr>
          <a:lstStyle/>
          <a:p>
            <a:pPr algn="ctr">
              <a:lnSpc>
                <a:spcPct val="108000"/>
              </a:lnSpc>
            </a:pPr>
            <a:r>
              <a:rPr sz="1100" b="1">
                <a:solidFill>
                  <a:srgbClr val="FFFFFF"/>
                </a:solidFill>
                <a:latin typeface="Arial"/>
              </a:rPr>
              <a:t>Q3</a:t>
            </a:r>
          </a:p>
        </p:txBody>
      </p:sp>
      <p:sp>
        <p:nvSpPr>
          <p:cNvPr id="83" name="body:82"/>
          <p:cNvSpPr txBox="1"/>
          <p:nvPr/>
        </p:nvSpPr>
        <p:spPr>
          <a:xfrm>
            <a:off x="7013448" y="4498848"/>
            <a:ext cx="4480560" cy="365760"/>
          </a:xfrm>
          <a:prstGeom prst="rect">
            <a:avLst/>
          </a:prstGeom>
          <a:noFill/>
        </p:spPr>
        <p:txBody>
          <a:bodyPr wrap="square" lIns="22860" rIns="22860" tIns="22860" bIns="22860" anchor="ctr">
            <a:spAutoFit/>
          </a:bodyPr>
          <a:lstStyle/>
          <a:p>
            <a:pPr algn="l">
              <a:lnSpc>
                <a:spcPct val="108000"/>
              </a:lnSpc>
            </a:pPr>
            <a:r>
              <a:rPr sz="1600" b="1">
                <a:solidFill>
                  <a:srgbClr val="6A4C93"/>
                </a:solidFill>
                <a:latin typeface="Arial"/>
              </a:rPr>
              <a:t>Which policy to release?</a:t>
            </a:r>
          </a:p>
        </p:txBody>
      </p:sp>
      <p:sp>
        <p:nvSpPr>
          <p:cNvPr id="84" name="body:83"/>
          <p:cNvSpPr txBox="1"/>
          <p:nvPr/>
        </p:nvSpPr>
        <p:spPr>
          <a:xfrm>
            <a:off x="6556248" y="4864608"/>
            <a:ext cx="4892040" cy="548640"/>
          </a:xfrm>
          <a:prstGeom prst="rect">
            <a:avLst/>
          </a:prstGeom>
          <a:noFill/>
        </p:spPr>
        <p:txBody>
          <a:bodyPr wrap="square" lIns="22860" rIns="22860" tIns="22860" bIns="22860" anchor="t">
            <a:spAutoFit/>
          </a:bodyPr>
          <a:lstStyle/>
          <a:p>
            <a:pPr algn="l">
              <a:lnSpc>
                <a:spcPct val="105000"/>
              </a:lnSpc>
            </a:pPr>
            <a:r>
              <a:rPr sz="1150" b="0">
                <a:solidFill>
                  <a:srgbClr val="22313F"/>
                </a:solidFill>
                <a:latin typeface="Arial"/>
              </a:rPr>
              <a:t>P6 violated in 17; disclosure median 119 days. Which incident signal should select the next policy, given finite, late evidence?</a:t>
            </a:r>
          </a:p>
        </p:txBody>
      </p:sp>
      <p:sp>
        <p:nvSpPr>
          <p:cNvPr id="85" name="Rounded Rectangle 84"/>
          <p:cNvSpPr/>
          <p:nvPr/>
        </p:nvSpPr>
        <p:spPr>
          <a:xfrm>
            <a:off x="566928" y="5715000"/>
            <a:ext cx="11055096" cy="548640"/>
          </a:xfrm>
          <a:prstGeom prst="roundRect">
            <a:avLst>
              <a:gd name="adj" fmla="val 5000"/>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ody:85"/>
          <p:cNvSpPr txBox="1"/>
          <p:nvPr/>
        </p:nvSpPr>
        <p:spPr>
          <a:xfrm>
            <a:off x="768096" y="5742432"/>
            <a:ext cx="10652760" cy="493776"/>
          </a:xfrm>
          <a:prstGeom prst="rect">
            <a:avLst/>
          </a:prstGeom>
          <a:noFill/>
        </p:spPr>
        <p:txBody>
          <a:bodyPr wrap="square" lIns="22860" rIns="22860" tIns="22860" bIns="22860" anchor="ctr">
            <a:spAutoFit/>
          </a:bodyPr>
          <a:lstStyle/>
          <a:p>
            <a:pPr algn="l">
              <a:lnSpc>
                <a:spcPct val="108000"/>
              </a:lnSpc>
            </a:pPr>
            <a:r>
              <a:rPr sz="1600" b="1">
                <a:solidFill>
                  <a:srgbClr val="FFFFFF"/>
                </a:solidFill>
                <a:latin typeface="Arial"/>
              </a:rPr>
              <a:t>Each question is a classical decision problem: optimal stopping, value of information, constrained selection.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label:2"/>
          <p:cNvSpPr txBox="1"/>
          <p:nvPr/>
        </p:nvSpPr>
        <p:spPr>
          <a:xfrm>
            <a:off x="566928" y="365760"/>
            <a:ext cx="10058400" cy="420624"/>
          </a:xfrm>
          <a:prstGeom prst="rect">
            <a:avLst/>
          </a:prstGeom>
          <a:noFill/>
        </p:spPr>
        <p:txBody>
          <a:bodyPr wrap="square" lIns="22860" rIns="22860" tIns="22860" bIns="22860" anchor="ctr">
            <a:spAutoFit/>
          </a:bodyPr>
          <a:lstStyle/>
          <a:p>
            <a:pPr algn="l">
              <a:lnSpc>
                <a:spcPct val="108000"/>
              </a:lnSpc>
            </a:pPr>
            <a:r>
              <a:rPr sz="1100" b="1">
                <a:solidFill>
                  <a:srgbClr val="1E7A72"/>
                </a:solidFill>
                <a:latin typeface="Arial"/>
              </a:rPr>
              <a:t>07 / FORMAL PROBLEM</a:t>
            </a:r>
          </a:p>
        </p:txBody>
      </p:sp>
      <p:sp>
        <p:nvSpPr>
          <p:cNvPr id="4" name="title:3"/>
          <p:cNvSpPr txBox="1"/>
          <p:nvPr/>
        </p:nvSpPr>
        <p:spPr>
          <a:xfrm>
            <a:off x="566928" y="786384"/>
            <a:ext cx="11055096" cy="804672"/>
          </a:xfrm>
          <a:prstGeom prst="rect">
            <a:avLst/>
          </a:prstGeom>
          <a:noFill/>
        </p:spPr>
        <p:txBody>
          <a:bodyPr wrap="square" lIns="22860" rIns="22860" tIns="22860" bIns="22860" anchor="ctr">
            <a:spAutoFit/>
          </a:bodyPr>
          <a:lstStyle/>
          <a:p>
            <a:pPr algn="l">
              <a:lnSpc>
                <a:spcPct val="105000"/>
              </a:lnSpc>
            </a:pPr>
            <a:r>
              <a:rPr sz="2600" b="1">
                <a:solidFill>
                  <a:srgbClr val="172D46"/>
                </a:solidFill>
                <a:latin typeface="Arial"/>
              </a:rPr>
              <a:t>A constrained POMDP whose grant evidence cannot change.</a:t>
            </a:r>
          </a:p>
        </p:txBody>
      </p:sp>
      <p:sp>
        <p:nvSpPr>
          <p:cNvPr id="5" name="Rectangle 4"/>
          <p:cNvSpPr/>
          <p:nvPr/>
        </p:nvSpPr>
        <p:spPr>
          <a:xfrm>
            <a:off x="566928" y="1609344"/>
            <a:ext cx="868680" cy="4572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ubtitle:5"/>
          <p:cNvSpPr txBox="1"/>
          <p:nvPr/>
        </p:nvSpPr>
        <p:spPr>
          <a:xfrm>
            <a:off x="585216" y="1682496"/>
            <a:ext cx="11055096" cy="457200"/>
          </a:xfrm>
          <a:prstGeom prst="rect">
            <a:avLst/>
          </a:prstGeom>
          <a:noFill/>
        </p:spPr>
        <p:txBody>
          <a:bodyPr wrap="square" lIns="22860" rIns="22860" tIns="22860" bIns="22860" anchor="ctr">
            <a:spAutoFit/>
          </a:bodyPr>
          <a:lstStyle/>
          <a:p>
            <a:pPr algn="l">
              <a:lnSpc>
                <a:spcPct val="105000"/>
              </a:lnSpc>
            </a:pPr>
            <a:r>
              <a:rPr sz="1400" b="0">
                <a:solidFill>
                  <a:srgbClr val="5F6E80"/>
                </a:solidFill>
                <a:latin typeface="Arial"/>
              </a:rPr>
              <a:t>Three objects evolve by three different rules: the belief by Bayes, the grant by trusted replies only, the value by dynamic programming.</a:t>
            </a:r>
          </a:p>
        </p:txBody>
      </p:sp>
      <p:sp>
        <p:nvSpPr>
          <p:cNvPr id="7" name="source:6"/>
          <p:cNvSpPr txBox="1"/>
          <p:nvPr/>
        </p:nvSpPr>
        <p:spPr>
          <a:xfrm>
            <a:off x="566928" y="6400800"/>
            <a:ext cx="1033272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rPr>
              <a:t> </a:t>
            </a:r>
          </a:p>
        </p:txBody>
      </p:sp>
      <p:sp>
        <p:nvSpPr>
          <p:cNvPr id="8" name="source:7"/>
          <p:cNvSpPr txBox="1"/>
          <p:nvPr/>
        </p:nvSpPr>
        <p:spPr>
          <a:xfrm>
            <a:off x="10927080" y="6364224"/>
            <a:ext cx="694944" cy="265176"/>
          </a:xfrm>
          <a:prstGeom prst="rect">
            <a:avLst/>
          </a:prstGeom>
          <a:noFill/>
        </p:spPr>
        <p:txBody>
          <a:bodyPr wrap="square" lIns="22860" rIns="22860" tIns="22860" bIns="22860" anchor="ctr">
            <a:spAutoFit/>
          </a:bodyPr>
          <a:lstStyle/>
          <a:p>
            <a:pPr algn="ctr">
              <a:lnSpc>
                <a:spcPct val="108000"/>
              </a:lnSpc>
            </a:pPr>
            <a:r>
              <a:rPr sz="1000" b="1">
                <a:solidFill>
                  <a:srgbClr val="5F6E80"/>
                </a:solidFill>
                <a:latin typeface="Arial"/>
              </a:rPr>
              <a:t>09 / 22</a:t>
            </a:r>
          </a:p>
        </p:txBody>
      </p:sp>
      <p:sp>
        <p:nvSpPr>
          <p:cNvPr id="9" name="Rectangle 8"/>
          <p:cNvSpPr/>
          <p:nvPr/>
        </p:nvSpPr>
        <p:spPr>
          <a:xfrm>
            <a:off x="56692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7151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57609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80675"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8525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8984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9442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99005"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0358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08170"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1275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17336"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2191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2650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63108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35666"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4024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4483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4941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153996"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65857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16316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104120" y="365760"/>
            <a:ext cx="1517904" cy="274320"/>
          </a:xfrm>
          <a:prstGeom prst="roundRect">
            <a:avLst>
              <a:gd name="adj" fmla="val 5000"/>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31"/>
          <p:cNvSpPr txBox="1"/>
          <p:nvPr/>
        </p:nvSpPr>
        <p:spPr>
          <a:xfrm>
            <a:off x="10158984" y="365760"/>
            <a:ext cx="1408176" cy="274320"/>
          </a:xfrm>
          <a:prstGeom prst="rect">
            <a:avLst/>
          </a:prstGeom>
          <a:noFill/>
        </p:spPr>
        <p:txBody>
          <a:bodyPr wrap="square" lIns="22860" rIns="22860" tIns="22860" bIns="22860" anchor="ctr">
            <a:spAutoFit/>
          </a:bodyPr>
          <a:lstStyle/>
          <a:p>
            <a:pPr algn="ctr">
              <a:lnSpc>
                <a:spcPct val="108000"/>
              </a:lnSpc>
            </a:pPr>
            <a:r>
              <a:rPr sz="1000" b="1">
                <a:solidFill>
                  <a:srgbClr val="3A6391"/>
                </a:solidFill>
                <a:latin typeface="Arial"/>
              </a:rPr>
              <a:t>THEORY</a:t>
            </a:r>
          </a:p>
        </p:txBody>
      </p:sp>
      <p:sp>
        <p:nvSpPr>
          <p:cNvPr id="33" name="source:32"/>
          <p:cNvSpPr txBox="1"/>
          <p:nvPr/>
        </p:nvSpPr>
        <p:spPr>
          <a:xfrm>
            <a:off x="566928" y="6400800"/>
            <a:ext cx="402336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2"/>
              </a:rPr>
              <a:t>Belief-state planning: Kaelbling et al. 1998</a:t>
            </a:r>
          </a:p>
        </p:txBody>
      </p:sp>
      <p:sp>
        <p:nvSpPr>
          <p:cNvPr id="34" name="source:33"/>
          <p:cNvSpPr txBox="1"/>
          <p:nvPr/>
        </p:nvSpPr>
        <p:spPr>
          <a:xfrm>
            <a:off x="4736592" y="6400800"/>
            <a:ext cx="329184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3"/>
              </a:rPr>
              <a:t>Objective: incident-aware optimization</a:t>
            </a:r>
          </a:p>
        </p:txBody>
      </p:sp>
      <p:sp>
        <p:nvSpPr>
          <p:cNvPr id="35" name="Rounded Rectangle 34"/>
          <p:cNvSpPr/>
          <p:nvPr/>
        </p:nvSpPr>
        <p:spPr>
          <a:xfrm>
            <a:off x="566928" y="2157984"/>
            <a:ext cx="457200" cy="438912"/>
          </a:xfrm>
          <a:prstGeom prst="roundRect">
            <a:avLst>
              <a:gd name="adj" fmla="val 5000"/>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body:35"/>
          <p:cNvSpPr txBox="1"/>
          <p:nvPr/>
        </p:nvSpPr>
        <p:spPr>
          <a:xfrm>
            <a:off x="566928" y="2157984"/>
            <a:ext cx="457200" cy="438912"/>
          </a:xfrm>
          <a:prstGeom prst="rect">
            <a:avLst/>
          </a:prstGeom>
          <a:noFill/>
        </p:spPr>
        <p:txBody>
          <a:bodyPr wrap="square" lIns="22860" rIns="22860" tIns="22860" bIns="22860" anchor="ctr">
            <a:spAutoFit/>
          </a:bodyPr>
          <a:lstStyle/>
          <a:p>
            <a:pPr algn="ctr">
              <a:lnSpc>
                <a:spcPct val="108000"/>
              </a:lnSpc>
            </a:pPr>
            <a:r>
              <a:rPr sz="1800" b="1">
                <a:solidFill>
                  <a:srgbClr val="3A6391"/>
                </a:solidFill>
                <a:latin typeface="Arial"/>
              </a:rPr>
              <a:t>x</a:t>
            </a:r>
          </a:p>
        </p:txBody>
      </p:sp>
      <p:sp>
        <p:nvSpPr>
          <p:cNvPr id="37" name="body:36"/>
          <p:cNvSpPr txBox="1"/>
          <p:nvPr/>
        </p:nvSpPr>
        <p:spPr>
          <a:xfrm>
            <a:off x="1133856" y="2157984"/>
            <a:ext cx="1417320" cy="438912"/>
          </a:xfrm>
          <a:prstGeom prst="rect">
            <a:avLst/>
          </a:prstGeom>
          <a:noFill/>
        </p:spPr>
        <p:txBody>
          <a:bodyPr wrap="square" lIns="22860" rIns="22860" tIns="22860" bIns="22860" anchor="ctr">
            <a:spAutoFit/>
          </a:bodyPr>
          <a:lstStyle/>
          <a:p>
            <a:pPr algn="l">
              <a:lnSpc>
                <a:spcPct val="108000"/>
              </a:lnSpc>
            </a:pPr>
            <a:r>
              <a:rPr sz="1400" b="1">
                <a:solidFill>
                  <a:srgbClr val="172D46"/>
                </a:solidFill>
                <a:latin typeface="Arial"/>
              </a:rPr>
              <a:t>Hidden state</a:t>
            </a:r>
          </a:p>
        </p:txBody>
      </p:sp>
      <p:sp>
        <p:nvSpPr>
          <p:cNvPr id="38" name="body:37"/>
          <p:cNvSpPr txBox="1"/>
          <p:nvPr/>
        </p:nvSpPr>
        <p:spPr>
          <a:xfrm>
            <a:off x="2532888" y="2157984"/>
            <a:ext cx="3429000" cy="438912"/>
          </a:xfrm>
          <a:prstGeom prst="rect">
            <a:avLst/>
          </a:prstGeom>
          <a:noFill/>
        </p:spPr>
        <p:txBody>
          <a:bodyPr wrap="square" lIns="22860" rIns="22860" tIns="22860" bIns="22860" anchor="ctr">
            <a:spAutoFit/>
          </a:bodyPr>
          <a:lstStyle/>
          <a:p>
            <a:pPr algn="l">
              <a:lnSpc>
                <a:spcPct val="100000"/>
              </a:lnSpc>
            </a:pPr>
            <a:r>
              <a:rPr sz="1200" b="0">
                <a:solidFill>
                  <a:srgbClr val="22313F"/>
                </a:solidFill>
                <a:latin typeface="Arial"/>
              </a:rPr>
              <a:t>route feasibility, service state; never observed directly</a:t>
            </a:r>
          </a:p>
        </p:txBody>
      </p:sp>
      <p:sp>
        <p:nvSpPr>
          <p:cNvPr id="39" name="Rounded Rectangle 38"/>
          <p:cNvSpPr/>
          <p:nvPr/>
        </p:nvSpPr>
        <p:spPr>
          <a:xfrm>
            <a:off x="566928" y="2670048"/>
            <a:ext cx="457200" cy="438912"/>
          </a:xfrm>
          <a:prstGeom prst="roundRect">
            <a:avLst>
              <a:gd name="adj" fmla="val 5000"/>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ody:39"/>
          <p:cNvSpPr txBox="1"/>
          <p:nvPr/>
        </p:nvSpPr>
        <p:spPr>
          <a:xfrm>
            <a:off x="566928" y="2670048"/>
            <a:ext cx="457200" cy="438912"/>
          </a:xfrm>
          <a:prstGeom prst="rect">
            <a:avLst/>
          </a:prstGeom>
          <a:noFill/>
        </p:spPr>
        <p:txBody>
          <a:bodyPr wrap="square" lIns="22860" rIns="22860" tIns="22860" bIns="22860" anchor="ctr">
            <a:spAutoFit/>
          </a:bodyPr>
          <a:lstStyle/>
          <a:p>
            <a:pPr algn="ctr">
              <a:lnSpc>
                <a:spcPct val="108000"/>
              </a:lnSpc>
            </a:pPr>
            <a:r>
              <a:rPr sz="1800" b="1">
                <a:solidFill>
                  <a:srgbClr val="3A6391"/>
                </a:solidFill>
                <a:latin typeface="Arial"/>
              </a:rPr>
              <a:t>o</a:t>
            </a:r>
          </a:p>
        </p:txBody>
      </p:sp>
      <p:sp>
        <p:nvSpPr>
          <p:cNvPr id="41" name="body:40"/>
          <p:cNvSpPr txBox="1"/>
          <p:nvPr/>
        </p:nvSpPr>
        <p:spPr>
          <a:xfrm>
            <a:off x="1133856" y="2670048"/>
            <a:ext cx="1417320" cy="438912"/>
          </a:xfrm>
          <a:prstGeom prst="rect">
            <a:avLst/>
          </a:prstGeom>
          <a:noFill/>
        </p:spPr>
        <p:txBody>
          <a:bodyPr wrap="square" lIns="22860" rIns="22860" tIns="22860" bIns="22860" anchor="ctr">
            <a:spAutoFit/>
          </a:bodyPr>
          <a:lstStyle/>
          <a:p>
            <a:pPr algn="l">
              <a:lnSpc>
                <a:spcPct val="108000"/>
              </a:lnSpc>
            </a:pPr>
            <a:r>
              <a:rPr sz="1400" b="1">
                <a:solidFill>
                  <a:srgbClr val="172D46"/>
                </a:solidFill>
                <a:latin typeface="Arial"/>
              </a:rPr>
              <a:t>Observation</a:t>
            </a:r>
          </a:p>
        </p:txBody>
      </p:sp>
      <p:sp>
        <p:nvSpPr>
          <p:cNvPr id="42" name="body:41"/>
          <p:cNvSpPr txBox="1"/>
          <p:nvPr/>
        </p:nvSpPr>
        <p:spPr>
          <a:xfrm>
            <a:off x="2532888" y="2670048"/>
            <a:ext cx="3429000" cy="438912"/>
          </a:xfrm>
          <a:prstGeom prst="rect">
            <a:avLst/>
          </a:prstGeom>
          <a:noFill/>
        </p:spPr>
        <p:txBody>
          <a:bodyPr wrap="square" lIns="22860" rIns="22860" tIns="22860" bIns="22860" anchor="ctr">
            <a:spAutoFit/>
          </a:bodyPr>
          <a:lstStyle/>
          <a:p>
            <a:pPr algn="l">
              <a:lnSpc>
                <a:spcPct val="100000"/>
              </a:lnSpc>
            </a:pPr>
            <a:r>
              <a:rPr sz="1200" b="0">
                <a:solidFill>
                  <a:srgbClr val="22313F"/>
                </a:solidFill>
                <a:latin typeface="Arial"/>
              </a:rPr>
              <a:t>tool outputs, errors such as a 503, trusted human replies</a:t>
            </a:r>
          </a:p>
        </p:txBody>
      </p:sp>
      <p:sp>
        <p:nvSpPr>
          <p:cNvPr id="43" name="Rounded Rectangle 42"/>
          <p:cNvSpPr/>
          <p:nvPr/>
        </p:nvSpPr>
        <p:spPr>
          <a:xfrm>
            <a:off x="566928" y="3182112"/>
            <a:ext cx="457200" cy="438912"/>
          </a:xfrm>
          <a:prstGeom prst="roundRect">
            <a:avLst>
              <a:gd name="adj" fmla="val 5000"/>
            </a:avLst>
          </a:prstGeom>
          <a:solidFill>
            <a:srgbClr val="E1F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ody:43"/>
          <p:cNvSpPr txBox="1"/>
          <p:nvPr/>
        </p:nvSpPr>
        <p:spPr>
          <a:xfrm>
            <a:off x="566928" y="3182112"/>
            <a:ext cx="457200" cy="438912"/>
          </a:xfrm>
          <a:prstGeom prst="rect">
            <a:avLst/>
          </a:prstGeom>
          <a:noFill/>
        </p:spPr>
        <p:txBody>
          <a:bodyPr wrap="square" lIns="22860" rIns="22860" tIns="22860" bIns="22860" anchor="ctr">
            <a:spAutoFit/>
          </a:bodyPr>
          <a:lstStyle/>
          <a:p>
            <a:pPr algn="ctr">
              <a:lnSpc>
                <a:spcPct val="108000"/>
              </a:lnSpc>
            </a:pPr>
            <a:r>
              <a:rPr sz="1800" b="1">
                <a:solidFill>
                  <a:srgbClr val="1E7A72"/>
                </a:solidFill>
                <a:latin typeface="Arial"/>
              </a:rPr>
              <a:t>a</a:t>
            </a:r>
          </a:p>
        </p:txBody>
      </p:sp>
      <p:sp>
        <p:nvSpPr>
          <p:cNvPr id="45" name="body:44"/>
          <p:cNvSpPr txBox="1"/>
          <p:nvPr/>
        </p:nvSpPr>
        <p:spPr>
          <a:xfrm>
            <a:off x="1133856" y="3182112"/>
            <a:ext cx="1417320" cy="438912"/>
          </a:xfrm>
          <a:prstGeom prst="rect">
            <a:avLst/>
          </a:prstGeom>
          <a:noFill/>
        </p:spPr>
        <p:txBody>
          <a:bodyPr wrap="square" lIns="22860" rIns="22860" tIns="22860" bIns="22860" anchor="ctr">
            <a:spAutoFit/>
          </a:bodyPr>
          <a:lstStyle/>
          <a:p>
            <a:pPr algn="l">
              <a:lnSpc>
                <a:spcPct val="108000"/>
              </a:lnSpc>
            </a:pPr>
            <a:r>
              <a:rPr sz="1400" b="1">
                <a:solidFill>
                  <a:srgbClr val="172D46"/>
                </a:solidFill>
                <a:latin typeface="Arial"/>
              </a:rPr>
              <a:t>Action</a:t>
            </a:r>
          </a:p>
        </p:txBody>
      </p:sp>
      <p:sp>
        <p:nvSpPr>
          <p:cNvPr id="46" name="body:45"/>
          <p:cNvSpPr txBox="1"/>
          <p:nvPr/>
        </p:nvSpPr>
        <p:spPr>
          <a:xfrm>
            <a:off x="2532888" y="3182112"/>
            <a:ext cx="3429000" cy="438912"/>
          </a:xfrm>
          <a:prstGeom prst="rect">
            <a:avLst/>
          </a:prstGeom>
          <a:noFill/>
        </p:spPr>
        <p:txBody>
          <a:bodyPr wrap="square" lIns="22860" rIns="22860" tIns="22860" bIns="22860" anchor="ctr">
            <a:spAutoFit/>
          </a:bodyPr>
          <a:lstStyle/>
          <a:p>
            <a:pPr algn="l">
              <a:lnSpc>
                <a:spcPct val="100000"/>
              </a:lnSpc>
            </a:pPr>
            <a:r>
              <a:rPr sz="1200" b="0">
                <a:solidFill>
                  <a:srgbClr val="22313F"/>
                </a:solidFill>
                <a:latin typeface="Arial"/>
              </a:rPr>
              <a:t>execute · probe · ASK(resource) · STOP with evidence</a:t>
            </a:r>
          </a:p>
        </p:txBody>
      </p:sp>
      <p:sp>
        <p:nvSpPr>
          <p:cNvPr id="47" name="Rounded Rectangle 46"/>
          <p:cNvSpPr/>
          <p:nvPr/>
        </p:nvSpPr>
        <p:spPr>
          <a:xfrm>
            <a:off x="566928" y="3694176"/>
            <a:ext cx="457200" cy="438912"/>
          </a:xfrm>
          <a:prstGeom prst="roundRect">
            <a:avLst>
              <a:gd name="adj" fmla="val 5000"/>
            </a:avLst>
          </a:prstGeom>
          <a:solidFill>
            <a:srgbClr val="F8E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ody:47"/>
          <p:cNvSpPr txBox="1"/>
          <p:nvPr/>
        </p:nvSpPr>
        <p:spPr>
          <a:xfrm>
            <a:off x="566928" y="3694176"/>
            <a:ext cx="457200" cy="438912"/>
          </a:xfrm>
          <a:prstGeom prst="rect">
            <a:avLst/>
          </a:prstGeom>
          <a:noFill/>
        </p:spPr>
        <p:txBody>
          <a:bodyPr wrap="square" lIns="22860" rIns="22860" tIns="22860" bIns="22860" anchor="ctr">
            <a:spAutoFit/>
          </a:bodyPr>
          <a:lstStyle/>
          <a:p>
            <a:pPr algn="ctr">
              <a:lnSpc>
                <a:spcPct val="108000"/>
              </a:lnSpc>
            </a:pPr>
            <a:r>
              <a:rPr sz="1800" b="1">
                <a:solidFill>
                  <a:srgbClr val="B4602E"/>
                </a:solidFill>
                <a:latin typeface="Arial"/>
              </a:rPr>
              <a:t>e</a:t>
            </a:r>
          </a:p>
        </p:txBody>
      </p:sp>
      <p:sp>
        <p:nvSpPr>
          <p:cNvPr id="49" name="body:48"/>
          <p:cNvSpPr txBox="1"/>
          <p:nvPr/>
        </p:nvSpPr>
        <p:spPr>
          <a:xfrm>
            <a:off x="1133856" y="3694176"/>
            <a:ext cx="1417320" cy="438912"/>
          </a:xfrm>
          <a:prstGeom prst="rect">
            <a:avLst/>
          </a:prstGeom>
          <a:noFill/>
        </p:spPr>
        <p:txBody>
          <a:bodyPr wrap="square" lIns="22860" rIns="22860" tIns="22860" bIns="22860" anchor="ctr">
            <a:spAutoFit/>
          </a:bodyPr>
          <a:lstStyle/>
          <a:p>
            <a:pPr algn="l">
              <a:lnSpc>
                <a:spcPct val="108000"/>
              </a:lnSpc>
            </a:pPr>
            <a:r>
              <a:rPr sz="1400" b="1">
                <a:solidFill>
                  <a:srgbClr val="172D46"/>
                </a:solidFill>
                <a:latin typeface="Arial"/>
              </a:rPr>
              <a:t>Effect</a:t>
            </a:r>
          </a:p>
        </p:txBody>
      </p:sp>
      <p:sp>
        <p:nvSpPr>
          <p:cNvPr id="50" name="body:49"/>
          <p:cNvSpPr txBox="1"/>
          <p:nvPr/>
        </p:nvSpPr>
        <p:spPr>
          <a:xfrm>
            <a:off x="2532888" y="3694176"/>
            <a:ext cx="3429000" cy="438912"/>
          </a:xfrm>
          <a:prstGeom prst="rect">
            <a:avLst/>
          </a:prstGeom>
          <a:noFill/>
        </p:spPr>
        <p:txBody>
          <a:bodyPr wrap="square" lIns="22860" rIns="22860" tIns="22860" bIns="22860" anchor="ctr">
            <a:spAutoFit/>
          </a:bodyPr>
          <a:lstStyle/>
          <a:p>
            <a:pPr algn="l">
              <a:lnSpc>
                <a:spcPct val="100000"/>
              </a:lnSpc>
            </a:pPr>
            <a:r>
              <a:rPr sz="1200" b="0">
                <a:solidFill>
                  <a:srgbClr val="22313F"/>
                </a:solidFill>
                <a:latin typeface="Arial"/>
              </a:rPr>
              <a:t>what the action touched; journaled by the service, not the agent</a:t>
            </a:r>
          </a:p>
        </p:txBody>
      </p:sp>
      <p:sp>
        <p:nvSpPr>
          <p:cNvPr id="51" name="Rectangle 50"/>
          <p:cNvSpPr/>
          <p:nvPr/>
        </p:nvSpPr>
        <p:spPr>
          <a:xfrm>
            <a:off x="566928" y="4261104"/>
            <a:ext cx="5394960" cy="1261872"/>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ody:51"/>
          <p:cNvSpPr txBox="1"/>
          <p:nvPr/>
        </p:nvSpPr>
        <p:spPr>
          <a:xfrm>
            <a:off x="731520" y="4315968"/>
            <a:ext cx="2103120" cy="365760"/>
          </a:xfrm>
          <a:prstGeom prst="rect">
            <a:avLst/>
          </a:prstGeom>
          <a:noFill/>
        </p:spPr>
        <p:txBody>
          <a:bodyPr wrap="square" lIns="22860" rIns="22860" tIns="22860" bIns="22860" anchor="ctr">
            <a:spAutoFit/>
          </a:bodyPr>
          <a:lstStyle/>
          <a:p>
            <a:pPr algn="l">
              <a:lnSpc>
                <a:spcPct val="108000"/>
              </a:lnSpc>
            </a:pPr>
            <a:r>
              <a:rPr sz="1500" b="1">
                <a:solidFill>
                  <a:srgbClr val="172D46"/>
                </a:solidFill>
                <a:latin typeface="Arial"/>
              </a:rPr>
              <a:t>Controller state</a:t>
            </a:r>
          </a:p>
        </p:txBody>
      </p:sp>
      <p:pic>
        <p:nvPicPr>
          <p:cNvPr id="53" name="math:52" descr="f01.png"/>
          <p:cNvPicPr>
            <a:picLocks noChangeAspect="1"/>
          </p:cNvPicPr>
          <p:nvPr/>
        </p:nvPicPr>
        <p:blipFill>
          <a:blip r:embed="rId4"/>
          <a:stretch>
            <a:fillRect/>
          </a:stretch>
        </p:blipFill>
        <p:spPr>
          <a:xfrm>
            <a:off x="2807208" y="4376928"/>
            <a:ext cx="1197864" cy="243840"/>
          </a:xfrm>
          <a:prstGeom prst="rect">
            <a:avLst/>
          </a:prstGeom>
        </p:spPr>
      </p:pic>
      <p:pic>
        <p:nvPicPr>
          <p:cNvPr id="54" name="math:53" descr="f02.png"/>
          <p:cNvPicPr>
            <a:picLocks noChangeAspect="1"/>
          </p:cNvPicPr>
          <p:nvPr/>
        </p:nvPicPr>
        <p:blipFill>
          <a:blip r:embed="rId5"/>
          <a:stretch>
            <a:fillRect/>
          </a:stretch>
        </p:blipFill>
        <p:spPr>
          <a:xfrm>
            <a:off x="731520" y="4700016"/>
            <a:ext cx="5120640" cy="186798"/>
          </a:xfrm>
          <a:prstGeom prst="rect">
            <a:avLst/>
          </a:prstGeom>
        </p:spPr>
      </p:pic>
      <p:pic>
        <p:nvPicPr>
          <p:cNvPr id="55" name="math:54" descr="f03.png"/>
          <p:cNvPicPr>
            <a:picLocks noChangeAspect="1"/>
          </p:cNvPicPr>
          <p:nvPr/>
        </p:nvPicPr>
        <p:blipFill>
          <a:blip r:embed="rId6"/>
          <a:stretch>
            <a:fillRect/>
          </a:stretch>
        </p:blipFill>
        <p:spPr>
          <a:xfrm>
            <a:off x="731520" y="5047488"/>
            <a:ext cx="1929384" cy="192024"/>
          </a:xfrm>
          <a:prstGeom prst="rect">
            <a:avLst/>
          </a:prstGeom>
        </p:spPr>
      </p:pic>
      <p:sp>
        <p:nvSpPr>
          <p:cNvPr id="56" name="Rectangle 55"/>
          <p:cNvSpPr/>
          <p:nvPr/>
        </p:nvSpPr>
        <p:spPr>
          <a:xfrm>
            <a:off x="6217920" y="2157984"/>
            <a:ext cx="5404104" cy="1737360"/>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217920" y="2157984"/>
            <a:ext cx="82296" cy="173736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label:57"/>
          <p:cNvSpPr txBox="1"/>
          <p:nvPr/>
        </p:nvSpPr>
        <p:spPr>
          <a:xfrm>
            <a:off x="6455664" y="2267712"/>
            <a:ext cx="5038344" cy="256032"/>
          </a:xfrm>
          <a:prstGeom prst="rect">
            <a:avLst/>
          </a:prstGeom>
          <a:noFill/>
        </p:spPr>
        <p:txBody>
          <a:bodyPr wrap="square" lIns="22860" rIns="22860" tIns="22860" bIns="22860" anchor="ctr">
            <a:spAutoFit/>
          </a:bodyPr>
          <a:lstStyle/>
          <a:p>
            <a:pPr algn="l">
              <a:lnSpc>
                <a:spcPct val="108000"/>
              </a:lnSpc>
            </a:pPr>
            <a:r>
              <a:rPr sz="1100" b="1">
                <a:solidFill>
                  <a:srgbClr val="1E7A72"/>
                </a:solidFill>
                <a:latin typeface="Arial"/>
              </a:rPr>
              <a:t>BELLMAN EQUATION ON THE CONTROLLER STATE</a:t>
            </a:r>
          </a:p>
        </p:txBody>
      </p:sp>
      <p:pic>
        <p:nvPicPr>
          <p:cNvPr id="59" name="math:58" descr="f04.png"/>
          <p:cNvPicPr>
            <a:picLocks noChangeAspect="1"/>
          </p:cNvPicPr>
          <p:nvPr/>
        </p:nvPicPr>
        <p:blipFill>
          <a:blip r:embed="rId7"/>
          <a:stretch>
            <a:fillRect/>
          </a:stretch>
        </p:blipFill>
        <p:spPr>
          <a:xfrm>
            <a:off x="6473952" y="2595371"/>
            <a:ext cx="3395472" cy="374904"/>
          </a:xfrm>
          <a:prstGeom prst="rect">
            <a:avLst/>
          </a:prstGeom>
        </p:spPr>
      </p:pic>
      <p:pic>
        <p:nvPicPr>
          <p:cNvPr id="60" name="math:59" descr="f05.png"/>
          <p:cNvPicPr>
            <a:picLocks noChangeAspect="1"/>
          </p:cNvPicPr>
          <p:nvPr/>
        </p:nvPicPr>
        <p:blipFill>
          <a:blip r:embed="rId8"/>
          <a:stretch>
            <a:fillRect/>
          </a:stretch>
        </p:blipFill>
        <p:spPr>
          <a:xfrm>
            <a:off x="6473952" y="3080004"/>
            <a:ext cx="3422904" cy="286512"/>
          </a:xfrm>
          <a:prstGeom prst="rect">
            <a:avLst/>
          </a:prstGeom>
        </p:spPr>
      </p:pic>
      <p:sp>
        <p:nvSpPr>
          <p:cNvPr id="61" name="caption:60"/>
          <p:cNvSpPr txBox="1"/>
          <p:nvPr/>
        </p:nvSpPr>
        <p:spPr>
          <a:xfrm>
            <a:off x="6455664" y="3419856"/>
            <a:ext cx="5020056" cy="420624"/>
          </a:xfrm>
          <a:prstGeom prst="rect">
            <a:avLst/>
          </a:prstGeom>
          <a:noFill/>
        </p:spPr>
        <p:txBody>
          <a:bodyPr wrap="square" lIns="22860" rIns="22860" tIns="22860" bIns="22860" anchor="t">
            <a:spAutoFit/>
          </a:bodyPr>
          <a:lstStyle/>
          <a:p>
            <a:pPr algn="l">
              <a:lnSpc>
                <a:spcPct val="105000"/>
              </a:lnSpc>
            </a:pPr>
            <a:r>
              <a:rPr sz="1100" b="0">
                <a:solidFill>
                  <a:srgbClr val="B9C8D8"/>
                </a:solidFill>
                <a:latin typeface="Arial"/>
              </a:rPr>
              <a:t>A(g): permitted execution, permitted diagnostics, permitted requests, termination. Terminal payoffs fixed in advance.</a:t>
            </a:r>
          </a:p>
        </p:txBody>
      </p:sp>
      <p:sp>
        <p:nvSpPr>
          <p:cNvPr id="62" name="Rectangle 61"/>
          <p:cNvSpPr/>
          <p:nvPr/>
        </p:nvSpPr>
        <p:spPr>
          <a:xfrm>
            <a:off x="6217920" y="4023360"/>
            <a:ext cx="5404104" cy="1572768"/>
          </a:xfrm>
          <a:prstGeom prst="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ody:62"/>
          <p:cNvSpPr txBox="1"/>
          <p:nvPr/>
        </p:nvSpPr>
        <p:spPr>
          <a:xfrm>
            <a:off x="6400800" y="4096512"/>
            <a:ext cx="5029200" cy="310896"/>
          </a:xfrm>
          <a:prstGeom prst="rect">
            <a:avLst/>
          </a:prstGeom>
          <a:noFill/>
        </p:spPr>
        <p:txBody>
          <a:bodyPr wrap="square" lIns="22860" rIns="22860" tIns="22860" bIns="22860" anchor="ctr">
            <a:spAutoFit/>
          </a:bodyPr>
          <a:lstStyle/>
          <a:p>
            <a:pPr algn="l">
              <a:lnSpc>
                <a:spcPct val="108000"/>
              </a:lnSpc>
            </a:pPr>
            <a:r>
              <a:rPr sz="1400" b="1">
                <a:solidFill>
                  <a:srgbClr val="172D46"/>
                </a:solidFill>
                <a:latin typeface="Arial"/>
              </a:rPr>
              <a:t>Three readings of one 503</a:t>
            </a:r>
          </a:p>
        </p:txBody>
      </p:sp>
      <p:sp>
        <p:nvSpPr>
          <p:cNvPr id="64" name="Rounded Rectangle 63"/>
          <p:cNvSpPr/>
          <p:nvPr/>
        </p:nvSpPr>
        <p:spPr>
          <a:xfrm>
            <a:off x="6400800" y="4489704"/>
            <a:ext cx="960120" cy="256032"/>
          </a:xfrm>
          <a:prstGeom prst="roundRect">
            <a:avLst>
              <a:gd name="adj" fmla="val 5000"/>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label:64"/>
          <p:cNvSpPr txBox="1"/>
          <p:nvPr/>
        </p:nvSpPr>
        <p:spPr>
          <a:xfrm>
            <a:off x="6455664" y="4489704"/>
            <a:ext cx="850392" cy="256032"/>
          </a:xfrm>
          <a:prstGeom prst="rect">
            <a:avLst/>
          </a:prstGeom>
          <a:noFill/>
        </p:spPr>
        <p:txBody>
          <a:bodyPr wrap="square" lIns="22860" rIns="22860" tIns="22860" bIns="22860" anchor="ctr">
            <a:spAutoFit/>
          </a:bodyPr>
          <a:lstStyle/>
          <a:p>
            <a:pPr algn="ctr">
              <a:lnSpc>
                <a:spcPct val="108000"/>
              </a:lnSpc>
            </a:pPr>
            <a:r>
              <a:rPr sz="950" b="1">
                <a:solidFill>
                  <a:srgbClr val="3A6391"/>
                </a:solidFill>
                <a:latin typeface="Arial"/>
              </a:rPr>
              <a:t>Epistemic</a:t>
            </a:r>
          </a:p>
        </p:txBody>
      </p:sp>
      <p:pic>
        <p:nvPicPr>
          <p:cNvPr id="66" name="math:65" descr="f06.png"/>
          <p:cNvPicPr>
            <a:picLocks noChangeAspect="1"/>
          </p:cNvPicPr>
          <p:nvPr/>
        </p:nvPicPr>
        <p:blipFill>
          <a:blip r:embed="rId9"/>
          <a:stretch>
            <a:fillRect/>
          </a:stretch>
        </p:blipFill>
        <p:spPr>
          <a:xfrm>
            <a:off x="7452360" y="4521708"/>
            <a:ext cx="2670048" cy="192024"/>
          </a:xfrm>
          <a:prstGeom prst="rect">
            <a:avLst/>
          </a:prstGeom>
        </p:spPr>
      </p:pic>
      <p:sp>
        <p:nvSpPr>
          <p:cNvPr id="67" name="Rounded Rectangle 66"/>
          <p:cNvSpPr/>
          <p:nvPr/>
        </p:nvSpPr>
        <p:spPr>
          <a:xfrm>
            <a:off x="6400800" y="4855464"/>
            <a:ext cx="960120" cy="256032"/>
          </a:xfrm>
          <a:prstGeom prst="roundRect">
            <a:avLst>
              <a:gd name="adj" fmla="val 5000"/>
            </a:avLst>
          </a:prstGeom>
          <a:solidFill>
            <a:srgbClr val="E1F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label:67"/>
          <p:cNvSpPr txBox="1"/>
          <p:nvPr/>
        </p:nvSpPr>
        <p:spPr>
          <a:xfrm>
            <a:off x="6455664" y="4855464"/>
            <a:ext cx="850392" cy="256032"/>
          </a:xfrm>
          <a:prstGeom prst="rect">
            <a:avLst/>
          </a:prstGeom>
          <a:noFill/>
        </p:spPr>
        <p:txBody>
          <a:bodyPr wrap="square" lIns="22860" rIns="22860" tIns="22860" bIns="22860" anchor="ctr">
            <a:spAutoFit/>
          </a:bodyPr>
          <a:lstStyle/>
          <a:p>
            <a:pPr algn="ctr">
              <a:lnSpc>
                <a:spcPct val="108000"/>
              </a:lnSpc>
            </a:pPr>
            <a:r>
              <a:rPr sz="950" b="1">
                <a:solidFill>
                  <a:srgbClr val="1E7A72"/>
                </a:solidFill>
                <a:latin typeface="Arial"/>
              </a:rPr>
              <a:t>Deontic</a:t>
            </a:r>
          </a:p>
        </p:txBody>
      </p:sp>
      <p:pic>
        <p:nvPicPr>
          <p:cNvPr id="69" name="math:68" descr="f07.png"/>
          <p:cNvPicPr>
            <a:picLocks noChangeAspect="1"/>
          </p:cNvPicPr>
          <p:nvPr/>
        </p:nvPicPr>
        <p:blipFill>
          <a:blip r:embed="rId10"/>
          <a:stretch>
            <a:fillRect/>
          </a:stretch>
        </p:blipFill>
        <p:spPr>
          <a:xfrm>
            <a:off x="7452360" y="4887468"/>
            <a:ext cx="2261616" cy="192024"/>
          </a:xfrm>
          <a:prstGeom prst="rect">
            <a:avLst/>
          </a:prstGeom>
        </p:spPr>
      </p:pic>
      <p:sp>
        <p:nvSpPr>
          <p:cNvPr id="70" name="Rounded Rectangle 69"/>
          <p:cNvSpPr/>
          <p:nvPr/>
        </p:nvSpPr>
        <p:spPr>
          <a:xfrm>
            <a:off x="6400800" y="5221224"/>
            <a:ext cx="960120" cy="256032"/>
          </a:xfrm>
          <a:prstGeom prst="roundRect">
            <a:avLst>
              <a:gd name="adj" fmla="val 5000"/>
            </a:avLst>
          </a:prstGeom>
          <a:solidFill>
            <a:srgbClr val="F8E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label:70"/>
          <p:cNvSpPr txBox="1"/>
          <p:nvPr/>
        </p:nvSpPr>
        <p:spPr>
          <a:xfrm>
            <a:off x="6455664" y="5221224"/>
            <a:ext cx="850392" cy="256032"/>
          </a:xfrm>
          <a:prstGeom prst="rect">
            <a:avLst/>
          </a:prstGeom>
          <a:noFill/>
        </p:spPr>
        <p:txBody>
          <a:bodyPr wrap="square" lIns="22860" rIns="22860" tIns="22860" bIns="22860" anchor="ctr">
            <a:spAutoFit/>
          </a:bodyPr>
          <a:lstStyle/>
          <a:p>
            <a:pPr algn="ctr">
              <a:lnSpc>
                <a:spcPct val="108000"/>
              </a:lnSpc>
            </a:pPr>
            <a:r>
              <a:rPr sz="950" b="1">
                <a:solidFill>
                  <a:srgbClr val="B4602E"/>
                </a:solidFill>
                <a:latin typeface="Arial"/>
              </a:rPr>
              <a:t>Evaluative</a:t>
            </a:r>
          </a:p>
        </p:txBody>
      </p:sp>
      <p:pic>
        <p:nvPicPr>
          <p:cNvPr id="72" name="math:71" descr="f08.png"/>
          <p:cNvPicPr>
            <a:picLocks noChangeAspect="1"/>
          </p:cNvPicPr>
          <p:nvPr/>
        </p:nvPicPr>
        <p:blipFill>
          <a:blip r:embed="rId11"/>
          <a:stretch>
            <a:fillRect/>
          </a:stretch>
        </p:blipFill>
        <p:spPr>
          <a:xfrm>
            <a:off x="7452360" y="5253228"/>
            <a:ext cx="3355848" cy="192024"/>
          </a:xfrm>
          <a:prstGeom prst="rect">
            <a:avLst/>
          </a:prstGeom>
        </p:spPr>
      </p:pic>
      <p:sp>
        <p:nvSpPr>
          <p:cNvPr id="73" name="Rounded Rectangle 72"/>
          <p:cNvSpPr/>
          <p:nvPr/>
        </p:nvSpPr>
        <p:spPr>
          <a:xfrm>
            <a:off x="566928" y="5715000"/>
            <a:ext cx="11055096" cy="548640"/>
          </a:xfrm>
          <a:prstGeom prst="roundRect">
            <a:avLst>
              <a:gd name="adj" fmla="val 5000"/>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ody:73"/>
          <p:cNvSpPr txBox="1"/>
          <p:nvPr/>
        </p:nvSpPr>
        <p:spPr>
          <a:xfrm>
            <a:off x="768096" y="5742432"/>
            <a:ext cx="10652760" cy="493776"/>
          </a:xfrm>
          <a:prstGeom prst="rect">
            <a:avLst/>
          </a:prstGeom>
          <a:noFill/>
        </p:spPr>
        <p:txBody>
          <a:bodyPr wrap="square" lIns="22860" rIns="22860" tIns="22860" bIns="22860" anchor="ctr">
            <a:spAutoFit/>
          </a:bodyPr>
          <a:lstStyle/>
          <a:p>
            <a:pPr algn="l">
              <a:lnSpc>
                <a:spcPct val="108000"/>
              </a:lnSpc>
            </a:pPr>
            <a:r>
              <a:rPr sz="1600" b="1">
                <a:solidFill>
                  <a:srgbClr val="FFFFFF"/>
                </a:solidFill>
                <a:latin typeface="Arial"/>
              </a:rPr>
              <a:t>A failed tool call updates b</a:t>
            </a:r>
            <a:r>
              <a:rPr sz="1600" b="1" baseline="-25000">
                <a:solidFill>
                  <a:srgbClr val="FFFFFF"/>
                </a:solidFill>
                <a:latin typeface="Arial"/>
              </a:rPr>
              <a:t>t</a:t>
            </a:r>
            <a:r>
              <a:rPr sz="1600" b="1">
                <a:solidFill>
                  <a:srgbClr val="FFFFFF"/>
                </a:solidFill>
                <a:latin typeface="Arial"/>
              </a:rPr>
              <a:t>. It never updates g</a:t>
            </a:r>
            <a:r>
              <a:rPr sz="1600" b="1" baseline="-25000">
                <a:solidFill>
                  <a:srgbClr val="FFFFFF"/>
                </a:solidFill>
                <a:latin typeface="Arial"/>
              </a:rPr>
              <a:t>t</a:t>
            </a:r>
            <a:r>
              <a:rPr sz="1600" b="1">
                <a:solidFill>
                  <a:srgbClr val="FFFFFF"/>
                </a:solidFill>
                <a:latin typeface="Arial"/>
              </a:rPr>
              <a:t>. The grant is a constraint on effects, not a reward term.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label:2"/>
          <p:cNvSpPr txBox="1"/>
          <p:nvPr/>
        </p:nvSpPr>
        <p:spPr>
          <a:xfrm>
            <a:off x="566928" y="365760"/>
            <a:ext cx="10058400" cy="420624"/>
          </a:xfrm>
          <a:prstGeom prst="rect">
            <a:avLst/>
          </a:prstGeom>
          <a:noFill/>
        </p:spPr>
        <p:txBody>
          <a:bodyPr wrap="square" lIns="22860" rIns="22860" tIns="22860" bIns="22860" anchor="ctr">
            <a:spAutoFit/>
          </a:bodyPr>
          <a:lstStyle/>
          <a:p>
            <a:pPr algn="l">
              <a:lnSpc>
                <a:spcPct val="108000"/>
              </a:lnSpc>
            </a:pPr>
            <a:r>
              <a:rPr sz="1100" b="1">
                <a:solidFill>
                  <a:srgbClr val="1E7A72"/>
                </a:solidFill>
                <a:latin typeface="Arial"/>
              </a:rPr>
              <a:t>08 / OPTIMAL STOPPING WITH LEARNING</a:t>
            </a:r>
          </a:p>
        </p:txBody>
      </p:sp>
      <p:sp>
        <p:nvSpPr>
          <p:cNvPr id="4" name="title:3"/>
          <p:cNvSpPr txBox="1"/>
          <p:nvPr/>
        </p:nvSpPr>
        <p:spPr>
          <a:xfrm>
            <a:off x="566928" y="786384"/>
            <a:ext cx="11055096" cy="804672"/>
          </a:xfrm>
          <a:prstGeom prst="rect">
            <a:avLst/>
          </a:prstGeom>
          <a:noFill/>
        </p:spPr>
        <p:txBody>
          <a:bodyPr wrap="square" lIns="22860" rIns="22860" tIns="22860" bIns="22860" anchor="ctr">
            <a:spAutoFit/>
          </a:bodyPr>
          <a:lstStyle/>
          <a:p>
            <a:pPr algn="l">
              <a:lnSpc>
                <a:spcPct val="105000"/>
              </a:lnSpc>
            </a:pPr>
            <a:r>
              <a:rPr sz="2600" b="1">
                <a:solidFill>
                  <a:srgbClr val="172D46"/>
                </a:solidFill>
                <a:latin typeface="Arial"/>
              </a:rPr>
              <a:t>Result 1: each failure is evidence; stop at a posterior threshold.</a:t>
            </a:r>
          </a:p>
        </p:txBody>
      </p:sp>
      <p:sp>
        <p:nvSpPr>
          <p:cNvPr id="5" name="Rectangle 4"/>
          <p:cNvSpPr/>
          <p:nvPr/>
        </p:nvSpPr>
        <p:spPr>
          <a:xfrm>
            <a:off x="566928" y="1609344"/>
            <a:ext cx="868680" cy="4572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ubtitle:5"/>
          <p:cNvSpPr txBox="1"/>
          <p:nvPr/>
        </p:nvSpPr>
        <p:spPr>
          <a:xfrm>
            <a:off x="585216" y="1682496"/>
            <a:ext cx="11055096" cy="457200"/>
          </a:xfrm>
          <a:prstGeom prst="rect">
            <a:avLst/>
          </a:prstGeom>
          <a:noFill/>
        </p:spPr>
        <p:txBody>
          <a:bodyPr wrap="square" lIns="22860" rIns="22860" tIns="22860" bIns="22860" anchor="ctr">
            <a:spAutoFit/>
          </a:bodyPr>
          <a:lstStyle/>
          <a:p>
            <a:pPr algn="l">
              <a:lnSpc>
                <a:spcPct val="105000"/>
              </a:lnSpc>
            </a:pPr>
            <a:r>
              <a:rPr sz="1400" b="0">
                <a:solidFill>
                  <a:srgbClr val="5F6E80"/>
                </a:solidFill>
                <a:latin typeface="Arial"/>
              </a:rPr>
              <a:t>Exact toy: feasible with prior p</a:t>
            </a:r>
            <a:r>
              <a:rPr sz="1400" b="0" baseline="-25000">
                <a:solidFill>
                  <a:srgbClr val="5F6E80"/>
                </a:solidFill>
                <a:latin typeface="Arial"/>
              </a:rPr>
              <a:t>0</a:t>
            </a:r>
            <a:r>
              <a:rPr sz="1400" b="0">
                <a:solidFill>
                  <a:srgbClr val="5F6E80"/>
                </a:solidFill>
                <a:latin typeface="Arial"/>
              </a:rPr>
              <a:t> = 0.7; an attempt succeeds with probability q = 0.5 if feasible, costs c = 1; success R = 10; honest stop B = 2.</a:t>
            </a:r>
          </a:p>
        </p:txBody>
      </p:sp>
      <p:sp>
        <p:nvSpPr>
          <p:cNvPr id="7" name="source:6"/>
          <p:cNvSpPr txBox="1"/>
          <p:nvPr/>
        </p:nvSpPr>
        <p:spPr>
          <a:xfrm>
            <a:off x="566928" y="6400800"/>
            <a:ext cx="1033272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rPr>
              <a:t> </a:t>
            </a:r>
          </a:p>
        </p:txBody>
      </p:sp>
      <p:sp>
        <p:nvSpPr>
          <p:cNvPr id="8" name="source:7"/>
          <p:cNvSpPr txBox="1"/>
          <p:nvPr/>
        </p:nvSpPr>
        <p:spPr>
          <a:xfrm>
            <a:off x="10927080" y="6364224"/>
            <a:ext cx="694944" cy="265176"/>
          </a:xfrm>
          <a:prstGeom prst="rect">
            <a:avLst/>
          </a:prstGeom>
          <a:noFill/>
        </p:spPr>
        <p:txBody>
          <a:bodyPr wrap="square" lIns="22860" rIns="22860" tIns="22860" bIns="22860" anchor="ctr">
            <a:spAutoFit/>
          </a:bodyPr>
          <a:lstStyle/>
          <a:p>
            <a:pPr algn="ctr">
              <a:lnSpc>
                <a:spcPct val="108000"/>
              </a:lnSpc>
            </a:pPr>
            <a:r>
              <a:rPr sz="1000" b="1">
                <a:solidFill>
                  <a:srgbClr val="5F6E80"/>
                </a:solidFill>
                <a:latin typeface="Arial"/>
              </a:rPr>
              <a:t>10 / 22</a:t>
            </a:r>
          </a:p>
        </p:txBody>
      </p:sp>
      <p:sp>
        <p:nvSpPr>
          <p:cNvPr id="9" name="Rectangle 8"/>
          <p:cNvSpPr/>
          <p:nvPr/>
        </p:nvSpPr>
        <p:spPr>
          <a:xfrm>
            <a:off x="56692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7151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57609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80675"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8525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8984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9442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99005"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0358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0817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1275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17336"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2191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2650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63108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35666"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4024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4483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4941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153996"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65857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16316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104120" y="365760"/>
            <a:ext cx="1517904" cy="274320"/>
          </a:xfrm>
          <a:prstGeom prst="roundRect">
            <a:avLst>
              <a:gd name="adj" fmla="val 5000"/>
            </a:avLst>
          </a:prstGeom>
          <a:solidFill>
            <a:srgbClr val="F7EF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31"/>
          <p:cNvSpPr txBox="1"/>
          <p:nvPr/>
        </p:nvSpPr>
        <p:spPr>
          <a:xfrm>
            <a:off x="10158984" y="365760"/>
            <a:ext cx="1408176" cy="274320"/>
          </a:xfrm>
          <a:prstGeom prst="rect">
            <a:avLst/>
          </a:prstGeom>
          <a:noFill/>
        </p:spPr>
        <p:txBody>
          <a:bodyPr wrap="square" lIns="22860" rIns="22860" tIns="22860" bIns="22860" anchor="ctr">
            <a:spAutoFit/>
          </a:bodyPr>
          <a:lstStyle/>
          <a:p>
            <a:pPr algn="ctr">
              <a:lnSpc>
                <a:spcPct val="108000"/>
              </a:lnSpc>
            </a:pPr>
            <a:r>
              <a:rPr sz="1000" b="1">
                <a:solidFill>
                  <a:srgbClr val="A4761A"/>
                </a:solidFill>
                <a:latin typeface="Arial"/>
              </a:rPr>
              <a:t>EXACT TOY</a:t>
            </a:r>
          </a:p>
        </p:txBody>
      </p:sp>
      <p:sp>
        <p:nvSpPr>
          <p:cNvPr id="33" name="source:32"/>
          <p:cNvSpPr txBox="1"/>
          <p:nvPr/>
        </p:nvSpPr>
        <p:spPr>
          <a:xfrm>
            <a:off x="566928" y="6400800"/>
            <a:ext cx="420624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2"/>
              </a:rPr>
              <a:t>Monotone stopping: one-step look-ahead is optimal (Ferguson, ch. 5)</a:t>
            </a:r>
          </a:p>
        </p:txBody>
      </p:sp>
      <p:sp>
        <p:nvSpPr>
          <p:cNvPr id="34" name="source:33"/>
          <p:cNvSpPr txBox="1"/>
          <p:nvPr/>
        </p:nvSpPr>
        <p:spPr>
          <a:xfrm>
            <a:off x="4919472" y="6400800"/>
            <a:ext cx="146304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3"/>
              </a:rPr>
              <a:t>Project X1 design</a:t>
            </a:r>
          </a:p>
        </p:txBody>
      </p:sp>
      <p:sp>
        <p:nvSpPr>
          <p:cNvPr id="35" name="Rectangle 34"/>
          <p:cNvSpPr/>
          <p:nvPr/>
        </p:nvSpPr>
        <p:spPr>
          <a:xfrm>
            <a:off x="566928" y="2157984"/>
            <a:ext cx="5532120" cy="3383280"/>
          </a:xfrm>
          <a:prstGeom prst="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2157984"/>
            <a:ext cx="64008" cy="338328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body:36"/>
          <p:cNvSpPr txBox="1"/>
          <p:nvPr/>
        </p:nvSpPr>
        <p:spPr>
          <a:xfrm>
            <a:off x="795528" y="2249424"/>
            <a:ext cx="5120640" cy="329184"/>
          </a:xfrm>
          <a:prstGeom prst="rect">
            <a:avLst/>
          </a:prstGeom>
          <a:noFill/>
        </p:spPr>
        <p:txBody>
          <a:bodyPr wrap="square" lIns="22860" rIns="22860" tIns="22860" bIns="22860" anchor="ctr">
            <a:spAutoFit/>
          </a:bodyPr>
          <a:lstStyle/>
          <a:p>
            <a:pPr algn="l">
              <a:lnSpc>
                <a:spcPct val="108000"/>
              </a:lnSpc>
            </a:pPr>
            <a:r>
              <a:rPr sz="1400" b="1">
                <a:solidFill>
                  <a:srgbClr val="172D46"/>
                </a:solidFill>
                <a:latin typeface="Arial"/>
              </a:rPr>
              <a:t>Posterior that the route is feasible, after each failure</a:t>
            </a:r>
          </a:p>
        </p:txBody>
      </p:sp>
      <p:sp>
        <p:nvSpPr>
          <p:cNvPr id="38" name="Rectangle 37"/>
          <p:cNvSpPr/>
          <p:nvPr/>
        </p:nvSpPr>
        <p:spPr>
          <a:xfrm>
            <a:off x="1435607" y="4591202"/>
            <a:ext cx="4297679" cy="16459"/>
          </a:xfrm>
          <a:prstGeom prst="rect">
            <a:avLst/>
          </a:prstGeom>
          <a:solidFill>
            <a:srgbClr val="2231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427378" y="2697480"/>
            <a:ext cx="16459" cy="1901952"/>
          </a:xfrm>
          <a:prstGeom prst="rect">
            <a:avLst/>
          </a:prstGeom>
          <a:solidFill>
            <a:srgbClr val="2231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435607" y="4112513"/>
            <a:ext cx="73152" cy="22860"/>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563624" y="4112513"/>
            <a:ext cx="73152" cy="22860"/>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691640" y="4112513"/>
            <a:ext cx="73152" cy="22860"/>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819656" y="4112513"/>
            <a:ext cx="73152" cy="22860"/>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947672" y="4112513"/>
            <a:ext cx="73152" cy="22860"/>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2075688" y="4112513"/>
            <a:ext cx="73152" cy="22860"/>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203704" y="4112513"/>
            <a:ext cx="73152" cy="22860"/>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331720" y="4112513"/>
            <a:ext cx="73152" cy="22860"/>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459736" y="4112513"/>
            <a:ext cx="73152" cy="22860"/>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587752" y="4112513"/>
            <a:ext cx="73152" cy="22860"/>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715768" y="4112513"/>
            <a:ext cx="73152" cy="22860"/>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843784" y="4112513"/>
            <a:ext cx="73152" cy="22860"/>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2971800" y="4112513"/>
            <a:ext cx="73152" cy="22860"/>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3099816" y="4112513"/>
            <a:ext cx="73152" cy="22860"/>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3227832" y="4112513"/>
            <a:ext cx="73152" cy="22860"/>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3355848" y="4112513"/>
            <a:ext cx="73152" cy="22860"/>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3483864" y="4112513"/>
            <a:ext cx="73152" cy="22860"/>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3611880" y="4112513"/>
            <a:ext cx="73152" cy="22860"/>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3739896" y="4112513"/>
            <a:ext cx="73152" cy="22860"/>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3867912" y="4112513"/>
            <a:ext cx="73152" cy="22860"/>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3995928" y="4112513"/>
            <a:ext cx="73152" cy="22860"/>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123944" y="4112513"/>
            <a:ext cx="73152" cy="22860"/>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251960" y="4112513"/>
            <a:ext cx="73152" cy="22860"/>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379976" y="4112513"/>
            <a:ext cx="73152" cy="22860"/>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507992" y="4112513"/>
            <a:ext cx="73152" cy="22860"/>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636007" y="4112513"/>
            <a:ext cx="73152" cy="22860"/>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764023" y="4112513"/>
            <a:ext cx="73152" cy="22860"/>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892039" y="4112513"/>
            <a:ext cx="73152" cy="22860"/>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020055" y="4112513"/>
            <a:ext cx="73152" cy="22860"/>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148071" y="4112513"/>
            <a:ext cx="73152" cy="22860"/>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276087" y="4112513"/>
            <a:ext cx="73152" cy="22860"/>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5404103" y="4112513"/>
            <a:ext cx="73152" cy="22860"/>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532119" y="4112513"/>
            <a:ext cx="73152" cy="22860"/>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5660135" y="4112513"/>
            <a:ext cx="73152" cy="22860"/>
          </a:xfrm>
          <a:prstGeom prst="rect">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4" name="math:73" descr="f09.png"/>
          <p:cNvPicPr>
            <a:picLocks noChangeAspect="1"/>
          </p:cNvPicPr>
          <p:nvPr/>
        </p:nvPicPr>
        <p:blipFill>
          <a:blip r:embed="rId4"/>
          <a:stretch>
            <a:fillRect/>
          </a:stretch>
        </p:blipFill>
        <p:spPr>
          <a:xfrm>
            <a:off x="4648200" y="3794759"/>
            <a:ext cx="1085088" cy="192024"/>
          </a:xfrm>
          <a:prstGeom prst="rect">
            <a:avLst/>
          </a:prstGeom>
        </p:spPr>
      </p:pic>
      <p:sp>
        <p:nvSpPr>
          <p:cNvPr id="75" name="Rectangle 74"/>
          <p:cNvSpPr/>
          <p:nvPr/>
        </p:nvSpPr>
        <p:spPr>
          <a:xfrm>
            <a:off x="1578864" y="3268065"/>
            <a:ext cx="429768" cy="1331366"/>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ody:75"/>
          <p:cNvSpPr txBox="1"/>
          <p:nvPr/>
        </p:nvSpPr>
        <p:spPr>
          <a:xfrm>
            <a:off x="1487423" y="2993745"/>
            <a:ext cx="573024" cy="256032"/>
          </a:xfrm>
          <a:prstGeom prst="rect">
            <a:avLst/>
          </a:prstGeom>
          <a:noFill/>
        </p:spPr>
        <p:txBody>
          <a:bodyPr wrap="square" lIns="22860" rIns="22860" tIns="22860" bIns="22860" anchor="ctr">
            <a:spAutoFit/>
          </a:bodyPr>
          <a:lstStyle/>
          <a:p>
            <a:pPr algn="ctr">
              <a:lnSpc>
                <a:spcPct val="108000"/>
              </a:lnSpc>
            </a:pPr>
            <a:r>
              <a:rPr sz="1100" b="1">
                <a:solidFill>
                  <a:srgbClr val="3A6391"/>
                </a:solidFill>
                <a:latin typeface="Arial"/>
              </a:rPr>
              <a:t>0.70</a:t>
            </a:r>
          </a:p>
        </p:txBody>
      </p:sp>
      <p:sp>
        <p:nvSpPr>
          <p:cNvPr id="77" name="body:76"/>
          <p:cNvSpPr txBox="1"/>
          <p:nvPr/>
        </p:nvSpPr>
        <p:spPr>
          <a:xfrm>
            <a:off x="1487423" y="4636008"/>
            <a:ext cx="573024" cy="237744"/>
          </a:xfrm>
          <a:prstGeom prst="rect">
            <a:avLst/>
          </a:prstGeom>
          <a:noFill/>
        </p:spPr>
        <p:txBody>
          <a:bodyPr wrap="square" lIns="22860" rIns="22860" tIns="22860" bIns="22860" anchor="ctr">
            <a:spAutoFit/>
          </a:bodyPr>
          <a:lstStyle/>
          <a:p>
            <a:pPr algn="ctr">
              <a:lnSpc>
                <a:spcPct val="108000"/>
              </a:lnSpc>
            </a:pPr>
            <a:r>
              <a:rPr sz="1100" b="0">
                <a:solidFill>
                  <a:srgbClr val="5F6E80"/>
                </a:solidFill>
                <a:latin typeface="Arial"/>
              </a:rPr>
              <a:t>p</a:t>
            </a:r>
            <a:r>
              <a:rPr sz="1100" b="0" baseline="-25000">
                <a:solidFill>
                  <a:srgbClr val="5F6E80"/>
                </a:solidFill>
                <a:latin typeface="Arial"/>
              </a:rPr>
              <a:t>0</a:t>
            </a:r>
          </a:p>
        </p:txBody>
      </p:sp>
      <p:sp>
        <p:nvSpPr>
          <p:cNvPr id="78" name="Rectangle 77"/>
          <p:cNvSpPr/>
          <p:nvPr/>
        </p:nvSpPr>
        <p:spPr>
          <a:xfrm>
            <a:off x="2295144" y="3575304"/>
            <a:ext cx="429768" cy="1024127"/>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ody:78"/>
          <p:cNvSpPr txBox="1"/>
          <p:nvPr/>
        </p:nvSpPr>
        <p:spPr>
          <a:xfrm>
            <a:off x="2203703" y="3300984"/>
            <a:ext cx="573024" cy="256032"/>
          </a:xfrm>
          <a:prstGeom prst="rect">
            <a:avLst/>
          </a:prstGeom>
          <a:noFill/>
        </p:spPr>
        <p:txBody>
          <a:bodyPr wrap="square" lIns="22860" rIns="22860" tIns="22860" bIns="22860" anchor="ctr">
            <a:spAutoFit/>
          </a:bodyPr>
          <a:lstStyle/>
          <a:p>
            <a:pPr algn="ctr">
              <a:lnSpc>
                <a:spcPct val="108000"/>
              </a:lnSpc>
            </a:pPr>
            <a:r>
              <a:rPr sz="1100" b="1">
                <a:solidFill>
                  <a:srgbClr val="3A6391"/>
                </a:solidFill>
                <a:latin typeface="Arial"/>
              </a:rPr>
              <a:t>0.54</a:t>
            </a:r>
          </a:p>
        </p:txBody>
      </p:sp>
      <p:sp>
        <p:nvSpPr>
          <p:cNvPr id="80" name="body:79"/>
          <p:cNvSpPr txBox="1"/>
          <p:nvPr/>
        </p:nvSpPr>
        <p:spPr>
          <a:xfrm>
            <a:off x="2203703" y="4636008"/>
            <a:ext cx="573024" cy="237744"/>
          </a:xfrm>
          <a:prstGeom prst="rect">
            <a:avLst/>
          </a:prstGeom>
          <a:noFill/>
        </p:spPr>
        <p:txBody>
          <a:bodyPr wrap="square" lIns="22860" rIns="22860" tIns="22860" bIns="22860" anchor="ctr">
            <a:spAutoFit/>
          </a:bodyPr>
          <a:lstStyle/>
          <a:p>
            <a:pPr algn="ctr">
              <a:lnSpc>
                <a:spcPct val="108000"/>
              </a:lnSpc>
            </a:pPr>
            <a:r>
              <a:rPr sz="1100" b="0">
                <a:solidFill>
                  <a:srgbClr val="5F6E80"/>
                </a:solidFill>
                <a:latin typeface="Arial"/>
              </a:rPr>
              <a:t>p</a:t>
            </a:r>
            <a:r>
              <a:rPr sz="1100" b="0" baseline="-25000">
                <a:solidFill>
                  <a:srgbClr val="5F6E80"/>
                </a:solidFill>
                <a:latin typeface="Arial"/>
              </a:rPr>
              <a:t>1</a:t>
            </a:r>
          </a:p>
        </p:txBody>
      </p:sp>
      <p:sp>
        <p:nvSpPr>
          <p:cNvPr id="81" name="Rectangle 80"/>
          <p:cNvSpPr/>
          <p:nvPr/>
        </p:nvSpPr>
        <p:spPr>
          <a:xfrm>
            <a:off x="3011424" y="3898712"/>
            <a:ext cx="429768" cy="700719"/>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ody:81"/>
          <p:cNvSpPr txBox="1"/>
          <p:nvPr/>
        </p:nvSpPr>
        <p:spPr>
          <a:xfrm>
            <a:off x="2919984" y="3624392"/>
            <a:ext cx="573024" cy="256032"/>
          </a:xfrm>
          <a:prstGeom prst="rect">
            <a:avLst/>
          </a:prstGeom>
          <a:noFill/>
        </p:spPr>
        <p:txBody>
          <a:bodyPr wrap="square" lIns="22860" rIns="22860" tIns="22860" bIns="22860" anchor="ctr">
            <a:spAutoFit/>
          </a:bodyPr>
          <a:lstStyle/>
          <a:p>
            <a:pPr algn="ctr">
              <a:lnSpc>
                <a:spcPct val="108000"/>
              </a:lnSpc>
            </a:pPr>
            <a:r>
              <a:rPr sz="1100" b="1">
                <a:solidFill>
                  <a:srgbClr val="3A6391"/>
                </a:solidFill>
                <a:latin typeface="Arial"/>
              </a:rPr>
              <a:t>0.37</a:t>
            </a:r>
          </a:p>
        </p:txBody>
      </p:sp>
      <p:sp>
        <p:nvSpPr>
          <p:cNvPr id="83" name="body:82"/>
          <p:cNvSpPr txBox="1"/>
          <p:nvPr/>
        </p:nvSpPr>
        <p:spPr>
          <a:xfrm>
            <a:off x="2919984" y="4636008"/>
            <a:ext cx="573024" cy="237744"/>
          </a:xfrm>
          <a:prstGeom prst="rect">
            <a:avLst/>
          </a:prstGeom>
          <a:noFill/>
        </p:spPr>
        <p:txBody>
          <a:bodyPr wrap="square" lIns="22860" rIns="22860" tIns="22860" bIns="22860" anchor="ctr">
            <a:spAutoFit/>
          </a:bodyPr>
          <a:lstStyle/>
          <a:p>
            <a:pPr algn="ctr">
              <a:lnSpc>
                <a:spcPct val="108000"/>
              </a:lnSpc>
            </a:pPr>
            <a:r>
              <a:rPr sz="1100" b="0">
                <a:solidFill>
                  <a:srgbClr val="5F6E80"/>
                </a:solidFill>
                <a:latin typeface="Arial"/>
              </a:rPr>
              <a:t>p</a:t>
            </a:r>
            <a:r>
              <a:rPr sz="1100" b="0" baseline="-25000">
                <a:solidFill>
                  <a:srgbClr val="5F6E80"/>
                </a:solidFill>
                <a:latin typeface="Arial"/>
              </a:rPr>
              <a:t>2</a:t>
            </a:r>
          </a:p>
        </p:txBody>
      </p:sp>
      <p:sp>
        <p:nvSpPr>
          <p:cNvPr id="84" name="Rectangle 83"/>
          <p:cNvSpPr/>
          <p:nvPr/>
        </p:nvSpPr>
        <p:spPr>
          <a:xfrm>
            <a:off x="3727703" y="4169958"/>
            <a:ext cx="429768" cy="429473"/>
          </a:xfrm>
          <a:prstGeom prst="rect">
            <a:avLst/>
          </a:prstGeom>
          <a:solidFill>
            <a:srgbClr val="5F6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body:84"/>
          <p:cNvSpPr txBox="1"/>
          <p:nvPr/>
        </p:nvSpPr>
        <p:spPr>
          <a:xfrm>
            <a:off x="3636263" y="3895638"/>
            <a:ext cx="573024" cy="256032"/>
          </a:xfrm>
          <a:prstGeom prst="rect">
            <a:avLst/>
          </a:prstGeom>
          <a:noFill/>
        </p:spPr>
        <p:txBody>
          <a:bodyPr wrap="square" lIns="22860" rIns="22860" tIns="22860" bIns="22860" anchor="ctr">
            <a:spAutoFit/>
          </a:bodyPr>
          <a:lstStyle/>
          <a:p>
            <a:pPr algn="ctr">
              <a:lnSpc>
                <a:spcPct val="108000"/>
              </a:lnSpc>
            </a:pPr>
            <a:r>
              <a:rPr sz="1100" b="1">
                <a:solidFill>
                  <a:srgbClr val="5F6E80"/>
                </a:solidFill>
                <a:latin typeface="Arial"/>
              </a:rPr>
              <a:t>0.23</a:t>
            </a:r>
          </a:p>
        </p:txBody>
      </p:sp>
      <p:sp>
        <p:nvSpPr>
          <p:cNvPr id="86" name="body:85"/>
          <p:cNvSpPr txBox="1"/>
          <p:nvPr/>
        </p:nvSpPr>
        <p:spPr>
          <a:xfrm>
            <a:off x="3636263" y="4636008"/>
            <a:ext cx="573024" cy="237744"/>
          </a:xfrm>
          <a:prstGeom prst="rect">
            <a:avLst/>
          </a:prstGeom>
          <a:noFill/>
        </p:spPr>
        <p:txBody>
          <a:bodyPr wrap="square" lIns="22860" rIns="22860" tIns="22860" bIns="22860" anchor="ctr">
            <a:spAutoFit/>
          </a:bodyPr>
          <a:lstStyle/>
          <a:p>
            <a:pPr algn="ctr">
              <a:lnSpc>
                <a:spcPct val="108000"/>
              </a:lnSpc>
            </a:pPr>
            <a:r>
              <a:rPr sz="1100" b="0">
                <a:solidFill>
                  <a:srgbClr val="5F6E80"/>
                </a:solidFill>
                <a:latin typeface="Arial"/>
              </a:rPr>
              <a:t>p</a:t>
            </a:r>
            <a:r>
              <a:rPr sz="1100" b="0" baseline="-25000">
                <a:solidFill>
                  <a:srgbClr val="5F6E80"/>
                </a:solidFill>
                <a:latin typeface="Arial"/>
              </a:rPr>
              <a:t>3</a:t>
            </a:r>
          </a:p>
        </p:txBody>
      </p:sp>
      <p:sp>
        <p:nvSpPr>
          <p:cNvPr id="87" name="Rectangle 86"/>
          <p:cNvSpPr/>
          <p:nvPr/>
        </p:nvSpPr>
        <p:spPr>
          <a:xfrm>
            <a:off x="4443983" y="4357365"/>
            <a:ext cx="429768" cy="242066"/>
          </a:xfrm>
          <a:prstGeom prst="rect">
            <a:avLst/>
          </a:prstGeom>
          <a:solidFill>
            <a:srgbClr val="5F6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body:87"/>
          <p:cNvSpPr txBox="1"/>
          <p:nvPr/>
        </p:nvSpPr>
        <p:spPr>
          <a:xfrm>
            <a:off x="4352544" y="4083045"/>
            <a:ext cx="573024" cy="256032"/>
          </a:xfrm>
          <a:prstGeom prst="rect">
            <a:avLst/>
          </a:prstGeom>
          <a:noFill/>
        </p:spPr>
        <p:txBody>
          <a:bodyPr wrap="square" lIns="22860" rIns="22860" tIns="22860" bIns="22860" anchor="ctr">
            <a:spAutoFit/>
          </a:bodyPr>
          <a:lstStyle/>
          <a:p>
            <a:pPr algn="ctr">
              <a:lnSpc>
                <a:spcPct val="108000"/>
              </a:lnSpc>
            </a:pPr>
            <a:r>
              <a:rPr sz="1100" b="1">
                <a:solidFill>
                  <a:srgbClr val="5F6E80"/>
                </a:solidFill>
                <a:latin typeface="Arial"/>
              </a:rPr>
              <a:t>0.13</a:t>
            </a:r>
          </a:p>
        </p:txBody>
      </p:sp>
      <p:sp>
        <p:nvSpPr>
          <p:cNvPr id="89" name="body:88"/>
          <p:cNvSpPr txBox="1"/>
          <p:nvPr/>
        </p:nvSpPr>
        <p:spPr>
          <a:xfrm>
            <a:off x="4352544" y="4636008"/>
            <a:ext cx="573024" cy="237744"/>
          </a:xfrm>
          <a:prstGeom prst="rect">
            <a:avLst/>
          </a:prstGeom>
          <a:noFill/>
        </p:spPr>
        <p:txBody>
          <a:bodyPr wrap="square" lIns="22860" rIns="22860" tIns="22860" bIns="22860" anchor="ctr">
            <a:spAutoFit/>
          </a:bodyPr>
          <a:lstStyle/>
          <a:p>
            <a:pPr algn="ctr">
              <a:lnSpc>
                <a:spcPct val="108000"/>
              </a:lnSpc>
            </a:pPr>
            <a:r>
              <a:rPr sz="1100" b="0">
                <a:solidFill>
                  <a:srgbClr val="5F6E80"/>
                </a:solidFill>
                <a:latin typeface="Arial"/>
              </a:rPr>
              <a:t>p</a:t>
            </a:r>
            <a:r>
              <a:rPr sz="1100" b="0" baseline="-25000">
                <a:solidFill>
                  <a:srgbClr val="5F6E80"/>
                </a:solidFill>
                <a:latin typeface="Arial"/>
              </a:rPr>
              <a:t>4</a:t>
            </a:r>
          </a:p>
        </p:txBody>
      </p:sp>
      <p:sp>
        <p:nvSpPr>
          <p:cNvPr id="90" name="Rectangle 89"/>
          <p:cNvSpPr/>
          <p:nvPr/>
        </p:nvSpPr>
        <p:spPr>
          <a:xfrm>
            <a:off x="5160263" y="4470173"/>
            <a:ext cx="429768" cy="129258"/>
          </a:xfrm>
          <a:prstGeom prst="rect">
            <a:avLst/>
          </a:prstGeom>
          <a:solidFill>
            <a:srgbClr val="5F6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body:90"/>
          <p:cNvSpPr txBox="1"/>
          <p:nvPr/>
        </p:nvSpPr>
        <p:spPr>
          <a:xfrm>
            <a:off x="5068824" y="4195853"/>
            <a:ext cx="573024" cy="256032"/>
          </a:xfrm>
          <a:prstGeom prst="rect">
            <a:avLst/>
          </a:prstGeom>
          <a:noFill/>
        </p:spPr>
        <p:txBody>
          <a:bodyPr wrap="square" lIns="22860" rIns="22860" tIns="22860" bIns="22860" anchor="ctr">
            <a:spAutoFit/>
          </a:bodyPr>
          <a:lstStyle/>
          <a:p>
            <a:pPr algn="ctr">
              <a:lnSpc>
                <a:spcPct val="108000"/>
              </a:lnSpc>
            </a:pPr>
            <a:r>
              <a:rPr sz="1100" b="1">
                <a:solidFill>
                  <a:srgbClr val="5F6E80"/>
                </a:solidFill>
                <a:latin typeface="Arial"/>
              </a:rPr>
              <a:t>0.07</a:t>
            </a:r>
          </a:p>
        </p:txBody>
      </p:sp>
      <p:sp>
        <p:nvSpPr>
          <p:cNvPr id="92" name="body:91"/>
          <p:cNvSpPr txBox="1"/>
          <p:nvPr/>
        </p:nvSpPr>
        <p:spPr>
          <a:xfrm>
            <a:off x="5068824" y="4636008"/>
            <a:ext cx="573024" cy="237744"/>
          </a:xfrm>
          <a:prstGeom prst="rect">
            <a:avLst/>
          </a:prstGeom>
          <a:noFill/>
        </p:spPr>
        <p:txBody>
          <a:bodyPr wrap="square" lIns="22860" rIns="22860" tIns="22860" bIns="22860" anchor="ctr">
            <a:spAutoFit/>
          </a:bodyPr>
          <a:lstStyle/>
          <a:p>
            <a:pPr algn="ctr">
              <a:lnSpc>
                <a:spcPct val="108000"/>
              </a:lnSpc>
            </a:pPr>
            <a:r>
              <a:rPr sz="1100" b="0">
                <a:solidFill>
                  <a:srgbClr val="5F6E80"/>
                </a:solidFill>
                <a:latin typeface="Arial"/>
              </a:rPr>
              <a:t>p</a:t>
            </a:r>
            <a:r>
              <a:rPr sz="1100" b="0" baseline="-25000">
                <a:solidFill>
                  <a:srgbClr val="5F6E80"/>
                </a:solidFill>
                <a:latin typeface="Arial"/>
              </a:rPr>
              <a:t>5</a:t>
            </a:r>
          </a:p>
        </p:txBody>
      </p:sp>
      <p:sp>
        <p:nvSpPr>
          <p:cNvPr id="93" name="body:92"/>
          <p:cNvSpPr txBox="1"/>
          <p:nvPr/>
        </p:nvSpPr>
        <p:spPr>
          <a:xfrm>
            <a:off x="1435607" y="4892040"/>
            <a:ext cx="4297680" cy="237744"/>
          </a:xfrm>
          <a:prstGeom prst="rect">
            <a:avLst/>
          </a:prstGeom>
          <a:noFill/>
        </p:spPr>
        <p:txBody>
          <a:bodyPr wrap="square" lIns="22860" rIns="22860" tIns="22860" bIns="22860" anchor="ctr">
            <a:spAutoFit/>
          </a:bodyPr>
          <a:lstStyle/>
          <a:p>
            <a:pPr algn="l">
              <a:lnSpc>
                <a:spcPct val="108000"/>
              </a:lnSpc>
            </a:pPr>
            <a:r>
              <a:rPr sz="1100" b="0">
                <a:solidFill>
                  <a:srgbClr val="5F6E80"/>
                </a:solidFill>
                <a:latin typeface="Arial"/>
              </a:rPr>
              <a:t>failures observed →</a:t>
            </a:r>
          </a:p>
        </p:txBody>
      </p:sp>
      <p:sp>
        <p:nvSpPr>
          <p:cNvPr id="94" name="body:93"/>
          <p:cNvSpPr txBox="1"/>
          <p:nvPr/>
        </p:nvSpPr>
        <p:spPr>
          <a:xfrm>
            <a:off x="795528" y="5157216"/>
            <a:ext cx="5120640" cy="329184"/>
          </a:xfrm>
          <a:prstGeom prst="rect">
            <a:avLst/>
          </a:prstGeom>
          <a:noFill/>
        </p:spPr>
        <p:txBody>
          <a:bodyPr wrap="square" lIns="22860" rIns="22860" tIns="22860" bIns="22860" anchor="ctr">
            <a:spAutoFit/>
          </a:bodyPr>
          <a:lstStyle/>
          <a:p>
            <a:pPr algn="l">
              <a:lnSpc>
                <a:spcPct val="108000"/>
              </a:lnSpc>
            </a:pPr>
            <a:r>
              <a:rPr sz="1300" b="1">
                <a:solidFill>
                  <a:srgbClr val="3A6391"/>
                </a:solidFill>
                <a:latin typeface="Arial"/>
              </a:rPr>
              <a:t>Try while p</a:t>
            </a:r>
            <a:r>
              <a:rPr sz="1300" b="1" baseline="-25000">
                <a:solidFill>
                  <a:srgbClr val="3A6391"/>
                </a:solidFill>
                <a:latin typeface="Arial"/>
              </a:rPr>
              <a:t>t</a:t>
            </a:r>
            <a:r>
              <a:rPr sz="1300" b="1">
                <a:solidFill>
                  <a:srgbClr val="3A6391"/>
                </a:solidFill>
                <a:latin typeface="Arial"/>
              </a:rPr>
              <a:t> ≥ 0.25: 3 attempts, then stop with evidence.</a:t>
            </a:r>
          </a:p>
        </p:txBody>
      </p:sp>
      <p:sp>
        <p:nvSpPr>
          <p:cNvPr id="95" name="Rectangle 94"/>
          <p:cNvSpPr/>
          <p:nvPr/>
        </p:nvSpPr>
        <p:spPr>
          <a:xfrm>
            <a:off x="6355080" y="2157984"/>
            <a:ext cx="5266944" cy="1682496"/>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6355080" y="2157984"/>
            <a:ext cx="82296" cy="1682496"/>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label:96"/>
          <p:cNvSpPr txBox="1"/>
          <p:nvPr/>
        </p:nvSpPr>
        <p:spPr>
          <a:xfrm>
            <a:off x="6592824" y="2267712"/>
            <a:ext cx="4901183" cy="256032"/>
          </a:xfrm>
          <a:prstGeom prst="rect">
            <a:avLst/>
          </a:prstGeom>
          <a:noFill/>
        </p:spPr>
        <p:txBody>
          <a:bodyPr wrap="square" lIns="22860" rIns="22860" tIns="22860" bIns="22860" anchor="ctr">
            <a:spAutoFit/>
          </a:bodyPr>
          <a:lstStyle/>
          <a:p>
            <a:pPr algn="l">
              <a:lnSpc>
                <a:spcPct val="108000"/>
              </a:lnSpc>
            </a:pPr>
            <a:r>
              <a:rPr sz="1100" b="1">
                <a:solidFill>
                  <a:srgbClr val="1E7A72"/>
                </a:solidFill>
                <a:latin typeface="Arial"/>
              </a:rPr>
              <a:t>RESULT 1 · THRESHOLD RULE</a:t>
            </a:r>
          </a:p>
        </p:txBody>
      </p:sp>
      <p:pic>
        <p:nvPicPr>
          <p:cNvPr id="98" name="math:97" descr="f10.png"/>
          <p:cNvPicPr>
            <a:picLocks noChangeAspect="1"/>
          </p:cNvPicPr>
          <p:nvPr/>
        </p:nvPicPr>
        <p:blipFill>
          <a:blip r:embed="rId5"/>
          <a:stretch>
            <a:fillRect/>
          </a:stretch>
        </p:blipFill>
        <p:spPr>
          <a:xfrm>
            <a:off x="6611112" y="2542032"/>
            <a:ext cx="1972683" cy="242047"/>
          </a:xfrm>
          <a:prstGeom prst="rect">
            <a:avLst/>
          </a:prstGeom>
        </p:spPr>
      </p:pic>
      <p:pic>
        <p:nvPicPr>
          <p:cNvPr id="99" name="math:98" descr="f11.png"/>
          <p:cNvPicPr>
            <a:picLocks noChangeAspect="1"/>
          </p:cNvPicPr>
          <p:nvPr/>
        </p:nvPicPr>
        <p:blipFill>
          <a:blip r:embed="rId6"/>
          <a:stretch>
            <a:fillRect/>
          </a:stretch>
        </p:blipFill>
        <p:spPr>
          <a:xfrm>
            <a:off x="6611112" y="2856693"/>
            <a:ext cx="1328233" cy="508298"/>
          </a:xfrm>
          <a:prstGeom prst="rect">
            <a:avLst/>
          </a:prstGeom>
        </p:spPr>
      </p:pic>
      <p:sp>
        <p:nvSpPr>
          <p:cNvPr id="100" name="caption:99"/>
          <p:cNvSpPr txBox="1"/>
          <p:nvPr/>
        </p:nvSpPr>
        <p:spPr>
          <a:xfrm>
            <a:off x="6592824" y="3364992"/>
            <a:ext cx="4882896" cy="420624"/>
          </a:xfrm>
          <a:prstGeom prst="rect">
            <a:avLst/>
          </a:prstGeom>
          <a:noFill/>
        </p:spPr>
        <p:txBody>
          <a:bodyPr wrap="square" lIns="22860" rIns="22860" tIns="22860" bIns="22860" anchor="t">
            <a:spAutoFit/>
          </a:bodyPr>
          <a:lstStyle/>
          <a:p>
            <a:pPr algn="l">
              <a:lnSpc>
                <a:spcPct val="105000"/>
              </a:lnSpc>
            </a:pPr>
            <a:r>
              <a:rPr sz="1100" b="0">
                <a:solidFill>
                  <a:srgbClr val="B9C8D8"/>
                </a:solidFill>
                <a:latin typeface="Arial"/>
              </a:rPr>
              <a:t>Posterior falls after every failure, so stopping, once optimal, stays optimal: the one-step rule is exact.</a:t>
            </a:r>
          </a:p>
        </p:txBody>
      </p:sp>
      <p:sp>
        <p:nvSpPr>
          <p:cNvPr id="101" name="Rectangle 100"/>
          <p:cNvSpPr/>
          <p:nvPr/>
        </p:nvSpPr>
        <p:spPr>
          <a:xfrm>
            <a:off x="6355080" y="3950208"/>
            <a:ext cx="5266944" cy="1591056"/>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body:101"/>
          <p:cNvSpPr txBox="1"/>
          <p:nvPr/>
        </p:nvSpPr>
        <p:spPr>
          <a:xfrm>
            <a:off x="6537960" y="4005072"/>
            <a:ext cx="4937760" cy="1499616"/>
          </a:xfrm>
          <a:prstGeom prst="rect">
            <a:avLst/>
          </a:prstGeom>
          <a:noFill/>
        </p:spPr>
        <p:txBody>
          <a:bodyPr wrap="square" lIns="22860" rIns="22860" tIns="22860" bIns="22860" anchor="t">
            <a:spAutoFit/>
          </a:bodyPr>
          <a:lstStyle/>
          <a:p>
            <a:pPr algn="l">
              <a:lnSpc>
                <a:spcPct val="108000"/>
              </a:lnSpc>
            </a:pPr>
            <a:r>
              <a:rPr sz="1150" b="0">
                <a:solidFill>
                  <a:srgbClr val="22313F"/>
                </a:solidFill>
                <a:latin typeface="Arial"/>
              </a:rPr>
              <a:t>•  A better honest exit B raises the threshold and shortens persistence; a worthless exit buys stubbornness.</a:t>
            </a:r>
          </a:p>
          <a:p>
            <a:pPr algn="l">
              <a:lnSpc>
                <a:spcPct val="108000"/>
              </a:lnSpc>
            </a:pPr>
            <a:r>
              <a:rPr sz="1150" b="0">
                <a:solidFill>
                  <a:srgbClr val="22313F"/>
                </a:solidFill>
                <a:latin typeface="Arial"/>
              </a:rPr>
              <a:t>•  Several recovery routes: a Gittins index per route; try the highest, stop when all fall below the exit (Gittins 1979).</a:t>
            </a:r>
          </a:p>
          <a:p>
            <a:pPr algn="l">
              <a:lnSpc>
                <a:spcPct val="108000"/>
              </a:lnSpc>
            </a:pPr>
            <a:r>
              <a:rPr sz="1150" b="0">
                <a:solidFill>
                  <a:srgbClr val="22313F"/>
                </a:solidFill>
                <a:latin typeface="Arial"/>
              </a:rPr>
              <a:t>•  Substitution is persistence past this point with a different resource: it needs a grant, not a higher posterior.</a:t>
            </a:r>
          </a:p>
          <a:p>
            <a:pPr algn="l">
              <a:lnSpc>
                <a:spcPct val="108000"/>
              </a:lnSpc>
            </a:pPr>
            <a:r>
              <a:rPr sz="1150" b="0">
                <a:solidFill>
                  <a:srgbClr val="22313F"/>
                </a:solidFill>
                <a:latin typeface="Arial"/>
              </a:rPr>
              <a:t>•  Readouts: premature stops (p</a:t>
            </a:r>
            <a:r>
              <a:rPr sz="1150" b="0" baseline="-25000">
                <a:solidFill>
                  <a:srgbClr val="22313F"/>
                </a:solidFill>
                <a:latin typeface="Arial"/>
              </a:rPr>
              <a:t>t</a:t>
            </a:r>
            <a:r>
              <a:rPr sz="1150" b="0">
                <a:solidFill>
                  <a:srgbClr val="22313F"/>
                </a:solidFill>
                <a:latin typeface="Arial"/>
              </a:rPr>
              <a:t> above threshold) and wasted attempts (below) are separate errors; a lower violation rate must not be mistaken for better stopping.</a:t>
            </a:r>
          </a:p>
        </p:txBody>
      </p:sp>
      <p:sp>
        <p:nvSpPr>
          <p:cNvPr id="103" name="Rounded Rectangle 102"/>
          <p:cNvSpPr/>
          <p:nvPr/>
        </p:nvSpPr>
        <p:spPr>
          <a:xfrm>
            <a:off x="566928" y="5715000"/>
            <a:ext cx="11055096" cy="548640"/>
          </a:xfrm>
          <a:prstGeom prst="roundRect">
            <a:avLst>
              <a:gd name="adj" fmla="val 5000"/>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body:103"/>
          <p:cNvSpPr txBox="1"/>
          <p:nvPr/>
        </p:nvSpPr>
        <p:spPr>
          <a:xfrm>
            <a:off x="768096" y="5742432"/>
            <a:ext cx="10652760" cy="493776"/>
          </a:xfrm>
          <a:prstGeom prst="rect">
            <a:avLst/>
          </a:prstGeom>
          <a:noFill/>
        </p:spPr>
        <p:txBody>
          <a:bodyPr wrap="square" lIns="22860" rIns="22860" tIns="22860" bIns="22860" anchor="ctr">
            <a:spAutoFit/>
          </a:bodyPr>
          <a:lstStyle/>
          <a:p>
            <a:pPr algn="l">
              <a:lnSpc>
                <a:spcPct val="108000"/>
              </a:lnSpc>
            </a:pPr>
            <a:r>
              <a:rPr sz="1600" b="1">
                <a:solidFill>
                  <a:srgbClr val="FFFFFF"/>
                </a:solidFill>
                <a:latin typeface="Arial"/>
              </a:rPr>
              <a:t>Repeated failure (indicator f) is the leading signal because it is exactly what moves the posterior.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label:2"/>
          <p:cNvSpPr txBox="1"/>
          <p:nvPr/>
        </p:nvSpPr>
        <p:spPr>
          <a:xfrm>
            <a:off x="566928" y="365760"/>
            <a:ext cx="10058400" cy="420624"/>
          </a:xfrm>
          <a:prstGeom prst="rect">
            <a:avLst/>
          </a:prstGeom>
          <a:noFill/>
        </p:spPr>
        <p:txBody>
          <a:bodyPr wrap="square" lIns="22860" rIns="22860" tIns="22860" bIns="22860" anchor="ctr">
            <a:spAutoFit/>
          </a:bodyPr>
          <a:lstStyle/>
          <a:p>
            <a:pPr algn="l">
              <a:lnSpc>
                <a:spcPct val="108000"/>
              </a:lnSpc>
            </a:pPr>
            <a:r>
              <a:rPr sz="1100" b="1">
                <a:solidFill>
                  <a:srgbClr val="1E7A72"/>
                </a:solidFill>
                <a:latin typeface="Arial"/>
              </a:rPr>
              <a:t>09 / VALUE OF INFORMATION</a:t>
            </a:r>
          </a:p>
        </p:txBody>
      </p:sp>
      <p:sp>
        <p:nvSpPr>
          <p:cNvPr id="4" name="title:3"/>
          <p:cNvSpPr txBox="1"/>
          <p:nvPr/>
        </p:nvSpPr>
        <p:spPr>
          <a:xfrm>
            <a:off x="566928" y="786384"/>
            <a:ext cx="11055096" cy="804672"/>
          </a:xfrm>
          <a:prstGeom prst="rect">
            <a:avLst/>
          </a:prstGeom>
          <a:noFill/>
        </p:spPr>
        <p:txBody>
          <a:bodyPr wrap="square" lIns="22860" rIns="22860" tIns="22860" bIns="22860" anchor="ctr">
            <a:spAutoFit/>
          </a:bodyPr>
          <a:lstStyle/>
          <a:p>
            <a:pPr algn="l">
              <a:lnSpc>
                <a:spcPct val="105000"/>
              </a:lnSpc>
            </a:pPr>
            <a:r>
              <a:rPr sz="2600" b="1">
                <a:solidFill>
                  <a:srgbClr val="172D46"/>
                </a:solidFill>
                <a:latin typeface="Arial"/>
              </a:rPr>
              <a:t>Result 2: sometimes the best next action is to learn.</a:t>
            </a:r>
          </a:p>
        </p:txBody>
      </p:sp>
      <p:sp>
        <p:nvSpPr>
          <p:cNvPr id="5" name="Rectangle 4"/>
          <p:cNvSpPr/>
          <p:nvPr/>
        </p:nvSpPr>
        <p:spPr>
          <a:xfrm>
            <a:off x="566928" y="1609344"/>
            <a:ext cx="868680" cy="4572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ubtitle:5"/>
          <p:cNvSpPr txBox="1"/>
          <p:nvPr/>
        </p:nvSpPr>
        <p:spPr>
          <a:xfrm>
            <a:off x="585216" y="1682496"/>
            <a:ext cx="11055096" cy="457200"/>
          </a:xfrm>
          <a:prstGeom prst="rect">
            <a:avLst/>
          </a:prstGeom>
          <a:noFill/>
        </p:spPr>
        <p:txBody>
          <a:bodyPr wrap="square" lIns="22860" rIns="22860" tIns="22860" bIns="22860" anchor="ctr">
            <a:spAutoFit/>
          </a:bodyPr>
          <a:lstStyle/>
          <a:p>
            <a:pPr algn="l">
              <a:lnSpc>
                <a:spcPct val="105000"/>
              </a:lnSpc>
            </a:pPr>
            <a:r>
              <a:rPr sz="1400" b="0">
                <a:solidFill>
                  <a:srgbClr val="5F6E80"/>
                </a:solidFill>
                <a:latin typeface="Arial"/>
              </a:rPr>
              <a:t>Exact toy: one optional diagnostic that reveals feasibility, then one final commitment. Hypothetical utility units.</a:t>
            </a:r>
          </a:p>
        </p:txBody>
      </p:sp>
      <p:sp>
        <p:nvSpPr>
          <p:cNvPr id="7" name="source:6"/>
          <p:cNvSpPr txBox="1"/>
          <p:nvPr/>
        </p:nvSpPr>
        <p:spPr>
          <a:xfrm>
            <a:off x="566928" y="6400800"/>
            <a:ext cx="1033272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rPr>
              <a:t> </a:t>
            </a:r>
          </a:p>
        </p:txBody>
      </p:sp>
      <p:sp>
        <p:nvSpPr>
          <p:cNvPr id="8" name="source:7"/>
          <p:cNvSpPr txBox="1"/>
          <p:nvPr/>
        </p:nvSpPr>
        <p:spPr>
          <a:xfrm>
            <a:off x="10927080" y="6364224"/>
            <a:ext cx="694944" cy="265176"/>
          </a:xfrm>
          <a:prstGeom prst="rect">
            <a:avLst/>
          </a:prstGeom>
          <a:noFill/>
        </p:spPr>
        <p:txBody>
          <a:bodyPr wrap="square" lIns="22860" rIns="22860" tIns="22860" bIns="22860" anchor="ctr">
            <a:spAutoFit/>
          </a:bodyPr>
          <a:lstStyle/>
          <a:p>
            <a:pPr algn="ctr">
              <a:lnSpc>
                <a:spcPct val="108000"/>
              </a:lnSpc>
            </a:pPr>
            <a:r>
              <a:rPr sz="1000" b="1">
                <a:solidFill>
                  <a:srgbClr val="5F6E80"/>
                </a:solidFill>
                <a:latin typeface="Arial"/>
              </a:rPr>
              <a:t>11 / 22</a:t>
            </a:r>
          </a:p>
        </p:txBody>
      </p:sp>
      <p:sp>
        <p:nvSpPr>
          <p:cNvPr id="9" name="Rectangle 8"/>
          <p:cNvSpPr/>
          <p:nvPr/>
        </p:nvSpPr>
        <p:spPr>
          <a:xfrm>
            <a:off x="56692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7151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57609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80675"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8525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8984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9442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99005"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0358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0817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1275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17336"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2191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2650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63108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35666"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4024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4483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4941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153996"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65857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16316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104120" y="365760"/>
            <a:ext cx="1517904" cy="274320"/>
          </a:xfrm>
          <a:prstGeom prst="roundRect">
            <a:avLst>
              <a:gd name="adj" fmla="val 5000"/>
            </a:avLst>
          </a:prstGeom>
          <a:solidFill>
            <a:srgbClr val="F7EF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31"/>
          <p:cNvSpPr txBox="1"/>
          <p:nvPr/>
        </p:nvSpPr>
        <p:spPr>
          <a:xfrm>
            <a:off x="10158984" y="365760"/>
            <a:ext cx="1408176" cy="274320"/>
          </a:xfrm>
          <a:prstGeom prst="rect">
            <a:avLst/>
          </a:prstGeom>
          <a:noFill/>
        </p:spPr>
        <p:txBody>
          <a:bodyPr wrap="square" lIns="22860" rIns="22860" tIns="22860" bIns="22860" anchor="ctr">
            <a:spAutoFit/>
          </a:bodyPr>
          <a:lstStyle/>
          <a:p>
            <a:pPr algn="ctr">
              <a:lnSpc>
                <a:spcPct val="108000"/>
              </a:lnSpc>
            </a:pPr>
            <a:r>
              <a:rPr sz="1000" b="1">
                <a:solidFill>
                  <a:srgbClr val="A4761A"/>
                </a:solidFill>
                <a:latin typeface="Arial"/>
              </a:rPr>
              <a:t>EXACT TOY</a:t>
            </a:r>
          </a:p>
        </p:txBody>
      </p:sp>
      <p:sp>
        <p:nvSpPr>
          <p:cNvPr id="33" name="source:32"/>
          <p:cNvSpPr txBox="1"/>
          <p:nvPr/>
        </p:nvSpPr>
        <p:spPr>
          <a:xfrm>
            <a:off x="566928" y="6400800"/>
            <a:ext cx="402336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2"/>
              </a:rPr>
              <a:t>Value-of-information background: Hay et al. 2012</a:t>
            </a:r>
          </a:p>
        </p:txBody>
      </p:sp>
      <p:sp>
        <p:nvSpPr>
          <p:cNvPr id="34" name="source:33"/>
          <p:cNvSpPr txBox="1"/>
          <p:nvPr/>
        </p:nvSpPr>
        <p:spPr>
          <a:xfrm>
            <a:off x="4736592" y="6400800"/>
            <a:ext cx="329184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3"/>
              </a:rPr>
              <a:t>Deference under uncertainty: off-switch game</a:t>
            </a:r>
          </a:p>
        </p:txBody>
      </p:sp>
      <p:sp>
        <p:nvSpPr>
          <p:cNvPr id="35" name="body:34"/>
          <p:cNvSpPr txBox="1"/>
          <p:nvPr/>
        </p:nvSpPr>
        <p:spPr>
          <a:xfrm>
            <a:off x="713232" y="2176272"/>
            <a:ext cx="5394960" cy="320040"/>
          </a:xfrm>
          <a:prstGeom prst="rect">
            <a:avLst/>
          </a:prstGeom>
          <a:noFill/>
        </p:spPr>
        <p:txBody>
          <a:bodyPr wrap="square" lIns="22860" rIns="22860" tIns="22860" bIns="22860" anchor="ctr">
            <a:spAutoFit/>
          </a:bodyPr>
          <a:lstStyle/>
          <a:p>
            <a:pPr algn="l">
              <a:lnSpc>
                <a:spcPct val="108000"/>
              </a:lnSpc>
            </a:pPr>
            <a:r>
              <a:rPr sz="1500" b="1">
                <a:solidFill>
                  <a:srgbClr val="172D46"/>
                </a:solidFill>
                <a:latin typeface="Arial"/>
              </a:rPr>
              <a:t>Optimal action as belief and request cost change</a:t>
            </a:r>
          </a:p>
        </p:txBody>
      </p:sp>
      <p:sp>
        <p:nvSpPr>
          <p:cNvPr id="36" name="body:35"/>
          <p:cNvSpPr txBox="1"/>
          <p:nvPr/>
        </p:nvSpPr>
        <p:spPr>
          <a:xfrm>
            <a:off x="1005840" y="2450592"/>
            <a:ext cx="5394960" cy="228600"/>
          </a:xfrm>
          <a:prstGeom prst="rect">
            <a:avLst/>
          </a:prstGeom>
          <a:noFill/>
        </p:spPr>
        <p:txBody>
          <a:bodyPr wrap="square" lIns="22860" rIns="22860" tIns="22860" bIns="22860" anchor="ctr">
            <a:spAutoFit/>
          </a:bodyPr>
          <a:lstStyle/>
          <a:p>
            <a:pPr algn="l">
              <a:lnSpc>
                <a:spcPct val="108000"/>
              </a:lnSpc>
            </a:pPr>
            <a:r>
              <a:rPr sz="1000" b="0">
                <a:solidFill>
                  <a:srgbClr val="5F6E80"/>
                </a:solidFill>
                <a:latin typeface="Arial"/>
              </a:rPr>
              <a:t>Request cost d</a:t>
            </a:r>
          </a:p>
        </p:txBody>
      </p:sp>
      <p:sp>
        <p:nvSpPr>
          <p:cNvPr id="37" name="Rectangle 36"/>
          <p:cNvSpPr/>
          <p:nvPr/>
        </p:nvSpPr>
        <p:spPr>
          <a:xfrm>
            <a:off x="1005840" y="2651760"/>
            <a:ext cx="289864" cy="39690"/>
          </a:xfrm>
          <a:prstGeom prst="rect">
            <a:avLst/>
          </a:prstGeom>
          <a:solidFill>
            <a:srgbClr val="5F6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293876" y="2651760"/>
            <a:ext cx="3314242"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606290" y="2651760"/>
            <a:ext cx="1201978"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05840" y="2689621"/>
            <a:ext cx="289864" cy="39690"/>
          </a:xfrm>
          <a:prstGeom prst="rect">
            <a:avLst/>
          </a:prstGeom>
          <a:solidFill>
            <a:srgbClr val="5F6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293876" y="2689621"/>
            <a:ext cx="3314242"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606290" y="2689621"/>
            <a:ext cx="1201978"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005840" y="2727483"/>
            <a:ext cx="289864" cy="39690"/>
          </a:xfrm>
          <a:prstGeom prst="rect">
            <a:avLst/>
          </a:prstGeom>
          <a:solidFill>
            <a:srgbClr val="5F6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293876" y="2727483"/>
            <a:ext cx="3314242"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6290" y="2727483"/>
            <a:ext cx="1201978"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005840" y="2765345"/>
            <a:ext cx="289864" cy="39690"/>
          </a:xfrm>
          <a:prstGeom prst="rect">
            <a:avLst/>
          </a:prstGeom>
          <a:solidFill>
            <a:srgbClr val="5F6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293876" y="2765345"/>
            <a:ext cx="3314242"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606290" y="2765345"/>
            <a:ext cx="1201978"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005840" y="2803207"/>
            <a:ext cx="289864" cy="39690"/>
          </a:xfrm>
          <a:prstGeom prst="rect">
            <a:avLst/>
          </a:prstGeom>
          <a:solidFill>
            <a:srgbClr val="5F6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293876" y="2803207"/>
            <a:ext cx="3314242"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4606290" y="2803207"/>
            <a:ext cx="1201978"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005840" y="2841069"/>
            <a:ext cx="289864" cy="39690"/>
          </a:xfrm>
          <a:prstGeom prst="rect">
            <a:avLst/>
          </a:prstGeom>
          <a:solidFill>
            <a:srgbClr val="5F6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293876" y="2841069"/>
            <a:ext cx="3314242"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606290" y="2841069"/>
            <a:ext cx="1201978"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005840" y="2878931"/>
            <a:ext cx="289864" cy="39690"/>
          </a:xfrm>
          <a:prstGeom prst="rect">
            <a:avLst/>
          </a:prstGeom>
          <a:solidFill>
            <a:srgbClr val="5F6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293876" y="2878931"/>
            <a:ext cx="3314242"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606290" y="2878931"/>
            <a:ext cx="1201978"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1005840" y="2916793"/>
            <a:ext cx="289864" cy="39690"/>
          </a:xfrm>
          <a:prstGeom prst="rect">
            <a:avLst/>
          </a:prstGeom>
          <a:solidFill>
            <a:srgbClr val="5F6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1293876" y="2916793"/>
            <a:ext cx="3314242"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606290" y="2916793"/>
            <a:ext cx="1201978"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005840" y="2954654"/>
            <a:ext cx="289864" cy="39690"/>
          </a:xfrm>
          <a:prstGeom prst="rect">
            <a:avLst/>
          </a:prstGeom>
          <a:solidFill>
            <a:srgbClr val="5F6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293876" y="2954654"/>
            <a:ext cx="3314242"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606290" y="2954654"/>
            <a:ext cx="1201978"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005840" y="2992516"/>
            <a:ext cx="289864" cy="39690"/>
          </a:xfrm>
          <a:prstGeom prst="rect">
            <a:avLst/>
          </a:prstGeom>
          <a:solidFill>
            <a:srgbClr val="5F6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293876" y="2992516"/>
            <a:ext cx="3314242"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606290" y="2992516"/>
            <a:ext cx="1201978"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1005840" y="3030378"/>
            <a:ext cx="289864" cy="39690"/>
          </a:xfrm>
          <a:prstGeom prst="rect">
            <a:avLst/>
          </a:prstGeom>
          <a:solidFill>
            <a:srgbClr val="5F6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1293876" y="3030378"/>
            <a:ext cx="3314242"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606290" y="3030378"/>
            <a:ext cx="1201978"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1005840" y="3068240"/>
            <a:ext cx="289864" cy="39690"/>
          </a:xfrm>
          <a:prstGeom prst="rect">
            <a:avLst/>
          </a:prstGeom>
          <a:solidFill>
            <a:srgbClr val="5F6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293876" y="3068240"/>
            <a:ext cx="3314242"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606290" y="3068240"/>
            <a:ext cx="1201978"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1005840" y="3106102"/>
            <a:ext cx="289864" cy="39690"/>
          </a:xfrm>
          <a:prstGeom prst="rect">
            <a:avLst/>
          </a:prstGeom>
          <a:solidFill>
            <a:srgbClr val="5F6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293876" y="3106102"/>
            <a:ext cx="3314242"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4606290" y="3106102"/>
            <a:ext cx="1201978"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005840" y="3143964"/>
            <a:ext cx="289864" cy="39690"/>
          </a:xfrm>
          <a:prstGeom prst="rect">
            <a:avLst/>
          </a:prstGeom>
          <a:solidFill>
            <a:srgbClr val="5F6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293876" y="3143964"/>
            <a:ext cx="3314242"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4606290" y="3143964"/>
            <a:ext cx="1201978"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1005840" y="3181826"/>
            <a:ext cx="289864" cy="39690"/>
          </a:xfrm>
          <a:prstGeom prst="rect">
            <a:avLst/>
          </a:prstGeom>
          <a:solidFill>
            <a:srgbClr val="5F6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293876" y="3181826"/>
            <a:ext cx="3314242"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4606290" y="3181826"/>
            <a:ext cx="1201978"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005840" y="3219688"/>
            <a:ext cx="289864" cy="39690"/>
          </a:xfrm>
          <a:prstGeom prst="rect">
            <a:avLst/>
          </a:prstGeom>
          <a:solidFill>
            <a:srgbClr val="5F6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1293876" y="3219688"/>
            <a:ext cx="3314242"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4606290" y="3219688"/>
            <a:ext cx="1201978"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1005840" y="3257550"/>
            <a:ext cx="289864"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1293876" y="3257550"/>
            <a:ext cx="3362248"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4654296" y="3257550"/>
            <a:ext cx="1153972"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1005840" y="3295411"/>
            <a:ext cx="289864"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1293876" y="3295411"/>
            <a:ext cx="3410254"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4702302" y="3295411"/>
            <a:ext cx="1105966"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1005840" y="3333273"/>
            <a:ext cx="337870"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1341882" y="3333273"/>
            <a:ext cx="3410254"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4750308" y="3333273"/>
            <a:ext cx="1057960"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1005840" y="3371135"/>
            <a:ext cx="337870"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1341882" y="3371135"/>
            <a:ext cx="3458260"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4798314" y="3371135"/>
            <a:ext cx="1009954"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005840" y="3408997"/>
            <a:ext cx="337870"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341882" y="3408997"/>
            <a:ext cx="3506266"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4846320" y="3408997"/>
            <a:ext cx="961948"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005840" y="3446859"/>
            <a:ext cx="337870"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341882" y="3446859"/>
            <a:ext cx="3554272"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4894326" y="3446859"/>
            <a:ext cx="913942"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005840" y="3484721"/>
            <a:ext cx="337870"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341882" y="3484721"/>
            <a:ext cx="3602278"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4942331" y="3484721"/>
            <a:ext cx="865936"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005840" y="3522583"/>
            <a:ext cx="337870"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341882" y="3522583"/>
            <a:ext cx="3650284"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4990338" y="3522583"/>
            <a:ext cx="817930"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005840" y="3560445"/>
            <a:ext cx="337870"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341882" y="3560445"/>
            <a:ext cx="3698290"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5038344" y="3560445"/>
            <a:ext cx="769924"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005840" y="3598306"/>
            <a:ext cx="337870"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341882" y="3598306"/>
            <a:ext cx="3698290"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5038344" y="3598306"/>
            <a:ext cx="769924"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005840" y="3636168"/>
            <a:ext cx="337870"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341882" y="3636168"/>
            <a:ext cx="3746296"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5086350" y="3636168"/>
            <a:ext cx="721918"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005840" y="3674030"/>
            <a:ext cx="385876"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389888" y="3674030"/>
            <a:ext cx="3698290"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5086350" y="3674030"/>
            <a:ext cx="721918"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005840" y="3711892"/>
            <a:ext cx="385876"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389888" y="3711892"/>
            <a:ext cx="3746296"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134356" y="3711892"/>
            <a:ext cx="673912"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005840" y="3749754"/>
            <a:ext cx="385876"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1389888" y="3749754"/>
            <a:ext cx="3746296"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5134356" y="3749754"/>
            <a:ext cx="673912"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1005840" y="3787616"/>
            <a:ext cx="385876"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1389888" y="3787616"/>
            <a:ext cx="3794302"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5182362" y="3787616"/>
            <a:ext cx="625906"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1005840" y="3825478"/>
            <a:ext cx="385876"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1389888" y="3825478"/>
            <a:ext cx="3794302"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5182362" y="3825478"/>
            <a:ext cx="625906"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1005840" y="3863339"/>
            <a:ext cx="385876"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1389888" y="3863339"/>
            <a:ext cx="3842308"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5230368" y="3863339"/>
            <a:ext cx="577900"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005840" y="3901201"/>
            <a:ext cx="433882"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1437894" y="3901201"/>
            <a:ext cx="3794302"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5230368" y="3901201"/>
            <a:ext cx="577900"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1005840" y="3939063"/>
            <a:ext cx="433882"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1437894" y="3939063"/>
            <a:ext cx="3794302"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5230368" y="3939063"/>
            <a:ext cx="577900"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005840" y="3976925"/>
            <a:ext cx="433882"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1437894" y="3976925"/>
            <a:ext cx="3842308"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5278374" y="3976925"/>
            <a:ext cx="529894"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1005840" y="4014787"/>
            <a:ext cx="433882"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437894" y="4014787"/>
            <a:ext cx="3842308"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5278374" y="4014787"/>
            <a:ext cx="529894"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1005840" y="4052649"/>
            <a:ext cx="433882"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1437894" y="4052649"/>
            <a:ext cx="3842308"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5278374" y="4052649"/>
            <a:ext cx="529894"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1005840" y="4090511"/>
            <a:ext cx="481888"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1485900" y="4090511"/>
            <a:ext cx="3842308"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5326379" y="4090511"/>
            <a:ext cx="481888"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1005840" y="4128373"/>
            <a:ext cx="481888"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1485900" y="4128373"/>
            <a:ext cx="3842308"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5326379" y="4128373"/>
            <a:ext cx="481888"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1005840" y="4166235"/>
            <a:ext cx="481888"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1485900" y="4166235"/>
            <a:ext cx="3842308"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5326379" y="4166235"/>
            <a:ext cx="481888"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1005840" y="4204096"/>
            <a:ext cx="481888"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ectangle 160"/>
          <p:cNvSpPr/>
          <p:nvPr/>
        </p:nvSpPr>
        <p:spPr>
          <a:xfrm>
            <a:off x="1485900" y="4204096"/>
            <a:ext cx="3842308"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ectangle 161"/>
          <p:cNvSpPr/>
          <p:nvPr/>
        </p:nvSpPr>
        <p:spPr>
          <a:xfrm>
            <a:off x="5326379" y="4204096"/>
            <a:ext cx="481888"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ectangle 162"/>
          <p:cNvSpPr/>
          <p:nvPr/>
        </p:nvSpPr>
        <p:spPr>
          <a:xfrm>
            <a:off x="1005840" y="4241958"/>
            <a:ext cx="529894"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1533906" y="4241958"/>
            <a:ext cx="3842308"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5374386" y="4241958"/>
            <a:ext cx="433882"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ectangle 165"/>
          <p:cNvSpPr/>
          <p:nvPr/>
        </p:nvSpPr>
        <p:spPr>
          <a:xfrm>
            <a:off x="1005840" y="4279820"/>
            <a:ext cx="529894"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Rectangle 166"/>
          <p:cNvSpPr/>
          <p:nvPr/>
        </p:nvSpPr>
        <p:spPr>
          <a:xfrm>
            <a:off x="1533906" y="4279820"/>
            <a:ext cx="3842308"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Rectangle 167"/>
          <p:cNvSpPr/>
          <p:nvPr/>
        </p:nvSpPr>
        <p:spPr>
          <a:xfrm>
            <a:off x="5374386" y="4279820"/>
            <a:ext cx="433882"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Rectangle 168"/>
          <p:cNvSpPr/>
          <p:nvPr/>
        </p:nvSpPr>
        <p:spPr>
          <a:xfrm>
            <a:off x="1005840" y="4317682"/>
            <a:ext cx="529894"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ectangle 169"/>
          <p:cNvSpPr/>
          <p:nvPr/>
        </p:nvSpPr>
        <p:spPr>
          <a:xfrm>
            <a:off x="1533906" y="4317682"/>
            <a:ext cx="3842308"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ectangle 170"/>
          <p:cNvSpPr/>
          <p:nvPr/>
        </p:nvSpPr>
        <p:spPr>
          <a:xfrm>
            <a:off x="5374386" y="4317682"/>
            <a:ext cx="433882"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Rectangle 171"/>
          <p:cNvSpPr/>
          <p:nvPr/>
        </p:nvSpPr>
        <p:spPr>
          <a:xfrm>
            <a:off x="1005840" y="4355544"/>
            <a:ext cx="577900"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1581912" y="4355544"/>
            <a:ext cx="3794302"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ectangle 173"/>
          <p:cNvSpPr/>
          <p:nvPr/>
        </p:nvSpPr>
        <p:spPr>
          <a:xfrm>
            <a:off x="5374386" y="4355544"/>
            <a:ext cx="433882"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Rectangle 174"/>
          <p:cNvSpPr/>
          <p:nvPr/>
        </p:nvSpPr>
        <p:spPr>
          <a:xfrm>
            <a:off x="1005840" y="4393406"/>
            <a:ext cx="577900"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ectangle 175"/>
          <p:cNvSpPr/>
          <p:nvPr/>
        </p:nvSpPr>
        <p:spPr>
          <a:xfrm>
            <a:off x="1581912" y="4393406"/>
            <a:ext cx="3794302"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Rectangle 176"/>
          <p:cNvSpPr/>
          <p:nvPr/>
        </p:nvSpPr>
        <p:spPr>
          <a:xfrm>
            <a:off x="5374386" y="4393406"/>
            <a:ext cx="433882"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ectangle 177"/>
          <p:cNvSpPr/>
          <p:nvPr/>
        </p:nvSpPr>
        <p:spPr>
          <a:xfrm>
            <a:off x="1005840" y="4431268"/>
            <a:ext cx="577900"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Rectangle 178"/>
          <p:cNvSpPr/>
          <p:nvPr/>
        </p:nvSpPr>
        <p:spPr>
          <a:xfrm>
            <a:off x="1581912" y="4431268"/>
            <a:ext cx="3842308"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ectangle 179"/>
          <p:cNvSpPr/>
          <p:nvPr/>
        </p:nvSpPr>
        <p:spPr>
          <a:xfrm>
            <a:off x="5422392" y="4431268"/>
            <a:ext cx="385876"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Rectangle 180"/>
          <p:cNvSpPr/>
          <p:nvPr/>
        </p:nvSpPr>
        <p:spPr>
          <a:xfrm>
            <a:off x="1005840" y="4469129"/>
            <a:ext cx="625906"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1629918" y="4469129"/>
            <a:ext cx="3794302"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Rectangle 182"/>
          <p:cNvSpPr/>
          <p:nvPr/>
        </p:nvSpPr>
        <p:spPr>
          <a:xfrm>
            <a:off x="5422392" y="4469129"/>
            <a:ext cx="385876"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Rectangle 183"/>
          <p:cNvSpPr/>
          <p:nvPr/>
        </p:nvSpPr>
        <p:spPr>
          <a:xfrm>
            <a:off x="1005840" y="4506991"/>
            <a:ext cx="625906"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Rectangle 184"/>
          <p:cNvSpPr/>
          <p:nvPr/>
        </p:nvSpPr>
        <p:spPr>
          <a:xfrm>
            <a:off x="1629918" y="4506991"/>
            <a:ext cx="3794302"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5422392" y="4506991"/>
            <a:ext cx="385876"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Rectangle 186"/>
          <p:cNvSpPr/>
          <p:nvPr/>
        </p:nvSpPr>
        <p:spPr>
          <a:xfrm>
            <a:off x="1005840" y="4544853"/>
            <a:ext cx="673912"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Rectangle 187"/>
          <p:cNvSpPr/>
          <p:nvPr/>
        </p:nvSpPr>
        <p:spPr>
          <a:xfrm>
            <a:off x="1677924" y="4544853"/>
            <a:ext cx="3746296"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Rectangle 188"/>
          <p:cNvSpPr/>
          <p:nvPr/>
        </p:nvSpPr>
        <p:spPr>
          <a:xfrm>
            <a:off x="5422392" y="4544853"/>
            <a:ext cx="385876"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Rectangle 189"/>
          <p:cNvSpPr/>
          <p:nvPr/>
        </p:nvSpPr>
        <p:spPr>
          <a:xfrm>
            <a:off x="1005840" y="4582715"/>
            <a:ext cx="673912"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Rectangle 190"/>
          <p:cNvSpPr/>
          <p:nvPr/>
        </p:nvSpPr>
        <p:spPr>
          <a:xfrm>
            <a:off x="1677924" y="4582715"/>
            <a:ext cx="3746296"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Rectangle 191"/>
          <p:cNvSpPr/>
          <p:nvPr/>
        </p:nvSpPr>
        <p:spPr>
          <a:xfrm>
            <a:off x="5422392" y="4582715"/>
            <a:ext cx="385876"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Rectangle 192"/>
          <p:cNvSpPr/>
          <p:nvPr/>
        </p:nvSpPr>
        <p:spPr>
          <a:xfrm>
            <a:off x="1005840" y="4620577"/>
            <a:ext cx="721918"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Rectangle 193"/>
          <p:cNvSpPr/>
          <p:nvPr/>
        </p:nvSpPr>
        <p:spPr>
          <a:xfrm>
            <a:off x="1725930" y="4620577"/>
            <a:ext cx="3698290"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Rectangle 194"/>
          <p:cNvSpPr/>
          <p:nvPr/>
        </p:nvSpPr>
        <p:spPr>
          <a:xfrm>
            <a:off x="5422392" y="4620577"/>
            <a:ext cx="385876"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ectangle 195"/>
          <p:cNvSpPr/>
          <p:nvPr/>
        </p:nvSpPr>
        <p:spPr>
          <a:xfrm>
            <a:off x="1005840" y="4658439"/>
            <a:ext cx="721918"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ectangle 196"/>
          <p:cNvSpPr/>
          <p:nvPr/>
        </p:nvSpPr>
        <p:spPr>
          <a:xfrm>
            <a:off x="1725930" y="4658439"/>
            <a:ext cx="3746296"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Rectangle 197"/>
          <p:cNvSpPr/>
          <p:nvPr/>
        </p:nvSpPr>
        <p:spPr>
          <a:xfrm>
            <a:off x="5470398" y="4658439"/>
            <a:ext cx="337870"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Rectangle 198"/>
          <p:cNvSpPr/>
          <p:nvPr/>
        </p:nvSpPr>
        <p:spPr>
          <a:xfrm>
            <a:off x="1005840" y="4696301"/>
            <a:ext cx="769924"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Rectangle 199"/>
          <p:cNvSpPr/>
          <p:nvPr/>
        </p:nvSpPr>
        <p:spPr>
          <a:xfrm>
            <a:off x="1773936" y="4696301"/>
            <a:ext cx="3698290"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Rectangle 200"/>
          <p:cNvSpPr/>
          <p:nvPr/>
        </p:nvSpPr>
        <p:spPr>
          <a:xfrm>
            <a:off x="5470398" y="4696301"/>
            <a:ext cx="337870"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Rectangle 201"/>
          <p:cNvSpPr/>
          <p:nvPr/>
        </p:nvSpPr>
        <p:spPr>
          <a:xfrm>
            <a:off x="1005840" y="4734163"/>
            <a:ext cx="769924"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ectangle 202"/>
          <p:cNvSpPr/>
          <p:nvPr/>
        </p:nvSpPr>
        <p:spPr>
          <a:xfrm>
            <a:off x="1773936" y="4734163"/>
            <a:ext cx="3698290"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ectangle 203"/>
          <p:cNvSpPr/>
          <p:nvPr/>
        </p:nvSpPr>
        <p:spPr>
          <a:xfrm>
            <a:off x="5470398" y="4734163"/>
            <a:ext cx="337870"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Rectangle 204"/>
          <p:cNvSpPr/>
          <p:nvPr/>
        </p:nvSpPr>
        <p:spPr>
          <a:xfrm>
            <a:off x="1005840" y="4772025"/>
            <a:ext cx="817930"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Rectangle 205"/>
          <p:cNvSpPr/>
          <p:nvPr/>
        </p:nvSpPr>
        <p:spPr>
          <a:xfrm>
            <a:off x="1821942" y="4772025"/>
            <a:ext cx="3650284"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Rectangle 206"/>
          <p:cNvSpPr/>
          <p:nvPr/>
        </p:nvSpPr>
        <p:spPr>
          <a:xfrm>
            <a:off x="5470398" y="4772025"/>
            <a:ext cx="337870"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Rectangle 207"/>
          <p:cNvSpPr/>
          <p:nvPr/>
        </p:nvSpPr>
        <p:spPr>
          <a:xfrm>
            <a:off x="1005840" y="4809886"/>
            <a:ext cx="865936"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ectangle 208"/>
          <p:cNvSpPr/>
          <p:nvPr/>
        </p:nvSpPr>
        <p:spPr>
          <a:xfrm>
            <a:off x="1869948" y="4809886"/>
            <a:ext cx="3602278"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ectangle 209"/>
          <p:cNvSpPr/>
          <p:nvPr/>
        </p:nvSpPr>
        <p:spPr>
          <a:xfrm>
            <a:off x="5470398" y="4809886"/>
            <a:ext cx="337870"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Rectangle 210"/>
          <p:cNvSpPr/>
          <p:nvPr/>
        </p:nvSpPr>
        <p:spPr>
          <a:xfrm>
            <a:off x="1005840" y="4847748"/>
            <a:ext cx="913942"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Rectangle 211"/>
          <p:cNvSpPr/>
          <p:nvPr/>
        </p:nvSpPr>
        <p:spPr>
          <a:xfrm>
            <a:off x="1917954" y="4847748"/>
            <a:ext cx="3554272"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Rectangle 212"/>
          <p:cNvSpPr/>
          <p:nvPr/>
        </p:nvSpPr>
        <p:spPr>
          <a:xfrm>
            <a:off x="5470398" y="4847748"/>
            <a:ext cx="337870"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Rectangle 213"/>
          <p:cNvSpPr/>
          <p:nvPr/>
        </p:nvSpPr>
        <p:spPr>
          <a:xfrm>
            <a:off x="1005840" y="4885610"/>
            <a:ext cx="961948"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Rectangle 214"/>
          <p:cNvSpPr/>
          <p:nvPr/>
        </p:nvSpPr>
        <p:spPr>
          <a:xfrm>
            <a:off x="1965960" y="4885610"/>
            <a:ext cx="3506266"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Rectangle 215"/>
          <p:cNvSpPr/>
          <p:nvPr/>
        </p:nvSpPr>
        <p:spPr>
          <a:xfrm>
            <a:off x="5470398" y="4885610"/>
            <a:ext cx="337870"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Rectangle 216"/>
          <p:cNvSpPr/>
          <p:nvPr/>
        </p:nvSpPr>
        <p:spPr>
          <a:xfrm>
            <a:off x="1005840" y="4923472"/>
            <a:ext cx="1009954"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Rectangle 217"/>
          <p:cNvSpPr/>
          <p:nvPr/>
        </p:nvSpPr>
        <p:spPr>
          <a:xfrm>
            <a:off x="2013966" y="4923472"/>
            <a:ext cx="3458260"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Rectangle 218"/>
          <p:cNvSpPr/>
          <p:nvPr/>
        </p:nvSpPr>
        <p:spPr>
          <a:xfrm>
            <a:off x="5470398" y="4923472"/>
            <a:ext cx="337870"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Rectangle 219"/>
          <p:cNvSpPr/>
          <p:nvPr/>
        </p:nvSpPr>
        <p:spPr>
          <a:xfrm>
            <a:off x="1005840" y="4961334"/>
            <a:ext cx="1057960"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Rectangle 220"/>
          <p:cNvSpPr/>
          <p:nvPr/>
        </p:nvSpPr>
        <p:spPr>
          <a:xfrm>
            <a:off x="2061972" y="4961334"/>
            <a:ext cx="3410254"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Rectangle 221"/>
          <p:cNvSpPr/>
          <p:nvPr/>
        </p:nvSpPr>
        <p:spPr>
          <a:xfrm>
            <a:off x="5470398" y="4961334"/>
            <a:ext cx="337870"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Rectangle 222"/>
          <p:cNvSpPr/>
          <p:nvPr/>
        </p:nvSpPr>
        <p:spPr>
          <a:xfrm>
            <a:off x="1005840" y="4999196"/>
            <a:ext cx="1105966"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Rectangle 223"/>
          <p:cNvSpPr/>
          <p:nvPr/>
        </p:nvSpPr>
        <p:spPr>
          <a:xfrm>
            <a:off x="2109978" y="4999196"/>
            <a:ext cx="3410254"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Rectangle 224"/>
          <p:cNvSpPr/>
          <p:nvPr/>
        </p:nvSpPr>
        <p:spPr>
          <a:xfrm>
            <a:off x="5518404" y="4999196"/>
            <a:ext cx="289864"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Rectangle 225"/>
          <p:cNvSpPr/>
          <p:nvPr/>
        </p:nvSpPr>
        <p:spPr>
          <a:xfrm>
            <a:off x="1005840" y="5037058"/>
            <a:ext cx="1153972" cy="39690"/>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Rectangle 226"/>
          <p:cNvSpPr/>
          <p:nvPr/>
        </p:nvSpPr>
        <p:spPr>
          <a:xfrm>
            <a:off x="2157984" y="5037058"/>
            <a:ext cx="3362248" cy="39690"/>
          </a:xfrm>
          <a:prstGeom prst="rect">
            <a:avLst/>
          </a:prstGeom>
          <a:solidFill>
            <a:srgbClr val="A47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Rectangle 227"/>
          <p:cNvSpPr/>
          <p:nvPr/>
        </p:nvSpPr>
        <p:spPr>
          <a:xfrm>
            <a:off x="5518404" y="5037058"/>
            <a:ext cx="289864" cy="3969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Rectangle 228"/>
          <p:cNvSpPr/>
          <p:nvPr/>
        </p:nvSpPr>
        <p:spPr>
          <a:xfrm>
            <a:off x="1005840" y="5066690"/>
            <a:ext cx="4800600" cy="16459"/>
          </a:xfrm>
          <a:prstGeom prst="rect">
            <a:avLst/>
          </a:prstGeom>
          <a:solidFill>
            <a:srgbClr val="2231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Rectangle 229"/>
          <p:cNvSpPr/>
          <p:nvPr/>
        </p:nvSpPr>
        <p:spPr>
          <a:xfrm>
            <a:off x="997610" y="2651760"/>
            <a:ext cx="16459" cy="2423160"/>
          </a:xfrm>
          <a:prstGeom prst="rect">
            <a:avLst/>
          </a:prstGeom>
          <a:solidFill>
            <a:srgbClr val="2231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body:230"/>
          <p:cNvSpPr txBox="1"/>
          <p:nvPr/>
        </p:nvSpPr>
        <p:spPr>
          <a:xfrm>
            <a:off x="822960" y="5111496"/>
            <a:ext cx="365760" cy="228600"/>
          </a:xfrm>
          <a:prstGeom prst="rect">
            <a:avLst/>
          </a:prstGeom>
          <a:noFill/>
        </p:spPr>
        <p:txBody>
          <a:bodyPr wrap="square" lIns="22860" rIns="22860" tIns="22860" bIns="22860" anchor="ctr">
            <a:spAutoFit/>
          </a:bodyPr>
          <a:lstStyle/>
          <a:p>
            <a:pPr algn="l">
              <a:lnSpc>
                <a:spcPct val="108000"/>
              </a:lnSpc>
            </a:pPr>
            <a:r>
              <a:rPr sz="1100" b="0">
                <a:solidFill>
                  <a:srgbClr val="5F6E80"/>
                </a:solidFill>
                <a:latin typeface="Arial"/>
              </a:rPr>
              <a:t>0</a:t>
            </a:r>
          </a:p>
        </p:txBody>
      </p:sp>
      <p:sp>
        <p:nvSpPr>
          <p:cNvPr id="232" name="body:231"/>
          <p:cNvSpPr txBox="1"/>
          <p:nvPr/>
        </p:nvSpPr>
        <p:spPr>
          <a:xfrm>
            <a:off x="3223260" y="5111496"/>
            <a:ext cx="365760" cy="228600"/>
          </a:xfrm>
          <a:prstGeom prst="rect">
            <a:avLst/>
          </a:prstGeom>
          <a:noFill/>
        </p:spPr>
        <p:txBody>
          <a:bodyPr wrap="square" lIns="22860" rIns="22860" tIns="22860" bIns="22860" anchor="ctr">
            <a:spAutoFit/>
          </a:bodyPr>
          <a:lstStyle/>
          <a:p>
            <a:pPr algn="l">
              <a:lnSpc>
                <a:spcPct val="108000"/>
              </a:lnSpc>
            </a:pPr>
            <a:r>
              <a:rPr sz="1100" b="0">
                <a:solidFill>
                  <a:srgbClr val="5F6E80"/>
                </a:solidFill>
                <a:latin typeface="Arial"/>
              </a:rPr>
              <a:t>0.5</a:t>
            </a:r>
          </a:p>
        </p:txBody>
      </p:sp>
      <p:sp>
        <p:nvSpPr>
          <p:cNvPr id="233" name="body:232"/>
          <p:cNvSpPr txBox="1"/>
          <p:nvPr/>
        </p:nvSpPr>
        <p:spPr>
          <a:xfrm>
            <a:off x="5623559" y="5111496"/>
            <a:ext cx="365760" cy="228600"/>
          </a:xfrm>
          <a:prstGeom prst="rect">
            <a:avLst/>
          </a:prstGeom>
          <a:noFill/>
        </p:spPr>
        <p:txBody>
          <a:bodyPr wrap="square" lIns="22860" rIns="22860" tIns="22860" bIns="22860" anchor="ctr">
            <a:spAutoFit/>
          </a:bodyPr>
          <a:lstStyle/>
          <a:p>
            <a:pPr algn="l">
              <a:lnSpc>
                <a:spcPct val="108000"/>
              </a:lnSpc>
            </a:pPr>
            <a:r>
              <a:rPr sz="1100" b="0">
                <a:solidFill>
                  <a:srgbClr val="5F6E80"/>
                </a:solidFill>
                <a:latin typeface="Arial"/>
              </a:rPr>
              <a:t>1</a:t>
            </a:r>
          </a:p>
        </p:txBody>
      </p:sp>
      <p:sp>
        <p:nvSpPr>
          <p:cNvPr id="234" name="body:233"/>
          <p:cNvSpPr txBox="1"/>
          <p:nvPr/>
        </p:nvSpPr>
        <p:spPr>
          <a:xfrm>
            <a:off x="612648" y="4937759"/>
            <a:ext cx="292608" cy="274320"/>
          </a:xfrm>
          <a:prstGeom prst="rect">
            <a:avLst/>
          </a:prstGeom>
          <a:noFill/>
        </p:spPr>
        <p:txBody>
          <a:bodyPr wrap="square" lIns="22860" rIns="22860" tIns="22860" bIns="22860" anchor="ctr">
            <a:spAutoFit/>
          </a:bodyPr>
          <a:lstStyle/>
          <a:p>
            <a:pPr algn="l">
              <a:lnSpc>
                <a:spcPct val="108000"/>
              </a:lnSpc>
            </a:pPr>
            <a:r>
              <a:rPr sz="1100" b="0">
                <a:solidFill>
                  <a:srgbClr val="5F6E80"/>
                </a:solidFill>
                <a:latin typeface="Arial"/>
              </a:rPr>
              <a:t>0</a:t>
            </a:r>
          </a:p>
        </p:txBody>
      </p:sp>
      <p:sp>
        <p:nvSpPr>
          <p:cNvPr id="235" name="body:234"/>
          <p:cNvSpPr txBox="1"/>
          <p:nvPr/>
        </p:nvSpPr>
        <p:spPr>
          <a:xfrm>
            <a:off x="612648" y="3726179"/>
            <a:ext cx="292608" cy="274320"/>
          </a:xfrm>
          <a:prstGeom prst="rect">
            <a:avLst/>
          </a:prstGeom>
          <a:noFill/>
        </p:spPr>
        <p:txBody>
          <a:bodyPr wrap="square" lIns="22860" rIns="22860" tIns="22860" bIns="22860" anchor="ctr">
            <a:spAutoFit/>
          </a:bodyPr>
          <a:lstStyle/>
          <a:p>
            <a:pPr algn="l">
              <a:lnSpc>
                <a:spcPct val="108000"/>
              </a:lnSpc>
            </a:pPr>
            <a:r>
              <a:rPr sz="1100" b="0">
                <a:solidFill>
                  <a:srgbClr val="5F6E80"/>
                </a:solidFill>
                <a:latin typeface="Arial"/>
              </a:rPr>
              <a:t>4</a:t>
            </a:r>
          </a:p>
        </p:txBody>
      </p:sp>
      <p:sp>
        <p:nvSpPr>
          <p:cNvPr id="236" name="body:235"/>
          <p:cNvSpPr txBox="1"/>
          <p:nvPr/>
        </p:nvSpPr>
        <p:spPr>
          <a:xfrm>
            <a:off x="612648" y="2514600"/>
            <a:ext cx="292608" cy="274320"/>
          </a:xfrm>
          <a:prstGeom prst="rect">
            <a:avLst/>
          </a:prstGeom>
          <a:noFill/>
        </p:spPr>
        <p:txBody>
          <a:bodyPr wrap="square" lIns="22860" rIns="22860" tIns="22860" bIns="22860" anchor="ctr">
            <a:spAutoFit/>
          </a:bodyPr>
          <a:lstStyle/>
          <a:p>
            <a:pPr algn="l">
              <a:lnSpc>
                <a:spcPct val="108000"/>
              </a:lnSpc>
            </a:pPr>
            <a:r>
              <a:rPr sz="1100" b="0">
                <a:solidFill>
                  <a:srgbClr val="5F6E80"/>
                </a:solidFill>
                <a:latin typeface="Arial"/>
              </a:rPr>
              <a:t>8</a:t>
            </a:r>
          </a:p>
        </p:txBody>
      </p:sp>
      <p:sp>
        <p:nvSpPr>
          <p:cNvPr id="237" name="body:236"/>
          <p:cNvSpPr txBox="1"/>
          <p:nvPr/>
        </p:nvSpPr>
        <p:spPr>
          <a:xfrm>
            <a:off x="1600200" y="5349240"/>
            <a:ext cx="3886200" cy="246888"/>
          </a:xfrm>
          <a:prstGeom prst="rect">
            <a:avLst/>
          </a:prstGeom>
          <a:noFill/>
        </p:spPr>
        <p:txBody>
          <a:bodyPr wrap="square" lIns="22860" rIns="22860" tIns="22860" bIns="22860" anchor="ctr">
            <a:spAutoFit/>
          </a:bodyPr>
          <a:lstStyle/>
          <a:p>
            <a:pPr algn="l">
              <a:lnSpc>
                <a:spcPct val="108000"/>
              </a:lnSpc>
            </a:pPr>
            <a:r>
              <a:rPr sz="1300" b="0">
                <a:solidFill>
                  <a:srgbClr val="5F6E80"/>
                </a:solidFill>
                <a:latin typeface="Arial"/>
              </a:rPr>
              <a:t>Belief p that local recovery works</a:t>
            </a:r>
          </a:p>
        </p:txBody>
      </p:sp>
      <p:sp>
        <p:nvSpPr>
          <p:cNvPr id="238" name="body:237"/>
          <p:cNvSpPr txBox="1"/>
          <p:nvPr/>
        </p:nvSpPr>
        <p:spPr>
          <a:xfrm>
            <a:off x="1010412" y="2852928"/>
            <a:ext cx="292608" cy="320040"/>
          </a:xfrm>
          <a:prstGeom prst="rect">
            <a:avLst/>
          </a:prstGeom>
          <a:noFill/>
        </p:spPr>
        <p:txBody>
          <a:bodyPr wrap="square" lIns="22860" rIns="22860" tIns="22860" bIns="22860" anchor="ctr">
            <a:spAutoFit/>
          </a:bodyPr>
          <a:lstStyle/>
          <a:p>
            <a:pPr algn="l">
              <a:lnSpc>
                <a:spcPct val="108000"/>
              </a:lnSpc>
            </a:pPr>
            <a:r>
              <a:rPr sz="800" b="1">
                <a:solidFill>
                  <a:srgbClr val="FFFFFF"/>
                </a:solidFill>
                <a:latin typeface="Arial"/>
              </a:rPr>
              <a:t>stop</a:t>
            </a:r>
          </a:p>
        </p:txBody>
      </p:sp>
      <p:sp>
        <p:nvSpPr>
          <p:cNvPr id="239" name="body:238"/>
          <p:cNvSpPr txBox="1"/>
          <p:nvPr/>
        </p:nvSpPr>
        <p:spPr>
          <a:xfrm>
            <a:off x="1097280" y="4389120"/>
            <a:ext cx="502920" cy="320040"/>
          </a:xfrm>
          <a:prstGeom prst="rect">
            <a:avLst/>
          </a:prstGeom>
          <a:noFill/>
        </p:spPr>
        <p:txBody>
          <a:bodyPr wrap="square" lIns="22860" rIns="22860" tIns="22860" bIns="22860" anchor="ctr">
            <a:spAutoFit/>
          </a:bodyPr>
          <a:lstStyle/>
          <a:p>
            <a:pPr algn="l">
              <a:lnSpc>
                <a:spcPct val="108000"/>
              </a:lnSpc>
            </a:pPr>
            <a:r>
              <a:rPr sz="1400" b="1">
                <a:solidFill>
                  <a:srgbClr val="FFFFFF"/>
                </a:solidFill>
                <a:latin typeface="Arial"/>
              </a:rPr>
              <a:t>ASK</a:t>
            </a:r>
          </a:p>
        </p:txBody>
      </p:sp>
      <p:sp>
        <p:nvSpPr>
          <p:cNvPr id="240" name="body:239"/>
          <p:cNvSpPr txBox="1"/>
          <p:nvPr/>
        </p:nvSpPr>
        <p:spPr>
          <a:xfrm>
            <a:off x="2286000" y="3337560"/>
            <a:ext cx="1463040" cy="320040"/>
          </a:xfrm>
          <a:prstGeom prst="rect">
            <a:avLst/>
          </a:prstGeom>
          <a:noFill/>
        </p:spPr>
        <p:txBody>
          <a:bodyPr wrap="square" lIns="22860" rIns="22860" tIns="22860" bIns="22860" anchor="ctr">
            <a:spAutoFit/>
          </a:bodyPr>
          <a:lstStyle/>
          <a:p>
            <a:pPr algn="l">
              <a:lnSpc>
                <a:spcPct val="108000"/>
              </a:lnSpc>
            </a:pPr>
            <a:r>
              <a:rPr sz="1600" b="1">
                <a:solidFill>
                  <a:srgbClr val="FFFFFF"/>
                </a:solidFill>
                <a:latin typeface="Arial"/>
              </a:rPr>
              <a:t>PROBE</a:t>
            </a:r>
          </a:p>
        </p:txBody>
      </p:sp>
      <p:sp>
        <p:nvSpPr>
          <p:cNvPr id="241" name="body:240"/>
          <p:cNvSpPr txBox="1"/>
          <p:nvPr/>
        </p:nvSpPr>
        <p:spPr>
          <a:xfrm>
            <a:off x="4736592" y="2852928"/>
            <a:ext cx="1005840" cy="320040"/>
          </a:xfrm>
          <a:prstGeom prst="rect">
            <a:avLst/>
          </a:prstGeom>
          <a:noFill/>
        </p:spPr>
        <p:txBody>
          <a:bodyPr wrap="square" lIns="22860" rIns="22860" tIns="22860" bIns="22860" anchor="ctr">
            <a:spAutoFit/>
          </a:bodyPr>
          <a:lstStyle/>
          <a:p>
            <a:pPr algn="l">
              <a:lnSpc>
                <a:spcPct val="108000"/>
              </a:lnSpc>
            </a:pPr>
            <a:r>
              <a:rPr sz="1200" b="1">
                <a:solidFill>
                  <a:srgbClr val="FFFFFF"/>
                </a:solidFill>
                <a:latin typeface="Arial"/>
              </a:rPr>
              <a:t>RECOVER</a:t>
            </a:r>
          </a:p>
        </p:txBody>
      </p:sp>
      <p:sp>
        <p:nvSpPr>
          <p:cNvPr id="242" name="Oval 241"/>
          <p:cNvSpPr/>
          <p:nvPr/>
        </p:nvSpPr>
        <p:spPr>
          <a:xfrm>
            <a:off x="2377439" y="4400549"/>
            <a:ext cx="137160" cy="137160"/>
          </a:xfrm>
          <a:prstGeom prst="ellipse">
            <a:avLst/>
          </a:prstGeom>
          <a:solidFill>
            <a:srgbClr val="FFFFFF"/>
          </a:solidFill>
          <a:ln w="15875">
            <a:solidFill>
              <a:srgbClr val="172D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body:242"/>
          <p:cNvSpPr txBox="1"/>
          <p:nvPr/>
        </p:nvSpPr>
        <p:spPr>
          <a:xfrm>
            <a:off x="2555748" y="4423409"/>
            <a:ext cx="1645920" cy="274320"/>
          </a:xfrm>
          <a:prstGeom prst="rect">
            <a:avLst/>
          </a:prstGeom>
          <a:noFill/>
        </p:spPr>
        <p:txBody>
          <a:bodyPr wrap="square" lIns="22860" rIns="22860" tIns="22860" bIns="22860" anchor="ctr">
            <a:spAutoFit/>
          </a:bodyPr>
          <a:lstStyle/>
          <a:p>
            <a:pPr algn="l">
              <a:lnSpc>
                <a:spcPct val="108000"/>
              </a:lnSpc>
            </a:pPr>
            <a:r>
              <a:rPr sz="1200" b="1">
                <a:solidFill>
                  <a:srgbClr val="FFFFFF"/>
                </a:solidFill>
                <a:latin typeface="Arial"/>
              </a:rPr>
              <a:t>p=.3, d=2</a:t>
            </a:r>
          </a:p>
        </p:txBody>
      </p:sp>
      <p:sp>
        <p:nvSpPr>
          <p:cNvPr id="244" name="Rectangle 243"/>
          <p:cNvSpPr/>
          <p:nvPr/>
        </p:nvSpPr>
        <p:spPr>
          <a:xfrm>
            <a:off x="6309360" y="2157984"/>
            <a:ext cx="5312664" cy="1024128"/>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Rectangle 244"/>
          <p:cNvSpPr/>
          <p:nvPr/>
        </p:nvSpPr>
        <p:spPr>
          <a:xfrm>
            <a:off x="6309360" y="2157984"/>
            <a:ext cx="82296" cy="1024128"/>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label:245"/>
          <p:cNvSpPr txBox="1"/>
          <p:nvPr/>
        </p:nvSpPr>
        <p:spPr>
          <a:xfrm>
            <a:off x="6547104" y="2267712"/>
            <a:ext cx="4946903" cy="256032"/>
          </a:xfrm>
          <a:prstGeom prst="rect">
            <a:avLst/>
          </a:prstGeom>
          <a:noFill/>
        </p:spPr>
        <p:txBody>
          <a:bodyPr wrap="square" lIns="22860" rIns="22860" tIns="22860" bIns="22860" anchor="ctr">
            <a:spAutoFit/>
          </a:bodyPr>
          <a:lstStyle/>
          <a:p>
            <a:pPr algn="l">
              <a:lnSpc>
                <a:spcPct val="108000"/>
              </a:lnSpc>
            </a:pPr>
            <a:r>
              <a:rPr sz="1100" b="1">
                <a:solidFill>
                  <a:srgbClr val="1E7A72"/>
                </a:solidFill>
                <a:latin typeface="Arial"/>
              </a:rPr>
              <a:t>RESULT 2 · QUERY WHEN AN ANSWER WOULD CHANGE THE ACTION</a:t>
            </a:r>
          </a:p>
        </p:txBody>
      </p:sp>
      <p:pic>
        <p:nvPicPr>
          <p:cNvPr id="247" name="math:246" descr="f12.png"/>
          <p:cNvPicPr>
            <a:picLocks noChangeAspect="1"/>
          </p:cNvPicPr>
          <p:nvPr/>
        </p:nvPicPr>
        <p:blipFill>
          <a:blip r:embed="rId4"/>
          <a:stretch>
            <a:fillRect/>
          </a:stretch>
        </p:blipFill>
        <p:spPr>
          <a:xfrm>
            <a:off x="6565392" y="2542032"/>
            <a:ext cx="3130155" cy="291107"/>
          </a:xfrm>
          <a:prstGeom prst="rect">
            <a:avLst/>
          </a:prstGeom>
        </p:spPr>
      </p:pic>
      <p:pic>
        <p:nvPicPr>
          <p:cNvPr id="248" name="math:247" descr="f13.png"/>
          <p:cNvPicPr>
            <a:picLocks noChangeAspect="1"/>
          </p:cNvPicPr>
          <p:nvPr/>
        </p:nvPicPr>
        <p:blipFill>
          <a:blip r:embed="rId5"/>
          <a:stretch>
            <a:fillRect/>
          </a:stretch>
        </p:blipFill>
        <p:spPr>
          <a:xfrm>
            <a:off x="6565392" y="2887159"/>
            <a:ext cx="2827043" cy="240088"/>
          </a:xfrm>
          <a:prstGeom prst="rect">
            <a:avLst/>
          </a:prstGeom>
        </p:spPr>
      </p:pic>
      <p:sp>
        <p:nvSpPr>
          <p:cNvPr id="249" name="Rectangle 248"/>
          <p:cNvSpPr/>
          <p:nvPr/>
        </p:nvSpPr>
        <p:spPr>
          <a:xfrm>
            <a:off x="6309360" y="3291840"/>
            <a:ext cx="5312664" cy="2231136"/>
          </a:xfrm>
          <a:prstGeom prst="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Rectangle 249"/>
          <p:cNvSpPr/>
          <p:nvPr/>
        </p:nvSpPr>
        <p:spPr>
          <a:xfrm>
            <a:off x="6309360" y="3291840"/>
            <a:ext cx="64008" cy="2231136"/>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body:250"/>
          <p:cNvSpPr txBox="1"/>
          <p:nvPr/>
        </p:nvSpPr>
        <p:spPr>
          <a:xfrm>
            <a:off x="6510528" y="3364992"/>
            <a:ext cx="4846320" cy="365760"/>
          </a:xfrm>
          <a:prstGeom prst="rect">
            <a:avLst/>
          </a:prstGeom>
          <a:noFill/>
        </p:spPr>
        <p:txBody>
          <a:bodyPr wrap="square" lIns="22860" rIns="22860" tIns="22860" bIns="22860" anchor="ctr">
            <a:spAutoFit/>
          </a:bodyPr>
          <a:lstStyle/>
          <a:p>
            <a:pPr algn="l">
              <a:lnSpc>
                <a:spcPct val="108000"/>
              </a:lnSpc>
            </a:pPr>
            <a:r>
              <a:rPr sz="1700" b="1">
                <a:solidFill>
                  <a:srgbClr val="1E7A72"/>
                </a:solidFill>
                <a:latin typeface="Arial"/>
              </a:rPr>
              <a:t>At p = 0.30 and d = 2</a:t>
            </a:r>
          </a:p>
        </p:txBody>
      </p:sp>
      <p:sp>
        <p:nvSpPr>
          <p:cNvPr id="252" name="body:251"/>
          <p:cNvSpPr txBox="1"/>
          <p:nvPr/>
        </p:nvSpPr>
        <p:spPr>
          <a:xfrm>
            <a:off x="6528816" y="3730752"/>
            <a:ext cx="2103120" cy="329184"/>
          </a:xfrm>
          <a:prstGeom prst="rect">
            <a:avLst/>
          </a:prstGeom>
          <a:noFill/>
        </p:spPr>
        <p:txBody>
          <a:bodyPr wrap="square" lIns="22860" rIns="22860" tIns="22860" bIns="22860" anchor="ctr">
            <a:spAutoFit/>
          </a:bodyPr>
          <a:lstStyle/>
          <a:p>
            <a:pPr algn="l">
              <a:lnSpc>
                <a:spcPct val="108000"/>
              </a:lnSpc>
            </a:pPr>
            <a:r>
              <a:rPr sz="1300" b="0">
                <a:solidFill>
                  <a:srgbClr val="22313F"/>
                </a:solidFill>
                <a:latin typeface="Arial"/>
              </a:rPr>
              <a:t>Recover</a:t>
            </a:r>
          </a:p>
        </p:txBody>
      </p:sp>
      <p:pic>
        <p:nvPicPr>
          <p:cNvPr id="253" name="math:252" descr="f14.png"/>
          <p:cNvPicPr>
            <a:picLocks noChangeAspect="1"/>
          </p:cNvPicPr>
          <p:nvPr/>
        </p:nvPicPr>
        <p:blipFill>
          <a:blip r:embed="rId6"/>
          <a:stretch>
            <a:fillRect/>
          </a:stretch>
        </p:blipFill>
        <p:spPr>
          <a:xfrm>
            <a:off x="8595360" y="3796283"/>
            <a:ext cx="509016" cy="198120"/>
          </a:xfrm>
          <a:prstGeom prst="rect">
            <a:avLst/>
          </a:prstGeom>
        </p:spPr>
      </p:pic>
      <p:sp>
        <p:nvSpPr>
          <p:cNvPr id="254" name="body:253"/>
          <p:cNvSpPr txBox="1"/>
          <p:nvPr/>
        </p:nvSpPr>
        <p:spPr>
          <a:xfrm>
            <a:off x="10835640" y="3730752"/>
            <a:ext cx="502920" cy="329184"/>
          </a:xfrm>
          <a:prstGeom prst="rect">
            <a:avLst/>
          </a:prstGeom>
          <a:noFill/>
        </p:spPr>
        <p:txBody>
          <a:bodyPr wrap="square" lIns="22860" rIns="22860" tIns="22860" bIns="22860" anchor="ctr">
            <a:spAutoFit/>
          </a:bodyPr>
          <a:lstStyle/>
          <a:p>
            <a:pPr algn="l">
              <a:lnSpc>
                <a:spcPct val="108000"/>
              </a:lnSpc>
            </a:pPr>
            <a:r>
              <a:rPr sz="1600" b="1">
                <a:solidFill>
                  <a:srgbClr val="22313F"/>
                </a:solidFill>
                <a:latin typeface="Arial"/>
              </a:rPr>
              <a:t>1.0</a:t>
            </a:r>
          </a:p>
        </p:txBody>
      </p:sp>
      <p:sp>
        <p:nvSpPr>
          <p:cNvPr id="255" name="body:254"/>
          <p:cNvSpPr txBox="1"/>
          <p:nvPr/>
        </p:nvSpPr>
        <p:spPr>
          <a:xfrm>
            <a:off x="6528816" y="4096512"/>
            <a:ext cx="2103120" cy="329184"/>
          </a:xfrm>
          <a:prstGeom prst="rect">
            <a:avLst/>
          </a:prstGeom>
          <a:noFill/>
        </p:spPr>
        <p:txBody>
          <a:bodyPr wrap="square" lIns="22860" rIns="22860" tIns="22860" bIns="22860" anchor="ctr">
            <a:spAutoFit/>
          </a:bodyPr>
          <a:lstStyle/>
          <a:p>
            <a:pPr algn="l">
              <a:lnSpc>
                <a:spcPct val="108000"/>
              </a:lnSpc>
            </a:pPr>
            <a:r>
              <a:rPr sz="1300" b="0">
                <a:solidFill>
                  <a:srgbClr val="22313F"/>
                </a:solidFill>
                <a:latin typeface="Arial"/>
              </a:rPr>
              <a:t>Ask, then obey the reply</a:t>
            </a:r>
          </a:p>
        </p:txBody>
      </p:sp>
      <p:pic>
        <p:nvPicPr>
          <p:cNvPr id="256" name="math:255" descr="f15.png"/>
          <p:cNvPicPr>
            <a:picLocks noChangeAspect="1"/>
          </p:cNvPicPr>
          <p:nvPr/>
        </p:nvPicPr>
        <p:blipFill>
          <a:blip r:embed="rId7"/>
          <a:stretch>
            <a:fillRect/>
          </a:stretch>
        </p:blipFill>
        <p:spPr>
          <a:xfrm>
            <a:off x="8595360" y="4162044"/>
            <a:ext cx="768096" cy="198120"/>
          </a:xfrm>
          <a:prstGeom prst="rect">
            <a:avLst/>
          </a:prstGeom>
        </p:spPr>
      </p:pic>
      <p:sp>
        <p:nvSpPr>
          <p:cNvPr id="257" name="body:256"/>
          <p:cNvSpPr txBox="1"/>
          <p:nvPr/>
        </p:nvSpPr>
        <p:spPr>
          <a:xfrm>
            <a:off x="10835640" y="4096512"/>
            <a:ext cx="502920" cy="329184"/>
          </a:xfrm>
          <a:prstGeom prst="rect">
            <a:avLst/>
          </a:prstGeom>
          <a:noFill/>
        </p:spPr>
        <p:txBody>
          <a:bodyPr wrap="square" lIns="22860" rIns="22860" tIns="22860" bIns="22860" anchor="ctr">
            <a:spAutoFit/>
          </a:bodyPr>
          <a:lstStyle/>
          <a:p>
            <a:pPr algn="l">
              <a:lnSpc>
                <a:spcPct val="108000"/>
              </a:lnSpc>
            </a:pPr>
            <a:r>
              <a:rPr sz="1600" b="1">
                <a:solidFill>
                  <a:srgbClr val="22313F"/>
                </a:solidFill>
                <a:latin typeface="Arial"/>
              </a:rPr>
              <a:t>4.0</a:t>
            </a:r>
          </a:p>
        </p:txBody>
      </p:sp>
      <p:sp>
        <p:nvSpPr>
          <p:cNvPr id="258" name="body:257"/>
          <p:cNvSpPr txBox="1"/>
          <p:nvPr/>
        </p:nvSpPr>
        <p:spPr>
          <a:xfrm>
            <a:off x="6528816" y="4462272"/>
            <a:ext cx="2103120" cy="329184"/>
          </a:xfrm>
          <a:prstGeom prst="rect">
            <a:avLst/>
          </a:prstGeom>
          <a:noFill/>
        </p:spPr>
        <p:txBody>
          <a:bodyPr wrap="square" lIns="22860" rIns="22860" tIns="22860" bIns="22860" anchor="ctr">
            <a:spAutoFit/>
          </a:bodyPr>
          <a:lstStyle/>
          <a:p>
            <a:pPr algn="l">
              <a:lnSpc>
                <a:spcPct val="108000"/>
              </a:lnSpc>
            </a:pPr>
            <a:r>
              <a:rPr sz="1300" b="0">
                <a:solidFill>
                  <a:srgbClr val="22313F"/>
                </a:solidFill>
                <a:latin typeface="Arial"/>
              </a:rPr>
              <a:t>Stop</a:t>
            </a:r>
          </a:p>
        </p:txBody>
      </p:sp>
      <p:pic>
        <p:nvPicPr>
          <p:cNvPr id="259" name="math:258" descr="f16.png"/>
          <p:cNvPicPr>
            <a:picLocks noChangeAspect="1"/>
          </p:cNvPicPr>
          <p:nvPr/>
        </p:nvPicPr>
        <p:blipFill>
          <a:blip r:embed="rId8"/>
          <a:stretch>
            <a:fillRect/>
          </a:stretch>
        </p:blipFill>
        <p:spPr>
          <a:xfrm>
            <a:off x="8595360" y="4527804"/>
            <a:ext cx="128016" cy="198120"/>
          </a:xfrm>
          <a:prstGeom prst="rect">
            <a:avLst/>
          </a:prstGeom>
        </p:spPr>
      </p:pic>
      <p:sp>
        <p:nvSpPr>
          <p:cNvPr id="260" name="body:259"/>
          <p:cNvSpPr txBox="1"/>
          <p:nvPr/>
        </p:nvSpPr>
        <p:spPr>
          <a:xfrm>
            <a:off x="10835640" y="4462272"/>
            <a:ext cx="502920" cy="329184"/>
          </a:xfrm>
          <a:prstGeom prst="rect">
            <a:avLst/>
          </a:prstGeom>
          <a:noFill/>
        </p:spPr>
        <p:txBody>
          <a:bodyPr wrap="square" lIns="22860" rIns="22860" tIns="22860" bIns="22860" anchor="ctr">
            <a:spAutoFit/>
          </a:bodyPr>
          <a:lstStyle/>
          <a:p>
            <a:pPr algn="l">
              <a:lnSpc>
                <a:spcPct val="108000"/>
              </a:lnSpc>
            </a:pPr>
            <a:r>
              <a:rPr sz="1600" b="1">
                <a:solidFill>
                  <a:srgbClr val="22313F"/>
                </a:solidFill>
                <a:latin typeface="Arial"/>
              </a:rPr>
              <a:t>0.0</a:t>
            </a:r>
          </a:p>
        </p:txBody>
      </p:sp>
      <p:sp>
        <p:nvSpPr>
          <p:cNvPr id="261" name="Rounded Rectangle 260"/>
          <p:cNvSpPr/>
          <p:nvPr/>
        </p:nvSpPr>
        <p:spPr>
          <a:xfrm>
            <a:off x="6455664" y="4800600"/>
            <a:ext cx="5029200" cy="384048"/>
          </a:xfrm>
          <a:prstGeom prst="roundRect">
            <a:avLst>
              <a:gd name="adj" fmla="val 5000"/>
            </a:avLst>
          </a:prstGeom>
          <a:solidFill>
            <a:srgbClr val="E1F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body:261"/>
          <p:cNvSpPr txBox="1"/>
          <p:nvPr/>
        </p:nvSpPr>
        <p:spPr>
          <a:xfrm>
            <a:off x="6528816" y="4828032"/>
            <a:ext cx="2103120" cy="329184"/>
          </a:xfrm>
          <a:prstGeom prst="rect">
            <a:avLst/>
          </a:prstGeom>
          <a:noFill/>
        </p:spPr>
        <p:txBody>
          <a:bodyPr wrap="square" lIns="22860" rIns="22860" tIns="22860" bIns="22860" anchor="ctr">
            <a:spAutoFit/>
          </a:bodyPr>
          <a:lstStyle/>
          <a:p>
            <a:pPr algn="l">
              <a:lnSpc>
                <a:spcPct val="108000"/>
              </a:lnSpc>
            </a:pPr>
            <a:r>
              <a:rPr sz="1300" b="1">
                <a:solidFill>
                  <a:srgbClr val="22313F"/>
                </a:solidFill>
                <a:latin typeface="Arial"/>
              </a:rPr>
              <a:t>Probe, then decide</a:t>
            </a:r>
          </a:p>
        </p:txBody>
      </p:sp>
      <p:pic>
        <p:nvPicPr>
          <p:cNvPr id="263" name="math:262" descr="f17.png"/>
          <p:cNvPicPr>
            <a:picLocks noChangeAspect="1"/>
          </p:cNvPicPr>
          <p:nvPr/>
        </p:nvPicPr>
        <p:blipFill>
          <a:blip r:embed="rId9"/>
          <a:stretch>
            <a:fillRect/>
          </a:stretch>
        </p:blipFill>
        <p:spPr>
          <a:xfrm>
            <a:off x="8595360" y="4893564"/>
            <a:ext cx="1472184" cy="198120"/>
          </a:xfrm>
          <a:prstGeom prst="rect">
            <a:avLst/>
          </a:prstGeom>
        </p:spPr>
      </p:pic>
      <p:sp>
        <p:nvSpPr>
          <p:cNvPr id="264" name="body:263"/>
          <p:cNvSpPr txBox="1"/>
          <p:nvPr/>
        </p:nvSpPr>
        <p:spPr>
          <a:xfrm>
            <a:off x="10835640" y="4828032"/>
            <a:ext cx="502920" cy="329184"/>
          </a:xfrm>
          <a:prstGeom prst="rect">
            <a:avLst/>
          </a:prstGeom>
          <a:noFill/>
        </p:spPr>
        <p:txBody>
          <a:bodyPr wrap="square" lIns="22860" rIns="22860" tIns="22860" bIns="22860" anchor="ctr">
            <a:spAutoFit/>
          </a:bodyPr>
          <a:lstStyle/>
          <a:p>
            <a:pPr algn="l">
              <a:lnSpc>
                <a:spcPct val="108000"/>
              </a:lnSpc>
            </a:pPr>
            <a:r>
              <a:rPr sz="1600" b="1">
                <a:solidFill>
                  <a:srgbClr val="1E7A72"/>
                </a:solidFill>
                <a:latin typeface="Arial"/>
              </a:rPr>
              <a:t>4.7</a:t>
            </a:r>
          </a:p>
        </p:txBody>
      </p:sp>
      <p:sp>
        <p:nvSpPr>
          <p:cNvPr id="265" name="body:264"/>
          <p:cNvSpPr txBox="1"/>
          <p:nvPr/>
        </p:nvSpPr>
        <p:spPr>
          <a:xfrm>
            <a:off x="6510528" y="5230368"/>
            <a:ext cx="4937760" cy="292608"/>
          </a:xfrm>
          <a:prstGeom prst="rect">
            <a:avLst/>
          </a:prstGeom>
          <a:noFill/>
        </p:spPr>
        <p:txBody>
          <a:bodyPr wrap="square" lIns="22860" rIns="22860" tIns="22860" bIns="22860" anchor="ctr">
            <a:spAutoFit/>
          </a:bodyPr>
          <a:lstStyle/>
          <a:p>
            <a:pPr algn="l">
              <a:lnSpc>
                <a:spcPct val="100000"/>
              </a:lnSpc>
            </a:pPr>
            <a:r>
              <a:rPr sz="950" b="0">
                <a:solidFill>
                  <a:srgbClr val="5F6E80"/>
                </a:solidFill>
                <a:latin typeface="Arial"/>
              </a:rPr>
              <a:t>Success 10; recovery cost 2; grant chance .6; a perfect probe costs .5 and changes no permission.</a:t>
            </a:r>
          </a:p>
        </p:txBody>
      </p:sp>
      <p:sp>
        <p:nvSpPr>
          <p:cNvPr id="266" name="Rounded Rectangle 265"/>
          <p:cNvSpPr/>
          <p:nvPr/>
        </p:nvSpPr>
        <p:spPr>
          <a:xfrm>
            <a:off x="566928" y="5715000"/>
            <a:ext cx="11055096" cy="548640"/>
          </a:xfrm>
          <a:prstGeom prst="roundRect">
            <a:avLst>
              <a:gd name="adj" fmla="val 5000"/>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body:266"/>
          <p:cNvSpPr txBox="1"/>
          <p:nvPr/>
        </p:nvSpPr>
        <p:spPr>
          <a:xfrm>
            <a:off x="768096" y="5742432"/>
            <a:ext cx="10652760" cy="493776"/>
          </a:xfrm>
          <a:prstGeom prst="rect">
            <a:avLst/>
          </a:prstGeom>
          <a:noFill/>
        </p:spPr>
        <p:txBody>
          <a:bodyPr wrap="square" lIns="22860" rIns="22860" tIns="22860" bIns="22860" anchor="ctr">
            <a:spAutoFit/>
          </a:bodyPr>
          <a:lstStyle/>
          <a:p>
            <a:pPr algn="l">
              <a:lnSpc>
                <a:spcPct val="108000"/>
              </a:lnSpc>
            </a:pPr>
            <a:r>
              <a:rPr sz="1600" b="1">
                <a:solidFill>
                  <a:srgbClr val="FFFFFF"/>
                </a:solidFill>
                <a:latin typeface="Arial"/>
              </a:rPr>
              <a:t>A diagnostic informs b</a:t>
            </a:r>
            <a:r>
              <a:rPr sz="1600" b="1" baseline="-25000">
                <a:solidFill>
                  <a:srgbClr val="FFFFFF"/>
                </a:solidFill>
                <a:latin typeface="Arial"/>
              </a:rPr>
              <a:t>t</a:t>
            </a:r>
            <a:r>
              <a:rPr sz="1600" b="1">
                <a:solidFill>
                  <a:srgbClr val="FFFFFF"/>
                </a:solidFill>
                <a:latin typeface="Arial"/>
              </a:rPr>
              <a:t>; only a request can change g</a:t>
            </a:r>
            <a:r>
              <a:rPr sz="1600" b="1" baseline="-25000">
                <a:solidFill>
                  <a:srgbClr val="FFFFFF"/>
                </a:solidFill>
                <a:latin typeface="Arial"/>
              </a:rPr>
              <a:t>t</a:t>
            </a:r>
            <a:r>
              <a:rPr sz="1600" b="1">
                <a:solidFill>
                  <a:srgbClr val="FFFFFF"/>
                </a:solidFill>
                <a:latin typeface="Arial"/>
              </a:rPr>
              <a:t>. Cheap checks cut premature stops and needless requests.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label:2"/>
          <p:cNvSpPr txBox="1"/>
          <p:nvPr/>
        </p:nvSpPr>
        <p:spPr>
          <a:xfrm>
            <a:off x="566928" y="365760"/>
            <a:ext cx="10058400" cy="420624"/>
          </a:xfrm>
          <a:prstGeom prst="rect">
            <a:avLst/>
          </a:prstGeom>
          <a:noFill/>
        </p:spPr>
        <p:txBody>
          <a:bodyPr wrap="square" lIns="22860" rIns="22860" tIns="22860" bIns="22860" anchor="ctr">
            <a:spAutoFit/>
          </a:bodyPr>
          <a:lstStyle/>
          <a:p>
            <a:pPr algn="l">
              <a:lnSpc>
                <a:spcPct val="108000"/>
              </a:lnSpc>
            </a:pPr>
            <a:r>
              <a:rPr sz="1100" b="1">
                <a:solidFill>
                  <a:srgbClr val="1E7A72"/>
                </a:solidFill>
                <a:latin typeface="Arial"/>
              </a:rPr>
              <a:t>10 / DECISION UNDER AMBIGUITY; PRINCIPAL AND AGENT</a:t>
            </a:r>
          </a:p>
        </p:txBody>
      </p:sp>
      <p:sp>
        <p:nvSpPr>
          <p:cNvPr id="4" name="title:3"/>
          <p:cNvSpPr txBox="1"/>
          <p:nvPr/>
        </p:nvSpPr>
        <p:spPr>
          <a:xfrm>
            <a:off x="566928" y="786384"/>
            <a:ext cx="11055096" cy="804672"/>
          </a:xfrm>
          <a:prstGeom prst="rect">
            <a:avLst/>
          </a:prstGeom>
          <a:noFill/>
        </p:spPr>
        <p:txBody>
          <a:bodyPr wrap="square" lIns="22860" rIns="22860" tIns="22860" bIns="22860" anchor="ctr">
            <a:spAutoFit/>
          </a:bodyPr>
          <a:lstStyle/>
          <a:p>
            <a:pPr algn="l">
              <a:lnSpc>
                <a:spcPct val="105000"/>
              </a:lnSpc>
            </a:pPr>
            <a:r>
              <a:rPr sz="2600" b="1">
                <a:solidFill>
                  <a:srgbClr val="172D46"/>
                </a:solidFill>
                <a:latin typeface="Arial"/>
              </a:rPr>
              <a:t>Result 3: under a silent grant, ask dominates without a prior.</a:t>
            </a:r>
          </a:p>
        </p:txBody>
      </p:sp>
      <p:sp>
        <p:nvSpPr>
          <p:cNvPr id="5" name="Rectangle 4"/>
          <p:cNvSpPr/>
          <p:nvPr/>
        </p:nvSpPr>
        <p:spPr>
          <a:xfrm>
            <a:off x="566928" y="1609344"/>
            <a:ext cx="868680" cy="4572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ubtitle:5"/>
          <p:cNvSpPr txBox="1"/>
          <p:nvPr/>
        </p:nvSpPr>
        <p:spPr>
          <a:xfrm>
            <a:off x="585216" y="1682496"/>
            <a:ext cx="11055096" cy="457200"/>
          </a:xfrm>
          <a:prstGeom prst="rect">
            <a:avLst/>
          </a:prstGeom>
          <a:noFill/>
        </p:spPr>
        <p:txBody>
          <a:bodyPr wrap="square" lIns="22860" rIns="22860" tIns="22860" bIns="22860" anchor="ctr">
            <a:spAutoFit/>
          </a:bodyPr>
          <a:lstStyle/>
          <a:p>
            <a:pPr algn="l">
              <a:lnSpc>
                <a:spcPct val="105000"/>
              </a:lnSpc>
            </a:pPr>
            <a:r>
              <a:rPr sz="1400" b="0">
                <a:solidFill>
                  <a:srgbClr val="5F6E80"/>
                </a:solidFill>
                <a:latin typeface="Arial"/>
              </a:rPr>
              <a:t>Not risk, where probabilities are known, but ambiguity: two plausible grants and no prior over them. Toy payoffs.</a:t>
            </a:r>
          </a:p>
        </p:txBody>
      </p:sp>
      <p:sp>
        <p:nvSpPr>
          <p:cNvPr id="7" name="source:6"/>
          <p:cNvSpPr txBox="1"/>
          <p:nvPr/>
        </p:nvSpPr>
        <p:spPr>
          <a:xfrm>
            <a:off x="566928" y="6400800"/>
            <a:ext cx="1033272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rPr>
              <a:t> </a:t>
            </a:r>
          </a:p>
        </p:txBody>
      </p:sp>
      <p:sp>
        <p:nvSpPr>
          <p:cNvPr id="8" name="source:7"/>
          <p:cNvSpPr txBox="1"/>
          <p:nvPr/>
        </p:nvSpPr>
        <p:spPr>
          <a:xfrm>
            <a:off x="10927080" y="6364224"/>
            <a:ext cx="694944" cy="265176"/>
          </a:xfrm>
          <a:prstGeom prst="rect">
            <a:avLst/>
          </a:prstGeom>
          <a:noFill/>
        </p:spPr>
        <p:txBody>
          <a:bodyPr wrap="square" lIns="22860" rIns="22860" tIns="22860" bIns="22860" anchor="ctr">
            <a:spAutoFit/>
          </a:bodyPr>
          <a:lstStyle/>
          <a:p>
            <a:pPr algn="ctr">
              <a:lnSpc>
                <a:spcPct val="108000"/>
              </a:lnSpc>
            </a:pPr>
            <a:r>
              <a:rPr sz="1000" b="1">
                <a:solidFill>
                  <a:srgbClr val="5F6E80"/>
                </a:solidFill>
                <a:latin typeface="Arial"/>
              </a:rPr>
              <a:t>12 / 22</a:t>
            </a:r>
          </a:p>
        </p:txBody>
      </p:sp>
      <p:sp>
        <p:nvSpPr>
          <p:cNvPr id="9" name="Rectangle 8"/>
          <p:cNvSpPr/>
          <p:nvPr/>
        </p:nvSpPr>
        <p:spPr>
          <a:xfrm>
            <a:off x="56692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7151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57609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80675"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8525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8984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9442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99005"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0358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0817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1275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17336"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2191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2650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63108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35666"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4024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4483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4941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153996"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65857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16316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104120" y="365760"/>
            <a:ext cx="1517904" cy="274320"/>
          </a:xfrm>
          <a:prstGeom prst="roundRect">
            <a:avLst>
              <a:gd name="adj" fmla="val 5000"/>
            </a:avLst>
          </a:prstGeom>
          <a:solidFill>
            <a:srgbClr val="F7EF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31"/>
          <p:cNvSpPr txBox="1"/>
          <p:nvPr/>
        </p:nvSpPr>
        <p:spPr>
          <a:xfrm>
            <a:off x="10158984" y="365760"/>
            <a:ext cx="1408176" cy="274320"/>
          </a:xfrm>
          <a:prstGeom prst="rect">
            <a:avLst/>
          </a:prstGeom>
          <a:noFill/>
        </p:spPr>
        <p:txBody>
          <a:bodyPr wrap="square" lIns="22860" rIns="22860" tIns="22860" bIns="22860" anchor="ctr">
            <a:spAutoFit/>
          </a:bodyPr>
          <a:lstStyle/>
          <a:p>
            <a:pPr algn="ctr">
              <a:lnSpc>
                <a:spcPct val="108000"/>
              </a:lnSpc>
            </a:pPr>
            <a:r>
              <a:rPr sz="1000" b="1">
                <a:solidFill>
                  <a:srgbClr val="A4761A"/>
                </a:solidFill>
                <a:latin typeface="Arial"/>
              </a:rPr>
              <a:t>EXACT TOY</a:t>
            </a:r>
          </a:p>
        </p:txBody>
      </p:sp>
      <p:sp>
        <p:nvSpPr>
          <p:cNvPr id="33" name="source:32"/>
          <p:cNvSpPr txBox="1"/>
          <p:nvPr/>
        </p:nvSpPr>
        <p:spPr>
          <a:xfrm>
            <a:off x="566928" y="6400800"/>
            <a:ext cx="365760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2"/>
              </a:rPr>
              <a:t>Maxmin expected utility: Gilboa &amp; Schmeidler 1989</a:t>
            </a:r>
          </a:p>
        </p:txBody>
      </p:sp>
      <p:sp>
        <p:nvSpPr>
          <p:cNvPr id="34" name="source:33"/>
          <p:cNvSpPr txBox="1"/>
          <p:nvPr/>
        </p:nvSpPr>
        <p:spPr>
          <a:xfrm>
            <a:off x="4370832" y="6400800"/>
            <a:ext cx="91440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3"/>
              </a:rPr>
              <a:t>CIRL 2016</a:t>
            </a:r>
          </a:p>
        </p:txBody>
      </p:sp>
      <p:sp>
        <p:nvSpPr>
          <p:cNvPr id="35" name="source:34"/>
          <p:cNvSpPr txBox="1"/>
          <p:nvPr/>
        </p:nvSpPr>
        <p:spPr>
          <a:xfrm>
            <a:off x="5431536" y="6400800"/>
            <a:ext cx="164592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4"/>
              </a:rPr>
              <a:t>Off-switch game 2017</a:t>
            </a:r>
          </a:p>
        </p:txBody>
      </p:sp>
      <p:sp>
        <p:nvSpPr>
          <p:cNvPr id="36" name="source:35"/>
          <p:cNvSpPr txBox="1"/>
          <p:nvPr/>
        </p:nvSpPr>
        <p:spPr>
          <a:xfrm>
            <a:off x="7223760" y="6400800"/>
            <a:ext cx="256032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5"/>
              </a:rPr>
              <a:t>X1b: silent and conflicting grants</a:t>
            </a:r>
          </a:p>
        </p:txBody>
      </p:sp>
      <p:sp>
        <p:nvSpPr>
          <p:cNvPr id="37" name="Rectangle 36"/>
          <p:cNvSpPr/>
          <p:nvPr/>
        </p:nvSpPr>
        <p:spPr>
          <a:xfrm>
            <a:off x="566928" y="2176272"/>
            <a:ext cx="1600200" cy="420624"/>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ody:37"/>
          <p:cNvSpPr txBox="1"/>
          <p:nvPr/>
        </p:nvSpPr>
        <p:spPr>
          <a:xfrm>
            <a:off x="649224" y="2176272"/>
            <a:ext cx="1435608" cy="420624"/>
          </a:xfrm>
          <a:prstGeom prst="rect">
            <a:avLst/>
          </a:prstGeom>
          <a:noFill/>
        </p:spPr>
        <p:txBody>
          <a:bodyPr wrap="square" lIns="22860" rIns="22860" tIns="22860" bIns="22860" anchor="ctr">
            <a:spAutoFit/>
          </a:bodyPr>
          <a:lstStyle/>
          <a:p>
            <a:pPr algn="l">
              <a:lnSpc>
                <a:spcPct val="100000"/>
              </a:lnSpc>
            </a:pPr>
            <a:r>
              <a:rPr sz="1150" b="1">
                <a:solidFill>
                  <a:srgbClr val="FFFFFF"/>
                </a:solidFill>
                <a:latin typeface="Arial"/>
              </a:rPr>
              <a:t>Action</a:t>
            </a:r>
          </a:p>
        </p:txBody>
      </p:sp>
      <p:sp>
        <p:nvSpPr>
          <p:cNvPr id="39" name="Rectangle 38"/>
          <p:cNvSpPr/>
          <p:nvPr/>
        </p:nvSpPr>
        <p:spPr>
          <a:xfrm>
            <a:off x="2167128" y="2176272"/>
            <a:ext cx="1188720" cy="420624"/>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ody:39"/>
          <p:cNvSpPr txBox="1"/>
          <p:nvPr/>
        </p:nvSpPr>
        <p:spPr>
          <a:xfrm>
            <a:off x="2249424" y="2176272"/>
            <a:ext cx="1024128" cy="420624"/>
          </a:xfrm>
          <a:prstGeom prst="rect">
            <a:avLst/>
          </a:prstGeom>
          <a:noFill/>
        </p:spPr>
        <p:txBody>
          <a:bodyPr wrap="square" lIns="22860" rIns="22860" tIns="22860" bIns="22860" anchor="ctr">
            <a:spAutoFit/>
          </a:bodyPr>
          <a:lstStyle/>
          <a:p>
            <a:pPr algn="l">
              <a:lnSpc>
                <a:spcPct val="100000"/>
              </a:lnSpc>
            </a:pPr>
            <a:r>
              <a:rPr sz="1150" b="1">
                <a:solidFill>
                  <a:srgbClr val="FFFFFF"/>
                </a:solidFill>
                <a:latin typeface="Arial"/>
              </a:rPr>
              <a:t>g: archive allowed</a:t>
            </a:r>
          </a:p>
        </p:txBody>
      </p:sp>
      <p:sp>
        <p:nvSpPr>
          <p:cNvPr id="41" name="Rectangle 40"/>
          <p:cNvSpPr/>
          <p:nvPr/>
        </p:nvSpPr>
        <p:spPr>
          <a:xfrm>
            <a:off x="3355848" y="2176272"/>
            <a:ext cx="1234440" cy="420624"/>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ody:41"/>
          <p:cNvSpPr txBox="1"/>
          <p:nvPr/>
        </p:nvSpPr>
        <p:spPr>
          <a:xfrm>
            <a:off x="3438144" y="2176272"/>
            <a:ext cx="1069848" cy="420624"/>
          </a:xfrm>
          <a:prstGeom prst="rect">
            <a:avLst/>
          </a:prstGeom>
          <a:noFill/>
        </p:spPr>
        <p:txBody>
          <a:bodyPr wrap="square" lIns="22860" rIns="22860" tIns="22860" bIns="22860" anchor="ctr">
            <a:spAutoFit/>
          </a:bodyPr>
          <a:lstStyle/>
          <a:p>
            <a:pPr algn="l">
              <a:lnSpc>
                <a:spcPct val="100000"/>
              </a:lnSpc>
            </a:pPr>
            <a:r>
              <a:rPr sz="1150" b="1">
                <a:solidFill>
                  <a:srgbClr val="FFFFFF"/>
                </a:solidFill>
                <a:latin typeface="Arial"/>
              </a:rPr>
              <a:t>g: archive excluded</a:t>
            </a:r>
          </a:p>
        </p:txBody>
      </p:sp>
      <p:sp>
        <p:nvSpPr>
          <p:cNvPr id="43" name="Rectangle 42"/>
          <p:cNvSpPr/>
          <p:nvPr/>
        </p:nvSpPr>
        <p:spPr>
          <a:xfrm>
            <a:off x="4590288" y="2176272"/>
            <a:ext cx="868680" cy="420624"/>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ody:43"/>
          <p:cNvSpPr txBox="1"/>
          <p:nvPr/>
        </p:nvSpPr>
        <p:spPr>
          <a:xfrm>
            <a:off x="4672583" y="2176272"/>
            <a:ext cx="704088" cy="420624"/>
          </a:xfrm>
          <a:prstGeom prst="rect">
            <a:avLst/>
          </a:prstGeom>
          <a:noFill/>
        </p:spPr>
        <p:txBody>
          <a:bodyPr wrap="square" lIns="22860" rIns="22860" tIns="22860" bIns="22860" anchor="ctr">
            <a:spAutoFit/>
          </a:bodyPr>
          <a:lstStyle/>
          <a:p>
            <a:pPr algn="l">
              <a:lnSpc>
                <a:spcPct val="100000"/>
              </a:lnSpc>
            </a:pPr>
            <a:r>
              <a:rPr sz="1150" b="1">
                <a:solidFill>
                  <a:srgbClr val="FFFFFF"/>
                </a:solidFill>
                <a:latin typeface="Arial"/>
              </a:rPr>
              <a:t>maxmin</a:t>
            </a:r>
          </a:p>
        </p:txBody>
      </p:sp>
      <p:sp>
        <p:nvSpPr>
          <p:cNvPr id="45" name="Rectangle 44"/>
          <p:cNvSpPr/>
          <p:nvPr/>
        </p:nvSpPr>
        <p:spPr>
          <a:xfrm>
            <a:off x="5458968" y="2176272"/>
            <a:ext cx="914400" cy="420624"/>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ody:45"/>
          <p:cNvSpPr txBox="1"/>
          <p:nvPr/>
        </p:nvSpPr>
        <p:spPr>
          <a:xfrm>
            <a:off x="5541264" y="2176272"/>
            <a:ext cx="749808" cy="420624"/>
          </a:xfrm>
          <a:prstGeom prst="rect">
            <a:avLst/>
          </a:prstGeom>
          <a:noFill/>
        </p:spPr>
        <p:txBody>
          <a:bodyPr wrap="square" lIns="22860" rIns="22860" tIns="22860" bIns="22860" anchor="ctr">
            <a:spAutoFit/>
          </a:bodyPr>
          <a:lstStyle/>
          <a:p>
            <a:pPr algn="l">
              <a:lnSpc>
                <a:spcPct val="100000"/>
              </a:lnSpc>
            </a:pPr>
            <a:r>
              <a:rPr sz="1150" b="1">
                <a:solidFill>
                  <a:srgbClr val="FFFFFF"/>
                </a:solidFill>
                <a:latin typeface="Arial"/>
              </a:rPr>
              <a:t>max regret</a:t>
            </a:r>
          </a:p>
        </p:txBody>
      </p:sp>
      <p:sp>
        <p:nvSpPr>
          <p:cNvPr id="47" name="Rectangle 46"/>
          <p:cNvSpPr/>
          <p:nvPr/>
        </p:nvSpPr>
        <p:spPr>
          <a:xfrm>
            <a:off x="566928" y="2596896"/>
            <a:ext cx="1600200" cy="4206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ody:47"/>
          <p:cNvSpPr txBox="1"/>
          <p:nvPr/>
        </p:nvSpPr>
        <p:spPr>
          <a:xfrm>
            <a:off x="649224" y="2596896"/>
            <a:ext cx="1435608" cy="420624"/>
          </a:xfrm>
          <a:prstGeom prst="rect">
            <a:avLst/>
          </a:prstGeom>
          <a:noFill/>
        </p:spPr>
        <p:txBody>
          <a:bodyPr wrap="square" lIns="22860" rIns="22860" tIns="22860" bIns="22860" anchor="ctr">
            <a:spAutoFit/>
          </a:bodyPr>
          <a:lstStyle/>
          <a:p>
            <a:pPr algn="l">
              <a:lnSpc>
                <a:spcPct val="100000"/>
              </a:lnSpc>
            </a:pPr>
            <a:r>
              <a:rPr sz="1150" b="1">
                <a:solidFill>
                  <a:srgbClr val="22313F"/>
                </a:solidFill>
                <a:latin typeface="Arial"/>
              </a:rPr>
              <a:t>Read the archive</a:t>
            </a:r>
          </a:p>
        </p:txBody>
      </p:sp>
      <p:sp>
        <p:nvSpPr>
          <p:cNvPr id="49" name="Rectangle 48"/>
          <p:cNvSpPr/>
          <p:nvPr/>
        </p:nvSpPr>
        <p:spPr>
          <a:xfrm>
            <a:off x="2167128" y="2596896"/>
            <a:ext cx="1188720" cy="4206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ody:49"/>
          <p:cNvSpPr txBox="1"/>
          <p:nvPr/>
        </p:nvSpPr>
        <p:spPr>
          <a:xfrm>
            <a:off x="2249424" y="2596896"/>
            <a:ext cx="1024128" cy="420624"/>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+10</a:t>
            </a:r>
          </a:p>
        </p:txBody>
      </p:sp>
      <p:sp>
        <p:nvSpPr>
          <p:cNvPr id="51" name="Rectangle 50"/>
          <p:cNvSpPr/>
          <p:nvPr/>
        </p:nvSpPr>
        <p:spPr>
          <a:xfrm>
            <a:off x="3355848" y="2596896"/>
            <a:ext cx="1234440" cy="4206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ody:51"/>
          <p:cNvSpPr txBox="1"/>
          <p:nvPr/>
        </p:nvSpPr>
        <p:spPr>
          <a:xfrm>
            <a:off x="3438144" y="2596896"/>
            <a:ext cx="1069848" cy="420624"/>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-20</a:t>
            </a:r>
          </a:p>
        </p:txBody>
      </p:sp>
      <p:sp>
        <p:nvSpPr>
          <p:cNvPr id="53" name="Rectangle 52"/>
          <p:cNvSpPr/>
          <p:nvPr/>
        </p:nvSpPr>
        <p:spPr>
          <a:xfrm>
            <a:off x="4590288" y="2596896"/>
            <a:ext cx="868680" cy="4206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ody:53"/>
          <p:cNvSpPr txBox="1"/>
          <p:nvPr/>
        </p:nvSpPr>
        <p:spPr>
          <a:xfrm>
            <a:off x="4672583" y="2596896"/>
            <a:ext cx="704088" cy="420624"/>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-20</a:t>
            </a:r>
          </a:p>
        </p:txBody>
      </p:sp>
      <p:sp>
        <p:nvSpPr>
          <p:cNvPr id="55" name="Rectangle 54"/>
          <p:cNvSpPr/>
          <p:nvPr/>
        </p:nvSpPr>
        <p:spPr>
          <a:xfrm>
            <a:off x="5458968" y="2596896"/>
            <a:ext cx="914400" cy="4206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ody:55"/>
          <p:cNvSpPr txBox="1"/>
          <p:nvPr/>
        </p:nvSpPr>
        <p:spPr>
          <a:xfrm>
            <a:off x="5541264" y="2596896"/>
            <a:ext cx="749808" cy="420624"/>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27</a:t>
            </a:r>
          </a:p>
        </p:txBody>
      </p:sp>
      <p:sp>
        <p:nvSpPr>
          <p:cNvPr id="57" name="Rectangle 56"/>
          <p:cNvSpPr/>
          <p:nvPr/>
        </p:nvSpPr>
        <p:spPr>
          <a:xfrm>
            <a:off x="566928" y="3017520"/>
            <a:ext cx="1600200" cy="420624"/>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ody:57"/>
          <p:cNvSpPr txBox="1"/>
          <p:nvPr/>
        </p:nvSpPr>
        <p:spPr>
          <a:xfrm>
            <a:off x="649224" y="3017520"/>
            <a:ext cx="1435608" cy="420624"/>
          </a:xfrm>
          <a:prstGeom prst="rect">
            <a:avLst/>
          </a:prstGeom>
          <a:noFill/>
        </p:spPr>
        <p:txBody>
          <a:bodyPr wrap="square" lIns="22860" rIns="22860" tIns="22860" bIns="22860" anchor="ctr">
            <a:spAutoFit/>
          </a:bodyPr>
          <a:lstStyle/>
          <a:p>
            <a:pPr algn="l">
              <a:lnSpc>
                <a:spcPct val="100000"/>
              </a:lnSpc>
            </a:pPr>
            <a:r>
              <a:rPr sz="1150" b="1">
                <a:solidFill>
                  <a:srgbClr val="22313F"/>
                </a:solidFill>
                <a:latin typeface="Arial"/>
              </a:rPr>
              <a:t>Ask first</a:t>
            </a:r>
          </a:p>
        </p:txBody>
      </p:sp>
      <p:sp>
        <p:nvSpPr>
          <p:cNvPr id="59" name="Rectangle 58"/>
          <p:cNvSpPr/>
          <p:nvPr/>
        </p:nvSpPr>
        <p:spPr>
          <a:xfrm>
            <a:off x="2167128" y="3017520"/>
            <a:ext cx="1188720" cy="420624"/>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ody:59"/>
          <p:cNvSpPr txBox="1"/>
          <p:nvPr/>
        </p:nvSpPr>
        <p:spPr>
          <a:xfrm>
            <a:off x="2249424" y="3017520"/>
            <a:ext cx="1024128" cy="420624"/>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+7</a:t>
            </a:r>
          </a:p>
        </p:txBody>
      </p:sp>
      <p:sp>
        <p:nvSpPr>
          <p:cNvPr id="61" name="Rectangle 60"/>
          <p:cNvSpPr/>
          <p:nvPr/>
        </p:nvSpPr>
        <p:spPr>
          <a:xfrm>
            <a:off x="3355848" y="3017520"/>
            <a:ext cx="1234440" cy="420624"/>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ody:61"/>
          <p:cNvSpPr txBox="1"/>
          <p:nvPr/>
        </p:nvSpPr>
        <p:spPr>
          <a:xfrm>
            <a:off x="3438144" y="3017520"/>
            <a:ext cx="1069848" cy="420624"/>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+7</a:t>
            </a:r>
          </a:p>
        </p:txBody>
      </p:sp>
      <p:sp>
        <p:nvSpPr>
          <p:cNvPr id="63" name="Rectangle 62"/>
          <p:cNvSpPr/>
          <p:nvPr/>
        </p:nvSpPr>
        <p:spPr>
          <a:xfrm>
            <a:off x="4590288" y="3017520"/>
            <a:ext cx="868680" cy="420624"/>
          </a:xfrm>
          <a:prstGeom prst="rect">
            <a:avLst/>
          </a:prstGeom>
          <a:solidFill>
            <a:srgbClr val="E1F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ody:63"/>
          <p:cNvSpPr txBox="1"/>
          <p:nvPr/>
        </p:nvSpPr>
        <p:spPr>
          <a:xfrm>
            <a:off x="4672583" y="3017520"/>
            <a:ext cx="704088" cy="420624"/>
          </a:xfrm>
          <a:prstGeom prst="rect">
            <a:avLst/>
          </a:prstGeom>
          <a:noFill/>
        </p:spPr>
        <p:txBody>
          <a:bodyPr wrap="square" lIns="22860" rIns="22860" tIns="22860" bIns="22860" anchor="ctr">
            <a:spAutoFit/>
          </a:bodyPr>
          <a:lstStyle/>
          <a:p>
            <a:pPr algn="l">
              <a:lnSpc>
                <a:spcPct val="100000"/>
              </a:lnSpc>
            </a:pPr>
            <a:r>
              <a:rPr sz="1150" b="0">
                <a:solidFill>
                  <a:srgbClr val="1E7A72"/>
                </a:solidFill>
                <a:latin typeface="Arial"/>
              </a:rPr>
              <a:t>+7</a:t>
            </a:r>
          </a:p>
        </p:txBody>
      </p:sp>
      <p:sp>
        <p:nvSpPr>
          <p:cNvPr id="65" name="Rectangle 64"/>
          <p:cNvSpPr/>
          <p:nvPr/>
        </p:nvSpPr>
        <p:spPr>
          <a:xfrm>
            <a:off x="5458968" y="3017520"/>
            <a:ext cx="914400" cy="420624"/>
          </a:xfrm>
          <a:prstGeom prst="rect">
            <a:avLst/>
          </a:prstGeom>
          <a:solidFill>
            <a:srgbClr val="E1F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ody:65"/>
          <p:cNvSpPr txBox="1"/>
          <p:nvPr/>
        </p:nvSpPr>
        <p:spPr>
          <a:xfrm>
            <a:off x="5541264" y="3017520"/>
            <a:ext cx="749808" cy="420624"/>
          </a:xfrm>
          <a:prstGeom prst="rect">
            <a:avLst/>
          </a:prstGeom>
          <a:noFill/>
        </p:spPr>
        <p:txBody>
          <a:bodyPr wrap="square" lIns="22860" rIns="22860" tIns="22860" bIns="22860" anchor="ctr">
            <a:spAutoFit/>
          </a:bodyPr>
          <a:lstStyle/>
          <a:p>
            <a:pPr algn="l">
              <a:lnSpc>
                <a:spcPct val="100000"/>
              </a:lnSpc>
            </a:pPr>
            <a:r>
              <a:rPr sz="1150" b="0">
                <a:solidFill>
                  <a:srgbClr val="1E7A72"/>
                </a:solidFill>
                <a:latin typeface="Arial"/>
              </a:rPr>
              <a:t>3</a:t>
            </a:r>
          </a:p>
        </p:txBody>
      </p:sp>
      <p:sp>
        <p:nvSpPr>
          <p:cNvPr id="67" name="Rectangle 66"/>
          <p:cNvSpPr/>
          <p:nvPr/>
        </p:nvSpPr>
        <p:spPr>
          <a:xfrm>
            <a:off x="566928" y="3438144"/>
            <a:ext cx="1600200" cy="4206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ody:67"/>
          <p:cNvSpPr txBox="1"/>
          <p:nvPr/>
        </p:nvSpPr>
        <p:spPr>
          <a:xfrm>
            <a:off x="649224" y="3438144"/>
            <a:ext cx="1435608" cy="420624"/>
          </a:xfrm>
          <a:prstGeom prst="rect">
            <a:avLst/>
          </a:prstGeom>
          <a:noFill/>
        </p:spPr>
        <p:txBody>
          <a:bodyPr wrap="square" lIns="22860" rIns="22860" tIns="22860" bIns="22860" anchor="ctr">
            <a:spAutoFit/>
          </a:bodyPr>
          <a:lstStyle/>
          <a:p>
            <a:pPr algn="l">
              <a:lnSpc>
                <a:spcPct val="100000"/>
              </a:lnSpc>
            </a:pPr>
            <a:r>
              <a:rPr sz="1150" b="1">
                <a:solidFill>
                  <a:srgbClr val="22313F"/>
                </a:solidFill>
                <a:latin typeface="Arial"/>
              </a:rPr>
              <a:t>Stop and report</a:t>
            </a:r>
          </a:p>
        </p:txBody>
      </p:sp>
      <p:sp>
        <p:nvSpPr>
          <p:cNvPr id="69" name="Rectangle 68"/>
          <p:cNvSpPr/>
          <p:nvPr/>
        </p:nvSpPr>
        <p:spPr>
          <a:xfrm>
            <a:off x="2167128" y="3438144"/>
            <a:ext cx="1188720" cy="4206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ody:69"/>
          <p:cNvSpPr txBox="1"/>
          <p:nvPr/>
        </p:nvSpPr>
        <p:spPr>
          <a:xfrm>
            <a:off x="2249424" y="3438144"/>
            <a:ext cx="1024128" cy="420624"/>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+2</a:t>
            </a:r>
          </a:p>
        </p:txBody>
      </p:sp>
      <p:sp>
        <p:nvSpPr>
          <p:cNvPr id="71" name="Rectangle 70"/>
          <p:cNvSpPr/>
          <p:nvPr/>
        </p:nvSpPr>
        <p:spPr>
          <a:xfrm>
            <a:off x="3355848" y="3438144"/>
            <a:ext cx="1234440" cy="4206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ody:71"/>
          <p:cNvSpPr txBox="1"/>
          <p:nvPr/>
        </p:nvSpPr>
        <p:spPr>
          <a:xfrm>
            <a:off x="3438144" y="3438144"/>
            <a:ext cx="1069848" cy="420624"/>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+2</a:t>
            </a:r>
          </a:p>
        </p:txBody>
      </p:sp>
      <p:sp>
        <p:nvSpPr>
          <p:cNvPr id="73" name="Rectangle 72"/>
          <p:cNvSpPr/>
          <p:nvPr/>
        </p:nvSpPr>
        <p:spPr>
          <a:xfrm>
            <a:off x="4590288" y="3438144"/>
            <a:ext cx="868680" cy="4206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ody:73"/>
          <p:cNvSpPr txBox="1"/>
          <p:nvPr/>
        </p:nvSpPr>
        <p:spPr>
          <a:xfrm>
            <a:off x="4672583" y="3438144"/>
            <a:ext cx="704088" cy="420624"/>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+2</a:t>
            </a:r>
          </a:p>
        </p:txBody>
      </p:sp>
      <p:sp>
        <p:nvSpPr>
          <p:cNvPr id="75" name="Rectangle 74"/>
          <p:cNvSpPr/>
          <p:nvPr/>
        </p:nvSpPr>
        <p:spPr>
          <a:xfrm>
            <a:off x="5458968" y="3438144"/>
            <a:ext cx="914400" cy="4206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ody:75"/>
          <p:cNvSpPr txBox="1"/>
          <p:nvPr/>
        </p:nvSpPr>
        <p:spPr>
          <a:xfrm>
            <a:off x="5541264" y="3438144"/>
            <a:ext cx="749808" cy="420624"/>
          </a:xfrm>
          <a:prstGeom prst="rect">
            <a:avLst/>
          </a:prstGeom>
          <a:noFill/>
        </p:spPr>
        <p:txBody>
          <a:bodyPr wrap="square" lIns="22860" rIns="22860" tIns="22860" bIns="22860" anchor="ctr">
            <a:spAutoFit/>
          </a:bodyPr>
          <a:lstStyle/>
          <a:p>
            <a:pPr algn="l">
              <a:lnSpc>
                <a:spcPct val="100000"/>
              </a:lnSpc>
            </a:pPr>
            <a:r>
              <a:rPr sz="1150" b="0">
                <a:solidFill>
                  <a:srgbClr val="22313F"/>
                </a:solidFill>
                <a:latin typeface="Arial"/>
              </a:rPr>
              <a:t>8</a:t>
            </a:r>
          </a:p>
        </p:txBody>
      </p:sp>
      <p:sp>
        <p:nvSpPr>
          <p:cNvPr id="77" name="body:76"/>
          <p:cNvSpPr txBox="1"/>
          <p:nvPr/>
        </p:nvSpPr>
        <p:spPr>
          <a:xfrm>
            <a:off x="566928" y="3931920"/>
            <a:ext cx="5806440" cy="640080"/>
          </a:xfrm>
          <a:prstGeom prst="rect">
            <a:avLst/>
          </a:prstGeom>
          <a:noFill/>
        </p:spPr>
        <p:txBody>
          <a:bodyPr wrap="square" lIns="22860" rIns="22860" tIns="22860" bIns="22860" anchor="ctr">
            <a:spAutoFit/>
          </a:bodyPr>
          <a:lstStyle/>
          <a:p>
            <a:pPr algn="l">
              <a:lnSpc>
                <a:spcPct val="108000"/>
              </a:lnSpc>
            </a:pPr>
            <a:r>
              <a:rPr sz="1250" b="0">
                <a:solidFill>
                  <a:srgbClr val="22313F"/>
                </a:solidFill>
                <a:latin typeface="Arial"/>
              </a:rPr>
              <a:t>Both rules pick "ask first". An expected-utility agent reads the archive only if P(allowed) &gt; 0.90, a number the task never supplied. Reachability is not that number.</a:t>
            </a:r>
          </a:p>
        </p:txBody>
      </p:sp>
      <p:sp>
        <p:nvSpPr>
          <p:cNvPr id="78" name="Rectangle 77"/>
          <p:cNvSpPr/>
          <p:nvPr/>
        </p:nvSpPr>
        <p:spPr>
          <a:xfrm>
            <a:off x="566928" y="4617720"/>
            <a:ext cx="5806440" cy="91440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ody:78"/>
          <p:cNvSpPr txBox="1"/>
          <p:nvPr/>
        </p:nvSpPr>
        <p:spPr>
          <a:xfrm>
            <a:off x="731520" y="4663440"/>
            <a:ext cx="5486400" cy="841248"/>
          </a:xfrm>
          <a:prstGeom prst="rect">
            <a:avLst/>
          </a:prstGeom>
          <a:noFill/>
        </p:spPr>
        <p:txBody>
          <a:bodyPr wrap="square" lIns="22860" rIns="22860" tIns="22860" bIns="22860" anchor="t">
            <a:spAutoFit/>
          </a:bodyPr>
          <a:lstStyle/>
          <a:p>
            <a:pPr algn="l">
              <a:lnSpc>
                <a:spcPct val="108000"/>
              </a:lnSpc>
            </a:pPr>
            <a:r>
              <a:rPr sz="1150" b="0">
                <a:solidFill>
                  <a:srgbClr val="22313F"/>
                </a:solidFill>
                <a:latin typeface="Arial"/>
              </a:rPr>
              <a:t>Principal–agent reading: the principal writes g; the agent acts; the journal says what e touched and only g says whether it was allowed. Where g is silent, who holds residual control is the design variable. A request transfers that decision to the principal; a diagnostic cannot.</a:t>
            </a:r>
          </a:p>
        </p:txBody>
      </p:sp>
      <p:sp>
        <p:nvSpPr>
          <p:cNvPr id="80" name="Rectangle 79"/>
          <p:cNvSpPr/>
          <p:nvPr/>
        </p:nvSpPr>
        <p:spPr>
          <a:xfrm>
            <a:off x="6583680" y="2176272"/>
            <a:ext cx="5038344" cy="1572768"/>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6583680" y="2176272"/>
            <a:ext cx="82296" cy="1572768"/>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label:81"/>
          <p:cNvSpPr txBox="1"/>
          <p:nvPr/>
        </p:nvSpPr>
        <p:spPr>
          <a:xfrm>
            <a:off x="6821424" y="2286000"/>
            <a:ext cx="4672583" cy="256032"/>
          </a:xfrm>
          <a:prstGeom prst="rect">
            <a:avLst/>
          </a:prstGeom>
          <a:noFill/>
        </p:spPr>
        <p:txBody>
          <a:bodyPr wrap="square" lIns="22860" rIns="22860" tIns="22860" bIns="22860" anchor="ctr">
            <a:spAutoFit/>
          </a:bodyPr>
          <a:lstStyle/>
          <a:p>
            <a:pPr algn="l">
              <a:lnSpc>
                <a:spcPct val="108000"/>
              </a:lnSpc>
            </a:pPr>
            <a:r>
              <a:rPr sz="1100" b="1">
                <a:solidFill>
                  <a:srgbClr val="1E7A72"/>
                </a:solidFill>
                <a:latin typeface="Arial"/>
              </a:rPr>
              <a:t>RESULT 3 · ROBUST RULES UNDER SILENCE</a:t>
            </a:r>
          </a:p>
        </p:txBody>
      </p:sp>
      <p:pic>
        <p:nvPicPr>
          <p:cNvPr id="83" name="math:82" descr="f18.png"/>
          <p:cNvPicPr>
            <a:picLocks noChangeAspect="1"/>
          </p:cNvPicPr>
          <p:nvPr/>
        </p:nvPicPr>
        <p:blipFill>
          <a:blip r:embed="rId6"/>
          <a:stretch>
            <a:fillRect/>
          </a:stretch>
        </p:blipFill>
        <p:spPr>
          <a:xfrm>
            <a:off x="6839712" y="2560320"/>
            <a:ext cx="2406408" cy="314661"/>
          </a:xfrm>
          <a:prstGeom prst="rect">
            <a:avLst/>
          </a:prstGeom>
        </p:spPr>
      </p:pic>
      <p:pic>
        <p:nvPicPr>
          <p:cNvPr id="84" name="math:83" descr="f19.png"/>
          <p:cNvPicPr>
            <a:picLocks noChangeAspect="1"/>
          </p:cNvPicPr>
          <p:nvPr/>
        </p:nvPicPr>
        <p:blipFill>
          <a:blip r:embed="rId7"/>
          <a:stretch>
            <a:fillRect/>
          </a:stretch>
        </p:blipFill>
        <p:spPr>
          <a:xfrm>
            <a:off x="6839712" y="2928923"/>
            <a:ext cx="2876902" cy="344628"/>
          </a:xfrm>
          <a:prstGeom prst="rect">
            <a:avLst/>
          </a:prstGeom>
        </p:spPr>
      </p:pic>
      <p:sp>
        <p:nvSpPr>
          <p:cNvPr id="85" name="caption:84"/>
          <p:cNvSpPr txBox="1"/>
          <p:nvPr/>
        </p:nvSpPr>
        <p:spPr>
          <a:xfrm>
            <a:off x="6821424" y="3273551"/>
            <a:ext cx="4654296" cy="420624"/>
          </a:xfrm>
          <a:prstGeom prst="rect">
            <a:avLst/>
          </a:prstGeom>
          <a:noFill/>
        </p:spPr>
        <p:txBody>
          <a:bodyPr wrap="square" lIns="22860" rIns="22860" tIns="22860" bIns="22860" anchor="t">
            <a:spAutoFit/>
          </a:bodyPr>
          <a:lstStyle/>
          <a:p>
            <a:pPr algn="l">
              <a:lnSpc>
                <a:spcPct val="105000"/>
              </a:lnSpc>
            </a:pPr>
            <a:r>
              <a:rPr sz="1100" b="0">
                <a:solidFill>
                  <a:srgbClr val="B9C8D8"/>
                </a:solidFill>
                <a:latin typeface="Arial"/>
              </a:rPr>
              <a:t>Robust rules need the set of plausible grants, not a prior over them (Gilboa &amp; Schmeidler 1989; Savage 1951).</a:t>
            </a:r>
          </a:p>
        </p:txBody>
      </p:sp>
      <p:sp>
        <p:nvSpPr>
          <p:cNvPr id="86" name="Rectangle 85"/>
          <p:cNvSpPr/>
          <p:nvPr/>
        </p:nvSpPr>
        <p:spPr>
          <a:xfrm>
            <a:off x="6583680" y="3877056"/>
            <a:ext cx="5038344" cy="1655064"/>
          </a:xfrm>
          <a:prstGeom prst="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body:86"/>
          <p:cNvSpPr txBox="1"/>
          <p:nvPr/>
        </p:nvSpPr>
        <p:spPr>
          <a:xfrm>
            <a:off x="6766560" y="3931920"/>
            <a:ext cx="4754880" cy="1554480"/>
          </a:xfrm>
          <a:prstGeom prst="rect">
            <a:avLst/>
          </a:prstGeom>
          <a:noFill/>
        </p:spPr>
        <p:txBody>
          <a:bodyPr wrap="square" lIns="22860" rIns="22860" tIns="22860" bIns="22860" anchor="t">
            <a:spAutoFit/>
          </a:bodyPr>
          <a:lstStyle/>
          <a:p>
            <a:pPr algn="l">
              <a:lnSpc>
                <a:spcPct val="110000"/>
              </a:lnSpc>
            </a:pPr>
            <a:r>
              <a:rPr sz="1150" b="0">
                <a:solidFill>
                  <a:srgbClr val="22313F"/>
                </a:solidFill>
                <a:latin typeface="Arial"/>
              </a:rPr>
              <a:t>•  Prediction: ambiguity-averse agents prefer reversible actions and questions. Over-conservatism is the price, so it is measured on authorized-feasible cells where a blocker is a cost.</a:t>
            </a:r>
          </a:p>
          <a:p>
            <a:pPr algn="l">
              <a:lnSpc>
                <a:spcPct val="110000"/>
              </a:lnSpc>
            </a:pPr>
            <a:r>
              <a:rPr sz="1150" b="0">
                <a:solidFill>
                  <a:srgbClr val="22313F"/>
                </a:solidFill>
                <a:latin typeface="Arial"/>
              </a:rPr>
              <a:t>•  CIRL: an agent that does not know the principal's reward elicits and defers rather than guesses; deference has positive value exactly under uncertainty (off-switch game).</a:t>
            </a:r>
          </a:p>
          <a:p>
            <a:pPr algn="l">
              <a:lnSpc>
                <a:spcPct val="110000"/>
              </a:lnSpc>
            </a:pPr>
            <a:r>
              <a:rPr sz="1150" b="0">
                <a:solidFill>
                  <a:srgbClr val="22313F"/>
                </a:solidFill>
                <a:latin typeface="Arial"/>
              </a:rPr>
              <a:t>•  Conflicting grants need a frozen precedence rule; silent grants need a reference policy before any violation rate exists.</a:t>
            </a:r>
          </a:p>
        </p:txBody>
      </p:sp>
      <p:sp>
        <p:nvSpPr>
          <p:cNvPr id="88" name="Rounded Rectangle 87"/>
          <p:cNvSpPr/>
          <p:nvPr/>
        </p:nvSpPr>
        <p:spPr>
          <a:xfrm>
            <a:off x="566928" y="5715000"/>
            <a:ext cx="11055096" cy="548640"/>
          </a:xfrm>
          <a:prstGeom prst="roundRect">
            <a:avLst>
              <a:gd name="adj" fmla="val 5000"/>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body:88"/>
          <p:cNvSpPr txBox="1"/>
          <p:nvPr/>
        </p:nvSpPr>
        <p:spPr>
          <a:xfrm>
            <a:off x="768096" y="5742432"/>
            <a:ext cx="10652760" cy="493776"/>
          </a:xfrm>
          <a:prstGeom prst="rect">
            <a:avLst/>
          </a:prstGeom>
          <a:noFill/>
        </p:spPr>
        <p:txBody>
          <a:bodyPr wrap="square" lIns="22860" rIns="22860" tIns="22860" bIns="22860" anchor="ctr">
            <a:spAutoFit/>
          </a:bodyPr>
          <a:lstStyle/>
          <a:p>
            <a:pPr algn="l">
              <a:lnSpc>
                <a:spcPct val="108000"/>
              </a:lnSpc>
            </a:pPr>
            <a:r>
              <a:rPr sz="1600" b="1">
                <a:solidFill>
                  <a:srgbClr val="FFFFFF"/>
                </a:solidFill>
                <a:latin typeface="Arial"/>
              </a:rPr>
              <a:t>Silence is not permission. The robust move under an unknown grant is the reversible one: ask, or stop with evidence.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label:2"/>
          <p:cNvSpPr txBox="1"/>
          <p:nvPr/>
        </p:nvSpPr>
        <p:spPr>
          <a:xfrm>
            <a:off x="566928" y="365760"/>
            <a:ext cx="10058400" cy="420624"/>
          </a:xfrm>
          <a:prstGeom prst="rect">
            <a:avLst/>
          </a:prstGeom>
          <a:noFill/>
        </p:spPr>
        <p:txBody>
          <a:bodyPr wrap="square" lIns="22860" rIns="22860" tIns="22860" bIns="22860" anchor="ctr">
            <a:spAutoFit/>
          </a:bodyPr>
          <a:lstStyle/>
          <a:p>
            <a:pPr algn="l">
              <a:lnSpc>
                <a:spcPct val="108000"/>
              </a:lnSpc>
            </a:pPr>
            <a:r>
              <a:rPr sz="1100" b="1">
                <a:solidFill>
                  <a:srgbClr val="1E7A72"/>
                </a:solidFill>
                <a:latin typeface="Arial"/>
              </a:rPr>
              <a:t>11 / CONSTRAINED SELECTION FROM FINITE DATA</a:t>
            </a:r>
          </a:p>
        </p:txBody>
      </p:sp>
      <p:sp>
        <p:nvSpPr>
          <p:cNvPr id="4" name="title:3"/>
          <p:cNvSpPr txBox="1"/>
          <p:nvPr/>
        </p:nvSpPr>
        <p:spPr>
          <a:xfrm>
            <a:off x="566928" y="786384"/>
            <a:ext cx="11055096" cy="804672"/>
          </a:xfrm>
          <a:prstGeom prst="rect">
            <a:avLst/>
          </a:prstGeom>
          <a:noFill/>
        </p:spPr>
        <p:txBody>
          <a:bodyPr wrap="square" lIns="22860" rIns="22860" tIns="22860" bIns="22860" anchor="ctr">
            <a:spAutoFit/>
          </a:bodyPr>
          <a:lstStyle/>
          <a:p>
            <a:pPr algn="l">
              <a:lnSpc>
                <a:spcPct val="105000"/>
              </a:lnSpc>
            </a:pPr>
            <a:r>
              <a:rPr sz="2600" b="1">
                <a:solidFill>
                  <a:srgbClr val="172D46"/>
                </a:solidFill>
                <a:latin typeface="Arial"/>
              </a:rPr>
              <a:t>Result 4: what finite, paired evidence can and cannot certify.</a:t>
            </a:r>
          </a:p>
        </p:txBody>
      </p:sp>
      <p:sp>
        <p:nvSpPr>
          <p:cNvPr id="5" name="Rectangle 4"/>
          <p:cNvSpPr/>
          <p:nvPr/>
        </p:nvSpPr>
        <p:spPr>
          <a:xfrm>
            <a:off x="566928" y="1609344"/>
            <a:ext cx="868680" cy="4572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ubtitle:5"/>
          <p:cNvSpPr txBox="1"/>
          <p:nvPr/>
        </p:nvSpPr>
        <p:spPr>
          <a:xfrm>
            <a:off x="585216" y="1682496"/>
            <a:ext cx="11055096" cy="457200"/>
          </a:xfrm>
          <a:prstGeom prst="rect">
            <a:avLst/>
          </a:prstGeom>
          <a:noFill/>
        </p:spPr>
        <p:txBody>
          <a:bodyPr wrap="square" lIns="22860" rIns="22860" tIns="22860" bIns="22860" anchor="ctr">
            <a:spAutoFit/>
          </a:bodyPr>
          <a:lstStyle/>
          <a:p>
            <a:pPr algn="l">
              <a:lnSpc>
                <a:spcPct val="105000"/>
              </a:lnSpc>
            </a:pPr>
            <a:r>
              <a:rPr sz="1400" b="0">
                <a:solidFill>
                  <a:srgbClr val="5F6E80"/>
                </a:solidFill>
                <a:latin typeface="Arial"/>
              </a:rPr>
              <a:t>The release decision is a constrained optimum estimated from development rollouts; the slack is set by the sample, not the signal.</a:t>
            </a:r>
          </a:p>
        </p:txBody>
      </p:sp>
      <p:sp>
        <p:nvSpPr>
          <p:cNvPr id="7" name="source:6"/>
          <p:cNvSpPr txBox="1"/>
          <p:nvPr/>
        </p:nvSpPr>
        <p:spPr>
          <a:xfrm>
            <a:off x="566928" y="6400800"/>
            <a:ext cx="1033272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rPr>
              <a:t> </a:t>
            </a:r>
          </a:p>
        </p:txBody>
      </p:sp>
      <p:sp>
        <p:nvSpPr>
          <p:cNvPr id="8" name="source:7"/>
          <p:cNvSpPr txBox="1"/>
          <p:nvPr/>
        </p:nvSpPr>
        <p:spPr>
          <a:xfrm>
            <a:off x="10927080" y="6364224"/>
            <a:ext cx="694944" cy="265176"/>
          </a:xfrm>
          <a:prstGeom prst="rect">
            <a:avLst/>
          </a:prstGeom>
          <a:noFill/>
        </p:spPr>
        <p:txBody>
          <a:bodyPr wrap="square" lIns="22860" rIns="22860" tIns="22860" bIns="22860" anchor="ctr">
            <a:spAutoFit/>
          </a:bodyPr>
          <a:lstStyle/>
          <a:p>
            <a:pPr algn="ctr">
              <a:lnSpc>
                <a:spcPct val="108000"/>
              </a:lnSpc>
            </a:pPr>
            <a:r>
              <a:rPr sz="1000" b="1">
                <a:solidFill>
                  <a:srgbClr val="5F6E80"/>
                </a:solidFill>
                <a:latin typeface="Arial"/>
              </a:rPr>
              <a:t>13 / 22</a:t>
            </a:r>
          </a:p>
        </p:txBody>
      </p:sp>
      <p:sp>
        <p:nvSpPr>
          <p:cNvPr id="9" name="Rectangle 8"/>
          <p:cNvSpPr/>
          <p:nvPr/>
        </p:nvSpPr>
        <p:spPr>
          <a:xfrm>
            <a:off x="56692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7151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57609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80675"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8525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8984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9442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99005"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0358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0817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1275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17336"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2191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2650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63108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35666"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4024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4483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4941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153996"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65857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16316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104120" y="365760"/>
            <a:ext cx="1517904" cy="274320"/>
          </a:xfrm>
          <a:prstGeom prst="roundRect">
            <a:avLst>
              <a:gd name="adj" fmla="val 5000"/>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31"/>
          <p:cNvSpPr txBox="1"/>
          <p:nvPr/>
        </p:nvSpPr>
        <p:spPr>
          <a:xfrm>
            <a:off x="10158984" y="365760"/>
            <a:ext cx="1408176" cy="274320"/>
          </a:xfrm>
          <a:prstGeom prst="rect">
            <a:avLst/>
          </a:prstGeom>
          <a:noFill/>
        </p:spPr>
        <p:txBody>
          <a:bodyPr wrap="square" lIns="22860" rIns="22860" tIns="22860" bIns="22860" anchor="ctr">
            <a:spAutoFit/>
          </a:bodyPr>
          <a:lstStyle/>
          <a:p>
            <a:pPr algn="ctr">
              <a:lnSpc>
                <a:spcPct val="108000"/>
              </a:lnSpc>
            </a:pPr>
            <a:r>
              <a:rPr sz="1000" b="1">
                <a:solidFill>
                  <a:srgbClr val="3A6391"/>
                </a:solidFill>
                <a:latin typeface="Arial"/>
              </a:rPr>
              <a:t>THEORY</a:t>
            </a:r>
          </a:p>
        </p:txBody>
      </p:sp>
      <p:sp>
        <p:nvSpPr>
          <p:cNvPr id="33" name="source:32"/>
          <p:cNvSpPr txBox="1"/>
          <p:nvPr/>
        </p:nvSpPr>
        <p:spPr>
          <a:xfrm>
            <a:off x="566928" y="6400800"/>
            <a:ext cx="365760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2"/>
              </a:rPr>
              <a:t>Objective and arms: incident-aware optimization</a:t>
            </a:r>
          </a:p>
        </p:txBody>
      </p:sp>
      <p:sp>
        <p:nvSpPr>
          <p:cNvPr id="34" name="source:33"/>
          <p:cNvSpPr txBox="1"/>
          <p:nvPr/>
        </p:nvSpPr>
        <p:spPr>
          <a:xfrm>
            <a:off x="4370832" y="6400800"/>
            <a:ext cx="310896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3"/>
              </a:rPr>
              <a:t>Constrained optimization background: CPO</a:t>
            </a:r>
          </a:p>
        </p:txBody>
      </p:sp>
      <p:sp>
        <p:nvSpPr>
          <p:cNvPr id="35" name="source:34"/>
          <p:cNvSpPr txBox="1"/>
          <p:nvPr/>
        </p:nvSpPr>
        <p:spPr>
          <a:xfrm>
            <a:off x="7626096" y="6400800"/>
            <a:ext cx="201168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4"/>
              </a:rPr>
              <a:t>Archived paired contrast</a:t>
            </a:r>
          </a:p>
        </p:txBody>
      </p:sp>
      <p:sp>
        <p:nvSpPr>
          <p:cNvPr id="36" name="Rectangle 35"/>
          <p:cNvSpPr/>
          <p:nvPr/>
        </p:nvSpPr>
        <p:spPr>
          <a:xfrm>
            <a:off x="566928" y="2157984"/>
            <a:ext cx="5577840" cy="1389888"/>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66928" y="2157984"/>
            <a:ext cx="82296" cy="1389888"/>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37"/>
          <p:cNvSpPr txBox="1"/>
          <p:nvPr/>
        </p:nvSpPr>
        <p:spPr>
          <a:xfrm>
            <a:off x="804672" y="2267712"/>
            <a:ext cx="5212079" cy="256032"/>
          </a:xfrm>
          <a:prstGeom prst="rect">
            <a:avLst/>
          </a:prstGeom>
          <a:noFill/>
        </p:spPr>
        <p:txBody>
          <a:bodyPr wrap="square" lIns="22860" rIns="22860" tIns="22860" bIns="22860" anchor="ctr">
            <a:spAutoFit/>
          </a:bodyPr>
          <a:lstStyle/>
          <a:p>
            <a:pPr algn="l">
              <a:lnSpc>
                <a:spcPct val="108000"/>
              </a:lnSpc>
            </a:pPr>
            <a:r>
              <a:rPr sz="1100" b="1">
                <a:solidFill>
                  <a:srgbClr val="1E7A72"/>
                </a:solidFill>
                <a:latin typeface="Arial"/>
              </a:rPr>
              <a:t>RESULT 4A · THE RELEASE OBJECTIVE</a:t>
            </a:r>
          </a:p>
        </p:txBody>
      </p:sp>
      <p:pic>
        <p:nvPicPr>
          <p:cNvPr id="39" name="math:38" descr="f20.png"/>
          <p:cNvPicPr>
            <a:picLocks noChangeAspect="1"/>
          </p:cNvPicPr>
          <p:nvPr/>
        </p:nvPicPr>
        <p:blipFill>
          <a:blip r:embed="rId5"/>
          <a:stretch>
            <a:fillRect/>
          </a:stretch>
        </p:blipFill>
        <p:spPr>
          <a:xfrm>
            <a:off x="822960" y="2542032"/>
            <a:ext cx="2213772" cy="250278"/>
          </a:xfrm>
          <a:prstGeom prst="rect">
            <a:avLst/>
          </a:prstGeom>
        </p:spPr>
      </p:pic>
      <p:pic>
        <p:nvPicPr>
          <p:cNvPr id="40" name="math:39" descr="f21.png"/>
          <p:cNvPicPr>
            <a:picLocks noChangeAspect="1"/>
          </p:cNvPicPr>
          <p:nvPr/>
        </p:nvPicPr>
        <p:blipFill>
          <a:blip r:embed="rId6"/>
          <a:stretch>
            <a:fillRect/>
          </a:stretch>
        </p:blipFill>
        <p:spPr>
          <a:xfrm>
            <a:off x="822960" y="2845941"/>
            <a:ext cx="3280435" cy="226442"/>
          </a:xfrm>
          <a:prstGeom prst="rect">
            <a:avLst/>
          </a:prstGeom>
        </p:spPr>
      </p:pic>
      <p:sp>
        <p:nvSpPr>
          <p:cNvPr id="41" name="caption:40"/>
          <p:cNvSpPr txBox="1"/>
          <p:nvPr/>
        </p:nvSpPr>
        <p:spPr>
          <a:xfrm>
            <a:off x="804672" y="3072384"/>
            <a:ext cx="5193792" cy="420624"/>
          </a:xfrm>
          <a:prstGeom prst="rect">
            <a:avLst/>
          </a:prstGeom>
          <a:noFill/>
        </p:spPr>
        <p:txBody>
          <a:bodyPr wrap="square" lIns="22860" rIns="22860" tIns="22860" bIns="22860" anchor="t">
            <a:spAutoFit/>
          </a:bodyPr>
          <a:lstStyle/>
          <a:p>
            <a:pPr algn="l">
              <a:lnSpc>
                <a:spcPct val="105000"/>
              </a:lnSpc>
            </a:pPr>
            <a:r>
              <a:rPr sz="1100" b="0">
                <a:solidFill>
                  <a:srgbClr val="B9C8D8"/>
                </a:solidFill>
                <a:latin typeface="Arial"/>
              </a:rPr>
              <a:t>R: verified incidents; U: authorized completion; C: cost; F: false intervention. Margins fixed before search.</a:t>
            </a:r>
          </a:p>
        </p:txBody>
      </p:sp>
      <p:sp>
        <p:nvSpPr>
          <p:cNvPr id="42" name="Rectangle 41"/>
          <p:cNvSpPr/>
          <p:nvPr/>
        </p:nvSpPr>
        <p:spPr>
          <a:xfrm>
            <a:off x="566928" y="3657600"/>
            <a:ext cx="5577840" cy="1874519"/>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ody:42"/>
          <p:cNvSpPr txBox="1"/>
          <p:nvPr/>
        </p:nvSpPr>
        <p:spPr>
          <a:xfrm>
            <a:off x="731520" y="3694176"/>
            <a:ext cx="5303520" cy="329184"/>
          </a:xfrm>
          <a:prstGeom prst="rect">
            <a:avLst/>
          </a:prstGeom>
          <a:noFill/>
        </p:spPr>
        <p:txBody>
          <a:bodyPr wrap="square" lIns="22860" rIns="22860" tIns="22860" bIns="22860" anchor="ctr">
            <a:spAutoFit/>
          </a:bodyPr>
          <a:lstStyle/>
          <a:p>
            <a:pPr algn="l">
              <a:lnSpc>
                <a:spcPct val="108000"/>
              </a:lnSpc>
            </a:pPr>
            <a:r>
              <a:rPr sz="1300" b="1">
                <a:solidFill>
                  <a:srgbClr val="172D46"/>
                </a:solidFill>
                <a:latin typeface="Arial"/>
              </a:rPr>
              <a:t>Hoeffding + union bound over K candidates, n rollouts each</a:t>
            </a:r>
          </a:p>
        </p:txBody>
      </p:sp>
      <p:pic>
        <p:nvPicPr>
          <p:cNvPr id="44" name="math:43" descr="f22.png"/>
          <p:cNvPicPr>
            <a:picLocks noChangeAspect="1"/>
          </p:cNvPicPr>
          <p:nvPr/>
        </p:nvPicPr>
        <p:blipFill>
          <a:blip r:embed="rId7"/>
          <a:stretch>
            <a:fillRect/>
          </a:stretch>
        </p:blipFill>
        <p:spPr>
          <a:xfrm>
            <a:off x="731520" y="4027932"/>
            <a:ext cx="4084320" cy="320040"/>
          </a:xfrm>
          <a:prstGeom prst="rect">
            <a:avLst/>
          </a:prstGeom>
        </p:spPr>
      </p:pic>
      <p:sp>
        <p:nvSpPr>
          <p:cNvPr id="45" name="Rectangle 44"/>
          <p:cNvSpPr/>
          <p:nvPr/>
        </p:nvSpPr>
        <p:spPr>
          <a:xfrm>
            <a:off x="731520" y="4425696"/>
            <a:ext cx="1737360" cy="214884"/>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ody:45"/>
          <p:cNvSpPr txBox="1"/>
          <p:nvPr/>
        </p:nvSpPr>
        <p:spPr>
          <a:xfrm>
            <a:off x="813816" y="4425696"/>
            <a:ext cx="1572768" cy="214884"/>
          </a:xfrm>
          <a:prstGeom prst="rect">
            <a:avLst/>
          </a:prstGeom>
          <a:noFill/>
        </p:spPr>
        <p:txBody>
          <a:bodyPr wrap="square" lIns="22860" rIns="22860" tIns="22860" bIns="22860" anchor="ctr">
            <a:spAutoFit/>
          </a:bodyPr>
          <a:lstStyle/>
          <a:p>
            <a:pPr algn="l">
              <a:lnSpc>
                <a:spcPct val="100000"/>
              </a:lnSpc>
            </a:pPr>
            <a:r>
              <a:rPr sz="1050" b="1">
                <a:solidFill>
                  <a:srgbClr val="FFFFFF"/>
                </a:solidFill>
                <a:latin typeface="Arial"/>
              </a:rPr>
              <a:t>n per candidate</a:t>
            </a:r>
          </a:p>
        </p:txBody>
      </p:sp>
      <p:sp>
        <p:nvSpPr>
          <p:cNvPr id="47" name="Rectangle 46"/>
          <p:cNvSpPr/>
          <p:nvPr/>
        </p:nvSpPr>
        <p:spPr>
          <a:xfrm>
            <a:off x="2468880" y="4425696"/>
            <a:ext cx="2011680" cy="214884"/>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ody:47"/>
          <p:cNvSpPr txBox="1"/>
          <p:nvPr/>
        </p:nvSpPr>
        <p:spPr>
          <a:xfrm>
            <a:off x="2551176" y="4425696"/>
            <a:ext cx="1847088" cy="214884"/>
          </a:xfrm>
          <a:prstGeom prst="rect">
            <a:avLst/>
          </a:prstGeom>
          <a:noFill/>
        </p:spPr>
        <p:txBody>
          <a:bodyPr wrap="square" lIns="22860" rIns="22860" tIns="22860" bIns="22860" anchor="ctr">
            <a:spAutoFit/>
          </a:bodyPr>
          <a:lstStyle/>
          <a:p>
            <a:pPr algn="l">
              <a:lnSpc>
                <a:spcPct val="100000"/>
              </a:lnSpc>
            </a:pPr>
            <a:r>
              <a:rPr sz="1050" b="1">
                <a:solidFill>
                  <a:srgbClr val="FFFFFF"/>
                </a:solidFill>
                <a:latin typeface="Arial"/>
              </a:rPr>
              <a:t>slack 2ε (K = 8, δ = .05)</a:t>
            </a:r>
          </a:p>
        </p:txBody>
      </p:sp>
      <p:sp>
        <p:nvSpPr>
          <p:cNvPr id="49" name="Rectangle 48"/>
          <p:cNvSpPr/>
          <p:nvPr/>
        </p:nvSpPr>
        <p:spPr>
          <a:xfrm>
            <a:off x="731520" y="4640580"/>
            <a:ext cx="1737360" cy="21488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ody:49"/>
          <p:cNvSpPr txBox="1"/>
          <p:nvPr/>
        </p:nvSpPr>
        <p:spPr>
          <a:xfrm>
            <a:off x="813816" y="4640580"/>
            <a:ext cx="1572768" cy="214884"/>
          </a:xfrm>
          <a:prstGeom prst="rect">
            <a:avLst/>
          </a:prstGeom>
          <a:noFill/>
        </p:spPr>
        <p:txBody>
          <a:bodyPr wrap="square" lIns="22860" rIns="22860" tIns="22860" bIns="22860" anchor="ctr">
            <a:spAutoFit/>
          </a:bodyPr>
          <a:lstStyle/>
          <a:p>
            <a:pPr algn="l">
              <a:lnSpc>
                <a:spcPct val="100000"/>
              </a:lnSpc>
            </a:pPr>
            <a:r>
              <a:rPr sz="1050" b="1">
                <a:solidFill>
                  <a:srgbClr val="22313F"/>
                </a:solidFill>
                <a:latin typeface="Arial"/>
              </a:rPr>
              <a:t>48</a:t>
            </a:r>
          </a:p>
        </p:txBody>
      </p:sp>
      <p:sp>
        <p:nvSpPr>
          <p:cNvPr id="51" name="Rectangle 50"/>
          <p:cNvSpPr/>
          <p:nvPr/>
        </p:nvSpPr>
        <p:spPr>
          <a:xfrm>
            <a:off x="2468880" y="4640580"/>
            <a:ext cx="2011680" cy="21488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ody:51"/>
          <p:cNvSpPr txBox="1"/>
          <p:nvPr/>
        </p:nvSpPr>
        <p:spPr>
          <a:xfrm>
            <a:off x="2551176" y="4640580"/>
            <a:ext cx="1847088" cy="214884"/>
          </a:xfrm>
          <a:prstGeom prst="rect">
            <a:avLst/>
          </a:prstGeom>
          <a:noFill/>
        </p:spPr>
        <p:txBody>
          <a:bodyPr wrap="square" lIns="22860" rIns="22860" tIns="22860" bIns="22860" anchor="ctr">
            <a:spAutoFit/>
          </a:bodyPr>
          <a:lstStyle/>
          <a:p>
            <a:pPr algn="l">
              <a:lnSpc>
                <a:spcPct val="100000"/>
              </a:lnSpc>
            </a:pPr>
            <a:r>
              <a:rPr sz="1050" b="0">
                <a:solidFill>
                  <a:srgbClr val="22313F"/>
                </a:solidFill>
                <a:latin typeface="Arial"/>
              </a:rPr>
              <a:t>0.49</a:t>
            </a:r>
          </a:p>
        </p:txBody>
      </p:sp>
      <p:sp>
        <p:nvSpPr>
          <p:cNvPr id="53" name="Rectangle 52"/>
          <p:cNvSpPr/>
          <p:nvPr/>
        </p:nvSpPr>
        <p:spPr>
          <a:xfrm>
            <a:off x="731520" y="4855464"/>
            <a:ext cx="1737360" cy="214884"/>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ody:53"/>
          <p:cNvSpPr txBox="1"/>
          <p:nvPr/>
        </p:nvSpPr>
        <p:spPr>
          <a:xfrm>
            <a:off x="813816" y="4855464"/>
            <a:ext cx="1572768" cy="214884"/>
          </a:xfrm>
          <a:prstGeom prst="rect">
            <a:avLst/>
          </a:prstGeom>
          <a:noFill/>
        </p:spPr>
        <p:txBody>
          <a:bodyPr wrap="square" lIns="22860" rIns="22860" tIns="22860" bIns="22860" anchor="ctr">
            <a:spAutoFit/>
          </a:bodyPr>
          <a:lstStyle/>
          <a:p>
            <a:pPr algn="l">
              <a:lnSpc>
                <a:spcPct val="100000"/>
              </a:lnSpc>
            </a:pPr>
            <a:r>
              <a:rPr sz="1050" b="1">
                <a:solidFill>
                  <a:srgbClr val="22313F"/>
                </a:solidFill>
                <a:latin typeface="Arial"/>
              </a:rPr>
              <a:t>200</a:t>
            </a:r>
          </a:p>
        </p:txBody>
      </p:sp>
      <p:sp>
        <p:nvSpPr>
          <p:cNvPr id="55" name="Rectangle 54"/>
          <p:cNvSpPr/>
          <p:nvPr/>
        </p:nvSpPr>
        <p:spPr>
          <a:xfrm>
            <a:off x="2468880" y="4855464"/>
            <a:ext cx="2011680" cy="214884"/>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ody:55"/>
          <p:cNvSpPr txBox="1"/>
          <p:nvPr/>
        </p:nvSpPr>
        <p:spPr>
          <a:xfrm>
            <a:off x="2551176" y="4855464"/>
            <a:ext cx="1847088" cy="214884"/>
          </a:xfrm>
          <a:prstGeom prst="rect">
            <a:avLst/>
          </a:prstGeom>
          <a:noFill/>
        </p:spPr>
        <p:txBody>
          <a:bodyPr wrap="square" lIns="22860" rIns="22860" tIns="22860" bIns="22860" anchor="ctr">
            <a:spAutoFit/>
          </a:bodyPr>
          <a:lstStyle/>
          <a:p>
            <a:pPr algn="l">
              <a:lnSpc>
                <a:spcPct val="100000"/>
              </a:lnSpc>
            </a:pPr>
            <a:r>
              <a:rPr sz="1050" b="0">
                <a:solidFill>
                  <a:srgbClr val="22313F"/>
                </a:solidFill>
                <a:latin typeface="Arial"/>
              </a:rPr>
              <a:t>0.24</a:t>
            </a:r>
          </a:p>
        </p:txBody>
      </p:sp>
      <p:sp>
        <p:nvSpPr>
          <p:cNvPr id="57" name="Rectangle 56"/>
          <p:cNvSpPr/>
          <p:nvPr/>
        </p:nvSpPr>
        <p:spPr>
          <a:xfrm>
            <a:off x="731520" y="5070348"/>
            <a:ext cx="1737360" cy="21488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ody:57"/>
          <p:cNvSpPr txBox="1"/>
          <p:nvPr/>
        </p:nvSpPr>
        <p:spPr>
          <a:xfrm>
            <a:off x="813816" y="5070348"/>
            <a:ext cx="1572768" cy="214884"/>
          </a:xfrm>
          <a:prstGeom prst="rect">
            <a:avLst/>
          </a:prstGeom>
          <a:noFill/>
        </p:spPr>
        <p:txBody>
          <a:bodyPr wrap="square" lIns="22860" rIns="22860" tIns="22860" bIns="22860" anchor="ctr">
            <a:spAutoFit/>
          </a:bodyPr>
          <a:lstStyle/>
          <a:p>
            <a:pPr algn="l">
              <a:lnSpc>
                <a:spcPct val="100000"/>
              </a:lnSpc>
            </a:pPr>
            <a:r>
              <a:rPr sz="1050" b="1">
                <a:solidFill>
                  <a:srgbClr val="22313F"/>
                </a:solidFill>
                <a:latin typeface="Arial"/>
              </a:rPr>
              <a:t>1,000</a:t>
            </a:r>
          </a:p>
        </p:txBody>
      </p:sp>
      <p:sp>
        <p:nvSpPr>
          <p:cNvPr id="59" name="Rectangle 58"/>
          <p:cNvSpPr/>
          <p:nvPr/>
        </p:nvSpPr>
        <p:spPr>
          <a:xfrm>
            <a:off x="2468880" y="5070348"/>
            <a:ext cx="2011680" cy="21488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ody:59"/>
          <p:cNvSpPr txBox="1"/>
          <p:nvPr/>
        </p:nvSpPr>
        <p:spPr>
          <a:xfrm>
            <a:off x="2551176" y="5070348"/>
            <a:ext cx="1847088" cy="214884"/>
          </a:xfrm>
          <a:prstGeom prst="rect">
            <a:avLst/>
          </a:prstGeom>
          <a:noFill/>
        </p:spPr>
        <p:txBody>
          <a:bodyPr wrap="square" lIns="22860" rIns="22860" tIns="22860" bIns="22860" anchor="ctr">
            <a:spAutoFit/>
          </a:bodyPr>
          <a:lstStyle/>
          <a:p>
            <a:pPr algn="l">
              <a:lnSpc>
                <a:spcPct val="100000"/>
              </a:lnSpc>
            </a:pPr>
            <a:r>
              <a:rPr sz="1050" b="0">
                <a:solidFill>
                  <a:srgbClr val="22313F"/>
                </a:solidFill>
                <a:latin typeface="Arial"/>
              </a:rPr>
              <a:t>0.11</a:t>
            </a:r>
          </a:p>
        </p:txBody>
      </p:sp>
      <p:sp>
        <p:nvSpPr>
          <p:cNvPr id="61" name="Rectangle 60"/>
          <p:cNvSpPr/>
          <p:nvPr/>
        </p:nvSpPr>
        <p:spPr>
          <a:xfrm>
            <a:off x="731520" y="5285232"/>
            <a:ext cx="1737360" cy="214884"/>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ody:61"/>
          <p:cNvSpPr txBox="1"/>
          <p:nvPr/>
        </p:nvSpPr>
        <p:spPr>
          <a:xfrm>
            <a:off x="813816" y="5285232"/>
            <a:ext cx="1572768" cy="214884"/>
          </a:xfrm>
          <a:prstGeom prst="rect">
            <a:avLst/>
          </a:prstGeom>
          <a:noFill/>
        </p:spPr>
        <p:txBody>
          <a:bodyPr wrap="square" lIns="22860" rIns="22860" tIns="22860" bIns="22860" anchor="ctr">
            <a:spAutoFit/>
          </a:bodyPr>
          <a:lstStyle/>
          <a:p>
            <a:pPr algn="l">
              <a:lnSpc>
                <a:spcPct val="100000"/>
              </a:lnSpc>
            </a:pPr>
            <a:r>
              <a:rPr sz="1050" b="1">
                <a:solidFill>
                  <a:srgbClr val="22313F"/>
                </a:solidFill>
                <a:latin typeface="Arial"/>
              </a:rPr>
              <a:t>5,000</a:t>
            </a:r>
          </a:p>
        </p:txBody>
      </p:sp>
      <p:sp>
        <p:nvSpPr>
          <p:cNvPr id="63" name="Rectangle 62"/>
          <p:cNvSpPr/>
          <p:nvPr/>
        </p:nvSpPr>
        <p:spPr>
          <a:xfrm>
            <a:off x="2468880" y="5285232"/>
            <a:ext cx="2011680" cy="214884"/>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ody:63"/>
          <p:cNvSpPr txBox="1"/>
          <p:nvPr/>
        </p:nvSpPr>
        <p:spPr>
          <a:xfrm>
            <a:off x="2551176" y="5285232"/>
            <a:ext cx="1847088" cy="214884"/>
          </a:xfrm>
          <a:prstGeom prst="rect">
            <a:avLst/>
          </a:prstGeom>
          <a:noFill/>
        </p:spPr>
        <p:txBody>
          <a:bodyPr wrap="square" lIns="22860" rIns="22860" tIns="22860" bIns="22860" anchor="ctr">
            <a:spAutoFit/>
          </a:bodyPr>
          <a:lstStyle/>
          <a:p>
            <a:pPr algn="l">
              <a:lnSpc>
                <a:spcPct val="100000"/>
              </a:lnSpc>
            </a:pPr>
            <a:r>
              <a:rPr sz="1050" b="0">
                <a:solidFill>
                  <a:srgbClr val="22313F"/>
                </a:solidFill>
                <a:latin typeface="Arial"/>
              </a:rPr>
              <a:t>0.05</a:t>
            </a:r>
          </a:p>
        </p:txBody>
      </p:sp>
      <p:sp>
        <p:nvSpPr>
          <p:cNvPr id="65" name="body:64"/>
          <p:cNvSpPr txBox="1"/>
          <p:nvPr/>
        </p:nvSpPr>
        <p:spPr>
          <a:xfrm>
            <a:off x="4608576" y="4425696"/>
            <a:ext cx="1444752" cy="1078992"/>
          </a:xfrm>
          <a:prstGeom prst="rect">
            <a:avLst/>
          </a:prstGeom>
          <a:noFill/>
        </p:spPr>
        <p:txBody>
          <a:bodyPr wrap="square" lIns="22860" rIns="22860" tIns="22860" bIns="22860" anchor="t">
            <a:spAutoFit/>
          </a:bodyPr>
          <a:lstStyle/>
          <a:p>
            <a:pPr algn="l">
              <a:lnSpc>
                <a:spcPct val="105000"/>
              </a:lnSpc>
            </a:pPr>
            <a:r>
              <a:rPr sz="1000" b="0">
                <a:solidFill>
                  <a:srgbClr val="5F6E80"/>
                </a:solidFill>
                <a:latin typeface="Arial"/>
              </a:rPr>
              <a:t>At pilot scale the bound is vacuous. Information lives in paired contrasts, not in independent rates.</a:t>
            </a:r>
          </a:p>
        </p:txBody>
      </p:sp>
      <p:sp>
        <p:nvSpPr>
          <p:cNvPr id="66" name="Rectangle 65"/>
          <p:cNvSpPr/>
          <p:nvPr/>
        </p:nvSpPr>
        <p:spPr>
          <a:xfrm>
            <a:off x="6355080" y="2157984"/>
            <a:ext cx="5266944" cy="3374136"/>
          </a:xfrm>
          <a:prstGeom prst="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355080" y="2157984"/>
            <a:ext cx="64008" cy="3374136"/>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ody:67"/>
          <p:cNvSpPr txBox="1"/>
          <p:nvPr/>
        </p:nvSpPr>
        <p:spPr>
          <a:xfrm>
            <a:off x="6556248" y="2240280"/>
            <a:ext cx="4846320" cy="329184"/>
          </a:xfrm>
          <a:prstGeom prst="rect">
            <a:avLst/>
          </a:prstGeom>
          <a:noFill/>
        </p:spPr>
        <p:txBody>
          <a:bodyPr wrap="square" lIns="22860" rIns="22860" tIns="22860" bIns="22860" anchor="ctr">
            <a:spAutoFit/>
          </a:bodyPr>
          <a:lstStyle/>
          <a:p>
            <a:pPr algn="l">
              <a:lnSpc>
                <a:spcPct val="108000"/>
              </a:lnSpc>
            </a:pPr>
            <a:r>
              <a:rPr sz="1400" b="1">
                <a:solidFill>
                  <a:srgbClr val="6A4C93"/>
                </a:solidFill>
                <a:latin typeface="Arial"/>
              </a:rPr>
              <a:t>Paired twins: exact McNemar power</a:t>
            </a:r>
          </a:p>
        </p:txBody>
      </p:sp>
      <p:sp>
        <p:nvSpPr>
          <p:cNvPr id="69" name="body:68"/>
          <p:cNvSpPr txBox="1"/>
          <p:nvPr/>
        </p:nvSpPr>
        <p:spPr>
          <a:xfrm>
            <a:off x="6556248" y="2560320"/>
            <a:ext cx="4846320" cy="475488"/>
          </a:xfrm>
          <a:prstGeom prst="rect">
            <a:avLst/>
          </a:prstGeom>
          <a:noFill/>
        </p:spPr>
        <p:txBody>
          <a:bodyPr wrap="square" lIns="22860" rIns="22860" tIns="22860" bIns="22860" anchor="t">
            <a:spAutoFit/>
          </a:bodyPr>
          <a:lstStyle/>
          <a:p>
            <a:pPr algn="l">
              <a:lnSpc>
                <a:spcPct val="105000"/>
              </a:lnSpc>
            </a:pPr>
            <a:r>
              <a:rPr sz="1050" b="0">
                <a:solidFill>
                  <a:srgbClr val="5F6E80"/>
                </a:solidFill>
                <a:latin typeface="Arial"/>
              </a:rPr>
              <a:t>Baseline impossible-task incident rate from the archived diagnostic: 11/16 = 0.69. Power to detect a drop to the target rate, two-sided exact test, α = .05.</a:t>
            </a:r>
          </a:p>
        </p:txBody>
      </p:sp>
      <p:sp>
        <p:nvSpPr>
          <p:cNvPr id="70" name="Rectangle 69"/>
          <p:cNvSpPr/>
          <p:nvPr/>
        </p:nvSpPr>
        <p:spPr>
          <a:xfrm>
            <a:off x="6556248" y="3108960"/>
            <a:ext cx="1188720" cy="274320"/>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ody:70"/>
          <p:cNvSpPr txBox="1"/>
          <p:nvPr/>
        </p:nvSpPr>
        <p:spPr>
          <a:xfrm>
            <a:off x="6638544" y="3108960"/>
            <a:ext cx="1024128" cy="274320"/>
          </a:xfrm>
          <a:prstGeom prst="rect">
            <a:avLst/>
          </a:prstGeom>
          <a:noFill/>
        </p:spPr>
        <p:txBody>
          <a:bodyPr wrap="square" lIns="22860" rIns="22860" tIns="22860" bIns="22860" anchor="ctr">
            <a:spAutoFit/>
          </a:bodyPr>
          <a:lstStyle/>
          <a:p>
            <a:pPr algn="l">
              <a:lnSpc>
                <a:spcPct val="100000"/>
              </a:lnSpc>
            </a:pPr>
            <a:r>
              <a:rPr sz="1100" b="1">
                <a:solidFill>
                  <a:srgbClr val="FFFFFF"/>
                </a:solidFill>
                <a:latin typeface="Arial"/>
              </a:rPr>
              <a:t>pairs n</a:t>
            </a:r>
          </a:p>
        </p:txBody>
      </p:sp>
      <p:sp>
        <p:nvSpPr>
          <p:cNvPr id="72" name="Rectangle 71"/>
          <p:cNvSpPr/>
          <p:nvPr/>
        </p:nvSpPr>
        <p:spPr>
          <a:xfrm>
            <a:off x="7744968" y="3108960"/>
            <a:ext cx="1645920" cy="274320"/>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ody:72"/>
          <p:cNvSpPr txBox="1"/>
          <p:nvPr/>
        </p:nvSpPr>
        <p:spPr>
          <a:xfrm>
            <a:off x="7827264" y="3108960"/>
            <a:ext cx="1481328" cy="274320"/>
          </a:xfrm>
          <a:prstGeom prst="rect">
            <a:avLst/>
          </a:prstGeom>
          <a:noFill/>
        </p:spPr>
        <p:txBody>
          <a:bodyPr wrap="square" lIns="22860" rIns="22860" tIns="22860" bIns="22860" anchor="ctr">
            <a:spAutoFit/>
          </a:bodyPr>
          <a:lstStyle/>
          <a:p>
            <a:pPr algn="l">
              <a:lnSpc>
                <a:spcPct val="100000"/>
              </a:lnSpc>
            </a:pPr>
            <a:r>
              <a:rPr sz="1100" b="1">
                <a:solidFill>
                  <a:srgbClr val="FFFFFF"/>
                </a:solidFill>
                <a:latin typeface="Arial"/>
              </a:rPr>
              <a:t>to 0.375</a:t>
            </a:r>
          </a:p>
        </p:txBody>
      </p:sp>
      <p:sp>
        <p:nvSpPr>
          <p:cNvPr id="74" name="Rectangle 73"/>
          <p:cNvSpPr/>
          <p:nvPr/>
        </p:nvSpPr>
        <p:spPr>
          <a:xfrm>
            <a:off x="9390888" y="3108960"/>
            <a:ext cx="1645920" cy="274320"/>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ody:74"/>
          <p:cNvSpPr txBox="1"/>
          <p:nvPr/>
        </p:nvSpPr>
        <p:spPr>
          <a:xfrm>
            <a:off x="9473184" y="3108960"/>
            <a:ext cx="1481328" cy="274320"/>
          </a:xfrm>
          <a:prstGeom prst="rect">
            <a:avLst/>
          </a:prstGeom>
          <a:noFill/>
        </p:spPr>
        <p:txBody>
          <a:bodyPr wrap="square" lIns="22860" rIns="22860" tIns="22860" bIns="22860" anchor="ctr">
            <a:spAutoFit/>
          </a:bodyPr>
          <a:lstStyle/>
          <a:p>
            <a:pPr algn="l">
              <a:lnSpc>
                <a:spcPct val="100000"/>
              </a:lnSpc>
            </a:pPr>
            <a:r>
              <a:rPr sz="1100" b="1">
                <a:solidFill>
                  <a:srgbClr val="FFFFFF"/>
                </a:solidFill>
                <a:latin typeface="Arial"/>
              </a:rPr>
              <a:t>to 0.25</a:t>
            </a:r>
          </a:p>
        </p:txBody>
      </p:sp>
      <p:sp>
        <p:nvSpPr>
          <p:cNvPr id="76" name="Rectangle 75"/>
          <p:cNvSpPr/>
          <p:nvPr/>
        </p:nvSpPr>
        <p:spPr>
          <a:xfrm>
            <a:off x="6556248" y="3383279"/>
            <a:ext cx="1188720"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ody:76"/>
          <p:cNvSpPr txBox="1"/>
          <p:nvPr/>
        </p:nvSpPr>
        <p:spPr>
          <a:xfrm>
            <a:off x="6638544" y="3383279"/>
            <a:ext cx="1024128" cy="274320"/>
          </a:xfrm>
          <a:prstGeom prst="rect">
            <a:avLst/>
          </a:prstGeom>
          <a:noFill/>
        </p:spPr>
        <p:txBody>
          <a:bodyPr wrap="square" lIns="22860" rIns="22860" tIns="22860" bIns="22860" anchor="ctr">
            <a:spAutoFit/>
          </a:bodyPr>
          <a:lstStyle/>
          <a:p>
            <a:pPr algn="l">
              <a:lnSpc>
                <a:spcPct val="100000"/>
              </a:lnSpc>
            </a:pPr>
            <a:r>
              <a:rPr sz="1100" b="1">
                <a:solidFill>
                  <a:srgbClr val="22313F"/>
                </a:solidFill>
                <a:latin typeface="Arial"/>
              </a:rPr>
              <a:t>16</a:t>
            </a:r>
          </a:p>
        </p:txBody>
      </p:sp>
      <p:sp>
        <p:nvSpPr>
          <p:cNvPr id="78" name="Rectangle 77"/>
          <p:cNvSpPr/>
          <p:nvPr/>
        </p:nvSpPr>
        <p:spPr>
          <a:xfrm>
            <a:off x="7744968" y="3383279"/>
            <a:ext cx="1645920"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ody:78"/>
          <p:cNvSpPr txBox="1"/>
          <p:nvPr/>
        </p:nvSpPr>
        <p:spPr>
          <a:xfrm>
            <a:off x="7827264" y="3383279"/>
            <a:ext cx="1481328" cy="274320"/>
          </a:xfrm>
          <a:prstGeom prst="rect">
            <a:avLst/>
          </a:prstGeom>
          <a:noFill/>
        </p:spPr>
        <p:txBody>
          <a:bodyPr wrap="square" lIns="22860" rIns="22860" tIns="22860" bIns="22860" anchor="ctr">
            <a:spAutoFit/>
          </a:bodyPr>
          <a:lstStyle/>
          <a:p>
            <a:pPr algn="l">
              <a:lnSpc>
                <a:spcPct val="100000"/>
              </a:lnSpc>
            </a:pPr>
            <a:r>
              <a:rPr sz="1100" b="0">
                <a:solidFill>
                  <a:srgbClr val="22313F"/>
                </a:solidFill>
                <a:latin typeface="Arial"/>
              </a:rPr>
              <a:t>0.27</a:t>
            </a:r>
          </a:p>
        </p:txBody>
      </p:sp>
      <p:sp>
        <p:nvSpPr>
          <p:cNvPr id="80" name="Rectangle 79"/>
          <p:cNvSpPr/>
          <p:nvPr/>
        </p:nvSpPr>
        <p:spPr>
          <a:xfrm>
            <a:off x="9390888" y="3383279"/>
            <a:ext cx="1645920"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ody:80"/>
          <p:cNvSpPr txBox="1"/>
          <p:nvPr/>
        </p:nvSpPr>
        <p:spPr>
          <a:xfrm>
            <a:off x="9473184" y="3383279"/>
            <a:ext cx="1481328" cy="274320"/>
          </a:xfrm>
          <a:prstGeom prst="rect">
            <a:avLst/>
          </a:prstGeom>
          <a:noFill/>
        </p:spPr>
        <p:txBody>
          <a:bodyPr wrap="square" lIns="22860" rIns="22860" tIns="22860" bIns="22860" anchor="ctr">
            <a:spAutoFit/>
          </a:bodyPr>
          <a:lstStyle/>
          <a:p>
            <a:pPr algn="l">
              <a:lnSpc>
                <a:spcPct val="100000"/>
              </a:lnSpc>
            </a:pPr>
            <a:r>
              <a:rPr sz="1100" b="0">
                <a:solidFill>
                  <a:srgbClr val="22313F"/>
                </a:solidFill>
                <a:latin typeface="Arial"/>
              </a:rPr>
              <a:t>0.56</a:t>
            </a:r>
          </a:p>
        </p:txBody>
      </p:sp>
      <p:sp>
        <p:nvSpPr>
          <p:cNvPr id="82" name="Rectangle 81"/>
          <p:cNvSpPr/>
          <p:nvPr/>
        </p:nvSpPr>
        <p:spPr>
          <a:xfrm>
            <a:off x="6556248" y="3657599"/>
            <a:ext cx="1188720" cy="27432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ody:82"/>
          <p:cNvSpPr txBox="1"/>
          <p:nvPr/>
        </p:nvSpPr>
        <p:spPr>
          <a:xfrm>
            <a:off x="6638544" y="3657599"/>
            <a:ext cx="1024128" cy="274320"/>
          </a:xfrm>
          <a:prstGeom prst="rect">
            <a:avLst/>
          </a:prstGeom>
          <a:noFill/>
        </p:spPr>
        <p:txBody>
          <a:bodyPr wrap="square" lIns="22860" rIns="22860" tIns="22860" bIns="22860" anchor="ctr">
            <a:spAutoFit/>
          </a:bodyPr>
          <a:lstStyle/>
          <a:p>
            <a:pPr algn="l">
              <a:lnSpc>
                <a:spcPct val="100000"/>
              </a:lnSpc>
            </a:pPr>
            <a:r>
              <a:rPr sz="1100" b="1">
                <a:solidFill>
                  <a:srgbClr val="22313F"/>
                </a:solidFill>
                <a:latin typeface="Arial"/>
              </a:rPr>
              <a:t>24</a:t>
            </a:r>
          </a:p>
        </p:txBody>
      </p:sp>
      <p:sp>
        <p:nvSpPr>
          <p:cNvPr id="84" name="Rectangle 83"/>
          <p:cNvSpPr/>
          <p:nvPr/>
        </p:nvSpPr>
        <p:spPr>
          <a:xfrm>
            <a:off x="7744968" y="3657599"/>
            <a:ext cx="1645920" cy="27432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body:84"/>
          <p:cNvSpPr txBox="1"/>
          <p:nvPr/>
        </p:nvSpPr>
        <p:spPr>
          <a:xfrm>
            <a:off x="7827264" y="3657599"/>
            <a:ext cx="1481328" cy="274320"/>
          </a:xfrm>
          <a:prstGeom prst="rect">
            <a:avLst/>
          </a:prstGeom>
          <a:noFill/>
        </p:spPr>
        <p:txBody>
          <a:bodyPr wrap="square" lIns="22860" rIns="22860" tIns="22860" bIns="22860" anchor="ctr">
            <a:spAutoFit/>
          </a:bodyPr>
          <a:lstStyle/>
          <a:p>
            <a:pPr algn="l">
              <a:lnSpc>
                <a:spcPct val="100000"/>
              </a:lnSpc>
            </a:pPr>
            <a:r>
              <a:rPr sz="1100" b="0">
                <a:solidFill>
                  <a:srgbClr val="22313F"/>
                </a:solidFill>
                <a:latin typeface="Arial"/>
              </a:rPr>
              <a:t>0.46</a:t>
            </a:r>
          </a:p>
        </p:txBody>
      </p:sp>
      <p:sp>
        <p:nvSpPr>
          <p:cNvPr id="86" name="Rectangle 85"/>
          <p:cNvSpPr/>
          <p:nvPr/>
        </p:nvSpPr>
        <p:spPr>
          <a:xfrm>
            <a:off x="9390888" y="3657599"/>
            <a:ext cx="1645920" cy="27432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body:86"/>
          <p:cNvSpPr txBox="1"/>
          <p:nvPr/>
        </p:nvSpPr>
        <p:spPr>
          <a:xfrm>
            <a:off x="9473184" y="3657599"/>
            <a:ext cx="1481328" cy="274320"/>
          </a:xfrm>
          <a:prstGeom prst="rect">
            <a:avLst/>
          </a:prstGeom>
          <a:noFill/>
        </p:spPr>
        <p:txBody>
          <a:bodyPr wrap="square" lIns="22860" rIns="22860" tIns="22860" bIns="22860" anchor="ctr">
            <a:spAutoFit/>
          </a:bodyPr>
          <a:lstStyle/>
          <a:p>
            <a:pPr algn="l">
              <a:lnSpc>
                <a:spcPct val="100000"/>
              </a:lnSpc>
            </a:pPr>
            <a:r>
              <a:rPr sz="1100" b="0">
                <a:solidFill>
                  <a:srgbClr val="22313F"/>
                </a:solidFill>
                <a:latin typeface="Arial"/>
              </a:rPr>
              <a:t>0.79</a:t>
            </a:r>
          </a:p>
        </p:txBody>
      </p:sp>
      <p:sp>
        <p:nvSpPr>
          <p:cNvPr id="88" name="Rectangle 87"/>
          <p:cNvSpPr/>
          <p:nvPr/>
        </p:nvSpPr>
        <p:spPr>
          <a:xfrm>
            <a:off x="6556248" y="3931920"/>
            <a:ext cx="1188720"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body:88"/>
          <p:cNvSpPr txBox="1"/>
          <p:nvPr/>
        </p:nvSpPr>
        <p:spPr>
          <a:xfrm>
            <a:off x="6638544" y="3931920"/>
            <a:ext cx="1024128" cy="274320"/>
          </a:xfrm>
          <a:prstGeom prst="rect">
            <a:avLst/>
          </a:prstGeom>
          <a:noFill/>
        </p:spPr>
        <p:txBody>
          <a:bodyPr wrap="square" lIns="22860" rIns="22860" tIns="22860" bIns="22860" anchor="ctr">
            <a:spAutoFit/>
          </a:bodyPr>
          <a:lstStyle/>
          <a:p>
            <a:pPr algn="l">
              <a:lnSpc>
                <a:spcPct val="100000"/>
              </a:lnSpc>
            </a:pPr>
            <a:r>
              <a:rPr sz="1100" b="1">
                <a:solidFill>
                  <a:srgbClr val="22313F"/>
                </a:solidFill>
                <a:latin typeface="Arial"/>
              </a:rPr>
              <a:t>32</a:t>
            </a:r>
          </a:p>
        </p:txBody>
      </p:sp>
      <p:sp>
        <p:nvSpPr>
          <p:cNvPr id="90" name="Rectangle 89"/>
          <p:cNvSpPr/>
          <p:nvPr/>
        </p:nvSpPr>
        <p:spPr>
          <a:xfrm>
            <a:off x="7744968" y="3931920"/>
            <a:ext cx="1645920"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body:90"/>
          <p:cNvSpPr txBox="1"/>
          <p:nvPr/>
        </p:nvSpPr>
        <p:spPr>
          <a:xfrm>
            <a:off x="7827264" y="3931920"/>
            <a:ext cx="1481328" cy="274320"/>
          </a:xfrm>
          <a:prstGeom prst="rect">
            <a:avLst/>
          </a:prstGeom>
          <a:noFill/>
        </p:spPr>
        <p:txBody>
          <a:bodyPr wrap="square" lIns="22860" rIns="22860" tIns="22860" bIns="22860" anchor="ctr">
            <a:spAutoFit/>
          </a:bodyPr>
          <a:lstStyle/>
          <a:p>
            <a:pPr algn="l">
              <a:lnSpc>
                <a:spcPct val="100000"/>
              </a:lnSpc>
            </a:pPr>
            <a:r>
              <a:rPr sz="1100" b="0">
                <a:solidFill>
                  <a:srgbClr val="22313F"/>
                </a:solidFill>
                <a:latin typeface="Arial"/>
              </a:rPr>
              <a:t>0.62</a:t>
            </a:r>
          </a:p>
        </p:txBody>
      </p:sp>
      <p:sp>
        <p:nvSpPr>
          <p:cNvPr id="92" name="Rectangle 91"/>
          <p:cNvSpPr/>
          <p:nvPr/>
        </p:nvSpPr>
        <p:spPr>
          <a:xfrm>
            <a:off x="9390888" y="3931920"/>
            <a:ext cx="1645920"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body:92"/>
          <p:cNvSpPr txBox="1"/>
          <p:nvPr/>
        </p:nvSpPr>
        <p:spPr>
          <a:xfrm>
            <a:off x="9473184" y="3931920"/>
            <a:ext cx="1481328" cy="274320"/>
          </a:xfrm>
          <a:prstGeom prst="rect">
            <a:avLst/>
          </a:prstGeom>
          <a:noFill/>
        </p:spPr>
        <p:txBody>
          <a:bodyPr wrap="square" lIns="22860" rIns="22860" tIns="22860" bIns="22860" anchor="ctr">
            <a:spAutoFit/>
          </a:bodyPr>
          <a:lstStyle/>
          <a:p>
            <a:pPr algn="l">
              <a:lnSpc>
                <a:spcPct val="100000"/>
              </a:lnSpc>
            </a:pPr>
            <a:r>
              <a:rPr sz="1100" b="0">
                <a:solidFill>
                  <a:srgbClr val="22313F"/>
                </a:solidFill>
                <a:latin typeface="Arial"/>
              </a:rPr>
              <a:t>0.92</a:t>
            </a:r>
          </a:p>
        </p:txBody>
      </p:sp>
      <p:sp>
        <p:nvSpPr>
          <p:cNvPr id="94" name="Rectangle 93"/>
          <p:cNvSpPr/>
          <p:nvPr/>
        </p:nvSpPr>
        <p:spPr>
          <a:xfrm>
            <a:off x="6556248" y="4206240"/>
            <a:ext cx="1188720" cy="27432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body:94"/>
          <p:cNvSpPr txBox="1"/>
          <p:nvPr/>
        </p:nvSpPr>
        <p:spPr>
          <a:xfrm>
            <a:off x="6638544" y="4206240"/>
            <a:ext cx="1024128" cy="274320"/>
          </a:xfrm>
          <a:prstGeom prst="rect">
            <a:avLst/>
          </a:prstGeom>
          <a:noFill/>
        </p:spPr>
        <p:txBody>
          <a:bodyPr wrap="square" lIns="22860" rIns="22860" tIns="22860" bIns="22860" anchor="ctr">
            <a:spAutoFit/>
          </a:bodyPr>
          <a:lstStyle/>
          <a:p>
            <a:pPr algn="l">
              <a:lnSpc>
                <a:spcPct val="100000"/>
              </a:lnSpc>
            </a:pPr>
            <a:r>
              <a:rPr sz="1100" b="1">
                <a:solidFill>
                  <a:srgbClr val="22313F"/>
                </a:solidFill>
                <a:latin typeface="Arial"/>
              </a:rPr>
              <a:t>48</a:t>
            </a:r>
          </a:p>
        </p:txBody>
      </p:sp>
      <p:sp>
        <p:nvSpPr>
          <p:cNvPr id="96" name="Rectangle 95"/>
          <p:cNvSpPr/>
          <p:nvPr/>
        </p:nvSpPr>
        <p:spPr>
          <a:xfrm>
            <a:off x="7744968" y="4206240"/>
            <a:ext cx="1645920" cy="27432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body:96"/>
          <p:cNvSpPr txBox="1"/>
          <p:nvPr/>
        </p:nvSpPr>
        <p:spPr>
          <a:xfrm>
            <a:off x="7827264" y="4206240"/>
            <a:ext cx="1481328" cy="274320"/>
          </a:xfrm>
          <a:prstGeom prst="rect">
            <a:avLst/>
          </a:prstGeom>
          <a:noFill/>
        </p:spPr>
        <p:txBody>
          <a:bodyPr wrap="square" lIns="22860" rIns="22860" tIns="22860" bIns="22860" anchor="ctr">
            <a:spAutoFit/>
          </a:bodyPr>
          <a:lstStyle/>
          <a:p>
            <a:pPr algn="l">
              <a:lnSpc>
                <a:spcPct val="100000"/>
              </a:lnSpc>
            </a:pPr>
            <a:r>
              <a:rPr sz="1100" b="0">
                <a:solidFill>
                  <a:srgbClr val="22313F"/>
                </a:solidFill>
                <a:latin typeface="Arial"/>
              </a:rPr>
              <a:t>0.82</a:t>
            </a:r>
          </a:p>
        </p:txBody>
      </p:sp>
      <p:sp>
        <p:nvSpPr>
          <p:cNvPr id="98" name="Rectangle 97"/>
          <p:cNvSpPr/>
          <p:nvPr/>
        </p:nvSpPr>
        <p:spPr>
          <a:xfrm>
            <a:off x="9390888" y="4206240"/>
            <a:ext cx="1645920" cy="27432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body:98"/>
          <p:cNvSpPr txBox="1"/>
          <p:nvPr/>
        </p:nvSpPr>
        <p:spPr>
          <a:xfrm>
            <a:off x="9473184" y="4206240"/>
            <a:ext cx="1481328" cy="274320"/>
          </a:xfrm>
          <a:prstGeom prst="rect">
            <a:avLst/>
          </a:prstGeom>
          <a:noFill/>
        </p:spPr>
        <p:txBody>
          <a:bodyPr wrap="square" lIns="22860" rIns="22860" tIns="22860" bIns="22860" anchor="ctr">
            <a:spAutoFit/>
          </a:bodyPr>
          <a:lstStyle/>
          <a:p>
            <a:pPr algn="l">
              <a:lnSpc>
                <a:spcPct val="100000"/>
              </a:lnSpc>
            </a:pPr>
            <a:r>
              <a:rPr sz="1100" b="0">
                <a:solidFill>
                  <a:srgbClr val="22313F"/>
                </a:solidFill>
                <a:latin typeface="Arial"/>
              </a:rPr>
              <a:t>0.99</a:t>
            </a:r>
          </a:p>
        </p:txBody>
      </p:sp>
      <p:sp>
        <p:nvSpPr>
          <p:cNvPr id="100" name="body:99"/>
          <p:cNvSpPr txBox="1"/>
          <p:nvPr/>
        </p:nvSpPr>
        <p:spPr>
          <a:xfrm>
            <a:off x="6556248" y="4526280"/>
            <a:ext cx="4846320" cy="960120"/>
          </a:xfrm>
          <a:prstGeom prst="rect">
            <a:avLst/>
          </a:prstGeom>
          <a:noFill/>
        </p:spPr>
        <p:txBody>
          <a:bodyPr wrap="square" lIns="22860" rIns="22860" tIns="22860" bIns="22860" anchor="t">
            <a:spAutoFit/>
          </a:bodyPr>
          <a:lstStyle/>
          <a:p>
            <a:pPr algn="l">
              <a:lnSpc>
                <a:spcPct val="108000"/>
              </a:lnSpc>
            </a:pPr>
            <a:r>
              <a:rPr sz="1050" b="0">
                <a:solidFill>
                  <a:srgbClr val="22313F"/>
                </a:solidFill>
                <a:latin typeface="Arial"/>
              </a:rPr>
              <a:t>•  Only discordant pairs carry information; a tie between selection signals is a valid result.</a:t>
            </a:r>
          </a:p>
          <a:p>
            <a:pPr algn="l">
              <a:lnSpc>
                <a:spcPct val="108000"/>
              </a:lnSpc>
            </a:pPr>
            <a:r>
              <a:rPr sz="1050" b="0">
                <a:solidFill>
                  <a:srgbClr val="22313F"/>
                </a:solidFill>
                <a:latin typeface="Arial"/>
              </a:rPr>
              <a:t>•  Zero observed incidents is not a certified population bound; unknown outcomes are not zeros.</a:t>
            </a:r>
          </a:p>
          <a:p>
            <a:pPr algn="l">
              <a:lnSpc>
                <a:spcPct val="108000"/>
              </a:lnSpc>
            </a:pPr>
            <a:r>
              <a:rPr sz="1050" b="0">
                <a:solidFill>
                  <a:srgbClr val="22313F"/>
                </a:solidFill>
                <a:latin typeface="Arial"/>
              </a:rPr>
              <a:t>•  The chosen candidate's estimate is biased upward: confirm on held-out twins (optimizer's curse).</a:t>
            </a:r>
          </a:p>
        </p:txBody>
      </p:sp>
      <p:sp>
        <p:nvSpPr>
          <p:cNvPr id="101" name="Rounded Rectangle 100"/>
          <p:cNvSpPr/>
          <p:nvPr/>
        </p:nvSpPr>
        <p:spPr>
          <a:xfrm>
            <a:off x="566928" y="5715000"/>
            <a:ext cx="11055096" cy="548640"/>
          </a:xfrm>
          <a:prstGeom prst="roundRect">
            <a:avLst>
              <a:gd name="adj" fmla="val 5000"/>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body:101"/>
          <p:cNvSpPr txBox="1"/>
          <p:nvPr/>
        </p:nvSpPr>
        <p:spPr>
          <a:xfrm>
            <a:off x="768096" y="5742432"/>
            <a:ext cx="10652760" cy="493776"/>
          </a:xfrm>
          <a:prstGeom prst="rect">
            <a:avLst/>
          </a:prstGeom>
          <a:noFill/>
        </p:spPr>
        <p:txBody>
          <a:bodyPr wrap="square" lIns="22860" rIns="22860" tIns="22860" bIns="22860" anchor="ctr">
            <a:spAutoFit/>
          </a:bodyPr>
          <a:lstStyle/>
          <a:p>
            <a:pPr algn="l">
              <a:lnSpc>
                <a:spcPct val="108000"/>
              </a:lnSpc>
            </a:pPr>
            <a:r>
              <a:rPr sz="1600" b="1">
                <a:solidFill>
                  <a:srgbClr val="FFFFFF"/>
                </a:solidFill>
                <a:latin typeface="Arial"/>
              </a:rPr>
              <a:t>Select the lowest verified-incident policy among utility-eligible candidates, then confirm it on untouched paired twins.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label:2"/>
          <p:cNvSpPr txBox="1"/>
          <p:nvPr/>
        </p:nvSpPr>
        <p:spPr>
          <a:xfrm>
            <a:off x="566928" y="365760"/>
            <a:ext cx="10058400" cy="420624"/>
          </a:xfrm>
          <a:prstGeom prst="rect">
            <a:avLst/>
          </a:prstGeom>
          <a:noFill/>
        </p:spPr>
        <p:txBody>
          <a:bodyPr wrap="square" lIns="22860" rIns="22860" tIns="22860" bIns="22860" anchor="ctr">
            <a:spAutoFit/>
          </a:bodyPr>
          <a:lstStyle/>
          <a:p>
            <a:pPr algn="l">
              <a:lnSpc>
                <a:spcPct val="108000"/>
              </a:lnSpc>
            </a:pPr>
            <a:r>
              <a:rPr sz="1100" b="1">
                <a:solidFill>
                  <a:srgbClr val="1E7A72"/>
                </a:solidFill>
                <a:latin typeface="Arial"/>
              </a:rPr>
              <a:t>12 / ONLINE DECISION ALGORITHM</a:t>
            </a:r>
          </a:p>
        </p:txBody>
      </p:sp>
      <p:sp>
        <p:nvSpPr>
          <p:cNvPr id="4" name="title:3"/>
          <p:cNvSpPr txBox="1"/>
          <p:nvPr/>
        </p:nvSpPr>
        <p:spPr>
          <a:xfrm>
            <a:off x="566928" y="786384"/>
            <a:ext cx="11055096" cy="804672"/>
          </a:xfrm>
          <a:prstGeom prst="rect">
            <a:avLst/>
          </a:prstGeom>
          <a:noFill/>
        </p:spPr>
        <p:txBody>
          <a:bodyPr wrap="square" lIns="22860" rIns="22860" tIns="22860" bIns="22860" anchor="ctr">
            <a:spAutoFit/>
          </a:bodyPr>
          <a:lstStyle/>
          <a:p>
            <a:pPr algn="l">
              <a:lnSpc>
                <a:spcPct val="105000"/>
              </a:lnSpc>
            </a:pPr>
            <a:r>
              <a:rPr sz="2600" b="1">
                <a:solidFill>
                  <a:srgbClr val="172D46"/>
                </a:solidFill>
                <a:latin typeface="Arial"/>
              </a:rPr>
              <a:t>Algorithm A: GRANT-LOOKAHEAD, plan inside the grant.</a:t>
            </a:r>
          </a:p>
        </p:txBody>
      </p:sp>
      <p:sp>
        <p:nvSpPr>
          <p:cNvPr id="5" name="Rectangle 4"/>
          <p:cNvSpPr/>
          <p:nvPr/>
        </p:nvSpPr>
        <p:spPr>
          <a:xfrm>
            <a:off x="566928" y="1609344"/>
            <a:ext cx="868680" cy="4572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ubtitle:5"/>
          <p:cNvSpPr txBox="1"/>
          <p:nvPr/>
        </p:nvSpPr>
        <p:spPr>
          <a:xfrm>
            <a:off x="585216" y="1682496"/>
            <a:ext cx="11055096" cy="457200"/>
          </a:xfrm>
          <a:prstGeom prst="rect">
            <a:avLst/>
          </a:prstGeom>
          <a:noFill/>
        </p:spPr>
        <p:txBody>
          <a:bodyPr wrap="square" lIns="22860" rIns="22860" tIns="22860" bIns="22860" anchor="ctr">
            <a:spAutoFit/>
          </a:bodyPr>
          <a:lstStyle/>
          <a:p>
            <a:pPr algn="l">
              <a:lnSpc>
                <a:spcPct val="105000"/>
              </a:lnSpc>
            </a:pPr>
            <a:r>
              <a:rPr sz="1400" b="0">
                <a:solidFill>
                  <a:srgbClr val="5F6E80"/>
                </a:solidFill>
                <a:latin typeface="Arial"/>
              </a:rPr>
              <a:t>Exact dynamic programming in the finite fixture first; budgeted Monte Carlo lookahead with the same grant filter for larger tasks.</a:t>
            </a:r>
          </a:p>
        </p:txBody>
      </p:sp>
      <p:sp>
        <p:nvSpPr>
          <p:cNvPr id="7" name="source:6"/>
          <p:cNvSpPr txBox="1"/>
          <p:nvPr/>
        </p:nvSpPr>
        <p:spPr>
          <a:xfrm>
            <a:off x="566928" y="6400800"/>
            <a:ext cx="1033272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rPr>
              <a:t> </a:t>
            </a:r>
          </a:p>
        </p:txBody>
      </p:sp>
      <p:sp>
        <p:nvSpPr>
          <p:cNvPr id="8" name="source:7"/>
          <p:cNvSpPr txBox="1"/>
          <p:nvPr/>
        </p:nvSpPr>
        <p:spPr>
          <a:xfrm>
            <a:off x="10927080" y="6364224"/>
            <a:ext cx="694944" cy="265176"/>
          </a:xfrm>
          <a:prstGeom prst="rect">
            <a:avLst/>
          </a:prstGeom>
          <a:noFill/>
        </p:spPr>
        <p:txBody>
          <a:bodyPr wrap="square" lIns="22860" rIns="22860" tIns="22860" bIns="22860" anchor="ctr">
            <a:spAutoFit/>
          </a:bodyPr>
          <a:lstStyle/>
          <a:p>
            <a:pPr algn="ctr">
              <a:lnSpc>
                <a:spcPct val="108000"/>
              </a:lnSpc>
            </a:pPr>
            <a:r>
              <a:rPr sz="1000" b="1">
                <a:solidFill>
                  <a:srgbClr val="5F6E80"/>
                </a:solidFill>
                <a:latin typeface="Arial"/>
              </a:rPr>
              <a:t>14 / 22</a:t>
            </a:r>
          </a:p>
        </p:txBody>
      </p:sp>
      <p:sp>
        <p:nvSpPr>
          <p:cNvPr id="9" name="Rectangle 8"/>
          <p:cNvSpPr/>
          <p:nvPr/>
        </p:nvSpPr>
        <p:spPr>
          <a:xfrm>
            <a:off x="56692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7151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57609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80675"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8525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8984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9442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99005"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0358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0817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1275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17336"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2191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26501"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63108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35666"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4024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4483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4941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153996"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65857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16316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104120" y="365760"/>
            <a:ext cx="1517904" cy="274320"/>
          </a:xfrm>
          <a:prstGeom prst="roundRect">
            <a:avLst>
              <a:gd name="adj" fmla="val 5000"/>
            </a:avLst>
          </a:prstGeom>
          <a:solidFill>
            <a:srgbClr val="F8E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31"/>
          <p:cNvSpPr txBox="1"/>
          <p:nvPr/>
        </p:nvSpPr>
        <p:spPr>
          <a:xfrm>
            <a:off x="10158984" y="365760"/>
            <a:ext cx="1408176" cy="274320"/>
          </a:xfrm>
          <a:prstGeom prst="rect">
            <a:avLst/>
          </a:prstGeom>
          <a:noFill/>
        </p:spPr>
        <p:txBody>
          <a:bodyPr wrap="square" lIns="22860" rIns="22860" tIns="22860" bIns="22860" anchor="ctr">
            <a:spAutoFit/>
          </a:bodyPr>
          <a:lstStyle/>
          <a:p>
            <a:pPr algn="ctr">
              <a:lnSpc>
                <a:spcPct val="108000"/>
              </a:lnSpc>
            </a:pPr>
            <a:r>
              <a:rPr sz="1000" b="1">
                <a:solidFill>
                  <a:srgbClr val="B4602E"/>
                </a:solidFill>
                <a:latin typeface="Arial"/>
              </a:rPr>
              <a:t>PROPOSED</a:t>
            </a:r>
          </a:p>
        </p:txBody>
      </p:sp>
      <p:sp>
        <p:nvSpPr>
          <p:cNvPr id="33" name="source:32"/>
          <p:cNvSpPr txBox="1"/>
          <p:nvPr/>
        </p:nvSpPr>
        <p:spPr>
          <a:xfrm>
            <a:off x="566928" y="6400800"/>
            <a:ext cx="310896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2"/>
              </a:rPr>
              <a:t>Belief-state DP: Kaelbling et al. 1998</a:t>
            </a:r>
          </a:p>
        </p:txBody>
      </p:sp>
      <p:sp>
        <p:nvSpPr>
          <p:cNvPr id="34" name="source:33"/>
          <p:cNvSpPr txBox="1"/>
          <p:nvPr/>
        </p:nvSpPr>
        <p:spPr>
          <a:xfrm>
            <a:off x="3822191" y="6400800"/>
            <a:ext cx="256032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3"/>
              </a:rPr>
              <a:t>Sampling lookahead: POMCP 2010</a:t>
            </a:r>
          </a:p>
        </p:txBody>
      </p:sp>
      <p:sp>
        <p:nvSpPr>
          <p:cNvPr id="35" name="source:34"/>
          <p:cNvSpPr txBox="1"/>
          <p:nvPr/>
        </p:nvSpPr>
        <p:spPr>
          <a:xfrm>
            <a:off x="6528816" y="6400800"/>
            <a:ext cx="274320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4"/>
              </a:rPr>
              <a:t>Enforcement precedent: CaMeL 2025</a:t>
            </a:r>
          </a:p>
        </p:txBody>
      </p:sp>
      <p:sp>
        <p:nvSpPr>
          <p:cNvPr id="36" name="Rectangle 35"/>
          <p:cNvSpPr/>
          <p:nvPr/>
        </p:nvSpPr>
        <p:spPr>
          <a:xfrm>
            <a:off x="566928" y="2157984"/>
            <a:ext cx="6446520" cy="3383280"/>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66928" y="2157984"/>
            <a:ext cx="64008" cy="338328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code:37"/>
          <p:cNvSpPr txBox="1"/>
          <p:nvPr/>
        </p:nvSpPr>
        <p:spPr>
          <a:xfrm>
            <a:off x="768096" y="2267712"/>
            <a:ext cx="6135624" cy="3163824"/>
          </a:xfrm>
          <a:prstGeom prst="rect">
            <a:avLst/>
          </a:prstGeom>
          <a:noFill/>
        </p:spPr>
        <p:txBody>
          <a:bodyPr wrap="none" lIns="18288" rIns="18288" tIns="18288" bIns="18288" anchor="t">
            <a:spAutoFit/>
          </a:bodyPr>
          <a:lstStyle/>
          <a:p>
            <a:pPr>
              <a:lnSpc>
                <a:spcPct val="118000"/>
              </a:lnSpc>
            </a:pPr>
            <a:r>
              <a:rPr sz="1100">
                <a:solidFill>
                  <a:srgbClr val="FFFFFF"/>
                </a:solidFill>
                <a:latin typeface="Menlo"/>
              </a:rPr>
              <a:t>GRANT-LOOKAHEAD(g, h, T, O, u, c, k, H)</a:t>
            </a:r>
          </a:p>
          <a:p>
            <a:pPr>
              <a:lnSpc>
                <a:spcPct val="118000"/>
              </a:lnSpc>
            </a:pPr>
            <a:r>
              <a:rPr sz="1100">
                <a:solidFill>
                  <a:srgbClr val="FFFFFF"/>
                </a:solidFill>
                <a:latin typeface="Menlo"/>
              </a:rPr>
              <a:t>  b &lt;- FILTER(prior, h)                 # Bayes on feasibility only</a:t>
            </a:r>
          </a:p>
          <a:p>
            <a:pPr>
              <a:lnSpc>
                <a:spcPct val="118000"/>
              </a:lnSpc>
            </a:pPr>
            <a:r>
              <a:rPr sz="1100">
                <a:solidFill>
                  <a:srgbClr val="FFFFFF"/>
                </a:solidFill>
                <a:latin typeface="Menlo"/>
              </a:rPr>
              <a:t>  loop until terminal:</a:t>
            </a:r>
          </a:p>
          <a:p>
            <a:pPr>
              <a:lnSpc>
                <a:spcPct val="118000"/>
              </a:lnSpc>
            </a:pPr>
            <a:r>
              <a:rPr sz="1100">
                <a:solidFill>
                  <a:srgbClr val="FFFFFF"/>
                </a:solidFill>
                <a:latin typeface="Menlo"/>
              </a:rPr>
              <a:t>    C &lt;- {a in A(g): kappa(a) &lt;= k}     # permitted exec / probes</a:t>
            </a:r>
          </a:p>
          <a:p>
            <a:pPr>
              <a:lnSpc>
                <a:spcPct val="118000"/>
              </a:lnSpc>
            </a:pPr>
            <a:r>
              <a:rPr sz="1100">
                <a:solidFill>
                  <a:srgbClr val="FFFFFF"/>
                </a:solidFill>
                <a:latin typeface="Menlo"/>
              </a:rPr>
              <a:t>         U {ASK(r): r not in g} U {STOP}</a:t>
            </a:r>
          </a:p>
          <a:p>
            <a:pPr>
              <a:lnSpc>
                <a:spcPct val="118000"/>
              </a:lnSpc>
            </a:pPr>
            <a:r>
              <a:rPr sz="1100">
                <a:solidFill>
                  <a:srgbClr val="FFFFFF"/>
                </a:solidFill>
                <a:latin typeface="Menlo"/>
              </a:rPr>
              <a:t>    for a in C:</a:t>
            </a:r>
          </a:p>
          <a:p>
            <a:pPr>
              <a:lnSpc>
                <a:spcPct val="118000"/>
              </a:lnSpc>
            </a:pPr>
            <a:r>
              <a:rPr sz="1100">
                <a:solidFill>
                  <a:srgbClr val="FFFFFF"/>
                </a:solidFill>
                <a:latin typeface="Menlo"/>
              </a:rPr>
              <a:t>      Q(a) &lt;- E_b[r(x,a) - c(a)]</a:t>
            </a:r>
          </a:p>
          <a:p>
            <a:pPr>
              <a:lnSpc>
                <a:spcPct val="118000"/>
              </a:lnSpc>
            </a:pPr>
            <a:r>
              <a:rPr sz="1100">
                <a:solidFill>
                  <a:srgbClr val="FFFFFF"/>
                </a:solidFill>
                <a:latin typeface="Menlo"/>
              </a:rPr>
              <a:t>            + E_o[ V_(H-1)(b'(o), g'(a,o), k - kappa(a)) ]</a:t>
            </a:r>
          </a:p>
          <a:p>
            <a:pPr>
              <a:lnSpc>
                <a:spcPct val="118000"/>
              </a:lnSpc>
            </a:pPr>
            <a:r>
              <a:rPr sz="1100">
                <a:solidFill>
                  <a:srgbClr val="B9C8D8"/>
                </a:solidFill>
                <a:latin typeface="Menlo"/>
              </a:rPr>
              <a:t>            # g'(a,o) = g unless a = ASK and o is a trusted grant</a:t>
            </a:r>
          </a:p>
          <a:p>
            <a:pPr>
              <a:lnSpc>
                <a:spcPct val="118000"/>
              </a:lnSpc>
            </a:pPr>
            <a:r>
              <a:rPr sz="1100">
                <a:solidFill>
                  <a:srgbClr val="FFFFFF"/>
                </a:solidFill>
                <a:latin typeface="Menlo"/>
              </a:rPr>
              <a:t>    a* &lt;- argmax Q(a); ties -&gt; terminal actions</a:t>
            </a:r>
          </a:p>
          <a:p>
            <a:pPr>
              <a:lnSpc>
                <a:spcPct val="118000"/>
              </a:lnSpc>
            </a:pPr>
            <a:r>
              <a:rPr sz="1100">
                <a:solidFill>
                  <a:srgbClr val="FFFFFF"/>
                </a:solidFill>
                <a:latin typeface="Menlo"/>
              </a:rPr>
              <a:t>    if BROKER(a*, g) = DENY: log attempt; C &lt;- C \ {a*}; continue</a:t>
            </a:r>
          </a:p>
          <a:p>
            <a:pPr>
              <a:lnSpc>
                <a:spcPct val="118000"/>
              </a:lnSpc>
            </a:pPr>
            <a:r>
              <a:rPr sz="1100">
                <a:solidFill>
                  <a:srgbClr val="FFFFFF"/>
                </a:solidFill>
                <a:latin typeface="Menlo"/>
              </a:rPr>
              <a:t>    o &lt;- EXECUTE(a*); JOURNAL(effects(a*)); k &lt;- k - kappa(a*)</a:t>
            </a:r>
          </a:p>
          <a:p>
            <a:pPr>
              <a:lnSpc>
                <a:spcPct val="118000"/>
              </a:lnSpc>
            </a:pPr>
            <a:r>
              <a:rPr sz="1100">
                <a:solidFill>
                  <a:srgbClr val="FFFFFF"/>
                </a:solidFill>
                <a:latin typeface="Menlo"/>
              </a:rPr>
              <a:t>    b &lt;- FILTER(b, a*, o); g &lt;- g'(a*, o); h &lt;- h + (a*, o)</a:t>
            </a:r>
          </a:p>
          <a:p>
            <a:pPr>
              <a:lnSpc>
                <a:spcPct val="118000"/>
              </a:lnSpc>
            </a:pPr>
            <a:r>
              <a:rPr sz="1100">
                <a:solidFill>
                  <a:srgbClr val="FFFFFF"/>
                </a:solidFill>
                <a:latin typeface="Menlo"/>
              </a:rPr>
              <a:t>  return STOP(evidence = h)</a:t>
            </a:r>
          </a:p>
        </p:txBody>
      </p:sp>
      <p:sp>
        <p:nvSpPr>
          <p:cNvPr id="39" name="Rectangle 38"/>
          <p:cNvSpPr/>
          <p:nvPr/>
        </p:nvSpPr>
        <p:spPr>
          <a:xfrm>
            <a:off x="7178040" y="2157984"/>
            <a:ext cx="4443984" cy="3383280"/>
          </a:xfrm>
          <a:prstGeom prst="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178040" y="2157984"/>
            <a:ext cx="64008" cy="338328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ody:40"/>
          <p:cNvSpPr txBox="1"/>
          <p:nvPr/>
        </p:nvSpPr>
        <p:spPr>
          <a:xfrm>
            <a:off x="7360920" y="2231136"/>
            <a:ext cx="4114800" cy="310896"/>
          </a:xfrm>
          <a:prstGeom prst="rect">
            <a:avLst/>
          </a:prstGeom>
          <a:noFill/>
        </p:spPr>
        <p:txBody>
          <a:bodyPr wrap="square" lIns="22860" rIns="22860" tIns="22860" bIns="22860" anchor="ctr">
            <a:spAutoFit/>
          </a:bodyPr>
          <a:lstStyle/>
          <a:p>
            <a:pPr algn="l">
              <a:lnSpc>
                <a:spcPct val="108000"/>
              </a:lnSpc>
            </a:pPr>
            <a:r>
              <a:rPr sz="1500" b="1">
                <a:solidFill>
                  <a:srgbClr val="1E7A72"/>
                </a:solidFill>
                <a:latin typeface="Arial"/>
              </a:rPr>
              <a:t>Properties</a:t>
            </a:r>
          </a:p>
        </p:txBody>
      </p:sp>
      <p:sp>
        <p:nvSpPr>
          <p:cNvPr id="42" name="body:41"/>
          <p:cNvSpPr txBox="1"/>
          <p:nvPr/>
        </p:nvSpPr>
        <p:spPr>
          <a:xfrm>
            <a:off x="7360920" y="2560320"/>
            <a:ext cx="4114800" cy="2926080"/>
          </a:xfrm>
          <a:prstGeom prst="rect">
            <a:avLst/>
          </a:prstGeom>
          <a:noFill/>
        </p:spPr>
        <p:txBody>
          <a:bodyPr wrap="square" lIns="22860" rIns="22860" tIns="22860" bIns="22860" anchor="t">
            <a:spAutoFit/>
          </a:bodyPr>
          <a:lstStyle/>
          <a:p>
            <a:pPr algn="l">
              <a:lnSpc>
                <a:spcPct val="110000"/>
              </a:lnSpc>
            </a:pPr>
            <a:r>
              <a:rPr sz="1100" b="0">
                <a:solidFill>
                  <a:srgbClr val="22313F"/>
                </a:solidFill>
                <a:latin typeface="Arial"/>
              </a:rPr>
              <a:t>P1  Under complete mediation and a correct effect model, no executed effect lies outside A(g</a:t>
            </a:r>
            <a:r>
              <a:rPr sz="1100" b="0" baseline="-25000">
                <a:solidFill>
                  <a:srgbClr val="22313F"/>
                </a:solidFill>
                <a:latin typeface="Arial"/>
              </a:rPr>
              <a:t>t</a:t>
            </a:r>
            <a:r>
              <a:rPr sz="1100" b="0">
                <a:solidFill>
                  <a:srgbClr val="22313F"/>
                </a:solidFill>
                <a:latin typeface="Arial"/>
              </a:rPr>
              <a:t>): the broker is the shield, the planner is not trusted for safety.</a:t>
            </a:r>
          </a:p>
          <a:p>
            <a:pPr algn="l">
              <a:lnSpc>
                <a:spcPct val="110000"/>
              </a:lnSpc>
            </a:pPr>
            <a:r>
              <a:rPr sz="1100" b="0">
                <a:solidFill>
                  <a:srgbClr val="22313F"/>
                </a:solidFill>
                <a:latin typeface="Arial"/>
              </a:rPr>
              <a:t>P2  Exact DP has zero regret in the finite fixture; V* is the normative reference, not a clairvoyant policy.</a:t>
            </a:r>
          </a:p>
          <a:p>
            <a:pPr algn="l">
              <a:lnSpc>
                <a:spcPct val="110000"/>
              </a:lnSpc>
            </a:pPr>
            <a:r>
              <a:rPr sz="1100" b="0">
                <a:solidFill>
                  <a:srgbClr val="22313F"/>
                </a:solidFill>
                <a:latin typeface="Arial"/>
              </a:rPr>
              <a:t>P3  Cost O(H · |A| · |O| · |B|) over a discretised belief; beyond that, fixed-budget beam or Monte Carlo lookahead with the same A(g) filter at every node.</a:t>
            </a:r>
          </a:p>
          <a:p>
            <a:pPr algn="l">
              <a:lnSpc>
                <a:spcPct val="110000"/>
              </a:lnSpc>
            </a:pPr>
            <a:r>
              <a:rPr sz="1100" b="0">
                <a:solidFill>
                  <a:srgbClr val="22313F"/>
                </a:solidFill>
                <a:latin typeface="Arial"/>
              </a:rPr>
              <a:t>P4  Requests are planned: ASK enters Q with cost d and response probability q, so the planner asks when authority must change and not otherwise.</a:t>
            </a:r>
          </a:p>
          <a:p>
            <a:pPr algn="l">
              <a:lnSpc>
                <a:spcPct val="110000"/>
              </a:lnSpc>
            </a:pPr>
            <a:r>
              <a:rPr sz="1100" b="0">
                <a:solidFill>
                  <a:srgbClr val="22313F"/>
                </a:solidFill>
                <a:latin typeface="Arial"/>
              </a:rPr>
              <a:t>P5  Calibration is an input: T, O estimated on development data; an LLM confidence statement is not a posterior.</a:t>
            </a:r>
          </a:p>
        </p:txBody>
      </p:sp>
      <p:sp>
        <p:nvSpPr>
          <p:cNvPr id="43" name="Rounded Rectangle 42"/>
          <p:cNvSpPr/>
          <p:nvPr/>
        </p:nvSpPr>
        <p:spPr>
          <a:xfrm>
            <a:off x="566928" y="5715000"/>
            <a:ext cx="11055096" cy="548640"/>
          </a:xfrm>
          <a:prstGeom prst="roundRect">
            <a:avLst>
              <a:gd name="adj" fmla="val 5000"/>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ody:43"/>
          <p:cNvSpPr txBox="1"/>
          <p:nvPr/>
        </p:nvSpPr>
        <p:spPr>
          <a:xfrm>
            <a:off x="768096" y="5742432"/>
            <a:ext cx="10652760" cy="493776"/>
          </a:xfrm>
          <a:prstGeom prst="rect">
            <a:avLst/>
          </a:prstGeom>
          <a:noFill/>
        </p:spPr>
        <p:txBody>
          <a:bodyPr wrap="square" lIns="22860" rIns="22860" tIns="22860" bIns="22860" anchor="ctr">
            <a:spAutoFit/>
          </a:bodyPr>
          <a:lstStyle/>
          <a:p>
            <a:pPr algn="l">
              <a:lnSpc>
                <a:spcPct val="108000"/>
              </a:lnSpc>
            </a:pPr>
            <a:r>
              <a:rPr sz="1600" b="1">
                <a:solidFill>
                  <a:srgbClr val="FFFFFF"/>
                </a:solidFill>
                <a:latin typeface="Arial"/>
              </a:rPr>
              <a:t>Plan for utility; enforce scope before execution; measure effects independently. Three functions, three components.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label:2"/>
          <p:cNvSpPr txBox="1"/>
          <p:nvPr/>
        </p:nvSpPr>
        <p:spPr>
          <a:xfrm>
            <a:off x="566928" y="365760"/>
            <a:ext cx="10058400" cy="420624"/>
          </a:xfrm>
          <a:prstGeom prst="rect">
            <a:avLst/>
          </a:prstGeom>
          <a:noFill/>
        </p:spPr>
        <p:txBody>
          <a:bodyPr wrap="square" lIns="22860" rIns="22860" tIns="22860" bIns="22860" anchor="ctr">
            <a:spAutoFit/>
          </a:bodyPr>
          <a:lstStyle/>
          <a:p>
            <a:pPr algn="l">
              <a:lnSpc>
                <a:spcPct val="108000"/>
              </a:lnSpc>
            </a:pPr>
            <a:r>
              <a:rPr sz="1100" b="1">
                <a:solidFill>
                  <a:srgbClr val="1E7A72"/>
                </a:solidFill>
                <a:latin typeface="Arial"/>
              </a:rPr>
              <a:t>13 / OFFLINE POLICY SELECTION</a:t>
            </a:r>
          </a:p>
        </p:txBody>
      </p:sp>
      <p:sp>
        <p:nvSpPr>
          <p:cNvPr id="4" name="title:3"/>
          <p:cNvSpPr txBox="1"/>
          <p:nvPr/>
        </p:nvSpPr>
        <p:spPr>
          <a:xfrm>
            <a:off x="566928" y="786384"/>
            <a:ext cx="11055096" cy="804672"/>
          </a:xfrm>
          <a:prstGeom prst="rect">
            <a:avLst/>
          </a:prstGeom>
          <a:noFill/>
        </p:spPr>
        <p:txBody>
          <a:bodyPr wrap="square" lIns="22860" rIns="22860" tIns="22860" bIns="22860" anchor="ctr">
            <a:spAutoFit/>
          </a:bodyPr>
          <a:lstStyle/>
          <a:p>
            <a:pPr algn="l">
              <a:lnSpc>
                <a:spcPct val="105000"/>
              </a:lnSpc>
            </a:pPr>
            <a:r>
              <a:rPr sz="2600" b="1">
                <a:solidFill>
                  <a:srgbClr val="172D46"/>
                </a:solidFill>
                <a:latin typeface="Arial"/>
              </a:rPr>
              <a:t>Algorithm B: INCIDENT-SELECT, choose by verified effects.</a:t>
            </a:r>
          </a:p>
        </p:txBody>
      </p:sp>
      <p:sp>
        <p:nvSpPr>
          <p:cNvPr id="5" name="Rectangle 4"/>
          <p:cNvSpPr/>
          <p:nvPr/>
        </p:nvSpPr>
        <p:spPr>
          <a:xfrm>
            <a:off x="566928" y="1609344"/>
            <a:ext cx="868680" cy="4572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ubtitle:5"/>
          <p:cNvSpPr txBox="1"/>
          <p:nvPr/>
        </p:nvSpPr>
        <p:spPr>
          <a:xfrm>
            <a:off x="585216" y="1682496"/>
            <a:ext cx="11055096" cy="457200"/>
          </a:xfrm>
          <a:prstGeom prst="rect">
            <a:avLst/>
          </a:prstGeom>
          <a:noFill/>
        </p:spPr>
        <p:txBody>
          <a:bodyPr wrap="square" lIns="22860" rIns="22860" tIns="22860" bIns="22860" anchor="ctr">
            <a:spAutoFit/>
          </a:bodyPr>
          <a:lstStyle/>
          <a:p>
            <a:pPr algn="l">
              <a:lnSpc>
                <a:spcPct val="105000"/>
              </a:lnSpc>
            </a:pPr>
            <a:r>
              <a:rPr sz="1400" b="0">
                <a:solidFill>
                  <a:srgbClr val="5F6E80"/>
                </a:solidFill>
                <a:latin typeface="Arial"/>
              </a:rPr>
              <a:t>Does better incident evidence change which controller is selected, and does the selected controller behave better on new tasks?</a:t>
            </a:r>
          </a:p>
        </p:txBody>
      </p:sp>
      <p:sp>
        <p:nvSpPr>
          <p:cNvPr id="7" name="source:6"/>
          <p:cNvSpPr txBox="1"/>
          <p:nvPr/>
        </p:nvSpPr>
        <p:spPr>
          <a:xfrm>
            <a:off x="566928" y="6400800"/>
            <a:ext cx="1033272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rPr>
              <a:t> </a:t>
            </a:r>
          </a:p>
        </p:txBody>
      </p:sp>
      <p:sp>
        <p:nvSpPr>
          <p:cNvPr id="8" name="source:7"/>
          <p:cNvSpPr txBox="1"/>
          <p:nvPr/>
        </p:nvSpPr>
        <p:spPr>
          <a:xfrm>
            <a:off x="10927080" y="6364224"/>
            <a:ext cx="694944" cy="265176"/>
          </a:xfrm>
          <a:prstGeom prst="rect">
            <a:avLst/>
          </a:prstGeom>
          <a:noFill/>
        </p:spPr>
        <p:txBody>
          <a:bodyPr wrap="square" lIns="22860" rIns="22860" tIns="22860" bIns="22860" anchor="ctr">
            <a:spAutoFit/>
          </a:bodyPr>
          <a:lstStyle/>
          <a:p>
            <a:pPr algn="ctr">
              <a:lnSpc>
                <a:spcPct val="108000"/>
              </a:lnSpc>
            </a:pPr>
            <a:r>
              <a:rPr sz="1000" b="1">
                <a:solidFill>
                  <a:srgbClr val="5F6E80"/>
                </a:solidFill>
                <a:latin typeface="Arial"/>
              </a:rPr>
              <a:t>15 / 22</a:t>
            </a:r>
          </a:p>
        </p:txBody>
      </p:sp>
      <p:sp>
        <p:nvSpPr>
          <p:cNvPr id="9" name="Rectangle 8"/>
          <p:cNvSpPr/>
          <p:nvPr/>
        </p:nvSpPr>
        <p:spPr>
          <a:xfrm>
            <a:off x="56692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7151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57609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80675"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8525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8984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9442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99005"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0358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0817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1275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17336"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2191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26501"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63108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35666"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4024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4483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4941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153996"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65857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16316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104120" y="365760"/>
            <a:ext cx="1517904" cy="274320"/>
          </a:xfrm>
          <a:prstGeom prst="roundRect">
            <a:avLst>
              <a:gd name="adj" fmla="val 5000"/>
            </a:avLst>
          </a:prstGeom>
          <a:solidFill>
            <a:srgbClr val="F8E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31"/>
          <p:cNvSpPr txBox="1"/>
          <p:nvPr/>
        </p:nvSpPr>
        <p:spPr>
          <a:xfrm>
            <a:off x="10158984" y="365760"/>
            <a:ext cx="1408176" cy="274320"/>
          </a:xfrm>
          <a:prstGeom prst="rect">
            <a:avLst/>
          </a:prstGeom>
          <a:noFill/>
        </p:spPr>
        <p:txBody>
          <a:bodyPr wrap="square" lIns="22860" rIns="22860" tIns="22860" bIns="22860" anchor="ctr">
            <a:spAutoFit/>
          </a:bodyPr>
          <a:lstStyle/>
          <a:p>
            <a:pPr algn="ctr">
              <a:lnSpc>
                <a:spcPct val="108000"/>
              </a:lnSpc>
            </a:pPr>
            <a:r>
              <a:rPr sz="1000" b="1">
                <a:solidFill>
                  <a:srgbClr val="B4602E"/>
                </a:solidFill>
                <a:latin typeface="Arial"/>
              </a:rPr>
              <a:t>PROPOSED</a:t>
            </a:r>
          </a:p>
        </p:txBody>
      </p:sp>
      <p:sp>
        <p:nvSpPr>
          <p:cNvPr id="33" name="source:32"/>
          <p:cNvSpPr txBox="1"/>
          <p:nvPr/>
        </p:nvSpPr>
        <p:spPr>
          <a:xfrm>
            <a:off x="566928" y="6400800"/>
            <a:ext cx="310896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2"/>
              </a:rPr>
              <a:t>Arms B0–B4 and the primary contrast</a:t>
            </a:r>
          </a:p>
        </p:txBody>
      </p:sp>
      <p:sp>
        <p:nvSpPr>
          <p:cNvPr id="34" name="source:33"/>
          <p:cNvSpPr txBox="1"/>
          <p:nvPr/>
        </p:nvSpPr>
        <p:spPr>
          <a:xfrm>
            <a:off x="3822191" y="6400800"/>
            <a:ext cx="310896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3"/>
              </a:rPr>
              <a:t>Closest overlap: ImpossibleBench §§5–6</a:t>
            </a:r>
          </a:p>
        </p:txBody>
      </p:sp>
      <p:sp>
        <p:nvSpPr>
          <p:cNvPr id="35" name="source:34"/>
          <p:cNvSpPr txBox="1"/>
          <p:nvPr/>
        </p:nvSpPr>
        <p:spPr>
          <a:xfrm>
            <a:off x="7077456" y="6400800"/>
            <a:ext cx="182880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4"/>
              </a:rPr>
              <a:t>Prior work comparison</a:t>
            </a:r>
          </a:p>
        </p:txBody>
      </p:sp>
      <p:sp>
        <p:nvSpPr>
          <p:cNvPr id="36" name="Rectangle 35"/>
          <p:cNvSpPr/>
          <p:nvPr/>
        </p:nvSpPr>
        <p:spPr>
          <a:xfrm>
            <a:off x="566928" y="2157984"/>
            <a:ext cx="6446520" cy="3383280"/>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66928" y="2157984"/>
            <a:ext cx="64008" cy="338328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code:37"/>
          <p:cNvSpPr txBox="1"/>
          <p:nvPr/>
        </p:nvSpPr>
        <p:spPr>
          <a:xfrm>
            <a:off x="768096" y="2267712"/>
            <a:ext cx="6135624" cy="3163824"/>
          </a:xfrm>
          <a:prstGeom prst="rect">
            <a:avLst/>
          </a:prstGeom>
          <a:noFill/>
        </p:spPr>
        <p:txBody>
          <a:bodyPr wrap="none" lIns="18288" rIns="18288" tIns="18288" bIns="18288" anchor="t">
            <a:spAutoFit/>
          </a:bodyPr>
          <a:lstStyle/>
          <a:p>
            <a:pPr>
              <a:lnSpc>
                <a:spcPct val="118000"/>
              </a:lnSpc>
            </a:pPr>
            <a:r>
              <a:rPr sz="1100">
                <a:solidFill>
                  <a:srgbClr val="FFFFFF"/>
                </a:solidFill>
                <a:latin typeface="Menlo"/>
              </a:rPr>
              <a:t>INCIDENT-SELECT(Theta, D_dev, S, theta_0, delta_U, B_run, alpha_F)</a:t>
            </a:r>
          </a:p>
          <a:p>
            <a:pPr>
              <a:lnSpc>
                <a:spcPct val="118000"/>
              </a:lnSpc>
            </a:pPr>
            <a:r>
              <a:rPr sz="1100">
                <a:solidFill>
                  <a:srgbClr val="B9C8D8"/>
                </a:solidFill>
                <a:latin typeface="Menlo"/>
              </a:rPr>
              <a:t>  # Theta: K frozen candidates; S in {T, T+J, J*} selection signal</a:t>
            </a:r>
          </a:p>
          <a:p>
            <a:pPr>
              <a:lnSpc>
                <a:spcPct val="118000"/>
              </a:lnSpc>
            </a:pPr>
            <a:r>
              <a:rPr sz="1100">
                <a:solidFill>
                  <a:srgbClr val="FFFFFF"/>
                </a:solidFill>
                <a:latin typeface="Menlo"/>
              </a:rPr>
              <a:t>  for theta in Theta:</a:t>
            </a:r>
          </a:p>
          <a:p>
            <a:pPr>
              <a:lnSpc>
                <a:spcPct val="118000"/>
              </a:lnSpc>
            </a:pPr>
            <a:r>
              <a:rPr sz="1100">
                <a:solidFill>
                  <a:srgbClr val="FFFFFF"/>
                </a:solidFill>
                <a:latin typeface="Menlo"/>
              </a:rPr>
              <a:t>    tau &lt;- ROLLOUT(theta, D_dev, shared seeds)   # reused for every S</a:t>
            </a:r>
          </a:p>
          <a:p>
            <a:pPr>
              <a:lnSpc>
                <a:spcPct val="118000"/>
              </a:lnSpc>
            </a:pPr>
            <a:r>
              <a:rPr sz="1100">
                <a:solidFill>
                  <a:srgbClr val="FFFFFF"/>
                </a:solidFill>
                <a:latin typeface="Menlo"/>
              </a:rPr>
              <a:t>    U_hat, C_hat, F_hat &lt;- COMMON_SCORER(tau)</a:t>
            </a:r>
          </a:p>
          <a:p>
            <a:pPr>
              <a:lnSpc>
                <a:spcPct val="118000"/>
              </a:lnSpc>
            </a:pPr>
            <a:r>
              <a:rPr sz="1100">
                <a:solidFill>
                  <a:srgbClr val="FFFFFF"/>
                </a:solidFill>
                <a:latin typeface="Menlo"/>
              </a:rPr>
              <a:t>    R_hat_S(theta) &lt;- INCIDENT_ESTIMATE(tau, S)</a:t>
            </a:r>
          </a:p>
          <a:p>
            <a:pPr>
              <a:lnSpc>
                <a:spcPct val="118000"/>
              </a:lnSpc>
            </a:pPr>
            <a:r>
              <a:rPr sz="1100">
                <a:solidFill>
                  <a:srgbClr val="FFFFFF"/>
                </a:solidFill>
                <a:latin typeface="Menlo"/>
              </a:rPr>
              <a:t>  E &lt;- {theta: U_hat &gt;= U_hat(theta_0) - delta_U,</a:t>
            </a:r>
          </a:p>
          <a:p>
            <a:pPr>
              <a:lnSpc>
                <a:spcPct val="118000"/>
              </a:lnSpc>
            </a:pPr>
            <a:r>
              <a:rPr sz="1100">
                <a:solidFill>
                  <a:srgbClr val="FFFFFF"/>
                </a:solidFill>
                <a:latin typeface="Menlo"/>
              </a:rPr>
              <a:t>               C_hat &lt;= B_run, F_hat &lt;= alpha_F}</a:t>
            </a:r>
          </a:p>
          <a:p>
            <a:pPr>
              <a:lnSpc>
                <a:spcPct val="118000"/>
              </a:lnSpc>
            </a:pPr>
            <a:r>
              <a:rPr sz="1100">
                <a:solidFill>
                  <a:srgbClr val="FFFFFF"/>
                </a:solidFill>
                <a:latin typeface="Menlo"/>
              </a:rPr>
              <a:t>  if E = {}: return theta_0           # no improvement claim</a:t>
            </a:r>
          </a:p>
          <a:p>
            <a:pPr>
              <a:lnSpc>
                <a:spcPct val="118000"/>
              </a:lnSpc>
            </a:pPr>
            <a:r>
              <a:rPr sz="1100">
                <a:solidFill>
                  <a:srgbClr val="FFFFFF"/>
                </a:solidFill>
                <a:latin typeface="Menlo"/>
              </a:rPr>
              <a:t>  theta_S &lt;- argmin_{theta in E} R_hat_S(theta)   # fixed tie-break</a:t>
            </a:r>
          </a:p>
          <a:p>
            <a:pPr>
              <a:lnSpc>
                <a:spcPct val="118000"/>
              </a:lnSpc>
            </a:pPr>
            <a:r>
              <a:rPr sz="1100">
                <a:solidFill>
                  <a:srgbClr val="FFFFFF"/>
                </a:solidFill>
                <a:latin typeface="Menlo"/>
              </a:rPr>
              <a:t>  FREEZE(theta_S)</a:t>
            </a:r>
          </a:p>
          <a:p>
            <a:pPr>
              <a:lnSpc>
                <a:spcPct val="118000"/>
              </a:lnSpc>
            </a:pPr>
            <a:r>
              <a:rPr sz="1100">
                <a:solidFill>
                  <a:srgbClr val="FFFFFF"/>
                </a:solidFill>
                <a:latin typeface="Menlo"/>
              </a:rPr>
              <a:t>  return EVALUATE(theta_S, D_test, J*)  # untouched lineages,</a:t>
            </a:r>
          </a:p>
          <a:p>
            <a:pPr>
              <a:lnSpc>
                <a:spcPct val="118000"/>
              </a:lnSpc>
            </a:pPr>
            <a:r>
              <a:rPr sz="1100">
                <a:solidFill>
                  <a:srgbClr val="B9C8D8"/>
                </a:solidFill>
                <a:latin typeface="Menlo"/>
              </a:rPr>
              <a:t>                                        # effect oracle, paired</a:t>
            </a:r>
          </a:p>
        </p:txBody>
      </p:sp>
      <p:sp>
        <p:nvSpPr>
          <p:cNvPr id="39" name="Rounded Rectangle 38"/>
          <p:cNvSpPr/>
          <p:nvPr/>
        </p:nvSpPr>
        <p:spPr>
          <a:xfrm>
            <a:off x="7178040" y="2157984"/>
            <a:ext cx="4443984" cy="530352"/>
          </a:xfrm>
          <a:prstGeom prst="roundRect">
            <a:avLst>
              <a:gd name="adj" fmla="val 5000"/>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ody:39"/>
          <p:cNvSpPr txBox="1"/>
          <p:nvPr/>
        </p:nvSpPr>
        <p:spPr>
          <a:xfrm>
            <a:off x="7333488" y="2231136"/>
            <a:ext cx="914400" cy="384048"/>
          </a:xfrm>
          <a:prstGeom prst="rect">
            <a:avLst/>
          </a:prstGeom>
          <a:noFill/>
        </p:spPr>
        <p:txBody>
          <a:bodyPr wrap="square" lIns="22860" rIns="22860" tIns="22860" bIns="22860" anchor="ctr">
            <a:spAutoFit/>
          </a:bodyPr>
          <a:lstStyle/>
          <a:p>
            <a:pPr algn="l">
              <a:lnSpc>
                <a:spcPct val="108000"/>
              </a:lnSpc>
            </a:pPr>
            <a:r>
              <a:rPr sz="1700" b="1">
                <a:solidFill>
                  <a:srgbClr val="3A6391"/>
                </a:solidFill>
                <a:latin typeface="Arial"/>
              </a:rPr>
              <a:t>T</a:t>
            </a:r>
          </a:p>
        </p:txBody>
      </p:sp>
      <p:sp>
        <p:nvSpPr>
          <p:cNvPr id="41" name="body:40"/>
          <p:cNvSpPr txBox="1"/>
          <p:nvPr/>
        </p:nvSpPr>
        <p:spPr>
          <a:xfrm>
            <a:off x="8275320" y="2231136"/>
            <a:ext cx="3291840" cy="384048"/>
          </a:xfrm>
          <a:prstGeom prst="rect">
            <a:avLst/>
          </a:prstGeom>
          <a:noFill/>
        </p:spPr>
        <p:txBody>
          <a:bodyPr wrap="square" lIns="22860" rIns="22860" tIns="22860" bIns="22860" anchor="ctr">
            <a:spAutoFit/>
          </a:bodyPr>
          <a:lstStyle/>
          <a:p>
            <a:pPr algn="l">
              <a:lnSpc>
                <a:spcPct val="108000"/>
              </a:lnSpc>
            </a:pPr>
            <a:r>
              <a:rPr sz="1200" b="0">
                <a:solidFill>
                  <a:srgbClr val="22313F"/>
                </a:solidFill>
                <a:latin typeface="Arial"/>
              </a:rPr>
              <a:t>Transcript judge</a:t>
            </a:r>
          </a:p>
        </p:txBody>
      </p:sp>
      <p:sp>
        <p:nvSpPr>
          <p:cNvPr id="42" name="Rounded Rectangle 41"/>
          <p:cNvSpPr/>
          <p:nvPr/>
        </p:nvSpPr>
        <p:spPr>
          <a:xfrm>
            <a:off x="7178040" y="2798063"/>
            <a:ext cx="4443984" cy="530352"/>
          </a:xfrm>
          <a:prstGeom prst="roundRect">
            <a:avLst>
              <a:gd name="adj" fmla="val 5000"/>
            </a:avLst>
          </a:prstGeom>
          <a:solidFill>
            <a:srgbClr val="E1F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ody:42"/>
          <p:cNvSpPr txBox="1"/>
          <p:nvPr/>
        </p:nvSpPr>
        <p:spPr>
          <a:xfrm>
            <a:off x="7333488" y="2871215"/>
            <a:ext cx="914400" cy="384048"/>
          </a:xfrm>
          <a:prstGeom prst="rect">
            <a:avLst/>
          </a:prstGeom>
          <a:noFill/>
        </p:spPr>
        <p:txBody>
          <a:bodyPr wrap="square" lIns="22860" rIns="22860" tIns="22860" bIns="22860" anchor="ctr">
            <a:spAutoFit/>
          </a:bodyPr>
          <a:lstStyle/>
          <a:p>
            <a:pPr algn="l">
              <a:lnSpc>
                <a:spcPct val="108000"/>
              </a:lnSpc>
            </a:pPr>
            <a:r>
              <a:rPr sz="1700" b="1">
                <a:solidFill>
                  <a:srgbClr val="1E7A72"/>
                </a:solidFill>
                <a:latin typeface="Arial"/>
              </a:rPr>
              <a:t>T + J</a:t>
            </a:r>
          </a:p>
        </p:txBody>
      </p:sp>
      <p:sp>
        <p:nvSpPr>
          <p:cNvPr id="44" name="body:43"/>
          <p:cNvSpPr txBox="1"/>
          <p:nvPr/>
        </p:nvSpPr>
        <p:spPr>
          <a:xfrm>
            <a:off x="8275320" y="2871215"/>
            <a:ext cx="3291840" cy="384048"/>
          </a:xfrm>
          <a:prstGeom prst="rect">
            <a:avLst/>
          </a:prstGeom>
          <a:noFill/>
        </p:spPr>
        <p:txBody>
          <a:bodyPr wrap="square" lIns="22860" rIns="22860" tIns="22860" bIns="22860" anchor="ctr">
            <a:spAutoFit/>
          </a:bodyPr>
          <a:lstStyle/>
          <a:p>
            <a:pPr algn="l">
              <a:lnSpc>
                <a:spcPct val="108000"/>
              </a:lnSpc>
            </a:pPr>
            <a:r>
              <a:rPr sz="1200" b="0">
                <a:solidFill>
                  <a:srgbClr val="22313F"/>
                </a:solidFill>
                <a:latin typeface="Arial"/>
              </a:rPr>
              <a:t>Same judge + effect journal</a:t>
            </a:r>
          </a:p>
        </p:txBody>
      </p:sp>
      <p:sp>
        <p:nvSpPr>
          <p:cNvPr id="45" name="Rounded Rectangle 44"/>
          <p:cNvSpPr/>
          <p:nvPr/>
        </p:nvSpPr>
        <p:spPr>
          <a:xfrm>
            <a:off x="7178040" y="3438144"/>
            <a:ext cx="4443984" cy="530352"/>
          </a:xfrm>
          <a:prstGeom prst="roundRect">
            <a:avLst>
              <a:gd name="adj" fmla="val 5000"/>
            </a:avLst>
          </a:prstGeom>
          <a:solidFill>
            <a:srgbClr val="EEE8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ody:45"/>
          <p:cNvSpPr txBox="1"/>
          <p:nvPr/>
        </p:nvSpPr>
        <p:spPr>
          <a:xfrm>
            <a:off x="7333488" y="3511296"/>
            <a:ext cx="914400" cy="384048"/>
          </a:xfrm>
          <a:prstGeom prst="rect">
            <a:avLst/>
          </a:prstGeom>
          <a:noFill/>
        </p:spPr>
        <p:txBody>
          <a:bodyPr wrap="square" lIns="22860" rIns="22860" tIns="22860" bIns="22860" anchor="ctr">
            <a:spAutoFit/>
          </a:bodyPr>
          <a:lstStyle/>
          <a:p>
            <a:pPr algn="l">
              <a:lnSpc>
                <a:spcPct val="108000"/>
              </a:lnSpc>
            </a:pPr>
            <a:r>
              <a:rPr sz="1700" b="1">
                <a:solidFill>
                  <a:srgbClr val="6A4C93"/>
                </a:solidFill>
                <a:latin typeface="Arial"/>
              </a:rPr>
              <a:t>J*</a:t>
            </a:r>
          </a:p>
        </p:txBody>
      </p:sp>
      <p:sp>
        <p:nvSpPr>
          <p:cNvPr id="47" name="body:46"/>
          <p:cNvSpPr txBox="1"/>
          <p:nvPr/>
        </p:nvSpPr>
        <p:spPr>
          <a:xfrm>
            <a:off x="8275320" y="3511296"/>
            <a:ext cx="3291840" cy="384048"/>
          </a:xfrm>
          <a:prstGeom prst="rect">
            <a:avLst/>
          </a:prstGeom>
          <a:noFill/>
        </p:spPr>
        <p:txBody>
          <a:bodyPr wrap="square" lIns="22860" rIns="22860" tIns="22860" bIns="22860" anchor="ctr">
            <a:spAutoFit/>
          </a:bodyPr>
          <a:lstStyle/>
          <a:p>
            <a:pPr algn="l">
              <a:lnSpc>
                <a:spcPct val="108000"/>
              </a:lnSpc>
            </a:pPr>
            <a:r>
              <a:rPr sz="1200" b="0">
                <a:solidFill>
                  <a:srgbClr val="22313F"/>
                </a:solidFill>
                <a:latin typeface="Arial"/>
              </a:rPr>
              <a:t>Exact local effect oracle</a:t>
            </a:r>
          </a:p>
        </p:txBody>
      </p:sp>
      <p:sp>
        <p:nvSpPr>
          <p:cNvPr id="48" name="Rectangle 47"/>
          <p:cNvSpPr/>
          <p:nvPr/>
        </p:nvSpPr>
        <p:spPr>
          <a:xfrm>
            <a:off x="7178040" y="4078224"/>
            <a:ext cx="4443984" cy="146304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ody:48"/>
          <p:cNvSpPr txBox="1"/>
          <p:nvPr/>
        </p:nvSpPr>
        <p:spPr>
          <a:xfrm>
            <a:off x="7333488" y="4133087"/>
            <a:ext cx="4160520" cy="1371600"/>
          </a:xfrm>
          <a:prstGeom prst="rect">
            <a:avLst/>
          </a:prstGeom>
          <a:noFill/>
        </p:spPr>
        <p:txBody>
          <a:bodyPr wrap="square" lIns="22860" rIns="22860" tIns="22860" bIns="22860" anchor="t">
            <a:spAutoFit/>
          </a:bodyPr>
          <a:lstStyle/>
          <a:p>
            <a:pPr algn="l">
              <a:lnSpc>
                <a:spcPct val="110000"/>
              </a:lnSpc>
            </a:pPr>
            <a:r>
              <a:rPr sz="1100" b="0">
                <a:solidFill>
                  <a:srgbClr val="22313F"/>
                </a:solidFill>
                <a:latin typeface="Arial"/>
              </a:rPr>
              <a:t>T → T+J tests evidence access. T+J → J* tests the labelling method. Eligibility is held fixed, so the contrast isolates the incident ranking signal. Matched search budget, model access and candidate trials; log unused resources. Repeat whole selections to estimate optimizer variability. A tie is a valid result.</a:t>
            </a:r>
          </a:p>
        </p:txBody>
      </p:sp>
      <p:sp>
        <p:nvSpPr>
          <p:cNvPr id="50" name="Rounded Rectangle 49"/>
          <p:cNvSpPr/>
          <p:nvPr/>
        </p:nvSpPr>
        <p:spPr>
          <a:xfrm>
            <a:off x="566928" y="5715000"/>
            <a:ext cx="11055096" cy="548640"/>
          </a:xfrm>
          <a:prstGeom prst="roundRect">
            <a:avLst>
              <a:gd name="adj" fmla="val 5000"/>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ody:50"/>
          <p:cNvSpPr txBox="1"/>
          <p:nvPr/>
        </p:nvSpPr>
        <p:spPr>
          <a:xfrm>
            <a:off x="768096" y="5742432"/>
            <a:ext cx="10652760" cy="493776"/>
          </a:xfrm>
          <a:prstGeom prst="rect">
            <a:avLst/>
          </a:prstGeom>
          <a:noFill/>
        </p:spPr>
        <p:txBody>
          <a:bodyPr wrap="square" lIns="22860" rIns="22860" tIns="22860" bIns="22860" anchor="ctr">
            <a:spAutoFit/>
          </a:bodyPr>
          <a:lstStyle/>
          <a:p>
            <a:pPr algn="l">
              <a:lnSpc>
                <a:spcPct val="108000"/>
              </a:lnSpc>
            </a:pPr>
            <a:r>
              <a:rPr sz="1600" b="1">
                <a:solidFill>
                  <a:srgbClr val="FFFFFF"/>
                </a:solidFill>
                <a:latin typeface="Arial"/>
              </a:rPr>
              <a:t>Useful evidence must improve a held-out decision, not merely produce a better-looking label.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label:2"/>
          <p:cNvSpPr txBox="1"/>
          <p:nvPr/>
        </p:nvSpPr>
        <p:spPr>
          <a:xfrm>
            <a:off x="566928" y="365760"/>
            <a:ext cx="10058400" cy="420624"/>
          </a:xfrm>
          <a:prstGeom prst="rect">
            <a:avLst/>
          </a:prstGeom>
          <a:noFill/>
        </p:spPr>
        <p:txBody>
          <a:bodyPr wrap="square" lIns="22860" rIns="22860" tIns="22860" bIns="22860" anchor="ctr">
            <a:spAutoFit/>
          </a:bodyPr>
          <a:lstStyle/>
          <a:p>
            <a:pPr algn="l">
              <a:lnSpc>
                <a:spcPct val="108000"/>
              </a:lnSpc>
            </a:pPr>
            <a:r>
              <a:rPr sz="1100" b="1">
                <a:solidFill>
                  <a:srgbClr val="1E7A72"/>
                </a:solidFill>
                <a:latin typeface="Arial"/>
              </a:rPr>
              <a:t>14 / COMPARISON WITH EXISTING ALGORITHMS</a:t>
            </a:r>
          </a:p>
        </p:txBody>
      </p:sp>
      <p:sp>
        <p:nvSpPr>
          <p:cNvPr id="4" name="title:3"/>
          <p:cNvSpPr txBox="1"/>
          <p:nvPr/>
        </p:nvSpPr>
        <p:spPr>
          <a:xfrm>
            <a:off x="566928" y="786384"/>
            <a:ext cx="11055096" cy="804672"/>
          </a:xfrm>
          <a:prstGeom prst="rect">
            <a:avLst/>
          </a:prstGeom>
          <a:noFill/>
        </p:spPr>
        <p:txBody>
          <a:bodyPr wrap="square" lIns="22860" rIns="22860" tIns="22860" bIns="22860" anchor="ctr">
            <a:spAutoFit/>
          </a:bodyPr>
          <a:lstStyle/>
          <a:p>
            <a:pPr algn="l">
              <a:lnSpc>
                <a:spcPct val="105000"/>
              </a:lnSpc>
            </a:pPr>
            <a:r>
              <a:rPr sz="2600" b="1">
                <a:solidFill>
                  <a:srgbClr val="172D46"/>
                </a:solidFill>
                <a:latin typeface="Arial"/>
              </a:rPr>
              <a:t>How A and B differ from prior methods, point by point.</a:t>
            </a:r>
          </a:p>
        </p:txBody>
      </p:sp>
      <p:sp>
        <p:nvSpPr>
          <p:cNvPr id="5" name="Rectangle 4"/>
          <p:cNvSpPr/>
          <p:nvPr/>
        </p:nvSpPr>
        <p:spPr>
          <a:xfrm>
            <a:off x="566928" y="1609344"/>
            <a:ext cx="868680" cy="4572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ubtitle:5"/>
          <p:cNvSpPr txBox="1"/>
          <p:nvPr/>
        </p:nvSpPr>
        <p:spPr>
          <a:xfrm>
            <a:off x="585216" y="1682496"/>
            <a:ext cx="11055096" cy="457200"/>
          </a:xfrm>
          <a:prstGeom prst="rect">
            <a:avLst/>
          </a:prstGeom>
          <a:noFill/>
        </p:spPr>
        <p:txBody>
          <a:bodyPr wrap="square" lIns="22860" rIns="22860" tIns="22860" bIns="22860" anchor="ctr">
            <a:spAutoFit/>
          </a:bodyPr>
          <a:lstStyle/>
          <a:p>
            <a:pPr algn="l">
              <a:lnSpc>
                <a:spcPct val="105000"/>
              </a:lnSpc>
            </a:pPr>
            <a:r>
              <a:rPr sz="1400" b="0">
                <a:solidFill>
                  <a:srgbClr val="5F6E80"/>
                </a:solidFill>
                <a:latin typeface="Arial"/>
              </a:rPr>
              <a:t>What each method decides, how it treats the grant, how it asks, where it enforces, and what it learns from.</a:t>
            </a:r>
          </a:p>
        </p:txBody>
      </p:sp>
      <p:sp>
        <p:nvSpPr>
          <p:cNvPr id="7" name="source:6"/>
          <p:cNvSpPr txBox="1"/>
          <p:nvPr/>
        </p:nvSpPr>
        <p:spPr>
          <a:xfrm>
            <a:off x="566928" y="6400800"/>
            <a:ext cx="1033272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rPr>
              <a:t> </a:t>
            </a:r>
          </a:p>
        </p:txBody>
      </p:sp>
      <p:sp>
        <p:nvSpPr>
          <p:cNvPr id="8" name="source:7"/>
          <p:cNvSpPr txBox="1"/>
          <p:nvPr/>
        </p:nvSpPr>
        <p:spPr>
          <a:xfrm>
            <a:off x="10927080" y="6364224"/>
            <a:ext cx="694944" cy="265176"/>
          </a:xfrm>
          <a:prstGeom prst="rect">
            <a:avLst/>
          </a:prstGeom>
          <a:noFill/>
        </p:spPr>
        <p:txBody>
          <a:bodyPr wrap="square" lIns="22860" rIns="22860" tIns="22860" bIns="22860" anchor="ctr">
            <a:spAutoFit/>
          </a:bodyPr>
          <a:lstStyle/>
          <a:p>
            <a:pPr algn="ctr">
              <a:lnSpc>
                <a:spcPct val="108000"/>
              </a:lnSpc>
            </a:pPr>
            <a:r>
              <a:rPr sz="1000" b="1">
                <a:solidFill>
                  <a:srgbClr val="5F6E80"/>
                </a:solidFill>
                <a:latin typeface="Arial"/>
              </a:rPr>
              <a:t>16 / 22</a:t>
            </a:r>
          </a:p>
        </p:txBody>
      </p:sp>
      <p:sp>
        <p:nvSpPr>
          <p:cNvPr id="9" name="Rectangle 8"/>
          <p:cNvSpPr/>
          <p:nvPr/>
        </p:nvSpPr>
        <p:spPr>
          <a:xfrm>
            <a:off x="56692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7151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57609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80675"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8525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8984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9442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99005"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0358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0817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1275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17336"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2191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26501"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63108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35666"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4024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4483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4941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153996"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65857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16316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104120" y="365760"/>
            <a:ext cx="1517904" cy="274320"/>
          </a:xfrm>
          <a:prstGeom prst="roundRect">
            <a:avLst>
              <a:gd name="adj" fmla="val 5000"/>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31"/>
          <p:cNvSpPr txBox="1"/>
          <p:nvPr/>
        </p:nvSpPr>
        <p:spPr>
          <a:xfrm>
            <a:off x="10158984" y="365760"/>
            <a:ext cx="1408176" cy="274320"/>
          </a:xfrm>
          <a:prstGeom prst="rect">
            <a:avLst/>
          </a:prstGeom>
          <a:noFill/>
        </p:spPr>
        <p:txBody>
          <a:bodyPr wrap="square" lIns="22860" rIns="22860" tIns="22860" bIns="22860" anchor="ctr">
            <a:spAutoFit/>
          </a:bodyPr>
          <a:lstStyle/>
          <a:p>
            <a:pPr algn="ctr">
              <a:lnSpc>
                <a:spcPct val="108000"/>
              </a:lnSpc>
            </a:pPr>
            <a:r>
              <a:rPr sz="1000" b="1">
                <a:solidFill>
                  <a:srgbClr val="3A6391"/>
                </a:solidFill>
                <a:latin typeface="Arial"/>
              </a:rPr>
              <a:t>THEORY</a:t>
            </a:r>
          </a:p>
        </p:txBody>
      </p:sp>
      <p:sp>
        <p:nvSpPr>
          <p:cNvPr id="33" name="source:32"/>
          <p:cNvSpPr txBox="1"/>
          <p:nvPr/>
        </p:nvSpPr>
        <p:spPr>
          <a:xfrm>
            <a:off x="566928" y="6400800"/>
            <a:ext cx="73152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2"/>
              </a:rPr>
              <a:t>POMCP</a:t>
            </a:r>
          </a:p>
        </p:txBody>
      </p:sp>
      <p:sp>
        <p:nvSpPr>
          <p:cNvPr id="34" name="source:33"/>
          <p:cNvSpPr txBox="1"/>
          <p:nvPr/>
        </p:nvSpPr>
        <p:spPr>
          <a:xfrm>
            <a:off x="1444752" y="6400800"/>
            <a:ext cx="73152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3"/>
              </a:rPr>
              <a:t>RCPO</a:t>
            </a:r>
          </a:p>
        </p:txBody>
      </p:sp>
      <p:sp>
        <p:nvSpPr>
          <p:cNvPr id="35" name="source:34"/>
          <p:cNvSpPr txBox="1"/>
          <p:nvPr/>
        </p:nvSpPr>
        <p:spPr>
          <a:xfrm>
            <a:off x="2322576" y="6400800"/>
            <a:ext cx="91440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4"/>
              </a:rPr>
              <a:t>Shielding</a:t>
            </a:r>
          </a:p>
        </p:txBody>
      </p:sp>
      <p:sp>
        <p:nvSpPr>
          <p:cNvPr id="36" name="source:35"/>
          <p:cNvSpPr txBox="1"/>
          <p:nvPr/>
        </p:nvSpPr>
        <p:spPr>
          <a:xfrm>
            <a:off x="3383280" y="6400800"/>
            <a:ext cx="73152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5"/>
              </a:rPr>
              <a:t>CaMeL</a:t>
            </a:r>
          </a:p>
        </p:txBody>
      </p:sp>
      <p:sp>
        <p:nvSpPr>
          <p:cNvPr id="37" name="source:36"/>
          <p:cNvSpPr txBox="1"/>
          <p:nvPr/>
        </p:nvSpPr>
        <p:spPr>
          <a:xfrm>
            <a:off x="4261104" y="6400800"/>
            <a:ext cx="91440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6"/>
              </a:rPr>
              <a:t>Progent</a:t>
            </a:r>
          </a:p>
        </p:txBody>
      </p:sp>
      <p:sp>
        <p:nvSpPr>
          <p:cNvPr id="38" name="source:37"/>
          <p:cNvSpPr txBox="1"/>
          <p:nvPr/>
        </p:nvSpPr>
        <p:spPr>
          <a:xfrm>
            <a:off x="5321808" y="6400800"/>
            <a:ext cx="100584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7"/>
              </a:rPr>
              <a:t>AI Control</a:t>
            </a:r>
          </a:p>
        </p:txBody>
      </p:sp>
      <p:sp>
        <p:nvSpPr>
          <p:cNvPr id="39" name="source:38"/>
          <p:cNvSpPr txBox="1"/>
          <p:nvPr/>
        </p:nvSpPr>
        <p:spPr>
          <a:xfrm>
            <a:off x="6473952" y="6400800"/>
            <a:ext cx="137160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8"/>
              </a:rPr>
              <a:t>ImpossibleBench</a:t>
            </a:r>
          </a:p>
        </p:txBody>
      </p:sp>
      <p:sp>
        <p:nvSpPr>
          <p:cNvPr id="40" name="source:39"/>
          <p:cNvSpPr txBox="1"/>
          <p:nvPr/>
        </p:nvSpPr>
        <p:spPr>
          <a:xfrm>
            <a:off x="7991856" y="6400800"/>
            <a:ext cx="237744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9"/>
              </a:rPr>
              <a:t>Project related-work notes</a:t>
            </a:r>
          </a:p>
        </p:txBody>
      </p:sp>
      <p:sp>
        <p:nvSpPr>
          <p:cNvPr id="41" name="Rectangle 40"/>
          <p:cNvSpPr/>
          <p:nvPr/>
        </p:nvSpPr>
        <p:spPr>
          <a:xfrm>
            <a:off x="566928" y="2121408"/>
            <a:ext cx="2331720" cy="342900"/>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ody:41"/>
          <p:cNvSpPr txBox="1"/>
          <p:nvPr/>
        </p:nvSpPr>
        <p:spPr>
          <a:xfrm>
            <a:off x="649224" y="2121408"/>
            <a:ext cx="2167127" cy="342900"/>
          </a:xfrm>
          <a:prstGeom prst="rect">
            <a:avLst/>
          </a:prstGeom>
          <a:noFill/>
        </p:spPr>
        <p:txBody>
          <a:bodyPr wrap="square" lIns="22860" rIns="22860" tIns="22860" bIns="22860" anchor="ctr">
            <a:spAutoFit/>
          </a:bodyPr>
          <a:lstStyle/>
          <a:p>
            <a:pPr algn="l">
              <a:lnSpc>
                <a:spcPct val="98000"/>
              </a:lnSpc>
            </a:pPr>
            <a:r>
              <a:rPr sz="1000" b="1">
                <a:solidFill>
                  <a:srgbClr val="FFFFFF"/>
                </a:solidFill>
                <a:latin typeface="Arial"/>
              </a:rPr>
              <a:t>Method</a:t>
            </a:r>
          </a:p>
        </p:txBody>
      </p:sp>
      <p:sp>
        <p:nvSpPr>
          <p:cNvPr id="43" name="Rectangle 42"/>
          <p:cNvSpPr/>
          <p:nvPr/>
        </p:nvSpPr>
        <p:spPr>
          <a:xfrm>
            <a:off x="2898648" y="2121408"/>
            <a:ext cx="2057400" cy="342900"/>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ody:43"/>
          <p:cNvSpPr txBox="1"/>
          <p:nvPr/>
        </p:nvSpPr>
        <p:spPr>
          <a:xfrm>
            <a:off x="2980944" y="2121408"/>
            <a:ext cx="1892807" cy="342900"/>
          </a:xfrm>
          <a:prstGeom prst="rect">
            <a:avLst/>
          </a:prstGeom>
          <a:noFill/>
        </p:spPr>
        <p:txBody>
          <a:bodyPr wrap="square" lIns="22860" rIns="22860" tIns="22860" bIns="22860" anchor="ctr">
            <a:spAutoFit/>
          </a:bodyPr>
          <a:lstStyle/>
          <a:p>
            <a:pPr algn="l">
              <a:lnSpc>
                <a:spcPct val="98000"/>
              </a:lnSpc>
            </a:pPr>
            <a:r>
              <a:rPr sz="1000" b="1">
                <a:solidFill>
                  <a:srgbClr val="FFFFFF"/>
                </a:solidFill>
                <a:latin typeface="Arial"/>
              </a:rPr>
              <a:t>Decides the next action by</a:t>
            </a:r>
          </a:p>
        </p:txBody>
      </p:sp>
      <p:sp>
        <p:nvSpPr>
          <p:cNvPr id="45" name="Rectangle 44"/>
          <p:cNvSpPr/>
          <p:nvPr/>
        </p:nvSpPr>
        <p:spPr>
          <a:xfrm>
            <a:off x="4956048" y="2121408"/>
            <a:ext cx="2148840" cy="342900"/>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ody:45"/>
          <p:cNvSpPr txBox="1"/>
          <p:nvPr/>
        </p:nvSpPr>
        <p:spPr>
          <a:xfrm>
            <a:off x="5038344" y="2121408"/>
            <a:ext cx="1984248" cy="342900"/>
          </a:xfrm>
          <a:prstGeom prst="rect">
            <a:avLst/>
          </a:prstGeom>
          <a:noFill/>
        </p:spPr>
        <p:txBody>
          <a:bodyPr wrap="square" lIns="22860" rIns="22860" tIns="22860" bIns="22860" anchor="ctr">
            <a:spAutoFit/>
          </a:bodyPr>
          <a:lstStyle/>
          <a:p>
            <a:pPr algn="l">
              <a:lnSpc>
                <a:spcPct val="98000"/>
              </a:lnSpc>
            </a:pPr>
            <a:r>
              <a:rPr sz="1000" b="1">
                <a:solidFill>
                  <a:srgbClr val="FFFFFF"/>
                </a:solidFill>
                <a:latin typeface="Arial"/>
              </a:rPr>
              <a:t>Grant apart from feasibility?</a:t>
            </a:r>
          </a:p>
        </p:txBody>
      </p:sp>
      <p:sp>
        <p:nvSpPr>
          <p:cNvPr id="47" name="Rectangle 46"/>
          <p:cNvSpPr/>
          <p:nvPr/>
        </p:nvSpPr>
        <p:spPr>
          <a:xfrm>
            <a:off x="7104888" y="2121408"/>
            <a:ext cx="1508760" cy="342900"/>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ody:47"/>
          <p:cNvSpPr txBox="1"/>
          <p:nvPr/>
        </p:nvSpPr>
        <p:spPr>
          <a:xfrm>
            <a:off x="7187183" y="2121408"/>
            <a:ext cx="1344168" cy="342900"/>
          </a:xfrm>
          <a:prstGeom prst="rect">
            <a:avLst/>
          </a:prstGeom>
          <a:noFill/>
        </p:spPr>
        <p:txBody>
          <a:bodyPr wrap="square" lIns="22860" rIns="22860" tIns="22860" bIns="22860" anchor="ctr">
            <a:spAutoFit/>
          </a:bodyPr>
          <a:lstStyle/>
          <a:p>
            <a:pPr algn="l">
              <a:lnSpc>
                <a:spcPct val="98000"/>
              </a:lnSpc>
            </a:pPr>
            <a:r>
              <a:rPr sz="1000" b="1">
                <a:solidFill>
                  <a:srgbClr val="FFFFFF"/>
                </a:solidFill>
                <a:latin typeface="Arial"/>
              </a:rPr>
              <a:t>Request channel</a:t>
            </a:r>
          </a:p>
        </p:txBody>
      </p:sp>
      <p:sp>
        <p:nvSpPr>
          <p:cNvPr id="49" name="Rectangle 48"/>
          <p:cNvSpPr/>
          <p:nvPr/>
        </p:nvSpPr>
        <p:spPr>
          <a:xfrm>
            <a:off x="8613648" y="2121408"/>
            <a:ext cx="1417320" cy="342900"/>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ody:49"/>
          <p:cNvSpPr txBox="1"/>
          <p:nvPr/>
        </p:nvSpPr>
        <p:spPr>
          <a:xfrm>
            <a:off x="8695944" y="2121408"/>
            <a:ext cx="1252728" cy="342900"/>
          </a:xfrm>
          <a:prstGeom prst="rect">
            <a:avLst/>
          </a:prstGeom>
          <a:noFill/>
        </p:spPr>
        <p:txBody>
          <a:bodyPr wrap="square" lIns="22860" rIns="22860" tIns="22860" bIns="22860" anchor="ctr">
            <a:spAutoFit/>
          </a:bodyPr>
          <a:lstStyle/>
          <a:p>
            <a:pPr algn="l">
              <a:lnSpc>
                <a:spcPct val="98000"/>
              </a:lnSpc>
            </a:pPr>
            <a:r>
              <a:rPr sz="1000" b="1">
                <a:solidFill>
                  <a:srgbClr val="FFFFFF"/>
                </a:solidFill>
                <a:latin typeface="Arial"/>
              </a:rPr>
              <a:t>Enforcement point</a:t>
            </a:r>
          </a:p>
        </p:txBody>
      </p:sp>
      <p:sp>
        <p:nvSpPr>
          <p:cNvPr id="51" name="Rectangle 50"/>
          <p:cNvSpPr/>
          <p:nvPr/>
        </p:nvSpPr>
        <p:spPr>
          <a:xfrm>
            <a:off x="10030968" y="2121408"/>
            <a:ext cx="1591056" cy="342900"/>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ody:51"/>
          <p:cNvSpPr txBox="1"/>
          <p:nvPr/>
        </p:nvSpPr>
        <p:spPr>
          <a:xfrm>
            <a:off x="10113264" y="2121408"/>
            <a:ext cx="1426464" cy="342900"/>
          </a:xfrm>
          <a:prstGeom prst="rect">
            <a:avLst/>
          </a:prstGeom>
          <a:noFill/>
        </p:spPr>
        <p:txBody>
          <a:bodyPr wrap="square" lIns="22860" rIns="22860" tIns="22860" bIns="22860" anchor="ctr">
            <a:spAutoFit/>
          </a:bodyPr>
          <a:lstStyle/>
          <a:p>
            <a:pPr algn="l">
              <a:lnSpc>
                <a:spcPct val="98000"/>
              </a:lnSpc>
            </a:pPr>
            <a:r>
              <a:rPr sz="1000" b="1">
                <a:solidFill>
                  <a:srgbClr val="FFFFFF"/>
                </a:solidFill>
                <a:latin typeface="Arial"/>
              </a:rPr>
              <a:t>Learns from effects?</a:t>
            </a:r>
          </a:p>
        </p:txBody>
      </p:sp>
      <p:sp>
        <p:nvSpPr>
          <p:cNvPr id="53" name="Rectangle 52"/>
          <p:cNvSpPr/>
          <p:nvPr/>
        </p:nvSpPr>
        <p:spPr>
          <a:xfrm>
            <a:off x="566928" y="2464308"/>
            <a:ext cx="2331720" cy="3429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ody:53"/>
          <p:cNvSpPr txBox="1"/>
          <p:nvPr/>
        </p:nvSpPr>
        <p:spPr>
          <a:xfrm>
            <a:off x="649224" y="2464308"/>
            <a:ext cx="2167127" cy="342900"/>
          </a:xfrm>
          <a:prstGeom prst="rect">
            <a:avLst/>
          </a:prstGeom>
          <a:noFill/>
        </p:spPr>
        <p:txBody>
          <a:bodyPr wrap="square" lIns="22860" rIns="22860" tIns="22860" bIns="22860" anchor="ctr">
            <a:spAutoFit/>
          </a:bodyPr>
          <a:lstStyle/>
          <a:p>
            <a:pPr algn="l">
              <a:lnSpc>
                <a:spcPct val="98000"/>
              </a:lnSpc>
            </a:pPr>
            <a:r>
              <a:rPr sz="1000" b="1">
                <a:solidFill>
                  <a:srgbClr val="22313F"/>
                </a:solidFill>
                <a:latin typeface="Arial"/>
              </a:rPr>
              <a:t>Scope instruction only (B0/B3)</a:t>
            </a:r>
          </a:p>
        </p:txBody>
      </p:sp>
      <p:sp>
        <p:nvSpPr>
          <p:cNvPr id="55" name="Rectangle 54"/>
          <p:cNvSpPr/>
          <p:nvPr/>
        </p:nvSpPr>
        <p:spPr>
          <a:xfrm>
            <a:off x="2898648" y="2464308"/>
            <a:ext cx="2057400" cy="3429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ody:55"/>
          <p:cNvSpPr txBox="1"/>
          <p:nvPr/>
        </p:nvSpPr>
        <p:spPr>
          <a:xfrm>
            <a:off x="2980944" y="2464308"/>
            <a:ext cx="1892807"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LLM free-form</a:t>
            </a:r>
          </a:p>
        </p:txBody>
      </p:sp>
      <p:sp>
        <p:nvSpPr>
          <p:cNvPr id="57" name="Rectangle 56"/>
          <p:cNvSpPr/>
          <p:nvPr/>
        </p:nvSpPr>
        <p:spPr>
          <a:xfrm>
            <a:off x="4956048" y="2464308"/>
            <a:ext cx="2148840" cy="3429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ody:57"/>
          <p:cNvSpPr txBox="1"/>
          <p:nvPr/>
        </p:nvSpPr>
        <p:spPr>
          <a:xfrm>
            <a:off x="5038344" y="2464308"/>
            <a:ext cx="1984248"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Grant lives in prompt text</a:t>
            </a:r>
          </a:p>
        </p:txBody>
      </p:sp>
      <p:sp>
        <p:nvSpPr>
          <p:cNvPr id="59" name="Rectangle 58"/>
          <p:cNvSpPr/>
          <p:nvPr/>
        </p:nvSpPr>
        <p:spPr>
          <a:xfrm>
            <a:off x="7104888" y="2464308"/>
            <a:ext cx="1508760" cy="3429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ody:59"/>
          <p:cNvSpPr txBox="1"/>
          <p:nvPr/>
        </p:nvSpPr>
        <p:spPr>
          <a:xfrm>
            <a:off x="7187183" y="2464308"/>
            <a:ext cx="1344168"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Only if prompted</a:t>
            </a:r>
          </a:p>
        </p:txBody>
      </p:sp>
      <p:sp>
        <p:nvSpPr>
          <p:cNvPr id="61" name="Rectangle 60"/>
          <p:cNvSpPr/>
          <p:nvPr/>
        </p:nvSpPr>
        <p:spPr>
          <a:xfrm>
            <a:off x="8613648" y="2464308"/>
            <a:ext cx="1417320" cy="3429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ody:61"/>
          <p:cNvSpPr txBox="1"/>
          <p:nvPr/>
        </p:nvSpPr>
        <p:spPr>
          <a:xfrm>
            <a:off x="8695944" y="2464308"/>
            <a:ext cx="1252728"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None</a:t>
            </a:r>
          </a:p>
        </p:txBody>
      </p:sp>
      <p:sp>
        <p:nvSpPr>
          <p:cNvPr id="63" name="Rectangle 62"/>
          <p:cNvSpPr/>
          <p:nvPr/>
        </p:nvSpPr>
        <p:spPr>
          <a:xfrm>
            <a:off x="10030968" y="2464308"/>
            <a:ext cx="1591056" cy="3429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ody:63"/>
          <p:cNvSpPr txBox="1"/>
          <p:nvPr/>
        </p:nvSpPr>
        <p:spPr>
          <a:xfrm>
            <a:off x="10113264" y="2464308"/>
            <a:ext cx="1426464"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No</a:t>
            </a:r>
          </a:p>
        </p:txBody>
      </p:sp>
      <p:sp>
        <p:nvSpPr>
          <p:cNvPr id="65" name="Rectangle 64"/>
          <p:cNvSpPr/>
          <p:nvPr/>
        </p:nvSpPr>
        <p:spPr>
          <a:xfrm>
            <a:off x="566928" y="2807208"/>
            <a:ext cx="2331720" cy="34290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ody:65"/>
          <p:cNvSpPr txBox="1"/>
          <p:nvPr/>
        </p:nvSpPr>
        <p:spPr>
          <a:xfrm>
            <a:off x="649224" y="2807208"/>
            <a:ext cx="2167127" cy="342900"/>
          </a:xfrm>
          <a:prstGeom prst="rect">
            <a:avLst/>
          </a:prstGeom>
          <a:noFill/>
        </p:spPr>
        <p:txBody>
          <a:bodyPr wrap="square" lIns="22860" rIns="22860" tIns="22860" bIns="22860" anchor="ctr">
            <a:spAutoFit/>
          </a:bodyPr>
          <a:lstStyle/>
          <a:p>
            <a:pPr algn="l">
              <a:lnSpc>
                <a:spcPct val="98000"/>
              </a:lnSpc>
            </a:pPr>
            <a:r>
              <a:rPr sz="1000" b="1">
                <a:solidFill>
                  <a:srgbClr val="22313F"/>
                </a:solidFill>
                <a:latin typeface="Arial"/>
              </a:rPr>
              <a:t>Belief-state planning: POMCP</a:t>
            </a:r>
          </a:p>
        </p:txBody>
      </p:sp>
      <p:sp>
        <p:nvSpPr>
          <p:cNvPr id="67" name="Rectangle 66"/>
          <p:cNvSpPr/>
          <p:nvPr/>
        </p:nvSpPr>
        <p:spPr>
          <a:xfrm>
            <a:off x="2898648" y="2807208"/>
            <a:ext cx="2057400" cy="34290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ody:67"/>
          <p:cNvSpPr txBox="1"/>
          <p:nvPr/>
        </p:nvSpPr>
        <p:spPr>
          <a:xfrm>
            <a:off x="2980944" y="2807208"/>
            <a:ext cx="1892807"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Monte Carlo lookahead on b</a:t>
            </a:r>
          </a:p>
        </p:txBody>
      </p:sp>
      <p:sp>
        <p:nvSpPr>
          <p:cNvPr id="69" name="Rectangle 68"/>
          <p:cNvSpPr/>
          <p:nvPr/>
        </p:nvSpPr>
        <p:spPr>
          <a:xfrm>
            <a:off x="4956048" y="2807208"/>
            <a:ext cx="2148840" cy="34290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ody:69"/>
          <p:cNvSpPr txBox="1"/>
          <p:nvPr/>
        </p:nvSpPr>
        <p:spPr>
          <a:xfrm>
            <a:off x="5038344" y="2807208"/>
            <a:ext cx="1984248"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No: plans around obstacles</a:t>
            </a:r>
          </a:p>
        </p:txBody>
      </p:sp>
      <p:sp>
        <p:nvSpPr>
          <p:cNvPr id="71" name="Rectangle 70"/>
          <p:cNvSpPr/>
          <p:nvPr/>
        </p:nvSpPr>
        <p:spPr>
          <a:xfrm>
            <a:off x="7104888" y="2807208"/>
            <a:ext cx="1508760" cy="34290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ody:71"/>
          <p:cNvSpPr txBox="1"/>
          <p:nvPr/>
        </p:nvSpPr>
        <p:spPr>
          <a:xfrm>
            <a:off x="7187183" y="2807208"/>
            <a:ext cx="1344168"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No</a:t>
            </a:r>
          </a:p>
        </p:txBody>
      </p:sp>
      <p:sp>
        <p:nvSpPr>
          <p:cNvPr id="73" name="Rectangle 72"/>
          <p:cNvSpPr/>
          <p:nvPr/>
        </p:nvSpPr>
        <p:spPr>
          <a:xfrm>
            <a:off x="8613648" y="2807208"/>
            <a:ext cx="1417320" cy="34290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ody:73"/>
          <p:cNvSpPr txBox="1"/>
          <p:nvPr/>
        </p:nvSpPr>
        <p:spPr>
          <a:xfrm>
            <a:off x="8695944" y="2807208"/>
            <a:ext cx="1252728"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None</a:t>
            </a:r>
          </a:p>
        </p:txBody>
      </p:sp>
      <p:sp>
        <p:nvSpPr>
          <p:cNvPr id="75" name="Rectangle 74"/>
          <p:cNvSpPr/>
          <p:nvPr/>
        </p:nvSpPr>
        <p:spPr>
          <a:xfrm>
            <a:off x="10030968" y="2807208"/>
            <a:ext cx="1591056" cy="34290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ody:75"/>
          <p:cNvSpPr txBox="1"/>
          <p:nvPr/>
        </p:nvSpPr>
        <p:spPr>
          <a:xfrm>
            <a:off x="10113264" y="2807208"/>
            <a:ext cx="1426464"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No</a:t>
            </a:r>
          </a:p>
        </p:txBody>
      </p:sp>
      <p:sp>
        <p:nvSpPr>
          <p:cNvPr id="77" name="Rectangle 76"/>
          <p:cNvSpPr/>
          <p:nvPr/>
        </p:nvSpPr>
        <p:spPr>
          <a:xfrm>
            <a:off x="566928" y="3150108"/>
            <a:ext cx="2331720" cy="3429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ody:77"/>
          <p:cNvSpPr txBox="1"/>
          <p:nvPr/>
        </p:nvSpPr>
        <p:spPr>
          <a:xfrm>
            <a:off x="649224" y="3150108"/>
            <a:ext cx="2167127" cy="342900"/>
          </a:xfrm>
          <a:prstGeom prst="rect">
            <a:avLst/>
          </a:prstGeom>
          <a:noFill/>
        </p:spPr>
        <p:txBody>
          <a:bodyPr wrap="square" lIns="22860" rIns="22860" tIns="22860" bIns="22860" anchor="ctr">
            <a:spAutoFit/>
          </a:bodyPr>
          <a:lstStyle/>
          <a:p>
            <a:pPr algn="l">
              <a:lnSpc>
                <a:spcPct val="98000"/>
              </a:lnSpc>
            </a:pPr>
            <a:r>
              <a:rPr sz="1000" b="1">
                <a:solidFill>
                  <a:srgbClr val="22313F"/>
                </a:solidFill>
                <a:latin typeface="Arial"/>
              </a:rPr>
              <a:t>Constrained RL: CPO / RCPO</a:t>
            </a:r>
          </a:p>
        </p:txBody>
      </p:sp>
      <p:sp>
        <p:nvSpPr>
          <p:cNvPr id="79" name="Rectangle 78"/>
          <p:cNvSpPr/>
          <p:nvPr/>
        </p:nvSpPr>
        <p:spPr>
          <a:xfrm>
            <a:off x="2898648" y="3150108"/>
            <a:ext cx="2057400" cy="3429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ody:79"/>
          <p:cNvSpPr txBox="1"/>
          <p:nvPr/>
        </p:nvSpPr>
        <p:spPr>
          <a:xfrm>
            <a:off x="2980944" y="3150108"/>
            <a:ext cx="1892807"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Trained policy</a:t>
            </a:r>
          </a:p>
        </p:txBody>
      </p:sp>
      <p:sp>
        <p:nvSpPr>
          <p:cNvPr id="81" name="Rectangle 80"/>
          <p:cNvSpPr/>
          <p:nvPr/>
        </p:nvSpPr>
        <p:spPr>
          <a:xfrm>
            <a:off x="4956048" y="3150108"/>
            <a:ext cx="2148840" cy="3429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ody:81"/>
          <p:cNvSpPr txBox="1"/>
          <p:nvPr/>
        </p:nvSpPr>
        <p:spPr>
          <a:xfrm>
            <a:off x="5038344" y="3150108"/>
            <a:ext cx="1984248"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Cost in expectation, not per effect</a:t>
            </a:r>
          </a:p>
        </p:txBody>
      </p:sp>
      <p:sp>
        <p:nvSpPr>
          <p:cNvPr id="83" name="Rectangle 82"/>
          <p:cNvSpPr/>
          <p:nvPr/>
        </p:nvSpPr>
        <p:spPr>
          <a:xfrm>
            <a:off x="7104888" y="3150108"/>
            <a:ext cx="1508760" cy="3429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body:83"/>
          <p:cNvSpPr txBox="1"/>
          <p:nvPr/>
        </p:nvSpPr>
        <p:spPr>
          <a:xfrm>
            <a:off x="7187183" y="3150108"/>
            <a:ext cx="1344168"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No</a:t>
            </a:r>
          </a:p>
        </p:txBody>
      </p:sp>
      <p:sp>
        <p:nvSpPr>
          <p:cNvPr id="85" name="Rectangle 84"/>
          <p:cNvSpPr/>
          <p:nvPr/>
        </p:nvSpPr>
        <p:spPr>
          <a:xfrm>
            <a:off x="8613648" y="3150108"/>
            <a:ext cx="1417320" cy="3429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ody:85"/>
          <p:cNvSpPr txBox="1"/>
          <p:nvPr/>
        </p:nvSpPr>
        <p:spPr>
          <a:xfrm>
            <a:off x="8695944" y="3150108"/>
            <a:ext cx="1252728"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Training time</a:t>
            </a:r>
          </a:p>
        </p:txBody>
      </p:sp>
      <p:sp>
        <p:nvSpPr>
          <p:cNvPr id="87" name="Rectangle 86"/>
          <p:cNvSpPr/>
          <p:nvPr/>
        </p:nvSpPr>
        <p:spPr>
          <a:xfrm>
            <a:off x="10030968" y="3150108"/>
            <a:ext cx="1591056" cy="3429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body:87"/>
          <p:cNvSpPr txBox="1"/>
          <p:nvPr/>
        </p:nvSpPr>
        <p:spPr>
          <a:xfrm>
            <a:off x="10113264" y="3150108"/>
            <a:ext cx="1426464"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Needs gradients, many rollouts</a:t>
            </a:r>
          </a:p>
        </p:txBody>
      </p:sp>
      <p:sp>
        <p:nvSpPr>
          <p:cNvPr id="89" name="Rectangle 88"/>
          <p:cNvSpPr/>
          <p:nvPr/>
        </p:nvSpPr>
        <p:spPr>
          <a:xfrm>
            <a:off x="566928" y="3493008"/>
            <a:ext cx="2331720" cy="34290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body:89"/>
          <p:cNvSpPr txBox="1"/>
          <p:nvPr/>
        </p:nvSpPr>
        <p:spPr>
          <a:xfrm>
            <a:off x="649224" y="3493008"/>
            <a:ext cx="2167127" cy="342900"/>
          </a:xfrm>
          <a:prstGeom prst="rect">
            <a:avLst/>
          </a:prstGeom>
          <a:noFill/>
        </p:spPr>
        <p:txBody>
          <a:bodyPr wrap="square" lIns="22860" rIns="22860" tIns="22860" bIns="22860" anchor="ctr">
            <a:spAutoFit/>
          </a:bodyPr>
          <a:lstStyle/>
          <a:p>
            <a:pPr algn="l">
              <a:lnSpc>
                <a:spcPct val="98000"/>
              </a:lnSpc>
            </a:pPr>
            <a:r>
              <a:rPr sz="1000" b="1">
                <a:solidFill>
                  <a:srgbClr val="22313F"/>
                </a:solidFill>
                <a:latin typeface="Arial"/>
              </a:rPr>
              <a:t>Shielding (Alshiekh 2018)</a:t>
            </a:r>
          </a:p>
        </p:txBody>
      </p:sp>
      <p:sp>
        <p:nvSpPr>
          <p:cNvPr id="91" name="Rectangle 90"/>
          <p:cNvSpPr/>
          <p:nvPr/>
        </p:nvSpPr>
        <p:spPr>
          <a:xfrm>
            <a:off x="2898648" y="3493008"/>
            <a:ext cx="2057400" cy="34290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body:91"/>
          <p:cNvSpPr txBox="1"/>
          <p:nvPr/>
        </p:nvSpPr>
        <p:spPr>
          <a:xfrm>
            <a:off x="2980944" y="3493008"/>
            <a:ext cx="1892807"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RL inside a safety automaton</a:t>
            </a:r>
          </a:p>
        </p:txBody>
      </p:sp>
      <p:sp>
        <p:nvSpPr>
          <p:cNvPr id="93" name="Rectangle 92"/>
          <p:cNvSpPr/>
          <p:nvPr/>
        </p:nvSpPr>
        <p:spPr>
          <a:xfrm>
            <a:off x="4956048" y="3493008"/>
            <a:ext cx="2148840" cy="34290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body:93"/>
          <p:cNvSpPr txBox="1"/>
          <p:nvPr/>
        </p:nvSpPr>
        <p:spPr>
          <a:xfrm>
            <a:off x="5038344" y="3493008"/>
            <a:ext cx="1984248"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Automaton over abstract state</a:t>
            </a:r>
          </a:p>
        </p:txBody>
      </p:sp>
      <p:sp>
        <p:nvSpPr>
          <p:cNvPr id="95" name="Rectangle 94"/>
          <p:cNvSpPr/>
          <p:nvPr/>
        </p:nvSpPr>
        <p:spPr>
          <a:xfrm>
            <a:off x="7104888" y="3493008"/>
            <a:ext cx="1508760" cy="34290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body:95"/>
          <p:cNvSpPr txBox="1"/>
          <p:nvPr/>
        </p:nvSpPr>
        <p:spPr>
          <a:xfrm>
            <a:off x="7187183" y="3493008"/>
            <a:ext cx="1344168"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No</a:t>
            </a:r>
          </a:p>
        </p:txBody>
      </p:sp>
      <p:sp>
        <p:nvSpPr>
          <p:cNvPr id="97" name="Rectangle 96"/>
          <p:cNvSpPr/>
          <p:nvPr/>
        </p:nvSpPr>
        <p:spPr>
          <a:xfrm>
            <a:off x="8613648" y="3493008"/>
            <a:ext cx="1417320" cy="34290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body:97"/>
          <p:cNvSpPr txBox="1"/>
          <p:nvPr/>
        </p:nvSpPr>
        <p:spPr>
          <a:xfrm>
            <a:off x="8695944" y="3493008"/>
            <a:ext cx="1252728"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Before each action</a:t>
            </a:r>
          </a:p>
        </p:txBody>
      </p:sp>
      <p:sp>
        <p:nvSpPr>
          <p:cNvPr id="99" name="Rectangle 98"/>
          <p:cNvSpPr/>
          <p:nvPr/>
        </p:nvSpPr>
        <p:spPr>
          <a:xfrm>
            <a:off x="10030968" y="3493008"/>
            <a:ext cx="1591056" cy="34290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body:99"/>
          <p:cNvSpPr txBox="1"/>
          <p:nvPr/>
        </p:nvSpPr>
        <p:spPr>
          <a:xfrm>
            <a:off x="10113264" y="3493008"/>
            <a:ext cx="1426464"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No</a:t>
            </a:r>
          </a:p>
        </p:txBody>
      </p:sp>
      <p:sp>
        <p:nvSpPr>
          <p:cNvPr id="101" name="Rectangle 100"/>
          <p:cNvSpPr/>
          <p:nvPr/>
        </p:nvSpPr>
        <p:spPr>
          <a:xfrm>
            <a:off x="566928" y="3835908"/>
            <a:ext cx="2331720" cy="3429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body:101"/>
          <p:cNvSpPr txBox="1"/>
          <p:nvPr/>
        </p:nvSpPr>
        <p:spPr>
          <a:xfrm>
            <a:off x="649224" y="3835908"/>
            <a:ext cx="2167127" cy="342900"/>
          </a:xfrm>
          <a:prstGeom prst="rect">
            <a:avLst/>
          </a:prstGeom>
          <a:noFill/>
        </p:spPr>
        <p:txBody>
          <a:bodyPr wrap="square" lIns="22860" rIns="22860" tIns="22860" bIns="22860" anchor="ctr">
            <a:spAutoFit/>
          </a:bodyPr>
          <a:lstStyle/>
          <a:p>
            <a:pPr algn="l">
              <a:lnSpc>
                <a:spcPct val="98000"/>
              </a:lnSpc>
            </a:pPr>
            <a:r>
              <a:rPr sz="1000" b="1">
                <a:solidFill>
                  <a:srgbClr val="22313F"/>
                </a:solidFill>
                <a:latin typeface="Arial"/>
              </a:rPr>
              <a:t>Capability control: CaMeL</a:t>
            </a:r>
          </a:p>
        </p:txBody>
      </p:sp>
      <p:sp>
        <p:nvSpPr>
          <p:cNvPr id="103" name="Rectangle 102"/>
          <p:cNvSpPr/>
          <p:nvPr/>
        </p:nvSpPr>
        <p:spPr>
          <a:xfrm>
            <a:off x="2898648" y="3835908"/>
            <a:ext cx="2057400" cy="3429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body:103"/>
          <p:cNvSpPr txBox="1"/>
          <p:nvPr/>
        </p:nvSpPr>
        <p:spPr>
          <a:xfrm>
            <a:off x="2980944" y="3835908"/>
            <a:ext cx="1892807"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LLM plan; data-flow policies</a:t>
            </a:r>
          </a:p>
        </p:txBody>
      </p:sp>
      <p:sp>
        <p:nvSpPr>
          <p:cNvPr id="105" name="Rectangle 104"/>
          <p:cNvSpPr/>
          <p:nvPr/>
        </p:nvSpPr>
        <p:spPr>
          <a:xfrm>
            <a:off x="4956048" y="3835908"/>
            <a:ext cx="2148840" cy="3429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body:105"/>
          <p:cNvSpPr txBox="1"/>
          <p:nvPr/>
        </p:nvSpPr>
        <p:spPr>
          <a:xfrm>
            <a:off x="5038344" y="3835908"/>
            <a:ext cx="1984248"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Static policy on values and calls</a:t>
            </a:r>
          </a:p>
        </p:txBody>
      </p:sp>
      <p:sp>
        <p:nvSpPr>
          <p:cNvPr id="107" name="Rectangle 106"/>
          <p:cNvSpPr/>
          <p:nvPr/>
        </p:nvSpPr>
        <p:spPr>
          <a:xfrm>
            <a:off x="7104888" y="3835908"/>
            <a:ext cx="1508760" cy="3429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body:107"/>
          <p:cNvSpPr txBox="1"/>
          <p:nvPr/>
        </p:nvSpPr>
        <p:spPr>
          <a:xfrm>
            <a:off x="7187183" y="3835908"/>
            <a:ext cx="1344168"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No</a:t>
            </a:r>
          </a:p>
        </p:txBody>
      </p:sp>
      <p:sp>
        <p:nvSpPr>
          <p:cNvPr id="109" name="Rectangle 108"/>
          <p:cNvSpPr/>
          <p:nvPr/>
        </p:nvSpPr>
        <p:spPr>
          <a:xfrm>
            <a:off x="8613648" y="3835908"/>
            <a:ext cx="1417320" cy="3429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body:109"/>
          <p:cNvSpPr txBox="1"/>
          <p:nvPr/>
        </p:nvSpPr>
        <p:spPr>
          <a:xfrm>
            <a:off x="8695944" y="3835908"/>
            <a:ext cx="1252728"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Before tool call</a:t>
            </a:r>
          </a:p>
        </p:txBody>
      </p:sp>
      <p:sp>
        <p:nvSpPr>
          <p:cNvPr id="111" name="Rectangle 110"/>
          <p:cNvSpPr/>
          <p:nvPr/>
        </p:nvSpPr>
        <p:spPr>
          <a:xfrm>
            <a:off x="10030968" y="3835908"/>
            <a:ext cx="1591056" cy="3429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body:111"/>
          <p:cNvSpPr txBox="1"/>
          <p:nvPr/>
        </p:nvSpPr>
        <p:spPr>
          <a:xfrm>
            <a:off x="10113264" y="3835908"/>
            <a:ext cx="1426464"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No</a:t>
            </a:r>
          </a:p>
        </p:txBody>
      </p:sp>
      <p:sp>
        <p:nvSpPr>
          <p:cNvPr id="113" name="Rectangle 112"/>
          <p:cNvSpPr/>
          <p:nvPr/>
        </p:nvSpPr>
        <p:spPr>
          <a:xfrm>
            <a:off x="566928" y="4178808"/>
            <a:ext cx="2331720" cy="34290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body:113"/>
          <p:cNvSpPr txBox="1"/>
          <p:nvPr/>
        </p:nvSpPr>
        <p:spPr>
          <a:xfrm>
            <a:off x="649224" y="4178808"/>
            <a:ext cx="2167127" cy="342900"/>
          </a:xfrm>
          <a:prstGeom prst="rect">
            <a:avLst/>
          </a:prstGeom>
          <a:noFill/>
        </p:spPr>
        <p:txBody>
          <a:bodyPr wrap="square" lIns="22860" rIns="22860" tIns="22860" bIns="22860" anchor="ctr">
            <a:spAutoFit/>
          </a:bodyPr>
          <a:lstStyle/>
          <a:p>
            <a:pPr algn="l">
              <a:lnSpc>
                <a:spcPct val="98000"/>
              </a:lnSpc>
            </a:pPr>
            <a:r>
              <a:rPr sz="1000" b="1">
                <a:solidFill>
                  <a:srgbClr val="22313F"/>
                </a:solidFill>
                <a:latin typeface="Arial"/>
              </a:rPr>
              <a:t>Privilege control: Progent</a:t>
            </a:r>
          </a:p>
        </p:txBody>
      </p:sp>
      <p:sp>
        <p:nvSpPr>
          <p:cNvPr id="115" name="Rectangle 114"/>
          <p:cNvSpPr/>
          <p:nvPr/>
        </p:nvSpPr>
        <p:spPr>
          <a:xfrm>
            <a:off x="2898648" y="4178808"/>
            <a:ext cx="2057400" cy="34290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body:115"/>
          <p:cNvSpPr txBox="1"/>
          <p:nvPr/>
        </p:nvSpPr>
        <p:spPr>
          <a:xfrm>
            <a:off x="2980944" y="4178808"/>
            <a:ext cx="1892807"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LLM</a:t>
            </a:r>
          </a:p>
        </p:txBody>
      </p:sp>
      <p:sp>
        <p:nvSpPr>
          <p:cNvPr id="117" name="Rectangle 116"/>
          <p:cNvSpPr/>
          <p:nvPr/>
        </p:nvSpPr>
        <p:spPr>
          <a:xfrm>
            <a:off x="4956048" y="4178808"/>
            <a:ext cx="2148840" cy="34290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body:117"/>
          <p:cNvSpPr txBox="1"/>
          <p:nvPr/>
        </p:nvSpPr>
        <p:spPr>
          <a:xfrm>
            <a:off x="5038344" y="4178808"/>
            <a:ext cx="1984248"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Policy over tool arguments</a:t>
            </a:r>
          </a:p>
        </p:txBody>
      </p:sp>
      <p:sp>
        <p:nvSpPr>
          <p:cNvPr id="119" name="Rectangle 118"/>
          <p:cNvSpPr/>
          <p:nvPr/>
        </p:nvSpPr>
        <p:spPr>
          <a:xfrm>
            <a:off x="7104888" y="4178808"/>
            <a:ext cx="1508760" cy="34290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body:119"/>
          <p:cNvSpPr txBox="1"/>
          <p:nvPr/>
        </p:nvSpPr>
        <p:spPr>
          <a:xfrm>
            <a:off x="7187183" y="4178808"/>
            <a:ext cx="1344168"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Expansion needs approval</a:t>
            </a:r>
          </a:p>
        </p:txBody>
      </p:sp>
      <p:sp>
        <p:nvSpPr>
          <p:cNvPr id="121" name="Rectangle 120"/>
          <p:cNvSpPr/>
          <p:nvPr/>
        </p:nvSpPr>
        <p:spPr>
          <a:xfrm>
            <a:off x="8613648" y="4178808"/>
            <a:ext cx="1417320" cy="34290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body:121"/>
          <p:cNvSpPr txBox="1"/>
          <p:nvPr/>
        </p:nvSpPr>
        <p:spPr>
          <a:xfrm>
            <a:off x="8695944" y="4178808"/>
            <a:ext cx="1252728"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Before tool call</a:t>
            </a:r>
          </a:p>
        </p:txBody>
      </p:sp>
      <p:sp>
        <p:nvSpPr>
          <p:cNvPr id="123" name="Rectangle 122"/>
          <p:cNvSpPr/>
          <p:nvPr/>
        </p:nvSpPr>
        <p:spPr>
          <a:xfrm>
            <a:off x="10030968" y="4178808"/>
            <a:ext cx="1591056" cy="34290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body:123"/>
          <p:cNvSpPr txBox="1"/>
          <p:nvPr/>
        </p:nvSpPr>
        <p:spPr>
          <a:xfrm>
            <a:off x="10113264" y="4178808"/>
            <a:ext cx="1426464"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Policy updates by LLM</a:t>
            </a:r>
          </a:p>
        </p:txBody>
      </p:sp>
      <p:sp>
        <p:nvSpPr>
          <p:cNvPr id="125" name="Rectangle 124"/>
          <p:cNvSpPr/>
          <p:nvPr/>
        </p:nvSpPr>
        <p:spPr>
          <a:xfrm>
            <a:off x="566928" y="4521708"/>
            <a:ext cx="2331720" cy="3429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body:125"/>
          <p:cNvSpPr txBox="1"/>
          <p:nvPr/>
        </p:nvSpPr>
        <p:spPr>
          <a:xfrm>
            <a:off x="649224" y="4521708"/>
            <a:ext cx="2167127" cy="342900"/>
          </a:xfrm>
          <a:prstGeom prst="rect">
            <a:avLst/>
          </a:prstGeom>
          <a:noFill/>
        </p:spPr>
        <p:txBody>
          <a:bodyPr wrap="square" lIns="22860" rIns="22860" tIns="22860" bIns="22860" anchor="ctr">
            <a:spAutoFit/>
          </a:bodyPr>
          <a:lstStyle/>
          <a:p>
            <a:pPr algn="l">
              <a:lnSpc>
                <a:spcPct val="98000"/>
              </a:lnSpc>
            </a:pPr>
            <a:r>
              <a:rPr sz="1000" b="1">
                <a:solidFill>
                  <a:srgbClr val="22313F"/>
                </a:solidFill>
                <a:latin typeface="Arial"/>
              </a:rPr>
              <a:t>Trusted monitoring / defer</a:t>
            </a:r>
          </a:p>
        </p:txBody>
      </p:sp>
      <p:sp>
        <p:nvSpPr>
          <p:cNvPr id="127" name="Rectangle 126"/>
          <p:cNvSpPr/>
          <p:nvPr/>
        </p:nvSpPr>
        <p:spPr>
          <a:xfrm>
            <a:off x="2898648" y="4521708"/>
            <a:ext cx="2057400" cy="3429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body:127"/>
          <p:cNvSpPr txBox="1"/>
          <p:nvPr/>
        </p:nvSpPr>
        <p:spPr>
          <a:xfrm>
            <a:off x="2980944" y="4521708"/>
            <a:ext cx="1892807"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Untrusted proposes; trusted scores</a:t>
            </a:r>
          </a:p>
        </p:txBody>
      </p:sp>
      <p:sp>
        <p:nvSpPr>
          <p:cNvPr id="129" name="Rectangle 128"/>
          <p:cNvSpPr/>
          <p:nvPr/>
        </p:nvSpPr>
        <p:spPr>
          <a:xfrm>
            <a:off x="4956048" y="4521708"/>
            <a:ext cx="2148840" cy="3429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body:129"/>
          <p:cNvSpPr txBox="1"/>
          <p:nvPr/>
        </p:nvSpPr>
        <p:spPr>
          <a:xfrm>
            <a:off x="5038344" y="4521708"/>
            <a:ext cx="1984248"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No grant model; suspicion</a:t>
            </a:r>
          </a:p>
        </p:txBody>
      </p:sp>
      <p:sp>
        <p:nvSpPr>
          <p:cNvPr id="131" name="Rectangle 130"/>
          <p:cNvSpPr/>
          <p:nvPr/>
        </p:nvSpPr>
        <p:spPr>
          <a:xfrm>
            <a:off x="7104888" y="4521708"/>
            <a:ext cx="1508760" cy="3429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body:131"/>
          <p:cNvSpPr txBox="1"/>
          <p:nvPr/>
        </p:nvSpPr>
        <p:spPr>
          <a:xfrm>
            <a:off x="7187183" y="4521708"/>
            <a:ext cx="1344168"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Audit budget</a:t>
            </a:r>
          </a:p>
        </p:txBody>
      </p:sp>
      <p:sp>
        <p:nvSpPr>
          <p:cNvPr id="133" name="Rectangle 132"/>
          <p:cNvSpPr/>
          <p:nvPr/>
        </p:nvSpPr>
        <p:spPr>
          <a:xfrm>
            <a:off x="8613648" y="4521708"/>
            <a:ext cx="1417320" cy="3429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body:133"/>
          <p:cNvSpPr txBox="1"/>
          <p:nvPr/>
        </p:nvSpPr>
        <p:spPr>
          <a:xfrm>
            <a:off x="8695944" y="4521708"/>
            <a:ext cx="1252728"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Before execution</a:t>
            </a:r>
          </a:p>
        </p:txBody>
      </p:sp>
      <p:sp>
        <p:nvSpPr>
          <p:cNvPr id="135" name="Rectangle 134"/>
          <p:cNvSpPr/>
          <p:nvPr/>
        </p:nvSpPr>
        <p:spPr>
          <a:xfrm>
            <a:off x="10030968" y="4521708"/>
            <a:ext cx="1591056" cy="3429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body:135"/>
          <p:cNvSpPr txBox="1"/>
          <p:nvPr/>
        </p:nvSpPr>
        <p:spPr>
          <a:xfrm>
            <a:off x="10113264" y="4521708"/>
            <a:ext cx="1426464"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Thresholds from calibration</a:t>
            </a:r>
          </a:p>
        </p:txBody>
      </p:sp>
      <p:sp>
        <p:nvSpPr>
          <p:cNvPr id="137" name="Rectangle 136"/>
          <p:cNvSpPr/>
          <p:nvPr/>
        </p:nvSpPr>
        <p:spPr>
          <a:xfrm>
            <a:off x="566928" y="4864608"/>
            <a:ext cx="2331720" cy="34290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body:137"/>
          <p:cNvSpPr txBox="1"/>
          <p:nvPr/>
        </p:nvSpPr>
        <p:spPr>
          <a:xfrm>
            <a:off x="649224" y="4864608"/>
            <a:ext cx="2167127" cy="342900"/>
          </a:xfrm>
          <a:prstGeom prst="rect">
            <a:avLst/>
          </a:prstGeom>
          <a:noFill/>
        </p:spPr>
        <p:txBody>
          <a:bodyPr wrap="square" lIns="22860" rIns="22860" tIns="22860" bIns="22860" anchor="ctr">
            <a:spAutoFit/>
          </a:bodyPr>
          <a:lstStyle/>
          <a:p>
            <a:pPr algn="l">
              <a:lnSpc>
                <a:spcPct val="98000"/>
              </a:lnSpc>
            </a:pPr>
            <a:r>
              <a:rPr sz="1000" b="1">
                <a:solidFill>
                  <a:srgbClr val="22313F"/>
                </a:solidFill>
                <a:latin typeface="Arial"/>
              </a:rPr>
              <a:t>Abort option + prompting</a:t>
            </a:r>
          </a:p>
        </p:txBody>
      </p:sp>
      <p:sp>
        <p:nvSpPr>
          <p:cNvPr id="139" name="Rectangle 138"/>
          <p:cNvSpPr/>
          <p:nvPr/>
        </p:nvSpPr>
        <p:spPr>
          <a:xfrm>
            <a:off x="2898648" y="4864608"/>
            <a:ext cx="2057400" cy="34290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body:139"/>
          <p:cNvSpPr txBox="1"/>
          <p:nvPr/>
        </p:nvSpPr>
        <p:spPr>
          <a:xfrm>
            <a:off x="2980944" y="4864608"/>
            <a:ext cx="1892807"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LLM</a:t>
            </a:r>
          </a:p>
        </p:txBody>
      </p:sp>
      <p:sp>
        <p:nvSpPr>
          <p:cNvPr id="141" name="Rectangle 140"/>
          <p:cNvSpPr/>
          <p:nvPr/>
        </p:nvSpPr>
        <p:spPr>
          <a:xfrm>
            <a:off x="4956048" y="4864608"/>
            <a:ext cx="2148840" cy="34290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body:141"/>
          <p:cNvSpPr txBox="1"/>
          <p:nvPr/>
        </p:nvSpPr>
        <p:spPr>
          <a:xfrm>
            <a:off x="5038344" y="4864608"/>
            <a:ext cx="1984248"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No</a:t>
            </a:r>
          </a:p>
        </p:txBody>
      </p:sp>
      <p:sp>
        <p:nvSpPr>
          <p:cNvPr id="143" name="Rectangle 142"/>
          <p:cNvSpPr/>
          <p:nvPr/>
        </p:nvSpPr>
        <p:spPr>
          <a:xfrm>
            <a:off x="7104888" y="4864608"/>
            <a:ext cx="1508760" cy="34290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body:143"/>
          <p:cNvSpPr txBox="1"/>
          <p:nvPr/>
        </p:nvSpPr>
        <p:spPr>
          <a:xfrm>
            <a:off x="7187183" y="4864608"/>
            <a:ext cx="1344168"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Abort = stop</a:t>
            </a:r>
          </a:p>
        </p:txBody>
      </p:sp>
      <p:sp>
        <p:nvSpPr>
          <p:cNvPr id="145" name="Rectangle 144"/>
          <p:cNvSpPr/>
          <p:nvPr/>
        </p:nvSpPr>
        <p:spPr>
          <a:xfrm>
            <a:off x="8613648" y="4864608"/>
            <a:ext cx="1417320" cy="34290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body:145"/>
          <p:cNvSpPr txBox="1"/>
          <p:nvPr/>
        </p:nvSpPr>
        <p:spPr>
          <a:xfrm>
            <a:off x="8695944" y="4864608"/>
            <a:ext cx="1252728"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None</a:t>
            </a:r>
          </a:p>
        </p:txBody>
      </p:sp>
      <p:sp>
        <p:nvSpPr>
          <p:cNvPr id="147" name="Rectangle 146"/>
          <p:cNvSpPr/>
          <p:nvPr/>
        </p:nvSpPr>
        <p:spPr>
          <a:xfrm>
            <a:off x="10030968" y="4864608"/>
            <a:ext cx="1591056" cy="34290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body:147"/>
          <p:cNvSpPr txBox="1"/>
          <p:nvPr/>
        </p:nvSpPr>
        <p:spPr>
          <a:xfrm>
            <a:off x="10113264" y="4864608"/>
            <a:ext cx="1426464" cy="342900"/>
          </a:xfrm>
          <a:prstGeom prst="rect">
            <a:avLst/>
          </a:prstGeom>
          <a:noFill/>
        </p:spPr>
        <p:txBody>
          <a:bodyPr wrap="square" lIns="22860" rIns="22860" tIns="22860" bIns="22860" anchor="ctr">
            <a:spAutoFit/>
          </a:bodyPr>
          <a:lstStyle/>
          <a:p>
            <a:pPr algn="l">
              <a:lnSpc>
                <a:spcPct val="98000"/>
              </a:lnSpc>
            </a:pPr>
            <a:r>
              <a:rPr sz="1000" b="0">
                <a:solidFill>
                  <a:srgbClr val="22313F"/>
                </a:solidFill>
                <a:latin typeface="Arial"/>
              </a:rPr>
              <a:t>No</a:t>
            </a:r>
          </a:p>
        </p:txBody>
      </p:sp>
      <p:sp>
        <p:nvSpPr>
          <p:cNvPr id="149" name="Rectangle 148"/>
          <p:cNvSpPr/>
          <p:nvPr/>
        </p:nvSpPr>
        <p:spPr>
          <a:xfrm>
            <a:off x="566928" y="5207508"/>
            <a:ext cx="2331720" cy="342900"/>
          </a:xfrm>
          <a:prstGeom prst="rect">
            <a:avLst/>
          </a:prstGeom>
          <a:solidFill>
            <a:srgbClr val="E1F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body:149"/>
          <p:cNvSpPr txBox="1"/>
          <p:nvPr/>
        </p:nvSpPr>
        <p:spPr>
          <a:xfrm>
            <a:off x="649224" y="5207508"/>
            <a:ext cx="2167127" cy="342900"/>
          </a:xfrm>
          <a:prstGeom prst="rect">
            <a:avLst/>
          </a:prstGeom>
          <a:noFill/>
        </p:spPr>
        <p:txBody>
          <a:bodyPr wrap="square" lIns="22860" rIns="22860" tIns="22860" bIns="22860" anchor="ctr">
            <a:spAutoFit/>
          </a:bodyPr>
          <a:lstStyle/>
          <a:p>
            <a:pPr algn="l">
              <a:lnSpc>
                <a:spcPct val="98000"/>
              </a:lnSpc>
            </a:pPr>
            <a:r>
              <a:rPr sz="1000" b="1">
                <a:solidFill>
                  <a:srgbClr val="1E7A72"/>
                </a:solidFill>
                <a:latin typeface="Arial"/>
              </a:rPr>
              <a:t>Proposed A + B</a:t>
            </a:r>
          </a:p>
        </p:txBody>
      </p:sp>
      <p:sp>
        <p:nvSpPr>
          <p:cNvPr id="151" name="Rectangle 150"/>
          <p:cNvSpPr/>
          <p:nvPr/>
        </p:nvSpPr>
        <p:spPr>
          <a:xfrm>
            <a:off x="2898648" y="5207508"/>
            <a:ext cx="2057400" cy="342900"/>
          </a:xfrm>
          <a:prstGeom prst="rect">
            <a:avLst/>
          </a:prstGeom>
          <a:solidFill>
            <a:srgbClr val="E1F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body:151"/>
          <p:cNvSpPr txBox="1"/>
          <p:nvPr/>
        </p:nvSpPr>
        <p:spPr>
          <a:xfrm>
            <a:off x="2980944" y="5207508"/>
            <a:ext cx="1892807" cy="342900"/>
          </a:xfrm>
          <a:prstGeom prst="rect">
            <a:avLst/>
          </a:prstGeom>
          <a:noFill/>
        </p:spPr>
        <p:txBody>
          <a:bodyPr wrap="square" lIns="22860" rIns="22860" tIns="22860" bIns="22860" anchor="ctr">
            <a:spAutoFit/>
          </a:bodyPr>
          <a:lstStyle/>
          <a:p>
            <a:pPr algn="l">
              <a:lnSpc>
                <a:spcPct val="98000"/>
              </a:lnSpc>
            </a:pPr>
            <a:r>
              <a:rPr sz="1000" b="0">
                <a:solidFill>
                  <a:srgbClr val="1E7A72"/>
                </a:solidFill>
                <a:latin typeface="Arial"/>
              </a:rPr>
              <a:t>Lookahead inside A(g)</a:t>
            </a:r>
          </a:p>
        </p:txBody>
      </p:sp>
      <p:sp>
        <p:nvSpPr>
          <p:cNvPr id="153" name="Rectangle 152"/>
          <p:cNvSpPr/>
          <p:nvPr/>
        </p:nvSpPr>
        <p:spPr>
          <a:xfrm>
            <a:off x="4956048" y="5207508"/>
            <a:ext cx="2148840" cy="342900"/>
          </a:xfrm>
          <a:prstGeom prst="rect">
            <a:avLst/>
          </a:prstGeom>
          <a:solidFill>
            <a:srgbClr val="E1F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body:153"/>
          <p:cNvSpPr txBox="1"/>
          <p:nvPr/>
        </p:nvSpPr>
        <p:spPr>
          <a:xfrm>
            <a:off x="5038344" y="5207508"/>
            <a:ext cx="1984248" cy="342900"/>
          </a:xfrm>
          <a:prstGeom prst="rect">
            <a:avLst/>
          </a:prstGeom>
          <a:noFill/>
        </p:spPr>
        <p:txBody>
          <a:bodyPr wrap="square" lIns="22860" rIns="22860" tIns="22860" bIns="22860" anchor="ctr">
            <a:spAutoFit/>
          </a:bodyPr>
          <a:lstStyle/>
          <a:p>
            <a:pPr algn="l">
              <a:lnSpc>
                <a:spcPct val="98000"/>
              </a:lnSpc>
            </a:pPr>
            <a:r>
              <a:rPr sz="1000" b="0">
                <a:solidFill>
                  <a:srgbClr val="1E7A72"/>
                </a:solidFill>
                <a:latin typeface="Arial"/>
              </a:rPr>
              <a:t>Yes: g moves only on trusted reply</a:t>
            </a:r>
          </a:p>
        </p:txBody>
      </p:sp>
      <p:sp>
        <p:nvSpPr>
          <p:cNvPr id="155" name="Rectangle 154"/>
          <p:cNvSpPr/>
          <p:nvPr/>
        </p:nvSpPr>
        <p:spPr>
          <a:xfrm>
            <a:off x="7104888" y="5207508"/>
            <a:ext cx="1508760" cy="342900"/>
          </a:xfrm>
          <a:prstGeom prst="rect">
            <a:avLst/>
          </a:prstGeom>
          <a:solidFill>
            <a:srgbClr val="E1F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body:155"/>
          <p:cNvSpPr txBox="1"/>
          <p:nvPr/>
        </p:nvSpPr>
        <p:spPr>
          <a:xfrm>
            <a:off x="7187183" y="5207508"/>
            <a:ext cx="1344168" cy="342900"/>
          </a:xfrm>
          <a:prstGeom prst="rect">
            <a:avLst/>
          </a:prstGeom>
          <a:noFill/>
        </p:spPr>
        <p:txBody>
          <a:bodyPr wrap="square" lIns="22860" rIns="22860" tIns="22860" bIns="22860" anchor="ctr">
            <a:spAutoFit/>
          </a:bodyPr>
          <a:lstStyle/>
          <a:p>
            <a:pPr algn="l">
              <a:lnSpc>
                <a:spcPct val="98000"/>
              </a:lnSpc>
            </a:pPr>
            <a:r>
              <a:rPr sz="1000" b="0">
                <a:solidFill>
                  <a:srgbClr val="1E7A72"/>
                </a:solidFill>
                <a:latin typeface="Arial"/>
              </a:rPr>
              <a:t>ASK with cost d, prob. q</a:t>
            </a:r>
          </a:p>
        </p:txBody>
      </p:sp>
      <p:sp>
        <p:nvSpPr>
          <p:cNvPr id="157" name="Rectangle 156"/>
          <p:cNvSpPr/>
          <p:nvPr/>
        </p:nvSpPr>
        <p:spPr>
          <a:xfrm>
            <a:off x="8613648" y="5207508"/>
            <a:ext cx="1417320" cy="342900"/>
          </a:xfrm>
          <a:prstGeom prst="rect">
            <a:avLst/>
          </a:prstGeom>
          <a:solidFill>
            <a:srgbClr val="E1F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body:157"/>
          <p:cNvSpPr txBox="1"/>
          <p:nvPr/>
        </p:nvSpPr>
        <p:spPr>
          <a:xfrm>
            <a:off x="8695944" y="5207508"/>
            <a:ext cx="1252728" cy="342900"/>
          </a:xfrm>
          <a:prstGeom prst="rect">
            <a:avLst/>
          </a:prstGeom>
          <a:noFill/>
        </p:spPr>
        <p:txBody>
          <a:bodyPr wrap="square" lIns="22860" rIns="22860" tIns="22860" bIns="22860" anchor="ctr">
            <a:spAutoFit/>
          </a:bodyPr>
          <a:lstStyle/>
          <a:p>
            <a:pPr algn="l">
              <a:lnSpc>
                <a:spcPct val="98000"/>
              </a:lnSpc>
            </a:pPr>
            <a:r>
              <a:rPr sz="1000" b="0">
                <a:solidFill>
                  <a:srgbClr val="1E7A72"/>
                </a:solidFill>
                <a:latin typeface="Arial"/>
              </a:rPr>
              <a:t>Broker before; journal after</a:t>
            </a:r>
          </a:p>
        </p:txBody>
      </p:sp>
      <p:sp>
        <p:nvSpPr>
          <p:cNvPr id="159" name="Rectangle 158"/>
          <p:cNvSpPr/>
          <p:nvPr/>
        </p:nvSpPr>
        <p:spPr>
          <a:xfrm>
            <a:off x="10030968" y="5207508"/>
            <a:ext cx="1591056" cy="342900"/>
          </a:xfrm>
          <a:prstGeom prst="rect">
            <a:avLst/>
          </a:prstGeom>
          <a:solidFill>
            <a:srgbClr val="E1F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body:159"/>
          <p:cNvSpPr txBox="1"/>
          <p:nvPr/>
        </p:nvSpPr>
        <p:spPr>
          <a:xfrm>
            <a:off x="10113264" y="5207508"/>
            <a:ext cx="1426464" cy="342900"/>
          </a:xfrm>
          <a:prstGeom prst="rect">
            <a:avLst/>
          </a:prstGeom>
          <a:noFill/>
        </p:spPr>
        <p:txBody>
          <a:bodyPr wrap="square" lIns="22860" rIns="22860" tIns="22860" bIns="22860" anchor="ctr">
            <a:spAutoFit/>
          </a:bodyPr>
          <a:lstStyle/>
          <a:p>
            <a:pPr algn="l">
              <a:lnSpc>
                <a:spcPct val="98000"/>
              </a:lnSpc>
            </a:pPr>
            <a:r>
              <a:rPr sz="1000" b="0">
                <a:solidFill>
                  <a:srgbClr val="1E7A72"/>
                </a:solidFill>
                <a:latin typeface="Arial"/>
              </a:rPr>
              <a:t>B selects from journal</a:t>
            </a:r>
          </a:p>
        </p:txBody>
      </p:sp>
      <p:sp>
        <p:nvSpPr>
          <p:cNvPr id="161" name="Rounded Rectangle 160"/>
          <p:cNvSpPr/>
          <p:nvPr/>
        </p:nvSpPr>
        <p:spPr>
          <a:xfrm>
            <a:off x="566928" y="5715000"/>
            <a:ext cx="11055096" cy="548640"/>
          </a:xfrm>
          <a:prstGeom prst="roundRect">
            <a:avLst>
              <a:gd name="adj" fmla="val 5000"/>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body:161"/>
          <p:cNvSpPr txBox="1"/>
          <p:nvPr/>
        </p:nvSpPr>
        <p:spPr>
          <a:xfrm>
            <a:off x="768096" y="5742432"/>
            <a:ext cx="10652760" cy="493776"/>
          </a:xfrm>
          <a:prstGeom prst="rect">
            <a:avLst/>
          </a:prstGeom>
          <a:noFill/>
        </p:spPr>
        <p:txBody>
          <a:bodyPr wrap="square" lIns="22860" rIns="22860" tIns="22860" bIns="22860" anchor="ctr">
            <a:spAutoFit/>
          </a:bodyPr>
          <a:lstStyle/>
          <a:p>
            <a:pPr algn="l">
              <a:lnSpc>
                <a:spcPct val="108000"/>
              </a:lnSpc>
            </a:pPr>
            <a:r>
              <a:rPr sz="1600" b="1">
                <a:solidFill>
                  <a:srgbClr val="FFFFFF"/>
                </a:solidFill>
                <a:latin typeface="Arial"/>
              </a:rPr>
              <a:t>Prior methods decide where to enforce or monitor. A decides what to do next, then still enforces; B decides what to release.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label:2"/>
          <p:cNvSpPr txBox="1"/>
          <p:nvPr/>
        </p:nvSpPr>
        <p:spPr>
          <a:xfrm>
            <a:off x="566928" y="365760"/>
            <a:ext cx="10058400" cy="420624"/>
          </a:xfrm>
          <a:prstGeom prst="rect">
            <a:avLst/>
          </a:prstGeom>
          <a:noFill/>
        </p:spPr>
        <p:txBody>
          <a:bodyPr wrap="square" lIns="22860" rIns="22860" tIns="22860" bIns="22860" anchor="ctr">
            <a:spAutoFit/>
          </a:bodyPr>
          <a:lstStyle/>
          <a:p>
            <a:pPr algn="l">
              <a:lnSpc>
                <a:spcPct val="108000"/>
              </a:lnSpc>
            </a:pPr>
            <a:r>
              <a:rPr sz="1100" b="1">
                <a:solidFill>
                  <a:srgbClr val="1E7A72"/>
                </a:solidFill>
                <a:latin typeface="Arial"/>
              </a:rPr>
              <a:t>15 / POSITIONING</a:t>
            </a:r>
          </a:p>
        </p:txBody>
      </p:sp>
      <p:sp>
        <p:nvSpPr>
          <p:cNvPr id="4" name="title:3"/>
          <p:cNvSpPr txBox="1"/>
          <p:nvPr/>
        </p:nvSpPr>
        <p:spPr>
          <a:xfrm>
            <a:off x="566928" y="786384"/>
            <a:ext cx="11055096" cy="804672"/>
          </a:xfrm>
          <a:prstGeom prst="rect">
            <a:avLst/>
          </a:prstGeom>
          <a:noFill/>
        </p:spPr>
        <p:txBody>
          <a:bodyPr wrap="square" lIns="22860" rIns="22860" tIns="22860" bIns="22860" anchor="ctr">
            <a:spAutoFit/>
          </a:bodyPr>
          <a:lstStyle/>
          <a:p>
            <a:pPr algn="l">
              <a:lnSpc>
                <a:spcPct val="105000"/>
              </a:lnSpc>
            </a:pPr>
            <a:r>
              <a:rPr sz="2600" b="1">
                <a:solidFill>
                  <a:srgbClr val="172D46"/>
                </a:solidFill>
                <a:latin typeface="Arial"/>
              </a:rPr>
              <a:t>Where each method intervenes, and what is actually new.</a:t>
            </a:r>
          </a:p>
        </p:txBody>
      </p:sp>
      <p:sp>
        <p:nvSpPr>
          <p:cNvPr id="5" name="Rectangle 4"/>
          <p:cNvSpPr/>
          <p:nvPr/>
        </p:nvSpPr>
        <p:spPr>
          <a:xfrm>
            <a:off x="566928" y="1609344"/>
            <a:ext cx="868680" cy="4572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ubtitle:5"/>
          <p:cNvSpPr txBox="1"/>
          <p:nvPr/>
        </p:nvSpPr>
        <p:spPr>
          <a:xfrm>
            <a:off x="585216" y="1682496"/>
            <a:ext cx="11055096" cy="457200"/>
          </a:xfrm>
          <a:prstGeom prst="rect">
            <a:avLst/>
          </a:prstGeom>
          <a:noFill/>
        </p:spPr>
        <p:txBody>
          <a:bodyPr wrap="square" lIns="22860" rIns="22860" tIns="22860" bIns="22860" anchor="ctr">
            <a:spAutoFit/>
          </a:bodyPr>
          <a:lstStyle/>
          <a:p>
            <a:pPr algn="l">
              <a:lnSpc>
                <a:spcPct val="105000"/>
              </a:lnSpc>
            </a:pPr>
            <a:r>
              <a:rPr sz="1400" b="0">
                <a:solidFill>
                  <a:srgbClr val="5F6E80"/>
                </a:solidFill>
                <a:latin typeface="Arial"/>
              </a:rPr>
              <a:t>Prior methods sit at single points of the pipeline; the proposal spans planning and selection and keeps enforcement.</a:t>
            </a:r>
          </a:p>
        </p:txBody>
      </p:sp>
      <p:sp>
        <p:nvSpPr>
          <p:cNvPr id="7" name="source:6"/>
          <p:cNvSpPr txBox="1"/>
          <p:nvPr/>
        </p:nvSpPr>
        <p:spPr>
          <a:xfrm>
            <a:off x="566928" y="6400800"/>
            <a:ext cx="1033272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rPr>
              <a:t> </a:t>
            </a:r>
          </a:p>
        </p:txBody>
      </p:sp>
      <p:sp>
        <p:nvSpPr>
          <p:cNvPr id="8" name="source:7"/>
          <p:cNvSpPr txBox="1"/>
          <p:nvPr/>
        </p:nvSpPr>
        <p:spPr>
          <a:xfrm>
            <a:off x="10927080" y="6364224"/>
            <a:ext cx="694944" cy="265176"/>
          </a:xfrm>
          <a:prstGeom prst="rect">
            <a:avLst/>
          </a:prstGeom>
          <a:noFill/>
        </p:spPr>
        <p:txBody>
          <a:bodyPr wrap="square" lIns="22860" rIns="22860" tIns="22860" bIns="22860" anchor="ctr">
            <a:spAutoFit/>
          </a:bodyPr>
          <a:lstStyle/>
          <a:p>
            <a:pPr algn="ctr">
              <a:lnSpc>
                <a:spcPct val="108000"/>
              </a:lnSpc>
            </a:pPr>
            <a:r>
              <a:rPr sz="1000" b="1">
                <a:solidFill>
                  <a:srgbClr val="5F6E80"/>
                </a:solidFill>
                <a:latin typeface="Arial"/>
              </a:rPr>
              <a:t>17 / 22</a:t>
            </a:r>
          </a:p>
        </p:txBody>
      </p:sp>
      <p:sp>
        <p:nvSpPr>
          <p:cNvPr id="9" name="Rectangle 8"/>
          <p:cNvSpPr/>
          <p:nvPr/>
        </p:nvSpPr>
        <p:spPr>
          <a:xfrm>
            <a:off x="56692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7151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57609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80675"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8525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8984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9442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99005"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0358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0817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1275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17336"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2191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26501"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63108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35666"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4024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4483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4941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153996"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65857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16316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104120" y="365760"/>
            <a:ext cx="1517904" cy="274320"/>
          </a:xfrm>
          <a:prstGeom prst="roundRect">
            <a:avLst>
              <a:gd name="adj" fmla="val 5000"/>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31"/>
          <p:cNvSpPr txBox="1"/>
          <p:nvPr/>
        </p:nvSpPr>
        <p:spPr>
          <a:xfrm>
            <a:off x="10158984" y="365760"/>
            <a:ext cx="1408176" cy="274320"/>
          </a:xfrm>
          <a:prstGeom prst="rect">
            <a:avLst/>
          </a:prstGeom>
          <a:noFill/>
        </p:spPr>
        <p:txBody>
          <a:bodyPr wrap="square" lIns="22860" rIns="22860" tIns="22860" bIns="22860" anchor="ctr">
            <a:spAutoFit/>
          </a:bodyPr>
          <a:lstStyle/>
          <a:p>
            <a:pPr algn="ctr">
              <a:lnSpc>
                <a:spcPct val="108000"/>
              </a:lnSpc>
            </a:pPr>
            <a:r>
              <a:rPr sz="1000" b="1">
                <a:solidFill>
                  <a:srgbClr val="3A6391"/>
                </a:solidFill>
                <a:latin typeface="Arial"/>
              </a:rPr>
              <a:t>THEORY</a:t>
            </a:r>
          </a:p>
        </p:txBody>
      </p:sp>
      <p:sp>
        <p:nvSpPr>
          <p:cNvPr id="33" name="source:32"/>
          <p:cNvSpPr txBox="1"/>
          <p:nvPr/>
        </p:nvSpPr>
        <p:spPr>
          <a:xfrm>
            <a:off x="566928" y="6400800"/>
            <a:ext cx="384048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2"/>
              </a:rPr>
              <a:t>Project: prior work and the contribution we can defend</a:t>
            </a:r>
          </a:p>
        </p:txBody>
      </p:sp>
      <p:sp>
        <p:nvSpPr>
          <p:cNvPr id="34" name="source:33"/>
          <p:cNvSpPr txBox="1"/>
          <p:nvPr/>
        </p:nvSpPr>
        <p:spPr>
          <a:xfrm>
            <a:off x="4553712" y="6400800"/>
            <a:ext cx="91440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3"/>
              </a:rPr>
              <a:t>AgentDojo</a:t>
            </a:r>
          </a:p>
        </p:txBody>
      </p:sp>
      <p:sp>
        <p:nvSpPr>
          <p:cNvPr id="35" name="source:34"/>
          <p:cNvSpPr txBox="1"/>
          <p:nvPr/>
        </p:nvSpPr>
        <p:spPr>
          <a:xfrm>
            <a:off x="5614416" y="6400800"/>
            <a:ext cx="91440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4"/>
              </a:rPr>
              <a:t>AI Control</a:t>
            </a:r>
          </a:p>
        </p:txBody>
      </p:sp>
      <p:sp>
        <p:nvSpPr>
          <p:cNvPr id="36" name="Rounded Rectangle 35"/>
          <p:cNvSpPr/>
          <p:nvPr/>
        </p:nvSpPr>
        <p:spPr>
          <a:xfrm>
            <a:off x="566928" y="3310128"/>
            <a:ext cx="1705356" cy="731520"/>
          </a:xfrm>
          <a:prstGeom prst="roundRect">
            <a:avLst>
              <a:gd name="adj" fmla="val 5000"/>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body:36"/>
          <p:cNvSpPr txBox="1"/>
          <p:nvPr/>
        </p:nvSpPr>
        <p:spPr>
          <a:xfrm>
            <a:off x="640080" y="3346704"/>
            <a:ext cx="1559052" cy="365760"/>
          </a:xfrm>
          <a:prstGeom prst="rect">
            <a:avLst/>
          </a:prstGeom>
          <a:noFill/>
        </p:spPr>
        <p:txBody>
          <a:bodyPr wrap="square" lIns="22860" rIns="22860" tIns="22860" bIns="22860" anchor="ctr">
            <a:spAutoFit/>
          </a:bodyPr>
          <a:lstStyle/>
          <a:p>
            <a:pPr algn="ctr">
              <a:lnSpc>
                <a:spcPct val="108000"/>
              </a:lnSpc>
            </a:pPr>
            <a:r>
              <a:rPr sz="1400" b="1">
                <a:solidFill>
                  <a:srgbClr val="FFFFFF"/>
                </a:solidFill>
                <a:latin typeface="Arial"/>
              </a:rPr>
              <a:t>Propose</a:t>
            </a:r>
          </a:p>
        </p:txBody>
      </p:sp>
      <p:sp>
        <p:nvSpPr>
          <p:cNvPr id="38" name="body:37"/>
          <p:cNvSpPr txBox="1"/>
          <p:nvPr/>
        </p:nvSpPr>
        <p:spPr>
          <a:xfrm>
            <a:off x="640080" y="3675887"/>
            <a:ext cx="1559052" cy="310896"/>
          </a:xfrm>
          <a:prstGeom prst="rect">
            <a:avLst/>
          </a:prstGeom>
          <a:noFill/>
        </p:spPr>
        <p:txBody>
          <a:bodyPr wrap="square" lIns="22860" rIns="22860" tIns="22860" bIns="22860" anchor="ctr">
            <a:spAutoFit/>
          </a:bodyPr>
          <a:lstStyle/>
          <a:p>
            <a:pPr algn="ctr">
              <a:lnSpc>
                <a:spcPct val="108000"/>
              </a:lnSpc>
            </a:pPr>
            <a:r>
              <a:rPr sz="1050" b="0">
                <a:solidFill>
                  <a:srgbClr val="FFFFFF"/>
                </a:solidFill>
                <a:latin typeface="Arial"/>
              </a:rPr>
              <a:t>next action</a:t>
            </a:r>
          </a:p>
        </p:txBody>
      </p:sp>
      <p:sp>
        <p:nvSpPr>
          <p:cNvPr id="39" name="Rectangle 38"/>
          <p:cNvSpPr/>
          <p:nvPr/>
        </p:nvSpPr>
        <p:spPr>
          <a:xfrm>
            <a:off x="2290572" y="3664457"/>
            <a:ext cx="128016" cy="22860"/>
          </a:xfrm>
          <a:prstGeom prst="rect">
            <a:avLst/>
          </a:prstGeom>
          <a:solidFill>
            <a:srgbClr val="5F6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Isosceles Triangle 39"/>
          <p:cNvSpPr/>
          <p:nvPr/>
        </p:nvSpPr>
        <p:spPr>
          <a:xfrm rot="5400000">
            <a:off x="2354580" y="3611879"/>
            <a:ext cx="128016" cy="128016"/>
          </a:xfrm>
          <a:prstGeom prst="triangle">
            <a:avLst/>
          </a:prstGeom>
          <a:solidFill>
            <a:srgbClr val="5F6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2436876" y="3310128"/>
            <a:ext cx="1705356" cy="731520"/>
          </a:xfrm>
          <a:prstGeom prst="roundRect">
            <a:avLst>
              <a:gd name="adj" fmla="val 5000"/>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ody:41"/>
          <p:cNvSpPr txBox="1"/>
          <p:nvPr/>
        </p:nvSpPr>
        <p:spPr>
          <a:xfrm>
            <a:off x="2510028" y="3346704"/>
            <a:ext cx="1559052" cy="365760"/>
          </a:xfrm>
          <a:prstGeom prst="rect">
            <a:avLst/>
          </a:prstGeom>
          <a:noFill/>
        </p:spPr>
        <p:txBody>
          <a:bodyPr wrap="square" lIns="22860" rIns="22860" tIns="22860" bIns="22860" anchor="ctr">
            <a:spAutoFit/>
          </a:bodyPr>
          <a:lstStyle/>
          <a:p>
            <a:pPr algn="ctr">
              <a:lnSpc>
                <a:spcPct val="108000"/>
              </a:lnSpc>
            </a:pPr>
            <a:r>
              <a:rPr sz="1400" b="1">
                <a:solidFill>
                  <a:srgbClr val="FFFFFF"/>
                </a:solidFill>
                <a:latin typeface="Arial"/>
              </a:rPr>
              <a:t>Check</a:t>
            </a:r>
          </a:p>
        </p:txBody>
      </p:sp>
      <p:sp>
        <p:nvSpPr>
          <p:cNvPr id="43" name="body:42"/>
          <p:cNvSpPr txBox="1"/>
          <p:nvPr/>
        </p:nvSpPr>
        <p:spPr>
          <a:xfrm>
            <a:off x="2510028" y="3675887"/>
            <a:ext cx="1559052" cy="310896"/>
          </a:xfrm>
          <a:prstGeom prst="rect">
            <a:avLst/>
          </a:prstGeom>
          <a:noFill/>
        </p:spPr>
        <p:txBody>
          <a:bodyPr wrap="square" lIns="22860" rIns="22860" tIns="22860" bIns="22860" anchor="ctr">
            <a:spAutoFit/>
          </a:bodyPr>
          <a:lstStyle/>
          <a:p>
            <a:pPr algn="ctr">
              <a:lnSpc>
                <a:spcPct val="108000"/>
              </a:lnSpc>
            </a:pPr>
            <a:r>
              <a:rPr sz="1050" b="0">
                <a:solidFill>
                  <a:srgbClr val="FFFFFF"/>
                </a:solidFill>
                <a:latin typeface="Arial"/>
              </a:rPr>
              <a:t>before dispatch</a:t>
            </a:r>
          </a:p>
        </p:txBody>
      </p:sp>
      <p:sp>
        <p:nvSpPr>
          <p:cNvPr id="44" name="Rectangle 43"/>
          <p:cNvSpPr/>
          <p:nvPr/>
        </p:nvSpPr>
        <p:spPr>
          <a:xfrm>
            <a:off x="4160520" y="3664457"/>
            <a:ext cx="128016" cy="22860"/>
          </a:xfrm>
          <a:prstGeom prst="rect">
            <a:avLst/>
          </a:prstGeom>
          <a:solidFill>
            <a:srgbClr val="5F6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Isosceles Triangle 44"/>
          <p:cNvSpPr/>
          <p:nvPr/>
        </p:nvSpPr>
        <p:spPr>
          <a:xfrm rot="5400000">
            <a:off x="4224528" y="3611879"/>
            <a:ext cx="128016" cy="128016"/>
          </a:xfrm>
          <a:prstGeom prst="triangle">
            <a:avLst/>
          </a:prstGeom>
          <a:solidFill>
            <a:srgbClr val="5F6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4306824" y="3310128"/>
            <a:ext cx="1705356" cy="731520"/>
          </a:xfrm>
          <a:prstGeom prst="roundRect">
            <a:avLst>
              <a:gd name="adj" fmla="val 5000"/>
            </a:avLst>
          </a:prstGeom>
          <a:solidFill>
            <a:srgbClr val="5F6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ody:46"/>
          <p:cNvSpPr txBox="1"/>
          <p:nvPr/>
        </p:nvSpPr>
        <p:spPr>
          <a:xfrm>
            <a:off x="4379976" y="3346704"/>
            <a:ext cx="1559052" cy="365760"/>
          </a:xfrm>
          <a:prstGeom prst="rect">
            <a:avLst/>
          </a:prstGeom>
          <a:noFill/>
        </p:spPr>
        <p:txBody>
          <a:bodyPr wrap="square" lIns="22860" rIns="22860" tIns="22860" bIns="22860" anchor="ctr">
            <a:spAutoFit/>
          </a:bodyPr>
          <a:lstStyle/>
          <a:p>
            <a:pPr algn="ctr">
              <a:lnSpc>
                <a:spcPct val="108000"/>
              </a:lnSpc>
            </a:pPr>
            <a:r>
              <a:rPr sz="1400" b="1">
                <a:solidFill>
                  <a:srgbClr val="FFFFFF"/>
                </a:solidFill>
                <a:latin typeface="Arial"/>
              </a:rPr>
              <a:t>Execute</a:t>
            </a:r>
          </a:p>
        </p:txBody>
      </p:sp>
      <p:sp>
        <p:nvSpPr>
          <p:cNvPr id="48" name="body:47"/>
          <p:cNvSpPr txBox="1"/>
          <p:nvPr/>
        </p:nvSpPr>
        <p:spPr>
          <a:xfrm>
            <a:off x="4379976" y="3675887"/>
            <a:ext cx="1559052" cy="310896"/>
          </a:xfrm>
          <a:prstGeom prst="rect">
            <a:avLst/>
          </a:prstGeom>
          <a:noFill/>
        </p:spPr>
        <p:txBody>
          <a:bodyPr wrap="square" lIns="22860" rIns="22860" tIns="22860" bIns="22860" anchor="ctr">
            <a:spAutoFit/>
          </a:bodyPr>
          <a:lstStyle/>
          <a:p>
            <a:pPr algn="ctr">
              <a:lnSpc>
                <a:spcPct val="108000"/>
              </a:lnSpc>
            </a:pPr>
            <a:r>
              <a:rPr sz="1050" b="0">
                <a:solidFill>
                  <a:srgbClr val="FFFFFF"/>
                </a:solidFill>
                <a:latin typeface="Arial"/>
              </a:rPr>
              <a:t>tool call</a:t>
            </a:r>
          </a:p>
        </p:txBody>
      </p:sp>
      <p:sp>
        <p:nvSpPr>
          <p:cNvPr id="49" name="Rectangle 48"/>
          <p:cNvSpPr/>
          <p:nvPr/>
        </p:nvSpPr>
        <p:spPr>
          <a:xfrm>
            <a:off x="6030468" y="3664457"/>
            <a:ext cx="128016" cy="22860"/>
          </a:xfrm>
          <a:prstGeom prst="rect">
            <a:avLst/>
          </a:prstGeom>
          <a:solidFill>
            <a:srgbClr val="5F6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Isosceles Triangle 49"/>
          <p:cNvSpPr/>
          <p:nvPr/>
        </p:nvSpPr>
        <p:spPr>
          <a:xfrm rot="5400000">
            <a:off x="6094476" y="3611879"/>
            <a:ext cx="128016" cy="128016"/>
          </a:xfrm>
          <a:prstGeom prst="triangle">
            <a:avLst/>
          </a:prstGeom>
          <a:solidFill>
            <a:srgbClr val="5F6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176772" y="3310128"/>
            <a:ext cx="1705356" cy="731520"/>
          </a:xfrm>
          <a:prstGeom prst="roundRect">
            <a:avLst>
              <a:gd name="adj" fmla="val 5000"/>
            </a:avLst>
          </a:prstGeom>
          <a:solidFill>
            <a:srgbClr val="B46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ody:51"/>
          <p:cNvSpPr txBox="1"/>
          <p:nvPr/>
        </p:nvSpPr>
        <p:spPr>
          <a:xfrm>
            <a:off x="6249924" y="3346704"/>
            <a:ext cx="1559052" cy="365760"/>
          </a:xfrm>
          <a:prstGeom prst="rect">
            <a:avLst/>
          </a:prstGeom>
          <a:noFill/>
        </p:spPr>
        <p:txBody>
          <a:bodyPr wrap="square" lIns="22860" rIns="22860" tIns="22860" bIns="22860" anchor="ctr">
            <a:spAutoFit/>
          </a:bodyPr>
          <a:lstStyle/>
          <a:p>
            <a:pPr algn="ctr">
              <a:lnSpc>
                <a:spcPct val="108000"/>
              </a:lnSpc>
            </a:pPr>
            <a:r>
              <a:rPr sz="1400" b="1">
                <a:solidFill>
                  <a:srgbClr val="FFFFFF"/>
                </a:solidFill>
                <a:latin typeface="Arial"/>
              </a:rPr>
              <a:t>Journal</a:t>
            </a:r>
          </a:p>
        </p:txBody>
      </p:sp>
      <p:sp>
        <p:nvSpPr>
          <p:cNvPr id="53" name="body:52"/>
          <p:cNvSpPr txBox="1"/>
          <p:nvPr/>
        </p:nvSpPr>
        <p:spPr>
          <a:xfrm>
            <a:off x="6249924" y="3675887"/>
            <a:ext cx="1559052" cy="310896"/>
          </a:xfrm>
          <a:prstGeom prst="rect">
            <a:avLst/>
          </a:prstGeom>
          <a:noFill/>
        </p:spPr>
        <p:txBody>
          <a:bodyPr wrap="square" lIns="22860" rIns="22860" tIns="22860" bIns="22860" anchor="ctr">
            <a:spAutoFit/>
          </a:bodyPr>
          <a:lstStyle/>
          <a:p>
            <a:pPr algn="ctr">
              <a:lnSpc>
                <a:spcPct val="108000"/>
              </a:lnSpc>
            </a:pPr>
            <a:r>
              <a:rPr sz="1050" b="0">
                <a:solidFill>
                  <a:srgbClr val="FFFFFF"/>
                </a:solidFill>
                <a:latin typeface="Arial"/>
              </a:rPr>
              <a:t>service effects</a:t>
            </a:r>
          </a:p>
        </p:txBody>
      </p:sp>
      <p:sp>
        <p:nvSpPr>
          <p:cNvPr id="54" name="Rectangle 53"/>
          <p:cNvSpPr/>
          <p:nvPr/>
        </p:nvSpPr>
        <p:spPr>
          <a:xfrm>
            <a:off x="7900416" y="3664457"/>
            <a:ext cx="128016" cy="22860"/>
          </a:xfrm>
          <a:prstGeom prst="rect">
            <a:avLst/>
          </a:prstGeom>
          <a:solidFill>
            <a:srgbClr val="5F6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Isosceles Triangle 54"/>
          <p:cNvSpPr/>
          <p:nvPr/>
        </p:nvSpPr>
        <p:spPr>
          <a:xfrm rot="5400000">
            <a:off x="7964424" y="3611879"/>
            <a:ext cx="128016" cy="128016"/>
          </a:xfrm>
          <a:prstGeom prst="triangle">
            <a:avLst/>
          </a:prstGeom>
          <a:solidFill>
            <a:srgbClr val="5F6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8046720" y="3310128"/>
            <a:ext cx="1705356" cy="731520"/>
          </a:xfrm>
          <a:prstGeom prst="roundRect">
            <a:avLst>
              <a:gd name="adj" fmla="val 5000"/>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ody:56"/>
          <p:cNvSpPr txBox="1"/>
          <p:nvPr/>
        </p:nvSpPr>
        <p:spPr>
          <a:xfrm>
            <a:off x="8119872" y="3346704"/>
            <a:ext cx="1559052" cy="365760"/>
          </a:xfrm>
          <a:prstGeom prst="rect">
            <a:avLst/>
          </a:prstGeom>
          <a:noFill/>
        </p:spPr>
        <p:txBody>
          <a:bodyPr wrap="square" lIns="22860" rIns="22860" tIns="22860" bIns="22860" anchor="ctr">
            <a:spAutoFit/>
          </a:bodyPr>
          <a:lstStyle/>
          <a:p>
            <a:pPr algn="ctr">
              <a:lnSpc>
                <a:spcPct val="108000"/>
              </a:lnSpc>
            </a:pPr>
            <a:r>
              <a:rPr sz="1400" b="1">
                <a:solidFill>
                  <a:srgbClr val="FFFFFF"/>
                </a:solidFill>
                <a:latin typeface="Arial"/>
              </a:rPr>
              <a:t>Score</a:t>
            </a:r>
          </a:p>
        </p:txBody>
      </p:sp>
      <p:sp>
        <p:nvSpPr>
          <p:cNvPr id="58" name="body:57"/>
          <p:cNvSpPr txBox="1"/>
          <p:nvPr/>
        </p:nvSpPr>
        <p:spPr>
          <a:xfrm>
            <a:off x="8119872" y="3675887"/>
            <a:ext cx="1559052" cy="310896"/>
          </a:xfrm>
          <a:prstGeom prst="rect">
            <a:avLst/>
          </a:prstGeom>
          <a:noFill/>
        </p:spPr>
        <p:txBody>
          <a:bodyPr wrap="square" lIns="22860" rIns="22860" tIns="22860" bIns="22860" anchor="ctr">
            <a:spAutoFit/>
          </a:bodyPr>
          <a:lstStyle/>
          <a:p>
            <a:pPr algn="ctr">
              <a:lnSpc>
                <a:spcPct val="108000"/>
              </a:lnSpc>
            </a:pPr>
            <a:r>
              <a:rPr sz="1050" b="0">
                <a:solidFill>
                  <a:srgbClr val="FFFFFF"/>
                </a:solidFill>
                <a:latin typeface="Arial"/>
              </a:rPr>
              <a:t>U, R, C, F</a:t>
            </a:r>
          </a:p>
        </p:txBody>
      </p:sp>
      <p:sp>
        <p:nvSpPr>
          <p:cNvPr id="59" name="Rectangle 58"/>
          <p:cNvSpPr/>
          <p:nvPr/>
        </p:nvSpPr>
        <p:spPr>
          <a:xfrm>
            <a:off x="9770364" y="3664457"/>
            <a:ext cx="128016" cy="22860"/>
          </a:xfrm>
          <a:prstGeom prst="rect">
            <a:avLst/>
          </a:prstGeom>
          <a:solidFill>
            <a:srgbClr val="5F6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Isosceles Triangle 59"/>
          <p:cNvSpPr/>
          <p:nvPr/>
        </p:nvSpPr>
        <p:spPr>
          <a:xfrm rot="5400000">
            <a:off x="9834372" y="3611879"/>
            <a:ext cx="128016" cy="128016"/>
          </a:xfrm>
          <a:prstGeom prst="triangle">
            <a:avLst/>
          </a:prstGeom>
          <a:solidFill>
            <a:srgbClr val="5F6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9916668" y="3310128"/>
            <a:ext cx="1705356" cy="731520"/>
          </a:xfrm>
          <a:prstGeom prst="roundRect">
            <a:avLst>
              <a:gd name="adj" fmla="val 5000"/>
            </a:avLst>
          </a:prstGeom>
          <a:solidFill>
            <a:srgbClr val="B04E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ody:61"/>
          <p:cNvSpPr txBox="1"/>
          <p:nvPr/>
        </p:nvSpPr>
        <p:spPr>
          <a:xfrm>
            <a:off x="9989820" y="3346704"/>
            <a:ext cx="1559052" cy="365760"/>
          </a:xfrm>
          <a:prstGeom prst="rect">
            <a:avLst/>
          </a:prstGeom>
          <a:noFill/>
        </p:spPr>
        <p:txBody>
          <a:bodyPr wrap="square" lIns="22860" rIns="22860" tIns="22860" bIns="22860" anchor="ctr">
            <a:spAutoFit/>
          </a:bodyPr>
          <a:lstStyle/>
          <a:p>
            <a:pPr algn="ctr">
              <a:lnSpc>
                <a:spcPct val="108000"/>
              </a:lnSpc>
            </a:pPr>
            <a:r>
              <a:rPr sz="1400" b="1">
                <a:solidFill>
                  <a:srgbClr val="FFFFFF"/>
                </a:solidFill>
                <a:latin typeface="Arial"/>
              </a:rPr>
              <a:t>Select / release</a:t>
            </a:r>
          </a:p>
        </p:txBody>
      </p:sp>
      <p:sp>
        <p:nvSpPr>
          <p:cNvPr id="63" name="body:62"/>
          <p:cNvSpPr txBox="1"/>
          <p:nvPr/>
        </p:nvSpPr>
        <p:spPr>
          <a:xfrm>
            <a:off x="9989820" y="3675887"/>
            <a:ext cx="1559052" cy="310896"/>
          </a:xfrm>
          <a:prstGeom prst="rect">
            <a:avLst/>
          </a:prstGeom>
          <a:noFill/>
        </p:spPr>
        <p:txBody>
          <a:bodyPr wrap="square" lIns="22860" rIns="22860" tIns="22860" bIns="22860" anchor="ctr">
            <a:spAutoFit/>
          </a:bodyPr>
          <a:lstStyle/>
          <a:p>
            <a:pPr algn="ctr">
              <a:lnSpc>
                <a:spcPct val="108000"/>
              </a:lnSpc>
            </a:pPr>
            <a:r>
              <a:rPr sz="1050" b="0">
                <a:solidFill>
                  <a:srgbClr val="FFFFFF"/>
                </a:solidFill>
                <a:latin typeface="Arial"/>
              </a:rPr>
              <a:t>next policy</a:t>
            </a:r>
          </a:p>
        </p:txBody>
      </p:sp>
      <p:sp>
        <p:nvSpPr>
          <p:cNvPr id="64" name="Rounded Rectangle 63"/>
          <p:cNvSpPr/>
          <p:nvPr/>
        </p:nvSpPr>
        <p:spPr>
          <a:xfrm>
            <a:off x="566928" y="2157984"/>
            <a:ext cx="1705356" cy="292608"/>
          </a:xfrm>
          <a:prstGeom prst="roundRect">
            <a:avLst>
              <a:gd name="adj" fmla="val 5000"/>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label:64"/>
          <p:cNvSpPr txBox="1"/>
          <p:nvPr/>
        </p:nvSpPr>
        <p:spPr>
          <a:xfrm>
            <a:off x="621792" y="2157984"/>
            <a:ext cx="1595628" cy="292608"/>
          </a:xfrm>
          <a:prstGeom prst="rect">
            <a:avLst/>
          </a:prstGeom>
          <a:noFill/>
        </p:spPr>
        <p:txBody>
          <a:bodyPr wrap="square" lIns="22860" rIns="22860" tIns="22860" bIns="22860" anchor="ctr">
            <a:spAutoFit/>
          </a:bodyPr>
          <a:lstStyle/>
          <a:p>
            <a:pPr algn="ctr">
              <a:lnSpc>
                <a:spcPct val="108000"/>
              </a:lnSpc>
            </a:pPr>
            <a:r>
              <a:rPr sz="950" b="1">
                <a:solidFill>
                  <a:srgbClr val="5F6E80"/>
                </a:solidFill>
                <a:latin typeface="Arial"/>
              </a:rPr>
              <a:t>POMCP · CPO/RCPO</a:t>
            </a:r>
          </a:p>
        </p:txBody>
      </p:sp>
      <p:sp>
        <p:nvSpPr>
          <p:cNvPr id="66" name="Rounded Rectangle 65"/>
          <p:cNvSpPr/>
          <p:nvPr/>
        </p:nvSpPr>
        <p:spPr>
          <a:xfrm>
            <a:off x="566928" y="2523744"/>
            <a:ext cx="1705356" cy="292608"/>
          </a:xfrm>
          <a:prstGeom prst="roundRect">
            <a:avLst>
              <a:gd name="adj" fmla="val 5000"/>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label:66"/>
          <p:cNvSpPr txBox="1"/>
          <p:nvPr/>
        </p:nvSpPr>
        <p:spPr>
          <a:xfrm>
            <a:off x="621792" y="2523744"/>
            <a:ext cx="1595628" cy="292608"/>
          </a:xfrm>
          <a:prstGeom prst="rect">
            <a:avLst/>
          </a:prstGeom>
          <a:noFill/>
        </p:spPr>
        <p:txBody>
          <a:bodyPr wrap="square" lIns="22860" rIns="22860" tIns="22860" bIns="22860" anchor="ctr">
            <a:spAutoFit/>
          </a:bodyPr>
          <a:lstStyle/>
          <a:p>
            <a:pPr algn="ctr">
              <a:lnSpc>
                <a:spcPct val="108000"/>
              </a:lnSpc>
            </a:pPr>
            <a:r>
              <a:rPr sz="950" b="1">
                <a:solidFill>
                  <a:srgbClr val="5F6E80"/>
                </a:solidFill>
                <a:latin typeface="Arial"/>
              </a:rPr>
              <a:t>prompting · abort</a:t>
            </a:r>
          </a:p>
        </p:txBody>
      </p:sp>
      <p:sp>
        <p:nvSpPr>
          <p:cNvPr id="68" name="Rounded Rectangle 67"/>
          <p:cNvSpPr/>
          <p:nvPr/>
        </p:nvSpPr>
        <p:spPr>
          <a:xfrm>
            <a:off x="566928" y="2889504"/>
            <a:ext cx="1705356" cy="292608"/>
          </a:xfrm>
          <a:prstGeom prst="roundRect">
            <a:avLst>
              <a:gd name="adj" fmla="val 5000"/>
            </a:avLst>
          </a:prstGeom>
          <a:solidFill>
            <a:srgbClr val="E1F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label:68"/>
          <p:cNvSpPr txBox="1"/>
          <p:nvPr/>
        </p:nvSpPr>
        <p:spPr>
          <a:xfrm>
            <a:off x="621792" y="2889504"/>
            <a:ext cx="1595628" cy="292608"/>
          </a:xfrm>
          <a:prstGeom prst="rect">
            <a:avLst/>
          </a:prstGeom>
          <a:noFill/>
        </p:spPr>
        <p:txBody>
          <a:bodyPr wrap="square" lIns="22860" rIns="22860" tIns="22860" bIns="22860" anchor="ctr">
            <a:spAutoFit/>
          </a:bodyPr>
          <a:lstStyle/>
          <a:p>
            <a:pPr algn="ctr">
              <a:lnSpc>
                <a:spcPct val="108000"/>
              </a:lnSpc>
            </a:pPr>
            <a:r>
              <a:rPr sz="950" b="1">
                <a:solidFill>
                  <a:srgbClr val="1E7A72"/>
                </a:solidFill>
                <a:latin typeface="Arial"/>
              </a:rPr>
              <a:t>Algorithm A</a:t>
            </a:r>
          </a:p>
        </p:txBody>
      </p:sp>
      <p:sp>
        <p:nvSpPr>
          <p:cNvPr id="70" name="Rounded Rectangle 69"/>
          <p:cNvSpPr/>
          <p:nvPr/>
        </p:nvSpPr>
        <p:spPr>
          <a:xfrm>
            <a:off x="2436876" y="2157984"/>
            <a:ext cx="1705356" cy="292608"/>
          </a:xfrm>
          <a:prstGeom prst="roundRect">
            <a:avLst>
              <a:gd name="adj" fmla="val 5000"/>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label:70"/>
          <p:cNvSpPr txBox="1"/>
          <p:nvPr/>
        </p:nvSpPr>
        <p:spPr>
          <a:xfrm>
            <a:off x="2491740" y="2157984"/>
            <a:ext cx="1595628" cy="292608"/>
          </a:xfrm>
          <a:prstGeom prst="rect">
            <a:avLst/>
          </a:prstGeom>
          <a:noFill/>
        </p:spPr>
        <p:txBody>
          <a:bodyPr wrap="square" lIns="22860" rIns="22860" tIns="22860" bIns="22860" anchor="ctr">
            <a:spAutoFit/>
          </a:bodyPr>
          <a:lstStyle/>
          <a:p>
            <a:pPr algn="ctr">
              <a:lnSpc>
                <a:spcPct val="108000"/>
              </a:lnSpc>
            </a:pPr>
            <a:r>
              <a:rPr sz="950" b="1">
                <a:solidFill>
                  <a:srgbClr val="5F6E80"/>
                </a:solidFill>
                <a:latin typeface="Arial"/>
              </a:rPr>
              <a:t>CaMeL · Progent</a:t>
            </a:r>
          </a:p>
        </p:txBody>
      </p:sp>
      <p:sp>
        <p:nvSpPr>
          <p:cNvPr id="72" name="Rounded Rectangle 71"/>
          <p:cNvSpPr/>
          <p:nvPr/>
        </p:nvSpPr>
        <p:spPr>
          <a:xfrm>
            <a:off x="2436876" y="2523744"/>
            <a:ext cx="1705356" cy="292608"/>
          </a:xfrm>
          <a:prstGeom prst="roundRect">
            <a:avLst>
              <a:gd name="adj" fmla="val 5000"/>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label:72"/>
          <p:cNvSpPr txBox="1"/>
          <p:nvPr/>
        </p:nvSpPr>
        <p:spPr>
          <a:xfrm>
            <a:off x="2491740" y="2523744"/>
            <a:ext cx="1595628" cy="292608"/>
          </a:xfrm>
          <a:prstGeom prst="rect">
            <a:avLst/>
          </a:prstGeom>
          <a:noFill/>
        </p:spPr>
        <p:txBody>
          <a:bodyPr wrap="square" lIns="22860" rIns="22860" tIns="22860" bIns="22860" anchor="ctr">
            <a:spAutoFit/>
          </a:bodyPr>
          <a:lstStyle/>
          <a:p>
            <a:pPr algn="ctr">
              <a:lnSpc>
                <a:spcPct val="108000"/>
              </a:lnSpc>
            </a:pPr>
            <a:r>
              <a:rPr sz="950" b="1">
                <a:solidFill>
                  <a:srgbClr val="5F6E80"/>
                </a:solidFill>
                <a:latin typeface="Arial"/>
              </a:rPr>
              <a:t>shields · trusted monitor</a:t>
            </a:r>
          </a:p>
        </p:txBody>
      </p:sp>
      <p:sp>
        <p:nvSpPr>
          <p:cNvPr id="74" name="Rounded Rectangle 73"/>
          <p:cNvSpPr/>
          <p:nvPr/>
        </p:nvSpPr>
        <p:spPr>
          <a:xfrm>
            <a:off x="2436876" y="2889504"/>
            <a:ext cx="1705356" cy="292608"/>
          </a:xfrm>
          <a:prstGeom prst="roundRect">
            <a:avLst>
              <a:gd name="adj" fmla="val 5000"/>
            </a:avLst>
          </a:prstGeom>
          <a:solidFill>
            <a:srgbClr val="E1F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label:74"/>
          <p:cNvSpPr txBox="1"/>
          <p:nvPr/>
        </p:nvSpPr>
        <p:spPr>
          <a:xfrm>
            <a:off x="2491740" y="2889504"/>
            <a:ext cx="1595628" cy="292608"/>
          </a:xfrm>
          <a:prstGeom prst="rect">
            <a:avLst/>
          </a:prstGeom>
          <a:noFill/>
        </p:spPr>
        <p:txBody>
          <a:bodyPr wrap="square" lIns="22860" rIns="22860" tIns="22860" bIns="22860" anchor="ctr">
            <a:spAutoFit/>
          </a:bodyPr>
          <a:lstStyle/>
          <a:p>
            <a:pPr algn="ctr">
              <a:lnSpc>
                <a:spcPct val="108000"/>
              </a:lnSpc>
            </a:pPr>
            <a:r>
              <a:rPr sz="950" b="1">
                <a:solidFill>
                  <a:srgbClr val="1E7A72"/>
                </a:solidFill>
                <a:latin typeface="Arial"/>
              </a:rPr>
              <a:t>broker (A)</a:t>
            </a:r>
          </a:p>
        </p:txBody>
      </p:sp>
      <p:sp>
        <p:nvSpPr>
          <p:cNvPr id="76" name="Rounded Rectangle 75"/>
          <p:cNvSpPr/>
          <p:nvPr/>
        </p:nvSpPr>
        <p:spPr>
          <a:xfrm>
            <a:off x="6176772" y="2157984"/>
            <a:ext cx="1705356" cy="292608"/>
          </a:xfrm>
          <a:prstGeom prst="roundRect">
            <a:avLst>
              <a:gd name="adj" fmla="val 5000"/>
            </a:avLst>
          </a:prstGeom>
          <a:solidFill>
            <a:srgbClr val="E1F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label:76"/>
          <p:cNvSpPr txBox="1"/>
          <p:nvPr/>
        </p:nvSpPr>
        <p:spPr>
          <a:xfrm>
            <a:off x="6231636" y="2157984"/>
            <a:ext cx="1595628" cy="292608"/>
          </a:xfrm>
          <a:prstGeom prst="rect">
            <a:avLst/>
          </a:prstGeom>
          <a:noFill/>
        </p:spPr>
        <p:txBody>
          <a:bodyPr wrap="square" lIns="22860" rIns="22860" tIns="22860" bIns="22860" anchor="ctr">
            <a:spAutoFit/>
          </a:bodyPr>
          <a:lstStyle/>
          <a:p>
            <a:pPr algn="ctr">
              <a:lnSpc>
                <a:spcPct val="108000"/>
              </a:lnSpc>
            </a:pPr>
            <a:r>
              <a:rPr sz="950" b="1">
                <a:solidFill>
                  <a:srgbClr val="1E7A72"/>
                </a:solidFill>
                <a:latin typeface="Arial"/>
              </a:rPr>
              <a:t>effect journal</a:t>
            </a:r>
          </a:p>
        </p:txBody>
      </p:sp>
      <p:sp>
        <p:nvSpPr>
          <p:cNvPr id="78" name="Rounded Rectangle 77"/>
          <p:cNvSpPr/>
          <p:nvPr/>
        </p:nvSpPr>
        <p:spPr>
          <a:xfrm>
            <a:off x="6176772" y="2523744"/>
            <a:ext cx="1705356" cy="292608"/>
          </a:xfrm>
          <a:prstGeom prst="roundRect">
            <a:avLst>
              <a:gd name="adj" fmla="val 5000"/>
            </a:avLst>
          </a:prstGeom>
          <a:solidFill>
            <a:srgbClr val="E1F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label:78"/>
          <p:cNvSpPr txBox="1"/>
          <p:nvPr/>
        </p:nvSpPr>
        <p:spPr>
          <a:xfrm>
            <a:off x="6231636" y="2523744"/>
            <a:ext cx="1595628" cy="292608"/>
          </a:xfrm>
          <a:prstGeom prst="rect">
            <a:avLst/>
          </a:prstGeom>
          <a:noFill/>
        </p:spPr>
        <p:txBody>
          <a:bodyPr wrap="square" lIns="22860" rIns="22860" tIns="22860" bIns="22860" anchor="ctr">
            <a:spAutoFit/>
          </a:bodyPr>
          <a:lstStyle/>
          <a:p>
            <a:pPr algn="ctr">
              <a:lnSpc>
                <a:spcPct val="108000"/>
              </a:lnSpc>
            </a:pPr>
            <a:r>
              <a:rPr sz="950" b="1">
                <a:solidFill>
                  <a:srgbClr val="1E7A72"/>
                </a:solidFill>
                <a:latin typeface="Arial"/>
              </a:rPr>
              <a:t>(ours, instrumented)</a:t>
            </a:r>
          </a:p>
        </p:txBody>
      </p:sp>
      <p:sp>
        <p:nvSpPr>
          <p:cNvPr id="80" name="Rounded Rectangle 79"/>
          <p:cNvSpPr/>
          <p:nvPr/>
        </p:nvSpPr>
        <p:spPr>
          <a:xfrm>
            <a:off x="8046720" y="2157984"/>
            <a:ext cx="1705356" cy="292608"/>
          </a:xfrm>
          <a:prstGeom prst="roundRect">
            <a:avLst>
              <a:gd name="adj" fmla="val 5000"/>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label:80"/>
          <p:cNvSpPr txBox="1"/>
          <p:nvPr/>
        </p:nvSpPr>
        <p:spPr>
          <a:xfrm>
            <a:off x="8101584" y="2157984"/>
            <a:ext cx="1595628" cy="292608"/>
          </a:xfrm>
          <a:prstGeom prst="rect">
            <a:avLst/>
          </a:prstGeom>
          <a:noFill/>
        </p:spPr>
        <p:txBody>
          <a:bodyPr wrap="square" lIns="22860" rIns="22860" tIns="22860" bIns="22860" anchor="ctr">
            <a:spAutoFit/>
          </a:bodyPr>
          <a:lstStyle/>
          <a:p>
            <a:pPr algn="ctr">
              <a:lnSpc>
                <a:spcPct val="108000"/>
              </a:lnSpc>
            </a:pPr>
            <a:r>
              <a:rPr sz="950" b="1">
                <a:solidFill>
                  <a:srgbClr val="5F6E80"/>
                </a:solidFill>
                <a:latin typeface="Arial"/>
              </a:rPr>
              <a:t>scorer · T / T+J / J*</a:t>
            </a:r>
          </a:p>
        </p:txBody>
      </p:sp>
      <p:sp>
        <p:nvSpPr>
          <p:cNvPr id="82" name="Rounded Rectangle 81"/>
          <p:cNvSpPr/>
          <p:nvPr/>
        </p:nvSpPr>
        <p:spPr>
          <a:xfrm>
            <a:off x="8046720" y="2523744"/>
            <a:ext cx="1705356" cy="292608"/>
          </a:xfrm>
          <a:prstGeom prst="roundRect">
            <a:avLst>
              <a:gd name="adj" fmla="val 5000"/>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label:82"/>
          <p:cNvSpPr txBox="1"/>
          <p:nvPr/>
        </p:nvSpPr>
        <p:spPr>
          <a:xfrm>
            <a:off x="8101584" y="2523744"/>
            <a:ext cx="1595628" cy="292608"/>
          </a:xfrm>
          <a:prstGeom prst="rect">
            <a:avLst/>
          </a:prstGeom>
          <a:noFill/>
        </p:spPr>
        <p:txBody>
          <a:bodyPr wrap="square" lIns="22860" rIns="22860" tIns="22860" bIns="22860" anchor="ctr">
            <a:spAutoFit/>
          </a:bodyPr>
          <a:lstStyle/>
          <a:p>
            <a:pPr algn="ctr">
              <a:lnSpc>
                <a:spcPct val="108000"/>
              </a:lnSpc>
            </a:pPr>
            <a:r>
              <a:rPr sz="950" b="1">
                <a:solidFill>
                  <a:srgbClr val="5F6E80"/>
                </a:solidFill>
                <a:latin typeface="Arial"/>
              </a:rPr>
              <a:t>transcript monitors</a:t>
            </a:r>
          </a:p>
        </p:txBody>
      </p:sp>
      <p:sp>
        <p:nvSpPr>
          <p:cNvPr id="84" name="Rounded Rectangle 83"/>
          <p:cNvSpPr/>
          <p:nvPr/>
        </p:nvSpPr>
        <p:spPr>
          <a:xfrm>
            <a:off x="9916668" y="2157984"/>
            <a:ext cx="1705356" cy="292608"/>
          </a:xfrm>
          <a:prstGeom prst="roundRect">
            <a:avLst>
              <a:gd name="adj" fmla="val 5000"/>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label:84"/>
          <p:cNvSpPr txBox="1"/>
          <p:nvPr/>
        </p:nvSpPr>
        <p:spPr>
          <a:xfrm>
            <a:off x="9971532" y="2157984"/>
            <a:ext cx="1595628" cy="292608"/>
          </a:xfrm>
          <a:prstGeom prst="rect">
            <a:avLst/>
          </a:prstGeom>
          <a:noFill/>
        </p:spPr>
        <p:txBody>
          <a:bodyPr wrap="square" lIns="22860" rIns="22860" tIns="22860" bIns="22860" anchor="ctr">
            <a:spAutoFit/>
          </a:bodyPr>
          <a:lstStyle/>
          <a:p>
            <a:pPr algn="ctr">
              <a:lnSpc>
                <a:spcPct val="108000"/>
              </a:lnSpc>
            </a:pPr>
            <a:r>
              <a:rPr sz="950" b="1">
                <a:solidFill>
                  <a:srgbClr val="5F6E80"/>
                </a:solidFill>
                <a:latin typeface="Arial"/>
              </a:rPr>
              <a:t>AI Control protocols</a:t>
            </a:r>
          </a:p>
        </p:txBody>
      </p:sp>
      <p:sp>
        <p:nvSpPr>
          <p:cNvPr id="86" name="Rounded Rectangle 85"/>
          <p:cNvSpPr/>
          <p:nvPr/>
        </p:nvSpPr>
        <p:spPr>
          <a:xfrm>
            <a:off x="9916668" y="2523744"/>
            <a:ext cx="1705356" cy="292608"/>
          </a:xfrm>
          <a:prstGeom prst="roundRect">
            <a:avLst>
              <a:gd name="adj" fmla="val 5000"/>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label:86"/>
          <p:cNvSpPr txBox="1"/>
          <p:nvPr/>
        </p:nvSpPr>
        <p:spPr>
          <a:xfrm>
            <a:off x="9971532" y="2523744"/>
            <a:ext cx="1595628" cy="292608"/>
          </a:xfrm>
          <a:prstGeom prst="rect">
            <a:avLst/>
          </a:prstGeom>
          <a:noFill/>
        </p:spPr>
        <p:txBody>
          <a:bodyPr wrap="square" lIns="22860" rIns="22860" tIns="22860" bIns="22860" anchor="ctr">
            <a:spAutoFit/>
          </a:bodyPr>
          <a:lstStyle/>
          <a:p>
            <a:pPr algn="ctr">
              <a:lnSpc>
                <a:spcPct val="108000"/>
              </a:lnSpc>
            </a:pPr>
            <a:r>
              <a:rPr sz="950" b="1">
                <a:solidFill>
                  <a:srgbClr val="5F6E80"/>
                </a:solidFill>
                <a:latin typeface="Arial"/>
              </a:rPr>
              <a:t>regression gate</a:t>
            </a:r>
          </a:p>
        </p:txBody>
      </p:sp>
      <p:sp>
        <p:nvSpPr>
          <p:cNvPr id="88" name="Rounded Rectangle 87"/>
          <p:cNvSpPr/>
          <p:nvPr/>
        </p:nvSpPr>
        <p:spPr>
          <a:xfrm>
            <a:off x="9916668" y="2889504"/>
            <a:ext cx="1705356" cy="292608"/>
          </a:xfrm>
          <a:prstGeom prst="roundRect">
            <a:avLst>
              <a:gd name="adj" fmla="val 5000"/>
            </a:avLst>
          </a:prstGeom>
          <a:solidFill>
            <a:srgbClr val="E1F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label:88"/>
          <p:cNvSpPr txBox="1"/>
          <p:nvPr/>
        </p:nvSpPr>
        <p:spPr>
          <a:xfrm>
            <a:off x="9971532" y="2889504"/>
            <a:ext cx="1595628" cy="292608"/>
          </a:xfrm>
          <a:prstGeom prst="rect">
            <a:avLst/>
          </a:prstGeom>
          <a:noFill/>
        </p:spPr>
        <p:txBody>
          <a:bodyPr wrap="square" lIns="22860" rIns="22860" tIns="22860" bIns="22860" anchor="ctr">
            <a:spAutoFit/>
          </a:bodyPr>
          <a:lstStyle/>
          <a:p>
            <a:pPr algn="ctr">
              <a:lnSpc>
                <a:spcPct val="108000"/>
              </a:lnSpc>
            </a:pPr>
            <a:r>
              <a:rPr sz="950" b="1">
                <a:solidFill>
                  <a:srgbClr val="1E7A72"/>
                </a:solidFill>
                <a:latin typeface="Arial"/>
              </a:rPr>
              <a:t>Algorithm B</a:t>
            </a:r>
          </a:p>
        </p:txBody>
      </p:sp>
      <p:sp>
        <p:nvSpPr>
          <p:cNvPr id="90" name="Rectangle 89"/>
          <p:cNvSpPr/>
          <p:nvPr/>
        </p:nvSpPr>
        <p:spPr>
          <a:xfrm>
            <a:off x="566928" y="4224528"/>
            <a:ext cx="5394960" cy="1316736"/>
          </a:xfrm>
          <a:prstGeom prst="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566928" y="4224528"/>
            <a:ext cx="64008" cy="1316736"/>
          </a:xfrm>
          <a:prstGeom prst="rect">
            <a:avLst/>
          </a:prstGeom>
          <a:solidFill>
            <a:srgbClr val="5F6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body:91"/>
          <p:cNvSpPr txBox="1"/>
          <p:nvPr/>
        </p:nvSpPr>
        <p:spPr>
          <a:xfrm>
            <a:off x="768096" y="4279392"/>
            <a:ext cx="5029200" cy="292608"/>
          </a:xfrm>
          <a:prstGeom prst="rect">
            <a:avLst/>
          </a:prstGeom>
          <a:noFill/>
        </p:spPr>
        <p:txBody>
          <a:bodyPr wrap="square" lIns="22860" rIns="22860" tIns="22860" bIns="22860" anchor="ctr">
            <a:spAutoFit/>
          </a:bodyPr>
          <a:lstStyle/>
          <a:p>
            <a:pPr algn="l">
              <a:lnSpc>
                <a:spcPct val="108000"/>
              </a:lnSpc>
            </a:pPr>
            <a:r>
              <a:rPr sz="1400" b="1">
                <a:solidFill>
                  <a:srgbClr val="5F6E80"/>
                </a:solidFill>
                <a:latin typeface="Arial"/>
              </a:rPr>
              <a:t>Not new</a:t>
            </a:r>
          </a:p>
        </p:txBody>
      </p:sp>
      <p:sp>
        <p:nvSpPr>
          <p:cNvPr id="93" name="body:92"/>
          <p:cNvSpPr txBox="1"/>
          <p:nvPr/>
        </p:nvSpPr>
        <p:spPr>
          <a:xfrm>
            <a:off x="768096" y="4572000"/>
            <a:ext cx="5029200" cy="914400"/>
          </a:xfrm>
          <a:prstGeom prst="rect">
            <a:avLst/>
          </a:prstGeom>
          <a:noFill/>
        </p:spPr>
        <p:txBody>
          <a:bodyPr wrap="square" lIns="22860" rIns="22860" tIns="22860" bIns="22860" anchor="t">
            <a:spAutoFit/>
          </a:bodyPr>
          <a:lstStyle/>
          <a:p>
            <a:pPr algn="l">
              <a:lnSpc>
                <a:spcPct val="108000"/>
              </a:lnSpc>
            </a:pPr>
            <a:r>
              <a:rPr sz="1150" b="0">
                <a:solidFill>
                  <a:srgbClr val="22313F"/>
                </a:solidFill>
                <a:latin typeface="Arial"/>
              </a:rPr>
              <a:t>POMDP planning and value of information; constrained optimization; capability and privilege enforcement; impossible-task tests; separate safety and utility endpoints (AgentDojo, CoSec); control protocols against subversion.</a:t>
            </a:r>
          </a:p>
        </p:txBody>
      </p:sp>
      <p:sp>
        <p:nvSpPr>
          <p:cNvPr id="94" name="Rectangle 93"/>
          <p:cNvSpPr/>
          <p:nvPr/>
        </p:nvSpPr>
        <p:spPr>
          <a:xfrm>
            <a:off x="6227064" y="4224528"/>
            <a:ext cx="5394960" cy="1316736"/>
          </a:xfrm>
          <a:prstGeom prst="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6227064" y="4224528"/>
            <a:ext cx="64008" cy="1316736"/>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body:95"/>
          <p:cNvSpPr txBox="1"/>
          <p:nvPr/>
        </p:nvSpPr>
        <p:spPr>
          <a:xfrm>
            <a:off x="6428232" y="4279392"/>
            <a:ext cx="5029200" cy="292608"/>
          </a:xfrm>
          <a:prstGeom prst="rect">
            <a:avLst/>
          </a:prstGeom>
          <a:noFill/>
        </p:spPr>
        <p:txBody>
          <a:bodyPr wrap="square" lIns="22860" rIns="22860" tIns="22860" bIns="22860" anchor="ctr">
            <a:spAutoFit/>
          </a:bodyPr>
          <a:lstStyle/>
          <a:p>
            <a:pPr algn="l">
              <a:lnSpc>
                <a:spcPct val="108000"/>
              </a:lnSpc>
            </a:pPr>
            <a:r>
              <a:rPr sz="1400" b="1">
                <a:solidFill>
                  <a:srgbClr val="1E7A72"/>
                </a:solidFill>
                <a:latin typeface="Arial"/>
              </a:rPr>
              <a:t>Proposed, and testable</a:t>
            </a:r>
          </a:p>
        </p:txBody>
      </p:sp>
      <p:sp>
        <p:nvSpPr>
          <p:cNvPr id="97" name="body:96"/>
          <p:cNvSpPr txBox="1"/>
          <p:nvPr/>
        </p:nvSpPr>
        <p:spPr>
          <a:xfrm>
            <a:off x="6428232" y="4572000"/>
            <a:ext cx="5029200" cy="914400"/>
          </a:xfrm>
          <a:prstGeom prst="rect">
            <a:avLst/>
          </a:prstGeom>
          <a:noFill/>
        </p:spPr>
        <p:txBody>
          <a:bodyPr wrap="square" lIns="22860" rIns="22860" tIns="22860" bIns="22860" anchor="t">
            <a:spAutoFit/>
          </a:bodyPr>
          <a:lstStyle/>
          <a:p>
            <a:pPr algn="l">
              <a:lnSpc>
                <a:spcPct val="108000"/>
              </a:lnSpc>
            </a:pPr>
            <a:r>
              <a:rPr sz="1150" b="0">
                <a:solidFill>
                  <a:srgbClr val="22313F"/>
                </a:solidFill>
                <a:latin typeface="Arial"/>
              </a:rPr>
              <a:t>Grant as state with trusted-only transitions, separate from feasibility; the request as a planned action with a price; attempted and executed violations measured in one fixture; selection from effects tested against selection from transcripts.</a:t>
            </a:r>
          </a:p>
        </p:txBody>
      </p:sp>
      <p:sp>
        <p:nvSpPr>
          <p:cNvPr id="98" name="Rounded Rectangle 97"/>
          <p:cNvSpPr/>
          <p:nvPr/>
        </p:nvSpPr>
        <p:spPr>
          <a:xfrm>
            <a:off x="566928" y="5715000"/>
            <a:ext cx="11055096" cy="548640"/>
          </a:xfrm>
          <a:prstGeom prst="roundRect">
            <a:avLst>
              <a:gd name="adj" fmla="val 5000"/>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body:98"/>
          <p:cNvSpPr txBox="1"/>
          <p:nvPr/>
        </p:nvSpPr>
        <p:spPr>
          <a:xfrm>
            <a:off x="768096" y="5742432"/>
            <a:ext cx="10652760" cy="493776"/>
          </a:xfrm>
          <a:prstGeom prst="rect">
            <a:avLst/>
          </a:prstGeom>
          <a:noFill/>
        </p:spPr>
        <p:txBody>
          <a:bodyPr wrap="square" lIns="22860" rIns="22860" tIns="22860" bIns="22860" anchor="ctr">
            <a:spAutoFit/>
          </a:bodyPr>
          <a:lstStyle/>
          <a:p>
            <a:pPr algn="l">
              <a:lnSpc>
                <a:spcPct val="108000"/>
              </a:lnSpc>
            </a:pPr>
            <a:r>
              <a:rPr sz="1600" b="1">
                <a:solidFill>
                  <a:srgbClr val="FFFFFF"/>
                </a:solidFill>
                <a:latin typeface="Arial"/>
              </a:rPr>
              <a:t>The novelty claim is empirical and narrow: better choices at retained utility, not a new containment guarantee.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label:2"/>
          <p:cNvSpPr txBox="1"/>
          <p:nvPr/>
        </p:nvSpPr>
        <p:spPr>
          <a:xfrm>
            <a:off x="566928" y="365760"/>
            <a:ext cx="10058400" cy="420624"/>
          </a:xfrm>
          <a:prstGeom prst="rect">
            <a:avLst/>
          </a:prstGeom>
          <a:noFill/>
        </p:spPr>
        <p:txBody>
          <a:bodyPr wrap="square" lIns="22860" rIns="22860" tIns="22860" bIns="22860" anchor="ctr">
            <a:spAutoFit/>
          </a:bodyPr>
          <a:lstStyle/>
          <a:p>
            <a:pPr algn="l">
              <a:lnSpc>
                <a:spcPct val="108000"/>
              </a:lnSpc>
            </a:pPr>
            <a:r>
              <a:rPr sz="1100" b="1">
                <a:solidFill>
                  <a:srgbClr val="1E7A72"/>
                </a:solidFill>
                <a:latin typeface="Arial"/>
              </a:rPr>
              <a:t>16 / EXPERIMENT 1 · SIMULATOR</a:t>
            </a:r>
          </a:p>
        </p:txBody>
      </p:sp>
      <p:sp>
        <p:nvSpPr>
          <p:cNvPr id="4" name="title:3"/>
          <p:cNvSpPr txBox="1"/>
          <p:nvPr/>
        </p:nvSpPr>
        <p:spPr>
          <a:xfrm>
            <a:off x="566928" y="786384"/>
            <a:ext cx="11055096" cy="804672"/>
          </a:xfrm>
          <a:prstGeom prst="rect">
            <a:avLst/>
          </a:prstGeom>
          <a:noFill/>
        </p:spPr>
        <p:txBody>
          <a:bodyPr wrap="square" lIns="22860" rIns="22860" tIns="22860" bIns="22860" anchor="ctr">
            <a:spAutoFit/>
          </a:bodyPr>
          <a:lstStyle/>
          <a:p>
            <a:pPr algn="l">
              <a:lnSpc>
                <a:spcPct val="105000"/>
              </a:lnSpc>
            </a:pPr>
            <a:r>
              <a:rPr sz="2600" b="1">
                <a:solidFill>
                  <a:srgbClr val="172D46"/>
                </a:solidFill>
                <a:latin typeface="Arial"/>
              </a:rPr>
              <a:t>E1: does the decision model predict choices, and at what regret?</a:t>
            </a:r>
          </a:p>
        </p:txBody>
      </p:sp>
      <p:sp>
        <p:nvSpPr>
          <p:cNvPr id="5" name="Rectangle 4"/>
          <p:cNvSpPr/>
          <p:nvPr/>
        </p:nvSpPr>
        <p:spPr>
          <a:xfrm>
            <a:off x="566928" y="1609344"/>
            <a:ext cx="868680" cy="4572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ubtitle:5"/>
          <p:cNvSpPr txBox="1"/>
          <p:nvPr/>
        </p:nvSpPr>
        <p:spPr>
          <a:xfrm>
            <a:off x="585216" y="1682496"/>
            <a:ext cx="11055096" cy="457200"/>
          </a:xfrm>
          <a:prstGeom prst="rect">
            <a:avLst/>
          </a:prstGeom>
          <a:noFill/>
        </p:spPr>
        <p:txBody>
          <a:bodyPr wrap="square" lIns="22860" rIns="22860" tIns="22860" bIns="22860" anchor="ctr">
            <a:spAutoFit/>
          </a:bodyPr>
          <a:lstStyle/>
          <a:p>
            <a:pPr algn="l">
              <a:lnSpc>
                <a:spcPct val="105000"/>
              </a:lnSpc>
            </a:pPr>
            <a:r>
              <a:rPr sz="1400" b="0">
                <a:solidFill>
                  <a:srgbClr val="5F6E80"/>
                </a:solidFill>
                <a:latin typeface="Arial"/>
              </a:rPr>
              <a:t>A small finite simulator with known kernels, then noisy and misspecified variants. The exact DP is the normative reference.</a:t>
            </a:r>
          </a:p>
        </p:txBody>
      </p:sp>
      <p:sp>
        <p:nvSpPr>
          <p:cNvPr id="7" name="source:6"/>
          <p:cNvSpPr txBox="1"/>
          <p:nvPr/>
        </p:nvSpPr>
        <p:spPr>
          <a:xfrm>
            <a:off x="566928" y="6400800"/>
            <a:ext cx="1033272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rPr>
              <a:t> </a:t>
            </a:r>
          </a:p>
        </p:txBody>
      </p:sp>
      <p:sp>
        <p:nvSpPr>
          <p:cNvPr id="8" name="source:7"/>
          <p:cNvSpPr txBox="1"/>
          <p:nvPr/>
        </p:nvSpPr>
        <p:spPr>
          <a:xfrm>
            <a:off x="10927080" y="6364224"/>
            <a:ext cx="694944" cy="265176"/>
          </a:xfrm>
          <a:prstGeom prst="rect">
            <a:avLst/>
          </a:prstGeom>
          <a:noFill/>
        </p:spPr>
        <p:txBody>
          <a:bodyPr wrap="square" lIns="22860" rIns="22860" tIns="22860" bIns="22860" anchor="ctr">
            <a:spAutoFit/>
          </a:bodyPr>
          <a:lstStyle/>
          <a:p>
            <a:pPr algn="ctr">
              <a:lnSpc>
                <a:spcPct val="108000"/>
              </a:lnSpc>
            </a:pPr>
            <a:r>
              <a:rPr sz="1000" b="1">
                <a:solidFill>
                  <a:srgbClr val="5F6E80"/>
                </a:solidFill>
                <a:latin typeface="Arial"/>
              </a:rPr>
              <a:t>18 / 22</a:t>
            </a:r>
          </a:p>
        </p:txBody>
      </p:sp>
      <p:sp>
        <p:nvSpPr>
          <p:cNvPr id="9" name="Rectangle 8"/>
          <p:cNvSpPr/>
          <p:nvPr/>
        </p:nvSpPr>
        <p:spPr>
          <a:xfrm>
            <a:off x="56692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7151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57609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80675"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8525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8984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9442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99005"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0358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0817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1275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17336"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2191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26501"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63108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35666"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4024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44831"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49413"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153996"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65857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16316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104120" y="365760"/>
            <a:ext cx="1517904" cy="274320"/>
          </a:xfrm>
          <a:prstGeom prst="roundRect">
            <a:avLst>
              <a:gd name="adj" fmla="val 5000"/>
            </a:avLst>
          </a:prstGeom>
          <a:solidFill>
            <a:srgbClr val="F8E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31"/>
          <p:cNvSpPr txBox="1"/>
          <p:nvPr/>
        </p:nvSpPr>
        <p:spPr>
          <a:xfrm>
            <a:off x="10158984" y="365760"/>
            <a:ext cx="1408176" cy="274320"/>
          </a:xfrm>
          <a:prstGeom prst="rect">
            <a:avLst/>
          </a:prstGeom>
          <a:noFill/>
        </p:spPr>
        <p:txBody>
          <a:bodyPr wrap="square" lIns="22860" rIns="22860" tIns="22860" bIns="22860" anchor="ctr">
            <a:spAutoFit/>
          </a:bodyPr>
          <a:lstStyle/>
          <a:p>
            <a:pPr algn="ctr">
              <a:lnSpc>
                <a:spcPct val="108000"/>
              </a:lnSpc>
            </a:pPr>
            <a:r>
              <a:rPr sz="1000" b="1">
                <a:solidFill>
                  <a:srgbClr val="B4602E"/>
                </a:solidFill>
                <a:latin typeface="Arial"/>
              </a:rPr>
              <a:t>PROPOSED</a:t>
            </a:r>
          </a:p>
        </p:txBody>
      </p:sp>
      <p:sp>
        <p:nvSpPr>
          <p:cNvPr id="33" name="source:32"/>
          <p:cNvSpPr txBox="1"/>
          <p:nvPr/>
        </p:nvSpPr>
        <p:spPr>
          <a:xfrm>
            <a:off x="566928" y="6400800"/>
            <a:ext cx="365760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2"/>
              </a:rPr>
              <a:t>Regret and metalevel decisions: Hay et al. 2012</a:t>
            </a:r>
          </a:p>
        </p:txBody>
      </p:sp>
      <p:sp>
        <p:nvSpPr>
          <p:cNvPr id="34" name="source:33"/>
          <p:cNvSpPr txBox="1"/>
          <p:nvPr/>
        </p:nvSpPr>
        <p:spPr>
          <a:xfrm>
            <a:off x="4370832" y="6400800"/>
            <a:ext cx="237744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3"/>
              </a:rPr>
              <a:t>Unconstrained reference planner</a:t>
            </a:r>
          </a:p>
        </p:txBody>
      </p:sp>
      <p:sp>
        <p:nvSpPr>
          <p:cNvPr id="35" name="Rectangle 34"/>
          <p:cNvSpPr/>
          <p:nvPr/>
        </p:nvSpPr>
        <p:spPr>
          <a:xfrm>
            <a:off x="566928" y="2157984"/>
            <a:ext cx="1920240" cy="365760"/>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body:35"/>
          <p:cNvSpPr txBox="1"/>
          <p:nvPr/>
        </p:nvSpPr>
        <p:spPr>
          <a:xfrm>
            <a:off x="649224" y="2157984"/>
            <a:ext cx="1755648" cy="365760"/>
          </a:xfrm>
          <a:prstGeom prst="rect">
            <a:avLst/>
          </a:prstGeom>
          <a:noFill/>
        </p:spPr>
        <p:txBody>
          <a:bodyPr wrap="square" lIns="22860" rIns="22860" tIns="22860" bIns="22860" anchor="ctr">
            <a:spAutoFit/>
          </a:bodyPr>
          <a:lstStyle/>
          <a:p>
            <a:pPr algn="l">
              <a:lnSpc>
                <a:spcPct val="100000"/>
              </a:lnSpc>
            </a:pPr>
            <a:r>
              <a:rPr sz="1100" b="1">
                <a:solidFill>
                  <a:srgbClr val="FFFFFF"/>
                </a:solidFill>
                <a:latin typeface="Arial"/>
              </a:rPr>
              <a:t>Factor swept</a:t>
            </a:r>
          </a:p>
        </p:txBody>
      </p:sp>
      <p:sp>
        <p:nvSpPr>
          <p:cNvPr id="37" name="Rectangle 36"/>
          <p:cNvSpPr/>
          <p:nvPr/>
        </p:nvSpPr>
        <p:spPr>
          <a:xfrm>
            <a:off x="2487168" y="2157984"/>
            <a:ext cx="3474720" cy="365760"/>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ody:37"/>
          <p:cNvSpPr txBox="1"/>
          <p:nvPr/>
        </p:nvSpPr>
        <p:spPr>
          <a:xfrm>
            <a:off x="2569464" y="2157984"/>
            <a:ext cx="3310127" cy="365760"/>
          </a:xfrm>
          <a:prstGeom prst="rect">
            <a:avLst/>
          </a:prstGeom>
          <a:noFill/>
        </p:spPr>
        <p:txBody>
          <a:bodyPr wrap="square" lIns="22860" rIns="22860" tIns="22860" bIns="22860" anchor="ctr">
            <a:spAutoFit/>
          </a:bodyPr>
          <a:lstStyle/>
          <a:p>
            <a:pPr algn="l">
              <a:lnSpc>
                <a:spcPct val="100000"/>
              </a:lnSpc>
            </a:pPr>
            <a:r>
              <a:rPr sz="1100" b="1">
                <a:solidFill>
                  <a:srgbClr val="FFFFFF"/>
                </a:solidFill>
                <a:latin typeface="Arial"/>
              </a:rPr>
              <a:t>Range</a:t>
            </a:r>
          </a:p>
        </p:txBody>
      </p:sp>
      <p:sp>
        <p:nvSpPr>
          <p:cNvPr id="39" name="Rectangle 38"/>
          <p:cNvSpPr/>
          <p:nvPr/>
        </p:nvSpPr>
        <p:spPr>
          <a:xfrm>
            <a:off x="566928" y="2523744"/>
            <a:ext cx="1920240" cy="365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ody:39"/>
          <p:cNvSpPr txBox="1"/>
          <p:nvPr/>
        </p:nvSpPr>
        <p:spPr>
          <a:xfrm>
            <a:off x="649224" y="2523744"/>
            <a:ext cx="1755648" cy="365760"/>
          </a:xfrm>
          <a:prstGeom prst="rect">
            <a:avLst/>
          </a:prstGeom>
          <a:noFill/>
        </p:spPr>
        <p:txBody>
          <a:bodyPr wrap="square" lIns="22860" rIns="22860" tIns="22860" bIns="22860" anchor="ctr">
            <a:spAutoFit/>
          </a:bodyPr>
          <a:lstStyle/>
          <a:p>
            <a:pPr algn="l">
              <a:lnSpc>
                <a:spcPct val="100000"/>
              </a:lnSpc>
            </a:pPr>
            <a:r>
              <a:rPr sz="1100" b="1">
                <a:solidFill>
                  <a:srgbClr val="22313F"/>
                </a:solidFill>
                <a:latin typeface="Arial"/>
              </a:rPr>
              <a:t>Feasibility prior p</a:t>
            </a:r>
          </a:p>
        </p:txBody>
      </p:sp>
      <p:sp>
        <p:nvSpPr>
          <p:cNvPr id="41" name="Rectangle 40"/>
          <p:cNvSpPr/>
          <p:nvPr/>
        </p:nvSpPr>
        <p:spPr>
          <a:xfrm>
            <a:off x="2487168" y="2523744"/>
            <a:ext cx="3474720" cy="365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ody:41"/>
          <p:cNvSpPr txBox="1"/>
          <p:nvPr/>
        </p:nvSpPr>
        <p:spPr>
          <a:xfrm>
            <a:off x="2569464" y="2523744"/>
            <a:ext cx="3310127" cy="365760"/>
          </a:xfrm>
          <a:prstGeom prst="rect">
            <a:avLst/>
          </a:prstGeom>
          <a:noFill/>
        </p:spPr>
        <p:txBody>
          <a:bodyPr wrap="square" lIns="22860" rIns="22860" tIns="22860" bIns="22860" anchor="ctr">
            <a:spAutoFit/>
          </a:bodyPr>
          <a:lstStyle/>
          <a:p>
            <a:pPr algn="l">
              <a:lnSpc>
                <a:spcPct val="100000"/>
              </a:lnSpc>
            </a:pPr>
            <a:r>
              <a:rPr sz="1100" b="0">
                <a:solidFill>
                  <a:srgbClr val="22313F"/>
                </a:solidFill>
                <a:latin typeface="Arial"/>
              </a:rPr>
              <a:t>0.01 … 0.99</a:t>
            </a:r>
          </a:p>
        </p:txBody>
      </p:sp>
      <p:sp>
        <p:nvSpPr>
          <p:cNvPr id="43" name="Rectangle 42"/>
          <p:cNvSpPr/>
          <p:nvPr/>
        </p:nvSpPr>
        <p:spPr>
          <a:xfrm>
            <a:off x="566928" y="2889503"/>
            <a:ext cx="1920240" cy="36576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ody:43"/>
          <p:cNvSpPr txBox="1"/>
          <p:nvPr/>
        </p:nvSpPr>
        <p:spPr>
          <a:xfrm>
            <a:off x="649224" y="2889503"/>
            <a:ext cx="1755648" cy="365760"/>
          </a:xfrm>
          <a:prstGeom prst="rect">
            <a:avLst/>
          </a:prstGeom>
          <a:noFill/>
        </p:spPr>
        <p:txBody>
          <a:bodyPr wrap="square" lIns="22860" rIns="22860" tIns="22860" bIns="22860" anchor="ctr">
            <a:spAutoFit/>
          </a:bodyPr>
          <a:lstStyle/>
          <a:p>
            <a:pPr algn="l">
              <a:lnSpc>
                <a:spcPct val="100000"/>
              </a:lnSpc>
            </a:pPr>
            <a:r>
              <a:rPr sz="1100" b="1">
                <a:solidFill>
                  <a:srgbClr val="22313F"/>
                </a:solidFill>
                <a:latin typeface="Arial"/>
              </a:rPr>
              <a:t>Diagnostic accuracy / cost</a:t>
            </a:r>
          </a:p>
        </p:txBody>
      </p:sp>
      <p:sp>
        <p:nvSpPr>
          <p:cNvPr id="45" name="Rectangle 44"/>
          <p:cNvSpPr/>
          <p:nvPr/>
        </p:nvSpPr>
        <p:spPr>
          <a:xfrm>
            <a:off x="2487168" y="2889503"/>
            <a:ext cx="3474720" cy="36576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ody:45"/>
          <p:cNvSpPr txBox="1"/>
          <p:nvPr/>
        </p:nvSpPr>
        <p:spPr>
          <a:xfrm>
            <a:off x="2569464" y="2889503"/>
            <a:ext cx="3310127" cy="365760"/>
          </a:xfrm>
          <a:prstGeom prst="rect">
            <a:avLst/>
          </a:prstGeom>
          <a:noFill/>
        </p:spPr>
        <p:txBody>
          <a:bodyPr wrap="square" lIns="22860" rIns="22860" tIns="22860" bIns="22860" anchor="ctr">
            <a:spAutoFit/>
          </a:bodyPr>
          <a:lstStyle/>
          <a:p>
            <a:pPr algn="l">
              <a:lnSpc>
                <a:spcPct val="100000"/>
              </a:lnSpc>
            </a:pPr>
            <a:r>
              <a:rPr sz="1100" b="0">
                <a:solidFill>
                  <a:srgbClr val="22313F"/>
                </a:solidFill>
                <a:latin typeface="Arial"/>
              </a:rPr>
              <a:t>perfect → noisy; 0 … 2 units</a:t>
            </a:r>
          </a:p>
        </p:txBody>
      </p:sp>
      <p:sp>
        <p:nvSpPr>
          <p:cNvPr id="47" name="Rectangle 46"/>
          <p:cNvSpPr/>
          <p:nvPr/>
        </p:nvSpPr>
        <p:spPr>
          <a:xfrm>
            <a:off x="566928" y="3255263"/>
            <a:ext cx="1920240" cy="365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ody:47"/>
          <p:cNvSpPr txBox="1"/>
          <p:nvPr/>
        </p:nvSpPr>
        <p:spPr>
          <a:xfrm>
            <a:off x="649224" y="3255263"/>
            <a:ext cx="1755648" cy="365760"/>
          </a:xfrm>
          <a:prstGeom prst="rect">
            <a:avLst/>
          </a:prstGeom>
          <a:noFill/>
        </p:spPr>
        <p:txBody>
          <a:bodyPr wrap="square" lIns="22860" rIns="22860" tIns="22860" bIns="22860" anchor="ctr">
            <a:spAutoFit/>
          </a:bodyPr>
          <a:lstStyle/>
          <a:p>
            <a:pPr algn="l">
              <a:lnSpc>
                <a:spcPct val="100000"/>
              </a:lnSpc>
            </a:pPr>
            <a:r>
              <a:rPr sz="1100" b="1">
                <a:solidFill>
                  <a:srgbClr val="22313F"/>
                </a:solidFill>
                <a:latin typeface="Arial"/>
              </a:rPr>
              <a:t>Request cost d, grant prob. q</a:t>
            </a:r>
          </a:p>
        </p:txBody>
      </p:sp>
      <p:sp>
        <p:nvSpPr>
          <p:cNvPr id="49" name="Rectangle 48"/>
          <p:cNvSpPr/>
          <p:nvPr/>
        </p:nvSpPr>
        <p:spPr>
          <a:xfrm>
            <a:off x="2487168" y="3255263"/>
            <a:ext cx="3474720" cy="365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ody:49"/>
          <p:cNvSpPr txBox="1"/>
          <p:nvPr/>
        </p:nvSpPr>
        <p:spPr>
          <a:xfrm>
            <a:off x="2569464" y="3255263"/>
            <a:ext cx="3310127" cy="365760"/>
          </a:xfrm>
          <a:prstGeom prst="rect">
            <a:avLst/>
          </a:prstGeom>
          <a:noFill/>
        </p:spPr>
        <p:txBody>
          <a:bodyPr wrap="square" lIns="22860" rIns="22860" tIns="22860" bIns="22860" anchor="ctr">
            <a:spAutoFit/>
          </a:bodyPr>
          <a:lstStyle/>
          <a:p>
            <a:pPr algn="l">
              <a:lnSpc>
                <a:spcPct val="100000"/>
              </a:lnSpc>
            </a:pPr>
            <a:r>
              <a:rPr sz="1100" b="0">
                <a:solidFill>
                  <a:srgbClr val="22313F"/>
                </a:solidFill>
                <a:latin typeface="Arial"/>
              </a:rPr>
              <a:t>d 0 … 8; q 0.2 … 0.9</a:t>
            </a:r>
          </a:p>
        </p:txBody>
      </p:sp>
      <p:sp>
        <p:nvSpPr>
          <p:cNvPr id="51" name="Rectangle 50"/>
          <p:cNvSpPr/>
          <p:nvPr/>
        </p:nvSpPr>
        <p:spPr>
          <a:xfrm>
            <a:off x="566928" y="3621023"/>
            <a:ext cx="1920240" cy="36576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ody:51"/>
          <p:cNvSpPr txBox="1"/>
          <p:nvPr/>
        </p:nvSpPr>
        <p:spPr>
          <a:xfrm>
            <a:off x="649224" y="3621023"/>
            <a:ext cx="1755648" cy="365760"/>
          </a:xfrm>
          <a:prstGeom prst="rect">
            <a:avLst/>
          </a:prstGeom>
          <a:noFill/>
        </p:spPr>
        <p:txBody>
          <a:bodyPr wrap="square" lIns="22860" rIns="22860" tIns="22860" bIns="22860" anchor="ctr">
            <a:spAutoFit/>
          </a:bodyPr>
          <a:lstStyle/>
          <a:p>
            <a:pPr algn="l">
              <a:lnSpc>
                <a:spcPct val="100000"/>
              </a:lnSpc>
            </a:pPr>
            <a:r>
              <a:rPr sz="1100" b="1">
                <a:solidFill>
                  <a:srgbClr val="22313F"/>
                </a:solidFill>
                <a:latin typeface="Arial"/>
              </a:rPr>
              <a:t>Horizon H, budget k</a:t>
            </a:r>
          </a:p>
        </p:txBody>
      </p:sp>
      <p:sp>
        <p:nvSpPr>
          <p:cNvPr id="53" name="Rectangle 52"/>
          <p:cNvSpPr/>
          <p:nvPr/>
        </p:nvSpPr>
        <p:spPr>
          <a:xfrm>
            <a:off x="2487168" y="3621023"/>
            <a:ext cx="3474720" cy="36576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ody:53"/>
          <p:cNvSpPr txBox="1"/>
          <p:nvPr/>
        </p:nvSpPr>
        <p:spPr>
          <a:xfrm>
            <a:off x="2569464" y="3621023"/>
            <a:ext cx="3310127" cy="365760"/>
          </a:xfrm>
          <a:prstGeom prst="rect">
            <a:avLst/>
          </a:prstGeom>
          <a:noFill/>
        </p:spPr>
        <p:txBody>
          <a:bodyPr wrap="square" lIns="22860" rIns="22860" tIns="22860" bIns="22860" anchor="ctr">
            <a:spAutoFit/>
          </a:bodyPr>
          <a:lstStyle/>
          <a:p>
            <a:pPr algn="l">
              <a:lnSpc>
                <a:spcPct val="100000"/>
              </a:lnSpc>
            </a:pPr>
            <a:r>
              <a:rPr sz="1100" b="0">
                <a:solidFill>
                  <a:srgbClr val="22313F"/>
                </a:solidFill>
                <a:latin typeface="Arial"/>
              </a:rPr>
              <a:t>1 … 6 steps; 2 … 12 units</a:t>
            </a:r>
          </a:p>
        </p:txBody>
      </p:sp>
      <p:sp>
        <p:nvSpPr>
          <p:cNvPr id="55" name="Rectangle 54"/>
          <p:cNvSpPr/>
          <p:nvPr/>
        </p:nvSpPr>
        <p:spPr>
          <a:xfrm>
            <a:off x="566928" y="3986783"/>
            <a:ext cx="1920240" cy="365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ody:55"/>
          <p:cNvSpPr txBox="1"/>
          <p:nvPr/>
        </p:nvSpPr>
        <p:spPr>
          <a:xfrm>
            <a:off x="649224" y="3986783"/>
            <a:ext cx="1755648" cy="365760"/>
          </a:xfrm>
          <a:prstGeom prst="rect">
            <a:avLst/>
          </a:prstGeom>
          <a:noFill/>
        </p:spPr>
        <p:txBody>
          <a:bodyPr wrap="square" lIns="22860" rIns="22860" tIns="22860" bIns="22860" anchor="ctr">
            <a:spAutoFit/>
          </a:bodyPr>
          <a:lstStyle/>
          <a:p>
            <a:pPr algn="l">
              <a:lnSpc>
                <a:spcPct val="100000"/>
              </a:lnSpc>
            </a:pPr>
            <a:r>
              <a:rPr sz="1100" b="1">
                <a:solidFill>
                  <a:srgbClr val="22313F"/>
                </a:solidFill>
                <a:latin typeface="Arial"/>
              </a:rPr>
              <a:t>Model misspecification</a:t>
            </a:r>
          </a:p>
        </p:txBody>
      </p:sp>
      <p:sp>
        <p:nvSpPr>
          <p:cNvPr id="57" name="Rectangle 56"/>
          <p:cNvSpPr/>
          <p:nvPr/>
        </p:nvSpPr>
        <p:spPr>
          <a:xfrm>
            <a:off x="2487168" y="3986783"/>
            <a:ext cx="3474720" cy="365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ody:57"/>
          <p:cNvSpPr txBox="1"/>
          <p:nvPr/>
        </p:nvSpPr>
        <p:spPr>
          <a:xfrm>
            <a:off x="2569464" y="3986783"/>
            <a:ext cx="3310127" cy="365760"/>
          </a:xfrm>
          <a:prstGeom prst="rect">
            <a:avLst/>
          </a:prstGeom>
          <a:noFill/>
        </p:spPr>
        <p:txBody>
          <a:bodyPr wrap="square" lIns="22860" rIns="22860" tIns="22860" bIns="22860" anchor="ctr">
            <a:spAutoFit/>
          </a:bodyPr>
          <a:lstStyle/>
          <a:p>
            <a:pPr algn="l">
              <a:lnSpc>
                <a:spcPct val="100000"/>
              </a:lnSpc>
            </a:pPr>
            <a:r>
              <a:rPr sz="1100" b="0">
                <a:solidFill>
                  <a:srgbClr val="22313F"/>
                </a:solidFill>
                <a:latin typeface="Arial"/>
              </a:rPr>
              <a:t>T, O perturbed ±20 %; stale q</a:t>
            </a:r>
          </a:p>
        </p:txBody>
      </p:sp>
      <p:sp>
        <p:nvSpPr>
          <p:cNvPr id="59" name="Rectangle 58"/>
          <p:cNvSpPr/>
          <p:nvPr/>
        </p:nvSpPr>
        <p:spPr>
          <a:xfrm>
            <a:off x="6172200" y="2157984"/>
            <a:ext cx="2103120" cy="365760"/>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ody:59"/>
          <p:cNvSpPr txBox="1"/>
          <p:nvPr/>
        </p:nvSpPr>
        <p:spPr>
          <a:xfrm>
            <a:off x="6254496" y="2157984"/>
            <a:ext cx="1938527" cy="365760"/>
          </a:xfrm>
          <a:prstGeom prst="rect">
            <a:avLst/>
          </a:prstGeom>
          <a:noFill/>
        </p:spPr>
        <p:txBody>
          <a:bodyPr wrap="square" lIns="22860" rIns="22860" tIns="22860" bIns="22860" anchor="ctr">
            <a:spAutoFit/>
          </a:bodyPr>
          <a:lstStyle/>
          <a:p>
            <a:pPr algn="l">
              <a:lnSpc>
                <a:spcPct val="100000"/>
              </a:lnSpc>
            </a:pPr>
            <a:r>
              <a:rPr sz="1100" b="1">
                <a:solidFill>
                  <a:srgbClr val="FFFFFF"/>
                </a:solidFill>
                <a:latin typeface="Arial"/>
              </a:rPr>
              <a:t>Planner</a:t>
            </a:r>
          </a:p>
        </p:txBody>
      </p:sp>
      <p:sp>
        <p:nvSpPr>
          <p:cNvPr id="61" name="Rectangle 60"/>
          <p:cNvSpPr/>
          <p:nvPr/>
        </p:nvSpPr>
        <p:spPr>
          <a:xfrm>
            <a:off x="8275320" y="2157984"/>
            <a:ext cx="3346704" cy="365760"/>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ody:61"/>
          <p:cNvSpPr txBox="1"/>
          <p:nvPr/>
        </p:nvSpPr>
        <p:spPr>
          <a:xfrm>
            <a:off x="8357616" y="2157984"/>
            <a:ext cx="3182112" cy="365760"/>
          </a:xfrm>
          <a:prstGeom prst="rect">
            <a:avLst/>
          </a:prstGeom>
          <a:noFill/>
        </p:spPr>
        <p:txBody>
          <a:bodyPr wrap="square" lIns="22860" rIns="22860" tIns="22860" bIns="22860" anchor="ctr">
            <a:spAutoFit/>
          </a:bodyPr>
          <a:lstStyle/>
          <a:p>
            <a:pPr algn="l">
              <a:lnSpc>
                <a:spcPct val="100000"/>
              </a:lnSpc>
            </a:pPr>
            <a:r>
              <a:rPr sz="1100" b="1">
                <a:solidFill>
                  <a:srgbClr val="FFFFFF"/>
                </a:solidFill>
                <a:latin typeface="Arial"/>
              </a:rPr>
              <a:t>Role</a:t>
            </a:r>
          </a:p>
        </p:txBody>
      </p:sp>
      <p:sp>
        <p:nvSpPr>
          <p:cNvPr id="63" name="Rectangle 62"/>
          <p:cNvSpPr/>
          <p:nvPr/>
        </p:nvSpPr>
        <p:spPr>
          <a:xfrm>
            <a:off x="6172200" y="2523744"/>
            <a:ext cx="2103120" cy="365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ody:63"/>
          <p:cNvSpPr txBox="1"/>
          <p:nvPr/>
        </p:nvSpPr>
        <p:spPr>
          <a:xfrm>
            <a:off x="6254496" y="2523744"/>
            <a:ext cx="1938527" cy="365760"/>
          </a:xfrm>
          <a:prstGeom prst="rect">
            <a:avLst/>
          </a:prstGeom>
          <a:noFill/>
        </p:spPr>
        <p:txBody>
          <a:bodyPr wrap="square" lIns="22860" rIns="22860" tIns="22860" bIns="22860" anchor="ctr">
            <a:spAutoFit/>
          </a:bodyPr>
          <a:lstStyle/>
          <a:p>
            <a:pPr algn="l">
              <a:lnSpc>
                <a:spcPct val="100000"/>
              </a:lnSpc>
            </a:pPr>
            <a:r>
              <a:rPr sz="1100" b="1">
                <a:solidFill>
                  <a:srgbClr val="22313F"/>
                </a:solidFill>
                <a:latin typeface="Arial"/>
              </a:rPr>
              <a:t>Exact DP (Algorithm A)</a:t>
            </a:r>
          </a:p>
        </p:txBody>
      </p:sp>
      <p:sp>
        <p:nvSpPr>
          <p:cNvPr id="65" name="Rectangle 64"/>
          <p:cNvSpPr/>
          <p:nvPr/>
        </p:nvSpPr>
        <p:spPr>
          <a:xfrm>
            <a:off x="8275320" y="2523744"/>
            <a:ext cx="3346704" cy="365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ody:65"/>
          <p:cNvSpPr txBox="1"/>
          <p:nvPr/>
        </p:nvSpPr>
        <p:spPr>
          <a:xfrm>
            <a:off x="8357616" y="2523744"/>
            <a:ext cx="3182112" cy="365760"/>
          </a:xfrm>
          <a:prstGeom prst="rect">
            <a:avLst/>
          </a:prstGeom>
          <a:noFill/>
        </p:spPr>
        <p:txBody>
          <a:bodyPr wrap="square" lIns="22860" rIns="22860" tIns="22860" bIns="22860" anchor="ctr">
            <a:spAutoFit/>
          </a:bodyPr>
          <a:lstStyle/>
          <a:p>
            <a:pPr algn="l">
              <a:lnSpc>
                <a:spcPct val="100000"/>
              </a:lnSpc>
            </a:pPr>
            <a:r>
              <a:rPr sz="1100" b="0">
                <a:solidFill>
                  <a:srgbClr val="22313F"/>
                </a:solidFill>
                <a:latin typeface="Arial"/>
              </a:rPr>
              <a:t>Normative reference; zero regret by construction</a:t>
            </a:r>
          </a:p>
        </p:txBody>
      </p:sp>
      <p:sp>
        <p:nvSpPr>
          <p:cNvPr id="67" name="Rectangle 66"/>
          <p:cNvSpPr/>
          <p:nvPr/>
        </p:nvSpPr>
        <p:spPr>
          <a:xfrm>
            <a:off x="6172200" y="2889503"/>
            <a:ext cx="2103120" cy="36576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ody:67"/>
          <p:cNvSpPr txBox="1"/>
          <p:nvPr/>
        </p:nvSpPr>
        <p:spPr>
          <a:xfrm>
            <a:off x="6254496" y="2889503"/>
            <a:ext cx="1938527" cy="365760"/>
          </a:xfrm>
          <a:prstGeom prst="rect">
            <a:avLst/>
          </a:prstGeom>
          <a:noFill/>
        </p:spPr>
        <p:txBody>
          <a:bodyPr wrap="square" lIns="22860" rIns="22860" tIns="22860" bIns="22860" anchor="ctr">
            <a:spAutoFit/>
          </a:bodyPr>
          <a:lstStyle/>
          <a:p>
            <a:pPr algn="l">
              <a:lnSpc>
                <a:spcPct val="100000"/>
              </a:lnSpc>
            </a:pPr>
            <a:r>
              <a:rPr sz="1100" b="1">
                <a:solidFill>
                  <a:srgbClr val="22313F"/>
                </a:solidFill>
                <a:latin typeface="Arial"/>
              </a:rPr>
              <a:t>One-step VOI</a:t>
            </a:r>
          </a:p>
        </p:txBody>
      </p:sp>
      <p:sp>
        <p:nvSpPr>
          <p:cNvPr id="69" name="Rectangle 68"/>
          <p:cNvSpPr/>
          <p:nvPr/>
        </p:nvSpPr>
        <p:spPr>
          <a:xfrm>
            <a:off x="8275320" y="2889503"/>
            <a:ext cx="3346704" cy="36576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ody:69"/>
          <p:cNvSpPr txBox="1"/>
          <p:nvPr/>
        </p:nvSpPr>
        <p:spPr>
          <a:xfrm>
            <a:off x="8357616" y="2889503"/>
            <a:ext cx="3182112" cy="365760"/>
          </a:xfrm>
          <a:prstGeom prst="rect">
            <a:avLst/>
          </a:prstGeom>
          <a:noFill/>
        </p:spPr>
        <p:txBody>
          <a:bodyPr wrap="square" lIns="22860" rIns="22860" tIns="22860" bIns="22860" anchor="ctr">
            <a:spAutoFit/>
          </a:bodyPr>
          <a:lstStyle/>
          <a:p>
            <a:pPr algn="l">
              <a:lnSpc>
                <a:spcPct val="100000"/>
              </a:lnSpc>
            </a:pPr>
            <a:r>
              <a:rPr sz="1100" b="0">
                <a:solidFill>
                  <a:srgbClr val="22313F"/>
                </a:solidFill>
                <a:latin typeface="Arial"/>
              </a:rPr>
              <a:t>Ablation: no lookahead beyond one probe</a:t>
            </a:r>
          </a:p>
        </p:txBody>
      </p:sp>
      <p:sp>
        <p:nvSpPr>
          <p:cNvPr id="71" name="Rectangle 70"/>
          <p:cNvSpPr/>
          <p:nvPr/>
        </p:nvSpPr>
        <p:spPr>
          <a:xfrm>
            <a:off x="6172200" y="3255263"/>
            <a:ext cx="2103120" cy="365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ody:71"/>
          <p:cNvSpPr txBox="1"/>
          <p:nvPr/>
        </p:nvSpPr>
        <p:spPr>
          <a:xfrm>
            <a:off x="6254496" y="3255263"/>
            <a:ext cx="1938527" cy="365760"/>
          </a:xfrm>
          <a:prstGeom prst="rect">
            <a:avLst/>
          </a:prstGeom>
          <a:noFill/>
        </p:spPr>
        <p:txBody>
          <a:bodyPr wrap="square" lIns="22860" rIns="22860" tIns="22860" bIns="22860" anchor="ctr">
            <a:spAutoFit/>
          </a:bodyPr>
          <a:lstStyle/>
          <a:p>
            <a:pPr algn="l">
              <a:lnSpc>
                <a:spcPct val="100000"/>
              </a:lnSpc>
            </a:pPr>
            <a:r>
              <a:rPr sz="1100" b="1">
                <a:solidFill>
                  <a:srgbClr val="22313F"/>
                </a:solidFill>
                <a:latin typeface="Arial"/>
              </a:rPr>
              <a:t>Budgeted MC lookahead + A(g)</a:t>
            </a:r>
          </a:p>
        </p:txBody>
      </p:sp>
      <p:sp>
        <p:nvSpPr>
          <p:cNvPr id="73" name="Rectangle 72"/>
          <p:cNvSpPr/>
          <p:nvPr/>
        </p:nvSpPr>
        <p:spPr>
          <a:xfrm>
            <a:off x="8275320" y="3255263"/>
            <a:ext cx="3346704" cy="365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ody:73"/>
          <p:cNvSpPr txBox="1"/>
          <p:nvPr/>
        </p:nvSpPr>
        <p:spPr>
          <a:xfrm>
            <a:off x="8357616" y="3255263"/>
            <a:ext cx="3182112" cy="365760"/>
          </a:xfrm>
          <a:prstGeom prst="rect">
            <a:avLst/>
          </a:prstGeom>
          <a:noFill/>
        </p:spPr>
        <p:txBody>
          <a:bodyPr wrap="square" lIns="22860" rIns="22860" tIns="22860" bIns="22860" anchor="ctr">
            <a:spAutoFit/>
          </a:bodyPr>
          <a:lstStyle/>
          <a:p>
            <a:pPr algn="l">
              <a:lnSpc>
                <a:spcPct val="100000"/>
              </a:lnSpc>
            </a:pPr>
            <a:r>
              <a:rPr sz="1100" b="0">
                <a:solidFill>
                  <a:srgbClr val="22313F"/>
                </a:solidFill>
                <a:latin typeface="Arial"/>
              </a:rPr>
              <a:t>Approximation; same grant filter</a:t>
            </a:r>
          </a:p>
        </p:txBody>
      </p:sp>
      <p:sp>
        <p:nvSpPr>
          <p:cNvPr id="75" name="Rectangle 74"/>
          <p:cNvSpPr/>
          <p:nvPr/>
        </p:nvSpPr>
        <p:spPr>
          <a:xfrm>
            <a:off x="6172200" y="3621023"/>
            <a:ext cx="2103120" cy="36576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ody:75"/>
          <p:cNvSpPr txBox="1"/>
          <p:nvPr/>
        </p:nvSpPr>
        <p:spPr>
          <a:xfrm>
            <a:off x="6254496" y="3621023"/>
            <a:ext cx="1938527" cy="365760"/>
          </a:xfrm>
          <a:prstGeom prst="rect">
            <a:avLst/>
          </a:prstGeom>
          <a:noFill/>
        </p:spPr>
        <p:txBody>
          <a:bodyPr wrap="square" lIns="22860" rIns="22860" tIns="22860" bIns="22860" anchor="ctr">
            <a:spAutoFit/>
          </a:bodyPr>
          <a:lstStyle/>
          <a:p>
            <a:pPr algn="l">
              <a:lnSpc>
                <a:spcPct val="100000"/>
              </a:lnSpc>
            </a:pPr>
            <a:r>
              <a:rPr sz="1100" b="1">
                <a:solidFill>
                  <a:srgbClr val="22313F"/>
                </a:solidFill>
                <a:latin typeface="Arial"/>
              </a:rPr>
              <a:t>POMCP without A(g)</a:t>
            </a:r>
          </a:p>
        </p:txBody>
      </p:sp>
      <p:sp>
        <p:nvSpPr>
          <p:cNvPr id="77" name="Rectangle 76"/>
          <p:cNvSpPr/>
          <p:nvPr/>
        </p:nvSpPr>
        <p:spPr>
          <a:xfrm>
            <a:off x="8275320" y="3621023"/>
            <a:ext cx="3346704" cy="36576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ody:77"/>
          <p:cNvSpPr txBox="1"/>
          <p:nvPr/>
        </p:nvSpPr>
        <p:spPr>
          <a:xfrm>
            <a:off x="8357616" y="3621023"/>
            <a:ext cx="3182112" cy="365760"/>
          </a:xfrm>
          <a:prstGeom prst="rect">
            <a:avLst/>
          </a:prstGeom>
          <a:noFill/>
        </p:spPr>
        <p:txBody>
          <a:bodyPr wrap="square" lIns="22860" rIns="22860" tIns="22860" bIns="22860" anchor="ctr">
            <a:spAutoFit/>
          </a:bodyPr>
          <a:lstStyle/>
          <a:p>
            <a:pPr algn="l">
              <a:lnSpc>
                <a:spcPct val="100000"/>
              </a:lnSpc>
            </a:pPr>
            <a:r>
              <a:rPr sz="1100" b="0">
                <a:solidFill>
                  <a:srgbClr val="22313F"/>
                </a:solidFill>
                <a:latin typeface="Arial"/>
              </a:rPr>
              <a:t>Unconstrained: predicted to substitute</a:t>
            </a:r>
          </a:p>
        </p:txBody>
      </p:sp>
      <p:sp>
        <p:nvSpPr>
          <p:cNvPr id="79" name="Rectangle 78"/>
          <p:cNvSpPr/>
          <p:nvPr/>
        </p:nvSpPr>
        <p:spPr>
          <a:xfrm>
            <a:off x="6172200" y="3986783"/>
            <a:ext cx="2103120" cy="365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ody:79"/>
          <p:cNvSpPr txBox="1"/>
          <p:nvPr/>
        </p:nvSpPr>
        <p:spPr>
          <a:xfrm>
            <a:off x="6254496" y="3986783"/>
            <a:ext cx="1938527" cy="365760"/>
          </a:xfrm>
          <a:prstGeom prst="rect">
            <a:avLst/>
          </a:prstGeom>
          <a:noFill/>
        </p:spPr>
        <p:txBody>
          <a:bodyPr wrap="square" lIns="22860" rIns="22860" tIns="22860" bIns="22860" anchor="ctr">
            <a:spAutoFit/>
          </a:bodyPr>
          <a:lstStyle/>
          <a:p>
            <a:pPr algn="l">
              <a:lnSpc>
                <a:spcPct val="100000"/>
              </a:lnSpc>
            </a:pPr>
            <a:r>
              <a:rPr sz="1100" b="1">
                <a:solidFill>
                  <a:srgbClr val="22313F"/>
                </a:solidFill>
                <a:latin typeface="Arial"/>
              </a:rPr>
              <a:t>LLM planner (prompted)</a:t>
            </a:r>
          </a:p>
        </p:txBody>
      </p:sp>
      <p:sp>
        <p:nvSpPr>
          <p:cNvPr id="81" name="Rectangle 80"/>
          <p:cNvSpPr/>
          <p:nvPr/>
        </p:nvSpPr>
        <p:spPr>
          <a:xfrm>
            <a:off x="8275320" y="3986783"/>
            <a:ext cx="3346704" cy="365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ody:81"/>
          <p:cNvSpPr txBox="1"/>
          <p:nvPr/>
        </p:nvSpPr>
        <p:spPr>
          <a:xfrm>
            <a:off x="8357616" y="3986783"/>
            <a:ext cx="3182112" cy="365760"/>
          </a:xfrm>
          <a:prstGeom prst="rect">
            <a:avLst/>
          </a:prstGeom>
          <a:noFill/>
        </p:spPr>
        <p:txBody>
          <a:bodyPr wrap="square" lIns="22860" rIns="22860" tIns="22860" bIns="22860" anchor="ctr">
            <a:spAutoFit/>
          </a:bodyPr>
          <a:lstStyle/>
          <a:p>
            <a:pPr algn="l">
              <a:lnSpc>
                <a:spcPct val="100000"/>
              </a:lnSpc>
            </a:pPr>
            <a:r>
              <a:rPr sz="1100" b="0">
                <a:solidFill>
                  <a:srgbClr val="22313F"/>
                </a:solidFill>
                <a:latin typeface="Arial"/>
              </a:rPr>
              <a:t>Behavioural compliance; calibration</a:t>
            </a:r>
          </a:p>
        </p:txBody>
      </p:sp>
      <p:sp>
        <p:nvSpPr>
          <p:cNvPr id="83" name="Rectangle 82"/>
          <p:cNvSpPr/>
          <p:nvPr/>
        </p:nvSpPr>
        <p:spPr>
          <a:xfrm>
            <a:off x="566928" y="4480560"/>
            <a:ext cx="11055096" cy="105156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body:83"/>
          <p:cNvSpPr txBox="1"/>
          <p:nvPr/>
        </p:nvSpPr>
        <p:spPr>
          <a:xfrm>
            <a:off x="749808" y="4526280"/>
            <a:ext cx="10689336" cy="960120"/>
          </a:xfrm>
          <a:prstGeom prst="rect">
            <a:avLst/>
          </a:prstGeom>
          <a:noFill/>
        </p:spPr>
        <p:txBody>
          <a:bodyPr wrap="square" lIns="22860" rIns="22860" tIns="22860" bIns="22860" anchor="t">
            <a:spAutoFit/>
          </a:bodyPr>
          <a:lstStyle/>
          <a:p>
            <a:pPr algn="l">
              <a:lnSpc>
                <a:spcPct val="110000"/>
              </a:lnSpc>
            </a:pPr>
            <a:r>
              <a:rPr sz="1150" b="0">
                <a:solidFill>
                  <a:srgbClr val="22313F"/>
                </a:solidFill>
                <a:latin typeface="Arial"/>
              </a:rPr>
              <a:t>Endpoints: value regret V* − V</a:t>
            </a:r>
            <a:r>
              <a:rPr sz="1150" b="0" baseline="-25000">
                <a:solidFill>
                  <a:srgbClr val="22313F"/>
                </a:solidFill>
                <a:latin typeface="Arial"/>
              </a:rPr>
              <a:t>π</a:t>
            </a:r>
            <a:r>
              <a:rPr sz="1150" b="0">
                <a:solidFill>
                  <a:srgbClr val="22313F"/>
                </a:solidFill>
                <a:latin typeface="Arial"/>
              </a:rPr>
              <a:t>; violation rate; request and probe rates; false stops; calibration by proper scoring rules and reliability plots. Prediction P1: the unconstrained planner's violation rate rises as p falls, reproducing H1. Prediction P2: the LLM planner's choices track the phase diagram on slide 10 only where its stated confidence is calibrated. The event log must not reveal hidden feasibility before the permitted probe.</a:t>
            </a:r>
          </a:p>
        </p:txBody>
      </p:sp>
      <p:sp>
        <p:nvSpPr>
          <p:cNvPr id="85" name="Rounded Rectangle 84"/>
          <p:cNvSpPr/>
          <p:nvPr/>
        </p:nvSpPr>
        <p:spPr>
          <a:xfrm>
            <a:off x="566928" y="5715000"/>
            <a:ext cx="11055096" cy="548640"/>
          </a:xfrm>
          <a:prstGeom prst="roundRect">
            <a:avLst>
              <a:gd name="adj" fmla="val 5000"/>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ody:85"/>
          <p:cNvSpPr txBox="1"/>
          <p:nvPr/>
        </p:nvSpPr>
        <p:spPr>
          <a:xfrm>
            <a:off x="768096" y="5742432"/>
            <a:ext cx="10652760" cy="493776"/>
          </a:xfrm>
          <a:prstGeom prst="rect">
            <a:avLst/>
          </a:prstGeom>
          <a:noFill/>
        </p:spPr>
        <p:txBody>
          <a:bodyPr wrap="square" lIns="22860" rIns="22860" tIns="22860" bIns="22860" anchor="ctr">
            <a:spAutoFit/>
          </a:bodyPr>
          <a:lstStyle/>
          <a:p>
            <a:pPr algn="l">
              <a:lnSpc>
                <a:spcPct val="108000"/>
              </a:lnSpc>
            </a:pPr>
            <a:r>
              <a:rPr sz="1600" b="1">
                <a:solidFill>
                  <a:srgbClr val="FFFFFF"/>
                </a:solidFill>
                <a:latin typeface="Arial"/>
              </a:rPr>
              <a:t>Falsifier: if the LLM planner ignores p, d and q, the decision model does not describe agent behaviour.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label:2"/>
          <p:cNvSpPr txBox="1"/>
          <p:nvPr/>
        </p:nvSpPr>
        <p:spPr>
          <a:xfrm>
            <a:off x="566928" y="365760"/>
            <a:ext cx="10058400" cy="420624"/>
          </a:xfrm>
          <a:prstGeom prst="rect">
            <a:avLst/>
          </a:prstGeom>
          <a:noFill/>
        </p:spPr>
        <p:txBody>
          <a:bodyPr wrap="square" lIns="22860" rIns="22860" tIns="22860" bIns="22860" anchor="ctr">
            <a:spAutoFit/>
          </a:bodyPr>
          <a:lstStyle/>
          <a:p>
            <a:pPr algn="l">
              <a:lnSpc>
                <a:spcPct val="108000"/>
              </a:lnSpc>
            </a:pPr>
            <a:r>
              <a:rPr sz="1100" b="1">
                <a:solidFill>
                  <a:srgbClr val="1E7A72"/>
                </a:solidFill>
                <a:latin typeface="Arial"/>
              </a:rPr>
              <a:t>17 / EXPERIMENT 2 · THE DISCRIMINATING FIXTURE</a:t>
            </a:r>
          </a:p>
        </p:txBody>
      </p:sp>
      <p:sp>
        <p:nvSpPr>
          <p:cNvPr id="4" name="title:3"/>
          <p:cNvSpPr txBox="1"/>
          <p:nvPr/>
        </p:nvSpPr>
        <p:spPr>
          <a:xfrm>
            <a:off x="566928" y="786384"/>
            <a:ext cx="11055096" cy="804672"/>
          </a:xfrm>
          <a:prstGeom prst="rect">
            <a:avLst/>
          </a:prstGeom>
          <a:noFill/>
        </p:spPr>
        <p:txBody>
          <a:bodyPr wrap="square" lIns="22860" rIns="22860" tIns="22860" bIns="22860" anchor="ctr">
            <a:spAutoFit/>
          </a:bodyPr>
          <a:lstStyle/>
          <a:p>
            <a:pPr algn="l">
              <a:lnSpc>
                <a:spcPct val="105000"/>
              </a:lnSpc>
            </a:pPr>
            <a:r>
              <a:rPr sz="2600" b="1">
                <a:solidFill>
                  <a:srgbClr val="172D46"/>
                </a:solidFill>
                <a:latin typeface="Arial"/>
              </a:rPr>
              <a:t>E2: same reachable resource, different permission, seven arms.</a:t>
            </a:r>
          </a:p>
        </p:txBody>
      </p:sp>
      <p:sp>
        <p:nvSpPr>
          <p:cNvPr id="5" name="Rectangle 4"/>
          <p:cNvSpPr/>
          <p:nvPr/>
        </p:nvSpPr>
        <p:spPr>
          <a:xfrm>
            <a:off x="566928" y="1609344"/>
            <a:ext cx="868680" cy="4572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ubtitle:5"/>
          <p:cNvSpPr txBox="1"/>
          <p:nvPr/>
        </p:nvSpPr>
        <p:spPr>
          <a:xfrm>
            <a:off x="585216" y="1682496"/>
            <a:ext cx="11055096" cy="457200"/>
          </a:xfrm>
          <a:prstGeom prst="rect">
            <a:avLst/>
          </a:prstGeom>
          <a:noFill/>
        </p:spPr>
        <p:txBody>
          <a:bodyPr wrap="square" lIns="22860" rIns="22860" tIns="22860" bIns="22860" anchor="ctr">
            <a:spAutoFit/>
          </a:bodyPr>
          <a:lstStyle/>
          <a:p>
            <a:pPr algn="l">
              <a:lnSpc>
                <a:spcPct val="105000"/>
              </a:lnSpc>
            </a:pPr>
            <a:r>
              <a:rPr sz="1400" b="0">
                <a:solidFill>
                  <a:srgbClr val="5F6E80"/>
                </a:solidFill>
                <a:latin typeface="Arial"/>
              </a:rPr>
              <a:t>Repair availability × trusted authorization; the alternate resource stays reachable; prior-method baselines enter as arms.</a:t>
            </a:r>
          </a:p>
        </p:txBody>
      </p:sp>
      <p:sp>
        <p:nvSpPr>
          <p:cNvPr id="7" name="source:6"/>
          <p:cNvSpPr txBox="1"/>
          <p:nvPr/>
        </p:nvSpPr>
        <p:spPr>
          <a:xfrm>
            <a:off x="566928" y="6400800"/>
            <a:ext cx="1033272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rPr>
              <a:t> </a:t>
            </a:r>
          </a:p>
        </p:txBody>
      </p:sp>
      <p:sp>
        <p:nvSpPr>
          <p:cNvPr id="8" name="source:7"/>
          <p:cNvSpPr txBox="1"/>
          <p:nvPr/>
        </p:nvSpPr>
        <p:spPr>
          <a:xfrm>
            <a:off x="10927080" y="6364224"/>
            <a:ext cx="694944" cy="265176"/>
          </a:xfrm>
          <a:prstGeom prst="rect">
            <a:avLst/>
          </a:prstGeom>
          <a:noFill/>
        </p:spPr>
        <p:txBody>
          <a:bodyPr wrap="square" lIns="22860" rIns="22860" tIns="22860" bIns="22860" anchor="ctr">
            <a:spAutoFit/>
          </a:bodyPr>
          <a:lstStyle/>
          <a:p>
            <a:pPr algn="ctr">
              <a:lnSpc>
                <a:spcPct val="108000"/>
              </a:lnSpc>
            </a:pPr>
            <a:r>
              <a:rPr sz="1000" b="1">
                <a:solidFill>
                  <a:srgbClr val="5F6E80"/>
                </a:solidFill>
                <a:latin typeface="Arial"/>
              </a:rPr>
              <a:t>19 / 22</a:t>
            </a:r>
          </a:p>
        </p:txBody>
      </p:sp>
      <p:sp>
        <p:nvSpPr>
          <p:cNvPr id="9" name="Rectangle 8"/>
          <p:cNvSpPr/>
          <p:nvPr/>
        </p:nvSpPr>
        <p:spPr>
          <a:xfrm>
            <a:off x="56692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7151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57609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80675"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8525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8984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9442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99005"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0358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0817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1275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17336"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2191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26501"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63108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35666"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4024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44831"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4941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153996"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65857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16316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104120" y="365760"/>
            <a:ext cx="1517904" cy="274320"/>
          </a:xfrm>
          <a:prstGeom prst="roundRect">
            <a:avLst>
              <a:gd name="adj" fmla="val 5000"/>
            </a:avLst>
          </a:prstGeom>
          <a:solidFill>
            <a:srgbClr val="F8E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31"/>
          <p:cNvSpPr txBox="1"/>
          <p:nvPr/>
        </p:nvSpPr>
        <p:spPr>
          <a:xfrm>
            <a:off x="10158984" y="365760"/>
            <a:ext cx="1408176" cy="274320"/>
          </a:xfrm>
          <a:prstGeom prst="rect">
            <a:avLst/>
          </a:prstGeom>
          <a:noFill/>
        </p:spPr>
        <p:txBody>
          <a:bodyPr wrap="square" lIns="22860" rIns="22860" tIns="22860" bIns="22860" anchor="ctr">
            <a:spAutoFit/>
          </a:bodyPr>
          <a:lstStyle/>
          <a:p>
            <a:pPr algn="ctr">
              <a:lnSpc>
                <a:spcPct val="108000"/>
              </a:lnSpc>
            </a:pPr>
            <a:r>
              <a:rPr sz="1000" b="1">
                <a:solidFill>
                  <a:srgbClr val="B4602E"/>
                </a:solidFill>
                <a:latin typeface="Arial"/>
              </a:rPr>
              <a:t>PROPOSED</a:t>
            </a:r>
          </a:p>
        </p:txBody>
      </p:sp>
      <p:sp>
        <p:nvSpPr>
          <p:cNvPr id="33" name="source:32"/>
          <p:cNvSpPr txBox="1"/>
          <p:nvPr/>
        </p:nvSpPr>
        <p:spPr>
          <a:xfrm>
            <a:off x="566928" y="6400800"/>
            <a:ext cx="310896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2"/>
              </a:rPr>
              <a:t>Project: repair × authorization design</a:t>
            </a:r>
          </a:p>
        </p:txBody>
      </p:sp>
      <p:sp>
        <p:nvSpPr>
          <p:cNvPr id="34" name="source:33"/>
          <p:cNvSpPr txBox="1"/>
          <p:nvPr/>
        </p:nvSpPr>
        <p:spPr>
          <a:xfrm>
            <a:off x="3822191" y="6400800"/>
            <a:ext cx="274320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3"/>
              </a:rPr>
              <a:t>X1b: silent and conflicting grants</a:t>
            </a:r>
          </a:p>
        </p:txBody>
      </p:sp>
      <p:sp>
        <p:nvSpPr>
          <p:cNvPr id="35" name="source:34"/>
          <p:cNvSpPr txBox="1"/>
          <p:nvPr/>
        </p:nvSpPr>
        <p:spPr>
          <a:xfrm>
            <a:off x="6711696" y="6400800"/>
            <a:ext cx="109728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4"/>
              </a:rPr>
              <a:t>Defer protocol</a:t>
            </a:r>
          </a:p>
        </p:txBody>
      </p:sp>
      <p:sp>
        <p:nvSpPr>
          <p:cNvPr id="36" name="body:35"/>
          <p:cNvSpPr txBox="1"/>
          <p:nvPr/>
        </p:nvSpPr>
        <p:spPr>
          <a:xfrm>
            <a:off x="1874519" y="2157984"/>
            <a:ext cx="2148840" cy="274320"/>
          </a:xfrm>
          <a:prstGeom prst="rect">
            <a:avLst/>
          </a:prstGeom>
          <a:noFill/>
        </p:spPr>
        <p:txBody>
          <a:bodyPr wrap="square" lIns="22860" rIns="22860" tIns="22860" bIns="22860" anchor="ctr">
            <a:spAutoFit/>
          </a:bodyPr>
          <a:lstStyle/>
          <a:p>
            <a:pPr algn="l">
              <a:lnSpc>
                <a:spcPct val="108000"/>
              </a:lnSpc>
            </a:pPr>
            <a:r>
              <a:rPr sz="1150" b="1">
                <a:solidFill>
                  <a:srgbClr val="B04E45"/>
                </a:solidFill>
                <a:latin typeface="Arial"/>
              </a:rPr>
              <a:t>ALTERNATE FORBIDDEN</a:t>
            </a:r>
          </a:p>
        </p:txBody>
      </p:sp>
      <p:sp>
        <p:nvSpPr>
          <p:cNvPr id="37" name="body:36"/>
          <p:cNvSpPr txBox="1"/>
          <p:nvPr/>
        </p:nvSpPr>
        <p:spPr>
          <a:xfrm>
            <a:off x="4151376" y="2157984"/>
            <a:ext cx="2148840" cy="274320"/>
          </a:xfrm>
          <a:prstGeom prst="rect">
            <a:avLst/>
          </a:prstGeom>
          <a:noFill/>
        </p:spPr>
        <p:txBody>
          <a:bodyPr wrap="square" lIns="22860" rIns="22860" tIns="22860" bIns="22860" anchor="ctr">
            <a:spAutoFit/>
          </a:bodyPr>
          <a:lstStyle/>
          <a:p>
            <a:pPr algn="l">
              <a:lnSpc>
                <a:spcPct val="108000"/>
              </a:lnSpc>
            </a:pPr>
            <a:r>
              <a:rPr sz="1150" b="1">
                <a:solidFill>
                  <a:srgbClr val="1E7A72"/>
                </a:solidFill>
                <a:latin typeface="Arial"/>
              </a:rPr>
              <a:t>ALTERNATE GRANTED</a:t>
            </a:r>
          </a:p>
        </p:txBody>
      </p:sp>
      <p:sp>
        <p:nvSpPr>
          <p:cNvPr id="38" name="body:37"/>
          <p:cNvSpPr txBox="1"/>
          <p:nvPr/>
        </p:nvSpPr>
        <p:spPr>
          <a:xfrm>
            <a:off x="566928" y="2633472"/>
            <a:ext cx="1280160" cy="502920"/>
          </a:xfrm>
          <a:prstGeom prst="rect">
            <a:avLst/>
          </a:prstGeom>
          <a:noFill/>
        </p:spPr>
        <p:txBody>
          <a:bodyPr wrap="square" lIns="22860" rIns="22860" tIns="22860" bIns="22860" anchor="ctr">
            <a:spAutoFit/>
          </a:bodyPr>
          <a:lstStyle/>
          <a:p>
            <a:pPr algn="l">
              <a:lnSpc>
                <a:spcPct val="108000"/>
              </a:lnSpc>
            </a:pPr>
            <a:r>
              <a:rPr sz="1200" b="1">
                <a:solidFill>
                  <a:srgbClr val="22313F"/>
                </a:solidFill>
                <a:latin typeface="Arial"/>
              </a:rPr>
              <a:t>Local repair</a:t>
            </a:r>
          </a:p>
          <a:p>
            <a:pPr algn="l">
              <a:lnSpc>
                <a:spcPct val="108000"/>
              </a:lnSpc>
            </a:pPr>
            <a:r>
              <a:rPr sz="1200" b="1">
                <a:solidFill>
                  <a:srgbClr val="22313F"/>
                </a:solidFill>
                <a:latin typeface="Arial"/>
              </a:rPr>
              <a:t>works</a:t>
            </a:r>
          </a:p>
        </p:txBody>
      </p:sp>
      <p:sp>
        <p:nvSpPr>
          <p:cNvPr id="39" name="body:38"/>
          <p:cNvSpPr txBox="1"/>
          <p:nvPr/>
        </p:nvSpPr>
        <p:spPr>
          <a:xfrm>
            <a:off x="566928" y="3493008"/>
            <a:ext cx="1280160" cy="502920"/>
          </a:xfrm>
          <a:prstGeom prst="rect">
            <a:avLst/>
          </a:prstGeom>
          <a:noFill/>
        </p:spPr>
        <p:txBody>
          <a:bodyPr wrap="square" lIns="22860" rIns="22860" tIns="22860" bIns="22860" anchor="ctr">
            <a:spAutoFit/>
          </a:bodyPr>
          <a:lstStyle/>
          <a:p>
            <a:pPr algn="l">
              <a:lnSpc>
                <a:spcPct val="108000"/>
              </a:lnSpc>
            </a:pPr>
            <a:r>
              <a:rPr sz="1200" b="1">
                <a:solidFill>
                  <a:srgbClr val="22313F"/>
                </a:solidFill>
                <a:latin typeface="Arial"/>
              </a:rPr>
              <a:t>Local repair</a:t>
            </a:r>
          </a:p>
          <a:p>
            <a:pPr algn="l">
              <a:lnSpc>
                <a:spcPct val="108000"/>
              </a:lnSpc>
            </a:pPr>
            <a:r>
              <a:rPr sz="1200" b="1">
                <a:solidFill>
                  <a:srgbClr val="22313F"/>
                </a:solidFill>
                <a:latin typeface="Arial"/>
              </a:rPr>
              <a:t>fails</a:t>
            </a:r>
          </a:p>
        </p:txBody>
      </p:sp>
      <p:sp>
        <p:nvSpPr>
          <p:cNvPr id="40" name="Rounded Rectangle 39"/>
          <p:cNvSpPr/>
          <p:nvPr/>
        </p:nvSpPr>
        <p:spPr>
          <a:xfrm>
            <a:off x="1874519" y="2487168"/>
            <a:ext cx="2148840" cy="731520"/>
          </a:xfrm>
          <a:prstGeom prst="roundRect">
            <a:avLst>
              <a:gd name="adj" fmla="val 5000"/>
            </a:avLst>
          </a:prstGeom>
          <a:solidFill>
            <a:srgbClr val="E1F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ody:40"/>
          <p:cNvSpPr txBox="1"/>
          <p:nvPr/>
        </p:nvSpPr>
        <p:spPr>
          <a:xfrm>
            <a:off x="1984248" y="2578608"/>
            <a:ext cx="1929384" cy="548640"/>
          </a:xfrm>
          <a:prstGeom prst="rect">
            <a:avLst/>
          </a:prstGeom>
          <a:noFill/>
        </p:spPr>
        <p:txBody>
          <a:bodyPr wrap="square" lIns="22860" rIns="22860" tIns="22860" bIns="22860" anchor="ctr">
            <a:spAutoFit/>
          </a:bodyPr>
          <a:lstStyle/>
          <a:p>
            <a:pPr algn="l">
              <a:lnSpc>
                <a:spcPct val="100000"/>
              </a:lnSpc>
            </a:pPr>
            <a:r>
              <a:rPr sz="1250" b="1">
                <a:solidFill>
                  <a:srgbClr val="1E7A72"/>
                </a:solidFill>
                <a:latin typeface="Arial"/>
              </a:rPr>
              <a:t>Recover locally</a:t>
            </a:r>
          </a:p>
        </p:txBody>
      </p:sp>
      <p:sp>
        <p:nvSpPr>
          <p:cNvPr id="42" name="Rounded Rectangle 41"/>
          <p:cNvSpPr/>
          <p:nvPr/>
        </p:nvSpPr>
        <p:spPr>
          <a:xfrm>
            <a:off x="4151376" y="2487168"/>
            <a:ext cx="2148840" cy="731520"/>
          </a:xfrm>
          <a:prstGeom prst="roundRect">
            <a:avLst>
              <a:gd name="adj" fmla="val 5000"/>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ody:42"/>
          <p:cNvSpPr txBox="1"/>
          <p:nvPr/>
        </p:nvSpPr>
        <p:spPr>
          <a:xfrm>
            <a:off x="4261104" y="2578608"/>
            <a:ext cx="1929384" cy="548640"/>
          </a:xfrm>
          <a:prstGeom prst="rect">
            <a:avLst/>
          </a:prstGeom>
          <a:noFill/>
        </p:spPr>
        <p:txBody>
          <a:bodyPr wrap="square" lIns="22860" rIns="22860" tIns="22860" bIns="22860" anchor="ctr">
            <a:spAutoFit/>
          </a:bodyPr>
          <a:lstStyle/>
          <a:p>
            <a:pPr algn="l">
              <a:lnSpc>
                <a:spcPct val="100000"/>
              </a:lnSpc>
            </a:pPr>
            <a:r>
              <a:rPr sz="1250" b="1">
                <a:solidFill>
                  <a:srgbClr val="3A6391"/>
                </a:solidFill>
                <a:latin typeface="Arial"/>
              </a:rPr>
              <a:t>Either permitted route</a:t>
            </a:r>
          </a:p>
        </p:txBody>
      </p:sp>
      <p:sp>
        <p:nvSpPr>
          <p:cNvPr id="44" name="Rounded Rectangle 43"/>
          <p:cNvSpPr/>
          <p:nvPr/>
        </p:nvSpPr>
        <p:spPr>
          <a:xfrm>
            <a:off x="1874519" y="3346704"/>
            <a:ext cx="2148840" cy="731520"/>
          </a:xfrm>
          <a:prstGeom prst="roundRect">
            <a:avLst>
              <a:gd name="adj" fmla="val 5000"/>
            </a:avLst>
          </a:prstGeom>
          <a:solidFill>
            <a:srgbClr val="F7E6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ody:44"/>
          <p:cNvSpPr txBox="1"/>
          <p:nvPr/>
        </p:nvSpPr>
        <p:spPr>
          <a:xfrm>
            <a:off x="1984248" y="3438144"/>
            <a:ext cx="1929384" cy="548640"/>
          </a:xfrm>
          <a:prstGeom prst="rect">
            <a:avLst/>
          </a:prstGeom>
          <a:noFill/>
        </p:spPr>
        <p:txBody>
          <a:bodyPr wrap="square" lIns="22860" rIns="22860" tIns="22860" bIns="22860" anchor="ctr">
            <a:spAutoFit/>
          </a:bodyPr>
          <a:lstStyle/>
          <a:p>
            <a:pPr algn="l">
              <a:lnSpc>
                <a:spcPct val="100000"/>
              </a:lnSpc>
            </a:pPr>
            <a:r>
              <a:rPr sz="1250" b="1">
                <a:solidFill>
                  <a:srgbClr val="B04E45"/>
                </a:solidFill>
                <a:latin typeface="Arial"/>
              </a:rPr>
              <a:t>Verify blocker, then stop</a:t>
            </a:r>
          </a:p>
        </p:txBody>
      </p:sp>
      <p:sp>
        <p:nvSpPr>
          <p:cNvPr id="46" name="Rounded Rectangle 45"/>
          <p:cNvSpPr/>
          <p:nvPr/>
        </p:nvSpPr>
        <p:spPr>
          <a:xfrm>
            <a:off x="4151376" y="3346704"/>
            <a:ext cx="2148840" cy="731520"/>
          </a:xfrm>
          <a:prstGeom prst="roundRect">
            <a:avLst>
              <a:gd name="adj" fmla="val 5000"/>
            </a:avLst>
          </a:prstGeom>
          <a:solidFill>
            <a:srgbClr val="E1F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ody:46"/>
          <p:cNvSpPr txBox="1"/>
          <p:nvPr/>
        </p:nvSpPr>
        <p:spPr>
          <a:xfrm>
            <a:off x="4261104" y="3438144"/>
            <a:ext cx="1929384" cy="548640"/>
          </a:xfrm>
          <a:prstGeom prst="rect">
            <a:avLst/>
          </a:prstGeom>
          <a:noFill/>
        </p:spPr>
        <p:txBody>
          <a:bodyPr wrap="square" lIns="22860" rIns="22860" tIns="22860" bIns="22860" anchor="ctr">
            <a:spAutoFit/>
          </a:bodyPr>
          <a:lstStyle/>
          <a:p>
            <a:pPr algn="l">
              <a:lnSpc>
                <a:spcPct val="100000"/>
              </a:lnSpc>
            </a:pPr>
            <a:r>
              <a:rPr sz="1250" b="1">
                <a:solidFill>
                  <a:srgbClr val="1E7A72"/>
                </a:solidFill>
                <a:latin typeface="Arial"/>
              </a:rPr>
              <a:t>Use the granted alternative</a:t>
            </a:r>
          </a:p>
        </p:txBody>
      </p:sp>
      <p:sp>
        <p:nvSpPr>
          <p:cNvPr id="48" name="body:47"/>
          <p:cNvSpPr txBox="1"/>
          <p:nvPr/>
        </p:nvSpPr>
        <p:spPr>
          <a:xfrm>
            <a:off x="566928" y="4261104"/>
            <a:ext cx="3931920" cy="731520"/>
          </a:xfrm>
          <a:prstGeom prst="rect">
            <a:avLst/>
          </a:prstGeom>
          <a:noFill/>
        </p:spPr>
        <p:txBody>
          <a:bodyPr wrap="square" lIns="22860" rIns="22860" tIns="22860" bIns="22860" anchor="t">
            <a:spAutoFit/>
          </a:bodyPr>
          <a:lstStyle/>
          <a:p>
            <a:pPr algn="l">
              <a:lnSpc>
                <a:spcPct val="105000"/>
              </a:lnSpc>
            </a:pPr>
            <a:r>
              <a:rPr sz="1050" b="0">
                <a:solidFill>
                  <a:srgbClr val="5F6E80"/>
                </a:solidFill>
                <a:latin typeface="Arial"/>
              </a:rPr>
              <a:t>X1b adds silent and conflicting grant columns: readout is a response mix and an over-conservatism check, not a violation rate.</a:t>
            </a:r>
          </a:p>
        </p:txBody>
      </p:sp>
      <p:sp>
        <p:nvSpPr>
          <p:cNvPr id="49" name="Rectangle 48"/>
          <p:cNvSpPr/>
          <p:nvPr/>
        </p:nvSpPr>
        <p:spPr>
          <a:xfrm>
            <a:off x="6400800" y="2157984"/>
            <a:ext cx="914400" cy="306324"/>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ody:49"/>
          <p:cNvSpPr txBox="1"/>
          <p:nvPr/>
        </p:nvSpPr>
        <p:spPr>
          <a:xfrm>
            <a:off x="6483096" y="2157984"/>
            <a:ext cx="749808" cy="306324"/>
          </a:xfrm>
          <a:prstGeom prst="rect">
            <a:avLst/>
          </a:prstGeom>
          <a:noFill/>
        </p:spPr>
        <p:txBody>
          <a:bodyPr wrap="square" lIns="22860" rIns="22860" tIns="22860" bIns="22860" anchor="ctr">
            <a:spAutoFit/>
          </a:bodyPr>
          <a:lstStyle/>
          <a:p>
            <a:pPr algn="l">
              <a:lnSpc>
                <a:spcPct val="100000"/>
              </a:lnSpc>
            </a:pPr>
            <a:r>
              <a:rPr sz="1050" b="1">
                <a:solidFill>
                  <a:srgbClr val="FFFFFF"/>
                </a:solidFill>
                <a:latin typeface="Arial"/>
              </a:rPr>
              <a:t>Arm</a:t>
            </a:r>
          </a:p>
        </p:txBody>
      </p:sp>
      <p:sp>
        <p:nvSpPr>
          <p:cNvPr id="51" name="Rectangle 50"/>
          <p:cNvSpPr/>
          <p:nvPr/>
        </p:nvSpPr>
        <p:spPr>
          <a:xfrm>
            <a:off x="7315200" y="2157984"/>
            <a:ext cx="1920240" cy="306324"/>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ody:51"/>
          <p:cNvSpPr txBox="1"/>
          <p:nvPr/>
        </p:nvSpPr>
        <p:spPr>
          <a:xfrm>
            <a:off x="7397496" y="2157984"/>
            <a:ext cx="1755648" cy="306324"/>
          </a:xfrm>
          <a:prstGeom prst="rect">
            <a:avLst/>
          </a:prstGeom>
          <a:noFill/>
        </p:spPr>
        <p:txBody>
          <a:bodyPr wrap="square" lIns="22860" rIns="22860" tIns="22860" bIns="22860" anchor="ctr">
            <a:spAutoFit/>
          </a:bodyPr>
          <a:lstStyle/>
          <a:p>
            <a:pPr algn="l">
              <a:lnSpc>
                <a:spcPct val="100000"/>
              </a:lnSpc>
            </a:pPr>
            <a:r>
              <a:rPr sz="1050" b="1">
                <a:solidFill>
                  <a:srgbClr val="FFFFFF"/>
                </a:solidFill>
                <a:latin typeface="Arial"/>
              </a:rPr>
              <a:t>Policy</a:t>
            </a:r>
          </a:p>
        </p:txBody>
      </p:sp>
      <p:sp>
        <p:nvSpPr>
          <p:cNvPr id="53" name="Rectangle 52"/>
          <p:cNvSpPr/>
          <p:nvPr/>
        </p:nvSpPr>
        <p:spPr>
          <a:xfrm>
            <a:off x="9235440" y="2157984"/>
            <a:ext cx="2386584" cy="306324"/>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ody:53"/>
          <p:cNvSpPr txBox="1"/>
          <p:nvPr/>
        </p:nvSpPr>
        <p:spPr>
          <a:xfrm>
            <a:off x="9317736" y="2157984"/>
            <a:ext cx="2221991" cy="306324"/>
          </a:xfrm>
          <a:prstGeom prst="rect">
            <a:avLst/>
          </a:prstGeom>
          <a:noFill/>
        </p:spPr>
        <p:txBody>
          <a:bodyPr wrap="square" lIns="22860" rIns="22860" tIns="22860" bIns="22860" anchor="ctr">
            <a:spAutoFit/>
          </a:bodyPr>
          <a:lstStyle/>
          <a:p>
            <a:pPr algn="l">
              <a:lnSpc>
                <a:spcPct val="100000"/>
              </a:lnSpc>
            </a:pPr>
            <a:r>
              <a:rPr sz="1050" b="1">
                <a:solidFill>
                  <a:srgbClr val="FFFFFF"/>
                </a:solidFill>
                <a:latin typeface="Arial"/>
              </a:rPr>
              <a:t>Compared at</a:t>
            </a:r>
          </a:p>
        </p:txBody>
      </p:sp>
      <p:sp>
        <p:nvSpPr>
          <p:cNvPr id="55" name="Rectangle 54"/>
          <p:cNvSpPr/>
          <p:nvPr/>
        </p:nvSpPr>
        <p:spPr>
          <a:xfrm>
            <a:off x="6400800" y="2464308"/>
            <a:ext cx="914400" cy="3063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ody:55"/>
          <p:cNvSpPr txBox="1"/>
          <p:nvPr/>
        </p:nvSpPr>
        <p:spPr>
          <a:xfrm>
            <a:off x="6483096" y="2464308"/>
            <a:ext cx="749808" cy="306324"/>
          </a:xfrm>
          <a:prstGeom prst="rect">
            <a:avLst/>
          </a:prstGeom>
          <a:noFill/>
        </p:spPr>
        <p:txBody>
          <a:bodyPr wrap="square" lIns="22860" rIns="22860" tIns="22860" bIns="22860" anchor="ctr">
            <a:spAutoFit/>
          </a:bodyPr>
          <a:lstStyle/>
          <a:p>
            <a:pPr algn="l">
              <a:lnSpc>
                <a:spcPct val="100000"/>
              </a:lnSpc>
            </a:pPr>
            <a:r>
              <a:rPr sz="1050" b="1">
                <a:solidFill>
                  <a:srgbClr val="22313F"/>
                </a:solidFill>
                <a:latin typeface="Arial"/>
              </a:rPr>
              <a:t>A0</a:t>
            </a:r>
          </a:p>
        </p:txBody>
      </p:sp>
      <p:sp>
        <p:nvSpPr>
          <p:cNvPr id="57" name="Rectangle 56"/>
          <p:cNvSpPr/>
          <p:nvPr/>
        </p:nvSpPr>
        <p:spPr>
          <a:xfrm>
            <a:off x="7315200" y="2464308"/>
            <a:ext cx="1920240" cy="3063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ody:57"/>
          <p:cNvSpPr txBox="1"/>
          <p:nvPr/>
        </p:nvSpPr>
        <p:spPr>
          <a:xfrm>
            <a:off x="7397496" y="2464308"/>
            <a:ext cx="1755648" cy="306324"/>
          </a:xfrm>
          <a:prstGeom prst="rect">
            <a:avLst/>
          </a:prstGeom>
          <a:noFill/>
        </p:spPr>
        <p:txBody>
          <a:bodyPr wrap="square" lIns="22860" rIns="22860" tIns="22860" bIns="22860" anchor="ctr">
            <a:spAutoFit/>
          </a:bodyPr>
          <a:lstStyle/>
          <a:p>
            <a:pPr algn="l">
              <a:lnSpc>
                <a:spcPct val="100000"/>
              </a:lnSpc>
            </a:pPr>
            <a:r>
              <a:rPr sz="1050" b="0">
                <a:solidFill>
                  <a:srgbClr val="22313F"/>
                </a:solidFill>
                <a:latin typeface="Arial"/>
              </a:rPr>
              <a:t>Original instruction</a:t>
            </a:r>
          </a:p>
        </p:txBody>
      </p:sp>
      <p:sp>
        <p:nvSpPr>
          <p:cNvPr id="59" name="Rectangle 58"/>
          <p:cNvSpPr/>
          <p:nvPr/>
        </p:nvSpPr>
        <p:spPr>
          <a:xfrm>
            <a:off x="9235440" y="2464308"/>
            <a:ext cx="2386584" cy="3063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ody:59"/>
          <p:cNvSpPr txBox="1"/>
          <p:nvPr/>
        </p:nvSpPr>
        <p:spPr>
          <a:xfrm>
            <a:off x="9317736" y="2464308"/>
            <a:ext cx="2221991" cy="306324"/>
          </a:xfrm>
          <a:prstGeom prst="rect">
            <a:avLst/>
          </a:prstGeom>
          <a:noFill/>
        </p:spPr>
        <p:txBody>
          <a:bodyPr wrap="square" lIns="22860" rIns="22860" tIns="22860" bIns="22860" anchor="ctr">
            <a:spAutoFit/>
          </a:bodyPr>
          <a:lstStyle/>
          <a:p>
            <a:pPr algn="l">
              <a:lnSpc>
                <a:spcPct val="100000"/>
              </a:lnSpc>
            </a:pPr>
            <a:r>
              <a:rPr sz="1050" b="0">
                <a:solidFill>
                  <a:srgbClr val="22313F"/>
                </a:solidFill>
                <a:latin typeface="Arial"/>
              </a:rPr>
              <a:t>reference</a:t>
            </a:r>
          </a:p>
        </p:txBody>
      </p:sp>
      <p:sp>
        <p:nvSpPr>
          <p:cNvPr id="61" name="Rectangle 60"/>
          <p:cNvSpPr/>
          <p:nvPr/>
        </p:nvSpPr>
        <p:spPr>
          <a:xfrm>
            <a:off x="6400800" y="2770632"/>
            <a:ext cx="914400" cy="306324"/>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ody:61"/>
          <p:cNvSpPr txBox="1"/>
          <p:nvPr/>
        </p:nvSpPr>
        <p:spPr>
          <a:xfrm>
            <a:off x="6483096" y="2770632"/>
            <a:ext cx="749808" cy="306324"/>
          </a:xfrm>
          <a:prstGeom prst="rect">
            <a:avLst/>
          </a:prstGeom>
          <a:noFill/>
        </p:spPr>
        <p:txBody>
          <a:bodyPr wrap="square" lIns="22860" rIns="22860" tIns="22860" bIns="22860" anchor="ctr">
            <a:spAutoFit/>
          </a:bodyPr>
          <a:lstStyle/>
          <a:p>
            <a:pPr algn="l">
              <a:lnSpc>
                <a:spcPct val="100000"/>
              </a:lnSpc>
            </a:pPr>
            <a:r>
              <a:rPr sz="1050" b="1">
                <a:solidFill>
                  <a:srgbClr val="22313F"/>
                </a:solidFill>
                <a:latin typeface="Arial"/>
              </a:rPr>
              <a:t>A1</a:t>
            </a:r>
          </a:p>
        </p:txBody>
      </p:sp>
      <p:sp>
        <p:nvSpPr>
          <p:cNvPr id="63" name="Rectangle 62"/>
          <p:cNvSpPr/>
          <p:nvPr/>
        </p:nvSpPr>
        <p:spPr>
          <a:xfrm>
            <a:off x="7315200" y="2770632"/>
            <a:ext cx="1920240" cy="306324"/>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ody:63"/>
          <p:cNvSpPr txBox="1"/>
          <p:nvPr/>
        </p:nvSpPr>
        <p:spPr>
          <a:xfrm>
            <a:off x="7397496" y="2770632"/>
            <a:ext cx="1755648" cy="306324"/>
          </a:xfrm>
          <a:prstGeom prst="rect">
            <a:avLst/>
          </a:prstGeom>
          <a:noFill/>
        </p:spPr>
        <p:txBody>
          <a:bodyPr wrap="square" lIns="22860" rIns="22860" tIns="22860" bIns="22860" anchor="ctr">
            <a:spAutoFit/>
          </a:bodyPr>
          <a:lstStyle/>
          <a:p>
            <a:pPr algn="l">
              <a:lnSpc>
                <a:spcPct val="100000"/>
              </a:lnSpc>
            </a:pPr>
            <a:r>
              <a:rPr sz="1050" b="0">
                <a:solidFill>
                  <a:srgbClr val="22313F"/>
                </a:solidFill>
                <a:latin typeface="Arial"/>
              </a:rPr>
              <a:t>Fixed scope instruction</a:t>
            </a:r>
          </a:p>
        </p:txBody>
      </p:sp>
      <p:sp>
        <p:nvSpPr>
          <p:cNvPr id="65" name="Rectangle 64"/>
          <p:cNvSpPr/>
          <p:nvPr/>
        </p:nvSpPr>
        <p:spPr>
          <a:xfrm>
            <a:off x="9235440" y="2770632"/>
            <a:ext cx="2386584" cy="306324"/>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ody:65"/>
          <p:cNvSpPr txBox="1"/>
          <p:nvPr/>
        </p:nvSpPr>
        <p:spPr>
          <a:xfrm>
            <a:off x="9317736" y="2770632"/>
            <a:ext cx="2221991" cy="306324"/>
          </a:xfrm>
          <a:prstGeom prst="rect">
            <a:avLst/>
          </a:prstGeom>
          <a:noFill/>
        </p:spPr>
        <p:txBody>
          <a:bodyPr wrap="square" lIns="22860" rIns="22860" tIns="22860" bIns="22860" anchor="ctr">
            <a:spAutoFit/>
          </a:bodyPr>
          <a:lstStyle/>
          <a:p>
            <a:pPr algn="l">
              <a:lnSpc>
                <a:spcPct val="100000"/>
              </a:lnSpc>
            </a:pPr>
            <a:r>
              <a:rPr sz="1050" b="0">
                <a:solidFill>
                  <a:srgbClr val="22313F"/>
                </a:solidFill>
                <a:latin typeface="Arial"/>
              </a:rPr>
              <a:t>prompt</a:t>
            </a:r>
          </a:p>
        </p:txBody>
      </p:sp>
      <p:sp>
        <p:nvSpPr>
          <p:cNvPr id="67" name="Rectangle 66"/>
          <p:cNvSpPr/>
          <p:nvPr/>
        </p:nvSpPr>
        <p:spPr>
          <a:xfrm>
            <a:off x="6400800" y="3076956"/>
            <a:ext cx="914400" cy="3063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ody:67"/>
          <p:cNvSpPr txBox="1"/>
          <p:nvPr/>
        </p:nvSpPr>
        <p:spPr>
          <a:xfrm>
            <a:off x="6483096" y="3076956"/>
            <a:ext cx="749808" cy="306324"/>
          </a:xfrm>
          <a:prstGeom prst="rect">
            <a:avLst/>
          </a:prstGeom>
          <a:noFill/>
        </p:spPr>
        <p:txBody>
          <a:bodyPr wrap="square" lIns="22860" rIns="22860" tIns="22860" bIns="22860" anchor="ctr">
            <a:spAutoFit/>
          </a:bodyPr>
          <a:lstStyle/>
          <a:p>
            <a:pPr algn="l">
              <a:lnSpc>
                <a:spcPct val="100000"/>
              </a:lnSpc>
            </a:pPr>
            <a:r>
              <a:rPr sz="1050" b="1">
                <a:solidFill>
                  <a:srgbClr val="22313F"/>
                </a:solidFill>
                <a:latin typeface="Arial"/>
              </a:rPr>
              <a:t>A2</a:t>
            </a:r>
          </a:p>
        </p:txBody>
      </p:sp>
      <p:sp>
        <p:nvSpPr>
          <p:cNvPr id="69" name="Rectangle 68"/>
          <p:cNvSpPr/>
          <p:nvPr/>
        </p:nvSpPr>
        <p:spPr>
          <a:xfrm>
            <a:off x="7315200" y="3076956"/>
            <a:ext cx="1920240" cy="3063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ody:69"/>
          <p:cNvSpPr txBox="1"/>
          <p:nvPr/>
        </p:nvSpPr>
        <p:spPr>
          <a:xfrm>
            <a:off x="7397496" y="3076956"/>
            <a:ext cx="1755648" cy="306324"/>
          </a:xfrm>
          <a:prstGeom prst="rect">
            <a:avLst/>
          </a:prstGeom>
          <a:noFill/>
        </p:spPr>
        <p:txBody>
          <a:bodyPr wrap="square" lIns="22860" rIns="22860" tIns="22860" bIns="22860" anchor="ctr">
            <a:spAutoFit/>
          </a:bodyPr>
          <a:lstStyle/>
          <a:p>
            <a:pPr algn="l">
              <a:lnSpc>
                <a:spcPct val="100000"/>
              </a:lnSpc>
            </a:pPr>
            <a:r>
              <a:rPr sz="1050" b="0">
                <a:solidFill>
                  <a:srgbClr val="22313F"/>
                </a:solidFill>
                <a:latin typeface="Arial"/>
              </a:rPr>
              <a:t>Stop-or-ask instruction</a:t>
            </a:r>
          </a:p>
        </p:txBody>
      </p:sp>
      <p:sp>
        <p:nvSpPr>
          <p:cNvPr id="71" name="Rectangle 70"/>
          <p:cNvSpPr/>
          <p:nvPr/>
        </p:nvSpPr>
        <p:spPr>
          <a:xfrm>
            <a:off x="9235440" y="3076956"/>
            <a:ext cx="2386584" cy="3063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ody:71"/>
          <p:cNvSpPr txBox="1"/>
          <p:nvPr/>
        </p:nvSpPr>
        <p:spPr>
          <a:xfrm>
            <a:off x="9317736" y="3076956"/>
            <a:ext cx="2221991" cy="306324"/>
          </a:xfrm>
          <a:prstGeom prst="rect">
            <a:avLst/>
          </a:prstGeom>
          <a:noFill/>
        </p:spPr>
        <p:txBody>
          <a:bodyPr wrap="square" lIns="22860" rIns="22860" tIns="22860" bIns="22860" anchor="ctr">
            <a:spAutoFit/>
          </a:bodyPr>
          <a:lstStyle/>
          <a:p>
            <a:pPr algn="l">
              <a:lnSpc>
                <a:spcPct val="100000"/>
              </a:lnSpc>
            </a:pPr>
            <a:r>
              <a:rPr sz="1050" b="0">
                <a:solidFill>
                  <a:srgbClr val="22313F"/>
                </a:solidFill>
                <a:latin typeface="Arial"/>
              </a:rPr>
              <a:t>prompt</a:t>
            </a:r>
          </a:p>
        </p:txBody>
      </p:sp>
      <p:sp>
        <p:nvSpPr>
          <p:cNvPr id="73" name="Rectangle 72"/>
          <p:cNvSpPr/>
          <p:nvPr/>
        </p:nvSpPr>
        <p:spPr>
          <a:xfrm>
            <a:off x="6400800" y="3383279"/>
            <a:ext cx="914400" cy="306324"/>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ody:73"/>
          <p:cNvSpPr txBox="1"/>
          <p:nvPr/>
        </p:nvSpPr>
        <p:spPr>
          <a:xfrm>
            <a:off x="6483096" y="3383279"/>
            <a:ext cx="749808" cy="306324"/>
          </a:xfrm>
          <a:prstGeom prst="rect">
            <a:avLst/>
          </a:prstGeom>
          <a:noFill/>
        </p:spPr>
        <p:txBody>
          <a:bodyPr wrap="square" lIns="22860" rIns="22860" tIns="22860" bIns="22860" anchor="ctr">
            <a:spAutoFit/>
          </a:bodyPr>
          <a:lstStyle/>
          <a:p>
            <a:pPr algn="l">
              <a:lnSpc>
                <a:spcPct val="100000"/>
              </a:lnSpc>
            </a:pPr>
            <a:r>
              <a:rPr sz="1050" b="1">
                <a:solidFill>
                  <a:srgbClr val="22313F"/>
                </a:solidFill>
                <a:latin typeface="Arial"/>
              </a:rPr>
              <a:t>A3</a:t>
            </a:r>
          </a:p>
        </p:txBody>
      </p:sp>
      <p:sp>
        <p:nvSpPr>
          <p:cNvPr id="75" name="Rectangle 74"/>
          <p:cNvSpPr/>
          <p:nvPr/>
        </p:nvSpPr>
        <p:spPr>
          <a:xfrm>
            <a:off x="7315200" y="3383279"/>
            <a:ext cx="1920240" cy="306324"/>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ody:75"/>
          <p:cNvSpPr txBox="1"/>
          <p:nvPr/>
        </p:nvSpPr>
        <p:spPr>
          <a:xfrm>
            <a:off x="7397496" y="3383279"/>
            <a:ext cx="1755648" cy="306324"/>
          </a:xfrm>
          <a:prstGeom prst="rect">
            <a:avLst/>
          </a:prstGeom>
          <a:noFill/>
        </p:spPr>
        <p:txBody>
          <a:bodyPr wrap="square" lIns="22860" rIns="22860" tIns="22860" bIns="22860" anchor="ctr">
            <a:spAutoFit/>
          </a:bodyPr>
          <a:lstStyle/>
          <a:p>
            <a:pPr algn="l">
              <a:lnSpc>
                <a:spcPct val="100000"/>
              </a:lnSpc>
            </a:pPr>
            <a:r>
              <a:rPr sz="1050" b="0">
                <a:solidFill>
                  <a:srgbClr val="22313F"/>
                </a:solidFill>
                <a:latin typeface="Arial"/>
              </a:rPr>
              <a:t>Broker allowlist (Progent / CaMeL-style)</a:t>
            </a:r>
          </a:p>
        </p:txBody>
      </p:sp>
      <p:sp>
        <p:nvSpPr>
          <p:cNvPr id="77" name="Rectangle 76"/>
          <p:cNvSpPr/>
          <p:nvPr/>
        </p:nvSpPr>
        <p:spPr>
          <a:xfrm>
            <a:off x="9235440" y="3383279"/>
            <a:ext cx="2386584" cy="306324"/>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ody:77"/>
          <p:cNvSpPr txBox="1"/>
          <p:nvPr/>
        </p:nvSpPr>
        <p:spPr>
          <a:xfrm>
            <a:off x="9317736" y="3383279"/>
            <a:ext cx="2221991" cy="306324"/>
          </a:xfrm>
          <a:prstGeom prst="rect">
            <a:avLst/>
          </a:prstGeom>
          <a:noFill/>
        </p:spPr>
        <p:txBody>
          <a:bodyPr wrap="square" lIns="22860" rIns="22860" tIns="22860" bIns="22860" anchor="ctr">
            <a:spAutoFit/>
          </a:bodyPr>
          <a:lstStyle/>
          <a:p>
            <a:pPr algn="l">
              <a:lnSpc>
                <a:spcPct val="100000"/>
              </a:lnSpc>
            </a:pPr>
            <a:r>
              <a:rPr sz="1050" b="0">
                <a:solidFill>
                  <a:srgbClr val="22313F"/>
                </a:solidFill>
                <a:latin typeface="Arial"/>
              </a:rPr>
              <a:t>check</a:t>
            </a:r>
          </a:p>
        </p:txBody>
      </p:sp>
      <p:sp>
        <p:nvSpPr>
          <p:cNvPr id="79" name="Rectangle 78"/>
          <p:cNvSpPr/>
          <p:nvPr/>
        </p:nvSpPr>
        <p:spPr>
          <a:xfrm>
            <a:off x="6400800" y="3689604"/>
            <a:ext cx="914400" cy="3063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ody:79"/>
          <p:cNvSpPr txBox="1"/>
          <p:nvPr/>
        </p:nvSpPr>
        <p:spPr>
          <a:xfrm>
            <a:off x="6483096" y="3689604"/>
            <a:ext cx="749808" cy="306324"/>
          </a:xfrm>
          <a:prstGeom prst="rect">
            <a:avLst/>
          </a:prstGeom>
          <a:noFill/>
        </p:spPr>
        <p:txBody>
          <a:bodyPr wrap="square" lIns="22860" rIns="22860" tIns="22860" bIns="22860" anchor="ctr">
            <a:spAutoFit/>
          </a:bodyPr>
          <a:lstStyle/>
          <a:p>
            <a:pPr algn="l">
              <a:lnSpc>
                <a:spcPct val="100000"/>
              </a:lnSpc>
            </a:pPr>
            <a:r>
              <a:rPr sz="1050" b="1">
                <a:solidFill>
                  <a:srgbClr val="22313F"/>
                </a:solidFill>
                <a:latin typeface="Arial"/>
              </a:rPr>
              <a:t>A4</a:t>
            </a:r>
          </a:p>
        </p:txBody>
      </p:sp>
      <p:sp>
        <p:nvSpPr>
          <p:cNvPr id="81" name="Rectangle 80"/>
          <p:cNvSpPr/>
          <p:nvPr/>
        </p:nvSpPr>
        <p:spPr>
          <a:xfrm>
            <a:off x="7315200" y="3689604"/>
            <a:ext cx="1920240" cy="3063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ody:81"/>
          <p:cNvSpPr txBox="1"/>
          <p:nvPr/>
        </p:nvSpPr>
        <p:spPr>
          <a:xfrm>
            <a:off x="7397496" y="3689604"/>
            <a:ext cx="1755648" cy="306324"/>
          </a:xfrm>
          <a:prstGeom prst="rect">
            <a:avLst/>
          </a:prstGeom>
          <a:noFill/>
        </p:spPr>
        <p:txBody>
          <a:bodyPr wrap="square" lIns="22860" rIns="22860" tIns="22860" bIns="22860" anchor="ctr">
            <a:spAutoFit/>
          </a:bodyPr>
          <a:lstStyle/>
          <a:p>
            <a:pPr algn="l">
              <a:lnSpc>
                <a:spcPct val="100000"/>
              </a:lnSpc>
            </a:pPr>
            <a:r>
              <a:rPr sz="1050" b="0">
                <a:solidFill>
                  <a:srgbClr val="22313F"/>
                </a:solidFill>
                <a:latin typeface="Arial"/>
              </a:rPr>
              <a:t>Trusted monitor + defer-to-stop</a:t>
            </a:r>
          </a:p>
        </p:txBody>
      </p:sp>
      <p:sp>
        <p:nvSpPr>
          <p:cNvPr id="83" name="Rectangle 82"/>
          <p:cNvSpPr/>
          <p:nvPr/>
        </p:nvSpPr>
        <p:spPr>
          <a:xfrm>
            <a:off x="9235440" y="3689604"/>
            <a:ext cx="2386584" cy="3063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body:83"/>
          <p:cNvSpPr txBox="1"/>
          <p:nvPr/>
        </p:nvSpPr>
        <p:spPr>
          <a:xfrm>
            <a:off x="9317736" y="3689604"/>
            <a:ext cx="2221991" cy="306324"/>
          </a:xfrm>
          <a:prstGeom prst="rect">
            <a:avLst/>
          </a:prstGeom>
          <a:noFill/>
        </p:spPr>
        <p:txBody>
          <a:bodyPr wrap="square" lIns="22860" rIns="22860" tIns="22860" bIns="22860" anchor="ctr">
            <a:spAutoFit/>
          </a:bodyPr>
          <a:lstStyle/>
          <a:p>
            <a:pPr algn="l">
              <a:lnSpc>
                <a:spcPct val="100000"/>
              </a:lnSpc>
            </a:pPr>
            <a:r>
              <a:rPr sz="1050" b="0">
                <a:solidFill>
                  <a:srgbClr val="22313F"/>
                </a:solidFill>
                <a:latin typeface="Arial"/>
              </a:rPr>
              <a:t>check</a:t>
            </a:r>
          </a:p>
        </p:txBody>
      </p:sp>
      <p:sp>
        <p:nvSpPr>
          <p:cNvPr id="85" name="Rectangle 84"/>
          <p:cNvSpPr/>
          <p:nvPr/>
        </p:nvSpPr>
        <p:spPr>
          <a:xfrm>
            <a:off x="6400800" y="3995928"/>
            <a:ext cx="914400" cy="306324"/>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ody:85"/>
          <p:cNvSpPr txBox="1"/>
          <p:nvPr/>
        </p:nvSpPr>
        <p:spPr>
          <a:xfrm>
            <a:off x="6483096" y="3995928"/>
            <a:ext cx="749808" cy="306324"/>
          </a:xfrm>
          <a:prstGeom prst="rect">
            <a:avLst/>
          </a:prstGeom>
          <a:noFill/>
        </p:spPr>
        <p:txBody>
          <a:bodyPr wrap="square" lIns="22860" rIns="22860" tIns="22860" bIns="22860" anchor="ctr">
            <a:spAutoFit/>
          </a:bodyPr>
          <a:lstStyle/>
          <a:p>
            <a:pPr algn="l">
              <a:lnSpc>
                <a:spcPct val="100000"/>
              </a:lnSpc>
            </a:pPr>
            <a:r>
              <a:rPr sz="1050" b="1">
                <a:solidFill>
                  <a:srgbClr val="22313F"/>
                </a:solidFill>
                <a:latin typeface="Arial"/>
              </a:rPr>
              <a:t>A5</a:t>
            </a:r>
          </a:p>
        </p:txBody>
      </p:sp>
      <p:sp>
        <p:nvSpPr>
          <p:cNvPr id="87" name="Rectangle 86"/>
          <p:cNvSpPr/>
          <p:nvPr/>
        </p:nvSpPr>
        <p:spPr>
          <a:xfrm>
            <a:off x="7315200" y="3995928"/>
            <a:ext cx="1920240" cy="306324"/>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body:87"/>
          <p:cNvSpPr txBox="1"/>
          <p:nvPr/>
        </p:nvSpPr>
        <p:spPr>
          <a:xfrm>
            <a:off x="7397496" y="3995928"/>
            <a:ext cx="1755648" cy="306324"/>
          </a:xfrm>
          <a:prstGeom prst="rect">
            <a:avLst/>
          </a:prstGeom>
          <a:noFill/>
        </p:spPr>
        <p:txBody>
          <a:bodyPr wrap="square" lIns="22860" rIns="22860" tIns="22860" bIns="22860" anchor="ctr">
            <a:spAutoFit/>
          </a:bodyPr>
          <a:lstStyle/>
          <a:p>
            <a:pPr algn="l">
              <a:lnSpc>
                <a:spcPct val="100000"/>
              </a:lnSpc>
            </a:pPr>
            <a:r>
              <a:rPr sz="1050" b="0">
                <a:solidFill>
                  <a:srgbClr val="22313F"/>
                </a:solidFill>
                <a:latin typeface="Arial"/>
              </a:rPr>
              <a:t>Algorithm A, unbrokered</a:t>
            </a:r>
          </a:p>
        </p:txBody>
      </p:sp>
      <p:sp>
        <p:nvSpPr>
          <p:cNvPr id="89" name="Rectangle 88"/>
          <p:cNvSpPr/>
          <p:nvPr/>
        </p:nvSpPr>
        <p:spPr>
          <a:xfrm>
            <a:off x="9235440" y="3995928"/>
            <a:ext cx="2386584" cy="306324"/>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body:89"/>
          <p:cNvSpPr txBox="1"/>
          <p:nvPr/>
        </p:nvSpPr>
        <p:spPr>
          <a:xfrm>
            <a:off x="9317736" y="3995928"/>
            <a:ext cx="2221991" cy="306324"/>
          </a:xfrm>
          <a:prstGeom prst="rect">
            <a:avLst/>
          </a:prstGeom>
          <a:noFill/>
        </p:spPr>
        <p:txBody>
          <a:bodyPr wrap="square" lIns="22860" rIns="22860" tIns="22860" bIns="22860" anchor="ctr">
            <a:spAutoFit/>
          </a:bodyPr>
          <a:lstStyle/>
          <a:p>
            <a:pPr algn="l">
              <a:lnSpc>
                <a:spcPct val="100000"/>
              </a:lnSpc>
            </a:pPr>
            <a:r>
              <a:rPr sz="1050" b="0">
                <a:solidFill>
                  <a:srgbClr val="22313F"/>
                </a:solidFill>
                <a:latin typeface="Arial"/>
              </a:rPr>
              <a:t>propose</a:t>
            </a:r>
          </a:p>
        </p:txBody>
      </p:sp>
      <p:sp>
        <p:nvSpPr>
          <p:cNvPr id="91" name="Rectangle 90"/>
          <p:cNvSpPr/>
          <p:nvPr/>
        </p:nvSpPr>
        <p:spPr>
          <a:xfrm>
            <a:off x="6400800" y="4302252"/>
            <a:ext cx="914400" cy="3063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body:91"/>
          <p:cNvSpPr txBox="1"/>
          <p:nvPr/>
        </p:nvSpPr>
        <p:spPr>
          <a:xfrm>
            <a:off x="6483096" y="4302252"/>
            <a:ext cx="749808" cy="306324"/>
          </a:xfrm>
          <a:prstGeom prst="rect">
            <a:avLst/>
          </a:prstGeom>
          <a:noFill/>
        </p:spPr>
        <p:txBody>
          <a:bodyPr wrap="square" lIns="22860" rIns="22860" tIns="22860" bIns="22860" anchor="ctr">
            <a:spAutoFit/>
          </a:bodyPr>
          <a:lstStyle/>
          <a:p>
            <a:pPr algn="l">
              <a:lnSpc>
                <a:spcPct val="100000"/>
              </a:lnSpc>
            </a:pPr>
            <a:r>
              <a:rPr sz="1050" b="1">
                <a:solidFill>
                  <a:srgbClr val="22313F"/>
                </a:solidFill>
                <a:latin typeface="Arial"/>
              </a:rPr>
              <a:t>A6</a:t>
            </a:r>
          </a:p>
        </p:txBody>
      </p:sp>
      <p:sp>
        <p:nvSpPr>
          <p:cNvPr id="93" name="Rectangle 92"/>
          <p:cNvSpPr/>
          <p:nvPr/>
        </p:nvSpPr>
        <p:spPr>
          <a:xfrm>
            <a:off x="7315200" y="4302252"/>
            <a:ext cx="1920240" cy="3063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body:93"/>
          <p:cNvSpPr txBox="1"/>
          <p:nvPr/>
        </p:nvSpPr>
        <p:spPr>
          <a:xfrm>
            <a:off x="7397496" y="4302252"/>
            <a:ext cx="1755648" cy="306324"/>
          </a:xfrm>
          <a:prstGeom prst="rect">
            <a:avLst/>
          </a:prstGeom>
          <a:noFill/>
        </p:spPr>
        <p:txBody>
          <a:bodyPr wrap="square" lIns="22860" rIns="22860" tIns="22860" bIns="22860" anchor="ctr">
            <a:spAutoFit/>
          </a:bodyPr>
          <a:lstStyle/>
          <a:p>
            <a:pPr algn="l">
              <a:lnSpc>
                <a:spcPct val="100000"/>
              </a:lnSpc>
            </a:pPr>
            <a:r>
              <a:rPr sz="1050" b="0">
                <a:solidFill>
                  <a:srgbClr val="22313F"/>
                </a:solidFill>
                <a:latin typeface="Arial"/>
              </a:rPr>
              <a:t>Algorithm A + broker</a:t>
            </a:r>
          </a:p>
        </p:txBody>
      </p:sp>
      <p:sp>
        <p:nvSpPr>
          <p:cNvPr id="95" name="Rectangle 94"/>
          <p:cNvSpPr/>
          <p:nvPr/>
        </p:nvSpPr>
        <p:spPr>
          <a:xfrm>
            <a:off x="9235440" y="4302252"/>
            <a:ext cx="2386584" cy="3063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body:95"/>
          <p:cNvSpPr txBox="1"/>
          <p:nvPr/>
        </p:nvSpPr>
        <p:spPr>
          <a:xfrm>
            <a:off x="9317736" y="4302252"/>
            <a:ext cx="2221991" cy="306324"/>
          </a:xfrm>
          <a:prstGeom prst="rect">
            <a:avLst/>
          </a:prstGeom>
          <a:noFill/>
        </p:spPr>
        <p:txBody>
          <a:bodyPr wrap="square" lIns="22860" rIns="22860" tIns="22860" bIns="22860" anchor="ctr">
            <a:spAutoFit/>
          </a:bodyPr>
          <a:lstStyle/>
          <a:p>
            <a:pPr algn="l">
              <a:lnSpc>
                <a:spcPct val="100000"/>
              </a:lnSpc>
            </a:pPr>
            <a:r>
              <a:rPr sz="1050" b="0">
                <a:solidFill>
                  <a:srgbClr val="22313F"/>
                </a:solidFill>
                <a:latin typeface="Arial"/>
              </a:rPr>
              <a:t>propose + check</a:t>
            </a:r>
          </a:p>
        </p:txBody>
      </p:sp>
      <p:sp>
        <p:nvSpPr>
          <p:cNvPr id="97" name="Rectangle 96"/>
          <p:cNvSpPr/>
          <p:nvPr/>
        </p:nvSpPr>
        <p:spPr>
          <a:xfrm>
            <a:off x="566928" y="5029200"/>
            <a:ext cx="11055096" cy="530352"/>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body:97"/>
          <p:cNvSpPr txBox="1"/>
          <p:nvPr/>
        </p:nvSpPr>
        <p:spPr>
          <a:xfrm>
            <a:off x="749808" y="5056632"/>
            <a:ext cx="10689336" cy="475488"/>
          </a:xfrm>
          <a:prstGeom prst="rect">
            <a:avLst/>
          </a:prstGeom>
          <a:noFill/>
        </p:spPr>
        <p:txBody>
          <a:bodyPr wrap="square" lIns="22860" rIns="22860" tIns="22860" bIns="22860" anchor="ctr">
            <a:spAutoFit/>
          </a:bodyPr>
          <a:lstStyle/>
          <a:p>
            <a:pPr algn="l">
              <a:lnSpc>
                <a:spcPct val="105000"/>
              </a:lnSpc>
            </a:pPr>
            <a:r>
              <a:rPr sz="1100" b="0">
                <a:solidFill>
                  <a:srgbClr val="22313F"/>
                </a:solidFill>
                <a:latin typeface="Arial"/>
              </a:rPr>
              <a:t>Pilot: 2 repair × 2 grant × 2 task families × 7 arms × 12 lineages = 672 rollouts per model. Endpoints per run: executed effect, attempted violation, authorized completion, false stop, probes, requests, cost, unknown.</a:t>
            </a:r>
          </a:p>
        </p:txBody>
      </p:sp>
      <p:sp>
        <p:nvSpPr>
          <p:cNvPr id="99" name="Rounded Rectangle 98"/>
          <p:cNvSpPr/>
          <p:nvPr/>
        </p:nvSpPr>
        <p:spPr>
          <a:xfrm>
            <a:off x="566928" y="5715000"/>
            <a:ext cx="11055096" cy="548640"/>
          </a:xfrm>
          <a:prstGeom prst="roundRect">
            <a:avLst>
              <a:gd name="adj" fmla="val 5000"/>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body:99"/>
          <p:cNvSpPr txBox="1"/>
          <p:nvPr/>
        </p:nvSpPr>
        <p:spPr>
          <a:xfrm>
            <a:off x="768096" y="5742432"/>
            <a:ext cx="10652760" cy="493776"/>
          </a:xfrm>
          <a:prstGeom prst="rect">
            <a:avLst/>
          </a:prstGeom>
          <a:noFill/>
        </p:spPr>
        <p:txBody>
          <a:bodyPr wrap="square" lIns="22860" rIns="22860" tIns="22860" bIns="22860" anchor="ctr">
            <a:spAutoFit/>
          </a:bodyPr>
          <a:lstStyle/>
          <a:p>
            <a:pPr algn="l">
              <a:lnSpc>
                <a:spcPct val="108000"/>
              </a:lnSpc>
            </a:pPr>
            <a:r>
              <a:rPr sz="1600" b="1">
                <a:solidFill>
                  <a:srgbClr val="FFFFFF"/>
                </a:solidFill>
                <a:latin typeface="Arial"/>
              </a:rPr>
              <a:t>When permission changes, the next action should change even if access does not. Attempts and effects are counted apart.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label:2"/>
          <p:cNvSpPr txBox="1"/>
          <p:nvPr/>
        </p:nvSpPr>
        <p:spPr>
          <a:xfrm>
            <a:off x="566928" y="365760"/>
            <a:ext cx="10058400" cy="420624"/>
          </a:xfrm>
          <a:prstGeom prst="rect">
            <a:avLst/>
          </a:prstGeom>
          <a:noFill/>
        </p:spPr>
        <p:txBody>
          <a:bodyPr wrap="square" lIns="22860" rIns="22860" tIns="22860" bIns="22860" anchor="ctr">
            <a:spAutoFit/>
          </a:bodyPr>
          <a:lstStyle/>
          <a:p>
            <a:pPr algn="l">
              <a:lnSpc>
                <a:spcPct val="108000"/>
              </a:lnSpc>
            </a:pPr>
            <a:r>
              <a:rPr sz="1100" b="1">
                <a:solidFill>
                  <a:srgbClr val="1E7A72"/>
                </a:solidFill>
                <a:latin typeface="Arial"/>
              </a:rPr>
              <a:t>18 / EXPERIMENT 3 · SELECTION CONTRAST</a:t>
            </a:r>
          </a:p>
        </p:txBody>
      </p:sp>
      <p:sp>
        <p:nvSpPr>
          <p:cNvPr id="4" name="title:3"/>
          <p:cNvSpPr txBox="1"/>
          <p:nvPr/>
        </p:nvSpPr>
        <p:spPr>
          <a:xfrm>
            <a:off x="566928" y="786384"/>
            <a:ext cx="11055096" cy="804672"/>
          </a:xfrm>
          <a:prstGeom prst="rect">
            <a:avLst/>
          </a:prstGeom>
          <a:noFill/>
        </p:spPr>
        <p:txBody>
          <a:bodyPr wrap="square" lIns="22860" rIns="22860" tIns="22860" bIns="22860" anchor="ctr">
            <a:spAutoFit/>
          </a:bodyPr>
          <a:lstStyle/>
          <a:p>
            <a:pPr algn="l">
              <a:lnSpc>
                <a:spcPct val="105000"/>
              </a:lnSpc>
            </a:pPr>
            <a:r>
              <a:rPr sz="2600" b="1">
                <a:solidFill>
                  <a:srgbClr val="172D46"/>
                </a:solidFill>
                <a:latin typeface="Arial"/>
              </a:rPr>
              <a:t>E3: does incident feedback select a better policy on fresh tasks?</a:t>
            </a:r>
          </a:p>
        </p:txBody>
      </p:sp>
      <p:sp>
        <p:nvSpPr>
          <p:cNvPr id="5" name="Rectangle 4"/>
          <p:cNvSpPr/>
          <p:nvPr/>
        </p:nvSpPr>
        <p:spPr>
          <a:xfrm>
            <a:off x="566928" y="1609344"/>
            <a:ext cx="868680" cy="4572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ubtitle:5"/>
          <p:cNvSpPr txBox="1"/>
          <p:nvPr/>
        </p:nvSpPr>
        <p:spPr>
          <a:xfrm>
            <a:off x="585216" y="1682496"/>
            <a:ext cx="11055096" cy="457200"/>
          </a:xfrm>
          <a:prstGeom prst="rect">
            <a:avLst/>
          </a:prstGeom>
          <a:noFill/>
        </p:spPr>
        <p:txBody>
          <a:bodyPr wrap="square" lIns="22860" rIns="22860" tIns="22860" bIns="22860" anchor="ctr">
            <a:spAutoFit/>
          </a:bodyPr>
          <a:lstStyle/>
          <a:p>
            <a:pPr algn="l">
              <a:lnSpc>
                <a:spcPct val="105000"/>
              </a:lnSpc>
            </a:pPr>
            <a:r>
              <a:rPr sz="1400" b="0">
                <a:solidFill>
                  <a:srgbClr val="5F6E80"/>
                </a:solidFill>
                <a:latin typeface="Arial"/>
              </a:rPr>
              <a:t>Shared development pool; selections by T, T+J and J*; frozen policies evaluated on untouched lineages with one common observer.</a:t>
            </a:r>
          </a:p>
        </p:txBody>
      </p:sp>
      <p:sp>
        <p:nvSpPr>
          <p:cNvPr id="7" name="source:6"/>
          <p:cNvSpPr txBox="1"/>
          <p:nvPr/>
        </p:nvSpPr>
        <p:spPr>
          <a:xfrm>
            <a:off x="566928" y="6400800"/>
            <a:ext cx="1033272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rPr>
              <a:t> </a:t>
            </a:r>
          </a:p>
        </p:txBody>
      </p:sp>
      <p:sp>
        <p:nvSpPr>
          <p:cNvPr id="8" name="source:7"/>
          <p:cNvSpPr txBox="1"/>
          <p:nvPr/>
        </p:nvSpPr>
        <p:spPr>
          <a:xfrm>
            <a:off x="10927080" y="6364224"/>
            <a:ext cx="694944" cy="265176"/>
          </a:xfrm>
          <a:prstGeom prst="rect">
            <a:avLst/>
          </a:prstGeom>
          <a:noFill/>
        </p:spPr>
        <p:txBody>
          <a:bodyPr wrap="square" lIns="22860" rIns="22860" tIns="22860" bIns="22860" anchor="ctr">
            <a:spAutoFit/>
          </a:bodyPr>
          <a:lstStyle/>
          <a:p>
            <a:pPr algn="ctr">
              <a:lnSpc>
                <a:spcPct val="108000"/>
              </a:lnSpc>
            </a:pPr>
            <a:r>
              <a:rPr sz="1000" b="1">
                <a:solidFill>
                  <a:srgbClr val="5F6E80"/>
                </a:solidFill>
                <a:latin typeface="Arial"/>
              </a:rPr>
              <a:t>20 / 22</a:t>
            </a:r>
          </a:p>
        </p:txBody>
      </p:sp>
      <p:sp>
        <p:nvSpPr>
          <p:cNvPr id="9" name="Rectangle 8"/>
          <p:cNvSpPr/>
          <p:nvPr/>
        </p:nvSpPr>
        <p:spPr>
          <a:xfrm>
            <a:off x="56692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7151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57609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80675"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8525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8984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9442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99005"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0358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0817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1275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17336"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2191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26501"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63108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35666"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4024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44831"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4941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153996"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658578"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16316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104120" y="365760"/>
            <a:ext cx="1517904" cy="274320"/>
          </a:xfrm>
          <a:prstGeom prst="roundRect">
            <a:avLst>
              <a:gd name="adj" fmla="val 5000"/>
            </a:avLst>
          </a:prstGeom>
          <a:solidFill>
            <a:srgbClr val="F8E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31"/>
          <p:cNvSpPr txBox="1"/>
          <p:nvPr/>
        </p:nvSpPr>
        <p:spPr>
          <a:xfrm>
            <a:off x="10158984" y="365760"/>
            <a:ext cx="1408176" cy="274320"/>
          </a:xfrm>
          <a:prstGeom prst="rect">
            <a:avLst/>
          </a:prstGeom>
          <a:noFill/>
        </p:spPr>
        <p:txBody>
          <a:bodyPr wrap="square" lIns="22860" rIns="22860" tIns="22860" bIns="22860" anchor="ctr">
            <a:spAutoFit/>
          </a:bodyPr>
          <a:lstStyle/>
          <a:p>
            <a:pPr algn="ctr">
              <a:lnSpc>
                <a:spcPct val="108000"/>
              </a:lnSpc>
            </a:pPr>
            <a:r>
              <a:rPr sz="1000" b="1">
                <a:solidFill>
                  <a:srgbClr val="B4602E"/>
                </a:solidFill>
                <a:latin typeface="Arial"/>
              </a:rPr>
              <a:t>PROPOSED</a:t>
            </a:r>
          </a:p>
        </p:txBody>
      </p:sp>
      <p:sp>
        <p:nvSpPr>
          <p:cNvPr id="33" name="source:32"/>
          <p:cNvSpPr txBox="1"/>
          <p:nvPr/>
        </p:nvSpPr>
        <p:spPr>
          <a:xfrm>
            <a:off x="566928" y="6400800"/>
            <a:ext cx="237744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2"/>
              </a:rPr>
              <a:t>Matched selection protocol</a:t>
            </a:r>
          </a:p>
        </p:txBody>
      </p:sp>
      <p:sp>
        <p:nvSpPr>
          <p:cNvPr id="34" name="source:33"/>
          <p:cNvSpPr txBox="1"/>
          <p:nvPr/>
        </p:nvSpPr>
        <p:spPr>
          <a:xfrm>
            <a:off x="3090672" y="6400800"/>
            <a:ext cx="292608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3"/>
              </a:rPr>
              <a:t>Why the current judge is not a gate</a:t>
            </a:r>
          </a:p>
        </p:txBody>
      </p:sp>
      <p:sp>
        <p:nvSpPr>
          <p:cNvPr id="35" name="source:34"/>
          <p:cNvSpPr txBox="1"/>
          <p:nvPr/>
        </p:nvSpPr>
        <p:spPr>
          <a:xfrm>
            <a:off x="6163056" y="6400800"/>
            <a:ext cx="182880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4"/>
              </a:rPr>
              <a:t>Archived evidence</a:t>
            </a:r>
          </a:p>
        </p:txBody>
      </p:sp>
      <p:sp>
        <p:nvSpPr>
          <p:cNvPr id="36" name="body:35"/>
          <p:cNvSpPr txBox="1"/>
          <p:nvPr/>
        </p:nvSpPr>
        <p:spPr>
          <a:xfrm>
            <a:off x="566928" y="2157984"/>
            <a:ext cx="5486400" cy="310896"/>
          </a:xfrm>
          <a:prstGeom prst="rect">
            <a:avLst/>
          </a:prstGeom>
          <a:noFill/>
        </p:spPr>
        <p:txBody>
          <a:bodyPr wrap="square" lIns="22860" rIns="22860" tIns="22860" bIns="22860" anchor="ctr">
            <a:spAutoFit/>
          </a:bodyPr>
          <a:lstStyle/>
          <a:p>
            <a:pPr algn="l">
              <a:lnSpc>
                <a:spcPct val="108000"/>
              </a:lnSpc>
            </a:pPr>
            <a:r>
              <a:rPr sz="1400" b="1">
                <a:solidFill>
                  <a:srgbClr val="172D46"/>
                </a:solidFill>
                <a:latin typeface="Arial"/>
              </a:rPr>
              <a:t>Evidence we already have: the measurement problem</a:t>
            </a:r>
          </a:p>
        </p:txBody>
      </p:sp>
      <p:sp>
        <p:nvSpPr>
          <p:cNvPr id="37" name="body:36"/>
          <p:cNvSpPr txBox="1"/>
          <p:nvPr/>
        </p:nvSpPr>
        <p:spPr>
          <a:xfrm>
            <a:off x="1965960" y="2523744"/>
            <a:ext cx="1600200" cy="237744"/>
          </a:xfrm>
          <a:prstGeom prst="rect">
            <a:avLst/>
          </a:prstGeom>
          <a:noFill/>
        </p:spPr>
        <p:txBody>
          <a:bodyPr wrap="square" lIns="22860" rIns="22860" tIns="22860" bIns="22860" anchor="ctr">
            <a:spAutoFit/>
          </a:bodyPr>
          <a:lstStyle/>
          <a:p>
            <a:pPr algn="l">
              <a:lnSpc>
                <a:spcPct val="108000"/>
              </a:lnSpc>
            </a:pPr>
            <a:r>
              <a:rPr sz="1100" b="1">
                <a:solidFill>
                  <a:srgbClr val="1E7A72"/>
                </a:solidFill>
                <a:latin typeface="Arial"/>
              </a:rPr>
              <a:t>NO INCIDENT</a:t>
            </a:r>
          </a:p>
        </p:txBody>
      </p:sp>
      <p:sp>
        <p:nvSpPr>
          <p:cNvPr id="38" name="body:37"/>
          <p:cNvSpPr txBox="1"/>
          <p:nvPr/>
        </p:nvSpPr>
        <p:spPr>
          <a:xfrm>
            <a:off x="3694176" y="2523744"/>
            <a:ext cx="1600200" cy="237744"/>
          </a:xfrm>
          <a:prstGeom prst="rect">
            <a:avLst/>
          </a:prstGeom>
          <a:noFill/>
        </p:spPr>
        <p:txBody>
          <a:bodyPr wrap="square" lIns="22860" rIns="22860" tIns="22860" bIns="22860" anchor="ctr">
            <a:spAutoFit/>
          </a:bodyPr>
          <a:lstStyle/>
          <a:p>
            <a:pPr algn="l">
              <a:lnSpc>
                <a:spcPct val="108000"/>
              </a:lnSpc>
            </a:pPr>
            <a:r>
              <a:rPr sz="1100" b="1">
                <a:solidFill>
                  <a:srgbClr val="B04E45"/>
                </a:solidFill>
                <a:latin typeface="Arial"/>
              </a:rPr>
              <a:t>INCIDENT</a:t>
            </a:r>
          </a:p>
        </p:txBody>
      </p:sp>
      <p:sp>
        <p:nvSpPr>
          <p:cNvPr id="39" name="body:38"/>
          <p:cNvSpPr txBox="1"/>
          <p:nvPr/>
        </p:nvSpPr>
        <p:spPr>
          <a:xfrm>
            <a:off x="566928" y="2944368"/>
            <a:ext cx="1325880" cy="402336"/>
          </a:xfrm>
          <a:prstGeom prst="rect">
            <a:avLst/>
          </a:prstGeom>
          <a:noFill/>
        </p:spPr>
        <p:txBody>
          <a:bodyPr wrap="square" lIns="22860" rIns="22860" tIns="22860" bIns="22860" anchor="ctr">
            <a:spAutoFit/>
          </a:bodyPr>
          <a:lstStyle/>
          <a:p>
            <a:pPr algn="l">
              <a:lnSpc>
                <a:spcPct val="108000"/>
              </a:lnSpc>
            </a:pPr>
            <a:r>
              <a:rPr sz="1250" b="1">
                <a:solidFill>
                  <a:srgbClr val="22313F"/>
                </a:solidFill>
                <a:latin typeface="Arial"/>
              </a:rPr>
              <a:t>Scorer pass</a:t>
            </a:r>
          </a:p>
        </p:txBody>
      </p:sp>
      <p:sp>
        <p:nvSpPr>
          <p:cNvPr id="40" name="body:39"/>
          <p:cNvSpPr txBox="1"/>
          <p:nvPr/>
        </p:nvSpPr>
        <p:spPr>
          <a:xfrm>
            <a:off x="566928" y="3749039"/>
            <a:ext cx="1325880" cy="402336"/>
          </a:xfrm>
          <a:prstGeom prst="rect">
            <a:avLst/>
          </a:prstGeom>
          <a:noFill/>
        </p:spPr>
        <p:txBody>
          <a:bodyPr wrap="square" lIns="22860" rIns="22860" tIns="22860" bIns="22860" anchor="ctr">
            <a:spAutoFit/>
          </a:bodyPr>
          <a:lstStyle/>
          <a:p>
            <a:pPr algn="l">
              <a:lnSpc>
                <a:spcPct val="108000"/>
              </a:lnSpc>
            </a:pPr>
            <a:r>
              <a:rPr sz="1250" b="1">
                <a:solidFill>
                  <a:srgbClr val="22313F"/>
                </a:solidFill>
                <a:latin typeface="Arial"/>
              </a:rPr>
              <a:t>No pass</a:t>
            </a:r>
          </a:p>
        </p:txBody>
      </p:sp>
      <p:sp>
        <p:nvSpPr>
          <p:cNvPr id="41" name="Rounded Rectangle 40"/>
          <p:cNvSpPr/>
          <p:nvPr/>
        </p:nvSpPr>
        <p:spPr>
          <a:xfrm>
            <a:off x="1965960" y="2816352"/>
            <a:ext cx="1600200" cy="658368"/>
          </a:xfrm>
          <a:prstGeom prst="roundRect">
            <a:avLst>
              <a:gd name="adj" fmla="val 5000"/>
            </a:avLst>
          </a:prstGeom>
          <a:solidFill>
            <a:srgbClr val="E1F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ody:41"/>
          <p:cNvSpPr txBox="1"/>
          <p:nvPr/>
        </p:nvSpPr>
        <p:spPr>
          <a:xfrm>
            <a:off x="1965960" y="2816352"/>
            <a:ext cx="1600200" cy="658368"/>
          </a:xfrm>
          <a:prstGeom prst="rect">
            <a:avLst/>
          </a:prstGeom>
          <a:noFill/>
        </p:spPr>
        <p:txBody>
          <a:bodyPr wrap="square" lIns="22860" rIns="22860" tIns="22860" bIns="22860" anchor="ctr">
            <a:spAutoFit/>
          </a:bodyPr>
          <a:lstStyle/>
          <a:p>
            <a:pPr algn="ctr">
              <a:lnSpc>
                <a:spcPct val="108000"/>
              </a:lnSpc>
            </a:pPr>
            <a:r>
              <a:rPr sz="2800" b="1">
                <a:solidFill>
                  <a:srgbClr val="1E7A72"/>
                </a:solidFill>
                <a:latin typeface="Arial"/>
              </a:rPr>
              <a:t>96</a:t>
            </a:r>
          </a:p>
        </p:txBody>
      </p:sp>
      <p:sp>
        <p:nvSpPr>
          <p:cNvPr id="43" name="Rounded Rectangle 42"/>
          <p:cNvSpPr/>
          <p:nvPr/>
        </p:nvSpPr>
        <p:spPr>
          <a:xfrm>
            <a:off x="3694176" y="2816352"/>
            <a:ext cx="1600200" cy="658368"/>
          </a:xfrm>
          <a:prstGeom prst="roundRect">
            <a:avLst>
              <a:gd name="adj" fmla="val 5000"/>
            </a:avLst>
          </a:prstGeom>
          <a:solidFill>
            <a:srgbClr val="F7E6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ody:43"/>
          <p:cNvSpPr txBox="1"/>
          <p:nvPr/>
        </p:nvSpPr>
        <p:spPr>
          <a:xfrm>
            <a:off x="3694176" y="2816352"/>
            <a:ext cx="1600200" cy="658368"/>
          </a:xfrm>
          <a:prstGeom prst="rect">
            <a:avLst/>
          </a:prstGeom>
          <a:noFill/>
        </p:spPr>
        <p:txBody>
          <a:bodyPr wrap="square" lIns="22860" rIns="22860" tIns="22860" bIns="22860" anchor="ctr">
            <a:spAutoFit/>
          </a:bodyPr>
          <a:lstStyle/>
          <a:p>
            <a:pPr algn="ctr">
              <a:lnSpc>
                <a:spcPct val="108000"/>
              </a:lnSpc>
            </a:pPr>
            <a:r>
              <a:rPr sz="2800" b="1">
                <a:solidFill>
                  <a:srgbClr val="B04E45"/>
                </a:solidFill>
                <a:latin typeface="Arial"/>
              </a:rPr>
              <a:t>13</a:t>
            </a:r>
          </a:p>
        </p:txBody>
      </p:sp>
      <p:sp>
        <p:nvSpPr>
          <p:cNvPr id="45" name="Rounded Rectangle 44"/>
          <p:cNvSpPr/>
          <p:nvPr/>
        </p:nvSpPr>
        <p:spPr>
          <a:xfrm>
            <a:off x="1965960" y="3621024"/>
            <a:ext cx="1600200" cy="658368"/>
          </a:xfrm>
          <a:prstGeom prst="roundRect">
            <a:avLst>
              <a:gd name="adj" fmla="val 5000"/>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ody:45"/>
          <p:cNvSpPr txBox="1"/>
          <p:nvPr/>
        </p:nvSpPr>
        <p:spPr>
          <a:xfrm>
            <a:off x="1965960" y="3621024"/>
            <a:ext cx="1600200" cy="658368"/>
          </a:xfrm>
          <a:prstGeom prst="rect">
            <a:avLst/>
          </a:prstGeom>
          <a:noFill/>
        </p:spPr>
        <p:txBody>
          <a:bodyPr wrap="square" lIns="22860" rIns="22860" tIns="22860" bIns="22860" anchor="ctr">
            <a:spAutoFit/>
          </a:bodyPr>
          <a:lstStyle/>
          <a:p>
            <a:pPr algn="ctr">
              <a:lnSpc>
                <a:spcPct val="108000"/>
              </a:lnSpc>
            </a:pPr>
            <a:r>
              <a:rPr sz="2800" b="1">
                <a:solidFill>
                  <a:srgbClr val="5F6E80"/>
                </a:solidFill>
                <a:latin typeface="Arial"/>
              </a:rPr>
              <a:t>49</a:t>
            </a:r>
          </a:p>
        </p:txBody>
      </p:sp>
      <p:sp>
        <p:nvSpPr>
          <p:cNvPr id="47" name="Rounded Rectangle 46"/>
          <p:cNvSpPr/>
          <p:nvPr/>
        </p:nvSpPr>
        <p:spPr>
          <a:xfrm>
            <a:off x="3694176" y="3621024"/>
            <a:ext cx="1600200" cy="658368"/>
          </a:xfrm>
          <a:prstGeom prst="roundRect">
            <a:avLst>
              <a:gd name="adj" fmla="val 5000"/>
            </a:avLst>
          </a:prstGeom>
          <a:solidFill>
            <a:srgbClr val="F8E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ody:47"/>
          <p:cNvSpPr txBox="1"/>
          <p:nvPr/>
        </p:nvSpPr>
        <p:spPr>
          <a:xfrm>
            <a:off x="3694176" y="3621024"/>
            <a:ext cx="1600200" cy="658368"/>
          </a:xfrm>
          <a:prstGeom prst="rect">
            <a:avLst/>
          </a:prstGeom>
          <a:noFill/>
        </p:spPr>
        <p:txBody>
          <a:bodyPr wrap="square" lIns="22860" rIns="22860" tIns="22860" bIns="22860" anchor="ctr">
            <a:spAutoFit/>
          </a:bodyPr>
          <a:lstStyle/>
          <a:p>
            <a:pPr algn="ctr">
              <a:lnSpc>
                <a:spcPct val="108000"/>
              </a:lnSpc>
            </a:pPr>
            <a:r>
              <a:rPr sz="2800" b="1">
                <a:solidFill>
                  <a:srgbClr val="B4602E"/>
                </a:solidFill>
                <a:latin typeface="Arial"/>
              </a:rPr>
              <a:t>2</a:t>
            </a:r>
          </a:p>
        </p:txBody>
      </p:sp>
      <p:sp>
        <p:nvSpPr>
          <p:cNvPr id="49" name="body:48"/>
          <p:cNvSpPr txBox="1"/>
          <p:nvPr/>
        </p:nvSpPr>
        <p:spPr>
          <a:xfrm>
            <a:off x="566928" y="4498848"/>
            <a:ext cx="5486400" cy="502920"/>
          </a:xfrm>
          <a:prstGeom prst="rect">
            <a:avLst/>
          </a:prstGeom>
          <a:noFill/>
        </p:spPr>
        <p:txBody>
          <a:bodyPr wrap="square" lIns="22860" rIns="22860" tIns="22860" bIns="22860" anchor="ctr">
            <a:spAutoFit/>
          </a:bodyPr>
          <a:lstStyle/>
          <a:p>
            <a:pPr algn="l">
              <a:lnSpc>
                <a:spcPct val="105000"/>
              </a:lnSpc>
            </a:pPr>
            <a:r>
              <a:rPr sz="1150" b="0">
                <a:solidFill>
                  <a:srgbClr val="5F6E80"/>
                </a:solidFill>
                <a:latin typeface="Arial"/>
              </a:rPr>
              <a:t>All 96 feasible controls completed within scope. 13 shortcuts passed the scorer; 2 violations never passed.</a:t>
            </a:r>
          </a:p>
        </p:txBody>
      </p:sp>
      <p:sp>
        <p:nvSpPr>
          <p:cNvPr id="50" name="Rectangle 49"/>
          <p:cNvSpPr/>
          <p:nvPr/>
        </p:nvSpPr>
        <p:spPr>
          <a:xfrm>
            <a:off x="6355080" y="2157984"/>
            <a:ext cx="5266944" cy="3383280"/>
          </a:xfrm>
          <a:prstGeom prst="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355080" y="2157984"/>
            <a:ext cx="64008" cy="3383280"/>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ody:51"/>
          <p:cNvSpPr txBox="1"/>
          <p:nvPr/>
        </p:nvSpPr>
        <p:spPr>
          <a:xfrm>
            <a:off x="6556248" y="2231136"/>
            <a:ext cx="4846320" cy="310896"/>
          </a:xfrm>
          <a:prstGeom prst="rect">
            <a:avLst/>
          </a:prstGeom>
          <a:noFill/>
        </p:spPr>
        <p:txBody>
          <a:bodyPr wrap="square" lIns="22860" rIns="22860" tIns="22860" bIns="22860" anchor="ctr">
            <a:spAutoFit/>
          </a:bodyPr>
          <a:lstStyle/>
          <a:p>
            <a:pPr algn="l">
              <a:lnSpc>
                <a:spcPct val="108000"/>
              </a:lnSpc>
            </a:pPr>
            <a:r>
              <a:rPr sz="1400" b="1">
                <a:solidFill>
                  <a:srgbClr val="6A4C93"/>
                </a:solidFill>
                <a:latin typeface="Arial"/>
              </a:rPr>
              <a:t>Protocol and decision rules</a:t>
            </a:r>
          </a:p>
        </p:txBody>
      </p:sp>
      <p:sp>
        <p:nvSpPr>
          <p:cNvPr id="53" name="body:52"/>
          <p:cNvSpPr txBox="1"/>
          <p:nvPr/>
        </p:nvSpPr>
        <p:spPr>
          <a:xfrm>
            <a:off x="6556248" y="2560320"/>
            <a:ext cx="4846320" cy="2926080"/>
          </a:xfrm>
          <a:prstGeom prst="rect">
            <a:avLst/>
          </a:prstGeom>
          <a:noFill/>
        </p:spPr>
        <p:txBody>
          <a:bodyPr wrap="square" lIns="22860" rIns="22860" tIns="22860" bIns="22860" anchor="t">
            <a:spAutoFit/>
          </a:bodyPr>
          <a:lstStyle/>
          <a:p>
            <a:pPr algn="l">
              <a:lnSpc>
                <a:spcPct val="110000"/>
              </a:lnSpc>
            </a:pPr>
            <a:r>
              <a:rPr sz="1100" b="0">
                <a:solidFill>
                  <a:srgbClr val="22313F"/>
                </a:solidFill>
                <a:latin typeface="Arial"/>
              </a:rPr>
              <a:t>1  Fix K candidates, development lineages, actor, budgets, utility and tie-breaks; one rollout set reused by all signals.</a:t>
            </a:r>
          </a:p>
          <a:p>
            <a:pPr algn="l">
              <a:lnSpc>
                <a:spcPct val="110000"/>
              </a:lnSpc>
            </a:pPr>
            <a:r>
              <a:rPr sz="1100" b="0">
                <a:solidFill>
                  <a:srgbClr val="22313F"/>
                </a:solidFill>
                <a:latin typeface="Arial"/>
              </a:rPr>
              <a:t>2  Select θ</a:t>
            </a:r>
            <a:r>
              <a:rPr sz="1100" b="0" baseline="-25000">
                <a:solidFill>
                  <a:srgbClr val="22313F"/>
                </a:solidFill>
                <a:latin typeface="Arial"/>
              </a:rPr>
              <a:t>T</a:t>
            </a:r>
            <a:r>
              <a:rPr sz="1100" b="0">
                <a:solidFill>
                  <a:srgbClr val="22313F"/>
                </a:solidFill>
                <a:latin typeface="Arial"/>
              </a:rPr>
              <a:t>, θ</a:t>
            </a:r>
            <a:r>
              <a:rPr sz="1100" b="0" baseline="-25000">
                <a:solidFill>
                  <a:srgbClr val="22313F"/>
                </a:solidFill>
                <a:latin typeface="Arial"/>
              </a:rPr>
              <a:t>T+J</a:t>
            </a:r>
            <a:r>
              <a:rPr sz="1100" b="0">
                <a:solidFill>
                  <a:srgbClr val="22313F"/>
                </a:solidFill>
                <a:latin typeface="Arial"/>
              </a:rPr>
              <a:t>, θ</a:t>
            </a:r>
            <a:r>
              <a:rPr sz="1100" b="0" baseline="-25000">
                <a:solidFill>
                  <a:srgbClr val="22313F"/>
                </a:solidFill>
                <a:latin typeface="Arial"/>
              </a:rPr>
              <a:t>J*</a:t>
            </a:r>
            <a:r>
              <a:rPr sz="1100" b="0">
                <a:solidFill>
                  <a:srgbClr val="22313F"/>
                </a:solidFill>
                <a:latin typeface="Arial"/>
              </a:rPr>
              <a:t>; freeze; repeat full selections to estimate optimizer variability.</a:t>
            </a:r>
          </a:p>
          <a:p>
            <a:pPr algn="l">
              <a:lnSpc>
                <a:spcPct val="110000"/>
              </a:lnSpc>
            </a:pPr>
            <a:r>
              <a:rPr sz="1100" b="0">
                <a:solidFill>
                  <a:srgbClr val="22313F"/>
                </a:solidFill>
                <a:latin typeface="Arial"/>
              </a:rPr>
              <a:t>3  Evaluate on fresh lineages and a disjoint task family with the effect oracle; pair by task; exact McNemar on discordant pairs.</a:t>
            </a:r>
          </a:p>
          <a:p>
            <a:pPr algn="l">
              <a:lnSpc>
                <a:spcPct val="110000"/>
              </a:lnSpc>
            </a:pPr>
            <a:r>
              <a:rPr sz="1100" b="0">
                <a:solidFill>
                  <a:srgbClr val="22313F"/>
                </a:solidFill>
                <a:latin typeface="Arial"/>
              </a:rPr>
              <a:t>4  Primary contrast θ</a:t>
            </a:r>
            <a:r>
              <a:rPr sz="1100" b="0" baseline="-25000">
                <a:solidFill>
                  <a:srgbClr val="22313F"/>
                </a:solidFill>
                <a:latin typeface="Arial"/>
              </a:rPr>
              <a:t>T+J</a:t>
            </a:r>
            <a:r>
              <a:rPr sz="1100" b="0">
                <a:solidFill>
                  <a:srgbClr val="22313F"/>
                </a:solidFill>
                <a:latin typeface="Arial"/>
              </a:rPr>
              <a:t> vs θ</a:t>
            </a:r>
            <a:r>
              <a:rPr sz="1100" b="0" baseline="-25000">
                <a:solidFill>
                  <a:srgbClr val="22313F"/>
                </a:solidFill>
                <a:latin typeface="Arial"/>
              </a:rPr>
              <a:t>T</a:t>
            </a:r>
            <a:r>
              <a:rPr sz="1100" b="0">
                <a:solidFill>
                  <a:srgbClr val="22313F"/>
                </a:solidFill>
                <a:latin typeface="Arial"/>
              </a:rPr>
              <a:t>: lower verified risk with authorized utility inside a preregistered margin.</a:t>
            </a:r>
          </a:p>
          <a:p>
            <a:pPr algn="l">
              <a:lnSpc>
                <a:spcPct val="110000"/>
              </a:lnSpc>
            </a:pPr>
            <a:r>
              <a:rPr sz="1100" b="0">
                <a:solidFill>
                  <a:srgbClr val="22313F"/>
                </a:solidFill>
                <a:latin typeface="Arial"/>
              </a:rPr>
              <a:t>5  Calibrate a repaired judge on development data only and freeze it before test collection.</a:t>
            </a:r>
          </a:p>
          <a:p>
            <a:pPr algn="l">
              <a:lnSpc>
                <a:spcPct val="110000"/>
              </a:lnSpc>
            </a:pPr>
            <a:r>
              <a:rPr sz="1100" b="0">
                <a:solidFill>
                  <a:srgbClr val="22313F"/>
                </a:solidFill>
                <a:latin typeface="Arial"/>
              </a:rPr>
              <a:t>Valid negative results: identical selections; no eligible policy; no risk reduction; utility loss beyond the margin.</a:t>
            </a:r>
          </a:p>
        </p:txBody>
      </p:sp>
      <p:sp>
        <p:nvSpPr>
          <p:cNvPr id="54" name="Rounded Rectangle 53"/>
          <p:cNvSpPr/>
          <p:nvPr/>
        </p:nvSpPr>
        <p:spPr>
          <a:xfrm>
            <a:off x="566928" y="5715000"/>
            <a:ext cx="11055096" cy="548640"/>
          </a:xfrm>
          <a:prstGeom prst="roundRect">
            <a:avLst>
              <a:gd name="adj" fmla="val 5000"/>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ody:54"/>
          <p:cNvSpPr txBox="1"/>
          <p:nvPr/>
        </p:nvSpPr>
        <p:spPr>
          <a:xfrm>
            <a:off x="768096" y="5742432"/>
            <a:ext cx="10652760" cy="493776"/>
          </a:xfrm>
          <a:prstGeom prst="rect">
            <a:avLst/>
          </a:prstGeom>
          <a:noFill/>
        </p:spPr>
        <p:txBody>
          <a:bodyPr wrap="square" lIns="22860" rIns="22860" tIns="22860" bIns="22860" anchor="ctr">
            <a:spAutoFit/>
          </a:bodyPr>
          <a:lstStyle/>
          <a:p>
            <a:pPr algn="l">
              <a:lnSpc>
                <a:spcPct val="108000"/>
              </a:lnSpc>
            </a:pPr>
            <a:r>
              <a:rPr sz="1600" b="1">
                <a:solidFill>
                  <a:srgbClr val="FFFFFF"/>
                </a:solidFill>
                <a:latin typeface="Arial"/>
              </a:rPr>
              <a:t>Falsifiers: only the broker helps; refusals explain the gain; feedback selects the same policy.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label:2"/>
          <p:cNvSpPr txBox="1"/>
          <p:nvPr/>
        </p:nvSpPr>
        <p:spPr>
          <a:xfrm>
            <a:off x="566928" y="365760"/>
            <a:ext cx="10058400" cy="420624"/>
          </a:xfrm>
          <a:prstGeom prst="rect">
            <a:avLst/>
          </a:prstGeom>
          <a:noFill/>
        </p:spPr>
        <p:txBody>
          <a:bodyPr wrap="square" lIns="22860" rIns="22860" tIns="22860" bIns="22860" anchor="ctr">
            <a:spAutoFit/>
          </a:bodyPr>
          <a:lstStyle/>
          <a:p>
            <a:pPr algn="l">
              <a:lnSpc>
                <a:spcPct val="108000"/>
              </a:lnSpc>
            </a:pPr>
            <a:r>
              <a:rPr sz="1100" b="1">
                <a:solidFill>
                  <a:srgbClr val="1E7A72"/>
                </a:solidFill>
                <a:latin typeface="Arial"/>
              </a:rPr>
              <a:t>19 / REAL-WORLD IMPLICATIONS</a:t>
            </a:r>
          </a:p>
        </p:txBody>
      </p:sp>
      <p:sp>
        <p:nvSpPr>
          <p:cNvPr id="4" name="title:3"/>
          <p:cNvSpPr txBox="1"/>
          <p:nvPr/>
        </p:nvSpPr>
        <p:spPr>
          <a:xfrm>
            <a:off x="566928" y="786384"/>
            <a:ext cx="11055096" cy="804672"/>
          </a:xfrm>
          <a:prstGeom prst="rect">
            <a:avLst/>
          </a:prstGeom>
          <a:noFill/>
        </p:spPr>
        <p:txBody>
          <a:bodyPr wrap="square" lIns="22860" rIns="22860" tIns="22860" bIns="22860" anchor="ctr">
            <a:spAutoFit/>
          </a:bodyPr>
          <a:lstStyle/>
          <a:p>
            <a:pPr algn="l">
              <a:lnSpc>
                <a:spcPct val="105000"/>
              </a:lnSpc>
            </a:pPr>
            <a:r>
              <a:rPr sz="2600" b="1">
                <a:solidFill>
                  <a:srgbClr val="172D46"/>
                </a:solidFill>
                <a:latin typeface="Arial"/>
              </a:rPr>
              <a:t>Back to the incidents: which result, which control, which test.</a:t>
            </a:r>
          </a:p>
        </p:txBody>
      </p:sp>
      <p:sp>
        <p:nvSpPr>
          <p:cNvPr id="5" name="Rectangle 4"/>
          <p:cNvSpPr/>
          <p:nvPr/>
        </p:nvSpPr>
        <p:spPr>
          <a:xfrm>
            <a:off x="566928" y="1609344"/>
            <a:ext cx="868680" cy="4572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ubtitle:5"/>
          <p:cNvSpPr txBox="1"/>
          <p:nvPr/>
        </p:nvSpPr>
        <p:spPr>
          <a:xfrm>
            <a:off x="585216" y="1682496"/>
            <a:ext cx="11055096" cy="457200"/>
          </a:xfrm>
          <a:prstGeom prst="rect">
            <a:avLst/>
          </a:prstGeom>
          <a:noFill/>
        </p:spPr>
        <p:txBody>
          <a:bodyPr wrap="square" lIns="22860" rIns="22860" tIns="22860" bIns="22860" anchor="ctr">
            <a:spAutoFit/>
          </a:bodyPr>
          <a:lstStyle/>
          <a:p>
            <a:pPr algn="l">
              <a:lnSpc>
                <a:spcPct val="105000"/>
              </a:lnSpc>
            </a:pPr>
            <a:r>
              <a:rPr sz="1400" b="0">
                <a:solidFill>
                  <a:srgbClr val="5F6E80"/>
                </a:solidFill>
                <a:latin typeface="Arial"/>
              </a:rPr>
              <a:t>Each incident family maps to one decision result, one system change, and the experiment whose outcome would support or refute it.</a:t>
            </a:r>
          </a:p>
        </p:txBody>
      </p:sp>
      <p:sp>
        <p:nvSpPr>
          <p:cNvPr id="7" name="source:6"/>
          <p:cNvSpPr txBox="1"/>
          <p:nvPr/>
        </p:nvSpPr>
        <p:spPr>
          <a:xfrm>
            <a:off x="566928" y="6400800"/>
            <a:ext cx="1033272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rPr>
              <a:t> </a:t>
            </a:r>
          </a:p>
        </p:txBody>
      </p:sp>
      <p:sp>
        <p:nvSpPr>
          <p:cNvPr id="8" name="source:7"/>
          <p:cNvSpPr txBox="1"/>
          <p:nvPr/>
        </p:nvSpPr>
        <p:spPr>
          <a:xfrm>
            <a:off x="10927080" y="6364224"/>
            <a:ext cx="694944" cy="265176"/>
          </a:xfrm>
          <a:prstGeom prst="rect">
            <a:avLst/>
          </a:prstGeom>
          <a:noFill/>
        </p:spPr>
        <p:txBody>
          <a:bodyPr wrap="square" lIns="22860" rIns="22860" tIns="22860" bIns="22860" anchor="ctr">
            <a:spAutoFit/>
          </a:bodyPr>
          <a:lstStyle/>
          <a:p>
            <a:pPr algn="ctr">
              <a:lnSpc>
                <a:spcPct val="108000"/>
              </a:lnSpc>
            </a:pPr>
            <a:r>
              <a:rPr sz="1000" b="1">
                <a:solidFill>
                  <a:srgbClr val="5F6E80"/>
                </a:solidFill>
                <a:latin typeface="Arial"/>
              </a:rPr>
              <a:t>21 / 22</a:t>
            </a:r>
          </a:p>
        </p:txBody>
      </p:sp>
      <p:sp>
        <p:nvSpPr>
          <p:cNvPr id="9" name="Rectangle 8"/>
          <p:cNvSpPr/>
          <p:nvPr/>
        </p:nvSpPr>
        <p:spPr>
          <a:xfrm>
            <a:off x="56692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7151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57609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80675"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8525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8984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9442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99005"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0358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0817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1275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17336"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2191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26501"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63108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35666"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4024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44831"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4941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153996"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65857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163161" y="6711696"/>
            <a:ext cx="458862" cy="50292"/>
          </a:xfrm>
          <a:prstGeom prst="rect">
            <a:avLst/>
          </a:prstGeom>
          <a:solidFill>
            <a:srgbClr val="D3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104120" y="365760"/>
            <a:ext cx="1517904" cy="274320"/>
          </a:xfrm>
          <a:prstGeom prst="roundRect">
            <a:avLst>
              <a:gd name="adj" fmla="val 5000"/>
            </a:avLst>
          </a:prstGeom>
          <a:solidFill>
            <a:srgbClr val="F8E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31"/>
          <p:cNvSpPr txBox="1"/>
          <p:nvPr/>
        </p:nvSpPr>
        <p:spPr>
          <a:xfrm>
            <a:off x="10158984" y="365760"/>
            <a:ext cx="1408176" cy="274320"/>
          </a:xfrm>
          <a:prstGeom prst="rect">
            <a:avLst/>
          </a:prstGeom>
          <a:noFill/>
        </p:spPr>
        <p:txBody>
          <a:bodyPr wrap="square" lIns="22860" rIns="22860" tIns="22860" bIns="22860" anchor="ctr">
            <a:spAutoFit/>
          </a:bodyPr>
          <a:lstStyle/>
          <a:p>
            <a:pPr algn="ctr">
              <a:lnSpc>
                <a:spcPct val="108000"/>
              </a:lnSpc>
            </a:pPr>
            <a:r>
              <a:rPr sz="1000" b="1">
                <a:solidFill>
                  <a:srgbClr val="B4602E"/>
                </a:solidFill>
                <a:latin typeface="Arial"/>
              </a:rPr>
              <a:t>PROPOSED</a:t>
            </a:r>
          </a:p>
        </p:txBody>
      </p:sp>
      <p:sp>
        <p:nvSpPr>
          <p:cNvPr id="33" name="source:32"/>
          <p:cNvSpPr txBox="1"/>
          <p:nvPr/>
        </p:nvSpPr>
        <p:spPr>
          <a:xfrm>
            <a:off x="566928" y="6400800"/>
            <a:ext cx="91440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2"/>
              </a:rPr>
              <a:t>Medicare</a:t>
            </a:r>
          </a:p>
        </p:txBody>
      </p:sp>
      <p:sp>
        <p:nvSpPr>
          <p:cNvPr id="34" name="source:33"/>
          <p:cNvSpPr txBox="1"/>
          <p:nvPr/>
        </p:nvSpPr>
        <p:spPr>
          <a:xfrm>
            <a:off x="1627631" y="6400800"/>
            <a:ext cx="91440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3"/>
              </a:rPr>
              <a:t>Workbook</a:t>
            </a:r>
          </a:p>
        </p:txBody>
      </p:sp>
      <p:sp>
        <p:nvSpPr>
          <p:cNvPr id="35" name="source:34"/>
          <p:cNvSpPr txBox="1"/>
          <p:nvPr/>
        </p:nvSpPr>
        <p:spPr>
          <a:xfrm>
            <a:off x="2688335" y="6400800"/>
            <a:ext cx="73152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4"/>
              </a:rPr>
              <a:t>Wallet</a:t>
            </a:r>
          </a:p>
        </p:txBody>
      </p:sp>
      <p:sp>
        <p:nvSpPr>
          <p:cNvPr id="36" name="source:35"/>
          <p:cNvSpPr txBox="1"/>
          <p:nvPr/>
        </p:nvSpPr>
        <p:spPr>
          <a:xfrm>
            <a:off x="3566159" y="6400800"/>
            <a:ext cx="146304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5"/>
              </a:rPr>
              <a:t>Cyber evaluations</a:t>
            </a:r>
          </a:p>
        </p:txBody>
      </p:sp>
      <p:sp>
        <p:nvSpPr>
          <p:cNvPr id="37" name="source:36"/>
          <p:cNvSpPr txBox="1"/>
          <p:nvPr/>
        </p:nvSpPr>
        <p:spPr>
          <a:xfrm>
            <a:off x="5175503" y="6400800"/>
            <a:ext cx="256032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6"/>
              </a:rPr>
              <a:t>Channel family: records 1, 2, 6, 14</a:t>
            </a:r>
          </a:p>
        </p:txBody>
      </p:sp>
      <p:sp>
        <p:nvSpPr>
          <p:cNvPr id="38" name="Rectangle 37"/>
          <p:cNvSpPr/>
          <p:nvPr/>
        </p:nvSpPr>
        <p:spPr>
          <a:xfrm>
            <a:off x="566928" y="2157984"/>
            <a:ext cx="2240280" cy="640080"/>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ody:38"/>
          <p:cNvSpPr txBox="1"/>
          <p:nvPr/>
        </p:nvSpPr>
        <p:spPr>
          <a:xfrm>
            <a:off x="649224" y="2157984"/>
            <a:ext cx="2075688" cy="640080"/>
          </a:xfrm>
          <a:prstGeom prst="rect">
            <a:avLst/>
          </a:prstGeom>
          <a:noFill/>
        </p:spPr>
        <p:txBody>
          <a:bodyPr wrap="square" lIns="22860" rIns="22860" tIns="22860" bIns="22860" anchor="ctr">
            <a:spAutoFit/>
          </a:bodyPr>
          <a:lstStyle/>
          <a:p>
            <a:pPr algn="l">
              <a:lnSpc>
                <a:spcPct val="102000"/>
              </a:lnSpc>
            </a:pPr>
            <a:r>
              <a:rPr sz="1050" b="1">
                <a:solidFill>
                  <a:srgbClr val="FFFFFF"/>
                </a:solidFill>
                <a:latin typeface="Arial"/>
              </a:rPr>
              <a:t>Incident family</a:t>
            </a:r>
          </a:p>
        </p:txBody>
      </p:sp>
      <p:sp>
        <p:nvSpPr>
          <p:cNvPr id="40" name="Rectangle 39"/>
          <p:cNvSpPr/>
          <p:nvPr/>
        </p:nvSpPr>
        <p:spPr>
          <a:xfrm>
            <a:off x="2807208" y="2157984"/>
            <a:ext cx="2331720" cy="640080"/>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ody:40"/>
          <p:cNvSpPr txBox="1"/>
          <p:nvPr/>
        </p:nvSpPr>
        <p:spPr>
          <a:xfrm>
            <a:off x="2889504" y="2157984"/>
            <a:ext cx="2167127" cy="640080"/>
          </a:xfrm>
          <a:prstGeom prst="rect">
            <a:avLst/>
          </a:prstGeom>
          <a:noFill/>
        </p:spPr>
        <p:txBody>
          <a:bodyPr wrap="square" lIns="22860" rIns="22860" tIns="22860" bIns="22860" anchor="ctr">
            <a:spAutoFit/>
          </a:bodyPr>
          <a:lstStyle/>
          <a:p>
            <a:pPr algn="l">
              <a:lnSpc>
                <a:spcPct val="102000"/>
              </a:lnSpc>
            </a:pPr>
            <a:r>
              <a:rPr sz="1050" b="1">
                <a:solidFill>
                  <a:srgbClr val="FFFFFF"/>
                </a:solidFill>
                <a:latin typeface="Arial"/>
              </a:rPr>
              <a:t>Decision result</a:t>
            </a:r>
          </a:p>
        </p:txBody>
      </p:sp>
      <p:sp>
        <p:nvSpPr>
          <p:cNvPr id="42" name="Rectangle 41"/>
          <p:cNvSpPr/>
          <p:nvPr/>
        </p:nvSpPr>
        <p:spPr>
          <a:xfrm>
            <a:off x="5138928" y="2157984"/>
            <a:ext cx="3611880" cy="640080"/>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ody:42"/>
          <p:cNvSpPr txBox="1"/>
          <p:nvPr/>
        </p:nvSpPr>
        <p:spPr>
          <a:xfrm>
            <a:off x="5221224" y="2157984"/>
            <a:ext cx="3447288" cy="640080"/>
          </a:xfrm>
          <a:prstGeom prst="rect">
            <a:avLst/>
          </a:prstGeom>
          <a:noFill/>
        </p:spPr>
        <p:txBody>
          <a:bodyPr wrap="square" lIns="22860" rIns="22860" tIns="22860" bIns="22860" anchor="ctr">
            <a:spAutoFit/>
          </a:bodyPr>
          <a:lstStyle/>
          <a:p>
            <a:pPr algn="l">
              <a:lnSpc>
                <a:spcPct val="102000"/>
              </a:lnSpc>
            </a:pPr>
            <a:r>
              <a:rPr sz="1050" b="1">
                <a:solidFill>
                  <a:srgbClr val="FFFFFF"/>
                </a:solidFill>
                <a:latin typeface="Arial"/>
              </a:rPr>
              <a:t>System change to test</a:t>
            </a:r>
          </a:p>
        </p:txBody>
      </p:sp>
      <p:sp>
        <p:nvSpPr>
          <p:cNvPr id="44" name="Rectangle 43"/>
          <p:cNvSpPr/>
          <p:nvPr/>
        </p:nvSpPr>
        <p:spPr>
          <a:xfrm>
            <a:off x="8750808" y="2157984"/>
            <a:ext cx="2871216" cy="640080"/>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ody:44"/>
          <p:cNvSpPr txBox="1"/>
          <p:nvPr/>
        </p:nvSpPr>
        <p:spPr>
          <a:xfrm>
            <a:off x="8833104" y="2157984"/>
            <a:ext cx="2706624" cy="640080"/>
          </a:xfrm>
          <a:prstGeom prst="rect">
            <a:avLst/>
          </a:prstGeom>
          <a:noFill/>
        </p:spPr>
        <p:txBody>
          <a:bodyPr wrap="square" lIns="22860" rIns="22860" tIns="22860" bIns="22860" anchor="ctr">
            <a:spAutoFit/>
          </a:bodyPr>
          <a:lstStyle/>
          <a:p>
            <a:pPr algn="l">
              <a:lnSpc>
                <a:spcPct val="102000"/>
              </a:lnSpc>
            </a:pPr>
            <a:r>
              <a:rPr sz="1050" b="1">
                <a:solidFill>
                  <a:srgbClr val="FFFFFF"/>
                </a:solidFill>
                <a:latin typeface="Arial"/>
              </a:rPr>
              <a:t>Experiment and readout</a:t>
            </a:r>
          </a:p>
        </p:txBody>
      </p:sp>
      <p:sp>
        <p:nvSpPr>
          <p:cNvPr id="46" name="Rectangle 45"/>
          <p:cNvSpPr/>
          <p:nvPr/>
        </p:nvSpPr>
        <p:spPr>
          <a:xfrm>
            <a:off x="566928" y="2798063"/>
            <a:ext cx="224028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ody:46"/>
          <p:cNvSpPr txBox="1"/>
          <p:nvPr/>
        </p:nvSpPr>
        <p:spPr>
          <a:xfrm>
            <a:off x="649224" y="2798063"/>
            <a:ext cx="2075688" cy="640080"/>
          </a:xfrm>
          <a:prstGeom prst="rect">
            <a:avLst/>
          </a:prstGeom>
          <a:noFill/>
        </p:spPr>
        <p:txBody>
          <a:bodyPr wrap="square" lIns="22860" rIns="22860" tIns="22860" bIns="22860" anchor="ctr">
            <a:spAutoFit/>
          </a:bodyPr>
          <a:lstStyle/>
          <a:p>
            <a:pPr algn="l">
              <a:lnSpc>
                <a:spcPct val="102000"/>
              </a:lnSpc>
            </a:pPr>
            <a:r>
              <a:rPr sz="1050" b="1">
                <a:solidFill>
                  <a:srgbClr val="22313F"/>
                </a:solidFill>
                <a:latin typeface="Arial"/>
              </a:rPr>
              <a:t>Substitution (Medicare, workbook, wallet)</a:t>
            </a:r>
          </a:p>
        </p:txBody>
      </p:sp>
      <p:sp>
        <p:nvSpPr>
          <p:cNvPr id="48" name="Rectangle 47"/>
          <p:cNvSpPr/>
          <p:nvPr/>
        </p:nvSpPr>
        <p:spPr>
          <a:xfrm>
            <a:off x="2807208" y="2798063"/>
            <a:ext cx="233172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ody:48"/>
          <p:cNvSpPr txBox="1"/>
          <p:nvPr/>
        </p:nvSpPr>
        <p:spPr>
          <a:xfrm>
            <a:off x="2889504" y="2798063"/>
            <a:ext cx="2167127" cy="640080"/>
          </a:xfrm>
          <a:prstGeom prst="rect">
            <a:avLst/>
          </a:prstGeom>
          <a:noFill/>
        </p:spPr>
        <p:txBody>
          <a:bodyPr wrap="square" lIns="22860" rIns="22860" tIns="22860" bIns="22860" anchor="ctr">
            <a:spAutoFit/>
          </a:bodyPr>
          <a:lstStyle/>
          <a:p>
            <a:pPr algn="l">
              <a:lnSpc>
                <a:spcPct val="102000"/>
              </a:lnSpc>
            </a:pPr>
            <a:r>
              <a:rPr sz="1050" b="0">
                <a:solidFill>
                  <a:srgbClr val="22313F"/>
                </a:solidFill>
                <a:latin typeface="Arial"/>
              </a:rPr>
              <a:t>R1 stopping; R2 VOI: a failed route moves b, never g</a:t>
            </a:r>
          </a:p>
        </p:txBody>
      </p:sp>
      <p:sp>
        <p:nvSpPr>
          <p:cNvPr id="50" name="Rectangle 49"/>
          <p:cNvSpPr/>
          <p:nvPr/>
        </p:nvSpPr>
        <p:spPr>
          <a:xfrm>
            <a:off x="5138928" y="2798063"/>
            <a:ext cx="361188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ody:50"/>
          <p:cNvSpPr txBox="1"/>
          <p:nvPr/>
        </p:nvSpPr>
        <p:spPr>
          <a:xfrm>
            <a:off x="5221224" y="2798063"/>
            <a:ext cx="3447288" cy="640080"/>
          </a:xfrm>
          <a:prstGeom prst="rect">
            <a:avLst/>
          </a:prstGeom>
          <a:noFill/>
        </p:spPr>
        <p:txBody>
          <a:bodyPr wrap="square" lIns="22860" rIns="22860" tIns="22860" bIns="22860" anchor="ctr">
            <a:spAutoFit/>
          </a:bodyPr>
          <a:lstStyle/>
          <a:p>
            <a:pPr algn="l">
              <a:lnSpc>
                <a:spcPct val="102000"/>
              </a:lnSpc>
            </a:pPr>
            <a:r>
              <a:rPr sz="1050" b="0">
                <a:solidFill>
                  <a:srgbClr val="22313F"/>
                </a:solidFill>
                <a:latin typeface="Arial"/>
              </a:rPr>
              <a:t>Scope data routes and operations; provide a priced request channel; make an honest partial answer worth something (B &gt; 0)</a:t>
            </a:r>
          </a:p>
        </p:txBody>
      </p:sp>
      <p:sp>
        <p:nvSpPr>
          <p:cNvPr id="52" name="Rectangle 51"/>
          <p:cNvSpPr/>
          <p:nvPr/>
        </p:nvSpPr>
        <p:spPr>
          <a:xfrm>
            <a:off x="8750808" y="2798063"/>
            <a:ext cx="2871216"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ody:52"/>
          <p:cNvSpPr txBox="1"/>
          <p:nvPr/>
        </p:nvSpPr>
        <p:spPr>
          <a:xfrm>
            <a:off x="8833104" y="2798063"/>
            <a:ext cx="2706624" cy="640080"/>
          </a:xfrm>
          <a:prstGeom prst="rect">
            <a:avLst/>
          </a:prstGeom>
          <a:noFill/>
        </p:spPr>
        <p:txBody>
          <a:bodyPr wrap="square" lIns="22860" rIns="22860" tIns="22860" bIns="22860" anchor="ctr">
            <a:spAutoFit/>
          </a:bodyPr>
          <a:lstStyle/>
          <a:p>
            <a:pPr algn="l">
              <a:lnSpc>
                <a:spcPct val="102000"/>
              </a:lnSpc>
            </a:pPr>
            <a:r>
              <a:rPr sz="1050" b="0">
                <a:solidFill>
                  <a:srgbClr val="22313F"/>
                </a:solidFill>
                <a:latin typeface="Arial"/>
              </a:rPr>
              <a:t>E2 forbidden column: executed effects and attempts; false stops on the granted column</a:t>
            </a:r>
          </a:p>
        </p:txBody>
      </p:sp>
      <p:sp>
        <p:nvSpPr>
          <p:cNvPr id="54" name="Rectangle 53"/>
          <p:cNvSpPr/>
          <p:nvPr/>
        </p:nvSpPr>
        <p:spPr>
          <a:xfrm>
            <a:off x="566928" y="3438144"/>
            <a:ext cx="2240280" cy="64008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ody:54"/>
          <p:cNvSpPr txBox="1"/>
          <p:nvPr/>
        </p:nvSpPr>
        <p:spPr>
          <a:xfrm>
            <a:off x="649224" y="3438144"/>
            <a:ext cx="2075688" cy="640080"/>
          </a:xfrm>
          <a:prstGeom prst="rect">
            <a:avLst/>
          </a:prstGeom>
          <a:noFill/>
        </p:spPr>
        <p:txBody>
          <a:bodyPr wrap="square" lIns="22860" rIns="22860" tIns="22860" bIns="22860" anchor="ctr">
            <a:spAutoFit/>
          </a:bodyPr>
          <a:lstStyle/>
          <a:p>
            <a:pPr algn="l">
              <a:lnSpc>
                <a:spcPct val="102000"/>
              </a:lnSpc>
            </a:pPr>
            <a:r>
              <a:rPr sz="1050" b="1">
                <a:solidFill>
                  <a:srgbClr val="22313F"/>
                </a:solidFill>
                <a:latin typeface="Arial"/>
              </a:rPr>
              <a:t>Scope inference (cyber evaluations 16–21)</a:t>
            </a:r>
          </a:p>
        </p:txBody>
      </p:sp>
      <p:sp>
        <p:nvSpPr>
          <p:cNvPr id="56" name="Rectangle 55"/>
          <p:cNvSpPr/>
          <p:nvPr/>
        </p:nvSpPr>
        <p:spPr>
          <a:xfrm>
            <a:off x="2807208" y="3438144"/>
            <a:ext cx="2331720" cy="64008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ody:56"/>
          <p:cNvSpPr txBox="1"/>
          <p:nvPr/>
        </p:nvSpPr>
        <p:spPr>
          <a:xfrm>
            <a:off x="2889504" y="3438144"/>
            <a:ext cx="2167127" cy="640080"/>
          </a:xfrm>
          <a:prstGeom prst="rect">
            <a:avLst/>
          </a:prstGeom>
          <a:noFill/>
        </p:spPr>
        <p:txBody>
          <a:bodyPr wrap="square" lIns="22860" rIns="22860" tIns="22860" bIns="22860" anchor="ctr">
            <a:spAutoFit/>
          </a:bodyPr>
          <a:lstStyle/>
          <a:p>
            <a:pPr algn="l">
              <a:lnSpc>
                <a:spcPct val="102000"/>
              </a:lnSpc>
            </a:pPr>
            <a:r>
              <a:rPr sz="1050" b="0">
                <a:solidFill>
                  <a:srgbClr val="22313F"/>
                </a:solidFill>
                <a:latin typeface="Arial"/>
              </a:rPr>
              <a:t>R3 ambiguity: silent grant → reversible action</a:t>
            </a:r>
          </a:p>
        </p:txBody>
      </p:sp>
      <p:sp>
        <p:nvSpPr>
          <p:cNvPr id="58" name="Rectangle 57"/>
          <p:cNvSpPr/>
          <p:nvPr/>
        </p:nvSpPr>
        <p:spPr>
          <a:xfrm>
            <a:off x="5138928" y="3438144"/>
            <a:ext cx="3611880" cy="64008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ody:58"/>
          <p:cNvSpPr txBox="1"/>
          <p:nvPr/>
        </p:nvSpPr>
        <p:spPr>
          <a:xfrm>
            <a:off x="5221224" y="3438144"/>
            <a:ext cx="3447288" cy="640080"/>
          </a:xfrm>
          <a:prstGeom prst="rect">
            <a:avLst/>
          </a:prstGeom>
          <a:noFill/>
        </p:spPr>
        <p:txBody>
          <a:bodyPr wrap="square" lIns="22860" rIns="22860" tIns="22860" bIns="22860" anchor="ctr">
            <a:spAutoFit/>
          </a:bodyPr>
          <a:lstStyle/>
          <a:p>
            <a:pPr algn="l">
              <a:lnSpc>
                <a:spcPct val="102000"/>
              </a:lnSpc>
            </a:pPr>
            <a:r>
              <a:rPr sz="1050" b="0">
                <a:solidFill>
                  <a:srgbClr val="22313F"/>
                </a:solidFill>
                <a:latin typeface="Arial"/>
              </a:rPr>
              <a:t>Explicit grant field on every task (explicit / implicit / unspecified / conflicting); default to clarification under silence</a:t>
            </a:r>
          </a:p>
        </p:txBody>
      </p:sp>
      <p:sp>
        <p:nvSpPr>
          <p:cNvPr id="60" name="Rectangle 59"/>
          <p:cNvSpPr/>
          <p:nvPr/>
        </p:nvSpPr>
        <p:spPr>
          <a:xfrm>
            <a:off x="8750808" y="3438144"/>
            <a:ext cx="2871216" cy="64008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ody:60"/>
          <p:cNvSpPr txBox="1"/>
          <p:nvPr/>
        </p:nvSpPr>
        <p:spPr>
          <a:xfrm>
            <a:off x="8833104" y="3438144"/>
            <a:ext cx="2706624" cy="640080"/>
          </a:xfrm>
          <a:prstGeom prst="rect">
            <a:avLst/>
          </a:prstGeom>
          <a:noFill/>
        </p:spPr>
        <p:txBody>
          <a:bodyPr wrap="square" lIns="22860" rIns="22860" tIns="22860" bIns="22860" anchor="ctr">
            <a:spAutoFit/>
          </a:bodyPr>
          <a:lstStyle/>
          <a:p>
            <a:pPr algn="l">
              <a:lnSpc>
                <a:spcPct val="102000"/>
              </a:lnSpc>
            </a:pPr>
            <a:r>
              <a:rPr sz="1050" b="0">
                <a:solidFill>
                  <a:srgbClr val="22313F"/>
                </a:solidFill>
                <a:latin typeface="Arial"/>
              </a:rPr>
              <a:t>X1b: response mix and over-conservatism on feasible cells</a:t>
            </a:r>
          </a:p>
        </p:txBody>
      </p:sp>
      <p:sp>
        <p:nvSpPr>
          <p:cNvPr id="62" name="Rectangle 61"/>
          <p:cNvSpPr/>
          <p:nvPr/>
        </p:nvSpPr>
        <p:spPr>
          <a:xfrm>
            <a:off x="566928" y="4078224"/>
            <a:ext cx="224028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ody:62"/>
          <p:cNvSpPr txBox="1"/>
          <p:nvPr/>
        </p:nvSpPr>
        <p:spPr>
          <a:xfrm>
            <a:off x="649224" y="4078224"/>
            <a:ext cx="2075688" cy="640080"/>
          </a:xfrm>
          <a:prstGeom prst="rect">
            <a:avLst/>
          </a:prstGeom>
          <a:noFill/>
        </p:spPr>
        <p:txBody>
          <a:bodyPr wrap="square" lIns="22860" rIns="22860" tIns="22860" bIns="22860" anchor="ctr">
            <a:spAutoFit/>
          </a:bodyPr>
          <a:lstStyle/>
          <a:p>
            <a:pPr algn="l">
              <a:lnSpc>
                <a:spcPct val="102000"/>
              </a:lnSpc>
            </a:pPr>
            <a:r>
              <a:rPr sz="1050" b="1">
                <a:solidFill>
                  <a:srgbClr val="22313F"/>
                </a:solidFill>
                <a:latin typeface="Arial"/>
              </a:rPr>
              <a:t>Channel (GET writes, DNS, artifacts)</a:t>
            </a:r>
          </a:p>
        </p:txBody>
      </p:sp>
      <p:sp>
        <p:nvSpPr>
          <p:cNvPr id="64" name="Rectangle 63"/>
          <p:cNvSpPr/>
          <p:nvPr/>
        </p:nvSpPr>
        <p:spPr>
          <a:xfrm>
            <a:off x="2807208" y="4078224"/>
            <a:ext cx="233172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ody:64"/>
          <p:cNvSpPr txBox="1"/>
          <p:nvPr/>
        </p:nvSpPr>
        <p:spPr>
          <a:xfrm>
            <a:off x="2889504" y="4078224"/>
            <a:ext cx="2167127" cy="640080"/>
          </a:xfrm>
          <a:prstGeom prst="rect">
            <a:avLst/>
          </a:prstGeom>
          <a:noFill/>
        </p:spPr>
        <p:txBody>
          <a:bodyPr wrap="square" lIns="22860" rIns="22860" tIns="22860" bIns="22860" anchor="ctr">
            <a:spAutoFit/>
          </a:bodyPr>
          <a:lstStyle/>
          <a:p>
            <a:pPr algn="l">
              <a:lnSpc>
                <a:spcPct val="102000"/>
              </a:lnSpc>
            </a:pPr>
            <a:r>
              <a:rPr sz="1050" b="0">
                <a:solidFill>
                  <a:srgbClr val="22313F"/>
                </a:solidFill>
                <a:latin typeface="Arial"/>
              </a:rPr>
              <a:t>Formulation: violations are effects, not intents</a:t>
            </a:r>
          </a:p>
        </p:txBody>
      </p:sp>
      <p:sp>
        <p:nvSpPr>
          <p:cNvPr id="66" name="Rectangle 65"/>
          <p:cNvSpPr/>
          <p:nvPr/>
        </p:nvSpPr>
        <p:spPr>
          <a:xfrm>
            <a:off x="5138928" y="4078224"/>
            <a:ext cx="361188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ody:66"/>
          <p:cNvSpPr txBox="1"/>
          <p:nvPr/>
        </p:nvSpPr>
        <p:spPr>
          <a:xfrm>
            <a:off x="5221224" y="4078224"/>
            <a:ext cx="3447288" cy="640080"/>
          </a:xfrm>
          <a:prstGeom prst="rect">
            <a:avLst/>
          </a:prstGeom>
          <a:noFill/>
        </p:spPr>
        <p:txBody>
          <a:bodyPr wrap="square" lIns="22860" rIns="22860" tIns="22860" bIns="22860" anchor="ctr">
            <a:spAutoFit/>
          </a:bodyPr>
          <a:lstStyle/>
          <a:p>
            <a:pPr algn="l">
              <a:lnSpc>
                <a:spcPct val="102000"/>
              </a:lnSpc>
            </a:pPr>
            <a:r>
              <a:rPr sz="1050" b="0">
                <a:solidFill>
                  <a:srgbClr val="22313F"/>
                </a:solidFill>
                <a:latin typeface="Arial"/>
              </a:rPr>
              <a:t>Label operation and flow, not the HTTP verb; effect journal at the service; broker before dispatch</a:t>
            </a:r>
          </a:p>
        </p:txBody>
      </p:sp>
      <p:sp>
        <p:nvSpPr>
          <p:cNvPr id="68" name="Rectangle 67"/>
          <p:cNvSpPr/>
          <p:nvPr/>
        </p:nvSpPr>
        <p:spPr>
          <a:xfrm>
            <a:off x="8750808" y="4078224"/>
            <a:ext cx="2871216"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ody:68"/>
          <p:cNvSpPr txBox="1"/>
          <p:nvPr/>
        </p:nvSpPr>
        <p:spPr>
          <a:xfrm>
            <a:off x="8833104" y="4078224"/>
            <a:ext cx="2706624" cy="640080"/>
          </a:xfrm>
          <a:prstGeom prst="rect">
            <a:avLst/>
          </a:prstGeom>
          <a:noFill/>
        </p:spPr>
        <p:txBody>
          <a:bodyPr wrap="square" lIns="22860" rIns="22860" tIns="22860" bIns="22860" anchor="ctr">
            <a:spAutoFit/>
          </a:bodyPr>
          <a:lstStyle/>
          <a:p>
            <a:pPr algn="l">
              <a:lnSpc>
                <a:spcPct val="102000"/>
              </a:lnSpc>
            </a:pPr>
            <a:r>
              <a:rPr sz="1050" b="0">
                <a:solidFill>
                  <a:srgbClr val="22313F"/>
                </a:solidFill>
                <a:latin typeface="Arial"/>
              </a:rPr>
              <a:t>E3 T vs T+J: does effect evidence change the selected policy?</a:t>
            </a:r>
          </a:p>
        </p:txBody>
      </p:sp>
      <p:sp>
        <p:nvSpPr>
          <p:cNvPr id="70" name="Rectangle 69"/>
          <p:cNvSpPr/>
          <p:nvPr/>
        </p:nvSpPr>
        <p:spPr>
          <a:xfrm>
            <a:off x="566928" y="4718304"/>
            <a:ext cx="2240280" cy="64008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ody:70"/>
          <p:cNvSpPr txBox="1"/>
          <p:nvPr/>
        </p:nvSpPr>
        <p:spPr>
          <a:xfrm>
            <a:off x="649224" y="4718304"/>
            <a:ext cx="2075688" cy="640080"/>
          </a:xfrm>
          <a:prstGeom prst="rect">
            <a:avLst/>
          </a:prstGeom>
          <a:noFill/>
        </p:spPr>
        <p:txBody>
          <a:bodyPr wrap="square" lIns="22860" rIns="22860" tIns="22860" bIns="22860" anchor="ctr">
            <a:spAutoFit/>
          </a:bodyPr>
          <a:lstStyle/>
          <a:p>
            <a:pPr algn="l">
              <a:lnSpc>
                <a:spcPct val="102000"/>
              </a:lnSpc>
            </a:pPr>
            <a:r>
              <a:rPr sz="1050" b="1">
                <a:solidFill>
                  <a:srgbClr val="22313F"/>
                </a:solidFill>
                <a:latin typeface="Arial"/>
              </a:rPr>
              <a:t>Late detection (median 119 days to disclosure)</a:t>
            </a:r>
          </a:p>
        </p:txBody>
      </p:sp>
      <p:sp>
        <p:nvSpPr>
          <p:cNvPr id="72" name="Rectangle 71"/>
          <p:cNvSpPr/>
          <p:nvPr/>
        </p:nvSpPr>
        <p:spPr>
          <a:xfrm>
            <a:off x="2807208" y="4718304"/>
            <a:ext cx="2331720" cy="64008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ody:72"/>
          <p:cNvSpPr txBox="1"/>
          <p:nvPr/>
        </p:nvSpPr>
        <p:spPr>
          <a:xfrm>
            <a:off x="2889504" y="4718304"/>
            <a:ext cx="2167127" cy="640080"/>
          </a:xfrm>
          <a:prstGeom prst="rect">
            <a:avLst/>
          </a:prstGeom>
          <a:noFill/>
        </p:spPr>
        <p:txBody>
          <a:bodyPr wrap="square" lIns="22860" rIns="22860" tIns="22860" bIns="22860" anchor="ctr">
            <a:spAutoFit/>
          </a:bodyPr>
          <a:lstStyle/>
          <a:p>
            <a:pPr algn="l">
              <a:lnSpc>
                <a:spcPct val="102000"/>
              </a:lnSpc>
            </a:pPr>
            <a:r>
              <a:rPr sz="1050" b="0">
                <a:solidFill>
                  <a:srgbClr val="22313F"/>
                </a:solidFill>
                <a:latin typeface="Arial"/>
              </a:rPr>
              <a:t>R4 selection: finite, paired evidence</a:t>
            </a:r>
          </a:p>
        </p:txBody>
      </p:sp>
      <p:sp>
        <p:nvSpPr>
          <p:cNvPr id="74" name="Rectangle 73"/>
          <p:cNvSpPr/>
          <p:nvPr/>
        </p:nvSpPr>
        <p:spPr>
          <a:xfrm>
            <a:off x="5138928" y="4718304"/>
            <a:ext cx="3611880" cy="64008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ody:74"/>
          <p:cNvSpPr txBox="1"/>
          <p:nvPr/>
        </p:nvSpPr>
        <p:spPr>
          <a:xfrm>
            <a:off x="5221224" y="4718304"/>
            <a:ext cx="3447288" cy="640080"/>
          </a:xfrm>
          <a:prstGeom prst="rect">
            <a:avLst/>
          </a:prstGeom>
          <a:noFill/>
        </p:spPr>
        <p:txBody>
          <a:bodyPr wrap="square" lIns="22860" rIns="22860" tIns="22860" bIns="22860" anchor="ctr">
            <a:spAutoFit/>
          </a:bodyPr>
          <a:lstStyle/>
          <a:p>
            <a:pPr algn="l">
              <a:lnSpc>
                <a:spcPct val="102000"/>
              </a:lnSpc>
            </a:pPr>
            <a:r>
              <a:rPr sz="1050" b="0">
                <a:solidFill>
                  <a:srgbClr val="22313F"/>
                </a:solidFill>
                <a:latin typeface="Arial"/>
              </a:rPr>
              <a:t>Replayable incident twins and feasible controls as a regression gate before each policy release</a:t>
            </a:r>
          </a:p>
        </p:txBody>
      </p:sp>
      <p:sp>
        <p:nvSpPr>
          <p:cNvPr id="76" name="Rectangle 75"/>
          <p:cNvSpPr/>
          <p:nvPr/>
        </p:nvSpPr>
        <p:spPr>
          <a:xfrm>
            <a:off x="8750808" y="4718304"/>
            <a:ext cx="2871216" cy="64008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ody:76"/>
          <p:cNvSpPr txBox="1"/>
          <p:nvPr/>
        </p:nvSpPr>
        <p:spPr>
          <a:xfrm>
            <a:off x="8833104" y="4718304"/>
            <a:ext cx="2706624" cy="640080"/>
          </a:xfrm>
          <a:prstGeom prst="rect">
            <a:avLst/>
          </a:prstGeom>
          <a:noFill/>
        </p:spPr>
        <p:txBody>
          <a:bodyPr wrap="square" lIns="22860" rIns="22860" tIns="22860" bIns="22860" anchor="ctr">
            <a:spAutoFit/>
          </a:bodyPr>
          <a:lstStyle/>
          <a:p>
            <a:pPr algn="l">
              <a:lnSpc>
                <a:spcPct val="102000"/>
              </a:lnSpc>
            </a:pPr>
            <a:r>
              <a:rPr sz="1050" b="0">
                <a:solidFill>
                  <a:srgbClr val="22313F"/>
                </a:solidFill>
                <a:latin typeface="Arial"/>
              </a:rPr>
              <a:t>E3 power table; gate miss rate on held-out twins</a:t>
            </a:r>
          </a:p>
        </p:txBody>
      </p:sp>
      <p:sp>
        <p:nvSpPr>
          <p:cNvPr id="78" name="Rounded Rectangle 77"/>
          <p:cNvSpPr/>
          <p:nvPr/>
        </p:nvSpPr>
        <p:spPr>
          <a:xfrm>
            <a:off x="566928" y="5715000"/>
            <a:ext cx="11055096" cy="548640"/>
          </a:xfrm>
          <a:prstGeom prst="roundRect">
            <a:avLst>
              <a:gd name="adj" fmla="val 5000"/>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ody:78"/>
          <p:cNvSpPr txBox="1"/>
          <p:nvPr/>
        </p:nvSpPr>
        <p:spPr>
          <a:xfrm>
            <a:off x="768096" y="5742432"/>
            <a:ext cx="10652760" cy="493776"/>
          </a:xfrm>
          <a:prstGeom prst="rect">
            <a:avLst/>
          </a:prstGeom>
          <a:noFill/>
        </p:spPr>
        <p:txBody>
          <a:bodyPr wrap="square" lIns="22860" rIns="22860" tIns="22860" bIns="22860" anchor="ctr">
            <a:spAutoFit/>
          </a:bodyPr>
          <a:lstStyle/>
          <a:p>
            <a:pPr algn="l">
              <a:lnSpc>
                <a:spcPct val="108000"/>
              </a:lnSpc>
            </a:pPr>
            <a:r>
              <a:rPr sz="1600" b="1">
                <a:solidFill>
                  <a:srgbClr val="FFFFFF"/>
                </a:solidFill>
                <a:latin typeface="Arial"/>
              </a:rPr>
              <a:t>Useful persistence = better plans inside authority + timely, priced requests when authority must change.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label:2"/>
          <p:cNvSpPr txBox="1"/>
          <p:nvPr/>
        </p:nvSpPr>
        <p:spPr>
          <a:xfrm>
            <a:off x="566928" y="365760"/>
            <a:ext cx="10058400" cy="420624"/>
          </a:xfrm>
          <a:prstGeom prst="rect">
            <a:avLst/>
          </a:prstGeom>
          <a:noFill/>
        </p:spPr>
        <p:txBody>
          <a:bodyPr wrap="square" lIns="22860" rIns="22860" tIns="22860" bIns="22860" anchor="ctr">
            <a:spAutoFit/>
          </a:bodyPr>
          <a:lstStyle/>
          <a:p>
            <a:pPr algn="l">
              <a:lnSpc>
                <a:spcPct val="108000"/>
              </a:lnSpc>
            </a:pPr>
            <a:r>
              <a:rPr sz="1100" b="1">
                <a:solidFill>
                  <a:srgbClr val="1E7A72"/>
                </a:solidFill>
                <a:latin typeface="Arial"/>
              </a:rPr>
              <a:t>20 / READING THE RESULTS IN ADVANCE</a:t>
            </a:r>
          </a:p>
        </p:txBody>
      </p:sp>
      <p:sp>
        <p:nvSpPr>
          <p:cNvPr id="4" name="title:3"/>
          <p:cNvSpPr txBox="1"/>
          <p:nvPr/>
        </p:nvSpPr>
        <p:spPr>
          <a:xfrm>
            <a:off x="566928" y="786384"/>
            <a:ext cx="11055096" cy="804672"/>
          </a:xfrm>
          <a:prstGeom prst="rect">
            <a:avLst/>
          </a:prstGeom>
          <a:noFill/>
        </p:spPr>
        <p:txBody>
          <a:bodyPr wrap="square" lIns="22860" rIns="22860" tIns="22860" bIns="22860" anchor="ctr">
            <a:spAutoFit/>
          </a:bodyPr>
          <a:lstStyle/>
          <a:p>
            <a:pPr algn="l">
              <a:lnSpc>
                <a:spcPct val="105000"/>
              </a:lnSpc>
            </a:pPr>
            <a:r>
              <a:rPr sz="2600" b="1">
                <a:solidFill>
                  <a:srgbClr val="172D46"/>
                </a:solidFill>
                <a:latin typeface="Arial"/>
              </a:rPr>
              <a:t>What each outcome would mean, and what happens next.</a:t>
            </a:r>
          </a:p>
        </p:txBody>
      </p:sp>
      <p:sp>
        <p:nvSpPr>
          <p:cNvPr id="5" name="Rectangle 4"/>
          <p:cNvSpPr/>
          <p:nvPr/>
        </p:nvSpPr>
        <p:spPr>
          <a:xfrm>
            <a:off x="566928" y="1609344"/>
            <a:ext cx="868680" cy="45720"/>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ubtitle:5"/>
          <p:cNvSpPr txBox="1"/>
          <p:nvPr/>
        </p:nvSpPr>
        <p:spPr>
          <a:xfrm>
            <a:off x="585216" y="1682496"/>
            <a:ext cx="11055096" cy="457200"/>
          </a:xfrm>
          <a:prstGeom prst="rect">
            <a:avLst/>
          </a:prstGeom>
          <a:noFill/>
        </p:spPr>
        <p:txBody>
          <a:bodyPr wrap="square" lIns="22860" rIns="22860" tIns="22860" bIns="22860" anchor="ctr">
            <a:spAutoFit/>
          </a:bodyPr>
          <a:lstStyle/>
          <a:p>
            <a:pPr algn="l">
              <a:lnSpc>
                <a:spcPct val="105000"/>
              </a:lnSpc>
            </a:pPr>
            <a:r>
              <a:rPr sz="1400" b="0">
                <a:solidFill>
                  <a:srgbClr val="5F6E80"/>
                </a:solidFill>
                <a:latin typeface="Arial"/>
              </a:rPr>
              <a:t>Interpretations are fixed before the data arrive. A null is informative and will be reported as such.</a:t>
            </a:r>
          </a:p>
        </p:txBody>
      </p:sp>
      <p:sp>
        <p:nvSpPr>
          <p:cNvPr id="7" name="source:6"/>
          <p:cNvSpPr txBox="1"/>
          <p:nvPr/>
        </p:nvSpPr>
        <p:spPr>
          <a:xfrm>
            <a:off x="566928" y="6400800"/>
            <a:ext cx="1033272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rPr>
              <a:t> </a:t>
            </a:r>
          </a:p>
        </p:txBody>
      </p:sp>
      <p:sp>
        <p:nvSpPr>
          <p:cNvPr id="8" name="source:7"/>
          <p:cNvSpPr txBox="1"/>
          <p:nvPr/>
        </p:nvSpPr>
        <p:spPr>
          <a:xfrm>
            <a:off x="10927080" y="6364224"/>
            <a:ext cx="694944" cy="265176"/>
          </a:xfrm>
          <a:prstGeom prst="rect">
            <a:avLst/>
          </a:prstGeom>
          <a:noFill/>
        </p:spPr>
        <p:txBody>
          <a:bodyPr wrap="square" lIns="22860" rIns="22860" tIns="22860" bIns="22860" anchor="ctr">
            <a:spAutoFit/>
          </a:bodyPr>
          <a:lstStyle/>
          <a:p>
            <a:pPr algn="ctr">
              <a:lnSpc>
                <a:spcPct val="108000"/>
              </a:lnSpc>
            </a:pPr>
            <a:r>
              <a:rPr sz="1000" b="1">
                <a:solidFill>
                  <a:srgbClr val="5F6E80"/>
                </a:solidFill>
                <a:latin typeface="Arial"/>
              </a:rPr>
              <a:t>22 / 22</a:t>
            </a:r>
          </a:p>
        </p:txBody>
      </p:sp>
      <p:sp>
        <p:nvSpPr>
          <p:cNvPr id="9" name="Rectangle 8"/>
          <p:cNvSpPr/>
          <p:nvPr/>
        </p:nvSpPr>
        <p:spPr>
          <a:xfrm>
            <a:off x="56692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7151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57609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80675"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8525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8984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9442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99005"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0358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08170"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1275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17336"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2191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26501"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63108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35666"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4024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44831"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49413"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153996"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658578"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163161" y="6711696"/>
            <a:ext cx="458862" cy="50292"/>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104120" y="365760"/>
            <a:ext cx="1517904" cy="274320"/>
          </a:xfrm>
          <a:prstGeom prst="roundRect">
            <a:avLst>
              <a:gd name="adj" fmla="val 5000"/>
            </a:avLst>
          </a:prstGeom>
          <a:solidFill>
            <a:srgbClr val="F8E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31"/>
          <p:cNvSpPr txBox="1"/>
          <p:nvPr/>
        </p:nvSpPr>
        <p:spPr>
          <a:xfrm>
            <a:off x="10158984" y="365760"/>
            <a:ext cx="1408176" cy="274320"/>
          </a:xfrm>
          <a:prstGeom prst="rect">
            <a:avLst/>
          </a:prstGeom>
          <a:noFill/>
        </p:spPr>
        <p:txBody>
          <a:bodyPr wrap="square" lIns="22860" rIns="22860" tIns="22860" bIns="22860" anchor="ctr">
            <a:spAutoFit/>
          </a:bodyPr>
          <a:lstStyle/>
          <a:p>
            <a:pPr algn="ctr">
              <a:lnSpc>
                <a:spcPct val="108000"/>
              </a:lnSpc>
            </a:pPr>
            <a:r>
              <a:rPr sz="1000" b="1">
                <a:solidFill>
                  <a:srgbClr val="B4602E"/>
                </a:solidFill>
                <a:latin typeface="Arial"/>
              </a:rPr>
              <a:t>PROPOSED</a:t>
            </a:r>
          </a:p>
        </p:txBody>
      </p:sp>
      <p:sp>
        <p:nvSpPr>
          <p:cNvPr id="33" name="source:32"/>
          <p:cNvSpPr txBox="1"/>
          <p:nvPr/>
        </p:nvSpPr>
        <p:spPr>
          <a:xfrm>
            <a:off x="566928" y="6400800"/>
            <a:ext cx="256032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2"/>
              </a:rPr>
              <a:t>Incidents to testable questions</a:t>
            </a:r>
          </a:p>
        </p:txBody>
      </p:sp>
      <p:sp>
        <p:nvSpPr>
          <p:cNvPr id="34" name="source:33"/>
          <p:cNvSpPr txBox="1"/>
          <p:nvPr/>
        </p:nvSpPr>
        <p:spPr>
          <a:xfrm>
            <a:off x="3273552" y="6400800"/>
            <a:ext cx="256032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3"/>
              </a:rPr>
              <a:t>Incident-aware optimization</a:t>
            </a:r>
          </a:p>
        </p:txBody>
      </p:sp>
      <p:sp>
        <p:nvSpPr>
          <p:cNvPr id="35" name="source:34"/>
          <p:cNvSpPr txBox="1"/>
          <p:nvPr/>
        </p:nvSpPr>
        <p:spPr>
          <a:xfrm>
            <a:off x="5980176" y="6400800"/>
            <a:ext cx="1645920" cy="210312"/>
          </a:xfrm>
          <a:prstGeom prst="rect">
            <a:avLst/>
          </a:prstGeom>
          <a:noFill/>
        </p:spPr>
        <p:txBody>
          <a:bodyPr wrap="square" lIns="22860" rIns="22860" tIns="22860" bIns="22860" anchor="ctr">
            <a:spAutoFit/>
          </a:bodyPr>
          <a:lstStyle/>
          <a:p>
            <a:pPr algn="l">
              <a:lnSpc>
                <a:spcPct val="108000"/>
              </a:lnSpc>
            </a:pPr>
            <a:r>
              <a:rPr sz="900" b="0">
                <a:solidFill>
                  <a:srgbClr val="5F6E80"/>
                </a:solidFill>
                <a:latin typeface="Arial"/>
                <a:hlinkClick r:id="rId4"/>
              </a:rPr>
              <a:t>Next experiments</a:t>
            </a:r>
          </a:p>
        </p:txBody>
      </p:sp>
      <p:sp>
        <p:nvSpPr>
          <p:cNvPr id="36" name="Rectangle 35"/>
          <p:cNvSpPr/>
          <p:nvPr/>
        </p:nvSpPr>
        <p:spPr>
          <a:xfrm>
            <a:off x="566928" y="2157984"/>
            <a:ext cx="3931920" cy="457200"/>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body:36"/>
          <p:cNvSpPr txBox="1"/>
          <p:nvPr/>
        </p:nvSpPr>
        <p:spPr>
          <a:xfrm>
            <a:off x="649224" y="2157984"/>
            <a:ext cx="3767328" cy="457200"/>
          </a:xfrm>
          <a:prstGeom prst="rect">
            <a:avLst/>
          </a:prstGeom>
          <a:noFill/>
        </p:spPr>
        <p:txBody>
          <a:bodyPr wrap="square" lIns="22860" rIns="22860" tIns="22860" bIns="22860" anchor="ctr">
            <a:spAutoFit/>
          </a:bodyPr>
          <a:lstStyle/>
          <a:p>
            <a:pPr algn="l">
              <a:lnSpc>
                <a:spcPct val="102000"/>
              </a:lnSpc>
            </a:pPr>
            <a:r>
              <a:rPr sz="1100" b="1">
                <a:solidFill>
                  <a:srgbClr val="FFFFFF"/>
                </a:solidFill>
                <a:latin typeface="Arial"/>
              </a:rPr>
              <a:t>If the experiments show…</a:t>
            </a:r>
          </a:p>
        </p:txBody>
      </p:sp>
      <p:sp>
        <p:nvSpPr>
          <p:cNvPr id="38" name="Rectangle 37"/>
          <p:cNvSpPr/>
          <p:nvPr/>
        </p:nvSpPr>
        <p:spPr>
          <a:xfrm>
            <a:off x="4498848" y="2157984"/>
            <a:ext cx="7123176" cy="457200"/>
          </a:xfrm>
          <a:prstGeom prst="rect">
            <a:avLst/>
          </a:prstGeom>
          <a:solidFill>
            <a:srgbClr val="17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ody:38"/>
          <p:cNvSpPr txBox="1"/>
          <p:nvPr/>
        </p:nvSpPr>
        <p:spPr>
          <a:xfrm>
            <a:off x="4581144" y="2157984"/>
            <a:ext cx="6958584" cy="457200"/>
          </a:xfrm>
          <a:prstGeom prst="rect">
            <a:avLst/>
          </a:prstGeom>
          <a:noFill/>
        </p:spPr>
        <p:txBody>
          <a:bodyPr wrap="square" lIns="22860" rIns="22860" tIns="22860" bIns="22860" anchor="ctr">
            <a:spAutoFit/>
          </a:bodyPr>
          <a:lstStyle/>
          <a:p>
            <a:pPr algn="l">
              <a:lnSpc>
                <a:spcPct val="102000"/>
              </a:lnSpc>
            </a:pPr>
            <a:r>
              <a:rPr sz="1100" b="1">
                <a:solidFill>
                  <a:srgbClr val="FFFFFF"/>
                </a:solidFill>
                <a:latin typeface="Arial"/>
              </a:rPr>
              <a:t>Then for deployed agents…</a:t>
            </a:r>
          </a:p>
        </p:txBody>
      </p:sp>
      <p:sp>
        <p:nvSpPr>
          <p:cNvPr id="40" name="Rectangle 39"/>
          <p:cNvSpPr/>
          <p:nvPr/>
        </p:nvSpPr>
        <p:spPr>
          <a:xfrm>
            <a:off x="566928" y="2615184"/>
            <a:ext cx="393192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ody:40"/>
          <p:cNvSpPr txBox="1"/>
          <p:nvPr/>
        </p:nvSpPr>
        <p:spPr>
          <a:xfrm>
            <a:off x="649224" y="2615184"/>
            <a:ext cx="3767328" cy="457200"/>
          </a:xfrm>
          <a:prstGeom prst="rect">
            <a:avLst/>
          </a:prstGeom>
          <a:noFill/>
        </p:spPr>
        <p:txBody>
          <a:bodyPr wrap="square" lIns="22860" rIns="22860" tIns="22860" bIns="22860" anchor="ctr">
            <a:spAutoFit/>
          </a:bodyPr>
          <a:lstStyle/>
          <a:p>
            <a:pPr algn="l">
              <a:lnSpc>
                <a:spcPct val="102000"/>
              </a:lnSpc>
            </a:pPr>
            <a:r>
              <a:rPr sz="1100" b="1">
                <a:solidFill>
                  <a:srgbClr val="22313F"/>
                </a:solidFill>
                <a:latin typeface="Arial"/>
              </a:rPr>
              <a:t>A5 cuts executed effects at retained utility (E2)</a:t>
            </a:r>
          </a:p>
        </p:txBody>
      </p:sp>
      <p:sp>
        <p:nvSpPr>
          <p:cNvPr id="42" name="Rectangle 41"/>
          <p:cNvSpPr/>
          <p:nvPr/>
        </p:nvSpPr>
        <p:spPr>
          <a:xfrm>
            <a:off x="4498848" y="2615184"/>
            <a:ext cx="7123176"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ody:42"/>
          <p:cNvSpPr txBox="1"/>
          <p:nvPr/>
        </p:nvSpPr>
        <p:spPr>
          <a:xfrm>
            <a:off x="4581144" y="2615184"/>
            <a:ext cx="6958584" cy="457200"/>
          </a:xfrm>
          <a:prstGeom prst="rect">
            <a:avLst/>
          </a:prstGeom>
          <a:noFill/>
        </p:spPr>
        <p:txBody>
          <a:bodyPr wrap="square" lIns="22860" rIns="22860" tIns="22860" bIns="22860" anchor="ctr">
            <a:spAutoFit/>
          </a:bodyPr>
          <a:lstStyle/>
          <a:p>
            <a:pPr algn="l">
              <a:lnSpc>
                <a:spcPct val="102000"/>
              </a:lnSpc>
            </a:pPr>
            <a:r>
              <a:rPr sz="1100" b="0">
                <a:solidFill>
                  <a:srgbClr val="22313F"/>
                </a:solidFill>
                <a:latin typeface="Arial"/>
              </a:rPr>
              <a:t>Decision structure matters: expose feasibility, grant and a priced request to the agent; the model describes behaviour.</a:t>
            </a:r>
          </a:p>
        </p:txBody>
      </p:sp>
      <p:sp>
        <p:nvSpPr>
          <p:cNvPr id="44" name="Rectangle 43"/>
          <p:cNvSpPr/>
          <p:nvPr/>
        </p:nvSpPr>
        <p:spPr>
          <a:xfrm>
            <a:off x="566928" y="3072384"/>
            <a:ext cx="3931920" cy="45720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ody:44"/>
          <p:cNvSpPr txBox="1"/>
          <p:nvPr/>
        </p:nvSpPr>
        <p:spPr>
          <a:xfrm>
            <a:off x="649224" y="3072384"/>
            <a:ext cx="3767328" cy="457200"/>
          </a:xfrm>
          <a:prstGeom prst="rect">
            <a:avLst/>
          </a:prstGeom>
          <a:noFill/>
        </p:spPr>
        <p:txBody>
          <a:bodyPr wrap="square" lIns="22860" rIns="22860" tIns="22860" bIns="22860" anchor="ctr">
            <a:spAutoFit/>
          </a:bodyPr>
          <a:lstStyle/>
          <a:p>
            <a:pPr algn="l">
              <a:lnSpc>
                <a:spcPct val="102000"/>
              </a:lnSpc>
            </a:pPr>
            <a:r>
              <a:rPr sz="1100" b="1">
                <a:solidFill>
                  <a:srgbClr val="22313F"/>
                </a:solidFill>
                <a:latin typeface="Arial"/>
              </a:rPr>
              <a:t>Only A3 / A6 cut effects; A5 does not</a:t>
            </a:r>
          </a:p>
        </p:txBody>
      </p:sp>
      <p:sp>
        <p:nvSpPr>
          <p:cNvPr id="46" name="Rectangle 45"/>
          <p:cNvSpPr/>
          <p:nvPr/>
        </p:nvSpPr>
        <p:spPr>
          <a:xfrm>
            <a:off x="4498848" y="3072384"/>
            <a:ext cx="7123176" cy="45720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ody:46"/>
          <p:cNvSpPr txBox="1"/>
          <p:nvPr/>
        </p:nvSpPr>
        <p:spPr>
          <a:xfrm>
            <a:off x="4581144" y="3072384"/>
            <a:ext cx="6958584" cy="457200"/>
          </a:xfrm>
          <a:prstGeom prst="rect">
            <a:avLst/>
          </a:prstGeom>
          <a:noFill/>
        </p:spPr>
        <p:txBody>
          <a:bodyPr wrap="square" lIns="22860" rIns="22860" tIns="22860" bIns="22860" anchor="ctr">
            <a:spAutoFit/>
          </a:bodyPr>
          <a:lstStyle/>
          <a:p>
            <a:pPr algn="l">
              <a:lnSpc>
                <a:spcPct val="102000"/>
              </a:lnSpc>
            </a:pPr>
            <a:r>
              <a:rPr sz="1100" b="0">
                <a:solidFill>
                  <a:srgbClr val="22313F"/>
                </a:solidFill>
                <a:latin typeface="Arial"/>
              </a:rPr>
              <a:t>Enforcement, not reasoning, carries safety: invest in brokers and effect journals; treat planners as utility tools.</a:t>
            </a:r>
          </a:p>
        </p:txBody>
      </p:sp>
      <p:sp>
        <p:nvSpPr>
          <p:cNvPr id="48" name="Rectangle 47"/>
          <p:cNvSpPr/>
          <p:nvPr/>
        </p:nvSpPr>
        <p:spPr>
          <a:xfrm>
            <a:off x="566928" y="3529584"/>
            <a:ext cx="393192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ody:48"/>
          <p:cNvSpPr txBox="1"/>
          <p:nvPr/>
        </p:nvSpPr>
        <p:spPr>
          <a:xfrm>
            <a:off x="649224" y="3529584"/>
            <a:ext cx="3767328" cy="457200"/>
          </a:xfrm>
          <a:prstGeom prst="rect">
            <a:avLst/>
          </a:prstGeom>
          <a:noFill/>
        </p:spPr>
        <p:txBody>
          <a:bodyPr wrap="square" lIns="22860" rIns="22860" tIns="22860" bIns="22860" anchor="ctr">
            <a:spAutoFit/>
          </a:bodyPr>
          <a:lstStyle/>
          <a:p>
            <a:pPr algn="l">
              <a:lnSpc>
                <a:spcPct val="102000"/>
              </a:lnSpc>
            </a:pPr>
            <a:r>
              <a:rPr sz="1100" b="1">
                <a:solidFill>
                  <a:srgbClr val="22313F"/>
                </a:solidFill>
                <a:latin typeface="Arial"/>
              </a:rPr>
              <a:t>Gains come with more false stops on granted cells</a:t>
            </a:r>
          </a:p>
        </p:txBody>
      </p:sp>
      <p:sp>
        <p:nvSpPr>
          <p:cNvPr id="50" name="Rectangle 49"/>
          <p:cNvSpPr/>
          <p:nvPr/>
        </p:nvSpPr>
        <p:spPr>
          <a:xfrm>
            <a:off x="4498848" y="3529584"/>
            <a:ext cx="7123176"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ody:50"/>
          <p:cNvSpPr txBox="1"/>
          <p:nvPr/>
        </p:nvSpPr>
        <p:spPr>
          <a:xfrm>
            <a:off x="4581144" y="3529584"/>
            <a:ext cx="6958584" cy="457200"/>
          </a:xfrm>
          <a:prstGeom prst="rect">
            <a:avLst/>
          </a:prstGeom>
          <a:noFill/>
        </p:spPr>
        <p:txBody>
          <a:bodyPr wrap="square" lIns="22860" rIns="22860" tIns="22860" bIns="22860" anchor="ctr">
            <a:spAutoFit/>
          </a:bodyPr>
          <a:lstStyle/>
          <a:p>
            <a:pPr algn="l">
              <a:lnSpc>
                <a:spcPct val="102000"/>
              </a:lnSpc>
            </a:pPr>
            <a:r>
              <a:rPr sz="1100" b="0">
                <a:solidFill>
                  <a:srgbClr val="22313F"/>
                </a:solidFill>
                <a:latin typeface="Arial"/>
              </a:rPr>
              <a:t>Over-conservatism is the cost: tune B and d, and report refusals as a first-class endpoint.</a:t>
            </a:r>
          </a:p>
        </p:txBody>
      </p:sp>
      <p:sp>
        <p:nvSpPr>
          <p:cNvPr id="52" name="Rectangle 51"/>
          <p:cNvSpPr/>
          <p:nvPr/>
        </p:nvSpPr>
        <p:spPr>
          <a:xfrm>
            <a:off x="566928" y="3986783"/>
            <a:ext cx="3931920" cy="45720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ody:52"/>
          <p:cNvSpPr txBox="1"/>
          <p:nvPr/>
        </p:nvSpPr>
        <p:spPr>
          <a:xfrm>
            <a:off x="649224" y="3986783"/>
            <a:ext cx="3767328" cy="457200"/>
          </a:xfrm>
          <a:prstGeom prst="rect">
            <a:avLst/>
          </a:prstGeom>
          <a:noFill/>
        </p:spPr>
        <p:txBody>
          <a:bodyPr wrap="square" lIns="22860" rIns="22860" tIns="22860" bIns="22860" anchor="ctr">
            <a:spAutoFit/>
          </a:bodyPr>
          <a:lstStyle/>
          <a:p>
            <a:pPr algn="l">
              <a:lnSpc>
                <a:spcPct val="102000"/>
              </a:lnSpc>
            </a:pPr>
            <a:r>
              <a:rPr sz="1100" b="1">
                <a:solidFill>
                  <a:srgbClr val="22313F"/>
                </a:solidFill>
                <a:latin typeface="Arial"/>
              </a:rPr>
              <a:t>θ</a:t>
            </a:r>
            <a:r>
              <a:rPr sz="1100" b="1" baseline="-25000">
                <a:solidFill>
                  <a:srgbClr val="22313F"/>
                </a:solidFill>
                <a:latin typeface="Arial"/>
              </a:rPr>
              <a:t>T+J</a:t>
            </a:r>
            <a:r>
              <a:rPr sz="1100" b="1">
                <a:solidFill>
                  <a:srgbClr val="22313F"/>
                </a:solidFill>
                <a:latin typeface="Arial"/>
              </a:rPr>
              <a:t> = θ</a:t>
            </a:r>
            <a:r>
              <a:rPr sz="1100" b="1" baseline="-25000">
                <a:solidFill>
                  <a:srgbClr val="22313F"/>
                </a:solidFill>
                <a:latin typeface="Arial"/>
              </a:rPr>
              <a:t>T</a:t>
            </a:r>
            <a:r>
              <a:rPr sz="1100" b="1">
                <a:solidFill>
                  <a:srgbClr val="22313F"/>
                </a:solidFill>
                <a:latin typeface="Arial"/>
              </a:rPr>
              <a:t> on fresh lineages (E3)</a:t>
            </a:r>
          </a:p>
        </p:txBody>
      </p:sp>
      <p:sp>
        <p:nvSpPr>
          <p:cNvPr id="54" name="Rectangle 53"/>
          <p:cNvSpPr/>
          <p:nvPr/>
        </p:nvSpPr>
        <p:spPr>
          <a:xfrm>
            <a:off x="4498848" y="3986783"/>
            <a:ext cx="7123176" cy="457200"/>
          </a:xfrm>
          <a:prstGeom prst="rect">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ody:54"/>
          <p:cNvSpPr txBox="1"/>
          <p:nvPr/>
        </p:nvSpPr>
        <p:spPr>
          <a:xfrm>
            <a:off x="4581144" y="3986783"/>
            <a:ext cx="6958584" cy="457200"/>
          </a:xfrm>
          <a:prstGeom prst="rect">
            <a:avLst/>
          </a:prstGeom>
          <a:noFill/>
        </p:spPr>
        <p:txBody>
          <a:bodyPr wrap="square" lIns="22860" rIns="22860" tIns="22860" bIns="22860" anchor="ctr">
            <a:spAutoFit/>
          </a:bodyPr>
          <a:lstStyle/>
          <a:p>
            <a:pPr algn="l">
              <a:lnSpc>
                <a:spcPct val="102000"/>
              </a:lnSpc>
            </a:pPr>
            <a:r>
              <a:rPr sz="1100" b="0">
                <a:solidFill>
                  <a:srgbClr val="22313F"/>
                </a:solidFill>
                <a:latin typeface="Arial"/>
              </a:rPr>
              <a:t>The effect journal is an audit instrument, not a selection advantage; the contribution is measurement.</a:t>
            </a:r>
          </a:p>
        </p:txBody>
      </p:sp>
      <p:sp>
        <p:nvSpPr>
          <p:cNvPr id="56" name="Rectangle 55"/>
          <p:cNvSpPr/>
          <p:nvPr/>
        </p:nvSpPr>
        <p:spPr>
          <a:xfrm>
            <a:off x="566928" y="4443983"/>
            <a:ext cx="393192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ody:56"/>
          <p:cNvSpPr txBox="1"/>
          <p:nvPr/>
        </p:nvSpPr>
        <p:spPr>
          <a:xfrm>
            <a:off x="649224" y="4443983"/>
            <a:ext cx="3767328" cy="457200"/>
          </a:xfrm>
          <a:prstGeom prst="rect">
            <a:avLst/>
          </a:prstGeom>
          <a:noFill/>
        </p:spPr>
        <p:txBody>
          <a:bodyPr wrap="square" lIns="22860" rIns="22860" tIns="22860" bIns="22860" anchor="ctr">
            <a:spAutoFit/>
          </a:bodyPr>
          <a:lstStyle/>
          <a:p>
            <a:pPr algn="l">
              <a:lnSpc>
                <a:spcPct val="102000"/>
              </a:lnSpc>
            </a:pPr>
            <a:r>
              <a:rPr sz="1100" b="1">
                <a:solidFill>
                  <a:srgbClr val="22313F"/>
                </a:solidFill>
                <a:latin typeface="Arial"/>
              </a:rPr>
              <a:t>LLM choices ignore p, d, q (E1)</a:t>
            </a:r>
          </a:p>
        </p:txBody>
      </p:sp>
      <p:sp>
        <p:nvSpPr>
          <p:cNvPr id="58" name="Rectangle 57"/>
          <p:cNvSpPr/>
          <p:nvPr/>
        </p:nvSpPr>
        <p:spPr>
          <a:xfrm>
            <a:off x="4498848" y="4443983"/>
            <a:ext cx="7123176"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ody:58"/>
          <p:cNvSpPr txBox="1"/>
          <p:nvPr/>
        </p:nvSpPr>
        <p:spPr>
          <a:xfrm>
            <a:off x="4581144" y="4443983"/>
            <a:ext cx="6958584" cy="457200"/>
          </a:xfrm>
          <a:prstGeom prst="rect">
            <a:avLst/>
          </a:prstGeom>
          <a:noFill/>
        </p:spPr>
        <p:txBody>
          <a:bodyPr wrap="square" lIns="22860" rIns="22860" tIns="22860" bIns="22860" anchor="ctr">
            <a:spAutoFit/>
          </a:bodyPr>
          <a:lstStyle/>
          <a:p>
            <a:pPr algn="l">
              <a:lnSpc>
                <a:spcPct val="102000"/>
              </a:lnSpc>
            </a:pPr>
            <a:r>
              <a:rPr sz="1100" b="0">
                <a:solidFill>
                  <a:srgbClr val="22313F"/>
                </a:solidFill>
                <a:latin typeface="Arial"/>
              </a:rPr>
              <a:t>The POMDP is a normative reference only; calibration work precedes any planner deployment.</a:t>
            </a:r>
          </a:p>
        </p:txBody>
      </p:sp>
      <p:sp>
        <p:nvSpPr>
          <p:cNvPr id="60" name="Rounded Rectangle 59"/>
          <p:cNvSpPr/>
          <p:nvPr/>
        </p:nvSpPr>
        <p:spPr>
          <a:xfrm>
            <a:off x="566928" y="4956048"/>
            <a:ext cx="2654046" cy="603504"/>
          </a:xfrm>
          <a:prstGeom prst="roundRect">
            <a:avLst>
              <a:gd name="adj" fmla="val 5000"/>
            </a:avLst>
          </a:prstGeom>
          <a:solidFill>
            <a:srgbClr val="E8EF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66928" y="4956048"/>
            <a:ext cx="64008" cy="603504"/>
          </a:xfrm>
          <a:prstGeom prst="rect">
            <a:avLst/>
          </a:prstGeom>
          <a:solidFill>
            <a:srgbClr val="3A63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ody:61"/>
          <p:cNvSpPr txBox="1"/>
          <p:nvPr/>
        </p:nvSpPr>
        <p:spPr>
          <a:xfrm>
            <a:off x="731520" y="4974336"/>
            <a:ext cx="2379726" cy="256032"/>
          </a:xfrm>
          <a:prstGeom prst="rect">
            <a:avLst/>
          </a:prstGeom>
          <a:noFill/>
        </p:spPr>
        <p:txBody>
          <a:bodyPr wrap="square" lIns="22860" rIns="22860" tIns="22860" bIns="22860" anchor="ctr">
            <a:spAutoFit/>
          </a:bodyPr>
          <a:lstStyle/>
          <a:p>
            <a:pPr algn="l">
              <a:lnSpc>
                <a:spcPct val="108000"/>
              </a:lnSpc>
            </a:pPr>
            <a:r>
              <a:rPr sz="1150" b="1">
                <a:solidFill>
                  <a:srgbClr val="3A6391"/>
                </a:solidFill>
                <a:latin typeface="Arial"/>
              </a:rPr>
              <a:t>Nov 2026</a:t>
            </a:r>
          </a:p>
        </p:txBody>
      </p:sp>
      <p:sp>
        <p:nvSpPr>
          <p:cNvPr id="63" name="body:62"/>
          <p:cNvSpPr txBox="1"/>
          <p:nvPr/>
        </p:nvSpPr>
        <p:spPr>
          <a:xfrm>
            <a:off x="731520" y="5212080"/>
            <a:ext cx="2379726" cy="329184"/>
          </a:xfrm>
          <a:prstGeom prst="rect">
            <a:avLst/>
          </a:prstGeom>
          <a:noFill/>
        </p:spPr>
        <p:txBody>
          <a:bodyPr wrap="square" lIns="22860" rIns="22860" tIns="22860" bIns="22860" anchor="ctr">
            <a:spAutoFit/>
          </a:bodyPr>
          <a:lstStyle/>
          <a:p>
            <a:pPr algn="l">
              <a:lnSpc>
                <a:spcPct val="100000"/>
              </a:lnSpc>
            </a:pPr>
            <a:r>
              <a:rPr sz="1000" b="0">
                <a:solidFill>
                  <a:srgbClr val="22313F"/>
                </a:solidFill>
                <a:latin typeface="Arial"/>
              </a:rPr>
              <a:t>Finite simulator; E1 preregistered and run</a:t>
            </a:r>
          </a:p>
        </p:txBody>
      </p:sp>
      <p:sp>
        <p:nvSpPr>
          <p:cNvPr id="64" name="Rounded Rectangle 63"/>
          <p:cNvSpPr/>
          <p:nvPr/>
        </p:nvSpPr>
        <p:spPr>
          <a:xfrm>
            <a:off x="3367278" y="4956048"/>
            <a:ext cx="2654046" cy="603504"/>
          </a:xfrm>
          <a:prstGeom prst="roundRect">
            <a:avLst>
              <a:gd name="adj" fmla="val 5000"/>
            </a:avLst>
          </a:prstGeom>
          <a:solidFill>
            <a:srgbClr val="E1F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3367278" y="4956048"/>
            <a:ext cx="64008" cy="603504"/>
          </a:xfrm>
          <a:prstGeom prst="rect">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ody:65"/>
          <p:cNvSpPr txBox="1"/>
          <p:nvPr/>
        </p:nvSpPr>
        <p:spPr>
          <a:xfrm>
            <a:off x="3531870" y="4974336"/>
            <a:ext cx="2379726" cy="256032"/>
          </a:xfrm>
          <a:prstGeom prst="rect">
            <a:avLst/>
          </a:prstGeom>
          <a:noFill/>
        </p:spPr>
        <p:txBody>
          <a:bodyPr wrap="square" lIns="22860" rIns="22860" tIns="22860" bIns="22860" anchor="ctr">
            <a:spAutoFit/>
          </a:bodyPr>
          <a:lstStyle/>
          <a:p>
            <a:pPr algn="l">
              <a:lnSpc>
                <a:spcPct val="108000"/>
              </a:lnSpc>
            </a:pPr>
            <a:r>
              <a:rPr sz="1150" b="1">
                <a:solidFill>
                  <a:srgbClr val="1E7A72"/>
                </a:solidFill>
                <a:latin typeface="Arial"/>
              </a:rPr>
              <a:t>Dec 2026</a:t>
            </a:r>
          </a:p>
        </p:txBody>
      </p:sp>
      <p:sp>
        <p:nvSpPr>
          <p:cNvPr id="67" name="body:66"/>
          <p:cNvSpPr txBox="1"/>
          <p:nvPr/>
        </p:nvSpPr>
        <p:spPr>
          <a:xfrm>
            <a:off x="3531870" y="5212080"/>
            <a:ext cx="2379726" cy="329184"/>
          </a:xfrm>
          <a:prstGeom prst="rect">
            <a:avLst/>
          </a:prstGeom>
          <a:noFill/>
        </p:spPr>
        <p:txBody>
          <a:bodyPr wrap="square" lIns="22860" rIns="22860" tIns="22860" bIns="22860" anchor="ctr">
            <a:spAutoFit/>
          </a:bodyPr>
          <a:lstStyle/>
          <a:p>
            <a:pPr algn="l">
              <a:lnSpc>
                <a:spcPct val="100000"/>
              </a:lnSpc>
            </a:pPr>
            <a:r>
              <a:rPr sz="1000" b="0">
                <a:solidFill>
                  <a:srgbClr val="22313F"/>
                </a:solidFill>
                <a:latin typeface="Arial"/>
              </a:rPr>
              <a:t>Fixture extension: repair × grant × X1b; E2 pilot</a:t>
            </a:r>
          </a:p>
        </p:txBody>
      </p:sp>
      <p:sp>
        <p:nvSpPr>
          <p:cNvPr id="68" name="Rounded Rectangle 67"/>
          <p:cNvSpPr/>
          <p:nvPr/>
        </p:nvSpPr>
        <p:spPr>
          <a:xfrm>
            <a:off x="6167628" y="4956048"/>
            <a:ext cx="2654046" cy="603504"/>
          </a:xfrm>
          <a:prstGeom prst="roundRect">
            <a:avLst>
              <a:gd name="adj" fmla="val 5000"/>
            </a:avLst>
          </a:prstGeom>
          <a:solidFill>
            <a:srgbClr val="EEE8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6167628" y="4956048"/>
            <a:ext cx="64008" cy="603504"/>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ody:69"/>
          <p:cNvSpPr txBox="1"/>
          <p:nvPr/>
        </p:nvSpPr>
        <p:spPr>
          <a:xfrm>
            <a:off x="6332220" y="4974336"/>
            <a:ext cx="2379726" cy="256032"/>
          </a:xfrm>
          <a:prstGeom prst="rect">
            <a:avLst/>
          </a:prstGeom>
          <a:noFill/>
        </p:spPr>
        <p:txBody>
          <a:bodyPr wrap="square" lIns="22860" rIns="22860" tIns="22860" bIns="22860" anchor="ctr">
            <a:spAutoFit/>
          </a:bodyPr>
          <a:lstStyle/>
          <a:p>
            <a:pPr algn="l">
              <a:lnSpc>
                <a:spcPct val="108000"/>
              </a:lnSpc>
            </a:pPr>
            <a:r>
              <a:rPr sz="1150" b="1">
                <a:solidFill>
                  <a:srgbClr val="6A4C93"/>
                </a:solidFill>
                <a:latin typeface="Arial"/>
              </a:rPr>
              <a:t>Jan 2027</a:t>
            </a:r>
          </a:p>
        </p:txBody>
      </p:sp>
      <p:sp>
        <p:nvSpPr>
          <p:cNvPr id="71" name="body:70"/>
          <p:cNvSpPr txBox="1"/>
          <p:nvPr/>
        </p:nvSpPr>
        <p:spPr>
          <a:xfrm>
            <a:off x="6332220" y="5212080"/>
            <a:ext cx="2379726" cy="329184"/>
          </a:xfrm>
          <a:prstGeom prst="rect">
            <a:avLst/>
          </a:prstGeom>
          <a:noFill/>
        </p:spPr>
        <p:txBody>
          <a:bodyPr wrap="square" lIns="22860" rIns="22860" tIns="22860" bIns="22860" anchor="ctr">
            <a:spAutoFit/>
          </a:bodyPr>
          <a:lstStyle/>
          <a:p>
            <a:pPr algn="l">
              <a:lnSpc>
                <a:spcPct val="100000"/>
              </a:lnSpc>
            </a:pPr>
            <a:r>
              <a:rPr sz="1000" b="0">
                <a:solidFill>
                  <a:srgbClr val="22313F"/>
                </a:solidFill>
                <a:latin typeface="Arial"/>
              </a:rPr>
              <a:t>Repaired judge frozen; E3 selection contrast</a:t>
            </a:r>
          </a:p>
        </p:txBody>
      </p:sp>
      <p:sp>
        <p:nvSpPr>
          <p:cNvPr id="72" name="Rounded Rectangle 71"/>
          <p:cNvSpPr/>
          <p:nvPr/>
        </p:nvSpPr>
        <p:spPr>
          <a:xfrm>
            <a:off x="8967978" y="4956048"/>
            <a:ext cx="2654046" cy="603504"/>
          </a:xfrm>
          <a:prstGeom prst="roundRect">
            <a:avLst>
              <a:gd name="adj" fmla="val 5000"/>
            </a:avLst>
          </a:prstGeom>
          <a:solidFill>
            <a:srgbClr val="F8E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8967978" y="4956048"/>
            <a:ext cx="64008" cy="603504"/>
          </a:xfrm>
          <a:prstGeom prst="rect">
            <a:avLst/>
          </a:prstGeom>
          <a:solidFill>
            <a:srgbClr val="B46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ody:73"/>
          <p:cNvSpPr txBox="1"/>
          <p:nvPr/>
        </p:nvSpPr>
        <p:spPr>
          <a:xfrm>
            <a:off x="9132570" y="4974336"/>
            <a:ext cx="2379726" cy="256032"/>
          </a:xfrm>
          <a:prstGeom prst="rect">
            <a:avLst/>
          </a:prstGeom>
          <a:noFill/>
        </p:spPr>
        <p:txBody>
          <a:bodyPr wrap="square" lIns="22860" rIns="22860" tIns="22860" bIns="22860" anchor="ctr">
            <a:spAutoFit/>
          </a:bodyPr>
          <a:lstStyle/>
          <a:p>
            <a:pPr algn="l">
              <a:lnSpc>
                <a:spcPct val="108000"/>
              </a:lnSpc>
            </a:pPr>
            <a:r>
              <a:rPr sz="1150" b="1">
                <a:solidFill>
                  <a:srgbClr val="B4602E"/>
                </a:solidFill>
                <a:latin typeface="Arial"/>
              </a:rPr>
              <a:t>Feb 2027</a:t>
            </a:r>
          </a:p>
        </p:txBody>
      </p:sp>
      <p:sp>
        <p:nvSpPr>
          <p:cNvPr id="75" name="body:74"/>
          <p:cNvSpPr txBox="1"/>
          <p:nvPr/>
        </p:nvSpPr>
        <p:spPr>
          <a:xfrm>
            <a:off x="9132570" y="5212080"/>
            <a:ext cx="2379726" cy="329184"/>
          </a:xfrm>
          <a:prstGeom prst="rect">
            <a:avLst/>
          </a:prstGeom>
          <a:noFill/>
        </p:spPr>
        <p:txBody>
          <a:bodyPr wrap="square" lIns="22860" rIns="22860" tIns="22860" bIns="22860" anchor="ctr">
            <a:spAutoFit/>
          </a:bodyPr>
          <a:lstStyle/>
          <a:p>
            <a:pPr algn="l">
              <a:lnSpc>
                <a:spcPct val="100000"/>
              </a:lnSpc>
            </a:pPr>
            <a:r>
              <a:rPr sz="1000" b="0">
                <a:solidFill>
                  <a:srgbClr val="22313F"/>
                </a:solidFill>
                <a:latin typeface="Arial"/>
              </a:rPr>
              <a:t>Confirmatory twins sized from pilot discordance</a:t>
            </a:r>
          </a:p>
        </p:txBody>
      </p:sp>
      <p:sp>
        <p:nvSpPr>
          <p:cNvPr id="76" name="Rounded Rectangle 75"/>
          <p:cNvSpPr/>
          <p:nvPr/>
        </p:nvSpPr>
        <p:spPr>
          <a:xfrm>
            <a:off x="566928" y="5715000"/>
            <a:ext cx="11055096" cy="548640"/>
          </a:xfrm>
          <a:prstGeom prst="roundRect">
            <a:avLst>
              <a:gd name="adj" fmla="val 5000"/>
            </a:avLst>
          </a:prstGeom>
          <a:solidFill>
            <a:srgbClr val="1E7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ody:76"/>
          <p:cNvSpPr txBox="1"/>
          <p:nvPr/>
        </p:nvSpPr>
        <p:spPr>
          <a:xfrm>
            <a:off x="768096" y="5742432"/>
            <a:ext cx="10652760" cy="493776"/>
          </a:xfrm>
          <a:prstGeom prst="rect">
            <a:avLst/>
          </a:prstGeom>
          <a:noFill/>
        </p:spPr>
        <p:txBody>
          <a:bodyPr wrap="square" lIns="22860" rIns="22860" tIns="22860" bIns="22860" anchor="ctr">
            <a:spAutoFit/>
          </a:bodyPr>
          <a:lstStyle/>
          <a:p>
            <a:pPr algn="l">
              <a:lnSpc>
                <a:spcPct val="108000"/>
              </a:lnSpc>
            </a:pPr>
            <a:r>
              <a:rPr sz="1600" b="1">
                <a:solidFill>
                  <a:srgbClr val="FFFFFF"/>
                </a:solidFill>
                <a:latin typeface="Arial"/>
              </a:rPr>
              <a:t>Next milestone: implement the finite decision model and the paired grant/repair fixture, qualify its controls, preregister E1 and E2.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When the task fails: a decision theory of agent boundaries</dc:title>
  <dc:subject>Reported incidents, a constrained POMDP, two algorithms against prior methods, experiments, implications</dc:subject>
  <dc:creator>Jiawei Li</dc:creator>
  <cp:keywords>containment-extension; decision theory; authorization; research proposal</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