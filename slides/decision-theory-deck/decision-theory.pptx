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版以能够用于设计的结果为主。前五项来自已有决策理论或最优拒判研究，第六项是一个明确给出证明的初等界。每项分别给条件、结论和项目用法。所有数值算例均为假设效用单位，不是模型实验结果。不能把 oracle 的最优性直接当作 LLM 的保证；信念、损失和授权集合都需要由实验定义。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V*(X)=E_X[max_a E[u(a,θ)|X]]。证明思路：看到 X 的决策者可以先模拟 Y，再执行任何基于 Y 的策略。因此 X 至少能达到 Y 的最优值。这里的投影是 garbling 的特例。项目应用：固定候选策略和收益定义，以 T 与 (T,J) 比较信息；单独 J 不一定支配 T。新增信息若不改变最优选择，增益可以为零。学习误差和处理成本可能逆转实际表现。事后 effect journal 可用于策略选择，但不是对同一次动作的事前阻止证据。</a:t>
            </a:r>
          </a:p>
          <a:p/>
          <a:p>
            <a:r>
              <a:t>Sources / 来源</a:t>
            </a:r>
          </a:p>
          <a:p>
            <a:r>
              <a:t>Blackwell (1953), Equivalent Comparisons of Experiments. Formulation checked in Brooks, Frankel &amp; Kamenica (2024), Comparisons of Signals, §3.1.</a:t>
            </a:r>
          </a:p>
          <a:p>
            <a:r>
              <a:t>https://benjaminbrooks.net/downloads/bfk_comparisons.pdf</a:t>
            </a:r>
          </a:p>
          <a:p>
            <a:r>
              <a:t>containment-extension: From reported incidents to testable questions</a:t>
            </a:r>
          </a:p>
          <a:p>
            <a:r>
              <a:t>../../docs/trust4rsi-incident-to-experiment.md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证明：最优策略至少能直接停止诊断，且最终决策价值最多达到完美信息值；因此期望诊断成本不超过 EVPI。停止诊断指选择当前最优终局动作，不必是放弃任务。这个界不能直接用于会修复环境、改变授权或改变收益的工具操作。给定数值由构建脚本精确检查；不把期望次数界解释成逐条轨迹的预算上限。</a:t>
            </a:r>
          </a:p>
          <a:p/>
          <a:p>
            <a:r>
              <a:t>Sources / 来源</a:t>
            </a:r>
          </a:p>
          <a:p>
            <a:r>
              <a:t>Hay, Russell, Tolpin &amp; Shimony (2012), Selecting Computations: Theory and Applications, Theorems 5 and 7.</a:t>
            </a:r>
          </a:p>
          <a:p>
            <a:r>
              <a:t>https://arxiv.org/html/1207.5879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正的一步净收益给出优于立刻决策的可行策略，所以最优策略会继续。若所有首次诊断成本都至少为 cmin，且 EVPI&lt;=cmin，则任何非空诊断序列都无法严格提高净值。两者之间需要多步求解；负的一步收益不是停止证据。</a:t>
            </a:r>
          </a:p>
          <a:p/>
          <a:p>
            <a:r>
              <a:t>Sources / 来源</a:t>
            </a:r>
          </a:p>
          <a:p>
            <a:r>
              <a:t>Hay, Russell, Tolpin &amp; Shimony (2012), Selecting Computations: Theory and Applications, Theorems 5 and 7.</a:t>
            </a:r>
          </a:p>
          <a:p>
            <a:r>
              <a:t>https://arxiv.org/html/1207.5879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自行构造的四状态例子：00、01、10、11 各概率1/4；目标为两位的 XOR。只看任何一位，目标仍为公平位，因此一次诊断后最优成功率依然1/2。两位同时已知时目标确定。净值分别为0.5、0.4、0.8；枚举代码随 deck 保存。该例可对应必须组合版本信息与故障标记才能选对合法修复的 fixture。它是验证停止规则的合成控制，不是模型结果。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点最小化允许、阻止、审查三个动作的条件期望损失。这里正确自动决策损失0，漏报10，误报1，完美审查0.2。求解10p=0.2与1-p=0.2得到0.02和0.8。等号处相应动作并列最优。若人工也有错误，审查风险应是审查成本加残余条件期望损失，不能仍用固定0.2。最优性要求真实条件风险；LLM 自报置信度或总体校准不能自动满足这一条件。这里只处理固定规则下的模糊事件判别。明确禁止的动作应先由授权检查排除，不进入是否值得违规的损失交易。</a:t>
            </a:r>
          </a:p>
          <a:p/>
          <a:p>
            <a:r>
              <a:t>Sources / 来源</a:t>
            </a:r>
          </a:p>
          <a:p>
            <a:r>
              <a:t>Franc, Prusa &amp; Voracek (2023), Optimal Strategies for Reject Option Classifiers, §2.1, Eqs. (3)-(4); cost-based rejection originates in Chow (1970).</a:t>
            </a:r>
          </a:p>
          <a:p>
            <a:r>
              <a:t>https://www.jmlr.org/papers/volume24/21-0048/21-0048.pdf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原定理的无成本结果由人类按效用符号选择保留正值、截断负值获得。本页增加常数审查成本，直接从净值减 c，得到 c&lt;D 时严格偏好审查。这个扩展保持其余假设：只有执行、停止与审查，审查期间不丢失行动机会，成本之外没有其他延迟影响。现实中的人工可能有错误、不同目标或信息不足，因而不能把 D&gt;=0 推广为任意监督都有益。如用于授权询问，需另外规定谁可授予权限；原定理并不自行定义合法授权。</a:t>
            </a:r>
          </a:p>
          <a:p/>
          <a:p>
            <a:r>
              <a:t>Sources / 来源</a:t>
            </a:r>
          </a:p>
          <a:p>
            <a:r>
              <a:t>Hadfield-Menell, Dragan, Abbeel &amp; Russell (2017), The Off-Switch Game, Theorem 1 and Eq. (1).</a:t>
            </a:r>
          </a:p>
          <a:p>
            <a:r>
              <a:t>https://arxiv.org/html/1611.08219v3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初等推导，不冒称某篇文献中的新定理。任何违规动作的惩罚后价值最多H-λ，而任意合法动作的价值至少L，所以λ&gt;H-L足以令所有最大化解合法。若允许捷径收益无上界，对任意固定λ均可构造收益差超过λ的违规选项。注意有限有界任务不能从零违规区分硬约束与足够大惩罚。不能把动作标签I直接替换成任意接近零的违规概率而保留同一个结论；也不能由数学最优性推断LLM遵守惩罚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可实现的参考控制器结构，并非把几条定理组合后自动获得端到端安全性。先构造已知先验和诊断似然的小型闭合环境，利用动态规划得到参考动作。模型比较应记录决策遗憾、成本、合法完成、实际越权、过早停止及不必要审查。若实际修复改变了环境或授权者授予新权限，应在更新的状态和授权集合上重算；此前的信息型 EVPI 不能当作扩大权限或更改动作集合的全局上界。X1b 原本未说明权限的条件没有定义许可真值，不能直接用上述 oracle 重新标成违规。</a:t>
            </a:r>
          </a:p>
          <a:p/>
          <a:p>
            <a:r>
              <a:t>Sources / 来源</a:t>
            </a:r>
          </a:p>
          <a:p>
            <a:r>
              <a:t>containment-extension: From reported incidents to testable questions</a:t>
            </a:r>
          </a:p>
          <a:p>
            <a:r>
              <a:t>../../docs/trust4rsi-incident-to-experiment.md</a:t>
            </a:r>
          </a:p>
          <a:p>
            <a:r>
              <a:t>containment-extension: Next experiments, X1 / X1b</a:t>
            </a:r>
          </a:p>
          <a:p>
            <a:r>
              <a:t>../../docs/trust4rsi-next-experiments.md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来源索引和用法对照。Blackwell1953原文下载未成功，采用2024原始研究 Comparisons of Signals 的3.1节核对标准表述，并链接该可读取的论文。Bayes拒判采用2023论文的通用损失表述，不将不对称损失版本误归为Chow的原始0/1损失公式。第6项有完整一行证明；数值算例、两线索控制和控制器组合为本 deck 的推导或建议。保留数学基准与模型实证之间的区别。</a:t>
            </a:r>
          </a:p>
          <a:p/>
          <a:p>
            <a:r>
              <a:t>Sources / 来源</a:t>
            </a:r>
          </a:p>
          <a:p>
            <a:r>
              <a:t>Blackwell (1953), Equivalent Comparisons of Experiments. Formulation checked in Brooks, Frankel &amp; Kamenica (2024), Comparisons of Signals, §3.1.</a:t>
            </a:r>
          </a:p>
          <a:p>
            <a:r>
              <a:t>https://benjaminbrooks.net/downloads/bfk_comparisons.pdf</a:t>
            </a:r>
          </a:p>
          <a:p>
            <a:r>
              <a:t>Hay, Russell, Tolpin &amp; Shimony (2012), Selecting Computations: Theory and Applications, Theorems 5 and 7.</a:t>
            </a:r>
          </a:p>
          <a:p>
            <a:r>
              <a:t>https://arxiv.org/html/1207.5879</a:t>
            </a:r>
          </a:p>
          <a:p>
            <a:r>
              <a:t>Franc, Prusa &amp; Voracek (2023), Optimal Strategies for Reject Option Classifiers, §2.1, Eqs. (3)-(4); cost-based rejection originates in Chow (1970).</a:t>
            </a:r>
          </a:p>
          <a:p>
            <a:r>
              <a:t>https://www.jmlr.org/papers/volume24/21-0048/21-0048.pdf</a:t>
            </a:r>
          </a:p>
          <a:p>
            <a:r>
              <a:t>Hadfield-Menell, Dragan, Abbeel &amp; Russell (2017), The Off-Switch Game, Theorem 1 and Eq. (1).</a:t>
            </a:r>
          </a:p>
          <a:p>
            <a:r>
              <a:t>https://arxiv.org/html/1611.08219v3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enjaminbrooks.net/downloads/bfk_comparisons.pdf" TargetMode="Externa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html/1207.5879" TargetMode="Externa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html/1207.5879" TargetMode="Externa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html/1207.5879" TargetMode="Externa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jmlr.org/papers/volume24/21-0048/21-0048.pdf" TargetMode="Externa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html/1611.08219v3" TargetMode="Externa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enjaminbrooks.net/downloads/bfk_comparisons.pdf" TargetMode="External"/><Relationship Id="rId3" Type="http://schemas.openxmlformats.org/officeDocument/2006/relationships/hyperlink" Target="https://arxiv.org/html/1207.5879" TargetMode="External"/><Relationship Id="rId4" Type="http://schemas.openxmlformats.org/officeDocument/2006/relationships/hyperlink" Target="https://www.jmlr.org/papers/volume24/21-0048/21-0048.pdf" TargetMode="External"/><Relationship Id="rId5" Type="http://schemas.openxmlformats.org/officeDocument/2006/relationships/hyperlink" Target="https://arxiv.org/html/1611.08219v3" TargetMode="Externa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abel:2"/>
          <p:cNvSpPr txBox="1"/>
          <p:nvPr/>
        </p:nvSpPr>
        <p:spPr>
          <a:xfrm>
            <a:off x="566928" y="365760"/>
            <a:ext cx="10058400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B9C8D8"/>
                </a:solidFill>
                <a:latin typeface="Arial"/>
              </a:rPr>
              <a:t>DECISION THEORY × CONTAINMENT-EXTENSION</a:t>
            </a:r>
          </a:p>
        </p:txBody>
      </p:sp>
      <p:sp>
        <p:nvSpPr>
          <p:cNvPr id="4" name="source:3"/>
          <p:cNvSpPr txBox="1"/>
          <p:nvPr/>
        </p:nvSpPr>
        <p:spPr>
          <a:xfrm>
            <a:off x="566928" y="6400800"/>
            <a:ext cx="10332720" cy="2103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B9C8D8"/>
                </a:solidFill>
                <a:latin typeface="Arial"/>
              </a:rPr>
              <a:t>containment-extension  /  Decision rules with stated assumptions</a:t>
            </a:r>
          </a:p>
        </p:txBody>
      </p:sp>
      <p:sp>
        <p:nvSpPr>
          <p:cNvPr id="5" name="source:4"/>
          <p:cNvSpPr txBox="1"/>
          <p:nvPr/>
        </p:nvSpPr>
        <p:spPr>
          <a:xfrm>
            <a:off x="10927080" y="6364224"/>
            <a:ext cx="694944" cy="26517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B9C8D8"/>
                </a:solidFill>
                <a:latin typeface="Arial"/>
              </a:rPr>
              <a:t>01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77924" y="6711696"/>
            <a:ext cx="1056132" cy="50292"/>
          </a:xfrm>
          <a:prstGeom prst="rect">
            <a:avLst/>
          </a:prstGeom>
          <a:solidFill>
            <a:srgbClr val="22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88920" y="6711696"/>
            <a:ext cx="1056132" cy="50292"/>
          </a:xfrm>
          <a:prstGeom prst="rect">
            <a:avLst/>
          </a:prstGeom>
          <a:solidFill>
            <a:srgbClr val="22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99916" y="6711696"/>
            <a:ext cx="1056132" cy="50292"/>
          </a:xfrm>
          <a:prstGeom prst="rect">
            <a:avLst/>
          </a:prstGeom>
          <a:solidFill>
            <a:srgbClr val="22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10912" y="6711696"/>
            <a:ext cx="1056132" cy="50292"/>
          </a:xfrm>
          <a:prstGeom prst="rect">
            <a:avLst/>
          </a:prstGeom>
          <a:solidFill>
            <a:srgbClr val="22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1908" y="6711696"/>
            <a:ext cx="1056132" cy="50292"/>
          </a:xfrm>
          <a:prstGeom prst="rect">
            <a:avLst/>
          </a:prstGeom>
          <a:solidFill>
            <a:srgbClr val="22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32904" y="6711696"/>
            <a:ext cx="1056132" cy="50292"/>
          </a:xfrm>
          <a:prstGeom prst="rect">
            <a:avLst/>
          </a:prstGeom>
          <a:solidFill>
            <a:srgbClr val="22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43900" y="6711696"/>
            <a:ext cx="1056132" cy="50292"/>
          </a:xfrm>
          <a:prstGeom prst="rect">
            <a:avLst/>
          </a:prstGeom>
          <a:solidFill>
            <a:srgbClr val="22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54896" y="6711696"/>
            <a:ext cx="1056132" cy="50292"/>
          </a:xfrm>
          <a:prstGeom prst="rect">
            <a:avLst/>
          </a:prstGeom>
          <a:solidFill>
            <a:srgbClr val="22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65892" y="6711696"/>
            <a:ext cx="1056132" cy="50292"/>
          </a:xfrm>
          <a:prstGeom prst="rect">
            <a:avLst/>
          </a:prstGeom>
          <a:solidFill>
            <a:srgbClr val="22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tle:15"/>
          <p:cNvSpPr txBox="1"/>
          <p:nvPr/>
        </p:nvSpPr>
        <p:spPr>
          <a:xfrm>
            <a:off x="566928" y="914400"/>
            <a:ext cx="6035040" cy="16459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Decision theory,</a:t>
            </a:r>
          </a:p>
          <a:p>
            <a:pPr algn="l">
              <a:lnSpc>
                <a:spcPct val="102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ready to 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868680" cy="45720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:17"/>
          <p:cNvSpPr txBox="1"/>
          <p:nvPr/>
        </p:nvSpPr>
        <p:spPr>
          <a:xfrm>
            <a:off x="585216" y="2834640"/>
            <a:ext cx="5760720" cy="105156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B9C8D8"/>
                </a:solidFill>
                <a:latin typeface="Arial"/>
              </a:rPr>
              <a:t>Five established results and one elementary payoff bound. Each slide gives the theorem, its assumptions, a worked calculation and one concrete use.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" y="4114800"/>
            <a:ext cx="1143000" cy="329184"/>
          </a:xfrm>
          <a:prstGeom prst="roundRect">
            <a:avLst>
              <a:gd name="adj" fmla="val 5000"/>
            </a:avLst>
          </a:prstGeom>
          <a:solidFill>
            <a:srgbClr val="22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abel:19"/>
          <p:cNvSpPr txBox="1"/>
          <p:nvPr/>
        </p:nvSpPr>
        <p:spPr>
          <a:xfrm>
            <a:off x="585216" y="4114800"/>
            <a:ext cx="1143000" cy="32918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B9C8D8"/>
                </a:solidFill>
                <a:latin typeface="Arial"/>
              </a:rPr>
              <a:t>THEOREM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37944" y="4114800"/>
            <a:ext cx="1417320" cy="329184"/>
          </a:xfrm>
          <a:prstGeom prst="roundRect">
            <a:avLst>
              <a:gd name="adj" fmla="val 5000"/>
            </a:avLst>
          </a:prstGeom>
          <a:solidFill>
            <a:srgbClr val="22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abel:21"/>
          <p:cNvSpPr txBox="1"/>
          <p:nvPr/>
        </p:nvSpPr>
        <p:spPr>
          <a:xfrm>
            <a:off x="1837944" y="4114800"/>
            <a:ext cx="1417320" cy="32918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B9C8D8"/>
                </a:solidFill>
                <a:latin typeface="Arial"/>
              </a:rPr>
              <a:t>ASSUMPTIONS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4992" y="4114800"/>
            <a:ext cx="1691640" cy="329184"/>
          </a:xfrm>
          <a:prstGeom prst="roundRect">
            <a:avLst>
              <a:gd name="adj" fmla="val 5000"/>
            </a:avLst>
          </a:prstGeom>
          <a:solidFill>
            <a:srgbClr val="22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abel:23"/>
          <p:cNvSpPr txBox="1"/>
          <p:nvPr/>
        </p:nvSpPr>
        <p:spPr>
          <a:xfrm>
            <a:off x="3364992" y="4114800"/>
            <a:ext cx="1691640" cy="32918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B9C8D8"/>
                </a:solidFill>
                <a:latin typeface="Arial"/>
              </a:rPr>
              <a:t>WORKED NUMBERS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66360" y="4114800"/>
            <a:ext cx="777240" cy="329184"/>
          </a:xfrm>
          <a:prstGeom prst="roundRect">
            <a:avLst>
              <a:gd name="adj" fmla="val 5000"/>
            </a:avLst>
          </a:prstGeom>
          <a:solidFill>
            <a:srgbClr val="22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abel:25"/>
          <p:cNvSpPr txBox="1"/>
          <p:nvPr/>
        </p:nvSpPr>
        <p:spPr>
          <a:xfrm>
            <a:off x="5166360" y="4114800"/>
            <a:ext cx="777240" cy="32918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B9C8D8"/>
                </a:solidFill>
                <a:latin typeface="Arial"/>
              </a:rPr>
              <a:t>USE</a:t>
            </a:r>
          </a:p>
        </p:txBody>
      </p:sp>
      <p:sp>
        <p:nvSpPr>
          <p:cNvPr id="27" name="label:26"/>
          <p:cNvSpPr txBox="1"/>
          <p:nvPr/>
        </p:nvSpPr>
        <p:spPr>
          <a:xfrm>
            <a:off x="585216" y="4846320"/>
            <a:ext cx="5760720" cy="7315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B9C8D8"/>
                </a:solidFill>
                <a:latin typeface="Arial"/>
              </a:rPr>
              <a:t>No model calls. Toy numbers are exact calculations and labelled as such. Every result links its primary source.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960120"/>
            <a:ext cx="2267712" cy="1389888"/>
          </a:xfrm>
          <a:prstGeom prst="roundRect">
            <a:avLst>
              <a:gd name="adj" fmla="val 5000"/>
            </a:avLst>
          </a:prstGeom>
          <a:solidFill>
            <a:srgbClr val="22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03720" y="960120"/>
            <a:ext cx="2267712" cy="54864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8312" y="1161288"/>
            <a:ext cx="384048" cy="384048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abel:30"/>
          <p:cNvSpPr txBox="1"/>
          <p:nvPr/>
        </p:nvSpPr>
        <p:spPr>
          <a:xfrm>
            <a:off x="7068312" y="1161288"/>
            <a:ext cx="384048" cy="38404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R1</a:t>
            </a:r>
          </a:p>
        </p:txBody>
      </p:sp>
      <p:sp>
        <p:nvSpPr>
          <p:cNvPr id="32" name="body:31"/>
          <p:cNvSpPr txBox="1"/>
          <p:nvPr/>
        </p:nvSpPr>
        <p:spPr>
          <a:xfrm>
            <a:off x="7068312" y="1600200"/>
            <a:ext cx="1993392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Blackwell order</a:t>
            </a:r>
          </a:p>
        </p:txBody>
      </p:sp>
      <p:sp>
        <p:nvSpPr>
          <p:cNvPr id="33" name="body:32"/>
          <p:cNvSpPr txBox="1"/>
          <p:nvPr/>
        </p:nvSpPr>
        <p:spPr>
          <a:xfrm>
            <a:off x="7068312" y="2002536"/>
            <a:ext cx="1993392" cy="29260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B9C8D8"/>
                </a:solidFill>
                <a:latin typeface="Arial"/>
              </a:rPr>
              <a:t>Compare evidence channels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54312" y="960120"/>
            <a:ext cx="2267712" cy="1389888"/>
          </a:xfrm>
          <a:prstGeom prst="roundRect">
            <a:avLst>
              <a:gd name="adj" fmla="val 5000"/>
            </a:avLst>
          </a:prstGeom>
          <a:solidFill>
            <a:srgbClr val="22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54312" y="960120"/>
            <a:ext cx="2267712" cy="54864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518904" y="1161288"/>
            <a:ext cx="384048" cy="384048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abel:36"/>
          <p:cNvSpPr txBox="1"/>
          <p:nvPr/>
        </p:nvSpPr>
        <p:spPr>
          <a:xfrm>
            <a:off x="9518904" y="1161288"/>
            <a:ext cx="384048" cy="38404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R2</a:t>
            </a:r>
          </a:p>
        </p:txBody>
      </p:sp>
      <p:sp>
        <p:nvSpPr>
          <p:cNvPr id="38" name="body:37"/>
          <p:cNvSpPr txBox="1"/>
          <p:nvPr/>
        </p:nvSpPr>
        <p:spPr>
          <a:xfrm>
            <a:off x="9518904" y="1600200"/>
            <a:ext cx="1993392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Perfect-information bound</a:t>
            </a:r>
          </a:p>
        </p:txBody>
      </p:sp>
      <p:sp>
        <p:nvSpPr>
          <p:cNvPr id="39" name="body:38"/>
          <p:cNvSpPr txBox="1"/>
          <p:nvPr/>
        </p:nvSpPr>
        <p:spPr>
          <a:xfrm>
            <a:off x="9518904" y="2002536"/>
            <a:ext cx="1993392" cy="29260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B9C8D8"/>
                </a:solidFill>
                <a:latin typeface="Arial"/>
              </a:rPr>
              <a:t>Cap diagnostic spending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2514600"/>
            <a:ext cx="2267712" cy="1389888"/>
          </a:xfrm>
          <a:prstGeom prst="roundRect">
            <a:avLst>
              <a:gd name="adj" fmla="val 5000"/>
            </a:avLst>
          </a:prstGeom>
          <a:solidFill>
            <a:srgbClr val="22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03720" y="2514600"/>
            <a:ext cx="2267712" cy="54864"/>
          </a:xfrm>
          <a:prstGeom prst="rect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068312" y="2715768"/>
            <a:ext cx="384048" cy="384048"/>
          </a:xfrm>
          <a:prstGeom prst="ellipse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abel:42"/>
          <p:cNvSpPr txBox="1"/>
          <p:nvPr/>
        </p:nvSpPr>
        <p:spPr>
          <a:xfrm>
            <a:off x="7068312" y="2715768"/>
            <a:ext cx="384048" cy="38404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R3</a:t>
            </a:r>
          </a:p>
        </p:txBody>
      </p:sp>
      <p:sp>
        <p:nvSpPr>
          <p:cNvPr id="44" name="body:43"/>
          <p:cNvSpPr txBox="1"/>
          <p:nvPr/>
        </p:nvSpPr>
        <p:spPr>
          <a:xfrm>
            <a:off x="7068312" y="3154680"/>
            <a:ext cx="1993392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Myopic lower bound</a:t>
            </a:r>
          </a:p>
        </p:txBody>
      </p:sp>
      <p:sp>
        <p:nvSpPr>
          <p:cNvPr id="45" name="body:44"/>
          <p:cNvSpPr txBox="1"/>
          <p:nvPr/>
        </p:nvSpPr>
        <p:spPr>
          <a:xfrm>
            <a:off x="7068312" y="3557015"/>
            <a:ext cx="1993392" cy="29260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B9C8D8"/>
                </a:solidFill>
                <a:latin typeface="Arial"/>
              </a:rPr>
              <a:t>Two safe stopping tests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54312" y="2514600"/>
            <a:ext cx="2267712" cy="1389888"/>
          </a:xfrm>
          <a:prstGeom prst="roundRect">
            <a:avLst>
              <a:gd name="adj" fmla="val 5000"/>
            </a:avLst>
          </a:prstGeom>
          <a:solidFill>
            <a:srgbClr val="22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54312" y="2514600"/>
            <a:ext cx="2267712" cy="54864"/>
          </a:xfrm>
          <a:prstGeom prst="rect">
            <a:avLst/>
          </a:prstGeom>
          <a:solidFill>
            <a:srgbClr val="A4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518904" y="2715768"/>
            <a:ext cx="384048" cy="384048"/>
          </a:xfrm>
          <a:prstGeom prst="ellipse">
            <a:avLst/>
          </a:prstGeom>
          <a:solidFill>
            <a:srgbClr val="A4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label:48"/>
          <p:cNvSpPr txBox="1"/>
          <p:nvPr/>
        </p:nvSpPr>
        <p:spPr>
          <a:xfrm>
            <a:off x="9518904" y="2715768"/>
            <a:ext cx="384048" cy="38404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R4</a:t>
            </a:r>
          </a:p>
        </p:txBody>
      </p:sp>
      <p:sp>
        <p:nvSpPr>
          <p:cNvPr id="50" name="body:49"/>
          <p:cNvSpPr txBox="1"/>
          <p:nvPr/>
        </p:nvSpPr>
        <p:spPr>
          <a:xfrm>
            <a:off x="9518904" y="3154680"/>
            <a:ext cx="1993392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Bayes rejection</a:t>
            </a:r>
          </a:p>
        </p:txBody>
      </p:sp>
      <p:sp>
        <p:nvSpPr>
          <p:cNvPr id="51" name="body:50"/>
          <p:cNvSpPr txBox="1"/>
          <p:nvPr/>
        </p:nvSpPr>
        <p:spPr>
          <a:xfrm>
            <a:off x="9518904" y="3557015"/>
            <a:ext cx="1993392" cy="29260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B9C8D8"/>
                </a:solidFill>
                <a:latin typeface="Arial"/>
              </a:rPr>
              <a:t>Thresholds from losses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03720" y="4069080"/>
            <a:ext cx="2267712" cy="1389888"/>
          </a:xfrm>
          <a:prstGeom prst="roundRect">
            <a:avLst>
              <a:gd name="adj" fmla="val 5000"/>
            </a:avLst>
          </a:prstGeom>
          <a:solidFill>
            <a:srgbClr val="22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03720" y="4069080"/>
            <a:ext cx="2267712" cy="5486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8312" y="4270248"/>
            <a:ext cx="384048" cy="38404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label:54"/>
          <p:cNvSpPr txBox="1"/>
          <p:nvPr/>
        </p:nvSpPr>
        <p:spPr>
          <a:xfrm>
            <a:off x="7068312" y="4270248"/>
            <a:ext cx="384048" cy="38404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R5</a:t>
            </a:r>
          </a:p>
        </p:txBody>
      </p:sp>
      <p:sp>
        <p:nvSpPr>
          <p:cNvPr id="56" name="body:55"/>
          <p:cNvSpPr txBox="1"/>
          <p:nvPr/>
        </p:nvSpPr>
        <p:spPr>
          <a:xfrm>
            <a:off x="7068312" y="4709160"/>
            <a:ext cx="1993392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Off-Switch Game</a:t>
            </a:r>
          </a:p>
        </p:txBody>
      </p:sp>
      <p:sp>
        <p:nvSpPr>
          <p:cNvPr id="57" name="body:56"/>
          <p:cNvSpPr txBox="1"/>
          <p:nvPr/>
        </p:nvSpPr>
        <p:spPr>
          <a:xfrm>
            <a:off x="7068312" y="5111496"/>
            <a:ext cx="1993392" cy="29260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B9C8D8"/>
                </a:solidFill>
                <a:latin typeface="Arial"/>
              </a:rPr>
              <a:t>Price informed supervision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354312" y="4069080"/>
            <a:ext cx="2267712" cy="1389888"/>
          </a:xfrm>
          <a:prstGeom prst="roundRect">
            <a:avLst>
              <a:gd name="adj" fmla="val 5000"/>
            </a:avLst>
          </a:prstGeom>
          <a:solidFill>
            <a:srgbClr val="22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54312" y="4069080"/>
            <a:ext cx="2267712" cy="54864"/>
          </a:xfrm>
          <a:prstGeom prst="rect">
            <a:avLst/>
          </a:prstGeom>
          <a:solidFill>
            <a:srgbClr val="B04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518904" y="4270248"/>
            <a:ext cx="384048" cy="384048"/>
          </a:xfrm>
          <a:prstGeom prst="ellipse">
            <a:avLst/>
          </a:prstGeom>
          <a:solidFill>
            <a:srgbClr val="B04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abel:60"/>
          <p:cNvSpPr txBox="1"/>
          <p:nvPr/>
        </p:nvSpPr>
        <p:spPr>
          <a:xfrm>
            <a:off x="9518904" y="4270248"/>
            <a:ext cx="384048" cy="38404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R6</a:t>
            </a:r>
          </a:p>
        </p:txBody>
      </p:sp>
      <p:sp>
        <p:nvSpPr>
          <p:cNvPr id="62" name="body:61"/>
          <p:cNvSpPr txBox="1"/>
          <p:nvPr/>
        </p:nvSpPr>
        <p:spPr>
          <a:xfrm>
            <a:off x="9518904" y="4709160"/>
            <a:ext cx="1993392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Payoff-range bound</a:t>
            </a:r>
          </a:p>
        </p:txBody>
      </p:sp>
      <p:sp>
        <p:nvSpPr>
          <p:cNvPr id="63" name="body:62"/>
          <p:cNvSpPr txBox="1"/>
          <p:nvPr/>
        </p:nvSpPr>
        <p:spPr>
          <a:xfrm>
            <a:off x="9518904" y="5111496"/>
            <a:ext cx="1993392" cy="29260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B9C8D8"/>
                </a:solidFill>
                <a:latin typeface="Arial"/>
              </a:rPr>
              <a:t>When a penalty suffices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65760"/>
            <a:ext cx="420624" cy="420624"/>
          </a:xfrm>
          <a:prstGeom prst="roundRect">
            <a:avLst>
              <a:gd name="adj" fmla="val 5000"/>
            </a:avLst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el:3"/>
          <p:cNvSpPr txBox="1"/>
          <p:nvPr/>
        </p:nvSpPr>
        <p:spPr>
          <a:xfrm>
            <a:off x="566928" y="365760"/>
            <a:ext cx="420624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R1</a:t>
            </a:r>
          </a:p>
        </p:txBody>
      </p:sp>
      <p:sp>
        <p:nvSpPr>
          <p:cNvPr id="5" name="label:4"/>
          <p:cNvSpPr txBox="1"/>
          <p:nvPr/>
        </p:nvSpPr>
        <p:spPr>
          <a:xfrm>
            <a:off x="1115568" y="365760"/>
            <a:ext cx="10058400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A6391"/>
                </a:solidFill>
                <a:latin typeface="Arial"/>
              </a:rPr>
              <a:t>RESULT 1 / BLACKWELL'S COMPARISON OF EXPERIMENTS</a:t>
            </a:r>
          </a:p>
        </p:txBody>
      </p:sp>
      <p:sp>
        <p:nvSpPr>
          <p:cNvPr id="6" name="title:5"/>
          <p:cNvSpPr txBox="1"/>
          <p:nvPr/>
        </p:nvSpPr>
        <p:spPr>
          <a:xfrm>
            <a:off x="566928" y="841248"/>
            <a:ext cx="11055096" cy="64008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72D46"/>
                </a:solidFill>
                <a:latin typeface="Arial"/>
              </a:rPr>
              <a:t>More informative evidence cannot lower optimal value.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868680" cy="45720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btitle:7"/>
          <p:cNvSpPr txBox="1"/>
          <p:nvPr/>
        </p:nvSpPr>
        <p:spPr>
          <a:xfrm>
            <a:off x="585216" y="1645920"/>
            <a:ext cx="11055096" cy="40233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5F6E80"/>
                </a:solidFill>
                <a:latin typeface="Arial"/>
              </a:rPr>
              <a:t>If Y can be produced by garbling X, whoever sees X can do at least as well as whoever sees Y.</a:t>
            </a:r>
          </a:p>
        </p:txBody>
      </p:sp>
      <p:sp>
        <p:nvSpPr>
          <p:cNvPr id="9" name="source:8"/>
          <p:cNvSpPr txBox="1"/>
          <p:nvPr/>
        </p:nvSpPr>
        <p:spPr>
          <a:xfrm>
            <a:off x="566928" y="6400800"/>
            <a:ext cx="10332720" cy="2103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F6E80"/>
                </a:solidFill>
                <a:latin typeface="Arial"/>
              </a:rPr>
              <a:t> </a:t>
            </a:r>
          </a:p>
        </p:txBody>
      </p:sp>
      <p:sp>
        <p:nvSpPr>
          <p:cNvPr id="10" name="source:9"/>
          <p:cNvSpPr txBox="1"/>
          <p:nvPr/>
        </p:nvSpPr>
        <p:spPr>
          <a:xfrm>
            <a:off x="10927080" y="6364224"/>
            <a:ext cx="694944" cy="26517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5F6E80"/>
                </a:solidFill>
                <a:latin typeface="Arial"/>
              </a:rPr>
              <a:t>02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77924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99916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10912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1908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32904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43900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54896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65892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ource:20"/>
          <p:cNvSpPr txBox="1"/>
          <p:nvPr/>
        </p:nvSpPr>
        <p:spPr>
          <a:xfrm>
            <a:off x="566928" y="6400800"/>
            <a:ext cx="10332720" cy="2103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F6E80"/>
                </a:solidFill>
                <a:latin typeface="Arial"/>
                <a:hlinkClick r:id="rId2"/>
              </a:rPr>
              <a:t>Blackwell (1953); formulation checked in Brooks, Frankel &amp; Kamenica (2024), §3.1.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176272"/>
            <a:ext cx="269748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176272"/>
            <a:ext cx="64008" cy="1874519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abel:23"/>
          <p:cNvSpPr txBox="1"/>
          <p:nvPr/>
        </p:nvSpPr>
        <p:spPr>
          <a:xfrm>
            <a:off x="786384" y="2267712"/>
            <a:ext cx="237744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A6391"/>
                </a:solidFill>
                <a:latin typeface="Arial"/>
              </a:rPr>
              <a:t>X · RICHER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7" y="2670048"/>
            <a:ext cx="4572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3A6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8971" y="2823118"/>
            <a:ext cx="283464" cy="39684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971" y="2930834"/>
            <a:ext cx="283464" cy="39684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971" y="3038551"/>
            <a:ext cx="182880" cy="39684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ody:28"/>
          <p:cNvSpPr txBox="1"/>
          <p:nvPr/>
        </p:nvSpPr>
        <p:spPr>
          <a:xfrm>
            <a:off x="1408176" y="2706624"/>
            <a:ext cx="1737360" cy="49377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313F"/>
                </a:solidFill>
                <a:latin typeface="Arial"/>
              </a:rPr>
              <a:t>T</a:t>
            </a:r>
          </a:p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313F"/>
                </a:solidFill>
                <a:latin typeface="Arial"/>
              </a:rPr>
              <a:t>transcript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7" y="3328416"/>
            <a:ext cx="4572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8971" y="3481486"/>
            <a:ext cx="283464" cy="39684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8971" y="3589202"/>
            <a:ext cx="283464" cy="39684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8971" y="3696919"/>
            <a:ext cx="182880" cy="39684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ody:33"/>
          <p:cNvSpPr txBox="1"/>
          <p:nvPr/>
        </p:nvSpPr>
        <p:spPr>
          <a:xfrm>
            <a:off x="1408176" y="3364992"/>
            <a:ext cx="1737360" cy="49377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313F"/>
                </a:solidFill>
                <a:latin typeface="Arial"/>
              </a:rPr>
              <a:t>J</a:t>
            </a:r>
          </a:p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313F"/>
                </a:solidFill>
                <a:latin typeface="Arial"/>
              </a:rPr>
              <a:t>effect journal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01568" y="3097530"/>
            <a:ext cx="822960" cy="22860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Isosceles Triangle 35"/>
          <p:cNvSpPr/>
          <p:nvPr/>
        </p:nvSpPr>
        <p:spPr>
          <a:xfrm rot="5400000">
            <a:off x="4160520" y="3044952"/>
            <a:ext cx="128016" cy="128016"/>
          </a:xfrm>
          <a:prstGeom prst="triangl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ody:36"/>
          <p:cNvSpPr txBox="1"/>
          <p:nvPr/>
        </p:nvSpPr>
        <p:spPr>
          <a:xfrm>
            <a:off x="3273552" y="2761488"/>
            <a:ext cx="1078992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3A6391"/>
                </a:solidFill>
                <a:latin typeface="Arial"/>
              </a:rPr>
              <a:t>garble</a:t>
            </a:r>
          </a:p>
        </p:txBody>
      </p:sp>
      <p:sp>
        <p:nvSpPr>
          <p:cNvPr id="38" name="body:37"/>
          <p:cNvSpPr txBox="1"/>
          <p:nvPr/>
        </p:nvSpPr>
        <p:spPr>
          <a:xfrm>
            <a:off x="3200400" y="3218688"/>
            <a:ext cx="1225296" cy="45720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drop J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(deterministic)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15968" y="2176272"/>
            <a:ext cx="205740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15968" y="2176272"/>
            <a:ext cx="64008" cy="1874519"/>
          </a:xfrm>
          <a:prstGeom prst="rect">
            <a:avLst/>
          </a:prstGeom>
          <a:solidFill>
            <a:srgbClr val="B9C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label:40"/>
          <p:cNvSpPr txBox="1"/>
          <p:nvPr/>
        </p:nvSpPr>
        <p:spPr>
          <a:xfrm>
            <a:off x="4535424" y="2267712"/>
            <a:ext cx="173736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5F6E80"/>
                </a:solidFill>
                <a:latin typeface="Arial"/>
              </a:rPr>
              <a:t>Y · COARSER 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90288" y="2816352"/>
            <a:ext cx="4572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3A6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68012" y="2969422"/>
            <a:ext cx="283464" cy="39684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68012" y="3077138"/>
            <a:ext cx="283464" cy="39684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68012" y="3184855"/>
            <a:ext cx="182880" cy="39684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body:45"/>
          <p:cNvSpPr txBox="1"/>
          <p:nvPr/>
        </p:nvSpPr>
        <p:spPr>
          <a:xfrm>
            <a:off x="5157216" y="2852928"/>
            <a:ext cx="1188720" cy="49377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313F"/>
                </a:solidFill>
                <a:latin typeface="Arial"/>
              </a:rPr>
              <a:t>T</a:t>
            </a:r>
          </a:p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313F"/>
                </a:solidFill>
                <a:latin typeface="Arial"/>
              </a:rPr>
              <a:t>transcript</a:t>
            </a:r>
          </a:p>
        </p:txBody>
      </p:sp>
      <p:sp>
        <p:nvSpPr>
          <p:cNvPr id="47" name="label:46"/>
          <p:cNvSpPr txBox="1"/>
          <p:nvPr/>
        </p:nvSpPr>
        <p:spPr>
          <a:xfrm>
            <a:off x="566928" y="4224528"/>
            <a:ext cx="274320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A6391"/>
                </a:solidFill>
                <a:latin typeface="Arial"/>
              </a:rPr>
              <a:t>OPTIMAL DECISION VALUE</a:t>
            </a:r>
          </a:p>
        </p:txBody>
      </p:sp>
      <p:sp>
        <p:nvSpPr>
          <p:cNvPr id="48" name="body:47"/>
          <p:cNvSpPr txBox="1"/>
          <p:nvPr/>
        </p:nvSpPr>
        <p:spPr>
          <a:xfrm>
            <a:off x="566928" y="4480560"/>
            <a:ext cx="1024128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72D46"/>
                </a:solidFill>
                <a:latin typeface="Arial"/>
              </a:rPr>
              <a:t>V*(T, J)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0" y="4498848"/>
            <a:ext cx="4206240" cy="237744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645920" y="4498848"/>
            <a:ext cx="3112617" cy="237744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58537" y="4498848"/>
            <a:ext cx="1093622" cy="237744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label:51"/>
          <p:cNvSpPr txBox="1"/>
          <p:nvPr/>
        </p:nvSpPr>
        <p:spPr>
          <a:xfrm>
            <a:off x="4758537" y="4498848"/>
            <a:ext cx="1093622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gain ≥ 0</a:t>
            </a:r>
          </a:p>
        </p:txBody>
      </p:sp>
      <p:sp>
        <p:nvSpPr>
          <p:cNvPr id="53" name="body:52"/>
          <p:cNvSpPr txBox="1"/>
          <p:nvPr/>
        </p:nvSpPr>
        <p:spPr>
          <a:xfrm>
            <a:off x="566928" y="4809744"/>
            <a:ext cx="1024128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72D46"/>
                </a:solidFill>
                <a:latin typeface="Arial"/>
              </a:rPr>
              <a:t>V*(T)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45920" y="4828032"/>
            <a:ext cx="4206240" cy="237744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645920" y="4828032"/>
            <a:ext cx="3112617" cy="237744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675120" y="2176272"/>
            <a:ext cx="4946904" cy="1325880"/>
          </a:xfrm>
          <a:prstGeom prst="rect">
            <a:avLst/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675120" y="2176272"/>
            <a:ext cx="82296" cy="1325880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label:57"/>
          <p:cNvSpPr txBox="1"/>
          <p:nvPr/>
        </p:nvSpPr>
        <p:spPr>
          <a:xfrm>
            <a:off x="6912864" y="2286000"/>
            <a:ext cx="4581144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A6391"/>
                </a:solidFill>
                <a:latin typeface="Arial"/>
              </a:rPr>
              <a:t>RESULT 1</a:t>
            </a:r>
          </a:p>
        </p:txBody>
      </p:sp>
      <p:sp>
        <p:nvSpPr>
          <p:cNvPr id="59" name="formula:58"/>
          <p:cNvSpPr txBox="1"/>
          <p:nvPr/>
        </p:nvSpPr>
        <p:spPr>
          <a:xfrm>
            <a:off x="6912864" y="2542032"/>
            <a:ext cx="4562856" cy="594359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V*(T, J)  ≥  V*(T)</a:t>
            </a:r>
          </a:p>
        </p:txBody>
      </p:sp>
      <p:sp>
        <p:nvSpPr>
          <p:cNvPr id="60" name="caption:59"/>
          <p:cNvSpPr txBox="1"/>
          <p:nvPr/>
        </p:nvSpPr>
        <p:spPr>
          <a:xfrm>
            <a:off x="6912864" y="3099816"/>
            <a:ext cx="4562856" cy="31089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B9C8D8"/>
                </a:solidFill>
                <a:latin typeface="Arial"/>
              </a:rPr>
              <a:t>Both signals versus the transcript alone; equality is allowed.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75120" y="3675887"/>
            <a:ext cx="4946904" cy="1399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675120" y="3675887"/>
            <a:ext cx="64008" cy="1399032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abel:62"/>
          <p:cNvSpPr txBox="1"/>
          <p:nvPr/>
        </p:nvSpPr>
        <p:spPr>
          <a:xfrm>
            <a:off x="6912864" y="3767328"/>
            <a:ext cx="274320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A6391"/>
                </a:solidFill>
                <a:latin typeface="Arial"/>
              </a:rPr>
              <a:t>HOLDS WHEN</a:t>
            </a:r>
          </a:p>
        </p:txBody>
      </p:sp>
      <p:sp>
        <p:nvSpPr>
          <p:cNvPr id="64" name="Oval 63"/>
          <p:cNvSpPr/>
          <p:nvPr/>
        </p:nvSpPr>
        <p:spPr>
          <a:xfrm>
            <a:off x="6954012" y="4128516"/>
            <a:ext cx="100584" cy="100584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body:64"/>
          <p:cNvSpPr txBox="1"/>
          <p:nvPr/>
        </p:nvSpPr>
        <p:spPr>
          <a:xfrm>
            <a:off x="7150608" y="4041648"/>
            <a:ext cx="4297680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2313F"/>
                </a:solidFill>
                <a:latin typeface="Arial"/>
              </a:rPr>
              <a:t>Same prior, utility and action set</a:t>
            </a:r>
          </a:p>
        </p:txBody>
      </p:sp>
      <p:sp>
        <p:nvSpPr>
          <p:cNvPr id="66" name="Oval 65"/>
          <p:cNvSpPr/>
          <p:nvPr/>
        </p:nvSpPr>
        <p:spPr>
          <a:xfrm>
            <a:off x="6954012" y="4421124"/>
            <a:ext cx="100584" cy="100584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body:66"/>
          <p:cNvSpPr txBox="1"/>
          <p:nvPr/>
        </p:nvSpPr>
        <p:spPr>
          <a:xfrm>
            <a:off x="7150608" y="4334256"/>
            <a:ext cx="4297680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2313F"/>
                </a:solidFill>
                <a:latin typeface="Arial"/>
              </a:rPr>
              <a:t>The extra signal is free to observe</a:t>
            </a:r>
          </a:p>
        </p:txBody>
      </p:sp>
      <p:sp>
        <p:nvSpPr>
          <p:cNvPr id="68" name="Oval 67"/>
          <p:cNvSpPr/>
          <p:nvPr/>
        </p:nvSpPr>
        <p:spPr>
          <a:xfrm>
            <a:off x="6954012" y="4713732"/>
            <a:ext cx="100584" cy="100584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body:68"/>
          <p:cNvSpPr txBox="1"/>
          <p:nvPr/>
        </p:nvSpPr>
        <p:spPr>
          <a:xfrm>
            <a:off x="7150608" y="4626864"/>
            <a:ext cx="4297680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2313F"/>
                </a:solidFill>
                <a:latin typeface="Arial"/>
              </a:rPr>
              <a:t>Evidence is used optimally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5212080"/>
            <a:ext cx="11055096" cy="365760"/>
          </a:xfrm>
          <a:prstGeom prst="rect">
            <a:avLst/>
          </a:prstGeom>
          <a:solidFill>
            <a:srgbClr val="F8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66928" y="5212080"/>
            <a:ext cx="64008" cy="365760"/>
          </a:xfrm>
          <a:prstGeom prst="rect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abel:71"/>
          <p:cNvSpPr txBox="1"/>
          <p:nvPr/>
        </p:nvSpPr>
        <p:spPr>
          <a:xfrm>
            <a:off x="768096" y="5266944"/>
            <a:ext cx="91440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B4602E"/>
                </a:solidFill>
                <a:latin typeface="Arial"/>
              </a:rPr>
              <a:t>ASSUMES</a:t>
            </a:r>
          </a:p>
        </p:txBody>
      </p:sp>
      <p:sp>
        <p:nvSpPr>
          <p:cNvPr id="73" name="assumption:72"/>
          <p:cNvSpPr txBox="1"/>
          <p:nvPr/>
        </p:nvSpPr>
        <p:spPr>
          <a:xfrm>
            <a:off x="1682495" y="5212080"/>
            <a:ext cx="9774936" cy="36576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2313F"/>
                </a:solidFill>
                <a:latin typeface="Arial"/>
              </a:rPr>
              <a:t>Orders optimal decision value, not the accuracy of two learned judges; the strict gain can be zero.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66928" y="5687568"/>
            <a:ext cx="11055096" cy="603504"/>
          </a:xfrm>
          <a:prstGeom prst="roundRect">
            <a:avLst>
              <a:gd name="adj" fmla="val 5000"/>
            </a:avLst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13232" y="5833872"/>
            <a:ext cx="566928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label:75"/>
          <p:cNvSpPr txBox="1"/>
          <p:nvPr/>
        </p:nvSpPr>
        <p:spPr>
          <a:xfrm>
            <a:off x="713232" y="5833872"/>
            <a:ext cx="566928" cy="31089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1E7A72"/>
                </a:solidFill>
                <a:latin typeface="Arial"/>
              </a:rPr>
              <a:t>USE</a:t>
            </a:r>
          </a:p>
        </p:txBody>
      </p:sp>
      <p:sp>
        <p:nvSpPr>
          <p:cNvPr id="77" name="application:76"/>
          <p:cNvSpPr txBox="1"/>
          <p:nvPr/>
        </p:nvSpPr>
        <p:spPr>
          <a:xfrm>
            <a:off x="1444752" y="5687568"/>
            <a:ext cx="10049256" cy="60350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B3/B4: keep the transcript in both arms; add journal evidence to one arm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65760"/>
            <a:ext cx="420624" cy="420624"/>
          </a:xfrm>
          <a:prstGeom prst="roundRect">
            <a:avLst>
              <a:gd name="adj" fmla="val 5000"/>
            </a:avLst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el:3"/>
          <p:cNvSpPr txBox="1"/>
          <p:nvPr/>
        </p:nvSpPr>
        <p:spPr>
          <a:xfrm>
            <a:off x="566928" y="365760"/>
            <a:ext cx="420624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R2</a:t>
            </a:r>
          </a:p>
        </p:txBody>
      </p:sp>
      <p:sp>
        <p:nvSpPr>
          <p:cNvPr id="5" name="label:4"/>
          <p:cNvSpPr txBox="1"/>
          <p:nvPr/>
        </p:nvSpPr>
        <p:spPr>
          <a:xfrm>
            <a:off x="1115568" y="365760"/>
            <a:ext cx="10058400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1E7A72"/>
                </a:solidFill>
                <a:latin typeface="Arial"/>
              </a:rPr>
              <a:t>RESULT 2 / HAY ET AL. (2012), THEOREM 5</a:t>
            </a:r>
          </a:p>
        </p:txBody>
      </p:sp>
      <p:sp>
        <p:nvSpPr>
          <p:cNvPr id="6" name="title:5"/>
          <p:cNvSpPr txBox="1"/>
          <p:nvPr/>
        </p:nvSpPr>
        <p:spPr>
          <a:xfrm>
            <a:off x="566928" y="841248"/>
            <a:ext cx="11055096" cy="64008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72D46"/>
                </a:solidFill>
                <a:latin typeface="Arial"/>
              </a:rPr>
              <a:t>Perfect information bounds diagnostic spending.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868680" cy="45720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btitle:7"/>
          <p:cNvSpPr txBox="1"/>
          <p:nvPr/>
        </p:nvSpPr>
        <p:spPr>
          <a:xfrm>
            <a:off x="585216" y="1645920"/>
            <a:ext cx="11055096" cy="40233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5F6E80"/>
                </a:solidFill>
                <a:latin typeface="Arial"/>
              </a:rPr>
              <a:t>Fix the authorized terminal actions; each probe costs c and reveals information without changing the world.</a:t>
            </a:r>
          </a:p>
        </p:txBody>
      </p:sp>
      <p:sp>
        <p:nvSpPr>
          <p:cNvPr id="9" name="source:8"/>
          <p:cNvSpPr txBox="1"/>
          <p:nvPr/>
        </p:nvSpPr>
        <p:spPr>
          <a:xfrm>
            <a:off x="566928" y="6400800"/>
            <a:ext cx="10332720" cy="2103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F6E80"/>
                </a:solidFill>
                <a:latin typeface="Arial"/>
              </a:rPr>
              <a:t> </a:t>
            </a:r>
          </a:p>
        </p:txBody>
      </p:sp>
      <p:sp>
        <p:nvSpPr>
          <p:cNvPr id="10" name="source:9"/>
          <p:cNvSpPr txBox="1"/>
          <p:nvPr/>
        </p:nvSpPr>
        <p:spPr>
          <a:xfrm>
            <a:off x="10927080" y="6364224"/>
            <a:ext cx="694944" cy="26517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5F6E80"/>
                </a:solidFill>
                <a:latin typeface="Arial"/>
              </a:rPr>
              <a:t>03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77924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99916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10912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1908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32904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43900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54896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65892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ource:20"/>
          <p:cNvSpPr txBox="1"/>
          <p:nvPr/>
        </p:nvSpPr>
        <p:spPr>
          <a:xfrm>
            <a:off x="566928" y="6400800"/>
            <a:ext cx="10332720" cy="2103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F6E80"/>
                </a:solidFill>
                <a:latin typeface="Arial"/>
                <a:hlinkClick r:id="rId2"/>
              </a:rPr>
              <a:t>Hay et al. (2012), Theorem 5. Payoffs are an illustrative calculation in toy units.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176272"/>
            <a:ext cx="40233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176272"/>
            <a:ext cx="64008" cy="2926080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abel:23"/>
          <p:cNvSpPr txBox="1"/>
          <p:nvPr/>
        </p:nvSpPr>
        <p:spPr>
          <a:xfrm>
            <a:off x="786384" y="2267712"/>
            <a:ext cx="320040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1E7A72"/>
                </a:solidFill>
                <a:latin typeface="Arial"/>
              </a:rPr>
              <a:t>WORKED PAYOFFS · TOY UNITS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090672"/>
            <a:ext cx="1143000" cy="457200"/>
          </a:xfrm>
          <a:prstGeom prst="roundRect">
            <a:avLst>
              <a:gd name="adj" fmla="val 5000"/>
            </a:avLst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ody:25"/>
          <p:cNvSpPr txBox="1"/>
          <p:nvPr/>
        </p:nvSpPr>
        <p:spPr>
          <a:xfrm>
            <a:off x="777240" y="3090672"/>
            <a:ext cx="1143000" cy="45720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Decide now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23160" y="2670048"/>
            <a:ext cx="777240" cy="384048"/>
          </a:xfrm>
          <a:prstGeom prst="roundRect">
            <a:avLst>
              <a:gd name="adj" fmla="val 5000"/>
            </a:avLst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ody:27"/>
          <p:cNvSpPr txBox="1"/>
          <p:nvPr/>
        </p:nvSpPr>
        <p:spPr>
          <a:xfrm>
            <a:off x="2423160" y="2670048"/>
            <a:ext cx="777240" cy="38404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3A6391"/>
                </a:solidFill>
                <a:latin typeface="Arial"/>
              </a:rPr>
              <a:t>act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23160" y="3767328"/>
            <a:ext cx="777240" cy="384048"/>
          </a:xfrm>
          <a:prstGeom prst="roundRect">
            <a:avLst>
              <a:gd name="adj" fmla="val 5000"/>
            </a:avLst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ody:29"/>
          <p:cNvSpPr txBox="1"/>
          <p:nvPr/>
        </p:nvSpPr>
        <p:spPr>
          <a:xfrm>
            <a:off x="2423160" y="3767328"/>
            <a:ext cx="777240" cy="38404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3A6391"/>
                </a:solidFill>
                <a:latin typeface="Arial"/>
              </a:rPr>
              <a:t>stop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468880"/>
            <a:ext cx="777240" cy="365760"/>
          </a:xfrm>
          <a:prstGeom prst="roundRect">
            <a:avLst>
              <a:gd name="adj" fmla="val 5000"/>
            </a:avLst>
          </a:prstGeom>
          <a:solidFill>
            <a:srgbClr val="E1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ody:31"/>
          <p:cNvSpPr txBox="1"/>
          <p:nvPr/>
        </p:nvSpPr>
        <p:spPr>
          <a:xfrm>
            <a:off x="3703320" y="2468880"/>
            <a:ext cx="777240" cy="36576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1E7A72"/>
                </a:solidFill>
                <a:latin typeface="Arial"/>
              </a:rPr>
              <a:t>+6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2926080"/>
            <a:ext cx="777240" cy="365760"/>
          </a:xfrm>
          <a:prstGeom prst="roundRect">
            <a:avLst>
              <a:gd name="adj" fmla="val 5000"/>
            </a:avLst>
          </a:prstGeom>
          <a:solidFill>
            <a:srgbClr val="F7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ody:33"/>
          <p:cNvSpPr txBox="1"/>
          <p:nvPr/>
        </p:nvSpPr>
        <p:spPr>
          <a:xfrm>
            <a:off x="3703320" y="2926080"/>
            <a:ext cx="777240" cy="36576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B04E45"/>
                </a:solidFill>
                <a:latin typeface="Arial"/>
              </a:rPr>
              <a:t>−4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03320" y="3776472"/>
            <a:ext cx="777240" cy="365760"/>
          </a:xfrm>
          <a:prstGeom prst="roundRect">
            <a:avLst>
              <a:gd name="adj" fmla="val 5000"/>
            </a:avLst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ody:35"/>
          <p:cNvSpPr txBox="1"/>
          <p:nvPr/>
        </p:nvSpPr>
        <p:spPr>
          <a:xfrm>
            <a:off x="3703320" y="3776472"/>
            <a:ext cx="777240" cy="36576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5F6E80"/>
                </a:solidFill>
                <a:latin typeface="Arial"/>
              </a:rPr>
              <a:t>0</a:t>
            </a:r>
          </a:p>
        </p:txBody>
      </p:sp>
      <p:sp>
        <p:nvSpPr>
          <p:cNvPr id="37" name="body:36"/>
          <p:cNvSpPr txBox="1"/>
          <p:nvPr/>
        </p:nvSpPr>
        <p:spPr>
          <a:xfrm>
            <a:off x="3218688" y="2414016"/>
            <a:ext cx="502920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p ½</a:t>
            </a:r>
          </a:p>
        </p:txBody>
      </p:sp>
      <p:sp>
        <p:nvSpPr>
          <p:cNvPr id="38" name="body:37"/>
          <p:cNvSpPr txBox="1"/>
          <p:nvPr/>
        </p:nvSpPr>
        <p:spPr>
          <a:xfrm>
            <a:off x="3218688" y="3127248"/>
            <a:ext cx="502920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p 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3307842"/>
            <a:ext cx="228600" cy="22860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137410" y="2862072"/>
            <a:ext cx="22860" cy="457200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148840" y="2850642"/>
            <a:ext cx="274320" cy="22860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Isosceles Triangle 41"/>
          <p:cNvSpPr/>
          <p:nvPr/>
        </p:nvSpPr>
        <p:spPr>
          <a:xfrm rot="5400000">
            <a:off x="2359152" y="2798064"/>
            <a:ext cx="128016" cy="128016"/>
          </a:xfrm>
          <a:prstGeom prst="triangl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20240" y="3307842"/>
            <a:ext cx="228600" cy="22860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2137410" y="3319272"/>
            <a:ext cx="22860" cy="640080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2148840" y="3947922"/>
            <a:ext cx="274320" cy="22860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Isosceles Triangle 45"/>
          <p:cNvSpPr/>
          <p:nvPr/>
        </p:nvSpPr>
        <p:spPr>
          <a:xfrm rot="5400000">
            <a:off x="2359152" y="3895344"/>
            <a:ext cx="128016" cy="128016"/>
          </a:xfrm>
          <a:prstGeom prst="triangl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0" y="2850642"/>
            <a:ext cx="228600" cy="22860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417570" y="2651760"/>
            <a:ext cx="22860" cy="210312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429000" y="2640330"/>
            <a:ext cx="274320" cy="22860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Isosceles Triangle 49"/>
          <p:cNvSpPr/>
          <p:nvPr/>
        </p:nvSpPr>
        <p:spPr>
          <a:xfrm rot="5400000">
            <a:off x="3639312" y="2587752"/>
            <a:ext cx="128016" cy="128016"/>
          </a:xfrm>
          <a:prstGeom prst="triangl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0" y="2850642"/>
            <a:ext cx="228600" cy="22860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3417570" y="2862072"/>
            <a:ext cx="22860" cy="246888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3429000" y="3097530"/>
            <a:ext cx="274320" cy="22860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Isosceles Triangle 53"/>
          <p:cNvSpPr/>
          <p:nvPr/>
        </p:nvSpPr>
        <p:spPr>
          <a:xfrm rot="5400000">
            <a:off x="3639312" y="3044952"/>
            <a:ext cx="128016" cy="128016"/>
          </a:xfrm>
          <a:prstGeom prst="triangl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00400" y="3947922"/>
            <a:ext cx="502920" cy="22860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Isosceles Triangle 55"/>
          <p:cNvSpPr/>
          <p:nvPr/>
        </p:nvSpPr>
        <p:spPr>
          <a:xfrm rot="5400000">
            <a:off x="3639312" y="3895344"/>
            <a:ext cx="128016" cy="128016"/>
          </a:xfrm>
          <a:prstGeom prst="triangl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ody:56"/>
          <p:cNvSpPr txBox="1"/>
          <p:nvPr/>
        </p:nvSpPr>
        <p:spPr>
          <a:xfrm>
            <a:off x="777240" y="4315968"/>
            <a:ext cx="3794760" cy="6949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2313F"/>
                </a:solidFill>
                <a:latin typeface="Arial"/>
              </a:rPr>
              <a:t>Act now: E[U] = ½·6 − ½·4 = 1.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22313F"/>
                </a:solidFill>
                <a:latin typeface="Arial"/>
              </a:rPr>
              <a:t>Perfect information: act only on +6, value 3.</a:t>
            </a:r>
          </a:p>
        </p:txBody>
      </p:sp>
      <p:sp>
        <p:nvSpPr>
          <p:cNvPr id="58" name="label:57"/>
          <p:cNvSpPr txBox="1"/>
          <p:nvPr/>
        </p:nvSpPr>
        <p:spPr>
          <a:xfrm>
            <a:off x="4800600" y="2267712"/>
            <a:ext cx="237744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1E7A72"/>
                </a:solidFill>
                <a:latin typeface="Arial"/>
              </a:rPr>
              <a:t>VALUE LADDER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46320" y="4744821"/>
            <a:ext cx="2377440" cy="20116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29200" y="4053840"/>
            <a:ext cx="731520" cy="701040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17920" y="2651760"/>
            <a:ext cx="731520" cy="2103120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body:61"/>
          <p:cNvSpPr txBox="1"/>
          <p:nvPr/>
        </p:nvSpPr>
        <p:spPr>
          <a:xfrm>
            <a:off x="5029200" y="3761232"/>
            <a:ext cx="731520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3A6391"/>
                </a:solidFill>
                <a:latin typeface="Arial"/>
              </a:rPr>
              <a:t>1</a:t>
            </a:r>
          </a:p>
        </p:txBody>
      </p:sp>
      <p:sp>
        <p:nvSpPr>
          <p:cNvPr id="63" name="body:62"/>
          <p:cNvSpPr txBox="1"/>
          <p:nvPr/>
        </p:nvSpPr>
        <p:spPr>
          <a:xfrm>
            <a:off x="6217920" y="2359152"/>
            <a:ext cx="731520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E7A72"/>
                </a:solidFill>
                <a:latin typeface="Arial"/>
              </a:rPr>
              <a:t>3</a:t>
            </a:r>
          </a:p>
        </p:txBody>
      </p:sp>
      <p:sp>
        <p:nvSpPr>
          <p:cNvPr id="64" name="body:63"/>
          <p:cNvSpPr txBox="1"/>
          <p:nvPr/>
        </p:nvSpPr>
        <p:spPr>
          <a:xfrm>
            <a:off x="4800600" y="4800600"/>
            <a:ext cx="1188720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22313F"/>
                </a:solidFill>
                <a:latin typeface="Arial"/>
              </a:rPr>
              <a:t>V</a:t>
            </a:r>
            <a:r>
              <a:rPr sz="1200" b="1" baseline="-25000">
                <a:solidFill>
                  <a:srgbClr val="22313F"/>
                </a:solidFill>
                <a:latin typeface="Arial"/>
              </a:rPr>
              <a:t>now</a:t>
            </a:r>
          </a:p>
        </p:txBody>
      </p:sp>
      <p:sp>
        <p:nvSpPr>
          <p:cNvPr id="65" name="body:64"/>
          <p:cNvSpPr txBox="1"/>
          <p:nvPr/>
        </p:nvSpPr>
        <p:spPr>
          <a:xfrm>
            <a:off x="5989320" y="4800600"/>
            <a:ext cx="1188720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22313F"/>
                </a:solidFill>
                <a:latin typeface="Arial"/>
              </a:rPr>
              <a:t>V</a:t>
            </a:r>
            <a:r>
              <a:rPr sz="1200" b="1" baseline="-25000">
                <a:solidFill>
                  <a:srgbClr val="22313F"/>
                </a:solidFill>
                <a:latin typeface="Arial"/>
              </a:rPr>
              <a:t>perfect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49290" y="2651760"/>
            <a:ext cx="22860" cy="1402080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69280" y="2640330"/>
            <a:ext cx="182880" cy="22860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69280" y="4042410"/>
            <a:ext cx="182880" cy="22860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body:68"/>
          <p:cNvSpPr txBox="1"/>
          <p:nvPr/>
        </p:nvSpPr>
        <p:spPr>
          <a:xfrm>
            <a:off x="4910328" y="3127248"/>
            <a:ext cx="914400" cy="51206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7A72"/>
                </a:solidFill>
                <a:latin typeface="Arial"/>
              </a:rPr>
              <a:t>EVPI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7A72"/>
                </a:solidFill>
                <a:latin typeface="Arial"/>
              </a:rPr>
              <a:t>= 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06640" y="2176272"/>
            <a:ext cx="4215384" cy="1783080"/>
          </a:xfrm>
          <a:prstGeom prst="rect">
            <a:avLst/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406640" y="2176272"/>
            <a:ext cx="82296" cy="1783080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abel:71"/>
          <p:cNvSpPr txBox="1"/>
          <p:nvPr/>
        </p:nvSpPr>
        <p:spPr>
          <a:xfrm>
            <a:off x="7644383" y="2286000"/>
            <a:ext cx="3849624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1E7A72"/>
                </a:solidFill>
                <a:latin typeface="Arial"/>
              </a:rPr>
              <a:t>RESULT 2</a:t>
            </a:r>
          </a:p>
        </p:txBody>
      </p:sp>
      <p:sp>
        <p:nvSpPr>
          <p:cNvPr id="73" name="formula:72"/>
          <p:cNvSpPr txBox="1"/>
          <p:nvPr/>
        </p:nvSpPr>
        <p:spPr>
          <a:xfrm>
            <a:off x="7644383" y="2542032"/>
            <a:ext cx="3831336" cy="105156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EVPI = E[max</a:t>
            </a:r>
            <a:r>
              <a:rPr sz="1700" b="1" baseline="-25000">
                <a:solidFill>
                  <a:srgbClr val="FFFFFF"/>
                </a:solidFill>
                <a:latin typeface="Arial"/>
              </a:rPr>
              <a:t>a</a:t>
            </a:r>
            <a:r>
              <a:rPr sz="1700" b="1">
                <a:solidFill>
                  <a:srgbClr val="FFFFFF"/>
                </a:solidFill>
                <a:latin typeface="Arial"/>
              </a:rPr>
              <a:t> U(a)] − max</a:t>
            </a:r>
            <a:r>
              <a:rPr sz="1700" b="1" baseline="-25000">
                <a:solidFill>
                  <a:srgbClr val="FFFFFF"/>
                </a:solidFill>
                <a:latin typeface="Arial"/>
              </a:rPr>
              <a:t>a</a:t>
            </a:r>
            <a:r>
              <a:rPr sz="1700" b="1">
                <a:solidFill>
                  <a:srgbClr val="FFFFFF"/>
                </a:solidFill>
                <a:latin typeface="Arial"/>
              </a:rPr>
              <a:t> E[U(a)]</a:t>
            </a:r>
          </a:p>
          <a:p>
            <a:pPr algn="l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E[N*]  ≤  EVPI / c</a:t>
            </a:r>
          </a:p>
        </p:txBody>
      </p:sp>
      <p:sp>
        <p:nvSpPr>
          <p:cNvPr id="74" name="caption:73"/>
          <p:cNvSpPr txBox="1"/>
          <p:nvPr/>
        </p:nvSpPr>
        <p:spPr>
          <a:xfrm>
            <a:off x="7644383" y="3557016"/>
            <a:ext cx="3831336" cy="31089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B9C8D8"/>
                </a:solidFill>
                <a:latin typeface="Arial"/>
              </a:rPr>
              <a:t>N*: probes under the optimal policy; c &gt; 0 each.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406640" y="4114800"/>
            <a:ext cx="4215384" cy="987552"/>
          </a:xfrm>
          <a:prstGeom prst="rect">
            <a:avLst/>
          </a:prstGeom>
          <a:solidFill>
            <a:srgbClr val="E1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406640" y="4114800"/>
            <a:ext cx="4215384" cy="54864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ormula:76"/>
          <p:cNvSpPr txBox="1"/>
          <p:nvPr/>
        </p:nvSpPr>
        <p:spPr>
          <a:xfrm>
            <a:off x="7589520" y="4224528"/>
            <a:ext cx="3840480" cy="47548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E7A72"/>
                </a:solidFill>
                <a:latin typeface="Arial"/>
              </a:rPr>
              <a:t>E[N*]  ≤  2 / 0.5  =  4</a:t>
            </a:r>
          </a:p>
        </p:txBody>
      </p:sp>
      <p:sp>
        <p:nvSpPr>
          <p:cNvPr id="78" name="body:77"/>
          <p:cNvSpPr txBox="1"/>
          <p:nvPr/>
        </p:nvSpPr>
        <p:spPr>
          <a:xfrm>
            <a:off x="7589520" y="4700016"/>
            <a:ext cx="3840480" cy="31089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5F6E80"/>
                </a:solidFill>
                <a:latin typeface="Arial"/>
              </a:rPr>
              <a:t>expected probes at c = 0.5; not a hard cap of four calls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6928" y="5212080"/>
            <a:ext cx="11055096" cy="365760"/>
          </a:xfrm>
          <a:prstGeom prst="rect">
            <a:avLst/>
          </a:prstGeom>
          <a:solidFill>
            <a:srgbClr val="F8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66928" y="5212080"/>
            <a:ext cx="64008" cy="365760"/>
          </a:xfrm>
          <a:prstGeom prst="rect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label:80"/>
          <p:cNvSpPr txBox="1"/>
          <p:nvPr/>
        </p:nvSpPr>
        <p:spPr>
          <a:xfrm>
            <a:off x="768096" y="5266944"/>
            <a:ext cx="91440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B4602E"/>
                </a:solidFill>
                <a:latin typeface="Arial"/>
              </a:rPr>
              <a:t>ASSUMES</a:t>
            </a:r>
          </a:p>
        </p:txBody>
      </p:sp>
      <p:sp>
        <p:nvSpPr>
          <p:cNvPr id="82" name="assumption:81"/>
          <p:cNvSpPr txBox="1"/>
          <p:nvPr/>
        </p:nvSpPr>
        <p:spPr>
          <a:xfrm>
            <a:off x="1682495" y="5212080"/>
            <a:ext cx="9774936" cy="36576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2313F"/>
                </a:solidFill>
                <a:latin typeface="Arial"/>
              </a:rPr>
              <a:t>Bounded utilities; fixed terminal actions and payoffs; probes only reveal information. An expectation bound, not a per-run budget.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66928" y="5687568"/>
            <a:ext cx="11055096" cy="603504"/>
          </a:xfrm>
          <a:prstGeom prst="roundRect">
            <a:avLst>
              <a:gd name="adj" fmla="val 5000"/>
            </a:avLst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713232" y="5833872"/>
            <a:ext cx="566928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label:84"/>
          <p:cNvSpPr txBox="1"/>
          <p:nvPr/>
        </p:nvSpPr>
        <p:spPr>
          <a:xfrm>
            <a:off x="713232" y="5833872"/>
            <a:ext cx="566928" cy="31089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1E7A72"/>
                </a:solidFill>
                <a:latin typeface="Arial"/>
              </a:rPr>
              <a:t>USE</a:t>
            </a:r>
          </a:p>
        </p:txBody>
      </p:sp>
      <p:sp>
        <p:nvSpPr>
          <p:cNvPr id="86" name="application:85"/>
          <p:cNvSpPr txBox="1"/>
          <p:nvPr/>
        </p:nvSpPr>
        <p:spPr>
          <a:xfrm>
            <a:off x="1444752" y="5687568"/>
            <a:ext cx="10049256" cy="60350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Compute the information-value ceiling before allocating diagnostic calls.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65760"/>
            <a:ext cx="420624" cy="420624"/>
          </a:xfrm>
          <a:prstGeom prst="roundRect">
            <a:avLst>
              <a:gd name="adj" fmla="val 5000"/>
            </a:avLst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el:3"/>
          <p:cNvSpPr txBox="1"/>
          <p:nvPr/>
        </p:nvSpPr>
        <p:spPr>
          <a:xfrm>
            <a:off x="566928" y="365760"/>
            <a:ext cx="420624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R3</a:t>
            </a:r>
          </a:p>
        </p:txBody>
      </p:sp>
      <p:sp>
        <p:nvSpPr>
          <p:cNvPr id="5" name="label:4"/>
          <p:cNvSpPr txBox="1"/>
          <p:nvPr/>
        </p:nvSpPr>
        <p:spPr>
          <a:xfrm>
            <a:off x="1115568" y="365760"/>
            <a:ext cx="10058400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B4602E"/>
                </a:solidFill>
                <a:latin typeface="Arial"/>
              </a:rPr>
              <a:t>RESULT 3 / ONE-STEP GAIN IS A LOWER BOUND</a:t>
            </a:r>
          </a:p>
        </p:txBody>
      </p:sp>
      <p:sp>
        <p:nvSpPr>
          <p:cNvPr id="6" name="title:5"/>
          <p:cNvSpPr txBox="1"/>
          <p:nvPr/>
        </p:nvSpPr>
        <p:spPr>
          <a:xfrm>
            <a:off x="566928" y="841248"/>
            <a:ext cx="11055096" cy="64008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72D46"/>
                </a:solidFill>
                <a:latin typeface="Arial"/>
              </a:rPr>
              <a:t>Two bounds give reliable stopping rules.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868680" cy="45720"/>
          </a:xfrm>
          <a:prstGeom prst="rect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btitle:7"/>
          <p:cNvSpPr txBox="1"/>
          <p:nvPr/>
        </p:nvSpPr>
        <p:spPr>
          <a:xfrm>
            <a:off x="585216" y="1645920"/>
            <a:ext cx="11055096" cy="40233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5F6E80"/>
                </a:solidFill>
                <a:latin typeface="Arial"/>
              </a:rPr>
              <a:t>V</a:t>
            </a:r>
            <a:r>
              <a:rPr sz="1550" b="0" baseline="-25000">
                <a:solidFill>
                  <a:srgbClr val="5F6E80"/>
                </a:solidFill>
                <a:latin typeface="Arial"/>
              </a:rPr>
              <a:t>0</a:t>
            </a:r>
            <a:r>
              <a:rPr sz="1550" b="0">
                <a:solidFill>
                  <a:srgbClr val="5F6E80"/>
                </a:solidFill>
                <a:latin typeface="Arial"/>
              </a:rPr>
              <a:t>(b) is the best terminal value now; b′ is the posterior after probe e; c(e) is its cost.</a:t>
            </a:r>
          </a:p>
        </p:txBody>
      </p:sp>
      <p:sp>
        <p:nvSpPr>
          <p:cNvPr id="9" name="source:8"/>
          <p:cNvSpPr txBox="1"/>
          <p:nvPr/>
        </p:nvSpPr>
        <p:spPr>
          <a:xfrm>
            <a:off x="566928" y="6400800"/>
            <a:ext cx="10332720" cy="2103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F6E80"/>
                </a:solidFill>
                <a:latin typeface="Arial"/>
              </a:rPr>
              <a:t> </a:t>
            </a:r>
          </a:p>
        </p:txBody>
      </p:sp>
      <p:sp>
        <p:nvSpPr>
          <p:cNvPr id="10" name="source:9"/>
          <p:cNvSpPr txBox="1"/>
          <p:nvPr/>
        </p:nvSpPr>
        <p:spPr>
          <a:xfrm>
            <a:off x="10927080" y="6364224"/>
            <a:ext cx="694944" cy="26517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5F6E80"/>
                </a:solidFill>
                <a:latin typeface="Arial"/>
              </a:rPr>
              <a:t>04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77924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99916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10912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1908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32904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43900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54896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65892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ource:20"/>
          <p:cNvSpPr txBox="1"/>
          <p:nvPr/>
        </p:nvSpPr>
        <p:spPr>
          <a:xfrm>
            <a:off x="566928" y="6400800"/>
            <a:ext cx="10332720" cy="2103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F6E80"/>
                </a:solidFill>
                <a:latin typeface="Arial"/>
                <a:hlinkClick r:id="rId2"/>
              </a:rPr>
              <a:t>Hay et al. (2012), Theorem 7; the EVPI stopping test is a direct corollary of Theorem 5.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176272"/>
            <a:ext cx="11055096" cy="1225296"/>
          </a:xfrm>
          <a:prstGeom prst="rect">
            <a:avLst/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176272"/>
            <a:ext cx="82296" cy="1225296"/>
          </a:xfrm>
          <a:prstGeom prst="rect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abel:23"/>
          <p:cNvSpPr txBox="1"/>
          <p:nvPr/>
        </p:nvSpPr>
        <p:spPr>
          <a:xfrm>
            <a:off x="804672" y="2286000"/>
            <a:ext cx="10689336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B4602E"/>
                </a:solidFill>
                <a:latin typeface="Arial"/>
              </a:rPr>
              <a:t>RESULT 3</a:t>
            </a:r>
          </a:p>
        </p:txBody>
      </p:sp>
      <p:sp>
        <p:nvSpPr>
          <p:cNvPr id="25" name="formula:24"/>
          <p:cNvSpPr txBox="1"/>
          <p:nvPr/>
        </p:nvSpPr>
        <p:spPr>
          <a:xfrm>
            <a:off x="804672" y="2542032"/>
            <a:ext cx="10671048" cy="49377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M(e) = E[V</a:t>
            </a:r>
            <a:r>
              <a:rPr sz="2400" b="1" baseline="-25000">
                <a:solidFill>
                  <a:srgbClr val="FFFFFF"/>
                </a:solidFill>
                <a:latin typeface="Arial"/>
              </a:rPr>
              <a:t>0</a:t>
            </a:r>
            <a:r>
              <a:rPr sz="2400" b="1">
                <a:solidFill>
                  <a:srgbClr val="FFFFFF"/>
                </a:solidFill>
                <a:latin typeface="Arial"/>
              </a:rPr>
              <a:t>(b′)] − V</a:t>
            </a:r>
            <a:r>
              <a:rPr sz="2400" b="1" baseline="-25000">
                <a:solidFill>
                  <a:srgbClr val="FFFFFF"/>
                </a:solidFill>
                <a:latin typeface="Arial"/>
              </a:rPr>
              <a:t>0</a:t>
            </a:r>
            <a:r>
              <a:rPr sz="2400" b="1">
                <a:solidFill>
                  <a:srgbClr val="FFFFFF"/>
                </a:solidFill>
                <a:latin typeface="Arial"/>
              </a:rPr>
              <a:t>(b) − c(e)</a:t>
            </a:r>
          </a:p>
        </p:txBody>
      </p:sp>
      <p:sp>
        <p:nvSpPr>
          <p:cNvPr id="26" name="caption:25"/>
          <p:cNvSpPr txBox="1"/>
          <p:nvPr/>
        </p:nvSpPr>
        <p:spPr>
          <a:xfrm>
            <a:off x="804672" y="2999232"/>
            <a:ext cx="10671048" cy="31089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B9C8D8"/>
                </a:solidFill>
                <a:latin typeface="Arial"/>
              </a:rPr>
              <a:t>The one-step net gain of probe e. Theorem 7: a positive M(e) certifies that continuing is optimal.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584448"/>
            <a:ext cx="3429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ody:27"/>
          <p:cNvSpPr txBox="1"/>
          <p:nvPr/>
        </p:nvSpPr>
        <p:spPr>
          <a:xfrm>
            <a:off x="704088" y="3584448"/>
            <a:ext cx="3154680" cy="54864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72D46"/>
                </a:solidFill>
                <a:latin typeface="Arial"/>
              </a:rPr>
              <a:t>Some probe has M(e) &gt; 0?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69998" y="4133087"/>
            <a:ext cx="22860" cy="292609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Isosceles Triangle 29"/>
          <p:cNvSpPr/>
          <p:nvPr/>
        </p:nvSpPr>
        <p:spPr>
          <a:xfrm rot="10800000">
            <a:off x="2217420" y="4361688"/>
            <a:ext cx="128016" cy="128016"/>
          </a:xfrm>
          <a:prstGeom prst="triangl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ody:30"/>
          <p:cNvSpPr txBox="1"/>
          <p:nvPr/>
        </p:nvSpPr>
        <p:spPr>
          <a:xfrm>
            <a:off x="2372868" y="4114800"/>
            <a:ext cx="457200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yes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425696"/>
            <a:ext cx="3429000" cy="676656"/>
          </a:xfrm>
          <a:prstGeom prst="rect">
            <a:avLst/>
          </a:prstGeom>
          <a:solidFill>
            <a:srgbClr val="E1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425696"/>
            <a:ext cx="3429000" cy="54864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ody:33"/>
          <p:cNvSpPr txBox="1"/>
          <p:nvPr/>
        </p:nvSpPr>
        <p:spPr>
          <a:xfrm>
            <a:off x="749808" y="4526280"/>
            <a:ext cx="3063240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E7A72"/>
                </a:solidFill>
                <a:latin typeface="Arial"/>
              </a:rPr>
              <a:t>CONTINUE</a:t>
            </a:r>
          </a:p>
        </p:txBody>
      </p:sp>
      <p:sp>
        <p:nvSpPr>
          <p:cNvPr id="35" name="body:34"/>
          <p:cNvSpPr txBox="1"/>
          <p:nvPr/>
        </p:nvSpPr>
        <p:spPr>
          <a:xfrm>
            <a:off x="749808" y="4773168"/>
            <a:ext cx="3063240" cy="29260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22313F"/>
                </a:solidFill>
                <a:latin typeface="Arial"/>
              </a:rPr>
              <a:t>One probe already pays (myopic bound).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95928" y="3847338"/>
            <a:ext cx="384048" cy="22860"/>
          </a:xfrm>
          <a:prstGeom prst="rect">
            <a:avLst/>
          </a:prstGeom>
          <a:solidFill>
            <a:srgbClr val="5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Isosceles Triangle 36"/>
          <p:cNvSpPr/>
          <p:nvPr/>
        </p:nvSpPr>
        <p:spPr>
          <a:xfrm rot="5400000">
            <a:off x="4315968" y="3794760"/>
            <a:ext cx="128016" cy="128016"/>
          </a:xfrm>
          <a:prstGeom prst="triangle">
            <a:avLst/>
          </a:prstGeom>
          <a:solidFill>
            <a:srgbClr val="5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ody:37"/>
          <p:cNvSpPr txBox="1"/>
          <p:nvPr/>
        </p:nvSpPr>
        <p:spPr>
          <a:xfrm>
            <a:off x="3995928" y="3566160"/>
            <a:ext cx="384048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79976" y="3584448"/>
            <a:ext cx="3429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ody:39"/>
          <p:cNvSpPr txBox="1"/>
          <p:nvPr/>
        </p:nvSpPr>
        <p:spPr>
          <a:xfrm>
            <a:off x="4517136" y="3584448"/>
            <a:ext cx="3154680" cy="54864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72D46"/>
                </a:solidFill>
                <a:latin typeface="Arial"/>
              </a:rPr>
              <a:t>EVPI ≤ c</a:t>
            </a:r>
            <a:r>
              <a:rPr sz="1400" b="1" baseline="-25000">
                <a:solidFill>
                  <a:srgbClr val="172D46"/>
                </a:solidFill>
                <a:latin typeface="Arial"/>
              </a:rPr>
              <a:t>min</a:t>
            </a:r>
            <a:r>
              <a:rPr sz="1400" b="1">
                <a:solidFill>
                  <a:srgbClr val="172D46"/>
                </a:solidFill>
                <a:latin typeface="Arial"/>
              </a:rPr>
              <a:t>, the cheapest probe?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3046" y="4133087"/>
            <a:ext cx="22860" cy="292609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Isosceles Triangle 41"/>
          <p:cNvSpPr/>
          <p:nvPr/>
        </p:nvSpPr>
        <p:spPr>
          <a:xfrm rot="10800000">
            <a:off x="6030468" y="4361688"/>
            <a:ext cx="128016" cy="128016"/>
          </a:xfrm>
          <a:prstGeom prst="triangl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ody:42"/>
          <p:cNvSpPr txBox="1"/>
          <p:nvPr/>
        </p:nvSpPr>
        <p:spPr>
          <a:xfrm>
            <a:off x="6185916" y="4114800"/>
            <a:ext cx="457200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yes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79976" y="4425696"/>
            <a:ext cx="3429000" cy="676656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79976" y="4425696"/>
            <a:ext cx="3429000" cy="54864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body:45"/>
          <p:cNvSpPr txBox="1"/>
          <p:nvPr/>
        </p:nvSpPr>
        <p:spPr>
          <a:xfrm>
            <a:off x="4562856" y="4526280"/>
            <a:ext cx="3063240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3A6391"/>
                </a:solidFill>
                <a:latin typeface="Arial"/>
              </a:rPr>
              <a:t>STOP DIAGNOSING</a:t>
            </a:r>
          </a:p>
        </p:txBody>
      </p:sp>
      <p:sp>
        <p:nvSpPr>
          <p:cNvPr id="47" name="body:46"/>
          <p:cNvSpPr txBox="1"/>
          <p:nvPr/>
        </p:nvSpPr>
        <p:spPr>
          <a:xfrm>
            <a:off x="4562856" y="4773168"/>
            <a:ext cx="3063240" cy="29260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22313F"/>
                </a:solidFill>
                <a:latin typeface="Arial"/>
              </a:rPr>
              <a:t>Perfect information cannot pay its way.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08976" y="3847338"/>
            <a:ext cx="384048" cy="22860"/>
          </a:xfrm>
          <a:prstGeom prst="rect">
            <a:avLst/>
          </a:prstGeom>
          <a:solidFill>
            <a:srgbClr val="5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Isosceles Triangle 48"/>
          <p:cNvSpPr/>
          <p:nvPr/>
        </p:nvSpPr>
        <p:spPr>
          <a:xfrm rot="5400000">
            <a:off x="8129016" y="3794760"/>
            <a:ext cx="128016" cy="128016"/>
          </a:xfrm>
          <a:prstGeom prst="triangle">
            <a:avLst/>
          </a:prstGeom>
          <a:solidFill>
            <a:srgbClr val="5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body:49"/>
          <p:cNvSpPr txBox="1"/>
          <p:nvPr/>
        </p:nvSpPr>
        <p:spPr>
          <a:xfrm>
            <a:off x="7808976" y="3566160"/>
            <a:ext cx="384048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93024" y="3584448"/>
            <a:ext cx="3429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ody:51"/>
          <p:cNvSpPr txBox="1"/>
          <p:nvPr/>
        </p:nvSpPr>
        <p:spPr>
          <a:xfrm>
            <a:off x="8330184" y="3584448"/>
            <a:ext cx="3154680" cy="54864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72D46"/>
                </a:solidFill>
                <a:latin typeface="Arial"/>
              </a:rPr>
              <a:t>Neither test decides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96094" y="4133087"/>
            <a:ext cx="22860" cy="292609"/>
          </a:xfrm>
          <a:prstGeom prst="rect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Isosceles Triangle 53"/>
          <p:cNvSpPr/>
          <p:nvPr/>
        </p:nvSpPr>
        <p:spPr>
          <a:xfrm rot="10800000">
            <a:off x="9843516" y="4361688"/>
            <a:ext cx="128016" cy="128016"/>
          </a:xfrm>
          <a:prstGeom prst="triangle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93024" y="4425696"/>
            <a:ext cx="3429000" cy="676656"/>
          </a:xfrm>
          <a:prstGeom prst="rect">
            <a:avLst/>
          </a:prstGeom>
          <a:solidFill>
            <a:srgbClr val="F8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93024" y="4425696"/>
            <a:ext cx="3429000" cy="54864"/>
          </a:xfrm>
          <a:prstGeom prst="rect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ody:56"/>
          <p:cNvSpPr txBox="1"/>
          <p:nvPr/>
        </p:nvSpPr>
        <p:spPr>
          <a:xfrm>
            <a:off x="8375904" y="4526280"/>
            <a:ext cx="3063240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B4602E"/>
                </a:solidFill>
                <a:latin typeface="Arial"/>
              </a:rPr>
              <a:t>LOOK AHEAD</a:t>
            </a:r>
          </a:p>
        </p:txBody>
      </p:sp>
      <p:sp>
        <p:nvSpPr>
          <p:cNvPr id="58" name="body:57"/>
          <p:cNvSpPr txBox="1"/>
          <p:nvPr/>
        </p:nvSpPr>
        <p:spPr>
          <a:xfrm>
            <a:off x="8375904" y="4773168"/>
            <a:ext cx="3063240" cy="29260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22313F"/>
                </a:solidFill>
                <a:latin typeface="Arial"/>
              </a:rPr>
              <a:t>Search over probe sequences.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5212080"/>
            <a:ext cx="11055096" cy="365760"/>
          </a:xfrm>
          <a:prstGeom prst="rect">
            <a:avLst/>
          </a:prstGeom>
          <a:solidFill>
            <a:srgbClr val="F8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6928" y="5212080"/>
            <a:ext cx="64008" cy="365760"/>
          </a:xfrm>
          <a:prstGeom prst="rect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abel:60"/>
          <p:cNvSpPr txBox="1"/>
          <p:nvPr/>
        </p:nvSpPr>
        <p:spPr>
          <a:xfrm>
            <a:off x="768096" y="5266944"/>
            <a:ext cx="91440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B4602E"/>
                </a:solidFill>
                <a:latin typeface="Arial"/>
              </a:rPr>
              <a:t>ASSUMES</a:t>
            </a:r>
          </a:p>
        </p:txBody>
      </p:sp>
      <p:sp>
        <p:nvSpPr>
          <p:cNvPr id="62" name="assumption:61"/>
          <p:cNvSpPr txBox="1"/>
          <p:nvPr/>
        </p:nvSpPr>
        <p:spPr>
          <a:xfrm>
            <a:off x="1682495" y="5212080"/>
            <a:ext cx="9774936" cy="36576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2313F"/>
                </a:solidFill>
                <a:latin typeface="Arial"/>
              </a:rPr>
              <a:t>Information-only probes with positive costs. A nonpositive one-step gain alone does not justify stopping.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66928" y="5687568"/>
            <a:ext cx="11055096" cy="603504"/>
          </a:xfrm>
          <a:prstGeom prst="roundRect">
            <a:avLst>
              <a:gd name="adj" fmla="val 5000"/>
            </a:avLst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13232" y="5833872"/>
            <a:ext cx="566928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abel:64"/>
          <p:cNvSpPr txBox="1"/>
          <p:nvPr/>
        </p:nvSpPr>
        <p:spPr>
          <a:xfrm>
            <a:off x="713232" y="5833872"/>
            <a:ext cx="566928" cy="31089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1E7A72"/>
                </a:solidFill>
                <a:latin typeface="Arial"/>
              </a:rPr>
              <a:t>USE</a:t>
            </a:r>
          </a:p>
        </p:txBody>
      </p:sp>
      <p:sp>
        <p:nvSpPr>
          <p:cNvPr id="66" name="application:65"/>
          <p:cNvSpPr txBox="1"/>
          <p:nvPr/>
        </p:nvSpPr>
        <p:spPr>
          <a:xfrm>
            <a:off x="1444752" y="5687568"/>
            <a:ext cx="10049256" cy="60350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Run the two sufficient tests first; spend search only on the gap between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65760"/>
            <a:ext cx="420624" cy="420624"/>
          </a:xfrm>
          <a:prstGeom prst="roundRect">
            <a:avLst>
              <a:gd name="adj" fmla="val 5000"/>
            </a:avLst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el:3"/>
          <p:cNvSpPr txBox="1"/>
          <p:nvPr/>
        </p:nvSpPr>
        <p:spPr>
          <a:xfrm>
            <a:off x="566928" y="365760"/>
            <a:ext cx="420624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5" name="label:4"/>
          <p:cNvSpPr txBox="1"/>
          <p:nvPr/>
        </p:nvSpPr>
        <p:spPr>
          <a:xfrm>
            <a:off x="1115568" y="365760"/>
            <a:ext cx="10058400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172D46"/>
                </a:solidFill>
                <a:latin typeface="Arial"/>
              </a:rPr>
              <a:t>WORKED COUNTEREXAMPLE / COMPLEMENTARY INFORMATION</a:t>
            </a:r>
          </a:p>
        </p:txBody>
      </p:sp>
      <p:sp>
        <p:nvSpPr>
          <p:cNvPr id="6" name="title:5"/>
          <p:cNvSpPr txBox="1"/>
          <p:nvPr/>
        </p:nvSpPr>
        <p:spPr>
          <a:xfrm>
            <a:off x="566928" y="841248"/>
            <a:ext cx="11055096" cy="64008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72D46"/>
                </a:solidFill>
                <a:latin typeface="Arial"/>
              </a:rPr>
              <a:t>Two useful probes can each look worthless.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868680" cy="45720"/>
          </a:xfrm>
          <a:prstGeom prst="rect">
            <a:avLst/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btitle:7"/>
          <p:cNvSpPr txBox="1"/>
          <p:nvPr/>
        </p:nvSpPr>
        <p:spPr>
          <a:xfrm>
            <a:off x="585216" y="1645920"/>
            <a:ext cx="11055096" cy="40233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5F6E80"/>
                </a:solidFill>
                <a:latin typeface="Arial"/>
              </a:rPr>
              <a:t>X and Y are independent fair bits. The correct repair is 0 or 1 according to X XOR Y.</a:t>
            </a:r>
          </a:p>
        </p:txBody>
      </p:sp>
      <p:sp>
        <p:nvSpPr>
          <p:cNvPr id="9" name="source:8"/>
          <p:cNvSpPr txBox="1"/>
          <p:nvPr/>
        </p:nvSpPr>
        <p:spPr>
          <a:xfrm>
            <a:off x="566928" y="6400800"/>
            <a:ext cx="10332720" cy="2103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F6E80"/>
                </a:solidFill>
                <a:latin typeface="Arial"/>
              </a:rPr>
              <a:t> </a:t>
            </a:r>
          </a:p>
        </p:txBody>
      </p:sp>
      <p:sp>
        <p:nvSpPr>
          <p:cNvPr id="10" name="source:9"/>
          <p:cNvSpPr txBox="1"/>
          <p:nvPr/>
        </p:nvSpPr>
        <p:spPr>
          <a:xfrm>
            <a:off x="10927080" y="6364224"/>
            <a:ext cx="694944" cy="26517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5F6E80"/>
                </a:solidFill>
                <a:latin typeface="Arial"/>
              </a:rPr>
              <a:t>05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77924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99916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10912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1908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32904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43900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54896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65892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2176272"/>
            <a:ext cx="4983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2176272"/>
            <a:ext cx="64008" cy="2926080"/>
          </a:xfrm>
          <a:prstGeom prst="rect">
            <a:avLst/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abel:22"/>
          <p:cNvSpPr txBox="1"/>
          <p:nvPr/>
        </p:nvSpPr>
        <p:spPr>
          <a:xfrm>
            <a:off x="786384" y="2267712"/>
            <a:ext cx="320040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172D46"/>
                </a:solidFill>
                <a:latin typeface="Arial"/>
              </a:rPr>
              <a:t>FOUR EQUALLY LIKELY STATES</a:t>
            </a:r>
          </a:p>
        </p:txBody>
      </p:sp>
      <p:sp>
        <p:nvSpPr>
          <p:cNvPr id="24" name="body:23"/>
          <p:cNvSpPr txBox="1"/>
          <p:nvPr/>
        </p:nvSpPr>
        <p:spPr>
          <a:xfrm>
            <a:off x="2148840" y="2724912"/>
            <a:ext cx="1051560" cy="29260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5F6E80"/>
                </a:solidFill>
                <a:latin typeface="Arial"/>
              </a:rPr>
              <a:t>Y = 0</a:t>
            </a:r>
          </a:p>
        </p:txBody>
      </p:sp>
      <p:sp>
        <p:nvSpPr>
          <p:cNvPr id="25" name="body:24"/>
          <p:cNvSpPr txBox="1"/>
          <p:nvPr/>
        </p:nvSpPr>
        <p:spPr>
          <a:xfrm>
            <a:off x="3264408" y="2724912"/>
            <a:ext cx="1051560" cy="29260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5F6E80"/>
                </a:solidFill>
                <a:latin typeface="Arial"/>
              </a:rPr>
              <a:t>Y = 1</a:t>
            </a:r>
          </a:p>
        </p:txBody>
      </p:sp>
      <p:sp>
        <p:nvSpPr>
          <p:cNvPr id="26" name="body:25"/>
          <p:cNvSpPr txBox="1"/>
          <p:nvPr/>
        </p:nvSpPr>
        <p:spPr>
          <a:xfrm>
            <a:off x="914400" y="3090672"/>
            <a:ext cx="1143000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1">
                <a:solidFill>
                  <a:srgbClr val="5F6E80"/>
                </a:solidFill>
                <a:latin typeface="Arial"/>
              </a:rPr>
              <a:t>X = 0</a:t>
            </a:r>
          </a:p>
        </p:txBody>
      </p:sp>
      <p:sp>
        <p:nvSpPr>
          <p:cNvPr id="27" name="body:26"/>
          <p:cNvSpPr txBox="1"/>
          <p:nvPr/>
        </p:nvSpPr>
        <p:spPr>
          <a:xfrm>
            <a:off x="914400" y="3575304"/>
            <a:ext cx="1143000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1">
                <a:solidFill>
                  <a:srgbClr val="5F6E80"/>
                </a:solidFill>
                <a:latin typeface="Arial"/>
              </a:rPr>
              <a:t>X =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3090672"/>
            <a:ext cx="1051560" cy="420624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ody:28"/>
          <p:cNvSpPr txBox="1"/>
          <p:nvPr/>
        </p:nvSpPr>
        <p:spPr>
          <a:xfrm>
            <a:off x="2148840" y="3090672"/>
            <a:ext cx="1051560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3A6391"/>
                </a:solidFill>
                <a:latin typeface="Arial"/>
              </a:rPr>
              <a:t>repair 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64408" y="3090672"/>
            <a:ext cx="1051560" cy="420624"/>
          </a:xfrm>
          <a:prstGeom prst="rect">
            <a:avLst/>
          </a:prstGeom>
          <a:solidFill>
            <a:srgbClr val="E1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ody:30"/>
          <p:cNvSpPr txBox="1"/>
          <p:nvPr/>
        </p:nvSpPr>
        <p:spPr>
          <a:xfrm>
            <a:off x="3264408" y="3090672"/>
            <a:ext cx="1051560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1E7A72"/>
                </a:solidFill>
                <a:latin typeface="Arial"/>
              </a:rPr>
              <a:t>repair 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48840" y="3575304"/>
            <a:ext cx="1051560" cy="420624"/>
          </a:xfrm>
          <a:prstGeom prst="rect">
            <a:avLst/>
          </a:prstGeom>
          <a:solidFill>
            <a:srgbClr val="E1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ody:32"/>
          <p:cNvSpPr txBox="1"/>
          <p:nvPr/>
        </p:nvSpPr>
        <p:spPr>
          <a:xfrm>
            <a:off x="2148840" y="3575304"/>
            <a:ext cx="1051560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1E7A72"/>
                </a:solidFill>
                <a:latin typeface="Arial"/>
              </a:rPr>
              <a:t>repair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64408" y="3575304"/>
            <a:ext cx="1051560" cy="420624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ody:34"/>
          <p:cNvSpPr txBox="1"/>
          <p:nvPr/>
        </p:nvSpPr>
        <p:spPr>
          <a:xfrm>
            <a:off x="3264408" y="3575304"/>
            <a:ext cx="1051560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3A6391"/>
                </a:solidFill>
                <a:latin typeface="Arial"/>
              </a:rPr>
              <a:t>repair 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14850" y="3090672"/>
            <a:ext cx="22860" cy="905256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ody:36"/>
          <p:cNvSpPr txBox="1"/>
          <p:nvPr/>
        </p:nvSpPr>
        <p:spPr>
          <a:xfrm>
            <a:off x="4590288" y="3090672"/>
            <a:ext cx="914400" cy="90525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F6E80"/>
                </a:solidFill>
                <a:latin typeface="Arial"/>
              </a:rPr>
              <a:t>Reveal X only: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5F6E80"/>
                </a:solidFill>
                <a:latin typeface="Arial"/>
              </a:rPr>
              <a:t>each row is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5F6E80"/>
                </a:solidFill>
                <a:latin typeface="Arial"/>
              </a:rPr>
              <a:t>still 50:50.</a:t>
            </a:r>
          </a:p>
        </p:txBody>
      </p:sp>
      <p:sp>
        <p:nvSpPr>
          <p:cNvPr id="38" name="body:37"/>
          <p:cNvSpPr txBox="1"/>
          <p:nvPr/>
        </p:nvSpPr>
        <p:spPr>
          <a:xfrm>
            <a:off x="914400" y="4114800"/>
            <a:ext cx="4480560" cy="8961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2313F"/>
                </a:solidFill>
                <a:latin typeface="Arial"/>
              </a:rPr>
              <a:t>Correct repair pays 1, wrong repair 0. Reading a bit costs 0.1.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22313F"/>
                </a:solidFill>
                <a:latin typeface="Arial"/>
              </a:rPr>
              <a:t>Either bit alone leaves the target a fair coin; both bits pin it down.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06440" y="2176272"/>
            <a:ext cx="5815584" cy="868680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06440" y="2176272"/>
            <a:ext cx="5815584" cy="54864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label:40"/>
          <p:cNvSpPr txBox="1"/>
          <p:nvPr/>
        </p:nvSpPr>
        <p:spPr>
          <a:xfrm>
            <a:off x="5989320" y="2286000"/>
            <a:ext cx="155448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A6391"/>
                </a:solidFill>
                <a:latin typeface="Arial"/>
              </a:rPr>
              <a:t>NO PROBE</a:t>
            </a:r>
          </a:p>
        </p:txBody>
      </p:sp>
      <p:sp>
        <p:nvSpPr>
          <p:cNvPr id="42" name="formula:41"/>
          <p:cNvSpPr txBox="1"/>
          <p:nvPr/>
        </p:nvSpPr>
        <p:spPr>
          <a:xfrm>
            <a:off x="5989320" y="2505456"/>
            <a:ext cx="1463040" cy="45720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3A6391"/>
                </a:solidFill>
                <a:latin typeface="Arial"/>
              </a:rPr>
              <a:t>0.50</a:t>
            </a:r>
          </a:p>
        </p:txBody>
      </p:sp>
      <p:sp>
        <p:nvSpPr>
          <p:cNvPr id="43" name="body:42"/>
          <p:cNvSpPr txBox="1"/>
          <p:nvPr/>
        </p:nvSpPr>
        <p:spPr>
          <a:xfrm>
            <a:off x="7589519" y="2267712"/>
            <a:ext cx="3840480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2313F"/>
                </a:solidFill>
                <a:latin typeface="Arial"/>
              </a:rPr>
              <a:t>Guess the repair.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19" y="2578608"/>
            <a:ext cx="283464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19" y="2578608"/>
            <a:ext cx="1417320" cy="182880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body:45"/>
          <p:cNvSpPr txBox="1"/>
          <p:nvPr/>
        </p:nvSpPr>
        <p:spPr>
          <a:xfrm>
            <a:off x="7589519" y="2779776"/>
            <a:ext cx="3840480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0.5 success − 0 cost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06440" y="3145536"/>
            <a:ext cx="5815584" cy="868680"/>
          </a:xfrm>
          <a:prstGeom prst="rect">
            <a:avLst/>
          </a:prstGeom>
          <a:solidFill>
            <a:srgbClr val="F8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806440" y="3145536"/>
            <a:ext cx="5815584" cy="54864"/>
          </a:xfrm>
          <a:prstGeom prst="rect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label:48"/>
          <p:cNvSpPr txBox="1"/>
          <p:nvPr/>
        </p:nvSpPr>
        <p:spPr>
          <a:xfrm>
            <a:off x="5989320" y="3255264"/>
            <a:ext cx="155448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B4602E"/>
                </a:solidFill>
                <a:latin typeface="Arial"/>
              </a:rPr>
              <a:t>ONE PROBE</a:t>
            </a:r>
          </a:p>
        </p:txBody>
      </p:sp>
      <p:sp>
        <p:nvSpPr>
          <p:cNvPr id="50" name="formula:49"/>
          <p:cNvSpPr txBox="1"/>
          <p:nvPr/>
        </p:nvSpPr>
        <p:spPr>
          <a:xfrm>
            <a:off x="5989320" y="3474720"/>
            <a:ext cx="1463040" cy="45720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B4602E"/>
                </a:solidFill>
                <a:latin typeface="Arial"/>
              </a:rPr>
              <a:t>0.40</a:t>
            </a:r>
          </a:p>
        </p:txBody>
      </p:sp>
      <p:sp>
        <p:nvSpPr>
          <p:cNvPr id="51" name="body:50"/>
          <p:cNvSpPr txBox="1"/>
          <p:nvPr/>
        </p:nvSpPr>
        <p:spPr>
          <a:xfrm>
            <a:off x="7589519" y="3236976"/>
            <a:ext cx="3840480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2313F"/>
                </a:solidFill>
                <a:latin typeface="Arial"/>
              </a:rPr>
              <a:t>Still a fair coin, now paid for.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19" y="3547872"/>
            <a:ext cx="283464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89519" y="3547872"/>
            <a:ext cx="1133856" cy="182880"/>
          </a:xfrm>
          <a:prstGeom prst="rect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body:53"/>
          <p:cNvSpPr txBox="1"/>
          <p:nvPr/>
        </p:nvSpPr>
        <p:spPr>
          <a:xfrm>
            <a:off x="7589519" y="3749039"/>
            <a:ext cx="3840480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0.5 success − 0.1 cost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06440" y="4114800"/>
            <a:ext cx="5815584" cy="868680"/>
          </a:xfrm>
          <a:prstGeom prst="rect">
            <a:avLst/>
          </a:prstGeom>
          <a:solidFill>
            <a:srgbClr val="E1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06440" y="4114800"/>
            <a:ext cx="5815584" cy="54864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label:56"/>
          <p:cNvSpPr txBox="1"/>
          <p:nvPr/>
        </p:nvSpPr>
        <p:spPr>
          <a:xfrm>
            <a:off x="5989320" y="4224528"/>
            <a:ext cx="155448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1E7A72"/>
                </a:solidFill>
                <a:latin typeface="Arial"/>
              </a:rPr>
              <a:t>BOTH PROBES</a:t>
            </a:r>
          </a:p>
        </p:txBody>
      </p:sp>
      <p:sp>
        <p:nvSpPr>
          <p:cNvPr id="58" name="formula:57"/>
          <p:cNvSpPr txBox="1"/>
          <p:nvPr/>
        </p:nvSpPr>
        <p:spPr>
          <a:xfrm>
            <a:off x="5989320" y="4443984"/>
            <a:ext cx="1463040" cy="45720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E7A72"/>
                </a:solidFill>
                <a:latin typeface="Arial"/>
              </a:rPr>
              <a:t>0.80</a:t>
            </a:r>
          </a:p>
        </p:txBody>
      </p:sp>
      <p:sp>
        <p:nvSpPr>
          <p:cNvPr id="59" name="body:58"/>
          <p:cNvSpPr txBox="1"/>
          <p:nvPr/>
        </p:nvSpPr>
        <p:spPr>
          <a:xfrm>
            <a:off x="7589519" y="4206240"/>
            <a:ext cx="3840480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2313F"/>
                </a:solidFill>
                <a:latin typeface="Arial"/>
              </a:rPr>
              <a:t>Know the correct repair.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19" y="4517136"/>
            <a:ext cx="283464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589519" y="4517136"/>
            <a:ext cx="2267712" cy="182880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body:61"/>
          <p:cNvSpPr txBox="1"/>
          <p:nvPr/>
        </p:nvSpPr>
        <p:spPr>
          <a:xfrm>
            <a:off x="7589519" y="4718304"/>
            <a:ext cx="3840480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1.0 success − 0.2 cost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5212080"/>
            <a:ext cx="11055096" cy="365760"/>
          </a:xfrm>
          <a:prstGeom prst="rect">
            <a:avLst/>
          </a:prstGeom>
          <a:solidFill>
            <a:srgbClr val="F8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66928" y="5212080"/>
            <a:ext cx="64008" cy="365760"/>
          </a:xfrm>
          <a:prstGeom prst="rect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abel:64"/>
          <p:cNvSpPr txBox="1"/>
          <p:nvPr/>
        </p:nvSpPr>
        <p:spPr>
          <a:xfrm>
            <a:off x="768096" y="5266944"/>
            <a:ext cx="91440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B4602E"/>
                </a:solidFill>
                <a:latin typeface="Arial"/>
              </a:rPr>
              <a:t>ASSUMES</a:t>
            </a:r>
          </a:p>
        </p:txBody>
      </p:sp>
      <p:sp>
        <p:nvSpPr>
          <p:cNvPr id="66" name="assumption:65"/>
          <p:cNvSpPr txBox="1"/>
          <p:nvPr/>
        </p:nvSpPr>
        <p:spPr>
          <a:xfrm>
            <a:off x="1682495" y="5212080"/>
            <a:ext cx="9774936" cy="36576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2313F"/>
                </a:solidFill>
                <a:latin typeface="Arial"/>
              </a:rPr>
              <a:t>Exact enumeration over four states; all probes and repairs are authorized; costs add.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66928" y="5687568"/>
            <a:ext cx="11055096" cy="603504"/>
          </a:xfrm>
          <a:prstGeom prst="roundRect">
            <a:avLst>
              <a:gd name="adj" fmla="val 5000"/>
            </a:avLst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13232" y="5833872"/>
            <a:ext cx="566928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abel:68"/>
          <p:cNvSpPr txBox="1"/>
          <p:nvPr/>
        </p:nvSpPr>
        <p:spPr>
          <a:xfrm>
            <a:off x="713232" y="5833872"/>
            <a:ext cx="566928" cy="31089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1E7A72"/>
                </a:solidFill>
                <a:latin typeface="Arial"/>
              </a:rPr>
              <a:t>USE</a:t>
            </a:r>
          </a:p>
        </p:txBody>
      </p:sp>
      <p:sp>
        <p:nvSpPr>
          <p:cNvPr id="70" name="application:69"/>
          <p:cNvSpPr txBox="1"/>
          <p:nvPr/>
        </p:nvSpPr>
        <p:spPr>
          <a:xfrm>
            <a:off x="1444752" y="5687568"/>
            <a:ext cx="10049256" cy="60350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Add a two-clue recovery control: it exposes a controller that stops after one worthless-looking probe.</a:t>
            </a:r>
          </a:p>
        </p:txBody>
      </p:sp>
      <p:sp>
        <p:nvSpPr>
          <p:cNvPr id="71" name="source:70"/>
          <p:cNvSpPr txBox="1"/>
          <p:nvPr/>
        </p:nvSpPr>
        <p:spPr>
          <a:xfrm>
            <a:off x="566928" y="6400800"/>
            <a:ext cx="10332720" cy="2103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F6E80"/>
                </a:solidFill>
                <a:latin typeface="Arial"/>
                <a:hlinkClick r:id="rId2"/>
              </a:rPr>
              <a:t>Counterexample constructed for this deck; illustrates the one-step limitation in Hay et al. (2012).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65760"/>
            <a:ext cx="420624" cy="420624"/>
          </a:xfrm>
          <a:prstGeom prst="roundRect">
            <a:avLst>
              <a:gd name="adj" fmla="val 5000"/>
            </a:avLst>
          </a:prstGeom>
          <a:solidFill>
            <a:srgbClr val="A4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el:3"/>
          <p:cNvSpPr txBox="1"/>
          <p:nvPr/>
        </p:nvSpPr>
        <p:spPr>
          <a:xfrm>
            <a:off x="566928" y="365760"/>
            <a:ext cx="420624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R4</a:t>
            </a:r>
          </a:p>
        </p:txBody>
      </p:sp>
      <p:sp>
        <p:nvSpPr>
          <p:cNvPr id="5" name="label:4"/>
          <p:cNvSpPr txBox="1"/>
          <p:nvPr/>
        </p:nvSpPr>
        <p:spPr>
          <a:xfrm>
            <a:off x="1115568" y="365760"/>
            <a:ext cx="10058400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A4761A"/>
                </a:solidFill>
                <a:latin typeface="Arial"/>
              </a:rPr>
              <a:t>RESULT 4 / BAYES-OPTIMAL REJECTION</a:t>
            </a:r>
          </a:p>
        </p:txBody>
      </p:sp>
      <p:sp>
        <p:nvSpPr>
          <p:cNvPr id="6" name="title:5"/>
          <p:cNvSpPr txBox="1"/>
          <p:nvPr/>
        </p:nvSpPr>
        <p:spPr>
          <a:xfrm>
            <a:off x="566928" y="841248"/>
            <a:ext cx="11055096" cy="64008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72D46"/>
                </a:solidFill>
                <a:latin typeface="Arial"/>
              </a:rPr>
              <a:t>Review when it beats both automatic decisions.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868680" cy="45720"/>
          </a:xfrm>
          <a:prstGeom prst="rect">
            <a:avLst/>
          </a:prstGeom>
          <a:solidFill>
            <a:srgbClr val="A4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btitle:7"/>
          <p:cNvSpPr txBox="1"/>
          <p:nvPr/>
        </p:nvSpPr>
        <p:spPr>
          <a:xfrm>
            <a:off x="585216" y="1645920"/>
            <a:ext cx="11055096" cy="40233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5F6E80"/>
                </a:solidFill>
                <a:latin typeface="Arial"/>
              </a:rPr>
              <a:t>p is the true posterior probability of a violation given the evidence; pick the smallest expected loss.</a:t>
            </a:r>
          </a:p>
        </p:txBody>
      </p:sp>
      <p:sp>
        <p:nvSpPr>
          <p:cNvPr id="9" name="source:8"/>
          <p:cNvSpPr txBox="1"/>
          <p:nvPr/>
        </p:nvSpPr>
        <p:spPr>
          <a:xfrm>
            <a:off x="566928" y="6400800"/>
            <a:ext cx="10332720" cy="2103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F6E80"/>
                </a:solidFill>
                <a:latin typeface="Arial"/>
              </a:rPr>
              <a:t> </a:t>
            </a:r>
          </a:p>
        </p:txBody>
      </p:sp>
      <p:sp>
        <p:nvSpPr>
          <p:cNvPr id="10" name="source:9"/>
          <p:cNvSpPr txBox="1"/>
          <p:nvPr/>
        </p:nvSpPr>
        <p:spPr>
          <a:xfrm>
            <a:off x="10927080" y="6364224"/>
            <a:ext cx="694944" cy="26517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5F6E80"/>
                </a:solidFill>
                <a:latin typeface="Arial"/>
              </a:rPr>
              <a:t>06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77924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99916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10912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1908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32904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43900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54896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65892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ource:20"/>
          <p:cNvSpPr txBox="1"/>
          <p:nvPr/>
        </p:nvSpPr>
        <p:spPr>
          <a:xfrm>
            <a:off x="566928" y="6400800"/>
            <a:ext cx="10332720" cy="2103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F6E80"/>
                </a:solidFill>
                <a:latin typeface="Arial"/>
                <a:hlinkClick r:id="rId2"/>
              </a:rPr>
              <a:t>Chow-style rejection; general-loss rule: Franc, Prusa &amp; Voracek (2023), §2.1, Eqs. (3)-(4).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176272"/>
            <a:ext cx="58064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176272"/>
            <a:ext cx="64008" cy="2926080"/>
          </a:xfrm>
          <a:prstGeom prst="rect">
            <a:avLst/>
          </a:prstGeom>
          <a:solidFill>
            <a:srgbClr val="A4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abel:23"/>
          <p:cNvSpPr txBox="1"/>
          <p:nvPr/>
        </p:nvSpPr>
        <p:spPr>
          <a:xfrm>
            <a:off x="786384" y="2267712"/>
            <a:ext cx="365760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A4761A"/>
                </a:solidFill>
                <a:latin typeface="Arial"/>
              </a:rPr>
              <a:t>EXPECTED LOSS OF EACH ACTION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25296" y="2697480"/>
            <a:ext cx="18288" cy="1828800"/>
          </a:xfrm>
          <a:prstGeom prst="rect">
            <a:avLst/>
          </a:prstGeom>
          <a:solidFill>
            <a:srgbClr val="5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34440" y="4517136"/>
            <a:ext cx="4754880" cy="18288"/>
          </a:xfrm>
          <a:prstGeom prst="rect">
            <a:avLst/>
          </a:prstGeom>
          <a:solidFill>
            <a:srgbClr val="5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ody:26"/>
          <p:cNvSpPr txBox="1"/>
          <p:nvPr/>
        </p:nvSpPr>
        <p:spPr>
          <a:xfrm>
            <a:off x="813816" y="4398264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79576" y="4517136"/>
            <a:ext cx="54864" cy="18288"/>
          </a:xfrm>
          <a:prstGeom prst="rect">
            <a:avLst/>
          </a:prstGeom>
          <a:solidFill>
            <a:srgbClr val="5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ody:28"/>
          <p:cNvSpPr txBox="1"/>
          <p:nvPr/>
        </p:nvSpPr>
        <p:spPr>
          <a:xfrm>
            <a:off x="813816" y="4032504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0.2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79576" y="4151376"/>
            <a:ext cx="54864" cy="18288"/>
          </a:xfrm>
          <a:prstGeom prst="rect">
            <a:avLst/>
          </a:prstGeom>
          <a:solidFill>
            <a:srgbClr val="5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ody:30"/>
          <p:cNvSpPr txBox="1"/>
          <p:nvPr/>
        </p:nvSpPr>
        <p:spPr>
          <a:xfrm>
            <a:off x="813816" y="2569464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79576" y="2688336"/>
            <a:ext cx="54864" cy="18288"/>
          </a:xfrm>
          <a:prstGeom prst="rect">
            <a:avLst/>
          </a:prstGeom>
          <a:solidFill>
            <a:srgbClr val="5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ody:32"/>
          <p:cNvSpPr txBox="1"/>
          <p:nvPr/>
        </p:nvSpPr>
        <p:spPr>
          <a:xfrm>
            <a:off x="960120" y="4553712"/>
            <a:ext cx="548640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0</a:t>
            </a:r>
          </a:p>
        </p:txBody>
      </p:sp>
      <p:sp>
        <p:nvSpPr>
          <p:cNvPr id="34" name="body:33"/>
          <p:cNvSpPr txBox="1"/>
          <p:nvPr/>
        </p:nvSpPr>
        <p:spPr>
          <a:xfrm>
            <a:off x="4764024" y="4553712"/>
            <a:ext cx="548640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.80</a:t>
            </a:r>
          </a:p>
        </p:txBody>
      </p:sp>
      <p:sp>
        <p:nvSpPr>
          <p:cNvPr id="35" name="body:34"/>
          <p:cNvSpPr txBox="1"/>
          <p:nvPr/>
        </p:nvSpPr>
        <p:spPr>
          <a:xfrm>
            <a:off x="5715000" y="4553712"/>
            <a:ext cx="548640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1</a:t>
            </a:r>
          </a:p>
        </p:txBody>
      </p:sp>
      <p:sp>
        <p:nvSpPr>
          <p:cNvPr id="36" name="Oval 35"/>
          <p:cNvSpPr/>
          <p:nvPr/>
        </p:nvSpPr>
        <p:spPr>
          <a:xfrm>
            <a:off x="1204722" y="4496562"/>
            <a:ext cx="59436" cy="59436"/>
          </a:xfrm>
          <a:prstGeom prst="ellipse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64158" y="4267962"/>
            <a:ext cx="59436" cy="59436"/>
          </a:xfrm>
          <a:prstGeom prst="ellipse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323594" y="4039362"/>
            <a:ext cx="59436" cy="59436"/>
          </a:xfrm>
          <a:prstGeom prst="ellipse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383030" y="3810762"/>
            <a:ext cx="59436" cy="59436"/>
          </a:xfrm>
          <a:prstGeom prst="ellipse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442466" y="3582162"/>
            <a:ext cx="59436" cy="59436"/>
          </a:xfrm>
          <a:prstGeom prst="ellipse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501902" y="3353562"/>
            <a:ext cx="59436" cy="59436"/>
          </a:xfrm>
          <a:prstGeom prst="ellipse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561338" y="3124962"/>
            <a:ext cx="59436" cy="59436"/>
          </a:xfrm>
          <a:prstGeom prst="ellipse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620774" y="2896362"/>
            <a:ext cx="59436" cy="59436"/>
          </a:xfrm>
          <a:prstGeom prst="ellipse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680210" y="2667762"/>
            <a:ext cx="59436" cy="59436"/>
          </a:xfrm>
          <a:prstGeom prst="ellipse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04722" y="26677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402842" y="27439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00962" y="28201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799082" y="28963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997202" y="29725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195322" y="30487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93442" y="31249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91562" y="32011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89682" y="32773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987802" y="33535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185922" y="34297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384042" y="35059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582162" y="35821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780282" y="36583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978402" y="37345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76522" y="38107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374642" y="38869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572762" y="39631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770882" y="40393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969002" y="41155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167122" y="41917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65242" y="42679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563362" y="43441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761482" y="44203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959602" y="4496562"/>
            <a:ext cx="59436" cy="59436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20472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40284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60096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79908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99720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19532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39344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59156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78968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98780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18592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38404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58216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78028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97840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17652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37464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57276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77088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96900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16712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36524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56336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76148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959602" y="4130802"/>
            <a:ext cx="59436" cy="59436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body:94"/>
          <p:cNvSpPr txBox="1"/>
          <p:nvPr/>
        </p:nvSpPr>
        <p:spPr>
          <a:xfrm>
            <a:off x="1783080" y="2468880"/>
            <a:ext cx="1371600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B4602E"/>
                </a:solidFill>
                <a:latin typeface="Arial"/>
              </a:rPr>
              <a:t>allow: 10p</a:t>
            </a:r>
          </a:p>
        </p:txBody>
      </p:sp>
      <p:sp>
        <p:nvSpPr>
          <p:cNvPr id="96" name="body:95"/>
          <p:cNvSpPr txBox="1"/>
          <p:nvPr/>
        </p:nvSpPr>
        <p:spPr>
          <a:xfrm>
            <a:off x="3794760" y="3218688"/>
            <a:ext cx="137160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3A6391"/>
                </a:solidFill>
                <a:latin typeface="Arial"/>
              </a:rPr>
              <a:t>block: 1 − p</a:t>
            </a:r>
          </a:p>
        </p:txBody>
      </p:sp>
      <p:sp>
        <p:nvSpPr>
          <p:cNvPr id="97" name="body:96"/>
          <p:cNvSpPr txBox="1"/>
          <p:nvPr/>
        </p:nvSpPr>
        <p:spPr>
          <a:xfrm>
            <a:off x="2788920" y="3877056"/>
            <a:ext cx="137160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E7A72"/>
                </a:solidFill>
                <a:latin typeface="Arial"/>
              </a:rPr>
              <a:t>review: 0.2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321308" y="4160520"/>
            <a:ext cx="16459" cy="54863"/>
          </a:xfrm>
          <a:prstGeom prst="rect">
            <a:avLst/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321308" y="4261104"/>
            <a:ext cx="16459" cy="54863"/>
          </a:xfrm>
          <a:prstGeom prst="rect">
            <a:avLst/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321308" y="4361688"/>
            <a:ext cx="16459" cy="54863"/>
          </a:xfrm>
          <a:prstGeom prst="rect">
            <a:avLst/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321308" y="4462272"/>
            <a:ext cx="16459" cy="54863"/>
          </a:xfrm>
          <a:prstGeom prst="rect">
            <a:avLst/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265529" y="4096511"/>
            <a:ext cx="128016" cy="128016"/>
          </a:xfrm>
          <a:prstGeom prst="ellipse">
            <a:avLst/>
          </a:prstGeom>
          <a:solidFill>
            <a:srgbClr val="172D46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030114" y="4160520"/>
            <a:ext cx="16459" cy="54863"/>
          </a:xfrm>
          <a:prstGeom prst="rect">
            <a:avLst/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030114" y="4261104"/>
            <a:ext cx="16459" cy="54863"/>
          </a:xfrm>
          <a:prstGeom prst="rect">
            <a:avLst/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030114" y="4361688"/>
            <a:ext cx="16459" cy="54863"/>
          </a:xfrm>
          <a:prstGeom prst="rect">
            <a:avLst/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030114" y="4462272"/>
            <a:ext cx="16459" cy="54863"/>
          </a:xfrm>
          <a:prstGeom prst="rect">
            <a:avLst/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974336" y="4096511"/>
            <a:ext cx="128016" cy="128016"/>
          </a:xfrm>
          <a:prstGeom prst="ellipse">
            <a:avLst/>
          </a:prstGeom>
          <a:solidFill>
            <a:srgbClr val="172D46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body:107"/>
          <p:cNvSpPr txBox="1"/>
          <p:nvPr/>
        </p:nvSpPr>
        <p:spPr>
          <a:xfrm>
            <a:off x="1439265" y="3886200"/>
            <a:ext cx="1005840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172D46"/>
                </a:solidFill>
                <a:latin typeface="Arial"/>
              </a:rPr>
              <a:t>p = .02</a:t>
            </a:r>
          </a:p>
        </p:txBody>
      </p:sp>
      <p:sp>
        <p:nvSpPr>
          <p:cNvPr id="109" name="body:108"/>
          <p:cNvSpPr txBox="1"/>
          <p:nvPr/>
        </p:nvSpPr>
        <p:spPr>
          <a:xfrm>
            <a:off x="5148072" y="3886200"/>
            <a:ext cx="914400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172D46"/>
                </a:solidFill>
                <a:latin typeface="Arial"/>
              </a:rPr>
              <a:t>p = .80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234440" y="4846320"/>
            <a:ext cx="95097" cy="182880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329537" y="4846320"/>
            <a:ext cx="3708806" cy="182880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038344" y="4846320"/>
            <a:ext cx="950976" cy="182880"/>
          </a:xfrm>
          <a:prstGeom prst="rect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label:112"/>
          <p:cNvSpPr txBox="1"/>
          <p:nvPr/>
        </p:nvSpPr>
        <p:spPr>
          <a:xfrm>
            <a:off x="1329537" y="4837176"/>
            <a:ext cx="3708806" cy="2011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114" name="label:113"/>
          <p:cNvSpPr txBox="1"/>
          <p:nvPr/>
        </p:nvSpPr>
        <p:spPr>
          <a:xfrm>
            <a:off x="5038344" y="4837176"/>
            <a:ext cx="950976" cy="2011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BLOCK</a:t>
            </a:r>
          </a:p>
        </p:txBody>
      </p:sp>
      <p:sp>
        <p:nvSpPr>
          <p:cNvPr id="115" name="label:114"/>
          <p:cNvSpPr txBox="1"/>
          <p:nvPr/>
        </p:nvSpPr>
        <p:spPr>
          <a:xfrm>
            <a:off x="566928" y="4828032"/>
            <a:ext cx="649224" cy="21945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1">
                <a:solidFill>
                  <a:srgbClr val="3A6391"/>
                </a:solidFill>
                <a:latin typeface="Arial"/>
              </a:rPr>
              <a:t>allow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601968" y="2176272"/>
            <a:ext cx="5020056" cy="1325880"/>
          </a:xfrm>
          <a:prstGeom prst="rect">
            <a:avLst/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601968" y="2176272"/>
            <a:ext cx="82296" cy="1325880"/>
          </a:xfrm>
          <a:prstGeom prst="rect">
            <a:avLst/>
          </a:prstGeom>
          <a:solidFill>
            <a:srgbClr val="A4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label:117"/>
          <p:cNvSpPr txBox="1"/>
          <p:nvPr/>
        </p:nvSpPr>
        <p:spPr>
          <a:xfrm>
            <a:off x="6839712" y="2286000"/>
            <a:ext cx="4654296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A4761A"/>
                </a:solidFill>
                <a:latin typeface="Arial"/>
              </a:rPr>
              <a:t>RESULT 4</a:t>
            </a:r>
          </a:p>
        </p:txBody>
      </p:sp>
      <p:sp>
        <p:nvSpPr>
          <p:cNvPr id="119" name="formula:118"/>
          <p:cNvSpPr txBox="1"/>
          <p:nvPr/>
        </p:nvSpPr>
        <p:spPr>
          <a:xfrm>
            <a:off x="6839712" y="2542032"/>
            <a:ext cx="4636008" cy="594359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FFFF"/>
                </a:solidFill>
                <a:latin typeface="Arial"/>
              </a:rPr>
              <a:t>choose  arg min</a:t>
            </a:r>
            <a:r>
              <a:rPr sz="2100" b="1" baseline="-25000">
                <a:solidFill>
                  <a:srgbClr val="FFFFFF"/>
                </a:solidFill>
                <a:latin typeface="Arial"/>
              </a:rPr>
              <a:t>a</a:t>
            </a:r>
            <a:r>
              <a:rPr sz="2100" b="1">
                <a:solidFill>
                  <a:srgbClr val="FFFFFF"/>
                </a:solidFill>
                <a:latin typeface="Arial"/>
              </a:rPr>
              <a:t> E[loss(a, θ) | p]</a:t>
            </a:r>
          </a:p>
        </p:txBody>
      </p:sp>
      <p:sp>
        <p:nvSpPr>
          <p:cNvPr id="120" name="caption:119"/>
          <p:cNvSpPr txBox="1"/>
          <p:nvPr/>
        </p:nvSpPr>
        <p:spPr>
          <a:xfrm>
            <a:off x="6839712" y="3099816"/>
            <a:ext cx="4636008" cy="31089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B9C8D8"/>
                </a:solidFill>
                <a:latin typeface="Arial"/>
              </a:rPr>
              <a:t>Minimise conditional expected loss over allow, block, review.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601968" y="3657600"/>
            <a:ext cx="5020056" cy="329184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body:121"/>
          <p:cNvSpPr txBox="1"/>
          <p:nvPr/>
        </p:nvSpPr>
        <p:spPr>
          <a:xfrm>
            <a:off x="6739128" y="3657600"/>
            <a:ext cx="868680" cy="32918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3A6391"/>
                </a:solidFill>
                <a:latin typeface="Arial"/>
              </a:rPr>
              <a:t>ALLOW</a:t>
            </a:r>
          </a:p>
        </p:txBody>
      </p:sp>
      <p:sp>
        <p:nvSpPr>
          <p:cNvPr id="123" name="formula:122"/>
          <p:cNvSpPr txBox="1"/>
          <p:nvPr/>
        </p:nvSpPr>
        <p:spPr>
          <a:xfrm>
            <a:off x="7607808" y="3657600"/>
            <a:ext cx="1051560" cy="32918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3A6391"/>
                </a:solidFill>
                <a:latin typeface="Arial"/>
              </a:rPr>
              <a:t>10p</a:t>
            </a:r>
          </a:p>
        </p:txBody>
      </p:sp>
      <p:sp>
        <p:nvSpPr>
          <p:cNvPr id="124" name="body:123"/>
          <p:cNvSpPr txBox="1"/>
          <p:nvPr/>
        </p:nvSpPr>
        <p:spPr>
          <a:xfrm>
            <a:off x="8705088" y="3657600"/>
            <a:ext cx="2834640" cy="32918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2313F"/>
                </a:solidFill>
                <a:latin typeface="Arial"/>
              </a:rPr>
              <a:t>missed violation costs 10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601968" y="4050791"/>
            <a:ext cx="5020056" cy="329184"/>
          </a:xfrm>
          <a:prstGeom prst="rect">
            <a:avLst/>
          </a:prstGeom>
          <a:solidFill>
            <a:srgbClr val="F8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body:125"/>
          <p:cNvSpPr txBox="1"/>
          <p:nvPr/>
        </p:nvSpPr>
        <p:spPr>
          <a:xfrm>
            <a:off x="6739128" y="4050791"/>
            <a:ext cx="868680" cy="32918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B4602E"/>
                </a:solidFill>
                <a:latin typeface="Arial"/>
              </a:rPr>
              <a:t>BLOCK</a:t>
            </a:r>
          </a:p>
        </p:txBody>
      </p:sp>
      <p:sp>
        <p:nvSpPr>
          <p:cNvPr id="127" name="formula:126"/>
          <p:cNvSpPr txBox="1"/>
          <p:nvPr/>
        </p:nvSpPr>
        <p:spPr>
          <a:xfrm>
            <a:off x="7607808" y="4050791"/>
            <a:ext cx="1051560" cy="32918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B4602E"/>
                </a:solidFill>
                <a:latin typeface="Arial"/>
              </a:rPr>
              <a:t>1 − p</a:t>
            </a:r>
          </a:p>
        </p:txBody>
      </p:sp>
      <p:sp>
        <p:nvSpPr>
          <p:cNvPr id="128" name="body:127"/>
          <p:cNvSpPr txBox="1"/>
          <p:nvPr/>
        </p:nvSpPr>
        <p:spPr>
          <a:xfrm>
            <a:off x="8705088" y="4050791"/>
            <a:ext cx="2834640" cy="32918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2313F"/>
                </a:solidFill>
                <a:latin typeface="Arial"/>
              </a:rPr>
              <a:t>false block costs 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601968" y="4443984"/>
            <a:ext cx="5020056" cy="329184"/>
          </a:xfrm>
          <a:prstGeom prst="rect">
            <a:avLst/>
          </a:prstGeom>
          <a:solidFill>
            <a:srgbClr val="E1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body:129"/>
          <p:cNvSpPr txBox="1"/>
          <p:nvPr/>
        </p:nvSpPr>
        <p:spPr>
          <a:xfrm>
            <a:off x="6739128" y="4443984"/>
            <a:ext cx="868680" cy="32918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E7A72"/>
                </a:solidFill>
                <a:latin typeface="Arial"/>
              </a:rPr>
              <a:t>REVIEW</a:t>
            </a:r>
          </a:p>
        </p:txBody>
      </p:sp>
      <p:sp>
        <p:nvSpPr>
          <p:cNvPr id="131" name="formula:130"/>
          <p:cNvSpPr txBox="1"/>
          <p:nvPr/>
        </p:nvSpPr>
        <p:spPr>
          <a:xfrm>
            <a:off x="7607808" y="4443984"/>
            <a:ext cx="1051560" cy="32918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E7A72"/>
                </a:solidFill>
                <a:latin typeface="Arial"/>
              </a:rPr>
              <a:t>0.2</a:t>
            </a:r>
          </a:p>
        </p:txBody>
      </p:sp>
      <p:sp>
        <p:nvSpPr>
          <p:cNvPr id="132" name="body:131"/>
          <p:cNvSpPr txBox="1"/>
          <p:nvPr/>
        </p:nvSpPr>
        <p:spPr>
          <a:xfrm>
            <a:off x="8705088" y="4443984"/>
            <a:ext cx="2834640" cy="32918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2313F"/>
                </a:solidFill>
                <a:latin typeface="Arial"/>
              </a:rPr>
              <a:t>perfect adjudication costs 0.2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601968" y="4828032"/>
            <a:ext cx="5020056" cy="274320"/>
          </a:xfrm>
          <a:prstGeom prst="rect">
            <a:avLst/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ormula:133"/>
          <p:cNvSpPr txBox="1"/>
          <p:nvPr/>
        </p:nvSpPr>
        <p:spPr>
          <a:xfrm>
            <a:off x="6601968" y="4828032"/>
            <a:ext cx="5020056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allow  p &lt; .02     ·     review  .02 &lt; p &lt; .80     ·     block  p &gt; .80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66928" y="5212080"/>
            <a:ext cx="11055096" cy="365760"/>
          </a:xfrm>
          <a:prstGeom prst="rect">
            <a:avLst/>
          </a:prstGeom>
          <a:solidFill>
            <a:srgbClr val="F8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66928" y="5212080"/>
            <a:ext cx="64008" cy="365760"/>
          </a:xfrm>
          <a:prstGeom prst="rect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label:136"/>
          <p:cNvSpPr txBox="1"/>
          <p:nvPr/>
        </p:nvSpPr>
        <p:spPr>
          <a:xfrm>
            <a:off x="768096" y="5266944"/>
            <a:ext cx="91440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B4602E"/>
                </a:solidFill>
                <a:latin typeface="Arial"/>
              </a:rPr>
              <a:t>ASSUMES</a:t>
            </a:r>
          </a:p>
        </p:txBody>
      </p:sp>
      <p:sp>
        <p:nvSpPr>
          <p:cNvPr id="138" name="assumption:137"/>
          <p:cNvSpPr txBox="1"/>
          <p:nvPr/>
        </p:nvSpPr>
        <p:spPr>
          <a:xfrm>
            <a:off x="1682495" y="5212080"/>
            <a:ext cx="9774936" cy="36576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2313F"/>
                </a:solidFill>
                <a:latin typeface="Arial"/>
              </a:rPr>
              <a:t>Known losses and a true posterior; ties are indifferent. Imperfect review adds its residual expected loss.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66928" y="5687568"/>
            <a:ext cx="11055096" cy="603504"/>
          </a:xfrm>
          <a:prstGeom prst="roundRect">
            <a:avLst>
              <a:gd name="adj" fmla="val 5000"/>
            </a:avLst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713232" y="5833872"/>
            <a:ext cx="566928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label:140"/>
          <p:cNvSpPr txBox="1"/>
          <p:nvPr/>
        </p:nvSpPr>
        <p:spPr>
          <a:xfrm>
            <a:off x="713232" y="5833872"/>
            <a:ext cx="566928" cy="31089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1E7A72"/>
                </a:solidFill>
                <a:latin typeface="Arial"/>
              </a:rPr>
              <a:t>USE</a:t>
            </a:r>
          </a:p>
        </p:txBody>
      </p:sp>
      <p:sp>
        <p:nvSpPr>
          <p:cNvPr id="142" name="application:141"/>
          <p:cNvSpPr txBox="1"/>
          <p:nvPr/>
        </p:nvSpPr>
        <p:spPr>
          <a:xfrm>
            <a:off x="1444752" y="5687568"/>
            <a:ext cx="10049256" cy="60350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Route ambiguous monitor cases by expected loss; keep explicitly excluded actions blocked upstream.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65760"/>
            <a:ext cx="420624" cy="420624"/>
          </a:xfrm>
          <a:prstGeom prst="roundRect">
            <a:avLst>
              <a:gd name="adj" fmla="val 5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el:3"/>
          <p:cNvSpPr txBox="1"/>
          <p:nvPr/>
        </p:nvSpPr>
        <p:spPr>
          <a:xfrm>
            <a:off x="566928" y="365760"/>
            <a:ext cx="420624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R5</a:t>
            </a:r>
          </a:p>
        </p:txBody>
      </p:sp>
      <p:sp>
        <p:nvSpPr>
          <p:cNvPr id="5" name="label:4"/>
          <p:cNvSpPr txBox="1"/>
          <p:nvPr/>
        </p:nvSpPr>
        <p:spPr>
          <a:xfrm>
            <a:off x="1115568" y="365760"/>
            <a:ext cx="10058400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6A4C93"/>
                </a:solidFill>
                <a:latin typeface="Arial"/>
              </a:rPr>
              <a:t>RESULT 5 / THE OFF-SWITCH GAME, THEOREM 1</a:t>
            </a:r>
          </a:p>
        </p:txBody>
      </p:sp>
      <p:sp>
        <p:nvSpPr>
          <p:cNvPr id="6" name="title:5"/>
          <p:cNvSpPr txBox="1"/>
          <p:nvPr/>
        </p:nvSpPr>
        <p:spPr>
          <a:xfrm>
            <a:off x="566928" y="841248"/>
            <a:ext cx="11055096" cy="64008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72D46"/>
                </a:solidFill>
                <a:latin typeface="Arial"/>
              </a:rPr>
              <a:t>Informed oversight has a calculable value.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868680" cy="4572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btitle:7"/>
          <p:cNvSpPr txBox="1"/>
          <p:nvPr/>
        </p:nvSpPr>
        <p:spPr>
          <a:xfrm>
            <a:off x="585216" y="1645920"/>
            <a:ext cx="11055096" cy="40233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5F6E80"/>
                </a:solidFill>
                <a:latin typeface="Arial"/>
              </a:rPr>
              <a:t>Shared utility U; switching off pays 0; the human knows U and permits the action exactly when U ≥ 0.</a:t>
            </a:r>
          </a:p>
        </p:txBody>
      </p:sp>
      <p:sp>
        <p:nvSpPr>
          <p:cNvPr id="9" name="source:8"/>
          <p:cNvSpPr txBox="1"/>
          <p:nvPr/>
        </p:nvSpPr>
        <p:spPr>
          <a:xfrm>
            <a:off x="566928" y="6400800"/>
            <a:ext cx="10332720" cy="2103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F6E80"/>
                </a:solidFill>
                <a:latin typeface="Arial"/>
              </a:rPr>
              <a:t> </a:t>
            </a:r>
          </a:p>
        </p:txBody>
      </p:sp>
      <p:sp>
        <p:nvSpPr>
          <p:cNvPr id="10" name="source:9"/>
          <p:cNvSpPr txBox="1"/>
          <p:nvPr/>
        </p:nvSpPr>
        <p:spPr>
          <a:xfrm>
            <a:off x="10927080" y="6364224"/>
            <a:ext cx="694944" cy="26517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5F6E80"/>
                </a:solidFill>
                <a:latin typeface="Arial"/>
              </a:rPr>
              <a:t>07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77924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99916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10912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1908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32904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43900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54896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65892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ource:20"/>
          <p:cNvSpPr txBox="1"/>
          <p:nvPr/>
        </p:nvSpPr>
        <p:spPr>
          <a:xfrm>
            <a:off x="566928" y="6400800"/>
            <a:ext cx="10332720" cy="2103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F6E80"/>
                </a:solidFill>
                <a:latin typeface="Arial"/>
                <a:hlinkClick r:id="rId2"/>
              </a:rPr>
              <a:t>Hadfield-Menell et al. (2017), Theorem 1 and Eq. (1). The constant review cost is a corollary added here.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176272"/>
            <a:ext cx="59436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176272"/>
            <a:ext cx="64008" cy="292608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abel:23"/>
          <p:cNvSpPr txBox="1"/>
          <p:nvPr/>
        </p:nvSpPr>
        <p:spPr>
          <a:xfrm>
            <a:off x="786384" y="2267712"/>
            <a:ext cx="274320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6A4C93"/>
                </a:solidFill>
                <a:latin typeface="Arial"/>
              </a:rPr>
              <a:t>GAME TREE · TOY UNITS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291840"/>
            <a:ext cx="1051560" cy="457200"/>
          </a:xfrm>
          <a:prstGeom prst="roundRect">
            <a:avLst>
              <a:gd name="adj" fmla="val 5000"/>
            </a:avLst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ody:25"/>
          <p:cNvSpPr txBox="1"/>
          <p:nvPr/>
        </p:nvSpPr>
        <p:spPr>
          <a:xfrm>
            <a:off x="777240" y="3291840"/>
            <a:ext cx="1051560" cy="45720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Robot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3509010"/>
            <a:ext cx="320040" cy="2286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2137410" y="2724912"/>
            <a:ext cx="22860" cy="795528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2148840" y="2713482"/>
            <a:ext cx="365760" cy="2286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Isosceles Triangle 29"/>
          <p:cNvSpPr/>
          <p:nvPr/>
        </p:nvSpPr>
        <p:spPr>
          <a:xfrm rot="5400000">
            <a:off x="2450592" y="2660904"/>
            <a:ext cx="128016" cy="128016"/>
          </a:xfrm>
          <a:prstGeom prst="triangl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ody:30"/>
          <p:cNvSpPr txBox="1"/>
          <p:nvPr/>
        </p:nvSpPr>
        <p:spPr>
          <a:xfrm>
            <a:off x="1280160" y="2596896"/>
            <a:ext cx="822960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act now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2542032"/>
            <a:ext cx="1920240" cy="384048"/>
          </a:xfrm>
          <a:prstGeom prst="roundRect">
            <a:avLst>
              <a:gd name="adj" fmla="val 5000"/>
            </a:avLst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ody:32"/>
          <p:cNvSpPr txBox="1"/>
          <p:nvPr/>
        </p:nvSpPr>
        <p:spPr>
          <a:xfrm>
            <a:off x="2514600" y="2542032"/>
            <a:ext cx="1920240" cy="38404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3A6391"/>
                </a:solidFill>
                <a:latin typeface="Arial"/>
              </a:rPr>
              <a:t>E[U] = ½·6 − ½·4 = 1</a:t>
            </a:r>
          </a:p>
        </p:txBody>
      </p:sp>
      <p:sp>
        <p:nvSpPr>
          <p:cNvPr id="34" name="body:33"/>
          <p:cNvSpPr txBox="1"/>
          <p:nvPr/>
        </p:nvSpPr>
        <p:spPr>
          <a:xfrm>
            <a:off x="2514600" y="2944368"/>
            <a:ext cx="2194560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direct value: max(1, 0) = 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0" y="3509010"/>
            <a:ext cx="320040" cy="2286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2137410" y="3520440"/>
            <a:ext cx="22860" cy="64008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2148840" y="4149090"/>
            <a:ext cx="365760" cy="2286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Isosceles Triangle 37"/>
          <p:cNvSpPr/>
          <p:nvPr/>
        </p:nvSpPr>
        <p:spPr>
          <a:xfrm rot="5400000">
            <a:off x="2450592" y="4096512"/>
            <a:ext cx="128016" cy="128016"/>
          </a:xfrm>
          <a:prstGeom prst="triangl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ody:38"/>
          <p:cNvSpPr txBox="1"/>
          <p:nvPr/>
        </p:nvSpPr>
        <p:spPr>
          <a:xfrm>
            <a:off x="2103120" y="4224528"/>
            <a:ext cx="914400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defer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14600" y="3931920"/>
            <a:ext cx="1051560" cy="457200"/>
          </a:xfrm>
          <a:prstGeom prst="roundRect">
            <a:avLst>
              <a:gd name="adj" fmla="val 5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ody:40"/>
          <p:cNvSpPr txBox="1"/>
          <p:nvPr/>
        </p:nvSpPr>
        <p:spPr>
          <a:xfrm>
            <a:off x="2514600" y="3931920"/>
            <a:ext cx="1051560" cy="45720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Human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4149090"/>
            <a:ext cx="274320" cy="2286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829050" y="3703320"/>
            <a:ext cx="22860" cy="4572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3840480" y="3691890"/>
            <a:ext cx="320040" cy="2286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Isosceles Triangle 44"/>
          <p:cNvSpPr/>
          <p:nvPr/>
        </p:nvSpPr>
        <p:spPr>
          <a:xfrm rot="5400000">
            <a:off x="4096512" y="3639312"/>
            <a:ext cx="128016" cy="128016"/>
          </a:xfrm>
          <a:prstGeom prst="triangl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566160" y="4149090"/>
            <a:ext cx="274320" cy="2286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3829050" y="4160520"/>
            <a:ext cx="22860" cy="4572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40480" y="4606290"/>
            <a:ext cx="320040" cy="2286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Isosceles Triangle 48"/>
          <p:cNvSpPr/>
          <p:nvPr/>
        </p:nvSpPr>
        <p:spPr>
          <a:xfrm rot="5400000">
            <a:off x="4096512" y="4553712"/>
            <a:ext cx="128016" cy="128016"/>
          </a:xfrm>
          <a:prstGeom prst="triangl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body:49"/>
          <p:cNvSpPr txBox="1"/>
          <p:nvPr/>
        </p:nvSpPr>
        <p:spPr>
          <a:xfrm>
            <a:off x="4160520" y="3255264"/>
            <a:ext cx="146304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sees U = +6, p ½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60520" y="3520440"/>
            <a:ext cx="1234440" cy="365760"/>
          </a:xfrm>
          <a:prstGeom prst="roundRect">
            <a:avLst>
              <a:gd name="adj" fmla="val 5000"/>
            </a:avLst>
          </a:prstGeom>
          <a:solidFill>
            <a:srgbClr val="E1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ody:51"/>
          <p:cNvSpPr txBox="1"/>
          <p:nvPr/>
        </p:nvSpPr>
        <p:spPr>
          <a:xfrm>
            <a:off x="4160520" y="3520440"/>
            <a:ext cx="1234440" cy="36576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1E7A72"/>
                </a:solidFill>
                <a:latin typeface="Arial"/>
              </a:rPr>
              <a:t>allow → 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60520" y="4434840"/>
            <a:ext cx="1234440" cy="365760"/>
          </a:xfrm>
          <a:prstGeom prst="roundRect">
            <a:avLst>
              <a:gd name="adj" fmla="val 5000"/>
            </a:avLst>
          </a:prstGeom>
          <a:solidFill>
            <a:srgbClr val="F7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body:53"/>
          <p:cNvSpPr txBox="1"/>
          <p:nvPr/>
        </p:nvSpPr>
        <p:spPr>
          <a:xfrm>
            <a:off x="4160520" y="4434840"/>
            <a:ext cx="1234440" cy="36576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B04E45"/>
                </a:solidFill>
                <a:latin typeface="Arial"/>
              </a:rPr>
              <a:t>switch off → 0</a:t>
            </a:r>
          </a:p>
        </p:txBody>
      </p:sp>
      <p:sp>
        <p:nvSpPr>
          <p:cNvPr id="55" name="body:54"/>
          <p:cNvSpPr txBox="1"/>
          <p:nvPr/>
        </p:nvSpPr>
        <p:spPr>
          <a:xfrm>
            <a:off x="4160520" y="4809744"/>
            <a:ext cx="1463040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sees U = −4, p ½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48122" y="3703320"/>
            <a:ext cx="22860" cy="1097280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ody:56"/>
          <p:cNvSpPr txBox="1"/>
          <p:nvPr/>
        </p:nvSpPr>
        <p:spPr>
          <a:xfrm>
            <a:off x="5614416" y="3959352"/>
            <a:ext cx="914400" cy="56692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72"/>
                </a:solidFill>
                <a:latin typeface="Arial"/>
              </a:rPr>
              <a:t>E = ½·6</a:t>
            </a:r>
          </a:p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72"/>
                </a:solidFill>
                <a:latin typeface="Arial"/>
              </a:rPr>
              <a:t>+ ½·0 = 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20840" y="2176272"/>
            <a:ext cx="4901184" cy="1417320"/>
          </a:xfrm>
          <a:prstGeom prst="rect">
            <a:avLst/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720840" y="2176272"/>
            <a:ext cx="82296" cy="141732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abel:59"/>
          <p:cNvSpPr txBox="1"/>
          <p:nvPr/>
        </p:nvSpPr>
        <p:spPr>
          <a:xfrm>
            <a:off x="6958583" y="2286000"/>
            <a:ext cx="4535424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6A4C93"/>
                </a:solidFill>
                <a:latin typeface="Arial"/>
              </a:rPr>
              <a:t>RESULT 5</a:t>
            </a:r>
          </a:p>
        </p:txBody>
      </p:sp>
      <p:sp>
        <p:nvSpPr>
          <p:cNvPr id="61" name="formula:60"/>
          <p:cNvSpPr txBox="1"/>
          <p:nvPr/>
        </p:nvSpPr>
        <p:spPr>
          <a:xfrm>
            <a:off x="6958583" y="2542032"/>
            <a:ext cx="4517136" cy="68580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D = E[max(U, 0)] − max(E[U], 0)  ≥  0</a:t>
            </a:r>
          </a:p>
        </p:txBody>
      </p:sp>
      <p:sp>
        <p:nvSpPr>
          <p:cNvPr id="62" name="caption:61"/>
          <p:cNvSpPr txBox="1"/>
          <p:nvPr/>
        </p:nvSpPr>
        <p:spPr>
          <a:xfrm>
            <a:off x="6958583" y="3191256"/>
            <a:ext cx="4517136" cy="31089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B9C8D8"/>
                </a:solidFill>
                <a:latin typeface="Arial"/>
              </a:rPr>
              <a:t>D &gt; 0 whenever U takes both signs.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20840" y="3730752"/>
            <a:ext cx="4901184" cy="1371600"/>
          </a:xfrm>
          <a:prstGeom prst="rect">
            <a:avLst/>
          </a:prstGeom>
          <a:solidFill>
            <a:srgbClr val="EE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20840" y="3730752"/>
            <a:ext cx="4901184" cy="5486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abel:64"/>
          <p:cNvSpPr txBox="1"/>
          <p:nvPr/>
        </p:nvSpPr>
        <p:spPr>
          <a:xfrm>
            <a:off x="6903720" y="3822191"/>
            <a:ext cx="320040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6A4C93"/>
                </a:solidFill>
                <a:latin typeface="Arial"/>
              </a:rPr>
              <a:t>WITH A REVIEW COST C</a:t>
            </a:r>
          </a:p>
        </p:txBody>
      </p:sp>
      <p:sp>
        <p:nvSpPr>
          <p:cNvPr id="66" name="formula:65"/>
          <p:cNvSpPr txBox="1"/>
          <p:nvPr/>
        </p:nvSpPr>
        <p:spPr>
          <a:xfrm>
            <a:off x="6903720" y="4078224"/>
            <a:ext cx="2331720" cy="4389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6A4C93"/>
                </a:solidFill>
                <a:latin typeface="Arial"/>
              </a:rPr>
              <a:t>defer  iff  c &lt; D</a:t>
            </a:r>
          </a:p>
        </p:txBody>
      </p:sp>
      <p:sp>
        <p:nvSpPr>
          <p:cNvPr id="67" name="formula:66"/>
          <p:cNvSpPr txBox="1"/>
          <p:nvPr/>
        </p:nvSpPr>
        <p:spPr>
          <a:xfrm>
            <a:off x="9281160" y="4078224"/>
            <a:ext cx="2286000" cy="4389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172D46"/>
                </a:solidFill>
                <a:latin typeface="Arial"/>
              </a:rPr>
              <a:t>D = 3 − 1 = 2</a:t>
            </a:r>
          </a:p>
        </p:txBody>
      </p:sp>
      <p:sp>
        <p:nvSpPr>
          <p:cNvPr id="68" name="body:67"/>
          <p:cNvSpPr txBox="1"/>
          <p:nvPr/>
        </p:nvSpPr>
        <p:spPr>
          <a:xfrm>
            <a:off x="6903720" y="4572000"/>
            <a:ext cx="4572000" cy="45720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F6E80"/>
                </a:solidFill>
                <a:latin typeface="Arial"/>
              </a:rPr>
              <a:t>Oversight is worth up to 2 toy units; at c = D the two options tie.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" y="5212080"/>
            <a:ext cx="11055096" cy="365760"/>
          </a:xfrm>
          <a:prstGeom prst="rect">
            <a:avLst/>
          </a:prstGeom>
          <a:solidFill>
            <a:srgbClr val="F8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6928" y="5212080"/>
            <a:ext cx="64008" cy="365760"/>
          </a:xfrm>
          <a:prstGeom prst="rect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abel:70"/>
          <p:cNvSpPr txBox="1"/>
          <p:nvPr/>
        </p:nvSpPr>
        <p:spPr>
          <a:xfrm>
            <a:off x="768096" y="5266944"/>
            <a:ext cx="91440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B4602E"/>
                </a:solidFill>
                <a:latin typeface="Arial"/>
              </a:rPr>
              <a:t>ASSUMES</a:t>
            </a:r>
          </a:p>
        </p:txBody>
      </p:sp>
      <p:sp>
        <p:nvSpPr>
          <p:cNvPr id="72" name="assumption:71"/>
          <p:cNvSpPr txBox="1"/>
          <p:nvPr/>
        </p:nvSpPr>
        <p:spPr>
          <a:xfrm>
            <a:off x="1682495" y="5212080"/>
            <a:ext cx="9774936" cy="36576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2313F"/>
                </a:solidFill>
                <a:latin typeface="Arial"/>
              </a:rPr>
              <a:t>Informed, rational human with the shared objective; review costs only c. Not a general safety guarantee.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66928" y="5687568"/>
            <a:ext cx="11055096" cy="603504"/>
          </a:xfrm>
          <a:prstGeom prst="roundRect">
            <a:avLst>
              <a:gd name="adj" fmla="val 5000"/>
            </a:avLst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13232" y="5833872"/>
            <a:ext cx="566928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label:74"/>
          <p:cNvSpPr txBox="1"/>
          <p:nvPr/>
        </p:nvSpPr>
        <p:spPr>
          <a:xfrm>
            <a:off x="713232" y="5833872"/>
            <a:ext cx="566928" cy="31089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1E7A72"/>
                </a:solidFill>
                <a:latin typeface="Arial"/>
              </a:rPr>
              <a:t>USE</a:t>
            </a:r>
          </a:p>
        </p:txBody>
      </p:sp>
      <p:sp>
        <p:nvSpPr>
          <p:cNvPr id="76" name="application:75"/>
          <p:cNvSpPr txBox="1"/>
          <p:nvPr/>
        </p:nvSpPr>
        <p:spPr>
          <a:xfrm>
            <a:off x="1444752" y="5687568"/>
            <a:ext cx="10049256" cy="60350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Use informed approval as the oracle baseline, then vary reviewer error and delay.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65760"/>
            <a:ext cx="420624" cy="420624"/>
          </a:xfrm>
          <a:prstGeom prst="roundRect">
            <a:avLst>
              <a:gd name="adj" fmla="val 5000"/>
            </a:avLst>
          </a:prstGeom>
          <a:solidFill>
            <a:srgbClr val="B04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el:3"/>
          <p:cNvSpPr txBox="1"/>
          <p:nvPr/>
        </p:nvSpPr>
        <p:spPr>
          <a:xfrm>
            <a:off x="566928" y="365760"/>
            <a:ext cx="420624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R6</a:t>
            </a:r>
          </a:p>
        </p:txBody>
      </p:sp>
      <p:sp>
        <p:nvSpPr>
          <p:cNvPr id="5" name="label:4"/>
          <p:cNvSpPr txBox="1"/>
          <p:nvPr/>
        </p:nvSpPr>
        <p:spPr>
          <a:xfrm>
            <a:off x="1115568" y="365760"/>
            <a:ext cx="10058400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B04E45"/>
                </a:solidFill>
                <a:latin typeface="Arial"/>
              </a:rPr>
              <a:t>DERIVED BOUND / EXACT ENFORCEMENT IN A FINITE CHOICE</a:t>
            </a:r>
          </a:p>
        </p:txBody>
      </p:sp>
      <p:sp>
        <p:nvSpPr>
          <p:cNvPr id="6" name="title:5"/>
          <p:cNvSpPr txBox="1"/>
          <p:nvPr/>
        </p:nvSpPr>
        <p:spPr>
          <a:xfrm>
            <a:off x="566928" y="841248"/>
            <a:ext cx="11055096" cy="64008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72D46"/>
                </a:solidFill>
                <a:latin typeface="Arial"/>
              </a:rPr>
              <a:t>A finite penalty works only relative to a payoff bound.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868680" cy="45720"/>
          </a:xfrm>
          <a:prstGeom prst="rect">
            <a:avLst/>
          </a:prstGeom>
          <a:solidFill>
            <a:srgbClr val="B04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btitle:7"/>
          <p:cNvSpPr txBox="1"/>
          <p:nvPr/>
        </p:nvSpPr>
        <p:spPr>
          <a:xfrm>
            <a:off x="585216" y="1645920"/>
            <a:ext cx="11055096" cy="40233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5F6E80"/>
                </a:solidFill>
                <a:latin typeface="Arial"/>
              </a:rPr>
              <a:t>Known binary violation labels; at least one feasible action; every payoff Q(a) lies in [L, H].</a:t>
            </a:r>
          </a:p>
        </p:txBody>
      </p:sp>
      <p:sp>
        <p:nvSpPr>
          <p:cNvPr id="9" name="source:8"/>
          <p:cNvSpPr txBox="1"/>
          <p:nvPr/>
        </p:nvSpPr>
        <p:spPr>
          <a:xfrm>
            <a:off x="566928" y="6400800"/>
            <a:ext cx="10332720" cy="2103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F6E80"/>
                </a:solidFill>
                <a:latin typeface="Arial"/>
              </a:rPr>
              <a:t> </a:t>
            </a:r>
          </a:p>
        </p:txBody>
      </p:sp>
      <p:sp>
        <p:nvSpPr>
          <p:cNvPr id="10" name="source:9"/>
          <p:cNvSpPr txBox="1"/>
          <p:nvPr/>
        </p:nvSpPr>
        <p:spPr>
          <a:xfrm>
            <a:off x="10927080" y="6364224"/>
            <a:ext cx="694944" cy="26517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5F6E80"/>
                </a:solidFill>
                <a:latin typeface="Arial"/>
              </a:rPr>
              <a:t>08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77924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99916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10912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1908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32904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43900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54896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65892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2176272"/>
            <a:ext cx="53949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2176272"/>
            <a:ext cx="64008" cy="2926080"/>
          </a:xfrm>
          <a:prstGeom prst="rect">
            <a:avLst/>
          </a:prstGeom>
          <a:solidFill>
            <a:srgbClr val="B04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abel:22"/>
          <p:cNvSpPr txBox="1"/>
          <p:nvPr/>
        </p:nvSpPr>
        <p:spPr>
          <a:xfrm>
            <a:off x="786384" y="2267712"/>
            <a:ext cx="493776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B04E45"/>
                </a:solidFill>
                <a:latin typeface="Arial"/>
              </a:rPr>
              <a:t>PENALISED PAYOFF · illustrative: Q in [0, 10], λ = 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16736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44752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72768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00784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0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56816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84832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12848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40864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68880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96896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24912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52928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80944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08960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36976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64992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93008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21024" y="2625242"/>
            <a:ext cx="73151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749040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77056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005072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33088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61104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89120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17136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45152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773168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01183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199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57215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285231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3247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41263" y="2625242"/>
            <a:ext cx="73152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69279" y="2625242"/>
            <a:ext cx="45720" cy="16459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88720" y="4178808"/>
            <a:ext cx="4526280" cy="18288"/>
          </a:xfrm>
          <a:prstGeom prst="rect">
            <a:avLst/>
          </a:prstGeom>
          <a:solidFill>
            <a:srgbClr val="5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ody:60"/>
          <p:cNvSpPr txBox="1"/>
          <p:nvPr/>
        </p:nvSpPr>
        <p:spPr>
          <a:xfrm>
            <a:off x="658368" y="2514600"/>
            <a:ext cx="530352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H = 10</a:t>
            </a:r>
          </a:p>
        </p:txBody>
      </p:sp>
      <p:sp>
        <p:nvSpPr>
          <p:cNvPr id="62" name="body:61"/>
          <p:cNvSpPr txBox="1"/>
          <p:nvPr/>
        </p:nvSpPr>
        <p:spPr>
          <a:xfrm>
            <a:off x="658368" y="4069080"/>
            <a:ext cx="530352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5F6E80"/>
                </a:solidFill>
                <a:latin typeface="Arial"/>
              </a:rPr>
              <a:t>L = 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54480" y="3721608"/>
            <a:ext cx="566928" cy="466344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body:63"/>
          <p:cNvSpPr txBox="1"/>
          <p:nvPr/>
        </p:nvSpPr>
        <p:spPr>
          <a:xfrm>
            <a:off x="1417320" y="4242816"/>
            <a:ext cx="841248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22313F"/>
                </a:solidFill>
                <a:latin typeface="Arial"/>
              </a:rPr>
              <a:t>a</a:t>
            </a:r>
            <a:r>
              <a:rPr sz="1100" b="0" baseline="-25000">
                <a:solidFill>
                  <a:srgbClr val="22313F"/>
                </a:solidFill>
                <a:latin typeface="Arial"/>
              </a:rPr>
              <a:t>1</a:t>
            </a:r>
            <a:r>
              <a:rPr sz="1100" b="0">
                <a:solidFill>
                  <a:srgbClr val="22313F"/>
                </a:solidFill>
                <a:latin typeface="Arial"/>
              </a:rPr>
              <a:t> = 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23160" y="3099815"/>
            <a:ext cx="566928" cy="1088136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body:65"/>
          <p:cNvSpPr txBox="1"/>
          <p:nvPr/>
        </p:nvSpPr>
        <p:spPr>
          <a:xfrm>
            <a:off x="2286000" y="4242816"/>
            <a:ext cx="841248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22313F"/>
                </a:solidFill>
                <a:latin typeface="Arial"/>
              </a:rPr>
              <a:t>a</a:t>
            </a:r>
            <a:r>
              <a:rPr sz="1100" b="0" baseline="-25000">
                <a:solidFill>
                  <a:srgbClr val="22313F"/>
                </a:solidFill>
                <a:latin typeface="Arial"/>
              </a:rPr>
              <a:t>2</a:t>
            </a:r>
            <a:r>
              <a:rPr sz="1100" b="0">
                <a:solidFill>
                  <a:srgbClr val="22313F"/>
                </a:solidFill>
                <a:latin typeface="Arial"/>
              </a:rPr>
              <a:t> = 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91840" y="2633472"/>
            <a:ext cx="566928" cy="1554480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body:67"/>
          <p:cNvSpPr txBox="1"/>
          <p:nvPr/>
        </p:nvSpPr>
        <p:spPr>
          <a:xfrm>
            <a:off x="3154680" y="4242816"/>
            <a:ext cx="841248" cy="23774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22313F"/>
                </a:solidFill>
                <a:latin typeface="Arial"/>
              </a:rPr>
              <a:t>a</a:t>
            </a:r>
            <a:r>
              <a:rPr sz="1100" b="0" baseline="-25000">
                <a:solidFill>
                  <a:srgbClr val="22313F"/>
                </a:solidFill>
                <a:latin typeface="Arial"/>
              </a:rPr>
              <a:t>3</a:t>
            </a:r>
            <a:r>
              <a:rPr sz="1100" b="0">
                <a:solidFill>
                  <a:srgbClr val="22313F"/>
                </a:solidFill>
                <a:latin typeface="Arial"/>
              </a:rPr>
              <a:t> = 10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34840" y="2633472"/>
            <a:ext cx="566928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B04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434840" y="4187952"/>
            <a:ext cx="566928" cy="155448"/>
          </a:xfrm>
          <a:prstGeom prst="rect">
            <a:avLst/>
          </a:prstGeom>
          <a:solidFill>
            <a:srgbClr val="B04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706873" y="2743200"/>
            <a:ext cx="22860" cy="1371600"/>
          </a:xfrm>
          <a:prstGeom prst="rect">
            <a:avLst/>
          </a:prstGeom>
          <a:solidFill>
            <a:srgbClr val="B04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Isosceles Triangle 71"/>
          <p:cNvSpPr/>
          <p:nvPr/>
        </p:nvSpPr>
        <p:spPr>
          <a:xfrm rot="10800000">
            <a:off x="4654295" y="4050792"/>
            <a:ext cx="128016" cy="128016"/>
          </a:xfrm>
          <a:prstGeom prst="triangle">
            <a:avLst/>
          </a:prstGeom>
          <a:solidFill>
            <a:srgbClr val="B04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body:72"/>
          <p:cNvSpPr txBox="1"/>
          <p:nvPr/>
        </p:nvSpPr>
        <p:spPr>
          <a:xfrm>
            <a:off x="5056631" y="3154680"/>
            <a:ext cx="685800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B04E45"/>
                </a:solidFill>
                <a:latin typeface="Arial"/>
              </a:rPr>
              <a:t>−λ = −11</a:t>
            </a:r>
          </a:p>
        </p:txBody>
      </p:sp>
      <p:sp>
        <p:nvSpPr>
          <p:cNvPr id="74" name="body:73"/>
          <p:cNvSpPr txBox="1"/>
          <p:nvPr/>
        </p:nvSpPr>
        <p:spPr>
          <a:xfrm>
            <a:off x="4069079" y="4389120"/>
            <a:ext cx="1298448" cy="36576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04E45"/>
                </a:solidFill>
                <a:latin typeface="Arial"/>
              </a:rPr>
              <a:t>violation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04E45"/>
                </a:solidFill>
                <a:latin typeface="Arial"/>
              </a:rPr>
              <a:t>10 → −1</a:t>
            </a:r>
          </a:p>
        </p:txBody>
      </p:sp>
      <p:sp>
        <p:nvSpPr>
          <p:cNvPr id="75" name="body:74"/>
          <p:cNvSpPr txBox="1"/>
          <p:nvPr/>
        </p:nvSpPr>
        <p:spPr>
          <a:xfrm>
            <a:off x="786384" y="4773168"/>
            <a:ext cx="4983480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22313F"/>
                </a:solidFill>
                <a:latin typeface="Arial"/>
              </a:rPr>
              <a:t>Every feasible action beats the penalised violation: −1 &lt; 0 ≤ Q(a).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17920" y="2176272"/>
            <a:ext cx="5404104" cy="1417320"/>
          </a:xfrm>
          <a:prstGeom prst="rect">
            <a:avLst/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17920" y="2176272"/>
            <a:ext cx="82296" cy="1417320"/>
          </a:xfrm>
          <a:prstGeom prst="rect">
            <a:avLst/>
          </a:prstGeom>
          <a:solidFill>
            <a:srgbClr val="B04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label:77"/>
          <p:cNvSpPr txBox="1"/>
          <p:nvPr/>
        </p:nvSpPr>
        <p:spPr>
          <a:xfrm>
            <a:off x="6455664" y="2286000"/>
            <a:ext cx="5038344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B04E45"/>
                </a:solidFill>
                <a:latin typeface="Arial"/>
              </a:rPr>
              <a:t>DERIVED BOUND</a:t>
            </a:r>
          </a:p>
        </p:txBody>
      </p:sp>
      <p:sp>
        <p:nvSpPr>
          <p:cNvPr id="79" name="formula:78"/>
          <p:cNvSpPr txBox="1"/>
          <p:nvPr/>
        </p:nvSpPr>
        <p:spPr>
          <a:xfrm>
            <a:off x="6455664" y="2542032"/>
            <a:ext cx="5020056" cy="99669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>
                <a:solidFill>
                  <a:srgbClr val="FFFFFF"/>
                </a:solidFill>
                <a:latin typeface="Arial"/>
              </a:rPr>
              <a:t>maximise  Q(a) − λ·I[a violates the grant]</a:t>
            </a:r>
          </a:p>
          <a:p>
            <a:pPr algn="l">
              <a:lnSpc>
                <a:spcPct val="108000"/>
              </a:lnSpc>
            </a:pPr>
            <a:r>
              <a:rPr sz="1850" b="1">
                <a:solidFill>
                  <a:srgbClr val="FFFFFF"/>
                </a:solidFill>
                <a:latin typeface="Arial"/>
              </a:rPr>
              <a:t>λ &gt; H − L  makes every maximiser feasible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17920" y="3730752"/>
            <a:ext cx="540410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217920" y="3730752"/>
            <a:ext cx="64008" cy="1371600"/>
          </a:xfrm>
          <a:prstGeom prst="rect">
            <a:avLst/>
          </a:prstGeom>
          <a:solidFill>
            <a:srgbClr val="B04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label:81"/>
          <p:cNvSpPr txBox="1"/>
          <p:nvPr/>
        </p:nvSpPr>
        <p:spPr>
          <a:xfrm>
            <a:off x="6455664" y="3822191"/>
            <a:ext cx="274320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B04E45"/>
                </a:solidFill>
                <a:latin typeface="Arial"/>
              </a:rPr>
              <a:t>PROOF IN ONE CHAIN</a:t>
            </a:r>
          </a:p>
        </p:txBody>
      </p:sp>
      <p:sp>
        <p:nvSpPr>
          <p:cNvPr id="83" name="formula:82"/>
          <p:cNvSpPr txBox="1"/>
          <p:nvPr/>
        </p:nvSpPr>
        <p:spPr>
          <a:xfrm>
            <a:off x="6455664" y="4059936"/>
            <a:ext cx="5029200" cy="40233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>
                <a:solidFill>
                  <a:srgbClr val="172D46"/>
                </a:solidFill>
                <a:latin typeface="Arial"/>
              </a:rPr>
              <a:t>Q(violation) − λ  ≤  H − λ  &lt;  L  ≤  Q(feasible)</a:t>
            </a:r>
          </a:p>
        </p:txBody>
      </p:sp>
      <p:sp>
        <p:nvSpPr>
          <p:cNvPr id="84" name="body:83"/>
          <p:cNvSpPr txBox="1"/>
          <p:nvPr/>
        </p:nvSpPr>
        <p:spPr>
          <a:xfrm>
            <a:off x="6455664" y="4498848"/>
            <a:ext cx="5029200" cy="54864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F6E80"/>
                </a:solidFill>
                <a:latin typeface="Arial"/>
              </a:rPr>
              <a:t>Unbounded payoffs admit no universal finite λ. Zero observed violations cannot tell a hard constraint from a large enough λ.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8" y="5212080"/>
            <a:ext cx="11055096" cy="365760"/>
          </a:xfrm>
          <a:prstGeom prst="rect">
            <a:avLst/>
          </a:prstGeom>
          <a:solidFill>
            <a:srgbClr val="F8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66928" y="5212080"/>
            <a:ext cx="64008" cy="365760"/>
          </a:xfrm>
          <a:prstGeom prst="rect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label:86"/>
          <p:cNvSpPr txBox="1"/>
          <p:nvPr/>
        </p:nvSpPr>
        <p:spPr>
          <a:xfrm>
            <a:off x="768096" y="5266944"/>
            <a:ext cx="91440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B4602E"/>
                </a:solidFill>
                <a:latin typeface="Arial"/>
              </a:rPr>
              <a:t>ASSUMES</a:t>
            </a:r>
          </a:p>
        </p:txBody>
      </p:sp>
      <p:sp>
        <p:nvSpPr>
          <p:cNvPr id="88" name="assumption:87"/>
          <p:cNvSpPr txBox="1"/>
          <p:nvPr/>
        </p:nvSpPr>
        <p:spPr>
          <a:xfrm>
            <a:off x="1682495" y="5212080"/>
            <a:ext cx="9774936" cy="36576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2313F"/>
                </a:solidFill>
                <a:latin typeface="Arial"/>
              </a:rPr>
              <a:t>Deterministic payoff bound with known labels; silent on unknown labels, stochastic penalties and prompt compliance.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66928" y="5687568"/>
            <a:ext cx="11055096" cy="603504"/>
          </a:xfrm>
          <a:prstGeom prst="roundRect">
            <a:avLst>
              <a:gd name="adj" fmla="val 5000"/>
            </a:avLst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713232" y="5833872"/>
            <a:ext cx="566928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label:90"/>
          <p:cNvSpPr txBox="1"/>
          <p:nvPr/>
        </p:nvSpPr>
        <p:spPr>
          <a:xfrm>
            <a:off x="713232" y="5833872"/>
            <a:ext cx="566928" cy="31089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1E7A72"/>
                </a:solidFill>
                <a:latin typeface="Arial"/>
              </a:rPr>
              <a:t>USE</a:t>
            </a:r>
          </a:p>
        </p:txBody>
      </p:sp>
      <p:sp>
        <p:nvSpPr>
          <p:cNvPr id="92" name="application:91"/>
          <p:cNvSpPr txBox="1"/>
          <p:nvPr/>
        </p:nvSpPr>
        <p:spPr>
          <a:xfrm>
            <a:off x="1444752" y="5687568"/>
            <a:ext cx="10049256" cy="60350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Filter actions against explicit grants; never infer a hard constraint from zero observed violations.</a:t>
            </a:r>
          </a:p>
        </p:txBody>
      </p:sp>
      <p:sp>
        <p:nvSpPr>
          <p:cNvPr id="93" name="source:92"/>
          <p:cNvSpPr txBox="1"/>
          <p:nvPr/>
        </p:nvSpPr>
        <p:spPr>
          <a:xfrm>
            <a:off x="566928" y="6400800"/>
            <a:ext cx="10332720" cy="2103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F6E80"/>
                </a:solidFill>
                <a:latin typeface="Arial"/>
              </a:rPr>
              <a:t>Elementary result derived above; no claim that this is a new theorem or a guarantee about LLM internals.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65760"/>
            <a:ext cx="420624" cy="420624"/>
          </a:xfrm>
          <a:prstGeom prst="roundRect">
            <a:avLst>
              <a:gd name="adj" fmla="val 5000"/>
            </a:avLst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el:3"/>
          <p:cNvSpPr txBox="1"/>
          <p:nvPr/>
        </p:nvSpPr>
        <p:spPr>
          <a:xfrm>
            <a:off x="566928" y="365760"/>
            <a:ext cx="420624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5" name="label:4"/>
          <p:cNvSpPr txBox="1"/>
          <p:nvPr/>
        </p:nvSpPr>
        <p:spPr>
          <a:xfrm>
            <a:off x="1115568" y="365760"/>
            <a:ext cx="10058400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1E7A72"/>
                </a:solidFill>
                <a:latin typeface="Arial"/>
              </a:rPr>
              <a:t>APPLICATION / A REFERENCE CONTROLLER FOR CONTAINMENT-EXTENSION</a:t>
            </a:r>
          </a:p>
        </p:txBody>
      </p:sp>
      <p:sp>
        <p:nvSpPr>
          <p:cNvPr id="6" name="title:5"/>
          <p:cNvSpPr txBox="1"/>
          <p:nvPr/>
        </p:nvSpPr>
        <p:spPr>
          <a:xfrm>
            <a:off x="566928" y="841248"/>
            <a:ext cx="11055096" cy="64008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72D46"/>
                </a:solidFill>
                <a:latin typeface="Arial"/>
              </a:rPr>
              <a:t>Turn the results into a controller baseline.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868680" cy="45720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btitle:7"/>
          <p:cNvSpPr txBox="1"/>
          <p:nvPr/>
        </p:nvSpPr>
        <p:spPr>
          <a:xfrm>
            <a:off x="585216" y="1645920"/>
            <a:ext cx="11055096" cy="40233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5F6E80"/>
                </a:solidFill>
                <a:latin typeface="Arial"/>
              </a:rPr>
              <a:t>Freeze the grant, the likelihood model and the losses before evaluating any agent.</a:t>
            </a:r>
          </a:p>
        </p:txBody>
      </p:sp>
      <p:sp>
        <p:nvSpPr>
          <p:cNvPr id="9" name="source:8"/>
          <p:cNvSpPr txBox="1"/>
          <p:nvPr/>
        </p:nvSpPr>
        <p:spPr>
          <a:xfrm>
            <a:off x="566928" y="6400800"/>
            <a:ext cx="10332720" cy="2103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F6E80"/>
                </a:solidFill>
                <a:latin typeface="Arial"/>
              </a:rPr>
              <a:t> </a:t>
            </a:r>
          </a:p>
        </p:txBody>
      </p:sp>
      <p:sp>
        <p:nvSpPr>
          <p:cNvPr id="10" name="source:9"/>
          <p:cNvSpPr txBox="1"/>
          <p:nvPr/>
        </p:nvSpPr>
        <p:spPr>
          <a:xfrm>
            <a:off x="10927080" y="6364224"/>
            <a:ext cx="694944" cy="26517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5F6E80"/>
                </a:solidFill>
                <a:latin typeface="Arial"/>
              </a:rPr>
              <a:t>09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77924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99916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10912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1908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32904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43900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54896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65892" y="6711696"/>
            <a:ext cx="1056132" cy="5029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2176272"/>
            <a:ext cx="254203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2176272"/>
            <a:ext cx="64008" cy="2148840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8096" y="2359152"/>
            <a:ext cx="384048" cy="384048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abel:23"/>
          <p:cNvSpPr txBox="1"/>
          <p:nvPr/>
        </p:nvSpPr>
        <p:spPr>
          <a:xfrm>
            <a:off x="768096" y="2359152"/>
            <a:ext cx="384048" cy="38404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body:24"/>
          <p:cNvSpPr txBox="1"/>
          <p:nvPr/>
        </p:nvSpPr>
        <p:spPr>
          <a:xfrm>
            <a:off x="1243584" y="2377440"/>
            <a:ext cx="1719072" cy="36576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E7A72"/>
                </a:solidFill>
                <a:latin typeface="Arial"/>
              </a:rPr>
              <a:t>Check the grant</a:t>
            </a:r>
          </a:p>
        </p:txBody>
      </p:sp>
      <p:sp>
        <p:nvSpPr>
          <p:cNvPr id="26" name="body:25"/>
          <p:cNvSpPr txBox="1"/>
          <p:nvPr/>
        </p:nvSpPr>
        <p:spPr>
          <a:xfrm>
            <a:off x="768096" y="2871215"/>
            <a:ext cx="2157984" cy="9601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2313F"/>
                </a:solidFill>
                <a:latin typeface="Arial"/>
              </a:rPr>
              <a:t>Exclude known forbidden effects. If the task needs more, seek a valid grant before acting.</a:t>
            </a:r>
          </a:p>
        </p:txBody>
      </p:sp>
      <p:sp>
        <p:nvSpPr>
          <p:cNvPr id="27" name="label:26"/>
          <p:cNvSpPr txBox="1"/>
          <p:nvPr/>
        </p:nvSpPr>
        <p:spPr>
          <a:xfrm>
            <a:off x="768096" y="3913631"/>
            <a:ext cx="54864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5F6E80"/>
                </a:solidFill>
                <a:latin typeface="Arial"/>
              </a:rPr>
              <a:t>USES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80160" y="3895344"/>
            <a:ext cx="420624" cy="274320"/>
          </a:xfrm>
          <a:prstGeom prst="roundRect">
            <a:avLst>
              <a:gd name="adj" fmla="val 5000"/>
            </a:avLst>
          </a:prstGeom>
          <a:solidFill>
            <a:srgbClr val="E1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abel:28"/>
          <p:cNvSpPr txBox="1"/>
          <p:nvPr/>
        </p:nvSpPr>
        <p:spPr>
          <a:xfrm>
            <a:off x="1335024" y="3895344"/>
            <a:ext cx="310896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1E7A72"/>
                </a:solidFill>
                <a:latin typeface="Arial"/>
              </a:rPr>
              <a:t>R6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3234690"/>
            <a:ext cx="295656" cy="22860"/>
          </a:xfrm>
          <a:prstGeom prst="rect">
            <a:avLst/>
          </a:prstGeom>
          <a:solidFill>
            <a:srgbClr val="5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Isosceles Triangle 30"/>
          <p:cNvSpPr/>
          <p:nvPr/>
        </p:nvSpPr>
        <p:spPr>
          <a:xfrm rot="5400000">
            <a:off x="3340608" y="3182112"/>
            <a:ext cx="128016" cy="128016"/>
          </a:xfrm>
          <a:prstGeom prst="triangle">
            <a:avLst/>
          </a:prstGeom>
          <a:solidFill>
            <a:srgbClr val="5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04616" y="2176272"/>
            <a:ext cx="254203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04616" y="2176272"/>
            <a:ext cx="64008" cy="2148840"/>
          </a:xfrm>
          <a:prstGeom prst="rect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05784" y="2359152"/>
            <a:ext cx="384048" cy="384048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label:34"/>
          <p:cNvSpPr txBox="1"/>
          <p:nvPr/>
        </p:nvSpPr>
        <p:spPr>
          <a:xfrm>
            <a:off x="3605784" y="2359152"/>
            <a:ext cx="384048" cy="38404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6" name="body:35"/>
          <p:cNvSpPr txBox="1"/>
          <p:nvPr/>
        </p:nvSpPr>
        <p:spPr>
          <a:xfrm>
            <a:off x="4081272" y="2377440"/>
            <a:ext cx="1719072" cy="36576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3A6391"/>
                </a:solidFill>
                <a:latin typeface="Arial"/>
              </a:rPr>
              <a:t>Value diagnosis</a:t>
            </a:r>
          </a:p>
        </p:txBody>
      </p:sp>
      <p:sp>
        <p:nvSpPr>
          <p:cNvPr id="37" name="body:36"/>
          <p:cNvSpPr txBox="1"/>
          <p:nvPr/>
        </p:nvSpPr>
        <p:spPr>
          <a:xfrm>
            <a:off x="3605784" y="2871215"/>
            <a:ext cx="2157984" cy="9601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2313F"/>
                </a:solidFill>
                <a:latin typeface="Arial"/>
              </a:rPr>
              <a:t>Positive one-step gain: continue. EVPI below the cheapest probe: commit now.</a:t>
            </a:r>
          </a:p>
        </p:txBody>
      </p:sp>
      <p:sp>
        <p:nvSpPr>
          <p:cNvPr id="38" name="label:37"/>
          <p:cNvSpPr txBox="1"/>
          <p:nvPr/>
        </p:nvSpPr>
        <p:spPr>
          <a:xfrm>
            <a:off x="3605784" y="3913631"/>
            <a:ext cx="54864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5F6E80"/>
                </a:solidFill>
                <a:latin typeface="Arial"/>
              </a:rPr>
              <a:t>USES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7848" y="3895344"/>
            <a:ext cx="420624" cy="274320"/>
          </a:xfrm>
          <a:prstGeom prst="roundRect">
            <a:avLst>
              <a:gd name="adj" fmla="val 5000"/>
            </a:avLst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label:39"/>
          <p:cNvSpPr txBox="1"/>
          <p:nvPr/>
        </p:nvSpPr>
        <p:spPr>
          <a:xfrm>
            <a:off x="4172712" y="3895344"/>
            <a:ext cx="310896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A6391"/>
                </a:solidFill>
                <a:latin typeface="Arial"/>
              </a:rPr>
              <a:t>R2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93336" y="3895344"/>
            <a:ext cx="420624" cy="274320"/>
          </a:xfrm>
          <a:prstGeom prst="roundRect">
            <a:avLst>
              <a:gd name="adj" fmla="val 5000"/>
            </a:avLst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label:41"/>
          <p:cNvSpPr txBox="1"/>
          <p:nvPr/>
        </p:nvSpPr>
        <p:spPr>
          <a:xfrm>
            <a:off x="4648200" y="3895344"/>
            <a:ext cx="310896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A6391"/>
                </a:solidFill>
                <a:latin typeface="Arial"/>
              </a:rPr>
              <a:t>R3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6648" y="3234690"/>
            <a:ext cx="295656" cy="22860"/>
          </a:xfrm>
          <a:prstGeom prst="rect">
            <a:avLst/>
          </a:prstGeom>
          <a:solidFill>
            <a:srgbClr val="5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Isosceles Triangle 43"/>
          <p:cNvSpPr/>
          <p:nvPr/>
        </p:nvSpPr>
        <p:spPr>
          <a:xfrm rot="5400000">
            <a:off x="6178296" y="3182112"/>
            <a:ext cx="128016" cy="128016"/>
          </a:xfrm>
          <a:prstGeom prst="triangle">
            <a:avLst/>
          </a:prstGeom>
          <a:solidFill>
            <a:srgbClr val="5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42304" y="2176272"/>
            <a:ext cx="254203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42304" y="2176272"/>
            <a:ext cx="64008" cy="2148840"/>
          </a:xfrm>
          <a:prstGeom prst="rect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43472" y="2359152"/>
            <a:ext cx="384048" cy="384048"/>
          </a:xfrm>
          <a:prstGeom prst="ellipse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label:47"/>
          <p:cNvSpPr txBox="1"/>
          <p:nvPr/>
        </p:nvSpPr>
        <p:spPr>
          <a:xfrm>
            <a:off x="6443472" y="2359152"/>
            <a:ext cx="384048" cy="38404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9" name="body:48"/>
          <p:cNvSpPr txBox="1"/>
          <p:nvPr/>
        </p:nvSpPr>
        <p:spPr>
          <a:xfrm>
            <a:off x="6918960" y="2377440"/>
            <a:ext cx="1719072" cy="36576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B4602E"/>
                </a:solidFill>
                <a:latin typeface="Arial"/>
              </a:rPr>
              <a:t>Resolve the gap</a:t>
            </a:r>
          </a:p>
        </p:txBody>
      </p:sp>
      <p:sp>
        <p:nvSpPr>
          <p:cNvPr id="50" name="body:49"/>
          <p:cNvSpPr txBox="1"/>
          <p:nvPr/>
        </p:nvSpPr>
        <p:spPr>
          <a:xfrm>
            <a:off x="6443472" y="2871215"/>
            <a:ext cx="2157984" cy="9601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2313F"/>
                </a:solidFill>
                <a:latin typeface="Arial"/>
              </a:rPr>
              <a:t>Where neither test decides, run multi-step search over probe sequences.</a:t>
            </a:r>
          </a:p>
        </p:txBody>
      </p:sp>
      <p:sp>
        <p:nvSpPr>
          <p:cNvPr id="51" name="label:50"/>
          <p:cNvSpPr txBox="1"/>
          <p:nvPr/>
        </p:nvSpPr>
        <p:spPr>
          <a:xfrm>
            <a:off x="6443472" y="3913631"/>
            <a:ext cx="54864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5F6E80"/>
                </a:solidFill>
                <a:latin typeface="Arial"/>
              </a:rPr>
              <a:t>USES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55536" y="3895344"/>
            <a:ext cx="420624" cy="274320"/>
          </a:xfrm>
          <a:prstGeom prst="roundRect">
            <a:avLst>
              <a:gd name="adj" fmla="val 5000"/>
            </a:avLst>
          </a:prstGeom>
          <a:solidFill>
            <a:srgbClr val="F8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abel:52"/>
          <p:cNvSpPr txBox="1"/>
          <p:nvPr/>
        </p:nvSpPr>
        <p:spPr>
          <a:xfrm>
            <a:off x="7010400" y="3895344"/>
            <a:ext cx="310896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B4602E"/>
                </a:solidFill>
                <a:latin typeface="Arial"/>
              </a:rPr>
              <a:t>R3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31024" y="3895344"/>
            <a:ext cx="420624" cy="274320"/>
          </a:xfrm>
          <a:prstGeom prst="roundRect">
            <a:avLst>
              <a:gd name="adj" fmla="val 5000"/>
            </a:avLst>
          </a:prstGeom>
          <a:solidFill>
            <a:srgbClr val="F8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label:54"/>
          <p:cNvSpPr txBox="1"/>
          <p:nvPr/>
        </p:nvSpPr>
        <p:spPr>
          <a:xfrm>
            <a:off x="7485888" y="3895344"/>
            <a:ext cx="310896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B4602E"/>
                </a:solidFill>
                <a:latin typeface="Arial"/>
              </a:rPr>
              <a:t>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784336" y="3234690"/>
            <a:ext cx="295656" cy="22860"/>
          </a:xfrm>
          <a:prstGeom prst="rect">
            <a:avLst/>
          </a:prstGeom>
          <a:solidFill>
            <a:srgbClr val="5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Isosceles Triangle 56"/>
          <p:cNvSpPr/>
          <p:nvPr/>
        </p:nvSpPr>
        <p:spPr>
          <a:xfrm rot="5400000">
            <a:off x="9015984" y="3182112"/>
            <a:ext cx="128016" cy="128016"/>
          </a:xfrm>
          <a:prstGeom prst="triangle">
            <a:avLst/>
          </a:prstGeom>
          <a:solidFill>
            <a:srgbClr val="5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79992" y="2176272"/>
            <a:ext cx="254203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79992" y="2176272"/>
            <a:ext cx="64008" cy="2148840"/>
          </a:xfrm>
          <a:prstGeom prst="rect">
            <a:avLst/>
          </a:prstGeom>
          <a:solidFill>
            <a:srgbClr val="A4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281160" y="2359152"/>
            <a:ext cx="384048" cy="384048"/>
          </a:xfrm>
          <a:prstGeom prst="ellipse">
            <a:avLst/>
          </a:prstGeom>
          <a:solidFill>
            <a:srgbClr val="A4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abel:60"/>
          <p:cNvSpPr txBox="1"/>
          <p:nvPr/>
        </p:nvSpPr>
        <p:spPr>
          <a:xfrm>
            <a:off x="9281160" y="2359152"/>
            <a:ext cx="384048" cy="38404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2" name="body:61"/>
          <p:cNvSpPr txBox="1"/>
          <p:nvPr/>
        </p:nvSpPr>
        <p:spPr>
          <a:xfrm>
            <a:off x="9756648" y="2377440"/>
            <a:ext cx="1719072" cy="36576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A4761A"/>
                </a:solidFill>
                <a:latin typeface="Arial"/>
              </a:rPr>
              <a:t>Route review</a:t>
            </a:r>
          </a:p>
        </p:txBody>
      </p:sp>
      <p:sp>
        <p:nvSpPr>
          <p:cNvPr id="63" name="body:62"/>
          <p:cNvSpPr txBox="1"/>
          <p:nvPr/>
        </p:nvSpPr>
        <p:spPr>
          <a:xfrm>
            <a:off x="9281160" y="2871215"/>
            <a:ext cx="2157984" cy="9601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2313F"/>
                </a:solidFill>
                <a:latin typeface="Arial"/>
              </a:rPr>
              <a:t>Allow, block or review by conditional expected loss; price informed review by D.</a:t>
            </a:r>
          </a:p>
        </p:txBody>
      </p:sp>
      <p:sp>
        <p:nvSpPr>
          <p:cNvPr id="64" name="label:63"/>
          <p:cNvSpPr txBox="1"/>
          <p:nvPr/>
        </p:nvSpPr>
        <p:spPr>
          <a:xfrm>
            <a:off x="9281160" y="3913631"/>
            <a:ext cx="54864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5F6E80"/>
                </a:solidFill>
                <a:latin typeface="Arial"/>
              </a:rPr>
              <a:t>USES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793224" y="3895344"/>
            <a:ext cx="420624" cy="274320"/>
          </a:xfrm>
          <a:prstGeom prst="roundRect">
            <a:avLst>
              <a:gd name="adj" fmla="val 5000"/>
            </a:avLst>
          </a:prstGeom>
          <a:solidFill>
            <a:srgbClr val="F7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abel:65"/>
          <p:cNvSpPr txBox="1"/>
          <p:nvPr/>
        </p:nvSpPr>
        <p:spPr>
          <a:xfrm>
            <a:off x="9848088" y="3895344"/>
            <a:ext cx="310896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A4761A"/>
                </a:solidFill>
                <a:latin typeface="Arial"/>
              </a:rPr>
              <a:t>R4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268712" y="3895344"/>
            <a:ext cx="420624" cy="274320"/>
          </a:xfrm>
          <a:prstGeom prst="roundRect">
            <a:avLst>
              <a:gd name="adj" fmla="val 5000"/>
            </a:avLst>
          </a:prstGeom>
          <a:solidFill>
            <a:srgbClr val="F7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abel:67"/>
          <p:cNvSpPr txBox="1"/>
          <p:nvPr/>
        </p:nvSpPr>
        <p:spPr>
          <a:xfrm>
            <a:off x="10323576" y="3895344"/>
            <a:ext cx="310896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A4761A"/>
                </a:solidFill>
                <a:latin typeface="Arial"/>
              </a:rPr>
              <a:t>R5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339578" y="4325112"/>
            <a:ext cx="22860" cy="356616"/>
          </a:xfrm>
          <a:prstGeom prst="rect">
            <a:avLst/>
          </a:prstGeom>
          <a:solidFill>
            <a:srgbClr val="5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1837943" y="4670298"/>
            <a:ext cx="8513065" cy="22860"/>
          </a:xfrm>
          <a:prstGeom prst="rect">
            <a:avLst/>
          </a:prstGeom>
          <a:solidFill>
            <a:srgbClr val="5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1826513" y="4343400"/>
            <a:ext cx="22860" cy="338328"/>
          </a:xfrm>
          <a:prstGeom prst="rect">
            <a:avLst/>
          </a:prstGeom>
          <a:solidFill>
            <a:srgbClr val="5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Isosceles Triangle 71"/>
          <p:cNvSpPr/>
          <p:nvPr/>
        </p:nvSpPr>
        <p:spPr>
          <a:xfrm>
            <a:off x="1773935" y="4279392"/>
            <a:ext cx="128016" cy="128016"/>
          </a:xfrm>
          <a:prstGeom prst="triangle">
            <a:avLst/>
          </a:prstGeom>
          <a:solidFill>
            <a:srgbClr val="5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069080" y="4526280"/>
            <a:ext cx="4069080" cy="310896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body:73"/>
          <p:cNvSpPr txBox="1"/>
          <p:nvPr/>
        </p:nvSpPr>
        <p:spPr>
          <a:xfrm>
            <a:off x="4069080" y="4526280"/>
            <a:ext cx="4069080" cy="31089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5F6E80"/>
                </a:solidFill>
                <a:latin typeface="Arial"/>
              </a:rPr>
              <a:t>repair or a new grant changes the state → recompute from 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" y="5212080"/>
            <a:ext cx="11055096" cy="365760"/>
          </a:xfrm>
          <a:prstGeom prst="rect">
            <a:avLst/>
          </a:prstGeom>
          <a:solidFill>
            <a:srgbClr val="F8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66928" y="5212080"/>
            <a:ext cx="64008" cy="365760"/>
          </a:xfrm>
          <a:prstGeom prst="rect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abel:76"/>
          <p:cNvSpPr txBox="1"/>
          <p:nvPr/>
        </p:nvSpPr>
        <p:spPr>
          <a:xfrm>
            <a:off x="768096" y="5266944"/>
            <a:ext cx="914400" cy="25603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B4602E"/>
                </a:solidFill>
                <a:latin typeface="Arial"/>
              </a:rPr>
              <a:t>ASSUMES</a:t>
            </a:r>
          </a:p>
        </p:txBody>
      </p:sp>
      <p:sp>
        <p:nvSpPr>
          <p:cNvPr id="78" name="assumption:77"/>
          <p:cNvSpPr txBox="1"/>
          <p:nvPr/>
        </p:nvSpPr>
        <p:spPr>
          <a:xfrm>
            <a:off x="1682495" y="5212080"/>
            <a:ext cx="9774936" cy="36576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2313F"/>
                </a:solidFill>
                <a:latin typeface="Arial"/>
              </a:rPr>
              <a:t>Repair and new authorization change the decision problem; recompute values after those transitions.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66928" y="5687568"/>
            <a:ext cx="11055096" cy="603504"/>
          </a:xfrm>
          <a:prstGeom prst="roundRect">
            <a:avLst>
              <a:gd name="adj" fmla="val 5000"/>
            </a:avLst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713232" y="5833872"/>
            <a:ext cx="566928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label:80"/>
          <p:cNvSpPr txBox="1"/>
          <p:nvPr/>
        </p:nvSpPr>
        <p:spPr>
          <a:xfrm>
            <a:off x="713232" y="5833872"/>
            <a:ext cx="566928" cy="31089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1E7A72"/>
                </a:solidFill>
                <a:latin typeface="Arial"/>
              </a:rPr>
              <a:t>USE</a:t>
            </a:r>
          </a:p>
        </p:txBody>
      </p:sp>
      <p:sp>
        <p:nvSpPr>
          <p:cNvPr id="82" name="application:81"/>
          <p:cNvSpPr txBox="1"/>
          <p:nvPr/>
        </p:nvSpPr>
        <p:spPr>
          <a:xfrm>
            <a:off x="1444752" y="5687568"/>
            <a:ext cx="10049256" cy="60350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Score model decisions against this baseline: regret, effects, cost, false stops and needless reviews.</a:t>
            </a:r>
          </a:p>
        </p:txBody>
      </p:sp>
      <p:sp>
        <p:nvSpPr>
          <p:cNvPr id="83" name="source:82"/>
          <p:cNvSpPr txBox="1"/>
          <p:nvPr/>
        </p:nvSpPr>
        <p:spPr>
          <a:xfrm>
            <a:off x="566928" y="6400800"/>
            <a:ext cx="10332720" cy="2103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F6E80"/>
                </a:solidFill>
                <a:latin typeface="Arial"/>
              </a:rPr>
              <a:t>Proposed integration of the preceding results; no end-to-end theorem and no new model-performance claim.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65760"/>
            <a:ext cx="420624" cy="420624"/>
          </a:xfrm>
          <a:prstGeom prst="roundRect">
            <a:avLst>
              <a:gd name="adj" fmla="val 5000"/>
            </a:avLst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el:3"/>
          <p:cNvSpPr txBox="1"/>
          <p:nvPr/>
        </p:nvSpPr>
        <p:spPr>
          <a:xfrm>
            <a:off x="566928" y="365760"/>
            <a:ext cx="420624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Σ</a:t>
            </a:r>
          </a:p>
        </p:txBody>
      </p:sp>
      <p:sp>
        <p:nvSpPr>
          <p:cNvPr id="5" name="label:4"/>
          <p:cNvSpPr txBox="1"/>
          <p:nvPr/>
        </p:nvSpPr>
        <p:spPr>
          <a:xfrm>
            <a:off x="1115568" y="365760"/>
            <a:ext cx="10058400" cy="42062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172D46"/>
                </a:solidFill>
                <a:latin typeface="Arial"/>
              </a:rPr>
              <a:t>REFERENCE CARD / RESULTS YOU CAN REUSE</a:t>
            </a:r>
          </a:p>
        </p:txBody>
      </p:sp>
      <p:sp>
        <p:nvSpPr>
          <p:cNvPr id="6" name="title:5"/>
          <p:cNvSpPr txBox="1"/>
          <p:nvPr/>
        </p:nvSpPr>
        <p:spPr>
          <a:xfrm>
            <a:off x="566928" y="841248"/>
            <a:ext cx="11055096" cy="64008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72D46"/>
                </a:solidFill>
                <a:latin typeface="Arial"/>
              </a:rPr>
              <a:t>Keep the theorem and its assumptions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868680" cy="45720"/>
          </a:xfrm>
          <a:prstGeom prst="rect">
            <a:avLst/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btitle:7"/>
          <p:cNvSpPr txBox="1"/>
          <p:nvPr/>
        </p:nvSpPr>
        <p:spPr>
          <a:xfrm>
            <a:off x="585216" y="1645920"/>
            <a:ext cx="11055096" cy="40233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5F6E80"/>
                </a:solidFill>
                <a:latin typeface="Arial"/>
              </a:rPr>
              <a:t>The literature supplies the result. The fixture supplies the model needed to apply it.</a:t>
            </a:r>
          </a:p>
        </p:txBody>
      </p:sp>
      <p:sp>
        <p:nvSpPr>
          <p:cNvPr id="9" name="source:8"/>
          <p:cNvSpPr txBox="1"/>
          <p:nvPr/>
        </p:nvSpPr>
        <p:spPr>
          <a:xfrm>
            <a:off x="566928" y="6400800"/>
            <a:ext cx="10332720" cy="210312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F6E80"/>
                </a:solidFill>
                <a:latin typeface="Arial"/>
              </a:rPr>
              <a:t> </a:t>
            </a:r>
          </a:p>
        </p:txBody>
      </p:sp>
      <p:sp>
        <p:nvSpPr>
          <p:cNvPr id="10" name="source:9"/>
          <p:cNvSpPr txBox="1"/>
          <p:nvPr/>
        </p:nvSpPr>
        <p:spPr>
          <a:xfrm>
            <a:off x="10927080" y="6364224"/>
            <a:ext cx="694944" cy="26517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5F6E80"/>
                </a:solidFill>
                <a:latin typeface="Arial"/>
              </a:rPr>
              <a:t>10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77924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99916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10912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1908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32904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43900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54896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65892" y="6711696"/>
            <a:ext cx="1056132" cy="50292"/>
          </a:xfrm>
          <a:prstGeom prst="rect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2176272"/>
            <a:ext cx="11055096" cy="329184"/>
          </a:xfrm>
          <a:prstGeom prst="rect">
            <a:avLst/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abel:21"/>
          <p:cNvSpPr txBox="1"/>
          <p:nvPr/>
        </p:nvSpPr>
        <p:spPr>
          <a:xfrm>
            <a:off x="1124712" y="2176272"/>
            <a:ext cx="2240279" cy="32918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RESULT</a:t>
            </a:r>
          </a:p>
        </p:txBody>
      </p:sp>
      <p:sp>
        <p:nvSpPr>
          <p:cNvPr id="23" name="label:22"/>
          <p:cNvSpPr txBox="1"/>
          <p:nvPr/>
        </p:nvSpPr>
        <p:spPr>
          <a:xfrm>
            <a:off x="3456432" y="2176272"/>
            <a:ext cx="3063240" cy="32918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DIRECT USE</a:t>
            </a:r>
          </a:p>
        </p:txBody>
      </p:sp>
      <p:sp>
        <p:nvSpPr>
          <p:cNvPr id="24" name="label:23"/>
          <p:cNvSpPr txBox="1"/>
          <p:nvPr/>
        </p:nvSpPr>
        <p:spPr>
          <a:xfrm>
            <a:off x="6611112" y="2176272"/>
            <a:ext cx="2560320" cy="32918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KEY REQUIREMENT</a:t>
            </a:r>
          </a:p>
        </p:txBody>
      </p:sp>
      <p:sp>
        <p:nvSpPr>
          <p:cNvPr id="25" name="label:24"/>
          <p:cNvSpPr txBox="1"/>
          <p:nvPr/>
        </p:nvSpPr>
        <p:spPr>
          <a:xfrm>
            <a:off x="9262872" y="2176272"/>
            <a:ext cx="2322576" cy="32918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505456"/>
            <a:ext cx="1105509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2929737"/>
            <a:ext cx="11055096" cy="1097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7512" y="2574036"/>
            <a:ext cx="292608" cy="292608"/>
          </a:xfrm>
          <a:prstGeom prst="ellipse">
            <a:avLst/>
          </a:prstGeom>
          <a:solidFill>
            <a:srgbClr val="3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abel:28"/>
          <p:cNvSpPr txBox="1"/>
          <p:nvPr/>
        </p:nvSpPr>
        <p:spPr>
          <a:xfrm>
            <a:off x="667512" y="2574036"/>
            <a:ext cx="292608" cy="29260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R1</a:t>
            </a:r>
          </a:p>
        </p:txBody>
      </p:sp>
      <p:sp>
        <p:nvSpPr>
          <p:cNvPr id="30" name="body:29"/>
          <p:cNvSpPr txBox="1"/>
          <p:nvPr/>
        </p:nvSpPr>
        <p:spPr>
          <a:xfrm>
            <a:off x="1124712" y="2505456"/>
            <a:ext cx="2240279" cy="4297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72D46"/>
                </a:solidFill>
                <a:latin typeface="Arial"/>
              </a:rPr>
              <a:t>Blackwell order</a:t>
            </a:r>
          </a:p>
        </p:txBody>
      </p:sp>
      <p:sp>
        <p:nvSpPr>
          <p:cNvPr id="31" name="body:30"/>
          <p:cNvSpPr txBox="1"/>
          <p:nvPr/>
        </p:nvSpPr>
        <p:spPr>
          <a:xfrm>
            <a:off x="3456432" y="2505456"/>
            <a:ext cx="3063240" cy="4297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2313F"/>
                </a:solidFill>
                <a:latin typeface="Arial"/>
              </a:rPr>
              <a:t>Compare nested evidence views</a:t>
            </a:r>
          </a:p>
        </p:txBody>
      </p:sp>
      <p:sp>
        <p:nvSpPr>
          <p:cNvPr id="32" name="body:31"/>
          <p:cNvSpPr txBox="1"/>
          <p:nvPr/>
        </p:nvSpPr>
        <p:spPr>
          <a:xfrm>
            <a:off x="6611112" y="2505456"/>
            <a:ext cx="2560320" cy="4297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2313F"/>
                </a:solidFill>
                <a:latin typeface="Arial"/>
              </a:rPr>
              <a:t>Same decision problem</a:t>
            </a:r>
          </a:p>
        </p:txBody>
      </p:sp>
      <p:sp>
        <p:nvSpPr>
          <p:cNvPr id="33" name="source:32"/>
          <p:cNvSpPr txBox="1"/>
          <p:nvPr/>
        </p:nvSpPr>
        <p:spPr>
          <a:xfrm>
            <a:off x="9262872" y="2560320"/>
            <a:ext cx="2322576" cy="32004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3A6391"/>
                </a:solidFill>
                <a:latin typeface="Arial"/>
                <a:hlinkClick r:id="rId2"/>
              </a:rPr>
              <a:t>Blackwell 1953; BFK 2024 §3.1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2935224"/>
            <a:ext cx="11055096" cy="429768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3359505"/>
            <a:ext cx="11055096" cy="1097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67512" y="3003804"/>
            <a:ext cx="292608" cy="292608"/>
          </a:xfrm>
          <a:prstGeom prst="ellipse">
            <a:avLst/>
          </a:prstGeom>
          <a:solidFill>
            <a:srgbClr val="1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abel:36"/>
          <p:cNvSpPr txBox="1"/>
          <p:nvPr/>
        </p:nvSpPr>
        <p:spPr>
          <a:xfrm>
            <a:off x="667512" y="3003804"/>
            <a:ext cx="292608" cy="29260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R2</a:t>
            </a:r>
          </a:p>
        </p:txBody>
      </p:sp>
      <p:sp>
        <p:nvSpPr>
          <p:cNvPr id="38" name="body:37"/>
          <p:cNvSpPr txBox="1"/>
          <p:nvPr/>
        </p:nvSpPr>
        <p:spPr>
          <a:xfrm>
            <a:off x="1124712" y="2935224"/>
            <a:ext cx="2240279" cy="4297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72D46"/>
                </a:solidFill>
                <a:latin typeface="Arial"/>
              </a:rPr>
              <a:t>EVPI budget bound</a:t>
            </a:r>
          </a:p>
        </p:txBody>
      </p:sp>
      <p:sp>
        <p:nvSpPr>
          <p:cNvPr id="39" name="body:38"/>
          <p:cNvSpPr txBox="1"/>
          <p:nvPr/>
        </p:nvSpPr>
        <p:spPr>
          <a:xfrm>
            <a:off x="3456432" y="2935224"/>
            <a:ext cx="3063240" cy="4297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2313F"/>
                </a:solidFill>
                <a:latin typeface="Arial"/>
              </a:rPr>
              <a:t>Bound expected diagnostic calls</a:t>
            </a:r>
          </a:p>
        </p:txBody>
      </p:sp>
      <p:sp>
        <p:nvSpPr>
          <p:cNvPr id="40" name="body:39"/>
          <p:cNvSpPr txBox="1"/>
          <p:nvPr/>
        </p:nvSpPr>
        <p:spPr>
          <a:xfrm>
            <a:off x="6611112" y="2935224"/>
            <a:ext cx="2560320" cy="4297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2313F"/>
                </a:solidFill>
                <a:latin typeface="Arial"/>
              </a:rPr>
              <a:t>Information-only probes</a:t>
            </a:r>
          </a:p>
        </p:txBody>
      </p:sp>
      <p:sp>
        <p:nvSpPr>
          <p:cNvPr id="41" name="source:40"/>
          <p:cNvSpPr txBox="1"/>
          <p:nvPr/>
        </p:nvSpPr>
        <p:spPr>
          <a:xfrm>
            <a:off x="9262872" y="2990088"/>
            <a:ext cx="2322576" cy="32004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3A6391"/>
                </a:solidFill>
                <a:latin typeface="Arial"/>
                <a:hlinkClick r:id="rId3"/>
              </a:rPr>
              <a:t>Hay et al. 2012, Thm 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3364992"/>
            <a:ext cx="1105509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3789273"/>
            <a:ext cx="11055096" cy="1097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7512" y="3433572"/>
            <a:ext cx="292608" cy="292608"/>
          </a:xfrm>
          <a:prstGeom prst="ellipse">
            <a:avLst/>
          </a:prstGeom>
          <a:solidFill>
            <a:srgbClr val="B46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label:44"/>
          <p:cNvSpPr txBox="1"/>
          <p:nvPr/>
        </p:nvSpPr>
        <p:spPr>
          <a:xfrm>
            <a:off x="667512" y="3433572"/>
            <a:ext cx="292608" cy="29260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R3</a:t>
            </a:r>
          </a:p>
        </p:txBody>
      </p:sp>
      <p:sp>
        <p:nvSpPr>
          <p:cNvPr id="46" name="body:45"/>
          <p:cNvSpPr txBox="1"/>
          <p:nvPr/>
        </p:nvSpPr>
        <p:spPr>
          <a:xfrm>
            <a:off x="1124712" y="3364992"/>
            <a:ext cx="2240279" cy="4297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72D46"/>
                </a:solidFill>
                <a:latin typeface="Arial"/>
              </a:rPr>
              <a:t>Myopic lower bound</a:t>
            </a:r>
          </a:p>
        </p:txBody>
      </p:sp>
      <p:sp>
        <p:nvSpPr>
          <p:cNvPr id="47" name="body:46"/>
          <p:cNvSpPr txBox="1"/>
          <p:nvPr/>
        </p:nvSpPr>
        <p:spPr>
          <a:xfrm>
            <a:off x="3456432" y="3364992"/>
            <a:ext cx="3063240" cy="4297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2313F"/>
                </a:solidFill>
                <a:latin typeface="Arial"/>
              </a:rPr>
              <a:t>Certify that continuing pays</a:t>
            </a:r>
          </a:p>
        </p:txBody>
      </p:sp>
      <p:sp>
        <p:nvSpPr>
          <p:cNvPr id="48" name="body:47"/>
          <p:cNvSpPr txBox="1"/>
          <p:nvPr/>
        </p:nvSpPr>
        <p:spPr>
          <a:xfrm>
            <a:off x="6611112" y="3364992"/>
            <a:ext cx="2560320" cy="4297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2313F"/>
                </a:solidFill>
                <a:latin typeface="Arial"/>
              </a:rPr>
              <a:t>Keep the multi-step option</a:t>
            </a:r>
          </a:p>
        </p:txBody>
      </p:sp>
      <p:sp>
        <p:nvSpPr>
          <p:cNvPr id="49" name="source:48"/>
          <p:cNvSpPr txBox="1"/>
          <p:nvPr/>
        </p:nvSpPr>
        <p:spPr>
          <a:xfrm>
            <a:off x="9262872" y="3419856"/>
            <a:ext cx="2322576" cy="32004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3A6391"/>
                </a:solidFill>
                <a:latin typeface="Arial"/>
                <a:hlinkClick r:id="rId3"/>
              </a:rPr>
              <a:t>Hay et al. 2012, Thm 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3794760"/>
            <a:ext cx="11055096" cy="429768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8" y="4219041"/>
            <a:ext cx="11055096" cy="1097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67512" y="3863340"/>
            <a:ext cx="292608" cy="292608"/>
          </a:xfrm>
          <a:prstGeom prst="ellipse">
            <a:avLst/>
          </a:prstGeom>
          <a:solidFill>
            <a:srgbClr val="A4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abel:52"/>
          <p:cNvSpPr txBox="1"/>
          <p:nvPr/>
        </p:nvSpPr>
        <p:spPr>
          <a:xfrm>
            <a:off x="667512" y="3863340"/>
            <a:ext cx="292608" cy="29260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R4</a:t>
            </a:r>
          </a:p>
        </p:txBody>
      </p:sp>
      <p:sp>
        <p:nvSpPr>
          <p:cNvPr id="54" name="body:53"/>
          <p:cNvSpPr txBox="1"/>
          <p:nvPr/>
        </p:nvSpPr>
        <p:spPr>
          <a:xfrm>
            <a:off x="1124712" y="3794760"/>
            <a:ext cx="2240279" cy="4297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72D46"/>
                </a:solidFill>
                <a:latin typeface="Arial"/>
              </a:rPr>
              <a:t>Bayes rejection</a:t>
            </a:r>
          </a:p>
        </p:txBody>
      </p:sp>
      <p:sp>
        <p:nvSpPr>
          <p:cNvPr id="55" name="body:54"/>
          <p:cNvSpPr txBox="1"/>
          <p:nvPr/>
        </p:nvSpPr>
        <p:spPr>
          <a:xfrm>
            <a:off x="3456432" y="3794760"/>
            <a:ext cx="3063240" cy="4297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2313F"/>
                </a:solidFill>
                <a:latin typeface="Arial"/>
              </a:rPr>
              <a:t>Set allow / block / review regions</a:t>
            </a:r>
          </a:p>
        </p:txBody>
      </p:sp>
      <p:sp>
        <p:nvSpPr>
          <p:cNvPr id="56" name="body:55"/>
          <p:cNvSpPr txBox="1"/>
          <p:nvPr/>
        </p:nvSpPr>
        <p:spPr>
          <a:xfrm>
            <a:off x="6611112" y="3794760"/>
            <a:ext cx="2560320" cy="4297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2313F"/>
                </a:solidFill>
                <a:latin typeface="Arial"/>
              </a:rPr>
              <a:t>Known conditional losses</a:t>
            </a:r>
          </a:p>
        </p:txBody>
      </p:sp>
      <p:sp>
        <p:nvSpPr>
          <p:cNvPr id="57" name="source:56"/>
          <p:cNvSpPr txBox="1"/>
          <p:nvPr/>
        </p:nvSpPr>
        <p:spPr>
          <a:xfrm>
            <a:off x="9262872" y="3849624"/>
            <a:ext cx="2322576" cy="32004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3A6391"/>
                </a:solidFill>
                <a:latin typeface="Arial"/>
                <a:hlinkClick r:id="rId4"/>
              </a:rPr>
              <a:t>Franc et al. 2023, §2.1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4224528"/>
            <a:ext cx="1105509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6928" y="4648809"/>
            <a:ext cx="11055096" cy="1097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7512" y="4293108"/>
            <a:ext cx="292608" cy="29260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abel:60"/>
          <p:cNvSpPr txBox="1"/>
          <p:nvPr/>
        </p:nvSpPr>
        <p:spPr>
          <a:xfrm>
            <a:off x="667512" y="4293108"/>
            <a:ext cx="292608" cy="29260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R5</a:t>
            </a:r>
          </a:p>
        </p:txBody>
      </p:sp>
      <p:sp>
        <p:nvSpPr>
          <p:cNvPr id="62" name="body:61"/>
          <p:cNvSpPr txBox="1"/>
          <p:nvPr/>
        </p:nvSpPr>
        <p:spPr>
          <a:xfrm>
            <a:off x="1124712" y="4224528"/>
            <a:ext cx="2240279" cy="4297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72D46"/>
                </a:solidFill>
                <a:latin typeface="Arial"/>
              </a:rPr>
              <a:t>Off-Switch theorem</a:t>
            </a:r>
          </a:p>
        </p:txBody>
      </p:sp>
      <p:sp>
        <p:nvSpPr>
          <p:cNvPr id="63" name="body:62"/>
          <p:cNvSpPr txBox="1"/>
          <p:nvPr/>
        </p:nvSpPr>
        <p:spPr>
          <a:xfrm>
            <a:off x="3456432" y="4224528"/>
            <a:ext cx="3063240" cy="4297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2313F"/>
                </a:solidFill>
                <a:latin typeface="Arial"/>
              </a:rPr>
              <a:t>Compute informed review value</a:t>
            </a:r>
          </a:p>
        </p:txBody>
      </p:sp>
      <p:sp>
        <p:nvSpPr>
          <p:cNvPr id="64" name="body:63"/>
          <p:cNvSpPr txBox="1"/>
          <p:nvPr/>
        </p:nvSpPr>
        <p:spPr>
          <a:xfrm>
            <a:off x="6611112" y="4224528"/>
            <a:ext cx="2560320" cy="4297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2313F"/>
                </a:solidFill>
                <a:latin typeface="Arial"/>
              </a:rPr>
              <a:t>Shared utility; rational human</a:t>
            </a:r>
          </a:p>
        </p:txBody>
      </p:sp>
      <p:sp>
        <p:nvSpPr>
          <p:cNvPr id="65" name="source:64"/>
          <p:cNvSpPr txBox="1"/>
          <p:nvPr/>
        </p:nvSpPr>
        <p:spPr>
          <a:xfrm>
            <a:off x="9262872" y="4279392"/>
            <a:ext cx="2322576" cy="32004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3A6391"/>
                </a:solidFill>
                <a:latin typeface="Arial"/>
                <a:hlinkClick r:id="rId5"/>
              </a:rPr>
              <a:t>Hadfield-Menell et al. 2017, Thm 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4654296"/>
            <a:ext cx="11055096" cy="429768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6928" y="5078577"/>
            <a:ext cx="11055096" cy="10972"/>
          </a:xfrm>
          <a:prstGeom prst="rect">
            <a:avLst/>
          </a:prstGeom>
          <a:solidFill>
            <a:srgbClr val="D3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67512" y="4722876"/>
            <a:ext cx="292608" cy="292608"/>
          </a:xfrm>
          <a:prstGeom prst="ellipse">
            <a:avLst/>
          </a:prstGeom>
          <a:solidFill>
            <a:srgbClr val="B04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abel:68"/>
          <p:cNvSpPr txBox="1"/>
          <p:nvPr/>
        </p:nvSpPr>
        <p:spPr>
          <a:xfrm>
            <a:off x="667512" y="4722876"/>
            <a:ext cx="292608" cy="29260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R6</a:t>
            </a:r>
          </a:p>
        </p:txBody>
      </p:sp>
      <p:sp>
        <p:nvSpPr>
          <p:cNvPr id="70" name="body:69"/>
          <p:cNvSpPr txBox="1"/>
          <p:nvPr/>
        </p:nvSpPr>
        <p:spPr>
          <a:xfrm>
            <a:off x="1124712" y="4654296"/>
            <a:ext cx="2240279" cy="4297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72D46"/>
                </a:solidFill>
                <a:latin typeface="Arial"/>
              </a:rPr>
              <a:t>Payoff-range bound</a:t>
            </a:r>
          </a:p>
        </p:txBody>
      </p:sp>
      <p:sp>
        <p:nvSpPr>
          <p:cNvPr id="71" name="body:70"/>
          <p:cNvSpPr txBox="1"/>
          <p:nvPr/>
        </p:nvSpPr>
        <p:spPr>
          <a:xfrm>
            <a:off x="3456432" y="4654296"/>
            <a:ext cx="3063240" cy="4297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2313F"/>
                </a:solidFill>
                <a:latin typeface="Arial"/>
              </a:rPr>
              <a:t>Check a sufficient penalty</a:t>
            </a:r>
          </a:p>
        </p:txBody>
      </p:sp>
      <p:sp>
        <p:nvSpPr>
          <p:cNvPr id="72" name="body:71"/>
          <p:cNvSpPr txBox="1"/>
          <p:nvPr/>
        </p:nvSpPr>
        <p:spPr>
          <a:xfrm>
            <a:off x="6611112" y="4654296"/>
            <a:ext cx="2560320" cy="4297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2313F"/>
                </a:solidFill>
                <a:latin typeface="Arial"/>
              </a:rPr>
              <a:t>Bounded Q; known labels</a:t>
            </a:r>
          </a:p>
        </p:txBody>
      </p:sp>
      <p:sp>
        <p:nvSpPr>
          <p:cNvPr id="73" name="body:72"/>
          <p:cNvSpPr txBox="1"/>
          <p:nvPr/>
        </p:nvSpPr>
        <p:spPr>
          <a:xfrm>
            <a:off x="9262872" y="4654296"/>
            <a:ext cx="2322576" cy="429768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5F6E80"/>
                </a:solidFill>
                <a:latin typeface="Arial"/>
              </a:rPr>
              <a:t>Derived on slide 08</a:t>
            </a:r>
          </a:p>
        </p:txBody>
      </p:sp>
      <p:sp>
        <p:nvSpPr>
          <p:cNvPr id="74" name="body:73"/>
          <p:cNvSpPr txBox="1"/>
          <p:nvPr/>
        </p:nvSpPr>
        <p:spPr>
          <a:xfrm>
            <a:off x="566928" y="5230368"/>
            <a:ext cx="11055096" cy="274320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5F6E80"/>
                </a:solidFill>
                <a:latin typeface="Arial"/>
              </a:rPr>
              <a:t>Badges match slides 02 to 08. The source column links to the exact theorem or section used.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66928" y="5687568"/>
            <a:ext cx="11055096" cy="603504"/>
          </a:xfrm>
          <a:prstGeom prst="roundRect">
            <a:avLst>
              <a:gd name="adj" fmla="val 5000"/>
            </a:avLst>
          </a:prstGeom>
          <a:solidFill>
            <a:srgbClr val="17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13232" y="5833872"/>
            <a:ext cx="566928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abel:76"/>
          <p:cNvSpPr txBox="1"/>
          <p:nvPr/>
        </p:nvSpPr>
        <p:spPr>
          <a:xfrm>
            <a:off x="713232" y="5833872"/>
            <a:ext cx="566928" cy="310896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172D46"/>
                </a:solidFill>
                <a:latin typeface="Arial"/>
              </a:rPr>
              <a:t>USE</a:t>
            </a:r>
          </a:p>
        </p:txBody>
      </p:sp>
      <p:sp>
        <p:nvSpPr>
          <p:cNvPr id="78" name="application:77"/>
          <p:cNvSpPr txBox="1"/>
          <p:nvPr/>
        </p:nvSpPr>
        <p:spPr>
          <a:xfrm>
            <a:off x="1444752" y="5687568"/>
            <a:ext cx="10049256" cy="603504"/>
          </a:xfrm>
          <a:prstGeom prst="rect">
            <a:avLst/>
          </a:prstGeom>
          <a:noFill/>
          <a:effectLst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Cite each result with its requirement; where the fixture cannot supply the requirement, the result does not apply.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theory for delegated agents: six usable results</dc:title>
  <dc:subject>Theorems, assumptions, calculations and applications to containment-extension</dc:subject>
  <dc:creator>Jiawei Li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