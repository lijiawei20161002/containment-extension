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Roadmap. One formulation slide, then seven problem slides, each with the same frame: the problem, the technique, and where it lives in containment-extension. Close with a map and 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three objects apart: belief changes with evidence, the grant changes only with a valid authorization event, and the value function compares completion, cost and honest stopping. This is the frame used by every later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smallest solvable version. The point is the shape of the rule: persistence is governed by the gap between success and the honest exit, divided into the attempt cost. The numbers are illustrative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 is the cleanest tool for the asking decision. Note the two targets: the belief about feasibility and the belief about the grant. Only a request to the authorizer can change the grant; a diagnostic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explicitly that the equation defines the target, not a scoring rule for the LLM. The multipliers are the only sense in which safety has a price here, and that price is set before search, not learned by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blurred-boundary thread connects to a literature. The incomplete-contracts framing gives the vocabulary: residual control rights, uncovered states, and who decides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risk from ambiguity. Under silence there is no authorization oracle, so expected-utility rules need a prior the task does not supply. Maxmin and regret rules give a reference behaviour without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sequential frame explains why the approver's thresholds are a cost decision, not a probability cutoff. The latency numbers show that the labels used to calibrate it arrive weeks or months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gate is a decision, so write its loss matrix. The McNemar machinery estimates one probability in that rule; the losses are a policy choice and belong in the preregistration.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map to route discussion: which of these rows does the Trust4RSI paper actually need, and which belong to the next programme? The open questions are in the companion discussion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6/S0004-3702(98)00023-X" TargetMode="External"/><Relationship Id="rId3" Type="http://schemas.openxmlformats.org/officeDocument/2006/relationships/hyperlink" Target="https://doi.org/10.1109/TSSC.1966.300074" TargetMode="External"/><Relationship Id="rId4" Type="http://schemas.openxmlformats.org/officeDocument/2006/relationships/hyperlink" Target="https://arxiv.org/abs/1207.5879" TargetMode="External"/><Relationship Id="rId5" Type="http://schemas.openxmlformats.org/officeDocument/2006/relationships/hyperlink" Target="https://arxiv.org/abs/1606.03137" TargetMode="External"/><Relationship Id="rId6" Type="http://schemas.openxmlformats.org/officeDocument/2006/relationships/hyperlink" Target="https://arxiv.org/abs/1902.09725" TargetMode="External"/><Relationship Id="rId7" Type="http://schemas.openxmlformats.org/officeDocument/2006/relationships/hyperlink" Target="https://arxiv.org/abs/1705.10528" TargetMode="Externa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DCDDD"/>
                </a:solidFill>
                <a:latin typeface="Arial"/>
              </a:rPr>
              <a:t>CONTAINMENT-EXTENSION × DECISION THEORY</a:t>
            </a:r>
          </a:p>
        </p:txBody>
      </p:sp>
      <p:sp>
        <p:nvSpPr>
          <p:cNvPr id="4" name="source:3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BDCDDD"/>
                </a:solidFill>
                <a:latin typeface="Arial"/>
              </a:rPr>
              <a:t>containment-extension  /  Decision theory primer  /  20 Oct 2026</a:t>
            </a:r>
          </a:p>
        </p:txBody>
      </p:sp>
      <p:sp>
        <p:nvSpPr>
          <p:cNvPr id="5" name="source:4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BDCDDD"/>
                </a:solidFill>
                <a:latin typeface="Arial"/>
              </a:rPr>
              <a:t>01 / 10</a:t>
            </a:r>
          </a:p>
        </p:txBody>
      </p:sp>
      <p:sp>
        <p:nvSpPr>
          <p:cNvPr id="6" name="title:5"/>
          <p:cNvSpPr txBox="1"/>
          <p:nvPr/>
        </p:nvSpPr>
        <p:spPr>
          <a:xfrm>
            <a:off x="603504" y="960120"/>
            <a:ext cx="6309360" cy="192024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Decision theory for</a:t>
            </a:r>
          </a:p>
          <a:p>
            <a:pPr algn="l">
              <a:lnSpc>
                <a:spcPct val="108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incident-aware agents</a:t>
            </a:r>
          </a:p>
        </p:txBody>
      </p:sp>
      <p:sp>
        <p:nvSpPr>
          <p:cNvPr id="7" name="body:6"/>
          <p:cNvSpPr txBox="1"/>
          <p:nvPr/>
        </p:nvSpPr>
        <p:spPr>
          <a:xfrm>
            <a:off x="630936" y="3063240"/>
            <a:ext cx="5760720" cy="9144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>
                <a:solidFill>
                  <a:srgbClr val="BDCDDD"/>
                </a:solidFill>
                <a:latin typeface="Arial"/>
              </a:rPr>
              <a:t>Seven classical problems, the standard technique for each, and where each one already lives in the project.</a:t>
            </a:r>
          </a:p>
        </p:txBody>
      </p:sp>
      <p:sp>
        <p:nvSpPr>
          <p:cNvPr id="8" name="label:7"/>
          <p:cNvSpPr txBox="1"/>
          <p:nvPr/>
        </p:nvSpPr>
        <p:spPr>
          <a:xfrm>
            <a:off x="630936" y="4663440"/>
            <a:ext cx="5852160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DCDDD"/>
                </a:solidFill>
                <a:latin typeface="Arial"/>
              </a:rPr>
              <a:t>A primer for discussion. Project numbers are copied from docs/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BDCDDD"/>
                </a:solidFill>
                <a:latin typeface="Arial"/>
              </a:rPr>
              <a:t>and the incident-library summary; toy quantities are labelled.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987552"/>
            <a:ext cx="4526280" cy="530352"/>
          </a:xfrm>
          <a:prstGeom prst="roundRect">
            <a:avLst>
              <a:gd name="adj" fmla="val 5000"/>
            </a:avLst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:9"/>
          <p:cNvSpPr txBox="1"/>
          <p:nvPr/>
        </p:nvSpPr>
        <p:spPr>
          <a:xfrm>
            <a:off x="7205472" y="1078992"/>
            <a:ext cx="4572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8B7B0"/>
                </a:solidFill>
                <a:latin typeface="Arial"/>
              </a:rPr>
              <a:t>00</a:t>
            </a:r>
          </a:p>
        </p:txBody>
      </p:sp>
      <p:sp>
        <p:nvSpPr>
          <p:cNvPr id="11" name="body:10"/>
          <p:cNvSpPr txBox="1"/>
          <p:nvPr/>
        </p:nvSpPr>
        <p:spPr>
          <a:xfrm>
            <a:off x="7699248" y="1024128"/>
            <a:ext cx="2377440" cy="4572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Formulation</a:t>
            </a:r>
          </a:p>
        </p:txBody>
      </p:sp>
      <p:sp>
        <p:nvSpPr>
          <p:cNvPr id="12" name="body:11"/>
          <p:cNvSpPr txBox="1"/>
          <p:nvPr/>
        </p:nvSpPr>
        <p:spPr>
          <a:xfrm>
            <a:off x="9921240" y="1042416"/>
            <a:ext cx="164592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DCDDD"/>
                </a:solidFill>
                <a:latin typeface="Arial"/>
              </a:rPr>
              <a:t>a constrained POMDP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609344"/>
            <a:ext cx="4526280" cy="530352"/>
          </a:xfrm>
          <a:prstGeom prst="roundRect">
            <a:avLst>
              <a:gd name="adj" fmla="val 5000"/>
            </a:avLst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:13"/>
          <p:cNvSpPr txBox="1"/>
          <p:nvPr/>
        </p:nvSpPr>
        <p:spPr>
          <a:xfrm>
            <a:off x="7205472" y="1700784"/>
            <a:ext cx="4572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8B7B0"/>
                </a:solidFill>
                <a:latin typeface="Arial"/>
              </a:rPr>
              <a:t>01</a:t>
            </a:r>
          </a:p>
        </p:txBody>
      </p:sp>
      <p:sp>
        <p:nvSpPr>
          <p:cNvPr id="15" name="body:14"/>
          <p:cNvSpPr txBox="1"/>
          <p:nvPr/>
        </p:nvSpPr>
        <p:spPr>
          <a:xfrm>
            <a:off x="7699248" y="1645920"/>
            <a:ext cx="2377440" cy="4572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Optimal stopping</a:t>
            </a:r>
          </a:p>
        </p:txBody>
      </p:sp>
      <p:sp>
        <p:nvSpPr>
          <p:cNvPr id="16" name="body:15"/>
          <p:cNvSpPr txBox="1"/>
          <p:nvPr/>
        </p:nvSpPr>
        <p:spPr>
          <a:xfrm>
            <a:off x="9921240" y="1664208"/>
            <a:ext cx="164592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DCDDD"/>
                </a:solidFill>
                <a:latin typeface="Arial"/>
              </a:rPr>
              <a:t>when to stop retrying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231136"/>
            <a:ext cx="4526280" cy="530352"/>
          </a:xfrm>
          <a:prstGeom prst="roundRect">
            <a:avLst>
              <a:gd name="adj" fmla="val 5000"/>
            </a:avLst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17"/>
          <p:cNvSpPr txBox="1"/>
          <p:nvPr/>
        </p:nvSpPr>
        <p:spPr>
          <a:xfrm>
            <a:off x="7205472" y="2322576"/>
            <a:ext cx="4572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8B7B0"/>
                </a:solidFill>
                <a:latin typeface="Arial"/>
              </a:rPr>
              <a:t>02</a:t>
            </a:r>
          </a:p>
        </p:txBody>
      </p:sp>
      <p:sp>
        <p:nvSpPr>
          <p:cNvPr id="19" name="body:18"/>
          <p:cNvSpPr txBox="1"/>
          <p:nvPr/>
        </p:nvSpPr>
        <p:spPr>
          <a:xfrm>
            <a:off x="7699248" y="2267712"/>
            <a:ext cx="2377440" cy="4572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Value of information</a:t>
            </a:r>
          </a:p>
        </p:txBody>
      </p:sp>
      <p:sp>
        <p:nvSpPr>
          <p:cNvPr id="20" name="body:19"/>
          <p:cNvSpPr txBox="1"/>
          <p:nvPr/>
        </p:nvSpPr>
        <p:spPr>
          <a:xfrm>
            <a:off x="9921240" y="2286000"/>
            <a:ext cx="164592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DCDDD"/>
                </a:solidFill>
                <a:latin typeface="Arial"/>
              </a:rPr>
              <a:t>diagnose or ask first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852928"/>
            <a:ext cx="4526280" cy="530352"/>
          </a:xfrm>
          <a:prstGeom prst="roundRect">
            <a:avLst>
              <a:gd name="adj" fmla="val 5000"/>
            </a:avLst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dy:21"/>
          <p:cNvSpPr txBox="1"/>
          <p:nvPr/>
        </p:nvSpPr>
        <p:spPr>
          <a:xfrm>
            <a:off x="7205472" y="2944368"/>
            <a:ext cx="4572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8B7B0"/>
                </a:solidFill>
                <a:latin typeface="Arial"/>
              </a:rPr>
              <a:t>03</a:t>
            </a:r>
          </a:p>
        </p:txBody>
      </p:sp>
      <p:sp>
        <p:nvSpPr>
          <p:cNvPr id="23" name="body:22"/>
          <p:cNvSpPr txBox="1"/>
          <p:nvPr/>
        </p:nvSpPr>
        <p:spPr>
          <a:xfrm>
            <a:off x="7699248" y="2889504"/>
            <a:ext cx="2377440" cy="4572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Constrained optimum</a:t>
            </a:r>
          </a:p>
        </p:txBody>
      </p:sp>
      <p:sp>
        <p:nvSpPr>
          <p:cNvPr id="24" name="body:23"/>
          <p:cNvSpPr txBox="1"/>
          <p:nvPr/>
        </p:nvSpPr>
        <p:spPr>
          <a:xfrm>
            <a:off x="9921240" y="2907792"/>
            <a:ext cx="164592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DCDDD"/>
                </a:solidFill>
                <a:latin typeface="Arial"/>
              </a:rPr>
              <a:t>min R  s.t.  U, C, 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3474720"/>
            <a:ext cx="4526280" cy="530352"/>
          </a:xfrm>
          <a:prstGeom prst="roundRect">
            <a:avLst>
              <a:gd name="adj" fmla="val 5000"/>
            </a:avLst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:25"/>
          <p:cNvSpPr txBox="1"/>
          <p:nvPr/>
        </p:nvSpPr>
        <p:spPr>
          <a:xfrm>
            <a:off x="7205472" y="3566160"/>
            <a:ext cx="4572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8B7B0"/>
                </a:solidFill>
                <a:latin typeface="Arial"/>
              </a:rPr>
              <a:t>04</a:t>
            </a:r>
          </a:p>
        </p:txBody>
      </p:sp>
      <p:sp>
        <p:nvSpPr>
          <p:cNvPr id="27" name="body:26"/>
          <p:cNvSpPr txBox="1"/>
          <p:nvPr/>
        </p:nvSpPr>
        <p:spPr>
          <a:xfrm>
            <a:off x="7699248" y="3511296"/>
            <a:ext cx="2377440" cy="4572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Principal–agent</a:t>
            </a:r>
          </a:p>
        </p:txBody>
      </p:sp>
      <p:sp>
        <p:nvSpPr>
          <p:cNvPr id="28" name="body:27"/>
          <p:cNvSpPr txBox="1"/>
          <p:nvPr/>
        </p:nvSpPr>
        <p:spPr>
          <a:xfrm>
            <a:off x="9921240" y="3529584"/>
            <a:ext cx="164592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DCDDD"/>
                </a:solidFill>
                <a:latin typeface="Arial"/>
              </a:rPr>
              <a:t>incomplete grants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4096512"/>
            <a:ext cx="4526280" cy="530352"/>
          </a:xfrm>
          <a:prstGeom prst="roundRect">
            <a:avLst>
              <a:gd name="adj" fmla="val 5000"/>
            </a:avLst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:29"/>
          <p:cNvSpPr txBox="1"/>
          <p:nvPr/>
        </p:nvSpPr>
        <p:spPr>
          <a:xfrm>
            <a:off x="7205472" y="4187952"/>
            <a:ext cx="4572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8B7B0"/>
                </a:solidFill>
                <a:latin typeface="Arial"/>
              </a:rPr>
              <a:t>05</a:t>
            </a:r>
          </a:p>
        </p:txBody>
      </p:sp>
      <p:sp>
        <p:nvSpPr>
          <p:cNvPr id="31" name="body:30"/>
          <p:cNvSpPr txBox="1"/>
          <p:nvPr/>
        </p:nvSpPr>
        <p:spPr>
          <a:xfrm>
            <a:off x="7699248" y="4133088"/>
            <a:ext cx="2377440" cy="4572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Ambiguity</a:t>
            </a:r>
          </a:p>
        </p:txBody>
      </p:sp>
      <p:sp>
        <p:nvSpPr>
          <p:cNvPr id="32" name="body:31"/>
          <p:cNvSpPr txBox="1"/>
          <p:nvPr/>
        </p:nvSpPr>
        <p:spPr>
          <a:xfrm>
            <a:off x="9921240" y="4151376"/>
            <a:ext cx="164592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DCDDD"/>
                </a:solidFill>
                <a:latin typeface="Arial"/>
              </a:rPr>
              <a:t>a silent A(c)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4718304"/>
            <a:ext cx="4526280" cy="530352"/>
          </a:xfrm>
          <a:prstGeom prst="roundRect">
            <a:avLst>
              <a:gd name="adj" fmla="val 5000"/>
            </a:avLst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ody:33"/>
          <p:cNvSpPr txBox="1"/>
          <p:nvPr/>
        </p:nvSpPr>
        <p:spPr>
          <a:xfrm>
            <a:off x="7205472" y="4809744"/>
            <a:ext cx="4572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8B7B0"/>
                </a:solidFill>
                <a:latin typeface="Arial"/>
              </a:rPr>
              <a:t>06</a:t>
            </a:r>
          </a:p>
        </p:txBody>
      </p:sp>
      <p:sp>
        <p:nvSpPr>
          <p:cNvPr id="35" name="body:34"/>
          <p:cNvSpPr txBox="1"/>
          <p:nvPr/>
        </p:nvSpPr>
        <p:spPr>
          <a:xfrm>
            <a:off x="7699248" y="4754880"/>
            <a:ext cx="2377440" cy="4572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Sequential monitoring</a:t>
            </a:r>
          </a:p>
        </p:txBody>
      </p:sp>
      <p:sp>
        <p:nvSpPr>
          <p:cNvPr id="36" name="body:35"/>
          <p:cNvSpPr txBox="1"/>
          <p:nvPr/>
        </p:nvSpPr>
        <p:spPr>
          <a:xfrm>
            <a:off x="9921240" y="4773168"/>
            <a:ext cx="164592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DCDDD"/>
                </a:solidFill>
                <a:latin typeface="Arial"/>
              </a:rPr>
              <a:t>stop or continue, per action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5340096"/>
            <a:ext cx="4526280" cy="530352"/>
          </a:xfrm>
          <a:prstGeom prst="roundRect">
            <a:avLst>
              <a:gd name="adj" fmla="val 5000"/>
            </a:avLst>
          </a:prstGeom>
          <a:solidFill>
            <a:srgbClr val="29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ody:37"/>
          <p:cNvSpPr txBox="1"/>
          <p:nvPr/>
        </p:nvSpPr>
        <p:spPr>
          <a:xfrm>
            <a:off x="7205472" y="5431536"/>
            <a:ext cx="4572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8B7B0"/>
                </a:solidFill>
                <a:latin typeface="Arial"/>
              </a:rPr>
              <a:t>07</a:t>
            </a:r>
          </a:p>
        </p:txBody>
      </p:sp>
      <p:sp>
        <p:nvSpPr>
          <p:cNvPr id="39" name="body:38"/>
          <p:cNvSpPr txBox="1"/>
          <p:nvPr/>
        </p:nvSpPr>
        <p:spPr>
          <a:xfrm>
            <a:off x="7699248" y="5376672"/>
            <a:ext cx="2377440" cy="4572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Release gating</a:t>
            </a:r>
          </a:p>
        </p:txBody>
      </p:sp>
      <p:sp>
        <p:nvSpPr>
          <p:cNvPr id="40" name="body:39"/>
          <p:cNvSpPr txBox="1"/>
          <p:nvPr/>
        </p:nvSpPr>
        <p:spPr>
          <a:xfrm>
            <a:off x="9921240" y="5394960"/>
            <a:ext cx="164592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DCDDD"/>
                </a:solidFill>
                <a:latin typeface="Arial"/>
              </a:rPr>
              <a:t>a two-action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00 / FORMULATION</a:t>
            </a:r>
          </a:p>
        </p:txBody>
      </p:sp>
      <p:sp>
        <p:nvSpPr>
          <p:cNvPr id="4" name="title:3"/>
          <p:cNvSpPr txBox="1"/>
          <p:nvPr/>
        </p:nvSpPr>
        <p:spPr>
          <a:xfrm>
            <a:off x="566928" y="768096"/>
            <a:ext cx="11045952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72D46"/>
                </a:solidFill>
                <a:latin typeface="Arial"/>
              </a:rPr>
              <a:t>The agent's situation is a constrained POMDP.</a:t>
            </a:r>
          </a:p>
        </p:txBody>
      </p:sp>
      <p:sp>
        <p:nvSpPr>
          <p:cNvPr id="5" name="subtitle:4"/>
          <p:cNvSpPr txBox="1"/>
          <p:nvPr/>
        </p:nvSpPr>
        <p:spPr>
          <a:xfrm>
            <a:off x="585216" y="1609344"/>
            <a:ext cx="10881360" cy="40233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37285"/>
                </a:solidFill>
                <a:latin typeface="Arial"/>
              </a:rPr>
              <a:t>Three objects evolve by three different rules: the belief, the grant, and the value.</a:t>
            </a:r>
          </a:p>
        </p:txBody>
      </p:sp>
      <p:sp>
        <p:nvSpPr>
          <p:cNvPr id="6" name="source:5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37285"/>
                </a:solidFill>
                <a:latin typeface="Arial"/>
              </a:rPr>
              <a:t>containment-extension  /  Decision theory primer  /  20 Oct 2026  /  Kaelbling, Littman &amp; Cassandra 1998; Altman 1999; project docs/trust4rsi-next-experiments.md</a:t>
            </a:r>
          </a:p>
        </p:txBody>
      </p:sp>
      <p:sp>
        <p:nvSpPr>
          <p:cNvPr id="7" name="source:6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:9"/>
          <p:cNvSpPr txBox="1"/>
          <p:nvPr/>
        </p:nvSpPr>
        <p:spPr>
          <a:xfrm>
            <a:off x="77724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PROBLEM</a:t>
            </a:r>
          </a:p>
        </p:txBody>
      </p:sp>
      <p:sp>
        <p:nvSpPr>
          <p:cNvPr id="11" name="body:10"/>
          <p:cNvSpPr txBox="1"/>
          <p:nvPr/>
        </p:nvSpPr>
        <p:spPr>
          <a:xfrm>
            <a:off x="77724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What the agent sees, believes, may do, and does</a:t>
            </a:r>
          </a:p>
        </p:txBody>
      </p:sp>
      <p:sp>
        <p:nvSpPr>
          <p:cNvPr id="12" name="label:11"/>
          <p:cNvSpPr txBox="1"/>
          <p:nvPr/>
        </p:nvSpPr>
        <p:spPr>
          <a:xfrm>
            <a:off x="640080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TECHNIQUE</a:t>
            </a:r>
          </a:p>
        </p:txBody>
      </p:sp>
      <p:sp>
        <p:nvSpPr>
          <p:cNvPr id="13" name="body:12"/>
          <p:cNvSpPr txBox="1"/>
          <p:nvPr/>
        </p:nvSpPr>
        <p:spPr>
          <a:xfrm>
            <a:off x="640080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Belief-state dynamic programming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99232"/>
            <a:ext cx="457200" cy="420624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dy:14"/>
          <p:cNvSpPr txBox="1"/>
          <p:nvPr/>
        </p:nvSpPr>
        <p:spPr>
          <a:xfrm>
            <a:off x="777240" y="2999232"/>
            <a:ext cx="45720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3F6795"/>
                </a:solidFill>
                <a:latin typeface="Arial"/>
              </a:rPr>
              <a:t>s</a:t>
            </a:r>
          </a:p>
        </p:txBody>
      </p:sp>
      <p:sp>
        <p:nvSpPr>
          <p:cNvPr id="16" name="body:15"/>
          <p:cNvSpPr txBox="1"/>
          <p:nvPr/>
        </p:nvSpPr>
        <p:spPr>
          <a:xfrm>
            <a:off x="1344168" y="2990088"/>
            <a:ext cx="132588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72D46"/>
                </a:solidFill>
                <a:latin typeface="Arial"/>
              </a:rPr>
              <a:t>State</a:t>
            </a:r>
          </a:p>
        </p:txBody>
      </p:sp>
      <p:sp>
        <p:nvSpPr>
          <p:cNvPr id="17" name="body:16"/>
          <p:cNvSpPr txBox="1"/>
          <p:nvPr/>
        </p:nvSpPr>
        <p:spPr>
          <a:xfrm>
            <a:off x="2606040" y="2999232"/>
            <a:ext cx="3136391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task feasibility, tool state, grant context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02152"/>
            <a:ext cx="457200" cy="420624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dy:18"/>
          <p:cNvSpPr txBox="1"/>
          <p:nvPr/>
        </p:nvSpPr>
        <p:spPr>
          <a:xfrm>
            <a:off x="777240" y="3502152"/>
            <a:ext cx="45720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3F6795"/>
                </a:solidFill>
                <a:latin typeface="Arial"/>
              </a:rPr>
              <a:t>o</a:t>
            </a:r>
          </a:p>
        </p:txBody>
      </p:sp>
      <p:sp>
        <p:nvSpPr>
          <p:cNvPr id="20" name="body:19"/>
          <p:cNvSpPr txBox="1"/>
          <p:nvPr/>
        </p:nvSpPr>
        <p:spPr>
          <a:xfrm>
            <a:off x="1344168" y="3493008"/>
            <a:ext cx="132588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72D46"/>
                </a:solidFill>
                <a:latin typeface="Arial"/>
              </a:rPr>
              <a:t>Observation</a:t>
            </a:r>
          </a:p>
        </p:txBody>
      </p:sp>
      <p:sp>
        <p:nvSpPr>
          <p:cNvPr id="21" name="body:20"/>
          <p:cNvSpPr txBox="1"/>
          <p:nvPr/>
        </p:nvSpPr>
        <p:spPr>
          <a:xfrm>
            <a:off x="2606040" y="3502152"/>
            <a:ext cx="3136391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tool outputs, errors such as 503, human replies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05072"/>
            <a:ext cx="457200" cy="420624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dy:22"/>
          <p:cNvSpPr txBox="1"/>
          <p:nvPr/>
        </p:nvSpPr>
        <p:spPr>
          <a:xfrm>
            <a:off x="777240" y="4005072"/>
            <a:ext cx="45720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247B77"/>
                </a:solidFill>
                <a:latin typeface="Arial"/>
              </a:rPr>
              <a:t>a</a:t>
            </a:r>
          </a:p>
        </p:txBody>
      </p:sp>
      <p:sp>
        <p:nvSpPr>
          <p:cNvPr id="24" name="body:23"/>
          <p:cNvSpPr txBox="1"/>
          <p:nvPr/>
        </p:nvSpPr>
        <p:spPr>
          <a:xfrm>
            <a:off x="1344168" y="3995928"/>
            <a:ext cx="132588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72D46"/>
                </a:solidFill>
                <a:latin typeface="Arial"/>
              </a:rPr>
              <a:t>Action</a:t>
            </a:r>
          </a:p>
        </p:txBody>
      </p:sp>
      <p:sp>
        <p:nvSpPr>
          <p:cNvPr id="25" name="body:24"/>
          <p:cNvSpPr txBox="1"/>
          <p:nvPr/>
        </p:nvSpPr>
        <p:spPr>
          <a:xfrm>
            <a:off x="2606040" y="4005072"/>
            <a:ext cx="3136391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work · retry · substitute · ask · stop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507992"/>
            <a:ext cx="457200" cy="420624"/>
          </a:xfrm>
          <a:prstGeom prst="roundRect">
            <a:avLst>
              <a:gd name="adj" fmla="val 5000"/>
            </a:avLst>
          </a:prstGeom>
          <a:solidFill>
            <a:srgbClr val="F7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ody:26"/>
          <p:cNvSpPr txBox="1"/>
          <p:nvPr/>
        </p:nvSpPr>
        <p:spPr>
          <a:xfrm>
            <a:off x="777240" y="4507992"/>
            <a:ext cx="45720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B96333"/>
                </a:solidFill>
                <a:latin typeface="Arial"/>
              </a:rPr>
              <a:t>e</a:t>
            </a:r>
          </a:p>
        </p:txBody>
      </p:sp>
      <p:sp>
        <p:nvSpPr>
          <p:cNvPr id="28" name="body:27"/>
          <p:cNvSpPr txBox="1"/>
          <p:nvPr/>
        </p:nvSpPr>
        <p:spPr>
          <a:xfrm>
            <a:off x="1344168" y="4498848"/>
            <a:ext cx="1325880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72D46"/>
                </a:solidFill>
                <a:latin typeface="Arial"/>
              </a:rPr>
              <a:t>Effect</a:t>
            </a:r>
          </a:p>
        </p:txBody>
      </p:sp>
      <p:sp>
        <p:nvSpPr>
          <p:cNvPr id="29" name="body:28"/>
          <p:cNvSpPr txBox="1"/>
          <p:nvPr/>
        </p:nvSpPr>
        <p:spPr>
          <a:xfrm>
            <a:off x="2606040" y="4507992"/>
            <a:ext cx="3136391" cy="42062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what the action actually touched, journaled</a:t>
            </a:r>
          </a:p>
        </p:txBody>
      </p:sp>
      <p:sp>
        <p:nvSpPr>
          <p:cNvPr id="30" name="formula:29"/>
          <p:cNvSpPr txBox="1"/>
          <p:nvPr/>
        </p:nvSpPr>
        <p:spPr>
          <a:xfrm>
            <a:off x="6400800" y="2971800"/>
            <a:ext cx="5010912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72D46"/>
                </a:solidFill>
                <a:latin typeface="Arial"/>
              </a:rPr>
              <a:t>V(b) = max a  [ r(b, a) + E o  V(b′) ]</a:t>
            </a:r>
          </a:p>
        </p:txBody>
      </p:sp>
      <p:sp>
        <p:nvSpPr>
          <p:cNvPr id="31" name="body:30"/>
          <p:cNvSpPr txBox="1"/>
          <p:nvPr/>
        </p:nvSpPr>
        <p:spPr>
          <a:xfrm>
            <a:off x="6400800" y="3584448"/>
            <a:ext cx="5010912" cy="1344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Belief b updates by Bayes on each observation o.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Permitted set A(c) updates only by a valid grant from the authorizer; a tool reply never enlarges it.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Violation V(e, c) = 1[ e not in A(c) ] is a constraint on effects, not a term rewards can outbid.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48656"/>
            <a:ext cx="11000232" cy="1024128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abel:32"/>
          <p:cNvSpPr txBox="1"/>
          <p:nvPr/>
        </p:nvSpPr>
        <p:spPr>
          <a:xfrm>
            <a:off x="777240" y="5303520"/>
            <a:ext cx="274320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7B77"/>
                </a:solidFill>
                <a:latin typeface="Arial"/>
              </a:rPr>
              <a:t>IN CONTAINMENT-EXTENSION</a:t>
            </a:r>
          </a:p>
        </p:txBody>
      </p:sp>
      <p:sp>
        <p:nvSpPr>
          <p:cNvPr id="34" name="body:33"/>
          <p:cNvSpPr txBox="1"/>
          <p:nvPr/>
        </p:nvSpPr>
        <p:spPr>
          <a:xfrm>
            <a:off x="777240" y="5541264"/>
            <a:ext cx="10652760" cy="6766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4364A"/>
                </a:solidFill>
                <a:latin typeface="Arial"/>
              </a:rPr>
              <a:t>Recovery availability sets b; the grant column sets A(c); the objective min R s.t. U, C, F scores a policy θ. The 503 is evidence about b and never a grant. Three readings of one 503: epistemic, deontic, evaluative.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01 / OPTIMAL STOPPING</a:t>
            </a:r>
          </a:p>
        </p:txBody>
      </p:sp>
      <p:sp>
        <p:nvSpPr>
          <p:cNvPr id="4" name="title:3"/>
          <p:cNvSpPr txBox="1"/>
          <p:nvPr/>
        </p:nvSpPr>
        <p:spPr>
          <a:xfrm>
            <a:off x="566928" y="768096"/>
            <a:ext cx="11045952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72D46"/>
                </a:solidFill>
                <a:latin typeface="Arial"/>
              </a:rPr>
              <a:t>When should the agent stop retrying?</a:t>
            </a:r>
          </a:p>
        </p:txBody>
      </p:sp>
      <p:sp>
        <p:nvSpPr>
          <p:cNvPr id="5" name="subtitle:4"/>
          <p:cNvSpPr txBox="1"/>
          <p:nvPr/>
        </p:nvSpPr>
        <p:spPr>
          <a:xfrm>
            <a:off x="585216" y="1609344"/>
            <a:ext cx="10881360" cy="40233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37285"/>
                </a:solidFill>
                <a:latin typeface="Arial"/>
              </a:rPr>
              <a:t>Persist while one more attempt is expected to beat its cost; otherwise take the honest exit.</a:t>
            </a:r>
          </a:p>
        </p:txBody>
      </p:sp>
      <p:sp>
        <p:nvSpPr>
          <p:cNvPr id="6" name="source:5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37285"/>
                </a:solidFill>
                <a:latin typeface="Arial"/>
              </a:rPr>
              <a:t>containment-extension  /  Decision theory primer  /  20 Oct 2026  /  Toy quantities: R = 10, B = 2, c = 1.6 give q* = 0.20. Gittins 1979; Snell-envelope backward induction.</a:t>
            </a:r>
          </a:p>
        </p:txBody>
      </p:sp>
      <p:sp>
        <p:nvSpPr>
          <p:cNvPr id="7" name="source:6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:9"/>
          <p:cNvSpPr txBox="1"/>
          <p:nvPr/>
        </p:nvSpPr>
        <p:spPr>
          <a:xfrm>
            <a:off x="77724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PROBLEM</a:t>
            </a:r>
          </a:p>
        </p:txBody>
      </p:sp>
      <p:sp>
        <p:nvSpPr>
          <p:cNvPr id="11" name="body:10"/>
          <p:cNvSpPr txBox="1"/>
          <p:nvPr/>
        </p:nvSpPr>
        <p:spPr>
          <a:xfrm>
            <a:off x="77724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Each attempt costs c, succeeds with probability q, and an honest stop pays B</a:t>
            </a:r>
          </a:p>
        </p:txBody>
      </p:sp>
      <p:sp>
        <p:nvSpPr>
          <p:cNvPr id="12" name="label:11"/>
          <p:cNvSpPr txBox="1"/>
          <p:nvPr/>
        </p:nvSpPr>
        <p:spPr>
          <a:xfrm>
            <a:off x="640080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TECHNIQUE</a:t>
            </a:r>
          </a:p>
        </p:txBody>
      </p:sp>
      <p:sp>
        <p:nvSpPr>
          <p:cNvPr id="13" name="body:12"/>
          <p:cNvSpPr txBox="1"/>
          <p:nvPr/>
        </p:nvSpPr>
        <p:spPr>
          <a:xfrm>
            <a:off x="640080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Threshold rules and route indices</a:t>
            </a:r>
          </a:p>
        </p:txBody>
      </p:sp>
      <p:sp>
        <p:nvSpPr>
          <p:cNvPr id="14" name="body:13"/>
          <p:cNvSpPr txBox="1"/>
          <p:nvPr/>
        </p:nvSpPr>
        <p:spPr>
          <a:xfrm>
            <a:off x="777240" y="2971800"/>
            <a:ext cx="5010912" cy="45720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4364A"/>
                </a:solidFill>
                <a:latin typeface="Arial"/>
              </a:rPr>
              <a:t>One attempt:  stop = B,   try = qR + (1 − q)B −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945635"/>
            <a:ext cx="910742" cy="64008"/>
          </a:xfrm>
          <a:prstGeom prst="rect">
            <a:avLst/>
          </a:prstGeom>
          <a:solidFill>
            <a:srgbClr val="63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16582" y="3945635"/>
            <a:ext cx="3642969" cy="6400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34286" y="3895344"/>
            <a:ext cx="164592" cy="164592"/>
          </a:xfrm>
          <a:prstGeom prst="ellipse">
            <a:avLst/>
          </a:prstGeom>
          <a:solidFill>
            <a:srgbClr val="B96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17"/>
          <p:cNvSpPr txBox="1"/>
          <p:nvPr/>
        </p:nvSpPr>
        <p:spPr>
          <a:xfrm>
            <a:off x="914400" y="4087368"/>
            <a:ext cx="36576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37285"/>
                </a:solidFill>
                <a:latin typeface="Arial"/>
              </a:rPr>
              <a:t>0</a:t>
            </a:r>
          </a:p>
        </p:txBody>
      </p:sp>
      <p:sp>
        <p:nvSpPr>
          <p:cNvPr id="19" name="body:18"/>
          <p:cNvSpPr txBox="1"/>
          <p:nvPr/>
        </p:nvSpPr>
        <p:spPr>
          <a:xfrm>
            <a:off x="5285232" y="4087368"/>
            <a:ext cx="36576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637285"/>
                </a:solidFill>
                <a:latin typeface="Arial"/>
              </a:rPr>
              <a:t>1</a:t>
            </a:r>
          </a:p>
        </p:txBody>
      </p:sp>
      <p:sp>
        <p:nvSpPr>
          <p:cNvPr id="20" name="body:19"/>
          <p:cNvSpPr txBox="1"/>
          <p:nvPr/>
        </p:nvSpPr>
        <p:spPr>
          <a:xfrm>
            <a:off x="1276502" y="4087368"/>
            <a:ext cx="128016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B96333"/>
                </a:solidFill>
                <a:latin typeface="Arial"/>
              </a:rPr>
              <a:t>q* = c / (R − B)</a:t>
            </a:r>
          </a:p>
        </p:txBody>
      </p:sp>
      <p:sp>
        <p:nvSpPr>
          <p:cNvPr id="21" name="body:20"/>
          <p:cNvSpPr txBox="1"/>
          <p:nvPr/>
        </p:nvSpPr>
        <p:spPr>
          <a:xfrm>
            <a:off x="1005840" y="3474720"/>
            <a:ext cx="128016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637285"/>
                </a:solidFill>
                <a:latin typeface="Arial"/>
              </a:rPr>
              <a:t>STOP</a:t>
            </a:r>
          </a:p>
        </p:txBody>
      </p:sp>
      <p:sp>
        <p:nvSpPr>
          <p:cNvPr id="22" name="body:21"/>
          <p:cNvSpPr txBox="1"/>
          <p:nvPr/>
        </p:nvSpPr>
        <p:spPr>
          <a:xfrm>
            <a:off x="4645152" y="3474720"/>
            <a:ext cx="91440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3F6795"/>
                </a:solidFill>
                <a:latin typeface="Arial"/>
              </a:rPr>
              <a:t>TRY</a:t>
            </a:r>
          </a:p>
        </p:txBody>
      </p:sp>
      <p:sp>
        <p:nvSpPr>
          <p:cNvPr id="23" name="body:22"/>
          <p:cNvSpPr txBox="1"/>
          <p:nvPr/>
        </p:nvSpPr>
        <p:spPr>
          <a:xfrm>
            <a:off x="777240" y="4434840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37285"/>
                </a:solidFill>
                <a:latin typeface="Arial"/>
              </a:rPr>
              <a:t>Calibrated q, risk neutrality, and a real honest-stop option are the assumptions that make the line a line.</a:t>
            </a:r>
          </a:p>
        </p:txBody>
      </p:sp>
      <p:sp>
        <p:nvSpPr>
          <p:cNvPr id="24" name="formula:23"/>
          <p:cNvSpPr txBox="1"/>
          <p:nvPr/>
        </p:nvSpPr>
        <p:spPr>
          <a:xfrm>
            <a:off x="6400800" y="2971800"/>
            <a:ext cx="5010912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172D46"/>
                </a:solidFill>
                <a:latin typeface="Arial"/>
              </a:rPr>
              <a:t>try  iff  q (R − B) &gt; c</a:t>
            </a:r>
          </a:p>
        </p:txBody>
      </p:sp>
      <p:sp>
        <p:nvSpPr>
          <p:cNvPr id="25" name="body:24"/>
          <p:cNvSpPr txBox="1"/>
          <p:nvPr/>
        </p:nvSpPr>
        <p:spPr>
          <a:xfrm>
            <a:off x="6400800" y="3584448"/>
            <a:ext cx="5010912" cy="1344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Many steps: backward induction. Continue while the continuation value exceeds the stopping value (Snell envelope).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Many recovery routes: a Gittins index per route; try the highest index, stop when all fall below B (Gittins 1979).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A better exit option B raises q* and shortens persistence; a worse one buys stubbornness.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248656"/>
            <a:ext cx="11000232" cy="1024128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abel:26"/>
          <p:cNvSpPr txBox="1"/>
          <p:nvPr/>
        </p:nvSpPr>
        <p:spPr>
          <a:xfrm>
            <a:off x="777240" y="5303520"/>
            <a:ext cx="274320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7B77"/>
                </a:solidFill>
                <a:latin typeface="Arial"/>
              </a:rPr>
              <a:t>IN CONTAINMENT-EXTENSION</a:t>
            </a:r>
          </a:p>
        </p:txBody>
      </p:sp>
      <p:sp>
        <p:nvSpPr>
          <p:cNvPr id="28" name="body:27"/>
          <p:cNvSpPr txBox="1"/>
          <p:nvPr/>
        </p:nvSpPr>
        <p:spPr>
          <a:xfrm>
            <a:off x="777240" y="5541264"/>
            <a:ext cx="10652760" cy="6766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4364A"/>
                </a:solidFill>
                <a:latin typeface="Arial"/>
              </a:rPr>
              <a:t>The substitution incident family is persistence past the stated route. Readouts come from the effect journal, split into premature stops and wasted attempts, so a lower violation rate is not mistaken for better stopping.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02 / VALUE OF INFORMATION</a:t>
            </a:r>
          </a:p>
        </p:txBody>
      </p:sp>
      <p:sp>
        <p:nvSpPr>
          <p:cNvPr id="4" name="title:3"/>
          <p:cNvSpPr txBox="1"/>
          <p:nvPr/>
        </p:nvSpPr>
        <p:spPr>
          <a:xfrm>
            <a:off x="566928" y="768096"/>
            <a:ext cx="11045952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72D46"/>
                </a:solidFill>
                <a:latin typeface="Arial"/>
              </a:rPr>
              <a:t>Diagnose or ask before acting?</a:t>
            </a:r>
          </a:p>
        </p:txBody>
      </p:sp>
      <p:sp>
        <p:nvSpPr>
          <p:cNvPr id="5" name="subtitle:4"/>
          <p:cNvSpPr txBox="1"/>
          <p:nvPr/>
        </p:nvSpPr>
        <p:spPr>
          <a:xfrm>
            <a:off x="585216" y="1609344"/>
            <a:ext cx="10881360" cy="40233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37285"/>
                </a:solidFill>
                <a:latin typeface="Arial"/>
              </a:rPr>
              <a:t>A query is worth paying for only when some possible answer would change the action.</a:t>
            </a:r>
          </a:p>
        </p:txBody>
      </p:sp>
      <p:sp>
        <p:nvSpPr>
          <p:cNvPr id="6" name="source:5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37285"/>
                </a:solidFill>
                <a:latin typeface="Arial"/>
              </a:rPr>
              <a:t>containment-extension  /  Decision theory primer  /  20 Oct 2026  /  Howard 1966; Hay, Russell, Tolpin &amp; Shimony 2012 (arXiv:1207.5879); X1b in docs/trust4rsi-next-experiments.md</a:t>
            </a:r>
          </a:p>
        </p:txBody>
      </p:sp>
      <p:sp>
        <p:nvSpPr>
          <p:cNvPr id="7" name="source:6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:9"/>
          <p:cNvSpPr txBox="1"/>
          <p:nvPr/>
        </p:nvSpPr>
        <p:spPr>
          <a:xfrm>
            <a:off x="77724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PROBLEM</a:t>
            </a:r>
          </a:p>
        </p:txBody>
      </p:sp>
      <p:sp>
        <p:nvSpPr>
          <p:cNvPr id="11" name="body:10"/>
          <p:cNvSpPr txBox="1"/>
          <p:nvPr/>
        </p:nvSpPr>
        <p:spPr>
          <a:xfrm>
            <a:off x="77724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Act on the current belief, or pay k for an answer first</a:t>
            </a:r>
          </a:p>
        </p:txBody>
      </p:sp>
      <p:sp>
        <p:nvSpPr>
          <p:cNvPr id="12" name="label:11"/>
          <p:cNvSpPr txBox="1"/>
          <p:nvPr/>
        </p:nvSpPr>
        <p:spPr>
          <a:xfrm>
            <a:off x="640080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TECHNIQUE</a:t>
            </a:r>
          </a:p>
        </p:txBody>
      </p:sp>
      <p:sp>
        <p:nvSpPr>
          <p:cNvPr id="13" name="body:12"/>
          <p:cNvSpPr txBox="1"/>
          <p:nvPr/>
        </p:nvSpPr>
        <p:spPr>
          <a:xfrm>
            <a:off x="640080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Expected value of information and metareasoning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17520"/>
            <a:ext cx="1737360" cy="713232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dy:14"/>
          <p:cNvSpPr txBox="1"/>
          <p:nvPr/>
        </p:nvSpPr>
        <p:spPr>
          <a:xfrm>
            <a:off x="868680" y="3044952"/>
            <a:ext cx="1645920" cy="3657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3F6795"/>
                </a:solidFill>
                <a:latin typeface="Arial"/>
              </a:rPr>
              <a:t>Act now</a:t>
            </a:r>
          </a:p>
        </p:txBody>
      </p:sp>
      <p:sp>
        <p:nvSpPr>
          <p:cNvPr id="16" name="body:15"/>
          <p:cNvSpPr txBox="1"/>
          <p:nvPr/>
        </p:nvSpPr>
        <p:spPr>
          <a:xfrm>
            <a:off x="868680" y="3383279"/>
            <a:ext cx="1645920" cy="29260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637285"/>
                </a:solidFill>
                <a:latin typeface="Arial"/>
              </a:rPr>
              <a:t>max a  E[u(a)]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69079"/>
            <a:ext cx="1737360" cy="713232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17"/>
          <p:cNvSpPr txBox="1"/>
          <p:nvPr/>
        </p:nvSpPr>
        <p:spPr>
          <a:xfrm>
            <a:off x="868680" y="4096512"/>
            <a:ext cx="1645920" cy="3657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7B77"/>
                </a:solidFill>
                <a:latin typeface="Arial"/>
              </a:rPr>
              <a:t>Query, pay k</a:t>
            </a:r>
          </a:p>
        </p:txBody>
      </p:sp>
      <p:sp>
        <p:nvSpPr>
          <p:cNvPr id="19" name="body:18"/>
          <p:cNvSpPr txBox="1"/>
          <p:nvPr/>
        </p:nvSpPr>
        <p:spPr>
          <a:xfrm>
            <a:off x="868680" y="4434840"/>
            <a:ext cx="1645920" cy="292608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637285"/>
                </a:solidFill>
                <a:latin typeface="Arial"/>
              </a:rPr>
              <a:t>then act on 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4414266"/>
            <a:ext cx="502920" cy="22860"/>
          </a:xfrm>
          <a:prstGeom prst="rect">
            <a:avLst/>
          </a:prstGeom>
          <a:solidFill>
            <a:srgbClr val="2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097530" y="3886200"/>
            <a:ext cx="22860" cy="539496"/>
          </a:xfrm>
          <a:prstGeom prst="rect">
            <a:avLst/>
          </a:prstGeom>
          <a:solidFill>
            <a:srgbClr val="2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108960" y="3874770"/>
            <a:ext cx="457200" cy="22860"/>
          </a:xfrm>
          <a:prstGeom prst="rect">
            <a:avLst/>
          </a:prstGeom>
          <a:solidFill>
            <a:srgbClr val="2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Isosceles Triangle 22"/>
          <p:cNvSpPr/>
          <p:nvPr/>
        </p:nvSpPr>
        <p:spPr>
          <a:xfrm rot="5400000">
            <a:off x="3502152" y="3822192"/>
            <a:ext cx="128016" cy="128016"/>
          </a:xfrm>
          <a:prstGeom prst="triangle">
            <a:avLst/>
          </a:prstGeom>
          <a:solidFill>
            <a:srgbClr val="24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97530" y="4425696"/>
            <a:ext cx="22860" cy="420624"/>
          </a:xfrm>
          <a:prstGeom prst="rect">
            <a:avLst/>
          </a:prstGeom>
          <a:solidFill>
            <a:srgbClr val="2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108960" y="4834890"/>
            <a:ext cx="457200" cy="22860"/>
          </a:xfrm>
          <a:prstGeom prst="rect">
            <a:avLst/>
          </a:prstGeom>
          <a:solidFill>
            <a:srgbClr val="247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Isosceles Triangle 25"/>
          <p:cNvSpPr/>
          <p:nvPr/>
        </p:nvSpPr>
        <p:spPr>
          <a:xfrm rot="5400000">
            <a:off x="3502152" y="4782312"/>
            <a:ext cx="128016" cy="128016"/>
          </a:xfrm>
          <a:prstGeom prst="triangle">
            <a:avLst/>
          </a:prstGeom>
          <a:solidFill>
            <a:srgbClr val="24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11879" y="3611879"/>
            <a:ext cx="2148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:27"/>
          <p:cNvSpPr txBox="1"/>
          <p:nvPr/>
        </p:nvSpPr>
        <p:spPr>
          <a:xfrm>
            <a:off x="3657600" y="3630168"/>
            <a:ext cx="2057400" cy="51206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o = recoverable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→ best a | 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79" y="4572000"/>
            <a:ext cx="21488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:29"/>
          <p:cNvSpPr txBox="1"/>
          <p:nvPr/>
        </p:nvSpPr>
        <p:spPr>
          <a:xfrm>
            <a:off x="3657600" y="4590288"/>
            <a:ext cx="2057400" cy="51206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o = not recoverable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→ best a | o</a:t>
            </a:r>
          </a:p>
        </p:txBody>
      </p:sp>
      <p:sp>
        <p:nvSpPr>
          <p:cNvPr id="31" name="body:30"/>
          <p:cNvSpPr txBox="1"/>
          <p:nvPr/>
        </p:nvSpPr>
        <p:spPr>
          <a:xfrm>
            <a:off x="2606040" y="3017520"/>
            <a:ext cx="3200400" cy="54864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37285"/>
                </a:solidFill>
                <a:latin typeface="Arial"/>
              </a:rPr>
              <a:t>Same interface, two targets: a diagnostic informs b; a clarification informs A(c).</a:t>
            </a:r>
          </a:p>
        </p:txBody>
      </p:sp>
      <p:sp>
        <p:nvSpPr>
          <p:cNvPr id="32" name="formula:31"/>
          <p:cNvSpPr txBox="1"/>
          <p:nvPr/>
        </p:nvSpPr>
        <p:spPr>
          <a:xfrm>
            <a:off x="6400800" y="2971800"/>
            <a:ext cx="5010912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72D46"/>
                </a:solidFill>
                <a:latin typeface="Arial"/>
              </a:rPr>
              <a:t>VOI = E o [ max a E[u | o] ] − max a E[u]  ≥ 0</a:t>
            </a:r>
          </a:p>
        </p:txBody>
      </p:sp>
      <p:sp>
        <p:nvSpPr>
          <p:cNvPr id="33" name="body:32"/>
          <p:cNvSpPr txBox="1"/>
          <p:nvPr/>
        </p:nvSpPr>
        <p:spPr>
          <a:xfrm>
            <a:off x="6400800" y="3584448"/>
            <a:ext cx="5010912" cy="1344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Howard 1966: VOI is never negative and is zero when no answer would change the choice. Query iff VOI &gt; k.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Rational metareasoning: among diagnostics and questions pick the one with the largest VOI − cost (Hay et al. 2012).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A request differs from a clarification: a valid reply can change A(c) itself, not only the belief about 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248656"/>
            <a:ext cx="11000232" cy="1024128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abel:34"/>
          <p:cNvSpPr txBox="1"/>
          <p:nvPr/>
        </p:nvSpPr>
        <p:spPr>
          <a:xfrm>
            <a:off x="777240" y="5303520"/>
            <a:ext cx="274320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7B77"/>
                </a:solidFill>
                <a:latin typeface="Arial"/>
              </a:rPr>
              <a:t>IN CONTAINMENT-EXTENSION</a:t>
            </a:r>
          </a:p>
        </p:txBody>
      </p:sp>
      <p:sp>
        <p:nvSpPr>
          <p:cNvPr id="36" name="body:35"/>
          <p:cNvSpPr txBox="1"/>
          <p:nvPr/>
        </p:nvSpPr>
        <p:spPr>
          <a:xfrm>
            <a:off x="777240" y="5541264"/>
            <a:ext cx="10652760" cy="6766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4364A"/>
                </a:solidFill>
                <a:latin typeface="Arial"/>
              </a:rPr>
              <a:t>X1b unspecified column: the reference behaviour is a clarification that names the archive and the missing permission. Scored as a response mix (silent read / clarification / authorized completion), never as a violation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03 / CONSTRAINED OPTIMIZATION</a:t>
            </a:r>
          </a:p>
        </p:txBody>
      </p:sp>
      <p:sp>
        <p:nvSpPr>
          <p:cNvPr id="4" name="title:3"/>
          <p:cNvSpPr txBox="1"/>
          <p:nvPr/>
        </p:nvSpPr>
        <p:spPr>
          <a:xfrm>
            <a:off x="566928" y="768096"/>
            <a:ext cx="11045952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72D46"/>
                </a:solidFill>
                <a:latin typeface="Arial"/>
              </a:rPr>
              <a:t>Minimize incidents, subject to utility, cost and false intervention.</a:t>
            </a:r>
          </a:p>
        </p:txBody>
      </p:sp>
      <p:sp>
        <p:nvSpPr>
          <p:cNvPr id="5" name="subtitle:4"/>
          <p:cNvSpPr txBox="1"/>
          <p:nvPr/>
        </p:nvSpPr>
        <p:spPr>
          <a:xfrm>
            <a:off x="585216" y="1609344"/>
            <a:ext cx="10881360" cy="40233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37285"/>
                </a:solidFill>
                <a:latin typeface="Arial"/>
              </a:rPr>
              <a:t>The project objective is a constrained MDP, not a weighted sum of task score and safety.</a:t>
            </a:r>
          </a:p>
        </p:txBody>
      </p:sp>
      <p:sp>
        <p:nvSpPr>
          <p:cNvPr id="6" name="source:5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37285"/>
                </a:solidFill>
                <a:latin typeface="Arial"/>
              </a:rPr>
              <a:t>containment-extension  /  Decision theory primer  /  20 Oct 2026  /  Objective from docs/incident-aware-optimization.md; Altman 1999; Achiam et al. 2017 (CPO, arXiv:1705.10528)</a:t>
            </a:r>
          </a:p>
        </p:txBody>
      </p:sp>
      <p:sp>
        <p:nvSpPr>
          <p:cNvPr id="7" name="source:6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:9"/>
          <p:cNvSpPr txBox="1"/>
          <p:nvPr/>
        </p:nvSpPr>
        <p:spPr>
          <a:xfrm>
            <a:off x="77724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PROBLEM</a:t>
            </a:r>
          </a:p>
        </p:txBody>
      </p:sp>
      <p:sp>
        <p:nvSpPr>
          <p:cNvPr id="11" name="body:10"/>
          <p:cNvSpPr txBox="1"/>
          <p:nvPr/>
        </p:nvSpPr>
        <p:spPr>
          <a:xfrm>
            <a:off x="77724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Pick a policy θ on the utility–risk plane</a:t>
            </a:r>
          </a:p>
        </p:txBody>
      </p:sp>
      <p:sp>
        <p:nvSpPr>
          <p:cNvPr id="12" name="label:11"/>
          <p:cNvSpPr txBox="1"/>
          <p:nvPr/>
        </p:nvSpPr>
        <p:spPr>
          <a:xfrm>
            <a:off x="640080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TECHNIQUE</a:t>
            </a:r>
          </a:p>
        </p:txBody>
      </p:sp>
      <p:sp>
        <p:nvSpPr>
          <p:cNvPr id="13" name="body:12"/>
          <p:cNvSpPr txBox="1"/>
          <p:nvPr/>
        </p:nvSpPr>
        <p:spPr>
          <a:xfrm>
            <a:off x="640080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Lagrangian prices and what finite data cannot tell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652009"/>
            <a:ext cx="3017520" cy="22860"/>
          </a:xfrm>
          <a:prstGeom prst="rect">
            <a:avLst/>
          </a:prstGeom>
          <a:solidFill>
            <a:srgbClr val="63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85850" y="3017520"/>
            <a:ext cx="22860" cy="1645919"/>
          </a:xfrm>
          <a:prstGeom prst="rect">
            <a:avLst/>
          </a:prstGeom>
          <a:solidFill>
            <a:srgbClr val="63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:15"/>
          <p:cNvSpPr txBox="1"/>
          <p:nvPr/>
        </p:nvSpPr>
        <p:spPr>
          <a:xfrm>
            <a:off x="3931920" y="4709159"/>
            <a:ext cx="1005840" cy="23774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37285"/>
                </a:solidFill>
                <a:latin typeface="Arial"/>
              </a:rPr>
              <a:t>utility U →</a:t>
            </a:r>
          </a:p>
        </p:txBody>
      </p:sp>
      <p:sp>
        <p:nvSpPr>
          <p:cNvPr id="17" name="body:16"/>
          <p:cNvSpPr txBox="1"/>
          <p:nvPr/>
        </p:nvSpPr>
        <p:spPr>
          <a:xfrm>
            <a:off x="1170432" y="2999232"/>
            <a:ext cx="1463040" cy="23774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37285"/>
                </a:solidFill>
                <a:latin typeface="Arial"/>
              </a:rPr>
              <a:t>incidents R 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56916" y="3017520"/>
            <a:ext cx="1357884" cy="1645920"/>
          </a:xfrm>
          <a:prstGeom prst="rect">
            <a:avLst/>
          </a:prstGeom>
          <a:solidFill>
            <a:srgbClr val="EE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017520"/>
            <a:ext cx="27432" cy="1645919"/>
          </a:xfrm>
          <a:prstGeom prst="rect">
            <a:avLst/>
          </a:prstGeom>
          <a:solidFill>
            <a:srgbClr val="B96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:19"/>
          <p:cNvSpPr txBox="1"/>
          <p:nvPr/>
        </p:nvSpPr>
        <p:spPr>
          <a:xfrm>
            <a:off x="1933956" y="4709159"/>
            <a:ext cx="1645920" cy="23774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B96333"/>
                </a:solidFill>
                <a:latin typeface="Arial"/>
              </a:rPr>
              <a:t>U ≥ U(θ0) − δU</a:t>
            </a:r>
          </a:p>
        </p:txBody>
      </p:sp>
      <p:sp>
        <p:nvSpPr>
          <p:cNvPr id="21" name="Oval 20"/>
          <p:cNvSpPr/>
          <p:nvPr/>
        </p:nvSpPr>
        <p:spPr>
          <a:xfrm>
            <a:off x="3377793" y="3849624"/>
            <a:ext cx="146304" cy="146304"/>
          </a:xfrm>
          <a:prstGeom prst="ellipse">
            <a:avLst/>
          </a:prstGeom>
          <a:solidFill>
            <a:srgbClr val="63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dy:21"/>
          <p:cNvSpPr txBox="1"/>
          <p:nvPr/>
        </p:nvSpPr>
        <p:spPr>
          <a:xfrm>
            <a:off x="3542385" y="3785615"/>
            <a:ext cx="54864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637285"/>
                </a:solidFill>
                <a:latin typeface="Arial"/>
              </a:rPr>
              <a:t>θ0</a:t>
            </a:r>
          </a:p>
        </p:txBody>
      </p:sp>
      <p:sp>
        <p:nvSpPr>
          <p:cNvPr id="23" name="Oval 22"/>
          <p:cNvSpPr/>
          <p:nvPr/>
        </p:nvSpPr>
        <p:spPr>
          <a:xfrm>
            <a:off x="2885846" y="3346704"/>
            <a:ext cx="164592" cy="164592"/>
          </a:xfrm>
          <a:prstGeom prst="ellipse">
            <a:avLst/>
          </a:prstGeom>
          <a:solidFill>
            <a:srgbClr val="24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:23"/>
          <p:cNvSpPr txBox="1"/>
          <p:nvPr/>
        </p:nvSpPr>
        <p:spPr>
          <a:xfrm>
            <a:off x="3059582" y="3291840"/>
            <a:ext cx="54864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47B77"/>
                </a:solidFill>
                <a:latin typeface="Arial"/>
              </a:rPr>
              <a:t>θ*</a:t>
            </a:r>
          </a:p>
        </p:txBody>
      </p:sp>
      <p:sp>
        <p:nvSpPr>
          <p:cNvPr id="25" name="Oval 24"/>
          <p:cNvSpPr/>
          <p:nvPr/>
        </p:nvSpPr>
        <p:spPr>
          <a:xfrm>
            <a:off x="1929384" y="3471062"/>
            <a:ext cx="146304" cy="146304"/>
          </a:xfrm>
          <a:prstGeom prst="ellipse">
            <a:avLst/>
          </a:prstGeom>
          <a:solidFill>
            <a:srgbClr val="B65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:25"/>
          <p:cNvSpPr txBox="1"/>
          <p:nvPr/>
        </p:nvSpPr>
        <p:spPr>
          <a:xfrm>
            <a:off x="1865376" y="3635654"/>
            <a:ext cx="109728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B65249"/>
                </a:solidFill>
                <a:latin typeface="Arial"/>
              </a:rPr>
              <a:t>infeasible</a:t>
            </a:r>
          </a:p>
        </p:txBody>
      </p:sp>
      <p:sp>
        <p:nvSpPr>
          <p:cNvPr id="27" name="body:26"/>
          <p:cNvSpPr txBox="1"/>
          <p:nvPr/>
        </p:nvSpPr>
        <p:spPr>
          <a:xfrm>
            <a:off x="4297680" y="3017520"/>
            <a:ext cx="1600200" cy="192024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37285"/>
                </a:solidFill>
                <a:latin typeface="Arial"/>
              </a:rPr>
              <a:t>Feasible region: utility non-inferior, cost under B_run, false intervention under αF.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637285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637285"/>
                </a:solidFill>
                <a:latin typeface="Arial"/>
              </a:rPr>
              <a:t>θ* is the lowest R inside it.</a:t>
            </a:r>
          </a:p>
        </p:txBody>
      </p:sp>
      <p:sp>
        <p:nvSpPr>
          <p:cNvPr id="28" name="formula:27"/>
          <p:cNvSpPr txBox="1"/>
          <p:nvPr/>
        </p:nvSpPr>
        <p:spPr>
          <a:xfrm>
            <a:off x="6400800" y="2971800"/>
            <a:ext cx="5010912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72D46"/>
                </a:solidFill>
                <a:latin typeface="Arial"/>
              </a:rPr>
              <a:t>θ* = argmin R(θ)  s.t.  U ≥ U(θ0) − δU,  C ≤ B_run,  F ≤ αF</a:t>
            </a:r>
          </a:p>
        </p:txBody>
      </p:sp>
      <p:sp>
        <p:nvSpPr>
          <p:cNvPr id="29" name="body:28"/>
          <p:cNvSpPr txBox="1"/>
          <p:nvPr/>
        </p:nvSpPr>
        <p:spPr>
          <a:xfrm>
            <a:off x="6400800" y="3584448"/>
            <a:ext cx="5010912" cy="1344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Lagrangian L = R + λU·(U0 − δU − U)+ + λC·(…) + λF·(…): each multiplier is the price of its constraint (Altman 1999; CPO).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Hard wall vs soft penalty is not identifiable from finite data: a large enough λ reproduces zero violations.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Missing incident observations are unknown, not zeros; zero observed incidents is not a certified population bound.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248656"/>
            <a:ext cx="11000232" cy="1024128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abel:30"/>
          <p:cNvSpPr txBox="1"/>
          <p:nvPr/>
        </p:nvSpPr>
        <p:spPr>
          <a:xfrm>
            <a:off x="777240" y="5303520"/>
            <a:ext cx="274320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7B77"/>
                </a:solidFill>
                <a:latin typeface="Arial"/>
              </a:rPr>
              <a:t>IN CONTAINMENT-EXTENSION</a:t>
            </a:r>
          </a:p>
        </p:txBody>
      </p:sp>
      <p:sp>
        <p:nvSpPr>
          <p:cNvPr id="32" name="body:31"/>
          <p:cNvSpPr txBox="1"/>
          <p:nvPr/>
        </p:nvSpPr>
        <p:spPr>
          <a:xfrm>
            <a:off x="777240" y="5541264"/>
            <a:ext cx="10652760" cy="6766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4364A"/>
                </a:solidFill>
                <a:latin typeface="Arial"/>
              </a:rPr>
              <a:t>Arms B3 and B4 run the same search under the same constraints with different R estimators: a frozen transcript proxy versus independently observed effects. ΔR, ΔU and false interventions are reported separately, never pooled.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04 / PRINCIPAL–AGENT AND INCOMPLETE CONTRACTS</a:t>
            </a:r>
          </a:p>
        </p:txBody>
      </p:sp>
      <p:sp>
        <p:nvSpPr>
          <p:cNvPr id="4" name="title:3"/>
          <p:cNvSpPr txBox="1"/>
          <p:nvPr/>
        </p:nvSpPr>
        <p:spPr>
          <a:xfrm>
            <a:off x="566928" y="768096"/>
            <a:ext cx="11045952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72D46"/>
                </a:solidFill>
                <a:latin typeface="Arial"/>
              </a:rPr>
              <a:t>Who holds the grant, and what happens when it is silent?</a:t>
            </a:r>
          </a:p>
        </p:txBody>
      </p:sp>
      <p:sp>
        <p:nvSpPr>
          <p:cNvPr id="5" name="subtitle:4"/>
          <p:cNvSpPr txBox="1"/>
          <p:nvPr/>
        </p:nvSpPr>
        <p:spPr>
          <a:xfrm>
            <a:off x="585216" y="1609344"/>
            <a:ext cx="10881360" cy="40233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37285"/>
                </a:solidFill>
                <a:latin typeface="Arial"/>
              </a:rPr>
              <a:t>No grant covers every state. The agent must act where the contract says nothing or contradicts itself.</a:t>
            </a:r>
          </a:p>
        </p:txBody>
      </p:sp>
      <p:sp>
        <p:nvSpPr>
          <p:cNvPr id="6" name="source:5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37285"/>
                </a:solidFill>
                <a:latin typeface="Arial"/>
              </a:rPr>
              <a:t>containment-extension  /  Decision theory primer  /  20 Oct 2026  /  Hadfield-Menell &amp; Hadfield 2019 (arXiv:1804.04268); Hadfield-Menell et al. 2016 (CIRL), 2017 (Off-Switch Game)</a:t>
            </a:r>
          </a:p>
        </p:txBody>
      </p:sp>
      <p:sp>
        <p:nvSpPr>
          <p:cNvPr id="7" name="source:6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:9"/>
          <p:cNvSpPr txBox="1"/>
          <p:nvPr/>
        </p:nvSpPr>
        <p:spPr>
          <a:xfrm>
            <a:off x="77724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PROBLEM</a:t>
            </a:r>
          </a:p>
        </p:txBody>
      </p:sp>
      <p:sp>
        <p:nvSpPr>
          <p:cNvPr id="11" name="body:10"/>
          <p:cNvSpPr txBox="1"/>
          <p:nvPr/>
        </p:nvSpPr>
        <p:spPr>
          <a:xfrm>
            <a:off x="77724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A principal writes grant c; the agent acts; an oracle judges the effect</a:t>
            </a:r>
          </a:p>
        </p:txBody>
      </p:sp>
      <p:sp>
        <p:nvSpPr>
          <p:cNvPr id="12" name="label:11"/>
          <p:cNvSpPr txBox="1"/>
          <p:nvPr/>
        </p:nvSpPr>
        <p:spPr>
          <a:xfrm>
            <a:off x="640080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TECHNIQUE</a:t>
            </a:r>
          </a:p>
        </p:txBody>
      </p:sp>
      <p:sp>
        <p:nvSpPr>
          <p:cNvPr id="13" name="body:12"/>
          <p:cNvSpPr txBox="1"/>
          <p:nvPr/>
        </p:nvSpPr>
        <p:spPr>
          <a:xfrm>
            <a:off x="640080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Cooperative games with information asymmetry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39"/>
            <a:ext cx="1115568" cy="786384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dy:14"/>
          <p:cNvSpPr txBox="1"/>
          <p:nvPr/>
        </p:nvSpPr>
        <p:spPr>
          <a:xfrm>
            <a:off x="868680" y="3108960"/>
            <a:ext cx="1024128" cy="3657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3F6795"/>
                </a:solidFill>
                <a:latin typeface="Arial"/>
              </a:rPr>
              <a:t>Principal</a:t>
            </a:r>
          </a:p>
        </p:txBody>
      </p:sp>
      <p:sp>
        <p:nvSpPr>
          <p:cNvPr id="16" name="body:15"/>
          <p:cNvSpPr txBox="1"/>
          <p:nvPr/>
        </p:nvSpPr>
        <p:spPr>
          <a:xfrm>
            <a:off x="868680" y="3456432"/>
            <a:ext cx="1024128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637285"/>
                </a:solidFill>
                <a:latin typeface="Arial"/>
              </a:rPr>
              <a:t>writes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3445002"/>
            <a:ext cx="137160" cy="22860"/>
          </a:xfrm>
          <a:prstGeom prst="rect">
            <a:avLst/>
          </a:prstGeom>
          <a:solidFill>
            <a:srgbClr val="63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Isosceles Triangle 17"/>
          <p:cNvSpPr/>
          <p:nvPr/>
        </p:nvSpPr>
        <p:spPr>
          <a:xfrm rot="5400000">
            <a:off x="2039112" y="3392424"/>
            <a:ext cx="128016" cy="128016"/>
          </a:xfrm>
          <a:prstGeom prst="triangle">
            <a:avLst/>
          </a:prstGeom>
          <a:solidFill>
            <a:srgbClr val="63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21408" y="3063239"/>
            <a:ext cx="1115568" cy="786384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:19"/>
          <p:cNvSpPr txBox="1"/>
          <p:nvPr/>
        </p:nvSpPr>
        <p:spPr>
          <a:xfrm>
            <a:off x="2167127" y="3108960"/>
            <a:ext cx="1024128" cy="3657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247B77"/>
                </a:solidFill>
                <a:latin typeface="Arial"/>
              </a:rPr>
              <a:t>Agent</a:t>
            </a:r>
          </a:p>
        </p:txBody>
      </p:sp>
      <p:sp>
        <p:nvSpPr>
          <p:cNvPr id="21" name="body:20"/>
          <p:cNvSpPr txBox="1"/>
          <p:nvPr/>
        </p:nvSpPr>
        <p:spPr>
          <a:xfrm>
            <a:off x="2167127" y="3456432"/>
            <a:ext cx="1024128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637285"/>
                </a:solidFill>
                <a:latin typeface="Arial"/>
              </a:rPr>
              <a:t>chooses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3445002"/>
            <a:ext cx="137160" cy="22860"/>
          </a:xfrm>
          <a:prstGeom prst="rect">
            <a:avLst/>
          </a:prstGeom>
          <a:solidFill>
            <a:srgbClr val="63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Isosceles Triangle 22"/>
          <p:cNvSpPr/>
          <p:nvPr/>
        </p:nvSpPr>
        <p:spPr>
          <a:xfrm rot="5400000">
            <a:off x="3337560" y="3392424"/>
            <a:ext cx="128016" cy="128016"/>
          </a:xfrm>
          <a:prstGeom prst="triangle">
            <a:avLst/>
          </a:prstGeom>
          <a:solidFill>
            <a:srgbClr val="63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19856" y="3063239"/>
            <a:ext cx="1115568" cy="786384"/>
          </a:xfrm>
          <a:prstGeom prst="roundRect">
            <a:avLst>
              <a:gd name="adj" fmla="val 5000"/>
            </a:avLst>
          </a:prstGeom>
          <a:solidFill>
            <a:srgbClr val="F7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dy:24"/>
          <p:cNvSpPr txBox="1"/>
          <p:nvPr/>
        </p:nvSpPr>
        <p:spPr>
          <a:xfrm>
            <a:off x="3465575" y="3108960"/>
            <a:ext cx="1024128" cy="3657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B96333"/>
                </a:solidFill>
                <a:latin typeface="Arial"/>
              </a:rPr>
              <a:t>Effect e</a:t>
            </a:r>
          </a:p>
        </p:txBody>
      </p:sp>
      <p:sp>
        <p:nvSpPr>
          <p:cNvPr id="26" name="body:25"/>
          <p:cNvSpPr txBox="1"/>
          <p:nvPr/>
        </p:nvSpPr>
        <p:spPr>
          <a:xfrm>
            <a:off x="3465575" y="3456432"/>
            <a:ext cx="1024128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637285"/>
                </a:solidFill>
                <a:latin typeface="Arial"/>
              </a:rPr>
              <a:t>journaled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62856" y="3445002"/>
            <a:ext cx="137160" cy="22860"/>
          </a:xfrm>
          <a:prstGeom prst="rect">
            <a:avLst/>
          </a:prstGeom>
          <a:solidFill>
            <a:srgbClr val="63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Isosceles Triangle 27"/>
          <p:cNvSpPr/>
          <p:nvPr/>
        </p:nvSpPr>
        <p:spPr>
          <a:xfrm rot="5400000">
            <a:off x="4636008" y="3392424"/>
            <a:ext cx="128016" cy="128016"/>
          </a:xfrm>
          <a:prstGeom prst="triangle">
            <a:avLst/>
          </a:prstGeom>
          <a:solidFill>
            <a:srgbClr val="63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18304" y="3063239"/>
            <a:ext cx="1115568" cy="786384"/>
          </a:xfrm>
          <a:prstGeom prst="roundRect">
            <a:avLst>
              <a:gd name="adj" fmla="val 5000"/>
            </a:avLst>
          </a:prstGeom>
          <a:solidFill>
            <a:srgbClr val="F6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dy:29"/>
          <p:cNvSpPr txBox="1"/>
          <p:nvPr/>
        </p:nvSpPr>
        <p:spPr>
          <a:xfrm>
            <a:off x="4764024" y="3108960"/>
            <a:ext cx="1024128" cy="3657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B65249"/>
                </a:solidFill>
                <a:latin typeface="Arial"/>
              </a:rPr>
              <a:t>Oracle</a:t>
            </a:r>
          </a:p>
        </p:txBody>
      </p:sp>
      <p:sp>
        <p:nvSpPr>
          <p:cNvPr id="31" name="body:30"/>
          <p:cNvSpPr txBox="1"/>
          <p:nvPr/>
        </p:nvSpPr>
        <p:spPr>
          <a:xfrm>
            <a:off x="4764024" y="3456432"/>
            <a:ext cx="1024128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637285"/>
                </a:solidFill>
                <a:latin typeface="Arial"/>
              </a:rPr>
              <a:t>V(e, c)</a:t>
            </a:r>
          </a:p>
        </p:txBody>
      </p:sp>
      <p:sp>
        <p:nvSpPr>
          <p:cNvPr id="32" name="body:31"/>
          <p:cNvSpPr txBox="1"/>
          <p:nvPr/>
        </p:nvSpPr>
        <p:spPr>
          <a:xfrm>
            <a:off x="822960" y="4023360"/>
            <a:ext cx="4919472" cy="91440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Effect oracle ≠ authorization oracle. The journal says what e touched; only c says whether e was allowed. The same action is legitimate or a violation depending only on c.</a:t>
            </a:r>
          </a:p>
        </p:txBody>
      </p:sp>
      <p:sp>
        <p:nvSpPr>
          <p:cNvPr id="33" name="formula:32"/>
          <p:cNvSpPr txBox="1"/>
          <p:nvPr/>
        </p:nvSpPr>
        <p:spPr>
          <a:xfrm>
            <a:off x="6400800" y="2971800"/>
            <a:ext cx="5010912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72D46"/>
                </a:solidFill>
                <a:latin typeface="Arial"/>
              </a:rPr>
              <a:t>V(e, c) = 1[ e not in A(c) ];  A(c) undefined when c is silent</a:t>
            </a:r>
          </a:p>
        </p:txBody>
      </p:sp>
      <p:sp>
        <p:nvSpPr>
          <p:cNvPr id="34" name="body:33"/>
          <p:cNvSpPr txBox="1"/>
          <p:nvPr/>
        </p:nvSpPr>
        <p:spPr>
          <a:xfrm>
            <a:off x="6400800" y="3584448"/>
            <a:ext cx="5010912" cy="1344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Incomplete contracting: who holds residual control in the uncovered state is the design variable (Hadfield-Menell &amp; Hadfield 2019).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CIRL: human and agent share a reward the agent does not know; the optimal agent elicits and defers rather than guesses (2016).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Off-switch game: deference has positive value exactly when the agent is uncertain about the objective (2017).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248656"/>
            <a:ext cx="11000232" cy="1024128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abel:35"/>
          <p:cNvSpPr txBox="1"/>
          <p:nvPr/>
        </p:nvSpPr>
        <p:spPr>
          <a:xfrm>
            <a:off x="777240" y="5303520"/>
            <a:ext cx="274320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7B77"/>
                </a:solidFill>
                <a:latin typeface="Arial"/>
              </a:rPr>
              <a:t>IN CONTAINMENT-EXTENSION</a:t>
            </a:r>
          </a:p>
        </p:txBody>
      </p:sp>
      <p:sp>
        <p:nvSpPr>
          <p:cNvPr id="37" name="body:36"/>
          <p:cNvSpPr txBox="1"/>
          <p:nvPr/>
        </p:nvSpPr>
        <p:spPr>
          <a:xfrm>
            <a:off x="777240" y="5541264"/>
            <a:ext cx="10652760" cy="6766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4364A"/>
                </a:solidFill>
                <a:latin typeface="Arial"/>
              </a:rPr>
              <a:t>Library records code the boundary crossed but not whether the grant was stated to the agent. Proposed E5 codebook field: explicit / implicit / unspecified / conflicting. The blurred recovery boundary is this slide's uncovered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05 / DECISION UNDER AMBIGUITY</a:t>
            </a:r>
          </a:p>
        </p:txBody>
      </p:sp>
      <p:sp>
        <p:nvSpPr>
          <p:cNvPr id="4" name="title:3"/>
          <p:cNvSpPr txBox="1"/>
          <p:nvPr/>
        </p:nvSpPr>
        <p:spPr>
          <a:xfrm>
            <a:off x="566928" y="768096"/>
            <a:ext cx="11045952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72D46"/>
                </a:solidFill>
                <a:latin typeface="Arial"/>
              </a:rPr>
              <a:t>What should a careful agent do when A(c) is unknown?</a:t>
            </a:r>
          </a:p>
        </p:txBody>
      </p:sp>
      <p:sp>
        <p:nvSpPr>
          <p:cNvPr id="5" name="subtitle:4"/>
          <p:cNvSpPr txBox="1"/>
          <p:nvPr/>
        </p:nvSpPr>
        <p:spPr>
          <a:xfrm>
            <a:off x="585216" y="1609344"/>
            <a:ext cx="10881360" cy="40233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37285"/>
                </a:solidFill>
                <a:latin typeface="Arial"/>
              </a:rPr>
              <a:t>Not risk, where probabilities are known, but ambiguity: a set of plausible grants with no prior over them.</a:t>
            </a:r>
          </a:p>
        </p:txBody>
      </p:sp>
      <p:sp>
        <p:nvSpPr>
          <p:cNvPr id="6" name="source:5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37285"/>
                </a:solidFill>
                <a:latin typeface="Arial"/>
              </a:rPr>
              <a:t>containment-extension  /  Decision theory primer  /  20 Oct 2026  /  Gilboa &amp; Schmeidler 1989; Savage 1951; Iyengar 2005; Turner, Hadfield-Menell &amp; Tadepalli 2020 (arXiv:1902.09725). Toy payoffs.</a:t>
            </a:r>
          </a:p>
        </p:txBody>
      </p:sp>
      <p:sp>
        <p:nvSpPr>
          <p:cNvPr id="7" name="source:6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:9"/>
          <p:cNvSpPr txBox="1"/>
          <p:nvPr/>
        </p:nvSpPr>
        <p:spPr>
          <a:xfrm>
            <a:off x="77724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PROBLEM</a:t>
            </a:r>
          </a:p>
        </p:txBody>
      </p:sp>
      <p:sp>
        <p:nvSpPr>
          <p:cNvPr id="11" name="body:10"/>
          <p:cNvSpPr txBox="1"/>
          <p:nvPr/>
        </p:nvSpPr>
        <p:spPr>
          <a:xfrm>
            <a:off x="77724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Two plausible grants, three actions, toy payoffs</a:t>
            </a:r>
          </a:p>
        </p:txBody>
      </p:sp>
      <p:sp>
        <p:nvSpPr>
          <p:cNvPr id="12" name="label:11"/>
          <p:cNvSpPr txBox="1"/>
          <p:nvPr/>
        </p:nvSpPr>
        <p:spPr>
          <a:xfrm>
            <a:off x="640080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TECHNIQUE</a:t>
            </a:r>
          </a:p>
        </p:txBody>
      </p:sp>
      <p:sp>
        <p:nvSpPr>
          <p:cNvPr id="13" name="body:12"/>
          <p:cNvSpPr txBox="1"/>
          <p:nvPr/>
        </p:nvSpPr>
        <p:spPr>
          <a:xfrm>
            <a:off x="640080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Rules that do not need a prior over grants</a:t>
            </a:r>
          </a:p>
        </p:txBody>
      </p:sp>
      <p:sp>
        <p:nvSpPr>
          <p:cNvPr id="14" name="body:13"/>
          <p:cNvSpPr txBox="1"/>
          <p:nvPr/>
        </p:nvSpPr>
        <p:spPr>
          <a:xfrm>
            <a:off x="822960" y="3017520"/>
            <a:ext cx="1143000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3F6795"/>
                </a:solidFill>
                <a:latin typeface="Arial"/>
              </a:rPr>
              <a:t>action</a:t>
            </a:r>
          </a:p>
        </p:txBody>
      </p:sp>
      <p:sp>
        <p:nvSpPr>
          <p:cNvPr id="15" name="body:14"/>
          <p:cNvSpPr txBox="1"/>
          <p:nvPr/>
        </p:nvSpPr>
        <p:spPr>
          <a:xfrm>
            <a:off x="1965960" y="3017520"/>
            <a:ext cx="1097280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3F6795"/>
                </a:solidFill>
                <a:latin typeface="Arial"/>
              </a:rPr>
              <a:t>c: allowed</a:t>
            </a:r>
          </a:p>
        </p:txBody>
      </p:sp>
      <p:sp>
        <p:nvSpPr>
          <p:cNvPr id="16" name="body:15"/>
          <p:cNvSpPr txBox="1"/>
          <p:nvPr/>
        </p:nvSpPr>
        <p:spPr>
          <a:xfrm>
            <a:off x="3063240" y="3017520"/>
            <a:ext cx="1097280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3F6795"/>
                </a:solidFill>
                <a:latin typeface="Arial"/>
              </a:rPr>
              <a:t>c: excluded</a:t>
            </a:r>
          </a:p>
        </p:txBody>
      </p:sp>
      <p:sp>
        <p:nvSpPr>
          <p:cNvPr id="17" name="body:16"/>
          <p:cNvSpPr txBox="1"/>
          <p:nvPr/>
        </p:nvSpPr>
        <p:spPr>
          <a:xfrm>
            <a:off x="4160520" y="3017520"/>
            <a:ext cx="777240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3F6795"/>
                </a:solidFill>
                <a:latin typeface="Arial"/>
              </a:rPr>
              <a:t>maxmin</a:t>
            </a:r>
          </a:p>
        </p:txBody>
      </p:sp>
      <p:sp>
        <p:nvSpPr>
          <p:cNvPr id="18" name="body:17"/>
          <p:cNvSpPr txBox="1"/>
          <p:nvPr/>
        </p:nvSpPr>
        <p:spPr>
          <a:xfrm>
            <a:off x="4937760" y="3017520"/>
            <a:ext cx="777240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3F6795"/>
                </a:solidFill>
                <a:latin typeface="Arial"/>
              </a:rPr>
              <a:t>regret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64991"/>
            <a:ext cx="5010912" cy="38404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:19"/>
          <p:cNvSpPr txBox="1"/>
          <p:nvPr/>
        </p:nvSpPr>
        <p:spPr>
          <a:xfrm>
            <a:off x="822960" y="3383279"/>
            <a:ext cx="11430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4364A"/>
                </a:solidFill>
                <a:latin typeface="Arial"/>
              </a:rPr>
              <a:t>read archive</a:t>
            </a:r>
          </a:p>
        </p:txBody>
      </p:sp>
      <p:sp>
        <p:nvSpPr>
          <p:cNvPr id="21" name="body:20"/>
          <p:cNvSpPr txBox="1"/>
          <p:nvPr/>
        </p:nvSpPr>
        <p:spPr>
          <a:xfrm>
            <a:off x="1965960" y="3383279"/>
            <a:ext cx="109728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+10</a:t>
            </a:r>
          </a:p>
        </p:txBody>
      </p:sp>
      <p:sp>
        <p:nvSpPr>
          <p:cNvPr id="22" name="body:21"/>
          <p:cNvSpPr txBox="1"/>
          <p:nvPr/>
        </p:nvSpPr>
        <p:spPr>
          <a:xfrm>
            <a:off x="3063240" y="3383279"/>
            <a:ext cx="109728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−20</a:t>
            </a:r>
          </a:p>
        </p:txBody>
      </p:sp>
      <p:sp>
        <p:nvSpPr>
          <p:cNvPr id="23" name="body:22"/>
          <p:cNvSpPr txBox="1"/>
          <p:nvPr/>
        </p:nvSpPr>
        <p:spPr>
          <a:xfrm>
            <a:off x="4160520" y="3383279"/>
            <a:ext cx="77724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−20</a:t>
            </a:r>
          </a:p>
        </p:txBody>
      </p:sp>
      <p:sp>
        <p:nvSpPr>
          <p:cNvPr id="24" name="body:23"/>
          <p:cNvSpPr txBox="1"/>
          <p:nvPr/>
        </p:nvSpPr>
        <p:spPr>
          <a:xfrm>
            <a:off x="4937760" y="3383279"/>
            <a:ext cx="77724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785615"/>
            <a:ext cx="501091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:25"/>
          <p:cNvSpPr txBox="1"/>
          <p:nvPr/>
        </p:nvSpPr>
        <p:spPr>
          <a:xfrm>
            <a:off x="822960" y="3803903"/>
            <a:ext cx="11430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4364A"/>
                </a:solidFill>
                <a:latin typeface="Arial"/>
              </a:rPr>
              <a:t>ask first</a:t>
            </a:r>
          </a:p>
        </p:txBody>
      </p:sp>
      <p:sp>
        <p:nvSpPr>
          <p:cNvPr id="27" name="body:26"/>
          <p:cNvSpPr txBox="1"/>
          <p:nvPr/>
        </p:nvSpPr>
        <p:spPr>
          <a:xfrm>
            <a:off x="1965960" y="3803903"/>
            <a:ext cx="109728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+7</a:t>
            </a:r>
          </a:p>
        </p:txBody>
      </p:sp>
      <p:sp>
        <p:nvSpPr>
          <p:cNvPr id="28" name="body:27"/>
          <p:cNvSpPr txBox="1"/>
          <p:nvPr/>
        </p:nvSpPr>
        <p:spPr>
          <a:xfrm>
            <a:off x="3063240" y="3803903"/>
            <a:ext cx="109728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+7</a:t>
            </a:r>
          </a:p>
        </p:txBody>
      </p:sp>
      <p:sp>
        <p:nvSpPr>
          <p:cNvPr id="29" name="body:28"/>
          <p:cNvSpPr txBox="1"/>
          <p:nvPr/>
        </p:nvSpPr>
        <p:spPr>
          <a:xfrm>
            <a:off x="4160520" y="3803903"/>
            <a:ext cx="77724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247B77"/>
                </a:solidFill>
                <a:latin typeface="Arial"/>
              </a:rPr>
              <a:t>+7</a:t>
            </a:r>
          </a:p>
        </p:txBody>
      </p:sp>
      <p:sp>
        <p:nvSpPr>
          <p:cNvPr id="30" name="body:29"/>
          <p:cNvSpPr txBox="1"/>
          <p:nvPr/>
        </p:nvSpPr>
        <p:spPr>
          <a:xfrm>
            <a:off x="4937760" y="3803903"/>
            <a:ext cx="77724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247B77"/>
                </a:solidFill>
                <a:latin typeface="Arial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206240"/>
            <a:ext cx="5010912" cy="384048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dy:31"/>
          <p:cNvSpPr txBox="1"/>
          <p:nvPr/>
        </p:nvSpPr>
        <p:spPr>
          <a:xfrm>
            <a:off x="822960" y="4224527"/>
            <a:ext cx="114300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4364A"/>
                </a:solidFill>
                <a:latin typeface="Arial"/>
              </a:rPr>
              <a:t>stop, report</a:t>
            </a:r>
          </a:p>
        </p:txBody>
      </p:sp>
      <p:sp>
        <p:nvSpPr>
          <p:cNvPr id="33" name="body:32"/>
          <p:cNvSpPr txBox="1"/>
          <p:nvPr/>
        </p:nvSpPr>
        <p:spPr>
          <a:xfrm>
            <a:off x="1965960" y="4224527"/>
            <a:ext cx="109728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+2</a:t>
            </a:r>
          </a:p>
        </p:txBody>
      </p:sp>
      <p:sp>
        <p:nvSpPr>
          <p:cNvPr id="34" name="body:33"/>
          <p:cNvSpPr txBox="1"/>
          <p:nvPr/>
        </p:nvSpPr>
        <p:spPr>
          <a:xfrm>
            <a:off x="3063240" y="4224527"/>
            <a:ext cx="109728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+2</a:t>
            </a:r>
          </a:p>
        </p:txBody>
      </p:sp>
      <p:sp>
        <p:nvSpPr>
          <p:cNvPr id="35" name="body:34"/>
          <p:cNvSpPr txBox="1"/>
          <p:nvPr/>
        </p:nvSpPr>
        <p:spPr>
          <a:xfrm>
            <a:off x="4160520" y="4224527"/>
            <a:ext cx="77724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+2</a:t>
            </a:r>
          </a:p>
        </p:txBody>
      </p:sp>
      <p:sp>
        <p:nvSpPr>
          <p:cNvPr id="36" name="body:35"/>
          <p:cNvSpPr txBox="1"/>
          <p:nvPr/>
        </p:nvSpPr>
        <p:spPr>
          <a:xfrm>
            <a:off x="4937760" y="4224527"/>
            <a:ext cx="777240" cy="34747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24364A"/>
                </a:solidFill>
                <a:latin typeface="Arial"/>
              </a:rPr>
              <a:t>8</a:t>
            </a:r>
          </a:p>
        </p:txBody>
      </p:sp>
      <p:sp>
        <p:nvSpPr>
          <p:cNvPr id="37" name="body:36"/>
          <p:cNvSpPr txBox="1"/>
          <p:nvPr/>
        </p:nvSpPr>
        <p:spPr>
          <a:xfrm>
            <a:off x="777240" y="4663440"/>
            <a:ext cx="5010912" cy="3657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7285"/>
                </a:solidFill>
                <a:latin typeface="Arial"/>
              </a:rPr>
              <a:t>Regret of a = best payoff in that column − payoff of a. Both rules pick ask; a prior p would pick read for large p.</a:t>
            </a:r>
          </a:p>
        </p:txBody>
      </p:sp>
      <p:sp>
        <p:nvSpPr>
          <p:cNvPr id="38" name="formula:37"/>
          <p:cNvSpPr txBox="1"/>
          <p:nvPr/>
        </p:nvSpPr>
        <p:spPr>
          <a:xfrm>
            <a:off x="6400800" y="2971800"/>
            <a:ext cx="5010912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172D46"/>
                </a:solidFill>
                <a:latin typeface="Arial"/>
              </a:rPr>
              <a:t>maxmin:  max a  min c  E c [ u(a) ]</a:t>
            </a:r>
          </a:p>
          <a:p>
            <a:pPr algn="l">
              <a:lnSpc>
                <a:spcPct val="108000"/>
              </a:lnSpc>
            </a:pPr>
            <a:r>
              <a:rPr sz="1450" b="1">
                <a:solidFill>
                  <a:srgbClr val="172D46"/>
                </a:solidFill>
                <a:latin typeface="Arial"/>
              </a:rPr>
              <a:t>regret:  min a  max c  [ u*(c) − u(a, c) ]</a:t>
            </a:r>
          </a:p>
        </p:txBody>
      </p:sp>
      <p:sp>
        <p:nvSpPr>
          <p:cNvPr id="39" name="body:38"/>
          <p:cNvSpPr txBox="1"/>
          <p:nvPr/>
        </p:nvSpPr>
        <p:spPr>
          <a:xfrm>
            <a:off x="6400800" y="3584448"/>
            <a:ext cx="5010912" cy="1344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Maxmin expected utility (Gilboa &amp; Schmeidler 1989); minimax regret (Savage 1951); robust MDPs over an uncertainty set (Iyengar 2005).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Impact regularisers such as attainable-utility preservation penalise irreversible, option-destroying moves (Turner et al. 2020).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Prediction: ambiguity-averse agents prefer reversible actions and questions. Over-conservatism is the price, so measure 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248656"/>
            <a:ext cx="11000232" cy="1024128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abel:40"/>
          <p:cNvSpPr txBox="1"/>
          <p:nvPr/>
        </p:nvSpPr>
        <p:spPr>
          <a:xfrm>
            <a:off x="777240" y="5303520"/>
            <a:ext cx="274320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7B77"/>
                </a:solidFill>
                <a:latin typeface="Arial"/>
              </a:rPr>
              <a:t>IN CONTAINMENT-EXTENSION</a:t>
            </a:r>
          </a:p>
        </p:txBody>
      </p:sp>
      <p:sp>
        <p:nvSpPr>
          <p:cNvPr id="42" name="body:41"/>
          <p:cNvSpPr txBox="1"/>
          <p:nvPr/>
        </p:nvSpPr>
        <p:spPr>
          <a:xfrm>
            <a:off x="777240" y="5541264"/>
            <a:ext cx="10652760" cy="6766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4364A"/>
                </a:solidFill>
                <a:latin typeface="Arial"/>
              </a:rPr>
              <a:t>X1b adds unspecified and conflicting grant columns (64 runs). Over-conservatism is read on the authorized-feasible cells, where a blocker is a cost rather than caution; access rate plus response mix replaces a violation rate under silence.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06 / SEQUENTIAL MONITORING</a:t>
            </a:r>
          </a:p>
        </p:txBody>
      </p:sp>
      <p:sp>
        <p:nvSpPr>
          <p:cNvPr id="4" name="title:3"/>
          <p:cNvSpPr txBox="1"/>
          <p:nvPr/>
        </p:nvSpPr>
        <p:spPr>
          <a:xfrm>
            <a:off x="566928" y="768096"/>
            <a:ext cx="11045952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72D46"/>
                </a:solidFill>
                <a:latin typeface="Arial"/>
              </a:rPr>
              <a:t>An approver decides stop or continue, one action at a time.</a:t>
            </a:r>
          </a:p>
        </p:txBody>
      </p:sp>
      <p:sp>
        <p:nvSpPr>
          <p:cNvPr id="5" name="subtitle:4"/>
          <p:cNvSpPr txBox="1"/>
          <p:nvPr/>
        </p:nvSpPr>
        <p:spPr>
          <a:xfrm>
            <a:off x="585216" y="1609344"/>
            <a:ext cx="10881360" cy="40233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37285"/>
                </a:solidFill>
                <a:latin typeface="Arial"/>
              </a:rPr>
              <a:t>Evidence arrives as a stream, and the harm it points to is observed late, partially, or never.</a:t>
            </a:r>
          </a:p>
        </p:txBody>
      </p:sp>
      <p:sp>
        <p:nvSpPr>
          <p:cNvPr id="6" name="source:5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37285"/>
                </a:solidFill>
                <a:latin typeface="Arial"/>
              </a:rPr>
              <a:t>containment-extension  /  Decision theory primer  /  20 Oct 2026  /  Wald 1945; Page 1954; monitor objective and latency figures from docs/incident-aware-optimization.md and incident-library-analysis.md</a:t>
            </a:r>
          </a:p>
        </p:txBody>
      </p:sp>
      <p:sp>
        <p:nvSpPr>
          <p:cNvPr id="7" name="source:6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:9"/>
          <p:cNvSpPr txBox="1"/>
          <p:nvPr/>
        </p:nvSpPr>
        <p:spPr>
          <a:xfrm>
            <a:off x="77724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PROBLEM</a:t>
            </a:r>
          </a:p>
        </p:txBody>
      </p:sp>
      <p:sp>
        <p:nvSpPr>
          <p:cNvPr id="11" name="body:10"/>
          <p:cNvSpPr txBox="1"/>
          <p:nvPr/>
        </p:nvSpPr>
        <p:spPr>
          <a:xfrm>
            <a:off x="77724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A log-likelihood walk between two boundaries</a:t>
            </a:r>
          </a:p>
        </p:txBody>
      </p:sp>
      <p:sp>
        <p:nvSpPr>
          <p:cNvPr id="12" name="label:11"/>
          <p:cNvSpPr txBox="1"/>
          <p:nvPr/>
        </p:nvSpPr>
        <p:spPr>
          <a:xfrm>
            <a:off x="640080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TECHNIQUE</a:t>
            </a:r>
          </a:p>
        </p:txBody>
      </p:sp>
      <p:sp>
        <p:nvSpPr>
          <p:cNvPr id="13" name="body:12"/>
          <p:cNvSpPr txBox="1"/>
          <p:nvPr/>
        </p:nvSpPr>
        <p:spPr>
          <a:xfrm>
            <a:off x="640080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Sequential tests with asymmetric costs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43249"/>
            <a:ext cx="3291839" cy="22860"/>
          </a:xfrm>
          <a:prstGeom prst="rect">
            <a:avLst/>
          </a:prstGeom>
          <a:solidFill>
            <a:srgbClr val="B65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240529"/>
            <a:ext cx="3291839" cy="22860"/>
          </a:xfrm>
          <a:prstGeom prst="rect">
            <a:avLst/>
          </a:prstGeom>
          <a:solidFill>
            <a:srgbClr val="247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696461"/>
            <a:ext cx="3291839" cy="13716"/>
          </a:xfrm>
          <a:prstGeom prst="rect">
            <a:avLst/>
          </a:prstGeom>
          <a:solidFill>
            <a:srgbClr val="D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:16"/>
          <p:cNvSpPr txBox="1"/>
          <p:nvPr/>
        </p:nvSpPr>
        <p:spPr>
          <a:xfrm>
            <a:off x="4251959" y="3035808"/>
            <a:ext cx="1280160" cy="23774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B65249"/>
                </a:solidFill>
                <a:latin typeface="Arial"/>
              </a:rPr>
              <a:t>log B: stop</a:t>
            </a:r>
          </a:p>
        </p:txBody>
      </p:sp>
      <p:sp>
        <p:nvSpPr>
          <p:cNvPr id="18" name="body:17"/>
          <p:cNvSpPr txBox="1"/>
          <p:nvPr/>
        </p:nvSpPr>
        <p:spPr>
          <a:xfrm>
            <a:off x="4251959" y="4133087"/>
            <a:ext cx="1280160" cy="23774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7B77"/>
                </a:solidFill>
                <a:latin typeface="Arial"/>
              </a:rPr>
              <a:t>log A: clear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657600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97864" y="3547872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27048" y="3726180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56232" y="3616452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85416" y="3465576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14600" y="3383280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43784" y="3424428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72968" y="3273552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02152" y="3204972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31336" y="3081528"/>
            <a:ext cx="91440" cy="91440"/>
          </a:xfrm>
          <a:prstGeom prst="ellipse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3694176"/>
            <a:ext cx="329184" cy="1828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34440" y="3593591"/>
            <a:ext cx="18288" cy="10972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43584" y="3584448"/>
            <a:ext cx="329184" cy="1828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63624" y="3593591"/>
            <a:ext cx="18288" cy="17830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72768" y="3762756"/>
            <a:ext cx="329183" cy="1828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92808" y="3662172"/>
            <a:ext cx="18288" cy="10972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1952" y="3653028"/>
            <a:ext cx="329184" cy="1828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21992" y="3511296"/>
            <a:ext cx="18288" cy="150876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31136" y="3502152"/>
            <a:ext cx="329183" cy="1828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51176" y="3429000"/>
            <a:ext cx="18288" cy="82295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0" y="3419856"/>
            <a:ext cx="329184" cy="1828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80360" y="3429000"/>
            <a:ext cx="18288" cy="41147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89504" y="3461004"/>
            <a:ext cx="329183" cy="1828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9544" y="3319272"/>
            <a:ext cx="18288" cy="150876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18688" y="3310128"/>
            <a:ext cx="329184" cy="1828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38728" y="3250691"/>
            <a:ext cx="18288" cy="68580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47872" y="3241548"/>
            <a:ext cx="329183" cy="18288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67912" y="3127248"/>
            <a:ext cx="18288" cy="123443"/>
          </a:xfrm>
          <a:prstGeom prst="rect">
            <a:avLst/>
          </a:prstGeom>
          <a:solidFill>
            <a:srgbClr val="3F6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ody:46"/>
          <p:cNvSpPr txBox="1"/>
          <p:nvPr/>
        </p:nvSpPr>
        <p:spPr>
          <a:xfrm>
            <a:off x="914400" y="4407407"/>
            <a:ext cx="3291840" cy="23774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637285"/>
                </a:solidFill>
                <a:latin typeface="Arial"/>
              </a:rPr>
              <a:t>actions observed →</a:t>
            </a:r>
          </a:p>
        </p:txBody>
      </p:sp>
      <p:sp>
        <p:nvSpPr>
          <p:cNvPr id="48" name="body:47"/>
          <p:cNvSpPr txBox="1"/>
          <p:nvPr/>
        </p:nvSpPr>
        <p:spPr>
          <a:xfrm>
            <a:off x="777240" y="4663440"/>
            <a:ext cx="5010912" cy="3657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37285"/>
                </a:solidFill>
                <a:latin typeface="Arial"/>
              </a:rPr>
              <a:t>Public library, n = 26: 10 found only in retrospect; detection median 13.5 days (n = 12); disclosure median 119 days (n = 21).</a:t>
            </a:r>
          </a:p>
        </p:txBody>
      </p:sp>
      <p:sp>
        <p:nvSpPr>
          <p:cNvPr id="49" name="formula:48"/>
          <p:cNvSpPr txBox="1"/>
          <p:nvPr/>
        </p:nvSpPr>
        <p:spPr>
          <a:xfrm>
            <a:off x="6400800" y="2971800"/>
            <a:ext cx="5010912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172D46"/>
                </a:solidFill>
                <a:latin typeface="Arial"/>
              </a:rPr>
              <a:t>SPRT: continue while A &lt; Λn &lt; B;  Λn = ∏ p1(oi) / p0(oi)</a:t>
            </a:r>
          </a:p>
        </p:txBody>
      </p:sp>
      <p:sp>
        <p:nvSpPr>
          <p:cNvPr id="50" name="body:49"/>
          <p:cNvSpPr txBox="1"/>
          <p:nvPr/>
        </p:nvSpPr>
        <p:spPr>
          <a:xfrm>
            <a:off x="6400800" y="3584448"/>
            <a:ext cx="5010912" cy="1344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Wald 1945: A and B follow from the costs of a false stop and a missed violation; CUSUM (Page 1954) for a change in behaviour.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Project monitor objective: max TPR s.t. FPR ≤ α and monitor cost ≤ B_monitor, thresholds from benign calibration only.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24364A"/>
                </a:solidFill>
                <a:latin typeface="Arial"/>
              </a:rPr>
              <a:t>•  Labels are delayed and right-censored, so the observer's evidence lags the action; detection is not prevention.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5248656"/>
            <a:ext cx="11000232" cy="1024128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abel:51"/>
          <p:cNvSpPr txBox="1"/>
          <p:nvPr/>
        </p:nvSpPr>
        <p:spPr>
          <a:xfrm>
            <a:off x="777240" y="5303520"/>
            <a:ext cx="274320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7B77"/>
                </a:solidFill>
                <a:latin typeface="Arial"/>
              </a:rPr>
              <a:t>IN CONTAINMENT-EXTENSION</a:t>
            </a:r>
          </a:p>
        </p:txBody>
      </p:sp>
      <p:sp>
        <p:nvSpPr>
          <p:cNvPr id="53" name="body:52"/>
          <p:cNvSpPr txBox="1"/>
          <p:nvPr/>
        </p:nvSpPr>
        <p:spPr>
          <a:xfrm>
            <a:off x="777240" y="5541264"/>
            <a:ext cx="10652760" cy="6766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4364A"/>
                </a:solidFill>
                <a:latin typeface="Arial"/>
              </a:rPr>
              <a:t>The action monitor runs as an Inspect approver and the effect journal supplies e per step. Arm B1 versus B0 measures what observation adds on its own, with no claimed prevention effect.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07 / RELEASE GATING AS A STATISTICAL DECISION</a:t>
            </a:r>
          </a:p>
        </p:txBody>
      </p:sp>
      <p:sp>
        <p:nvSpPr>
          <p:cNvPr id="4" name="title:3"/>
          <p:cNvSpPr txBox="1"/>
          <p:nvPr/>
        </p:nvSpPr>
        <p:spPr>
          <a:xfrm>
            <a:off x="566928" y="768096"/>
            <a:ext cx="11045952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72D46"/>
                </a:solidFill>
                <a:latin typeface="Arial"/>
              </a:rPr>
              <a:t>Release the new policy, or hold it?</a:t>
            </a:r>
          </a:p>
        </p:txBody>
      </p:sp>
      <p:sp>
        <p:nvSpPr>
          <p:cNvPr id="5" name="subtitle:4"/>
          <p:cNvSpPr txBox="1"/>
          <p:nvPr/>
        </p:nvSpPr>
        <p:spPr>
          <a:xfrm>
            <a:off x="585216" y="1609344"/>
            <a:ext cx="10881360" cy="40233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37285"/>
                </a:solidFill>
                <a:latin typeface="Arial"/>
              </a:rPr>
              <a:t>A gate is a two-action decision with asymmetric losses and a noisy, paired estimate of the difference.</a:t>
            </a:r>
          </a:p>
        </p:txBody>
      </p:sp>
      <p:sp>
        <p:nvSpPr>
          <p:cNvPr id="6" name="source:5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37285"/>
                </a:solidFill>
                <a:latin typeface="Arial"/>
              </a:rPr>
              <a:t>containment-extension  /  Decision theory primer  /  20 Oct 2026  /  Bayes decision rule; McNemar exact test on paired twins; Smith &amp; Winkler 2006 (The Optimizer's Curse)</a:t>
            </a:r>
          </a:p>
        </p:txBody>
      </p:sp>
      <p:sp>
        <p:nvSpPr>
          <p:cNvPr id="7" name="source:6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76672" cy="2944368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el:9"/>
          <p:cNvSpPr txBox="1"/>
          <p:nvPr/>
        </p:nvSpPr>
        <p:spPr>
          <a:xfrm>
            <a:off x="77724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PROBLEM</a:t>
            </a:r>
          </a:p>
        </p:txBody>
      </p:sp>
      <p:sp>
        <p:nvSpPr>
          <p:cNvPr id="11" name="body:10"/>
          <p:cNvSpPr txBox="1"/>
          <p:nvPr/>
        </p:nvSpPr>
        <p:spPr>
          <a:xfrm>
            <a:off x="77724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Loss matrix and the paired counts that inform it</a:t>
            </a:r>
          </a:p>
        </p:txBody>
      </p:sp>
      <p:sp>
        <p:nvSpPr>
          <p:cNvPr id="12" name="label:11"/>
          <p:cNvSpPr txBox="1"/>
          <p:nvPr/>
        </p:nvSpPr>
        <p:spPr>
          <a:xfrm>
            <a:off x="6400800" y="2212848"/>
            <a:ext cx="5010912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THE TECHNIQUE</a:t>
            </a:r>
          </a:p>
        </p:txBody>
      </p:sp>
      <p:sp>
        <p:nvSpPr>
          <p:cNvPr id="13" name="body:12"/>
          <p:cNvSpPr txBox="1"/>
          <p:nvPr/>
        </p:nvSpPr>
        <p:spPr>
          <a:xfrm>
            <a:off x="6400800" y="24688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D46"/>
                </a:solidFill>
                <a:latin typeface="Arial"/>
              </a:rPr>
              <a:t>Decide by expected loss, then guard the estimate</a:t>
            </a:r>
          </a:p>
        </p:txBody>
      </p:sp>
      <p:sp>
        <p:nvSpPr>
          <p:cNvPr id="14" name="body:13"/>
          <p:cNvSpPr txBox="1"/>
          <p:nvPr/>
        </p:nvSpPr>
        <p:spPr>
          <a:xfrm>
            <a:off x="2057400" y="3017520"/>
            <a:ext cx="109728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637285"/>
                </a:solidFill>
                <a:latin typeface="Arial"/>
              </a:rPr>
              <a:t>safe</a:t>
            </a:r>
          </a:p>
        </p:txBody>
      </p:sp>
      <p:sp>
        <p:nvSpPr>
          <p:cNvPr id="15" name="body:14"/>
          <p:cNvSpPr txBox="1"/>
          <p:nvPr/>
        </p:nvSpPr>
        <p:spPr>
          <a:xfrm>
            <a:off x="3200400" y="3017520"/>
            <a:ext cx="109728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637285"/>
                </a:solidFill>
                <a:latin typeface="Arial"/>
              </a:rPr>
              <a:t>unsafe</a:t>
            </a:r>
          </a:p>
        </p:txBody>
      </p:sp>
      <p:sp>
        <p:nvSpPr>
          <p:cNvPr id="16" name="body:15"/>
          <p:cNvSpPr txBox="1"/>
          <p:nvPr/>
        </p:nvSpPr>
        <p:spPr>
          <a:xfrm>
            <a:off x="868680" y="3337560"/>
            <a:ext cx="1097280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72D46"/>
                </a:solidFill>
                <a:latin typeface="Arial"/>
              </a:rPr>
              <a:t>release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3337560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17"/>
          <p:cNvSpPr txBox="1"/>
          <p:nvPr/>
        </p:nvSpPr>
        <p:spPr>
          <a:xfrm>
            <a:off x="2057400" y="3337560"/>
            <a:ext cx="1097280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4364A"/>
                </a:solidFill>
                <a:latin typeface="Arial"/>
              </a:rP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337560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F6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:19"/>
          <p:cNvSpPr txBox="1"/>
          <p:nvPr/>
        </p:nvSpPr>
        <p:spPr>
          <a:xfrm>
            <a:off x="3200400" y="3337560"/>
            <a:ext cx="1097280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4364A"/>
                </a:solidFill>
                <a:latin typeface="Arial"/>
              </a:rPr>
              <a:t>L_miss</a:t>
            </a:r>
          </a:p>
        </p:txBody>
      </p:sp>
      <p:sp>
        <p:nvSpPr>
          <p:cNvPr id="21" name="body:20"/>
          <p:cNvSpPr txBox="1"/>
          <p:nvPr/>
        </p:nvSpPr>
        <p:spPr>
          <a:xfrm>
            <a:off x="868680" y="3904487"/>
            <a:ext cx="1097280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72D46"/>
                </a:solidFill>
                <a:latin typeface="Arial"/>
              </a:rPr>
              <a:t>hold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3904487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F7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dy:22"/>
          <p:cNvSpPr txBox="1"/>
          <p:nvPr/>
        </p:nvSpPr>
        <p:spPr>
          <a:xfrm>
            <a:off x="2057400" y="3904487"/>
            <a:ext cx="1097280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4364A"/>
                </a:solidFill>
                <a:latin typeface="Arial"/>
              </a:rPr>
              <a:t>L_hold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904487"/>
            <a:ext cx="1097280" cy="502920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ody:24"/>
          <p:cNvSpPr txBox="1"/>
          <p:nvPr/>
        </p:nvSpPr>
        <p:spPr>
          <a:xfrm>
            <a:off x="3200400" y="3904487"/>
            <a:ext cx="1097280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4364A"/>
                </a:solidFill>
                <a:latin typeface="Arial"/>
              </a:rPr>
              <a:t>0</a:t>
            </a:r>
          </a:p>
        </p:txBody>
      </p:sp>
      <p:sp>
        <p:nvSpPr>
          <p:cNvPr id="26" name="body:25"/>
          <p:cNvSpPr txBox="1"/>
          <p:nvPr/>
        </p:nvSpPr>
        <p:spPr>
          <a:xfrm>
            <a:off x="4526280" y="3337560"/>
            <a:ext cx="1463040" cy="1097280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37285"/>
                </a:solidFill>
                <a:latin typeface="Arial"/>
              </a:rPr>
              <a:t>Paired twins: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37285"/>
                </a:solidFill>
                <a:latin typeface="Arial"/>
              </a:rPr>
              <a:t>b = old fails, new passes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637285"/>
                </a:solidFill>
                <a:latin typeface="Arial"/>
              </a:rPr>
              <a:t>c = old passes, new fails</a:t>
            </a:r>
          </a:p>
        </p:txBody>
      </p:sp>
      <p:sp>
        <p:nvSpPr>
          <p:cNvPr id="27" name="body:26"/>
          <p:cNvSpPr txBox="1"/>
          <p:nvPr/>
        </p:nvSpPr>
        <p:spPr>
          <a:xfrm>
            <a:off x="777240" y="4526279"/>
            <a:ext cx="5010912" cy="5029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37285"/>
                </a:solidFill>
                <a:latin typeface="Arial"/>
              </a:rPr>
              <a:t>Only discordant pairs carry information about the difference; the exact McNemar test uses b and c alone.</a:t>
            </a:r>
          </a:p>
        </p:txBody>
      </p:sp>
      <p:sp>
        <p:nvSpPr>
          <p:cNvPr id="28" name="formula:27"/>
          <p:cNvSpPr txBox="1"/>
          <p:nvPr/>
        </p:nvSpPr>
        <p:spPr>
          <a:xfrm>
            <a:off x="6400800" y="2971800"/>
            <a:ext cx="5010912" cy="56692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172D46"/>
                </a:solidFill>
                <a:latin typeface="Arial"/>
              </a:rPr>
              <a:t>release  iff  P(unsafe | data)·L_miss  &lt;  P(safe | data)·L_hold</a:t>
            </a:r>
          </a:p>
        </p:txBody>
      </p:sp>
      <p:sp>
        <p:nvSpPr>
          <p:cNvPr id="29" name="body:28"/>
          <p:cNvSpPr txBox="1"/>
          <p:nvPr/>
        </p:nvSpPr>
        <p:spPr>
          <a:xfrm>
            <a:off x="6400800" y="3584448"/>
            <a:ext cx="5010912" cy="134416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Frequentist twin: exact McNemar on discordant pairs with power fixed before the run; the paper deck carries the power table.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Optimizer's curse: the best-looking candidate among many is biased upward; shrink or confirm on held-out twins (Smith &amp; Winkler 2006).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24364A"/>
                </a:solidFill>
                <a:latin typeface="Arial"/>
              </a:rPr>
              <a:t>•  Group-sequential or always-valid tests let the gate stop early without inflating the error rates.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248656"/>
            <a:ext cx="11000232" cy="1024128"/>
          </a:xfrm>
          <a:prstGeom prst="roundRect">
            <a:avLst>
              <a:gd name="adj" fmla="val 5000"/>
            </a:avLst>
          </a:prstGeom>
          <a:solidFill>
            <a:srgbClr val="E7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abel:30"/>
          <p:cNvSpPr txBox="1"/>
          <p:nvPr/>
        </p:nvSpPr>
        <p:spPr>
          <a:xfrm>
            <a:off x="777240" y="5303520"/>
            <a:ext cx="274320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47B77"/>
                </a:solidFill>
                <a:latin typeface="Arial"/>
              </a:rPr>
              <a:t>IN CONTAINMENT-EXTENSION</a:t>
            </a:r>
          </a:p>
        </p:txBody>
      </p:sp>
      <p:sp>
        <p:nvSpPr>
          <p:cNvPr id="32" name="body:31"/>
          <p:cNvSpPr txBox="1"/>
          <p:nvPr/>
        </p:nvSpPr>
        <p:spPr>
          <a:xfrm>
            <a:off x="777240" y="5541264"/>
            <a:ext cx="10652760" cy="676656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4364A"/>
                </a:solidFill>
                <a:latin typeface="Arial"/>
              </a:rPr>
              <a:t>Regression gate plus hidden-effect twins. Every twin carries an explicit grant, so the gate tests constraint compliance; an effect journal alone cannot label an environment whose grant is silent.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:2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SUMMARY</a:t>
            </a:r>
          </a:p>
        </p:txBody>
      </p:sp>
      <p:sp>
        <p:nvSpPr>
          <p:cNvPr id="4" name="title:3"/>
          <p:cNvSpPr txBox="1"/>
          <p:nvPr/>
        </p:nvSpPr>
        <p:spPr>
          <a:xfrm>
            <a:off x="566928" y="768096"/>
            <a:ext cx="11045952" cy="82296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72D46"/>
                </a:solidFill>
                <a:latin typeface="Arial"/>
              </a:rPr>
              <a:t>Where each problem lives in containment-extension.</a:t>
            </a:r>
          </a:p>
        </p:txBody>
      </p:sp>
      <p:sp>
        <p:nvSpPr>
          <p:cNvPr id="5" name="subtitle:4"/>
          <p:cNvSpPr txBox="1"/>
          <p:nvPr/>
        </p:nvSpPr>
        <p:spPr>
          <a:xfrm>
            <a:off x="585216" y="1609344"/>
            <a:ext cx="10881360" cy="40233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37285"/>
                </a:solidFill>
                <a:latin typeface="Arial"/>
              </a:rPr>
              <a:t>One row per problem: the technique it brings and the project hook that uses it.</a:t>
            </a:r>
          </a:p>
        </p:txBody>
      </p:sp>
      <p:sp>
        <p:nvSpPr>
          <p:cNvPr id="6" name="source:5"/>
          <p:cNvSpPr txBox="1"/>
          <p:nvPr/>
        </p:nvSpPr>
        <p:spPr>
          <a:xfrm>
            <a:off x="566928" y="6455664"/>
            <a:ext cx="10607040" cy="21031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37285"/>
                </a:solidFill>
                <a:latin typeface="Arial"/>
              </a:rPr>
              <a:t>containment-extension  /  Decision theory primer  /  20 Oct 2026  /  Reading path linked below; the companion discussion deck (decision-theory.pptx) asks the open questions.</a:t>
            </a:r>
          </a:p>
        </p:txBody>
      </p:sp>
      <p:sp>
        <p:nvSpPr>
          <p:cNvPr id="7" name="source:6"/>
          <p:cNvSpPr txBox="1"/>
          <p:nvPr/>
        </p:nvSpPr>
        <p:spPr>
          <a:xfrm>
            <a:off x="11000232" y="6419088"/>
            <a:ext cx="621792" cy="26517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10 / 10</a:t>
            </a:r>
          </a:p>
        </p:txBody>
      </p:sp>
      <p:sp>
        <p:nvSpPr>
          <p:cNvPr id="8" name="body:7"/>
          <p:cNvSpPr txBox="1"/>
          <p:nvPr/>
        </p:nvSpPr>
        <p:spPr>
          <a:xfrm>
            <a:off x="676656" y="2057400"/>
            <a:ext cx="2231136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PROBLEM</a:t>
            </a:r>
          </a:p>
        </p:txBody>
      </p:sp>
      <p:sp>
        <p:nvSpPr>
          <p:cNvPr id="9" name="body:8"/>
          <p:cNvSpPr txBox="1"/>
          <p:nvPr/>
        </p:nvSpPr>
        <p:spPr>
          <a:xfrm>
            <a:off x="3090672" y="2057400"/>
            <a:ext cx="4059935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TECHNIQUE</a:t>
            </a:r>
          </a:p>
        </p:txBody>
      </p:sp>
      <p:sp>
        <p:nvSpPr>
          <p:cNvPr id="10" name="body:9"/>
          <p:cNvSpPr txBox="1"/>
          <p:nvPr/>
        </p:nvSpPr>
        <p:spPr>
          <a:xfrm>
            <a:off x="7342631" y="2057400"/>
            <a:ext cx="4169663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3F6795"/>
                </a:solidFill>
                <a:latin typeface="Arial"/>
              </a:rPr>
              <a:t>PROJECT HOOK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2359152"/>
            <a:ext cx="1097280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:11"/>
          <p:cNvSpPr txBox="1"/>
          <p:nvPr/>
        </p:nvSpPr>
        <p:spPr>
          <a:xfrm>
            <a:off x="676656" y="2377440"/>
            <a:ext cx="2231136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D46"/>
                </a:solidFill>
                <a:latin typeface="Arial"/>
              </a:rPr>
              <a:t>Formulation</a:t>
            </a:r>
          </a:p>
        </p:txBody>
      </p:sp>
      <p:sp>
        <p:nvSpPr>
          <p:cNvPr id="13" name="body:12"/>
          <p:cNvSpPr txBox="1"/>
          <p:nvPr/>
        </p:nvSpPr>
        <p:spPr>
          <a:xfrm>
            <a:off x="3090672" y="2377440"/>
            <a:ext cx="4059935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belief-state DP with an effect constraint</a:t>
            </a:r>
          </a:p>
        </p:txBody>
      </p:sp>
      <p:sp>
        <p:nvSpPr>
          <p:cNvPr id="14" name="body:13"/>
          <p:cNvSpPr txBox="1"/>
          <p:nvPr/>
        </p:nvSpPr>
        <p:spPr>
          <a:xfrm>
            <a:off x="7342631" y="2377440"/>
            <a:ext cx="4169663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b from recovery; A(c) from grant; min R s.t. U, C, 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2743200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:15"/>
          <p:cNvSpPr txBox="1"/>
          <p:nvPr/>
        </p:nvSpPr>
        <p:spPr>
          <a:xfrm>
            <a:off x="676656" y="2761488"/>
            <a:ext cx="2231136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D46"/>
                </a:solidFill>
                <a:latin typeface="Arial"/>
              </a:rPr>
              <a:t>Optimal stopping</a:t>
            </a:r>
          </a:p>
        </p:txBody>
      </p:sp>
      <p:sp>
        <p:nvSpPr>
          <p:cNvPr id="17" name="body:16"/>
          <p:cNvSpPr txBox="1"/>
          <p:nvPr/>
        </p:nvSpPr>
        <p:spPr>
          <a:xfrm>
            <a:off x="3090672" y="2761488"/>
            <a:ext cx="4059935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threshold q(R−B) &gt; c; Gittins index</a:t>
            </a:r>
          </a:p>
        </p:txBody>
      </p:sp>
      <p:sp>
        <p:nvSpPr>
          <p:cNvPr id="18" name="body:17"/>
          <p:cNvSpPr txBox="1"/>
          <p:nvPr/>
        </p:nvSpPr>
        <p:spPr>
          <a:xfrm>
            <a:off x="7342631" y="2761488"/>
            <a:ext cx="4169663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substitution family; premature stops vs wasted attempts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3127248"/>
            <a:ext cx="1097280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:19"/>
          <p:cNvSpPr txBox="1"/>
          <p:nvPr/>
        </p:nvSpPr>
        <p:spPr>
          <a:xfrm>
            <a:off x="676656" y="3145536"/>
            <a:ext cx="2231136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D46"/>
                </a:solidFill>
                <a:latin typeface="Arial"/>
              </a:rPr>
              <a:t>Value of information</a:t>
            </a:r>
          </a:p>
        </p:txBody>
      </p:sp>
      <p:sp>
        <p:nvSpPr>
          <p:cNvPr id="21" name="body:20"/>
          <p:cNvSpPr txBox="1"/>
          <p:nvPr/>
        </p:nvSpPr>
        <p:spPr>
          <a:xfrm>
            <a:off x="3090672" y="3145536"/>
            <a:ext cx="4059935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VOI = E max − max E; metareasoning</a:t>
            </a:r>
          </a:p>
        </p:txBody>
      </p:sp>
      <p:sp>
        <p:nvSpPr>
          <p:cNvPr id="22" name="body:21"/>
          <p:cNvSpPr txBox="1"/>
          <p:nvPr/>
        </p:nvSpPr>
        <p:spPr>
          <a:xfrm>
            <a:off x="7342631" y="3145536"/>
            <a:ext cx="4169663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X1b: clarification as reference behaviour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" y="3511296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:23"/>
          <p:cNvSpPr txBox="1"/>
          <p:nvPr/>
        </p:nvSpPr>
        <p:spPr>
          <a:xfrm>
            <a:off x="676656" y="3529584"/>
            <a:ext cx="2231136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D46"/>
                </a:solidFill>
                <a:latin typeface="Arial"/>
              </a:rPr>
              <a:t>Constrained optimization</a:t>
            </a:r>
          </a:p>
        </p:txBody>
      </p:sp>
      <p:sp>
        <p:nvSpPr>
          <p:cNvPr id="25" name="body:24"/>
          <p:cNvSpPr txBox="1"/>
          <p:nvPr/>
        </p:nvSpPr>
        <p:spPr>
          <a:xfrm>
            <a:off x="3090672" y="3529584"/>
            <a:ext cx="4059935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constrained MDP, Lagrangian prices</a:t>
            </a:r>
          </a:p>
        </p:txBody>
      </p:sp>
      <p:sp>
        <p:nvSpPr>
          <p:cNvPr id="26" name="body:25"/>
          <p:cNvSpPr txBox="1"/>
          <p:nvPr/>
        </p:nvSpPr>
        <p:spPr>
          <a:xfrm>
            <a:off x="7342631" y="3529584"/>
            <a:ext cx="4169663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B3 vs B4 under identical constraints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" y="3895344"/>
            <a:ext cx="1097280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:27"/>
          <p:cNvSpPr txBox="1"/>
          <p:nvPr/>
        </p:nvSpPr>
        <p:spPr>
          <a:xfrm>
            <a:off x="676656" y="3913631"/>
            <a:ext cx="2231136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D46"/>
                </a:solidFill>
                <a:latin typeface="Arial"/>
              </a:rPr>
              <a:t>Principal–agent</a:t>
            </a:r>
          </a:p>
        </p:txBody>
      </p:sp>
      <p:sp>
        <p:nvSpPr>
          <p:cNvPr id="29" name="body:28"/>
          <p:cNvSpPr txBox="1"/>
          <p:nvPr/>
        </p:nvSpPr>
        <p:spPr>
          <a:xfrm>
            <a:off x="3090672" y="3913631"/>
            <a:ext cx="4059935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incomplete contracts; CIRL; off-switch</a:t>
            </a:r>
          </a:p>
        </p:txBody>
      </p:sp>
      <p:sp>
        <p:nvSpPr>
          <p:cNvPr id="30" name="body:29"/>
          <p:cNvSpPr txBox="1"/>
          <p:nvPr/>
        </p:nvSpPr>
        <p:spPr>
          <a:xfrm>
            <a:off x="7342631" y="3913631"/>
            <a:ext cx="4169663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E5 field: explicit / implicit / unspecified / conflicting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" y="4279392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dy:31"/>
          <p:cNvSpPr txBox="1"/>
          <p:nvPr/>
        </p:nvSpPr>
        <p:spPr>
          <a:xfrm>
            <a:off x="676656" y="4297679"/>
            <a:ext cx="2231136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D46"/>
                </a:solidFill>
                <a:latin typeface="Arial"/>
              </a:rPr>
              <a:t>Ambiguity</a:t>
            </a:r>
          </a:p>
        </p:txBody>
      </p:sp>
      <p:sp>
        <p:nvSpPr>
          <p:cNvPr id="33" name="body:32"/>
          <p:cNvSpPr txBox="1"/>
          <p:nvPr/>
        </p:nvSpPr>
        <p:spPr>
          <a:xfrm>
            <a:off x="3090672" y="4297679"/>
            <a:ext cx="4059935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maxmin, minimax regret, impact penalties</a:t>
            </a:r>
          </a:p>
        </p:txBody>
      </p:sp>
      <p:sp>
        <p:nvSpPr>
          <p:cNvPr id="34" name="body:33"/>
          <p:cNvSpPr txBox="1"/>
          <p:nvPr/>
        </p:nvSpPr>
        <p:spPr>
          <a:xfrm>
            <a:off x="7342631" y="4297679"/>
            <a:ext cx="4169663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X1b silent and conflicting cells; over-conservatism readout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" y="4663440"/>
            <a:ext cx="1097280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ody:35"/>
          <p:cNvSpPr txBox="1"/>
          <p:nvPr/>
        </p:nvSpPr>
        <p:spPr>
          <a:xfrm>
            <a:off x="676656" y="4681727"/>
            <a:ext cx="2231136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D46"/>
                </a:solidFill>
                <a:latin typeface="Arial"/>
              </a:rPr>
              <a:t>Sequential monitoring</a:t>
            </a:r>
          </a:p>
        </p:txBody>
      </p:sp>
      <p:sp>
        <p:nvSpPr>
          <p:cNvPr id="37" name="body:36"/>
          <p:cNvSpPr txBox="1"/>
          <p:nvPr/>
        </p:nvSpPr>
        <p:spPr>
          <a:xfrm>
            <a:off x="3090672" y="4681727"/>
            <a:ext cx="4059935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SPRT, CUSUM; max TPR s.t. FPR ≤ α</a:t>
            </a:r>
          </a:p>
        </p:txBody>
      </p:sp>
      <p:sp>
        <p:nvSpPr>
          <p:cNvPr id="38" name="body:37"/>
          <p:cNvSpPr txBox="1"/>
          <p:nvPr/>
        </p:nvSpPr>
        <p:spPr>
          <a:xfrm>
            <a:off x="7342631" y="4681727"/>
            <a:ext cx="4169663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Inspect approver; B1 vs B0; delayed labels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" y="5047488"/>
            <a:ext cx="10972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ody:39"/>
          <p:cNvSpPr txBox="1"/>
          <p:nvPr/>
        </p:nvSpPr>
        <p:spPr>
          <a:xfrm>
            <a:off x="676656" y="5065775"/>
            <a:ext cx="2231136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D46"/>
                </a:solidFill>
                <a:latin typeface="Arial"/>
              </a:rPr>
              <a:t>Release gating</a:t>
            </a:r>
          </a:p>
        </p:txBody>
      </p:sp>
      <p:sp>
        <p:nvSpPr>
          <p:cNvPr id="41" name="body:40"/>
          <p:cNvSpPr txBox="1"/>
          <p:nvPr/>
        </p:nvSpPr>
        <p:spPr>
          <a:xfrm>
            <a:off x="3090672" y="5065775"/>
            <a:ext cx="4059935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expected-loss rule; McNemar; optimizer's curse</a:t>
            </a:r>
          </a:p>
        </p:txBody>
      </p:sp>
      <p:sp>
        <p:nvSpPr>
          <p:cNvPr id="42" name="body:41"/>
          <p:cNvSpPr txBox="1"/>
          <p:nvPr/>
        </p:nvSpPr>
        <p:spPr>
          <a:xfrm>
            <a:off x="7342631" y="5065775"/>
            <a:ext cx="4169663" cy="310896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4364A"/>
                </a:solidFill>
                <a:latin typeface="Arial"/>
              </a:rPr>
              <a:t>regression gate + hidden-effect twins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" y="5523890"/>
            <a:ext cx="10972800" cy="16459"/>
          </a:xfrm>
          <a:prstGeom prst="rect">
            <a:avLst/>
          </a:prstGeom>
          <a:solidFill>
            <a:srgbClr val="D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ody:43"/>
          <p:cNvSpPr txBox="1"/>
          <p:nvPr/>
        </p:nvSpPr>
        <p:spPr>
          <a:xfrm>
            <a:off x="621792" y="5596128"/>
            <a:ext cx="10881360" cy="256032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637285"/>
                </a:solidFill>
                <a:latin typeface="Arial"/>
              </a:rPr>
              <a:t>Reading path:  formulation → information → contracts → robustness → sequential decisions</a:t>
            </a:r>
          </a:p>
        </p:txBody>
      </p:sp>
      <p:sp>
        <p:nvSpPr>
          <p:cNvPr id="45" name="source:44"/>
          <p:cNvSpPr txBox="1"/>
          <p:nvPr/>
        </p:nvSpPr>
        <p:spPr>
          <a:xfrm>
            <a:off x="621792" y="5897880"/>
            <a:ext cx="210312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3F6795"/>
                </a:solidFill>
                <a:latin typeface="Arial"/>
                <a:hlinkClick r:id="rId2"/>
              </a:rPr>
              <a:t>Kaelbling et al. 1998, POMDPs</a:t>
            </a:r>
          </a:p>
        </p:txBody>
      </p:sp>
      <p:sp>
        <p:nvSpPr>
          <p:cNvPr id="46" name="source:45"/>
          <p:cNvSpPr txBox="1"/>
          <p:nvPr/>
        </p:nvSpPr>
        <p:spPr>
          <a:xfrm>
            <a:off x="2743200" y="5897880"/>
            <a:ext cx="155448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3F6795"/>
                </a:solidFill>
                <a:latin typeface="Arial"/>
                <a:hlinkClick r:id="rId3"/>
              </a:rPr>
              <a:t>Howard 1966, VOI</a:t>
            </a:r>
          </a:p>
        </p:txBody>
      </p:sp>
      <p:sp>
        <p:nvSpPr>
          <p:cNvPr id="47" name="source:46"/>
          <p:cNvSpPr txBox="1"/>
          <p:nvPr/>
        </p:nvSpPr>
        <p:spPr>
          <a:xfrm>
            <a:off x="4297680" y="5897880"/>
            <a:ext cx="214884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3F6795"/>
                </a:solidFill>
                <a:latin typeface="Arial"/>
                <a:hlinkClick r:id="rId4"/>
              </a:rPr>
              <a:t>Hay et al. 2012, metareasoning</a:t>
            </a:r>
          </a:p>
        </p:txBody>
      </p:sp>
      <p:sp>
        <p:nvSpPr>
          <p:cNvPr id="48" name="source:47"/>
          <p:cNvSpPr txBox="1"/>
          <p:nvPr/>
        </p:nvSpPr>
        <p:spPr>
          <a:xfrm>
            <a:off x="6446520" y="5897880"/>
            <a:ext cx="192024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3F6795"/>
                </a:solidFill>
                <a:latin typeface="Arial"/>
                <a:hlinkClick r:id="rId5"/>
              </a:rPr>
              <a:t>Hadfield-Menell 2016 / 2017</a:t>
            </a:r>
          </a:p>
        </p:txBody>
      </p:sp>
      <p:sp>
        <p:nvSpPr>
          <p:cNvPr id="49" name="source:48"/>
          <p:cNvSpPr txBox="1"/>
          <p:nvPr/>
        </p:nvSpPr>
        <p:spPr>
          <a:xfrm>
            <a:off x="8366760" y="5897880"/>
            <a:ext cx="164592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3F6795"/>
                </a:solidFill>
                <a:latin typeface="Arial"/>
                <a:hlinkClick r:id="rId6"/>
              </a:rPr>
              <a:t>Turner et al. 2020, AUP</a:t>
            </a:r>
          </a:p>
        </p:txBody>
      </p:sp>
      <p:sp>
        <p:nvSpPr>
          <p:cNvPr id="50" name="source:49"/>
          <p:cNvSpPr txBox="1"/>
          <p:nvPr/>
        </p:nvSpPr>
        <p:spPr>
          <a:xfrm>
            <a:off x="10012680" y="5897880"/>
            <a:ext cx="1600200" cy="274320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3F6795"/>
                </a:solidFill>
                <a:latin typeface="Arial"/>
                <a:hlinkClick r:id="rId7"/>
              </a:rPr>
              <a:t>Achiam et al. 2017, CPO</a:t>
            </a:r>
          </a:p>
        </p:txBody>
      </p:sp>
      <p:sp>
        <p:nvSpPr>
          <p:cNvPr id="51" name="source:50"/>
          <p:cNvSpPr txBox="1"/>
          <p:nvPr/>
        </p:nvSpPr>
        <p:spPr>
          <a:xfrm>
            <a:off x="621792" y="6172200"/>
            <a:ext cx="10881360" cy="237744"/>
          </a:xfrm>
          <a:prstGeom prst="rect">
            <a:avLst/>
          </a:prstGeom>
          <a:noFill/>
        </p:spPr>
        <p:txBody>
          <a:bodyPr wrap="square" lIns="22860" rIns="22860" tIns="22860" bIns="2286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637285"/>
                </a:solidFill>
                <a:latin typeface="Arial"/>
              </a:rPr>
              <a:t>Altman 1999 (Constrained MDPs) · Gittins 1979 · Gilboa &amp; Schmeidler 1989 · Wald 1945 · Page 1954 · Smith &amp; Winkler 2006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theory for incident-aware agents</dc:title>
  <dc:subject>Seven decision problems and their techniques, mapped onto containment-extension</dc:subject>
  <dc:creator>Jiawei 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