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5240000" cy="8572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proposal positions incident replay as software engineering infrastructure for evaluating and improving coding agents. A documented failure becomes a versioned, executable case that can be used to reproduce behavior, compare changes, and guard against regressions. The central object remains the incident library and replay framework from the source deck. The emphasis is now on debugging, state management, task completion, recovery, and the cost of engineering work. Security failures can be included as one class of software failure. All deliverables and milestones in this deck are proposed; no new experimental results are claimed.</a:t>
            </a:r>
          </a:p>
          <a:p>
            <a:r>
              <a:t>Source: Incident_Replay_Research_Connection.pptx, slides 1 and 5–8; Incident-Aware Optimization design proposal, slides 16–18 and 28–32.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research unit is a reproducible software failure and its surrounding engineering task. Cases may originate in bug reports, postmortems, CI failures, or agent execution traces. The same fixture supports debugging, comparative evaluation, and regression testing. This is a proposed workflow, not a claim that all historical incidents can be faithfully recovered. Preserve relevant initial state and document missing information. Compare changes from matched initial states and retain traces and outcome checks. Source: source deck slides 3–5, 7–8. The engineering-loop framing is a proposed generalization of that material.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comparison of task emphasis, not a ranking or a claim of superiority. SWE-bench evaluates issue resolution in real repositories and provides reproducible evaluation infrastructure. The proposed extension makes operational state, action sequences, and recovery criteria explicit. An incident task can require diagnosing a broken environment, repairing data or configuration, changing code, and demonstrating a consistent final state. Existing benchmarks can also contain complex tasks and detailed traces.</a:t>
            </a:r>
          </a:p>
          <a:p>
            <a:r>
              <a:t>Source: SWE-bench authors, official repository, accessed 13 October 2026: https://github.com/SWE-bench/SWE-bench</a:t>
            </a:r>
          </a:p>
          <a:p>
            <a:r>
              <a:t>Source deck: slides 3–4. No benchmark improvement is asserted.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case schema, shown as an illustrative manifest rather than an implemented API. Each package should record a repository revision, tool and dependency versions, restorable data and configuration, the legitimate engineering task, the failure trigger, assertions, normal-case variants, and provenance. Separate the check for completing the task from checks of environment state. Keep a reference solution to validate the fixture. Record which historical conditions are preserved, simplified, or unknown. Reset repeatable fixtures before each trial. A normal-case variant tests whether the proposed change still works when the failure condition is absent.</a:t>
            </a:r>
          </a:p>
          <a:p>
            <a:r>
              <a:t>Source: source deck slides 5, 7–8; Incident-Aware Optimization design proposal slides 16–18, 26, and 29–32.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Replay modes answer different engineering questions. Inspecting saved traces supports analysis of logs and diagnostics, without executing the actor. Fixed-action replay executes recorded or scripted operations to study effects and compare environment or tool changes; it does not establish which actions an agent would choose. A fresh agent run samples decisions under the proposed change. If a changed tool response alters the information available to the agent, do not force the remaining historical actions and call that adaptive behavior. Use matched initial states, accessible pinned model configurations, and repeated runs with known budgets.</a:t>
            </a:r>
          </a:p>
          <a:p>
            <a:r>
              <a:t>Source: source deck slide 5; Incident-Aware Optimization design proposal slide 28.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an illustrative proposed fixture, not a reported production incident or a measured model result. Construct a small application where a backfill is interrupted and the new application encounters partially migrated records. The agent receives an ordinary engineering objective: diagnose the failing reads and restore a working, consistent system. It may repair and resume or use a supported rollback path. Assertions should verify all intended records are readable, no records are duplicated or lost, and repeating the operation preserves the correct result. Compare candidate tools or workflows from the same initial snapshot and evaluate normal migrations as well. The example demonstrates how incident replay covers conventional SWE concerns: schema changes, debugging, idempotency, rollback, and regression testing.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OpenAI–HuggingFace reproduction remains a connection to the original proposal. Its authors release component environments and experiments involving writes to shared infrastructure, requests to peers, sharing solutions, and access through a posted exploit. The diagram is conceptual and is not a reconstruction of a complete historical timeline. The SWE lens focuses on how shared state, earlier actions, and tool behavior create dependencies among trajectories. Proposed experiments compare isolated and shared execution, available coordination cues, and changes to tools or workflow. Record both task completion and observable state effects, including inappropriate access where relevant. Preserve scope and collaboration rules so normal cooperation remains a valid outcome. A connected replay is further work.</a:t>
            </a:r>
          </a:p>
          <a:p>
            <a:r>
              <a:t>Sources, accessed 13 October 2026:</a:t>
            </a:r>
          </a:p>
          <a:p>
            <a:r>
              <a:t>https://github.com/msp895/oai-hf-incident-reproduction</a:t>
            </a:r>
          </a:p>
          <a:p>
            <a:r>
              <a:t>https://www.lesswrong.com/posts/fMnC6ZD37qrnZAFYz/openai-huggingface-a-reproduction-and-lessons-for-alignment</a:t>
            </a:r>
          </a:p>
          <a:p>
            <a:r>
              <a:t>Source deck slides 1–2 and 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proposed evaluation dimensions, not measured results. Task completion may be checked by behavior-level tests and a reference solution. System integrity uses direct data, filesystem, process, or service checks appropriate to the case. Recovery quality may include successful rollback, repair, retry behavior, and whether the failure recurs. Engineering effort records elapsed time, tool calls, compute cost, and human assistance. Compare each candidate with a baseline from matched initial states, under fixed task and resource budgets. For stochastic agent behavior, repeat trials and report uncertainty. Preserve unsuccessful attempts. A normal-case variant checks whether a change introduces regressions in ordinary work. Keep related variants in the same source lineage when separating development and evaluation.</a:t>
            </a:r>
          </a:p>
          <a:p>
            <a:r>
              <a:t>Source: source deck slides 4–5, 7–8. Metric labels and organization are an engineering-focused reframing.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pilot proposes three distinct failure mechanisms, not three completed or accepted cases. Start by auditing the released OpenAI–HF components. Add a partial-update or recovery case and a dependency or configuration mismatch only when source artifacts, reset procedures, and independently observable outcomes are available. The failed migration on slide 6 is a design example, not yet a selected historical incident. Qualify a reference solution and normal-case variant before spending on broad model comparisons. Measure fixture engineering effort and exclude cases that cannot be reconstructed usefully. Variants of the same source remain one lineage. A small pilot demonstrates feasibility and useful comparisons, not broad performance generalization.</a:t>
            </a:r>
          </a:p>
          <a:p>
            <a:r>
              <a:t>Source: source deck slides 6–8, with additional candidate categories proposed for broader SWE coverage.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first release: a small qualified case library, a replay runner, and a report that makes comparative engineering outcomes inspectable. The library carries environment definitions, reset logic, case manifests, reference solutions, normal-case variants, and provenance. The runner supports saved-trace analysis, fixed actions, and fresh agent trials. Reports retain failed runs, relevant state changes, task completion, recovery checks, and cost. The immediate research question is whether the instrument supports repeatable, informative comparisons of models, tools, and workflows. Broader coverage and automatic optimization can follow. No improvement in model performance, reliability, or safety has been measured for this proposal.</a:t>
            </a:r>
          </a:p>
          <a:p>
            <a:r>
              <a:t>Sources: source deck slides 5 and 8; Incident-Aware Optimization design proposal slides 16–18 and 28–32.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Rounded Rectangle 1"/>
          <p:cNvSpPr/>
          <p:nvPr/>
        </p:nvSpPr>
        <p:spPr>
          <a:xfrm>
            <a:off x="571500" y="390525"/>
            <a:ext cx="85725" cy="209550"/>
          </a:xfrm>
          <a:prstGeom prst="roundRect">
            <a:avLst>
              <a:gd name="adj" fmla="val 44444"/>
            </a:avLst>
          </a:prstGeom>
          <a:solidFill>
            <a:srgbClr val="57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1050" y="381000"/>
            <a:ext cx="13239750" cy="247649"/>
          </a:xfrm>
          <a:prstGeom prst="rect">
            <a:avLst/>
          </a:prstGeom>
          <a:noFill/>
        </p:spPr>
        <p:txBody>
          <a:bodyPr wrap="none" lIns="0" rIns="0" tIns="0" bIns="0" anchor="t"/>
          <a:lstStyle/>
          <a:p>
            <a:pPr algn="l">
              <a:lnSpc>
                <a:spcPts val="1305"/>
              </a:lnSpc>
              <a:spcBef>
                <a:spcPts val="0"/>
              </a:spcBef>
              <a:spcAft>
                <a:spcPts val="0"/>
              </a:spcAft>
            </a:pPr>
            <a:r>
              <a:rPr sz="1125" b="1">
                <a:solidFill>
                  <a:srgbClr val="AABAD2"/>
                </a:solidFill>
                <a:latin typeface="Arial"/>
              </a:rPr>
              <a:t>RESEARCH PROPOSAL / OCTOBER 2026</a:t>
            </a:r>
          </a:p>
        </p:txBody>
      </p:sp>
      <p:sp>
        <p:nvSpPr>
          <p:cNvPr id="4" name="TextBox 3"/>
          <p:cNvSpPr txBox="1"/>
          <p:nvPr/>
        </p:nvSpPr>
        <p:spPr>
          <a:xfrm>
            <a:off x="581025" y="8172450"/>
            <a:ext cx="13049250" cy="190500"/>
          </a:xfrm>
          <a:prstGeom prst="rect">
            <a:avLst/>
          </a:prstGeom>
          <a:noFill/>
        </p:spPr>
        <p:txBody>
          <a:bodyPr wrap="none" lIns="0" rIns="0" tIns="0" bIns="0" anchor="t"/>
          <a:lstStyle/>
          <a:p>
            <a:pPr algn="l">
              <a:lnSpc>
                <a:spcPts val="1044"/>
              </a:lnSpc>
              <a:spcBef>
                <a:spcPts val="0"/>
              </a:spcBef>
              <a:spcAft>
                <a:spcPts val="0"/>
              </a:spcAft>
            </a:pPr>
            <a:r>
              <a:rPr sz="900" b="0">
                <a:solidFill>
                  <a:srgbClr val="AABAD2"/>
                </a:solidFill>
                <a:latin typeface="Arial"/>
              </a:rPr>
              <a:t>INCIDENT REPLAY / SOFTWARE ENGINEERING</a:t>
            </a:r>
          </a:p>
        </p:txBody>
      </p:sp>
      <p:sp>
        <p:nvSpPr>
          <p:cNvPr id="5" name="TextBox 4"/>
          <p:cNvSpPr txBox="1"/>
          <p:nvPr/>
        </p:nvSpPr>
        <p:spPr>
          <a:xfrm>
            <a:off x="13887450" y="8124824"/>
            <a:ext cx="762000" cy="238125"/>
          </a:xfrm>
          <a:prstGeom prst="rect">
            <a:avLst/>
          </a:prstGeom>
          <a:noFill/>
        </p:spPr>
        <p:txBody>
          <a:bodyPr wrap="none" lIns="0" rIns="0" tIns="0" bIns="0" anchor="t"/>
          <a:lstStyle/>
          <a:p>
            <a:pPr algn="r">
              <a:lnSpc>
                <a:spcPts val="1218"/>
              </a:lnSpc>
              <a:spcBef>
                <a:spcPts val="0"/>
              </a:spcBef>
              <a:spcAft>
                <a:spcPts val="0"/>
              </a:spcAft>
            </a:pPr>
            <a:r>
              <a:rPr sz="1050" b="0">
                <a:solidFill>
                  <a:srgbClr val="AABAD2"/>
                </a:solidFill>
                <a:latin typeface="Courier New"/>
              </a:rPr>
              <a:t>01 / 10</a:t>
            </a:r>
          </a:p>
        </p:txBody>
      </p:sp>
      <p:sp>
        <p:nvSpPr>
          <p:cNvPr id="6" name="TextBox 5"/>
          <p:cNvSpPr txBox="1"/>
          <p:nvPr/>
        </p:nvSpPr>
        <p:spPr>
          <a:xfrm>
            <a:off x="590550" y="1714500"/>
            <a:ext cx="5715000" cy="1857375"/>
          </a:xfrm>
          <a:prstGeom prst="rect">
            <a:avLst/>
          </a:prstGeom>
          <a:noFill/>
        </p:spPr>
        <p:txBody>
          <a:bodyPr wrap="none" lIns="0" rIns="0" tIns="0" bIns="0" anchor="t"/>
          <a:lstStyle/>
          <a:p>
            <a:pPr algn="l">
              <a:lnSpc>
                <a:spcPts val="6666"/>
              </a:lnSpc>
              <a:spcBef>
                <a:spcPts val="0"/>
              </a:spcBef>
              <a:spcAft>
                <a:spcPts val="0"/>
              </a:spcAft>
            </a:pPr>
            <a:r>
              <a:rPr sz="6600" b="1">
                <a:solidFill>
                  <a:srgbClr val="FFFFFF"/>
                </a:solidFill>
                <a:latin typeface="Arial"/>
              </a:rPr>
              <a:t>Incident</a:t>
            </a:r>
          </a:p>
          <a:p>
            <a:pPr algn="l">
              <a:lnSpc>
                <a:spcPts val="6666"/>
              </a:lnSpc>
              <a:spcBef>
                <a:spcPts val="0"/>
              </a:spcBef>
              <a:spcAft>
                <a:spcPts val="0"/>
              </a:spcAft>
            </a:pPr>
            <a:r>
              <a:rPr sz="6600" b="1">
                <a:solidFill>
                  <a:srgbClr val="FFFFFF"/>
                </a:solidFill>
                <a:latin typeface="Arial"/>
              </a:rPr>
              <a:t>Replay</a:t>
            </a:r>
          </a:p>
        </p:txBody>
      </p:sp>
      <p:sp>
        <p:nvSpPr>
          <p:cNvPr id="7" name="TextBox 6"/>
          <p:cNvSpPr txBox="1"/>
          <p:nvPr/>
        </p:nvSpPr>
        <p:spPr>
          <a:xfrm>
            <a:off x="628650" y="3952875"/>
            <a:ext cx="5619750" cy="1162050"/>
          </a:xfrm>
          <a:prstGeom prst="rect">
            <a:avLst/>
          </a:prstGeom>
          <a:noFill/>
        </p:spPr>
        <p:txBody>
          <a:bodyPr wrap="none" lIns="0" rIns="0" tIns="0" bIns="0" anchor="t"/>
          <a:lstStyle/>
          <a:p>
            <a:pPr algn="l">
              <a:lnSpc>
                <a:spcPts val="3044"/>
              </a:lnSpc>
              <a:spcBef>
                <a:spcPts val="0"/>
              </a:spcBef>
              <a:spcAft>
                <a:spcPts val="0"/>
              </a:spcAft>
            </a:pPr>
            <a:r>
              <a:rPr sz="2475" b="0">
                <a:solidFill>
                  <a:srgbClr val="AABAD2"/>
                </a:solidFill>
                <a:latin typeface="Arial"/>
              </a:rPr>
              <a:t>From software failures</a:t>
            </a:r>
          </a:p>
          <a:p>
            <a:pPr algn="l">
              <a:lnSpc>
                <a:spcPts val="3044"/>
              </a:lnSpc>
              <a:spcBef>
                <a:spcPts val="0"/>
              </a:spcBef>
              <a:spcAft>
                <a:spcPts val="0"/>
              </a:spcAft>
            </a:pPr>
            <a:r>
              <a:rPr sz="2475" b="0">
                <a:solidFill>
                  <a:srgbClr val="AABAD2"/>
                </a:solidFill>
                <a:latin typeface="Arial"/>
              </a:rPr>
              <a:t>to repeatable</a:t>
            </a:r>
          </a:p>
          <a:p>
            <a:pPr algn="l">
              <a:lnSpc>
                <a:spcPts val="3044"/>
              </a:lnSpc>
              <a:spcBef>
                <a:spcPts val="0"/>
              </a:spcBef>
              <a:spcAft>
                <a:spcPts val="0"/>
              </a:spcAft>
            </a:pPr>
            <a:r>
              <a:rPr sz="2475" b="0">
                <a:solidFill>
                  <a:srgbClr val="AABAD2"/>
                </a:solidFill>
                <a:latin typeface="Arial"/>
              </a:rPr>
              <a:t>engineering tests.</a:t>
            </a:r>
          </a:p>
        </p:txBody>
      </p:sp>
      <p:sp>
        <p:nvSpPr>
          <p:cNvPr id="8" name="Rounded Rectangle 7"/>
          <p:cNvSpPr/>
          <p:nvPr/>
        </p:nvSpPr>
        <p:spPr>
          <a:xfrm>
            <a:off x="628650" y="5857875"/>
            <a:ext cx="2914650" cy="371475"/>
          </a:xfrm>
          <a:prstGeom prst="roundRect">
            <a:avLst>
              <a:gd name="adj" fmla="val 45000"/>
            </a:avLst>
          </a:prstGeom>
          <a:solidFill>
            <a:srgbClr val="2034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2950" y="5943600"/>
            <a:ext cx="2686050" cy="247649"/>
          </a:xfrm>
          <a:prstGeom prst="rect">
            <a:avLst/>
          </a:prstGeom>
          <a:noFill/>
        </p:spPr>
        <p:txBody>
          <a:bodyPr wrap="none" lIns="0" rIns="0" tIns="0" bIns="0" anchor="t"/>
          <a:lstStyle/>
          <a:p>
            <a:pPr algn="ctr">
              <a:lnSpc>
                <a:spcPts val="1479"/>
              </a:lnSpc>
              <a:spcBef>
                <a:spcPts val="0"/>
              </a:spcBef>
              <a:spcAft>
                <a:spcPts val="0"/>
              </a:spcAft>
            </a:pPr>
            <a:r>
              <a:rPr sz="1275" b="1">
                <a:solidFill>
                  <a:srgbClr val="57DDD0"/>
                </a:solidFill>
                <a:latin typeface="Arial"/>
              </a:rPr>
              <a:t>SWE AGENT EVALUATION</a:t>
            </a:r>
          </a:p>
        </p:txBody>
      </p:sp>
      <p:sp>
        <p:nvSpPr>
          <p:cNvPr id="10" name="TextBox 9"/>
          <p:cNvSpPr txBox="1"/>
          <p:nvPr/>
        </p:nvSpPr>
        <p:spPr>
          <a:xfrm>
            <a:off x="647700" y="7134225"/>
            <a:ext cx="3810000" cy="333375"/>
          </a:xfrm>
          <a:prstGeom prst="rect">
            <a:avLst/>
          </a:prstGeom>
          <a:noFill/>
        </p:spPr>
        <p:txBody>
          <a:bodyPr wrap="none" lIns="0" rIns="0" tIns="0" bIns="0" anchor="t"/>
          <a:lstStyle/>
          <a:p>
            <a:pPr algn="l">
              <a:lnSpc>
                <a:spcPts val="1913"/>
              </a:lnSpc>
              <a:spcBef>
                <a:spcPts val="0"/>
              </a:spcBef>
              <a:spcAft>
                <a:spcPts val="0"/>
              </a:spcAft>
            </a:pPr>
            <a:r>
              <a:rPr sz="1650" b="0">
                <a:solidFill>
                  <a:srgbClr val="AABAD2"/>
                </a:solidFill>
                <a:latin typeface="Arial"/>
              </a:rPr>
              <a:t>Jiawei Li</a:t>
            </a:r>
          </a:p>
        </p:txBody>
      </p:sp>
      <p:cxnSp>
        <p:nvCxnSpPr>
          <p:cNvPr id="11" name="Connector 10"/>
          <p:cNvCxnSpPr/>
          <p:nvPr/>
        </p:nvCxnSpPr>
        <p:spPr>
          <a:xfrm>
            <a:off x="8848725" y="2781300"/>
            <a:ext cx="2486025" cy="0"/>
          </a:xfrm>
          <a:prstGeom prst="line">
            <a:avLst/>
          </a:prstGeom>
          <a:ln w="3810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1234442" y="2781300"/>
            <a:ext cx="100308" cy="54798"/>
          </a:xfrm>
          <a:prstGeom prst="line">
            <a:avLst/>
          </a:prstGeom>
          <a:ln w="3810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11234442" y="2726501"/>
            <a:ext cx="100308" cy="54799"/>
          </a:xfrm>
          <a:prstGeom prst="line">
            <a:avLst/>
          </a:prstGeom>
          <a:ln w="3810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2763500" y="3552825"/>
            <a:ext cx="0" cy="1543050"/>
          </a:xfrm>
          <a:prstGeom prst="line">
            <a:avLst/>
          </a:prstGeom>
          <a:ln w="3810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12708701" y="4995567"/>
            <a:ext cx="54799" cy="100308"/>
          </a:xfrm>
          <a:prstGeom prst="line">
            <a:avLst/>
          </a:prstGeom>
          <a:ln w="3810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2763500" y="4995567"/>
            <a:ext cx="54798" cy="100308"/>
          </a:xfrm>
          <a:prstGeom prst="line">
            <a:avLst/>
          </a:prstGeom>
          <a:ln w="3810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9639300" y="6315075"/>
            <a:ext cx="1676400" cy="0"/>
          </a:xfrm>
          <a:prstGeom prst="line">
            <a:avLst/>
          </a:prstGeom>
          <a:ln w="3810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9639300" y="6260276"/>
            <a:ext cx="100307" cy="54799"/>
          </a:xfrm>
          <a:prstGeom prst="line">
            <a:avLst/>
          </a:prstGeom>
          <a:ln w="3810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9639300" y="6315075"/>
            <a:ext cx="100307" cy="54798"/>
          </a:xfrm>
          <a:prstGeom prst="line">
            <a:avLst/>
          </a:prstGeom>
          <a:ln w="3810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7715250" y="3819524"/>
            <a:ext cx="0" cy="1352551"/>
          </a:xfrm>
          <a:prstGeom prst="line">
            <a:avLst/>
          </a:prstGeom>
          <a:ln w="3810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715250" y="3819524"/>
            <a:ext cx="54798" cy="100308"/>
          </a:xfrm>
          <a:prstGeom prst="line">
            <a:avLst/>
          </a:prstGeom>
          <a:ln w="3810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7660451" y="3819524"/>
            <a:ext cx="54799" cy="100308"/>
          </a:xfrm>
          <a:prstGeom prst="line">
            <a:avLst/>
          </a:prstGeom>
          <a:ln w="38100">
            <a:solidFill>
              <a:srgbClr val="57DDD0"/>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686550" y="1876425"/>
            <a:ext cx="2847975" cy="1895474"/>
          </a:xfrm>
          <a:prstGeom prst="roundRect">
            <a:avLst>
              <a:gd name="adj" fmla="val 12060"/>
            </a:avLst>
          </a:prstGeom>
          <a:solidFill>
            <a:srgbClr val="10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677025" y="1809750"/>
            <a:ext cx="2847975" cy="1895474"/>
          </a:xfrm>
          <a:prstGeom prst="roundRect">
            <a:avLst>
              <a:gd name="adj" fmla="val 12060"/>
            </a:avLst>
          </a:prstGeom>
          <a:solidFill>
            <a:srgbClr val="203453"/>
          </a:solidFill>
          <a:ln w="12382">
            <a:solidFill>
              <a:srgbClr val="425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5" name="Group 34"/>
          <p:cNvGrpSpPr/>
          <p:nvPr/>
        </p:nvGrpSpPr>
        <p:grpSpPr>
          <a:xfrm>
            <a:off x="7848004" y="2113061"/>
            <a:ext cx="458391" cy="468808"/>
            <a:chOff x="7848004" y="2113061"/>
            <a:chExt cx="458391" cy="468808"/>
          </a:xfrm>
        </p:grpSpPr>
        <p:sp>
          <p:nvSpPr>
            <p:cNvPr id="25" name="Rounded Rectangle 24"/>
            <p:cNvSpPr/>
            <p:nvPr/>
          </p:nvSpPr>
          <p:spPr>
            <a:xfrm>
              <a:off x="7952184" y="2196405"/>
              <a:ext cx="250031" cy="385464"/>
            </a:xfrm>
            <a:prstGeom prst="roundRect">
              <a:avLst>
                <a:gd name="adj" fmla="val 45000"/>
              </a:avLst>
            </a:prstGeom>
            <a:noFill/>
            <a:ln w="28128">
              <a:solidFill>
                <a:srgbClr val="FFB1A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flipH="1" flipV="1">
              <a:off x="7973020" y="2113061"/>
              <a:ext cx="41672" cy="83344"/>
            </a:xfrm>
            <a:prstGeom prst="line">
              <a:avLst/>
            </a:prstGeom>
            <a:ln w="28128">
              <a:solidFill>
                <a:srgbClr val="FFB1A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8139707" y="2113061"/>
              <a:ext cx="41672" cy="83344"/>
            </a:xfrm>
            <a:prstGeom prst="line">
              <a:avLst/>
            </a:prstGeom>
            <a:ln w="28128">
              <a:solidFill>
                <a:srgbClr val="FFB1A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077200" y="2238077"/>
              <a:ext cx="0" cy="302121"/>
            </a:xfrm>
            <a:prstGeom prst="line">
              <a:avLst/>
            </a:prstGeom>
            <a:ln w="28128">
              <a:solidFill>
                <a:srgbClr val="FFB1A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7848004" y="2238077"/>
              <a:ext cx="104180" cy="41672"/>
            </a:xfrm>
            <a:prstGeom prst="line">
              <a:avLst/>
            </a:prstGeom>
            <a:ln w="28128">
              <a:solidFill>
                <a:srgbClr val="FFB1A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202215" y="2238077"/>
              <a:ext cx="104180" cy="41672"/>
            </a:xfrm>
            <a:prstGeom prst="line">
              <a:avLst/>
            </a:prstGeom>
            <a:ln w="28128">
              <a:solidFill>
                <a:srgbClr val="FFB1A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7848004" y="2342257"/>
              <a:ext cx="104180" cy="41671"/>
            </a:xfrm>
            <a:prstGeom prst="line">
              <a:avLst/>
            </a:prstGeom>
            <a:ln w="28128">
              <a:solidFill>
                <a:srgbClr val="FFB1A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8202215" y="2342257"/>
              <a:ext cx="104180" cy="41671"/>
            </a:xfrm>
            <a:prstGeom prst="line">
              <a:avLst/>
            </a:prstGeom>
            <a:ln w="28128">
              <a:solidFill>
                <a:srgbClr val="FFB1A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848004" y="2446436"/>
              <a:ext cx="104180" cy="41672"/>
            </a:xfrm>
            <a:prstGeom prst="line">
              <a:avLst/>
            </a:prstGeom>
            <a:ln w="28128">
              <a:solidFill>
                <a:srgbClr val="FFB1A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202215" y="2446436"/>
              <a:ext cx="104180" cy="41672"/>
            </a:xfrm>
            <a:prstGeom prst="line">
              <a:avLst/>
            </a:prstGeom>
            <a:ln w="28128">
              <a:solidFill>
                <a:srgbClr val="FFB1AD"/>
              </a:solidFill>
            </a:ln>
          </p:spPr>
          <p:style>
            <a:lnRef idx="2">
              <a:schemeClr val="accent1"/>
            </a:lnRef>
            <a:fillRef idx="0">
              <a:schemeClr val="accent1"/>
            </a:fillRef>
            <a:effectRef idx="1">
              <a:schemeClr val="accent1"/>
            </a:effectRef>
            <a:fontRef idx="minor">
              <a:schemeClr val="tx1"/>
            </a:fontRef>
          </p:style>
        </p:cxnSp>
      </p:grpSp>
      <p:sp>
        <p:nvSpPr>
          <p:cNvPr id="36" name="TextBox 35"/>
          <p:cNvSpPr txBox="1"/>
          <p:nvPr/>
        </p:nvSpPr>
        <p:spPr>
          <a:xfrm>
            <a:off x="6838950" y="2876550"/>
            <a:ext cx="2524125" cy="381000"/>
          </a:xfrm>
          <a:prstGeom prst="rect">
            <a:avLst/>
          </a:prstGeom>
          <a:noFill/>
        </p:spPr>
        <p:txBody>
          <a:bodyPr wrap="none" lIns="0" rIns="0" tIns="0" bIns="0" anchor="t"/>
          <a:lstStyle/>
          <a:p>
            <a:pPr algn="ctr">
              <a:lnSpc>
                <a:spcPts val="2522"/>
              </a:lnSpc>
              <a:spcBef>
                <a:spcPts val="0"/>
              </a:spcBef>
              <a:spcAft>
                <a:spcPts val="0"/>
              </a:spcAft>
            </a:pPr>
            <a:r>
              <a:rPr sz="2175" b="1">
                <a:solidFill>
                  <a:srgbClr val="FFFFFF"/>
                </a:solidFill>
                <a:latin typeface="Arial"/>
              </a:rPr>
              <a:t>Failure</a:t>
            </a:r>
          </a:p>
        </p:txBody>
      </p:sp>
      <p:sp>
        <p:nvSpPr>
          <p:cNvPr id="37" name="TextBox 36"/>
          <p:cNvSpPr txBox="1"/>
          <p:nvPr/>
        </p:nvSpPr>
        <p:spPr>
          <a:xfrm>
            <a:off x="6819900" y="3324225"/>
            <a:ext cx="2562225" cy="266700"/>
          </a:xfrm>
          <a:prstGeom prst="rect">
            <a:avLst/>
          </a:prstGeom>
          <a:noFill/>
        </p:spPr>
        <p:txBody>
          <a:bodyPr wrap="none" lIns="0" rIns="0" tIns="0" bIns="0" anchor="t"/>
          <a:lstStyle/>
          <a:p>
            <a:pPr algn="ctr">
              <a:lnSpc>
                <a:spcPts val="1479"/>
              </a:lnSpc>
              <a:spcBef>
                <a:spcPts val="0"/>
              </a:spcBef>
              <a:spcAft>
                <a:spcPts val="0"/>
              </a:spcAft>
            </a:pPr>
            <a:r>
              <a:rPr sz="1275" b="0">
                <a:solidFill>
                  <a:srgbClr val="AABAD2"/>
                </a:solidFill>
                <a:latin typeface="Arial"/>
              </a:rPr>
              <a:t>A reproducible mechanism</a:t>
            </a:r>
          </a:p>
        </p:txBody>
      </p:sp>
      <p:sp>
        <p:nvSpPr>
          <p:cNvPr id="38" name="Rounded Rectangle 37"/>
          <p:cNvSpPr/>
          <p:nvPr/>
        </p:nvSpPr>
        <p:spPr>
          <a:xfrm>
            <a:off x="11439525" y="1876425"/>
            <a:ext cx="2847975" cy="1895474"/>
          </a:xfrm>
          <a:prstGeom prst="roundRect">
            <a:avLst>
              <a:gd name="adj" fmla="val 12060"/>
            </a:avLst>
          </a:prstGeom>
          <a:solidFill>
            <a:srgbClr val="10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1430000" y="1809750"/>
            <a:ext cx="2847975" cy="1895474"/>
          </a:xfrm>
          <a:prstGeom prst="roundRect">
            <a:avLst>
              <a:gd name="adj" fmla="val 12060"/>
            </a:avLst>
          </a:prstGeom>
          <a:solidFill>
            <a:srgbClr val="203453"/>
          </a:solidFill>
          <a:ln w="12382">
            <a:solidFill>
              <a:srgbClr val="425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0" name="Group 49"/>
          <p:cNvGrpSpPr/>
          <p:nvPr/>
        </p:nvGrpSpPr>
        <p:grpSpPr>
          <a:xfrm>
            <a:off x="12580143" y="2092225"/>
            <a:ext cx="500063" cy="541735"/>
            <a:chOff x="12580143" y="2092225"/>
            <a:chExt cx="500063" cy="541735"/>
          </a:xfrm>
        </p:grpSpPr>
        <p:cxnSp>
          <p:nvCxnSpPr>
            <p:cNvPr id="40" name="Connector 39"/>
            <p:cNvCxnSpPr/>
            <p:nvPr/>
          </p:nvCxnSpPr>
          <p:spPr>
            <a:xfrm flipV="1">
              <a:off x="12580143" y="2092225"/>
              <a:ext cx="250032" cy="114598"/>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2830175" y="2092225"/>
              <a:ext cx="250031" cy="114598"/>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3080206" y="2206823"/>
              <a:ext cx="0" cy="302121"/>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12830175" y="2508944"/>
              <a:ext cx="250031" cy="125016"/>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12580143" y="2508944"/>
              <a:ext cx="250032" cy="125016"/>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2580143" y="2206823"/>
              <a:ext cx="0" cy="302121"/>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2580143" y="2206823"/>
              <a:ext cx="250032" cy="125016"/>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12830175" y="2206823"/>
              <a:ext cx="250031" cy="125016"/>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2830175" y="2331839"/>
              <a:ext cx="0" cy="302121"/>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2705159" y="2154733"/>
              <a:ext cx="250031" cy="114598"/>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grpSp>
      <p:sp>
        <p:nvSpPr>
          <p:cNvPr id="51" name="TextBox 50"/>
          <p:cNvSpPr txBox="1"/>
          <p:nvPr/>
        </p:nvSpPr>
        <p:spPr>
          <a:xfrm>
            <a:off x="11591925" y="2876550"/>
            <a:ext cx="2524125" cy="381000"/>
          </a:xfrm>
          <a:prstGeom prst="rect">
            <a:avLst/>
          </a:prstGeom>
          <a:noFill/>
        </p:spPr>
        <p:txBody>
          <a:bodyPr wrap="none" lIns="0" rIns="0" tIns="0" bIns="0" anchor="t"/>
          <a:lstStyle/>
          <a:p>
            <a:pPr algn="ctr">
              <a:lnSpc>
                <a:spcPts val="2522"/>
              </a:lnSpc>
              <a:spcBef>
                <a:spcPts val="0"/>
              </a:spcBef>
              <a:spcAft>
                <a:spcPts val="0"/>
              </a:spcAft>
            </a:pPr>
            <a:r>
              <a:rPr sz="2175" b="1">
                <a:solidFill>
                  <a:srgbClr val="FFFFFF"/>
                </a:solidFill>
                <a:latin typeface="Arial"/>
              </a:rPr>
              <a:t>Case</a:t>
            </a:r>
          </a:p>
        </p:txBody>
      </p:sp>
      <p:sp>
        <p:nvSpPr>
          <p:cNvPr id="52" name="TextBox 51"/>
          <p:cNvSpPr txBox="1"/>
          <p:nvPr/>
        </p:nvSpPr>
        <p:spPr>
          <a:xfrm>
            <a:off x="11572875" y="3324225"/>
            <a:ext cx="2562225" cy="266700"/>
          </a:xfrm>
          <a:prstGeom prst="rect">
            <a:avLst/>
          </a:prstGeom>
          <a:noFill/>
        </p:spPr>
        <p:txBody>
          <a:bodyPr wrap="none" lIns="0" rIns="0" tIns="0" bIns="0" anchor="t"/>
          <a:lstStyle/>
          <a:p>
            <a:pPr algn="ctr">
              <a:lnSpc>
                <a:spcPts val="1479"/>
              </a:lnSpc>
              <a:spcBef>
                <a:spcPts val="0"/>
              </a:spcBef>
              <a:spcAft>
                <a:spcPts val="0"/>
              </a:spcAft>
            </a:pPr>
            <a:r>
              <a:rPr sz="1275" b="0">
                <a:solidFill>
                  <a:srgbClr val="AABAD2"/>
                </a:solidFill>
                <a:latin typeface="Arial"/>
              </a:rPr>
              <a:t>State + trigger + checks</a:t>
            </a:r>
          </a:p>
        </p:txBody>
      </p:sp>
      <p:sp>
        <p:nvSpPr>
          <p:cNvPr id="53" name="Rounded Rectangle 52"/>
          <p:cNvSpPr/>
          <p:nvPr/>
        </p:nvSpPr>
        <p:spPr>
          <a:xfrm>
            <a:off x="11439525" y="5353050"/>
            <a:ext cx="2847975" cy="1895474"/>
          </a:xfrm>
          <a:prstGeom prst="roundRect">
            <a:avLst>
              <a:gd name="adj" fmla="val 12060"/>
            </a:avLst>
          </a:prstGeom>
          <a:solidFill>
            <a:srgbClr val="10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11430000" y="5286375"/>
            <a:ext cx="2847975" cy="1895474"/>
          </a:xfrm>
          <a:prstGeom prst="roundRect">
            <a:avLst>
              <a:gd name="adj" fmla="val 12060"/>
            </a:avLst>
          </a:prstGeom>
          <a:solidFill>
            <a:srgbClr val="203453"/>
          </a:solidFill>
          <a:ln w="12382">
            <a:solidFill>
              <a:srgbClr val="425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3" name="Group 62"/>
          <p:cNvGrpSpPr/>
          <p:nvPr/>
        </p:nvGrpSpPr>
        <p:grpSpPr>
          <a:xfrm>
            <a:off x="12538471" y="5548014"/>
            <a:ext cx="583407" cy="510480"/>
            <a:chOff x="12538471" y="5548014"/>
            <a:chExt cx="583407" cy="510480"/>
          </a:xfrm>
        </p:grpSpPr>
        <p:sp>
          <p:nvSpPr>
            <p:cNvPr id="55" name="Rounded Rectangle 54"/>
            <p:cNvSpPr/>
            <p:nvPr/>
          </p:nvSpPr>
          <p:spPr>
            <a:xfrm>
              <a:off x="12600979" y="5693866"/>
              <a:ext cx="458390" cy="364628"/>
            </a:xfrm>
            <a:prstGeom prst="roundRect">
              <a:avLst>
                <a:gd name="adj" fmla="val 20000"/>
              </a:avLst>
            </a:prstGeom>
            <a:noFill/>
            <a:ln w="28128">
              <a:solidFill>
                <a:srgbClr val="57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a:off x="12830175" y="5589686"/>
              <a:ext cx="0" cy="104180"/>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12798921" y="5548014"/>
              <a:ext cx="62507" cy="62507"/>
            </a:xfrm>
            <a:prstGeom prst="ellipse">
              <a:avLst/>
            </a:prstGeom>
            <a:solidFill>
              <a:srgbClr val="57DDD0"/>
            </a:solidFill>
            <a:ln w="28128">
              <a:solidFill>
                <a:srgbClr val="57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12538471" y="5818882"/>
              <a:ext cx="62508" cy="0"/>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3059370" y="5818882"/>
              <a:ext cx="62508" cy="0"/>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sp>
          <p:nvSpPr>
            <p:cNvPr id="60" name="Oval 59"/>
            <p:cNvSpPr/>
            <p:nvPr/>
          </p:nvSpPr>
          <p:spPr>
            <a:xfrm>
              <a:off x="12715577" y="5798046"/>
              <a:ext cx="41671" cy="41671"/>
            </a:xfrm>
            <a:prstGeom prst="ellipse">
              <a:avLst/>
            </a:prstGeom>
            <a:solidFill>
              <a:srgbClr val="57DDD0"/>
            </a:solidFill>
            <a:ln w="28128">
              <a:solidFill>
                <a:srgbClr val="57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12903100" y="5798046"/>
              <a:ext cx="41671" cy="41671"/>
            </a:xfrm>
            <a:prstGeom prst="ellipse">
              <a:avLst/>
            </a:prstGeom>
            <a:solidFill>
              <a:srgbClr val="57DDD0"/>
            </a:solidFill>
            <a:ln w="28128">
              <a:solidFill>
                <a:srgbClr val="57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Connector 61"/>
            <p:cNvCxnSpPr/>
            <p:nvPr/>
          </p:nvCxnSpPr>
          <p:spPr>
            <a:xfrm>
              <a:off x="12746831" y="5943897"/>
              <a:ext cx="166687" cy="0"/>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grpSp>
      <p:sp>
        <p:nvSpPr>
          <p:cNvPr id="64" name="TextBox 63"/>
          <p:cNvSpPr txBox="1"/>
          <p:nvPr/>
        </p:nvSpPr>
        <p:spPr>
          <a:xfrm>
            <a:off x="11591925" y="6353175"/>
            <a:ext cx="2524125" cy="381000"/>
          </a:xfrm>
          <a:prstGeom prst="rect">
            <a:avLst/>
          </a:prstGeom>
          <a:noFill/>
        </p:spPr>
        <p:txBody>
          <a:bodyPr wrap="none" lIns="0" rIns="0" tIns="0" bIns="0" anchor="t"/>
          <a:lstStyle/>
          <a:p>
            <a:pPr algn="ctr">
              <a:lnSpc>
                <a:spcPts val="2522"/>
              </a:lnSpc>
              <a:spcBef>
                <a:spcPts val="0"/>
              </a:spcBef>
              <a:spcAft>
                <a:spcPts val="0"/>
              </a:spcAft>
            </a:pPr>
            <a:r>
              <a:rPr sz="2175" b="1">
                <a:solidFill>
                  <a:srgbClr val="FFFFFF"/>
                </a:solidFill>
                <a:latin typeface="Arial"/>
              </a:rPr>
              <a:t>Replay</a:t>
            </a:r>
          </a:p>
        </p:txBody>
      </p:sp>
      <p:sp>
        <p:nvSpPr>
          <p:cNvPr id="65" name="TextBox 64"/>
          <p:cNvSpPr txBox="1"/>
          <p:nvPr/>
        </p:nvSpPr>
        <p:spPr>
          <a:xfrm>
            <a:off x="11572875" y="6800850"/>
            <a:ext cx="2562225" cy="266700"/>
          </a:xfrm>
          <a:prstGeom prst="rect">
            <a:avLst/>
          </a:prstGeom>
          <a:noFill/>
        </p:spPr>
        <p:txBody>
          <a:bodyPr wrap="none" lIns="0" rIns="0" tIns="0" bIns="0" anchor="t"/>
          <a:lstStyle/>
          <a:p>
            <a:pPr algn="ctr">
              <a:lnSpc>
                <a:spcPts val="1479"/>
              </a:lnSpc>
              <a:spcBef>
                <a:spcPts val="0"/>
              </a:spcBef>
              <a:spcAft>
                <a:spcPts val="0"/>
              </a:spcAft>
            </a:pPr>
            <a:r>
              <a:rPr sz="1275" b="0">
                <a:solidFill>
                  <a:srgbClr val="AABAD2"/>
                </a:solidFill>
                <a:latin typeface="Arial"/>
              </a:rPr>
              <a:t>Compare agent behavior</a:t>
            </a:r>
          </a:p>
        </p:txBody>
      </p:sp>
      <p:sp>
        <p:nvSpPr>
          <p:cNvPr id="66" name="Rounded Rectangle 65"/>
          <p:cNvSpPr/>
          <p:nvPr/>
        </p:nvSpPr>
        <p:spPr>
          <a:xfrm>
            <a:off x="6686550" y="5353050"/>
            <a:ext cx="2847975" cy="1895474"/>
          </a:xfrm>
          <a:prstGeom prst="roundRect">
            <a:avLst>
              <a:gd name="adj" fmla="val 12060"/>
            </a:avLst>
          </a:prstGeom>
          <a:solidFill>
            <a:srgbClr val="10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6677025" y="5286375"/>
            <a:ext cx="2847975" cy="1895474"/>
          </a:xfrm>
          <a:prstGeom prst="roundRect">
            <a:avLst>
              <a:gd name="adj" fmla="val 12060"/>
            </a:avLst>
          </a:prstGeom>
          <a:solidFill>
            <a:srgbClr val="203453"/>
          </a:solidFill>
          <a:ln w="12382">
            <a:solidFill>
              <a:srgbClr val="425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78" name="Group 77"/>
          <p:cNvGrpSpPr/>
          <p:nvPr/>
        </p:nvGrpSpPr>
        <p:grpSpPr>
          <a:xfrm>
            <a:off x="7848004" y="5568850"/>
            <a:ext cx="458390" cy="520898"/>
            <a:chOff x="7848004" y="5568850"/>
            <a:chExt cx="458390" cy="520898"/>
          </a:xfrm>
        </p:grpSpPr>
        <p:sp>
          <p:nvSpPr>
            <p:cNvPr id="68" name="Rounded Rectangle 67"/>
            <p:cNvSpPr/>
            <p:nvPr/>
          </p:nvSpPr>
          <p:spPr>
            <a:xfrm>
              <a:off x="7848004" y="5568850"/>
              <a:ext cx="458390" cy="520898"/>
            </a:xfrm>
            <a:prstGeom prst="roundRect">
              <a:avLst>
                <a:gd name="adj" fmla="val 9090"/>
              </a:avLst>
            </a:prstGeom>
            <a:noFill/>
            <a:ln w="28128">
              <a:solidFill>
                <a:srgbClr val="57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Connector 68"/>
            <p:cNvCxnSpPr/>
            <p:nvPr/>
          </p:nvCxnSpPr>
          <p:spPr>
            <a:xfrm>
              <a:off x="7931348" y="5704284"/>
              <a:ext cx="41672" cy="41672"/>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7973020" y="5662612"/>
              <a:ext cx="62508" cy="83344"/>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8098035" y="5704284"/>
              <a:ext cx="125016" cy="0"/>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931348" y="5839717"/>
              <a:ext cx="41672" cy="41672"/>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7973020" y="5798046"/>
              <a:ext cx="62508" cy="83343"/>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8098035" y="5839717"/>
              <a:ext cx="125016" cy="0"/>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7931348" y="5975151"/>
              <a:ext cx="41672" cy="41672"/>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7973020" y="5933479"/>
              <a:ext cx="62508" cy="83344"/>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8098035" y="5975151"/>
              <a:ext cx="125016" cy="0"/>
            </a:xfrm>
            <a:prstGeom prst="line">
              <a:avLst/>
            </a:prstGeom>
            <a:ln w="28128">
              <a:solidFill>
                <a:srgbClr val="57DDD0"/>
              </a:solidFill>
            </a:ln>
          </p:spPr>
          <p:style>
            <a:lnRef idx="2">
              <a:schemeClr val="accent1"/>
            </a:lnRef>
            <a:fillRef idx="0">
              <a:schemeClr val="accent1"/>
            </a:fillRef>
            <a:effectRef idx="1">
              <a:schemeClr val="accent1"/>
            </a:effectRef>
            <a:fontRef idx="minor">
              <a:schemeClr val="tx1"/>
            </a:fontRef>
          </p:style>
        </p:cxnSp>
      </p:grpSp>
      <p:sp>
        <p:nvSpPr>
          <p:cNvPr id="79" name="TextBox 78"/>
          <p:cNvSpPr txBox="1"/>
          <p:nvPr/>
        </p:nvSpPr>
        <p:spPr>
          <a:xfrm>
            <a:off x="6838950" y="6353175"/>
            <a:ext cx="2524125" cy="381000"/>
          </a:xfrm>
          <a:prstGeom prst="rect">
            <a:avLst/>
          </a:prstGeom>
          <a:noFill/>
        </p:spPr>
        <p:txBody>
          <a:bodyPr wrap="none" lIns="0" rIns="0" tIns="0" bIns="0" anchor="t"/>
          <a:lstStyle/>
          <a:p>
            <a:pPr algn="ctr">
              <a:lnSpc>
                <a:spcPts val="2522"/>
              </a:lnSpc>
              <a:spcBef>
                <a:spcPts val="0"/>
              </a:spcBef>
              <a:spcAft>
                <a:spcPts val="0"/>
              </a:spcAft>
            </a:pPr>
            <a:r>
              <a:rPr sz="2175" b="1">
                <a:solidFill>
                  <a:srgbClr val="FFFFFF"/>
                </a:solidFill>
                <a:latin typeface="Arial"/>
              </a:rPr>
              <a:t>Regression</a:t>
            </a:r>
          </a:p>
        </p:txBody>
      </p:sp>
      <p:sp>
        <p:nvSpPr>
          <p:cNvPr id="80" name="TextBox 79"/>
          <p:cNvSpPr txBox="1"/>
          <p:nvPr/>
        </p:nvSpPr>
        <p:spPr>
          <a:xfrm>
            <a:off x="6819900" y="6800850"/>
            <a:ext cx="2562225" cy="266700"/>
          </a:xfrm>
          <a:prstGeom prst="rect">
            <a:avLst/>
          </a:prstGeom>
          <a:noFill/>
        </p:spPr>
        <p:txBody>
          <a:bodyPr wrap="none" lIns="0" rIns="0" tIns="0" bIns="0" anchor="t"/>
          <a:lstStyle/>
          <a:p>
            <a:pPr algn="ctr">
              <a:lnSpc>
                <a:spcPts val="1479"/>
              </a:lnSpc>
              <a:spcBef>
                <a:spcPts val="0"/>
              </a:spcBef>
              <a:spcAft>
                <a:spcPts val="0"/>
              </a:spcAft>
            </a:pPr>
            <a:r>
              <a:rPr sz="1275" b="0">
                <a:solidFill>
                  <a:srgbClr val="AABAD2"/>
                </a:solidFill>
                <a:latin typeface="Arial"/>
              </a:rPr>
              <a:t>Retain the useful test</a:t>
            </a:r>
          </a:p>
        </p:txBody>
      </p:sp>
      <p:sp>
        <p:nvSpPr>
          <p:cNvPr id="81" name="Oval 80"/>
          <p:cNvSpPr/>
          <p:nvPr/>
        </p:nvSpPr>
        <p:spPr>
          <a:xfrm>
            <a:off x="9658350" y="4019549"/>
            <a:ext cx="1438275" cy="1438275"/>
          </a:xfrm>
          <a:prstGeom prst="ellipse">
            <a:avLst/>
          </a:prstGeom>
          <a:solidFill>
            <a:srgbClr val="192B47"/>
          </a:solidFill>
          <a:ln w="19050">
            <a:solidFill>
              <a:srgbClr val="425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08" name="Group 107"/>
          <p:cNvGrpSpPr/>
          <p:nvPr/>
        </p:nvGrpSpPr>
        <p:grpSpPr>
          <a:xfrm>
            <a:off x="10209059" y="4383881"/>
            <a:ext cx="327376" cy="341981"/>
            <a:chOff x="10209059" y="4383881"/>
            <a:chExt cx="327376" cy="341981"/>
          </a:xfrm>
        </p:grpSpPr>
        <p:cxnSp>
          <p:nvCxnSpPr>
            <p:cNvPr id="82" name="Connector 81"/>
            <p:cNvCxnSpPr/>
            <p:nvPr/>
          </p:nvCxnSpPr>
          <p:spPr>
            <a:xfrm flipH="1">
              <a:off x="10461528" y="4678236"/>
              <a:ext cx="26958" cy="21771"/>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a:off x="10430592" y="4700007"/>
              <a:ext cx="30936" cy="15610"/>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10397064" y="4715617"/>
              <a:ext cx="33528" cy="8749"/>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a:off x="10362445" y="4724366"/>
              <a:ext cx="34619" cy="1496"/>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10328287" y="4720039"/>
              <a:ext cx="34158" cy="5823"/>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10296119" y="4707157"/>
              <a:ext cx="32168" cy="12882"/>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10267384" y="4687792"/>
              <a:ext cx="28735" cy="19365"/>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10243367" y="4662814"/>
              <a:ext cx="24017" cy="24978"/>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flipV="1">
              <a:off x="10225146" y="4633340"/>
              <a:ext cx="18221" cy="29474"/>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flipV="1">
              <a:off x="10213537" y="4600692"/>
              <a:ext cx="11609" cy="32648"/>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flipV="1">
              <a:off x="10209059" y="4566331"/>
              <a:ext cx="4478" cy="34361"/>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10209059" y="4531798"/>
              <a:ext cx="2854" cy="34533"/>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10211913" y="4498639"/>
              <a:ext cx="10059" cy="33159"/>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10221972" y="4468340"/>
              <a:ext cx="16812" cy="30299"/>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10238784" y="4442258"/>
              <a:ext cx="22813" cy="26082"/>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10261597" y="4421562"/>
              <a:ext cx="27792" cy="20696"/>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10289389" y="4407178"/>
              <a:ext cx="31525" cy="14384"/>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10320914" y="4399752"/>
              <a:ext cx="33846" cy="7426"/>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10354760" y="4399616"/>
              <a:ext cx="34651" cy="136"/>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10389411" y="4399616"/>
              <a:ext cx="33903" cy="7160"/>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10423314" y="4406776"/>
              <a:ext cx="31637" cy="14135"/>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0454951" y="4420911"/>
              <a:ext cx="27953" cy="20478"/>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10482904" y="4441389"/>
              <a:ext cx="23017" cy="25902"/>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10505921" y="4467291"/>
              <a:ext cx="17050" cy="30166"/>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10462021" y="4383881"/>
              <a:ext cx="74414" cy="44648"/>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a:off x="10521553" y="4428529"/>
              <a:ext cx="14882" cy="89297"/>
            </a:xfrm>
            <a:prstGeom prst="line">
              <a:avLst/>
            </a:prstGeom>
            <a:ln w="20091">
              <a:solidFill>
                <a:srgbClr val="57DDD0"/>
              </a:solidFill>
            </a:ln>
          </p:spPr>
          <p:style>
            <a:lnRef idx="2">
              <a:schemeClr val="accent1"/>
            </a:lnRef>
            <a:fillRef idx="0">
              <a:schemeClr val="accent1"/>
            </a:fillRef>
            <a:effectRef idx="1">
              <a:schemeClr val="accent1"/>
            </a:effectRef>
            <a:fontRef idx="minor">
              <a:schemeClr val="tx1"/>
            </a:fontRef>
          </p:style>
        </p:cxnSp>
      </p:grpSp>
      <p:sp>
        <p:nvSpPr>
          <p:cNvPr id="109" name="TextBox 108"/>
          <p:cNvSpPr txBox="1"/>
          <p:nvPr/>
        </p:nvSpPr>
        <p:spPr>
          <a:xfrm>
            <a:off x="9744075" y="4953000"/>
            <a:ext cx="1257300" cy="276225"/>
          </a:xfrm>
          <a:prstGeom prst="rect">
            <a:avLst/>
          </a:prstGeom>
          <a:noFill/>
        </p:spPr>
        <p:txBody>
          <a:bodyPr wrap="none" lIns="0" rIns="0" tIns="0" bIns="0" anchor="t"/>
          <a:lstStyle/>
          <a:p>
            <a:pPr algn="ctr">
              <a:lnSpc>
                <a:spcPts val="1565"/>
              </a:lnSpc>
              <a:spcBef>
                <a:spcPts val="0"/>
              </a:spcBef>
              <a:spcAft>
                <a:spcPts val="0"/>
              </a:spcAft>
            </a:pPr>
            <a:r>
              <a:rPr sz="1350" b="1">
                <a:solidFill>
                  <a:srgbClr val="AABAD2"/>
                </a:solidFill>
                <a:latin typeface="Arial"/>
              </a:rPr>
              <a:t>Repeat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ounded Rectangle 1"/>
          <p:cNvSpPr/>
          <p:nvPr/>
        </p:nvSpPr>
        <p:spPr>
          <a:xfrm>
            <a:off x="571500" y="390525"/>
            <a:ext cx="85725" cy="209550"/>
          </a:xfrm>
          <a:prstGeom prst="roundRect">
            <a:avLst>
              <a:gd name="adj" fmla="val 44444"/>
            </a:avLst>
          </a:prstGeom>
          <a:solidFill>
            <a:srgbClr val="39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1050" y="381000"/>
            <a:ext cx="13239750" cy="247649"/>
          </a:xfrm>
          <a:prstGeom prst="rect">
            <a:avLst/>
          </a:prstGeom>
          <a:noFill/>
        </p:spPr>
        <p:txBody>
          <a:bodyPr wrap="none" lIns="0" rIns="0" tIns="0" bIns="0" anchor="t"/>
          <a:lstStyle/>
          <a:p>
            <a:pPr algn="l">
              <a:lnSpc>
                <a:spcPts val="1305"/>
              </a:lnSpc>
              <a:spcBef>
                <a:spcPts val="0"/>
              </a:spcBef>
              <a:spcAft>
                <a:spcPts val="0"/>
              </a:spcAft>
            </a:pPr>
            <a:r>
              <a:rPr sz="1125" b="1">
                <a:solidFill>
                  <a:srgbClr val="64728B"/>
                </a:solidFill>
                <a:latin typeface="Arial"/>
              </a:rPr>
              <a:t>THE ENGINEERING LOOP</a:t>
            </a:r>
          </a:p>
        </p:txBody>
      </p:sp>
      <p:sp>
        <p:nvSpPr>
          <p:cNvPr id="4" name="TextBox 3"/>
          <p:cNvSpPr txBox="1"/>
          <p:nvPr/>
        </p:nvSpPr>
        <p:spPr>
          <a:xfrm>
            <a:off x="581025" y="8172450"/>
            <a:ext cx="13049250" cy="190500"/>
          </a:xfrm>
          <a:prstGeom prst="rect">
            <a:avLst/>
          </a:prstGeom>
          <a:noFill/>
        </p:spPr>
        <p:txBody>
          <a:bodyPr wrap="none" lIns="0" rIns="0" tIns="0" bIns="0" anchor="t"/>
          <a:lstStyle/>
          <a:p>
            <a:pPr algn="l">
              <a:lnSpc>
                <a:spcPts val="1044"/>
              </a:lnSpc>
              <a:spcBef>
                <a:spcPts val="0"/>
              </a:spcBef>
              <a:spcAft>
                <a:spcPts val="0"/>
              </a:spcAft>
            </a:pPr>
            <a:r>
              <a:rPr sz="900" b="0">
                <a:solidFill>
                  <a:srgbClr val="64728B"/>
                </a:solidFill>
                <a:latin typeface="Arial"/>
              </a:rPr>
              <a:t>INCIDENT REPLAY / SOFTWARE ENGINEERING</a:t>
            </a:r>
          </a:p>
        </p:txBody>
      </p:sp>
      <p:sp>
        <p:nvSpPr>
          <p:cNvPr id="5" name="TextBox 4"/>
          <p:cNvSpPr txBox="1"/>
          <p:nvPr/>
        </p:nvSpPr>
        <p:spPr>
          <a:xfrm>
            <a:off x="13887450" y="8124824"/>
            <a:ext cx="762000" cy="238125"/>
          </a:xfrm>
          <a:prstGeom prst="rect">
            <a:avLst/>
          </a:prstGeom>
          <a:noFill/>
        </p:spPr>
        <p:txBody>
          <a:bodyPr wrap="none" lIns="0" rIns="0" tIns="0" bIns="0" anchor="t"/>
          <a:lstStyle/>
          <a:p>
            <a:pPr algn="r">
              <a:lnSpc>
                <a:spcPts val="1218"/>
              </a:lnSpc>
              <a:spcBef>
                <a:spcPts val="0"/>
              </a:spcBef>
              <a:spcAft>
                <a:spcPts val="0"/>
              </a:spcAft>
            </a:pPr>
            <a:r>
              <a:rPr sz="1050" b="0">
                <a:solidFill>
                  <a:srgbClr val="64728B"/>
                </a:solidFill>
                <a:latin typeface="Courier New"/>
              </a:rPr>
              <a:t>02 / 10</a:t>
            </a:r>
          </a:p>
        </p:txBody>
      </p:sp>
      <p:sp>
        <p:nvSpPr>
          <p:cNvPr id="6" name="TextBox 5"/>
          <p:cNvSpPr txBox="1"/>
          <p:nvPr/>
        </p:nvSpPr>
        <p:spPr>
          <a:xfrm>
            <a:off x="571500" y="942975"/>
            <a:ext cx="14097000" cy="1181100"/>
          </a:xfrm>
          <a:prstGeom prst="rect">
            <a:avLst/>
          </a:prstGeom>
          <a:noFill/>
        </p:spPr>
        <p:txBody>
          <a:bodyPr wrap="none" lIns="0" rIns="0" tIns="0" bIns="0" anchor="t"/>
          <a:lstStyle/>
          <a:p>
            <a:pPr algn="l">
              <a:lnSpc>
                <a:spcPts val="4212"/>
              </a:lnSpc>
              <a:spcBef>
                <a:spcPts val="0"/>
              </a:spcBef>
              <a:spcAft>
                <a:spcPts val="0"/>
              </a:spcAft>
            </a:pPr>
            <a:r>
              <a:rPr sz="3900" b="1">
                <a:solidFill>
                  <a:srgbClr val="172540"/>
                </a:solidFill>
                <a:latin typeface="Arial"/>
              </a:rPr>
              <a:t>Turn a failure into a repeatable experiment.</a:t>
            </a:r>
          </a:p>
        </p:txBody>
      </p:sp>
      <p:sp>
        <p:nvSpPr>
          <p:cNvPr id="7" name="TextBox 6"/>
          <p:cNvSpPr txBox="1"/>
          <p:nvPr/>
        </p:nvSpPr>
        <p:spPr>
          <a:xfrm>
            <a:off x="600075" y="1685925"/>
            <a:ext cx="13906500" cy="647700"/>
          </a:xfrm>
          <a:prstGeom prst="rect">
            <a:avLst/>
          </a:prstGeom>
          <a:noFill/>
        </p:spPr>
        <p:txBody>
          <a:bodyPr wrap="none" lIns="0" rIns="0" tIns="0" bIns="0" anchor="t"/>
          <a:lstStyle/>
          <a:p>
            <a:pPr algn="l">
              <a:lnSpc>
                <a:spcPts val="2175"/>
              </a:lnSpc>
              <a:spcBef>
                <a:spcPts val="0"/>
              </a:spcBef>
              <a:spcAft>
                <a:spcPts val="0"/>
              </a:spcAft>
            </a:pPr>
            <a:r>
              <a:rPr sz="1875" b="0">
                <a:solidFill>
                  <a:srgbClr val="64728B"/>
                </a:solidFill>
                <a:latin typeface="Arial"/>
              </a:rPr>
              <a:t>Capture the conditions, compare a change, and keep the case for the next release.</a:t>
            </a:r>
          </a:p>
        </p:txBody>
      </p:sp>
      <p:sp>
        <p:nvSpPr>
          <p:cNvPr id="8" name="Rounded Rectangle 7"/>
          <p:cNvSpPr/>
          <p:nvPr/>
        </p:nvSpPr>
        <p:spPr>
          <a:xfrm>
            <a:off x="600075" y="2990850"/>
            <a:ext cx="2952750" cy="1343025"/>
          </a:xfrm>
          <a:prstGeom prst="roundRect">
            <a:avLst>
              <a:gd name="adj" fmla="val 14184"/>
            </a:avLst>
          </a:prstGeom>
          <a:solidFill>
            <a:srgbClr val="E7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0550" y="2924175"/>
            <a:ext cx="2952750" cy="1343025"/>
          </a:xfrm>
          <a:prstGeom prst="roundRect">
            <a:avLst>
              <a:gd name="adj" fmla="val 14184"/>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0" name="Group 19"/>
          <p:cNvGrpSpPr/>
          <p:nvPr/>
        </p:nvGrpSpPr>
        <p:grpSpPr>
          <a:xfrm>
            <a:off x="948332" y="3226891"/>
            <a:ext cx="341412" cy="452140"/>
            <a:chOff x="948332" y="3226891"/>
            <a:chExt cx="341412" cy="452140"/>
          </a:xfrm>
        </p:grpSpPr>
        <p:cxnSp>
          <p:nvCxnSpPr>
            <p:cNvPr id="10" name="Connector 9"/>
            <p:cNvCxnSpPr/>
            <p:nvPr/>
          </p:nvCxnSpPr>
          <p:spPr>
            <a:xfrm flipH="1">
              <a:off x="948332" y="3226891"/>
              <a:ext cx="230684"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48332" y="3226891"/>
              <a:ext cx="0" cy="45214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48332" y="3679031"/>
              <a:ext cx="341412"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289744" y="3346846"/>
              <a:ext cx="0" cy="332185"/>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1179016" y="3226891"/>
              <a:ext cx="110728" cy="119955"/>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179016" y="3226891"/>
              <a:ext cx="0" cy="119955"/>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79016" y="3346846"/>
              <a:ext cx="110728"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31378" y="3439120"/>
              <a:ext cx="175320"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031378" y="3522166"/>
              <a:ext cx="175320"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31378" y="3595985"/>
              <a:ext cx="110729"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21" name="TextBox 20"/>
          <p:cNvSpPr txBox="1"/>
          <p:nvPr/>
        </p:nvSpPr>
        <p:spPr>
          <a:xfrm>
            <a:off x="1619250" y="3171825"/>
            <a:ext cx="1724025" cy="438150"/>
          </a:xfrm>
          <a:prstGeom prst="rect">
            <a:avLst/>
          </a:prstGeom>
          <a:noFill/>
        </p:spPr>
        <p:txBody>
          <a:bodyPr wrap="none" lIns="0" rIns="0" tIns="0" bIns="0" anchor="t"/>
          <a:lstStyle/>
          <a:p>
            <a:pPr algn="l">
              <a:lnSpc>
                <a:spcPts val="2261"/>
              </a:lnSpc>
              <a:spcBef>
                <a:spcPts val="0"/>
              </a:spcBef>
              <a:spcAft>
                <a:spcPts val="0"/>
              </a:spcAft>
            </a:pPr>
            <a:r>
              <a:rPr sz="1950" b="1">
                <a:solidFill>
                  <a:srgbClr val="172540"/>
                </a:solidFill>
                <a:latin typeface="Arial"/>
              </a:rPr>
              <a:t>Bug report</a:t>
            </a:r>
          </a:p>
        </p:txBody>
      </p:sp>
      <p:sp>
        <p:nvSpPr>
          <p:cNvPr id="22" name="TextBox 21"/>
          <p:cNvSpPr txBox="1"/>
          <p:nvPr/>
        </p:nvSpPr>
        <p:spPr>
          <a:xfrm>
            <a:off x="1619250" y="3667125"/>
            <a:ext cx="1724025" cy="495299"/>
          </a:xfrm>
          <a:prstGeom prst="rect">
            <a:avLst/>
          </a:prstGeom>
          <a:noFill/>
        </p:spPr>
        <p:txBody>
          <a:bodyPr wrap="none" lIns="0" rIns="0" tIns="0" bIns="0" anchor="t"/>
          <a:lstStyle/>
          <a:p>
            <a:pPr algn="l">
              <a:lnSpc>
                <a:spcPts val="1739"/>
              </a:lnSpc>
              <a:spcBef>
                <a:spcPts val="0"/>
              </a:spcBef>
              <a:spcAft>
                <a:spcPts val="0"/>
              </a:spcAft>
            </a:pPr>
            <a:r>
              <a:rPr sz="1500" b="0">
                <a:solidFill>
                  <a:srgbClr val="64728B"/>
                </a:solidFill>
                <a:latin typeface="Arial"/>
              </a:rPr>
              <a:t>Symptoms +</a:t>
            </a:r>
          </a:p>
          <a:p>
            <a:pPr algn="l">
              <a:lnSpc>
                <a:spcPts val="1739"/>
              </a:lnSpc>
              <a:spcBef>
                <a:spcPts val="0"/>
              </a:spcBef>
              <a:spcAft>
                <a:spcPts val="0"/>
              </a:spcAft>
            </a:pPr>
            <a:r>
              <a:rPr sz="1500" b="0">
                <a:solidFill>
                  <a:srgbClr val="64728B"/>
                </a:solidFill>
                <a:latin typeface="Arial"/>
              </a:rPr>
              <a:t>context</a:t>
            </a:r>
          </a:p>
        </p:txBody>
      </p:sp>
      <p:sp>
        <p:nvSpPr>
          <p:cNvPr id="23" name="Rounded Rectangle 22"/>
          <p:cNvSpPr/>
          <p:nvPr/>
        </p:nvSpPr>
        <p:spPr>
          <a:xfrm>
            <a:off x="600075" y="4762500"/>
            <a:ext cx="2952750" cy="1343025"/>
          </a:xfrm>
          <a:prstGeom prst="roundRect">
            <a:avLst>
              <a:gd name="adj" fmla="val 14184"/>
            </a:avLst>
          </a:prstGeom>
          <a:solidFill>
            <a:srgbClr val="E7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90550" y="4695825"/>
            <a:ext cx="2952750" cy="1343025"/>
          </a:xfrm>
          <a:prstGeom prst="roundRect">
            <a:avLst>
              <a:gd name="adj" fmla="val 14184"/>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5" name="Group 34"/>
          <p:cNvGrpSpPr/>
          <p:nvPr/>
        </p:nvGrpSpPr>
        <p:grpSpPr>
          <a:xfrm>
            <a:off x="948332" y="4998541"/>
            <a:ext cx="341412" cy="452140"/>
            <a:chOff x="948332" y="4998541"/>
            <a:chExt cx="341412" cy="452140"/>
          </a:xfrm>
        </p:grpSpPr>
        <p:cxnSp>
          <p:nvCxnSpPr>
            <p:cNvPr id="25" name="Connector 24"/>
            <p:cNvCxnSpPr/>
            <p:nvPr/>
          </p:nvCxnSpPr>
          <p:spPr>
            <a:xfrm flipH="1">
              <a:off x="948332" y="4998541"/>
              <a:ext cx="230684"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48332" y="4998541"/>
              <a:ext cx="0" cy="45214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948332" y="5450681"/>
              <a:ext cx="341412"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1289744" y="5118496"/>
              <a:ext cx="0" cy="332185"/>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1179016" y="4998541"/>
              <a:ext cx="110728" cy="119955"/>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179016" y="4998541"/>
              <a:ext cx="0" cy="119955"/>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179016" y="5118496"/>
              <a:ext cx="110728"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31378" y="5210770"/>
              <a:ext cx="175320"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31378" y="5293816"/>
              <a:ext cx="175320"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31378" y="5367635"/>
              <a:ext cx="110729"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36" name="TextBox 35"/>
          <p:cNvSpPr txBox="1"/>
          <p:nvPr/>
        </p:nvSpPr>
        <p:spPr>
          <a:xfrm>
            <a:off x="1619250" y="4943475"/>
            <a:ext cx="1724025" cy="438150"/>
          </a:xfrm>
          <a:prstGeom prst="rect">
            <a:avLst/>
          </a:prstGeom>
          <a:noFill/>
        </p:spPr>
        <p:txBody>
          <a:bodyPr wrap="none" lIns="0" rIns="0" tIns="0" bIns="0" anchor="t"/>
          <a:lstStyle/>
          <a:p>
            <a:pPr algn="l">
              <a:lnSpc>
                <a:spcPts val="2261"/>
              </a:lnSpc>
              <a:spcBef>
                <a:spcPts val="0"/>
              </a:spcBef>
              <a:spcAft>
                <a:spcPts val="0"/>
              </a:spcAft>
            </a:pPr>
            <a:r>
              <a:rPr sz="1950" b="1">
                <a:solidFill>
                  <a:srgbClr val="172540"/>
                </a:solidFill>
                <a:latin typeface="Arial"/>
              </a:rPr>
              <a:t>Run trace</a:t>
            </a:r>
          </a:p>
        </p:txBody>
      </p:sp>
      <p:sp>
        <p:nvSpPr>
          <p:cNvPr id="37" name="TextBox 36"/>
          <p:cNvSpPr txBox="1"/>
          <p:nvPr/>
        </p:nvSpPr>
        <p:spPr>
          <a:xfrm>
            <a:off x="1619250" y="5438775"/>
            <a:ext cx="1724025" cy="495299"/>
          </a:xfrm>
          <a:prstGeom prst="rect">
            <a:avLst/>
          </a:prstGeom>
          <a:noFill/>
        </p:spPr>
        <p:txBody>
          <a:bodyPr wrap="none" lIns="0" rIns="0" tIns="0" bIns="0" anchor="t"/>
          <a:lstStyle/>
          <a:p>
            <a:pPr algn="l">
              <a:lnSpc>
                <a:spcPts val="1739"/>
              </a:lnSpc>
              <a:spcBef>
                <a:spcPts val="0"/>
              </a:spcBef>
              <a:spcAft>
                <a:spcPts val="0"/>
              </a:spcAft>
            </a:pPr>
            <a:r>
              <a:rPr sz="1500" b="0">
                <a:solidFill>
                  <a:srgbClr val="64728B"/>
                </a:solidFill>
                <a:latin typeface="Arial"/>
              </a:rPr>
              <a:t>Actions + tool</a:t>
            </a:r>
          </a:p>
          <a:p>
            <a:pPr algn="l">
              <a:lnSpc>
                <a:spcPts val="1739"/>
              </a:lnSpc>
              <a:spcBef>
                <a:spcPts val="0"/>
              </a:spcBef>
              <a:spcAft>
                <a:spcPts val="0"/>
              </a:spcAft>
            </a:pPr>
            <a:r>
              <a:rPr sz="1500" b="0">
                <a:solidFill>
                  <a:srgbClr val="64728B"/>
                </a:solidFill>
                <a:latin typeface="Arial"/>
              </a:rPr>
              <a:t>results</a:t>
            </a:r>
          </a:p>
        </p:txBody>
      </p:sp>
      <p:cxnSp>
        <p:nvCxnSpPr>
          <p:cNvPr id="38" name="Connector 37"/>
          <p:cNvCxnSpPr/>
          <p:nvPr/>
        </p:nvCxnSpPr>
        <p:spPr>
          <a:xfrm>
            <a:off x="3543300" y="3600450"/>
            <a:ext cx="466725" cy="0"/>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010025" y="3600450"/>
            <a:ext cx="0" cy="866775"/>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4010025" y="4467225"/>
            <a:ext cx="495300" cy="0"/>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4405017" y="4467225"/>
            <a:ext cx="100308" cy="54798"/>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4405017" y="4412426"/>
            <a:ext cx="100308" cy="54799"/>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543300" y="5372100"/>
            <a:ext cx="466725" cy="0"/>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010025" y="4467225"/>
            <a:ext cx="0" cy="904875"/>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4619625" y="3200400"/>
            <a:ext cx="3028950" cy="2695575"/>
          </a:xfrm>
          <a:prstGeom prst="roundRect">
            <a:avLst>
              <a:gd name="adj" fmla="val 7067"/>
            </a:avLst>
          </a:prstGeom>
          <a:solidFill>
            <a:srgbClr val="E7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4610100" y="3133725"/>
            <a:ext cx="3028950" cy="2695575"/>
          </a:xfrm>
          <a:prstGeom prst="roundRect">
            <a:avLst>
              <a:gd name="adj" fmla="val 7067"/>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7" name="Group 56"/>
          <p:cNvGrpSpPr/>
          <p:nvPr/>
        </p:nvGrpSpPr>
        <p:grpSpPr>
          <a:xfrm>
            <a:off x="5774531" y="3531096"/>
            <a:ext cx="700087" cy="758428"/>
            <a:chOff x="5774531" y="3531096"/>
            <a:chExt cx="700087" cy="758428"/>
          </a:xfrm>
        </p:grpSpPr>
        <p:cxnSp>
          <p:nvCxnSpPr>
            <p:cNvPr id="47" name="Connector 46"/>
            <p:cNvCxnSpPr/>
            <p:nvPr/>
          </p:nvCxnSpPr>
          <p:spPr>
            <a:xfrm flipV="1">
              <a:off x="5774531" y="3531096"/>
              <a:ext cx="350044" cy="160436"/>
            </a:xfrm>
            <a:prstGeom prst="line">
              <a:avLst/>
            </a:prstGeom>
            <a:ln w="3937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124575" y="3531096"/>
              <a:ext cx="350043" cy="160436"/>
            </a:xfrm>
            <a:prstGeom prst="line">
              <a:avLst/>
            </a:prstGeom>
            <a:ln w="3937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474618" y="3691532"/>
              <a:ext cx="0" cy="422970"/>
            </a:xfrm>
            <a:prstGeom prst="line">
              <a:avLst/>
            </a:prstGeom>
            <a:ln w="3937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6124575" y="4114502"/>
              <a:ext cx="350043" cy="175022"/>
            </a:xfrm>
            <a:prstGeom prst="line">
              <a:avLst/>
            </a:prstGeom>
            <a:ln w="3937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5774531" y="4114502"/>
              <a:ext cx="350044" cy="175022"/>
            </a:xfrm>
            <a:prstGeom prst="line">
              <a:avLst/>
            </a:prstGeom>
            <a:ln w="3937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5774531" y="3691532"/>
              <a:ext cx="0" cy="422970"/>
            </a:xfrm>
            <a:prstGeom prst="line">
              <a:avLst/>
            </a:prstGeom>
            <a:ln w="3937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5774531" y="3691532"/>
              <a:ext cx="350044" cy="175022"/>
            </a:xfrm>
            <a:prstGeom prst="line">
              <a:avLst/>
            </a:prstGeom>
            <a:ln w="3937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6124575" y="3691532"/>
              <a:ext cx="350043" cy="175022"/>
            </a:xfrm>
            <a:prstGeom prst="line">
              <a:avLst/>
            </a:prstGeom>
            <a:ln w="3937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6124575" y="3866554"/>
              <a:ext cx="0" cy="422970"/>
            </a:xfrm>
            <a:prstGeom prst="line">
              <a:avLst/>
            </a:prstGeom>
            <a:ln w="3937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5949553" y="3618607"/>
              <a:ext cx="350043" cy="160436"/>
            </a:xfrm>
            <a:prstGeom prst="line">
              <a:avLst/>
            </a:prstGeom>
            <a:ln w="39379">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58" name="TextBox 57"/>
          <p:cNvSpPr txBox="1"/>
          <p:nvPr/>
        </p:nvSpPr>
        <p:spPr>
          <a:xfrm>
            <a:off x="4829175" y="4581525"/>
            <a:ext cx="2590800" cy="409575"/>
          </a:xfrm>
          <a:prstGeom prst="rect">
            <a:avLst/>
          </a:prstGeom>
          <a:noFill/>
        </p:spPr>
        <p:txBody>
          <a:bodyPr wrap="none" lIns="0" rIns="0" tIns="0" bIns="0" anchor="t"/>
          <a:lstStyle/>
          <a:p>
            <a:pPr algn="ctr">
              <a:lnSpc>
                <a:spcPts val="2522"/>
              </a:lnSpc>
              <a:spcBef>
                <a:spcPts val="0"/>
              </a:spcBef>
              <a:spcAft>
                <a:spcPts val="0"/>
              </a:spcAft>
            </a:pPr>
            <a:r>
              <a:rPr sz="2175" b="1">
                <a:solidFill>
                  <a:srgbClr val="172540"/>
                </a:solidFill>
                <a:latin typeface="Arial"/>
              </a:rPr>
              <a:t>Executable case</a:t>
            </a:r>
          </a:p>
        </p:txBody>
      </p:sp>
      <p:sp>
        <p:nvSpPr>
          <p:cNvPr id="59" name="TextBox 58"/>
          <p:cNvSpPr txBox="1"/>
          <p:nvPr/>
        </p:nvSpPr>
        <p:spPr>
          <a:xfrm>
            <a:off x="4838700" y="5124450"/>
            <a:ext cx="2571750" cy="552450"/>
          </a:xfrm>
          <a:prstGeom prst="rect">
            <a:avLst/>
          </a:prstGeom>
          <a:noFill/>
        </p:spPr>
        <p:txBody>
          <a:bodyPr wrap="none" lIns="0" rIns="0" tIns="0" bIns="0" anchor="t"/>
          <a:lstStyle/>
          <a:p>
            <a:pPr algn="ctr">
              <a:lnSpc>
                <a:spcPts val="1827"/>
              </a:lnSpc>
              <a:spcBef>
                <a:spcPts val="0"/>
              </a:spcBef>
              <a:spcAft>
                <a:spcPts val="0"/>
              </a:spcAft>
            </a:pPr>
            <a:r>
              <a:rPr sz="1575" b="0">
                <a:solidFill>
                  <a:srgbClr val="64728B"/>
                </a:solidFill>
                <a:latin typeface="Arial"/>
              </a:rPr>
              <a:t>Restore the state.</a:t>
            </a:r>
          </a:p>
          <a:p>
            <a:pPr algn="ctr">
              <a:lnSpc>
                <a:spcPts val="1827"/>
              </a:lnSpc>
              <a:spcBef>
                <a:spcPts val="0"/>
              </a:spcBef>
              <a:spcAft>
                <a:spcPts val="0"/>
              </a:spcAft>
            </a:pPr>
            <a:r>
              <a:rPr sz="1575" b="0">
                <a:solidFill>
                  <a:srgbClr val="64728B"/>
                </a:solidFill>
                <a:latin typeface="Arial"/>
              </a:rPr>
              <a:t>Recreate the trigger.</a:t>
            </a:r>
          </a:p>
        </p:txBody>
      </p:sp>
      <p:cxnSp>
        <p:nvCxnSpPr>
          <p:cNvPr id="60" name="Connector 59"/>
          <p:cNvCxnSpPr/>
          <p:nvPr/>
        </p:nvCxnSpPr>
        <p:spPr>
          <a:xfrm>
            <a:off x="7639049" y="4476750"/>
            <a:ext cx="457200" cy="0"/>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8096249" y="3305175"/>
            <a:ext cx="0" cy="1171575"/>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8096249" y="3305175"/>
            <a:ext cx="581026" cy="0"/>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8576967" y="3305175"/>
            <a:ext cx="100308" cy="54798"/>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8576967" y="3250376"/>
            <a:ext cx="100308" cy="54799"/>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096249" y="4476750"/>
            <a:ext cx="0" cy="866775"/>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8096249" y="5343525"/>
            <a:ext cx="581026" cy="0"/>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8576967" y="5343525"/>
            <a:ext cx="100308" cy="54798"/>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8576967" y="5288726"/>
            <a:ext cx="100308" cy="54799"/>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sp>
        <p:nvSpPr>
          <p:cNvPr id="69" name="Rounded Rectangle 68"/>
          <p:cNvSpPr/>
          <p:nvPr/>
        </p:nvSpPr>
        <p:spPr>
          <a:xfrm>
            <a:off x="8810625" y="2752725"/>
            <a:ext cx="2590800" cy="1304925"/>
          </a:xfrm>
          <a:prstGeom prst="roundRect">
            <a:avLst>
              <a:gd name="adj" fmla="val 14598"/>
            </a:avLst>
          </a:prstGeom>
          <a:solidFill>
            <a:srgbClr val="E7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8801100" y="2686050"/>
            <a:ext cx="2590800" cy="1304925"/>
          </a:xfrm>
          <a:prstGeom prst="roundRect">
            <a:avLst>
              <a:gd name="adj" fmla="val 14598"/>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79" name="Group 78"/>
          <p:cNvGrpSpPr/>
          <p:nvPr/>
        </p:nvGrpSpPr>
        <p:grpSpPr>
          <a:xfrm>
            <a:off x="9066609" y="2970311"/>
            <a:ext cx="516731" cy="452140"/>
            <a:chOff x="9066609" y="2970311"/>
            <a:chExt cx="516731" cy="452140"/>
          </a:xfrm>
        </p:grpSpPr>
        <p:sp>
          <p:nvSpPr>
            <p:cNvPr id="71" name="Rounded Rectangle 70"/>
            <p:cNvSpPr/>
            <p:nvPr/>
          </p:nvSpPr>
          <p:spPr>
            <a:xfrm>
              <a:off x="9121973" y="3099494"/>
              <a:ext cx="406003" cy="322957"/>
            </a:xfrm>
            <a:prstGeom prst="roundRect">
              <a:avLst>
                <a:gd name="adj" fmla="val 20000"/>
              </a:avLst>
            </a:prstGeom>
            <a:noFill/>
            <a:ln w="24913">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2" name="Connector 71"/>
            <p:cNvCxnSpPr/>
            <p:nvPr/>
          </p:nvCxnSpPr>
          <p:spPr>
            <a:xfrm>
              <a:off x="9324975" y="3007221"/>
              <a:ext cx="0" cy="92273"/>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9297292" y="2970311"/>
              <a:ext cx="55364" cy="55364"/>
            </a:xfrm>
            <a:prstGeom prst="ellipse">
              <a:avLst/>
            </a:prstGeom>
            <a:solidFill>
              <a:srgbClr val="3973F6"/>
            </a:solidFill>
            <a:ln w="24913">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4" name="Connector 73"/>
            <p:cNvCxnSpPr/>
            <p:nvPr/>
          </p:nvCxnSpPr>
          <p:spPr>
            <a:xfrm>
              <a:off x="9066609" y="3210222"/>
              <a:ext cx="55364"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9527976" y="3210222"/>
              <a:ext cx="55364"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sp>
          <p:nvSpPr>
            <p:cNvPr id="76" name="Oval 75"/>
            <p:cNvSpPr/>
            <p:nvPr/>
          </p:nvSpPr>
          <p:spPr>
            <a:xfrm>
              <a:off x="9223474" y="3191767"/>
              <a:ext cx="36909" cy="36909"/>
            </a:xfrm>
            <a:prstGeom prst="ellipse">
              <a:avLst/>
            </a:prstGeom>
            <a:solidFill>
              <a:srgbClr val="3973F6"/>
            </a:solidFill>
            <a:ln w="24913">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9389566" y="3191767"/>
              <a:ext cx="36909" cy="36909"/>
            </a:xfrm>
            <a:prstGeom prst="ellipse">
              <a:avLst/>
            </a:prstGeom>
            <a:solidFill>
              <a:srgbClr val="3973F6"/>
            </a:solidFill>
            <a:ln w="24913">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Connector 77"/>
            <p:cNvCxnSpPr/>
            <p:nvPr/>
          </p:nvCxnSpPr>
          <p:spPr>
            <a:xfrm>
              <a:off x="9251156" y="3320950"/>
              <a:ext cx="147637"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80" name="TextBox 79"/>
          <p:cNvSpPr txBox="1"/>
          <p:nvPr/>
        </p:nvSpPr>
        <p:spPr>
          <a:xfrm>
            <a:off x="9829800" y="2933700"/>
            <a:ext cx="1362075" cy="438150"/>
          </a:xfrm>
          <a:prstGeom prst="rect">
            <a:avLst/>
          </a:prstGeom>
          <a:noFill/>
        </p:spPr>
        <p:txBody>
          <a:bodyPr wrap="none" lIns="0" rIns="0" tIns="0" bIns="0" anchor="t"/>
          <a:lstStyle/>
          <a:p>
            <a:pPr algn="l">
              <a:lnSpc>
                <a:spcPts val="2261"/>
              </a:lnSpc>
              <a:spcBef>
                <a:spcPts val="0"/>
              </a:spcBef>
              <a:spcAft>
                <a:spcPts val="0"/>
              </a:spcAft>
            </a:pPr>
            <a:r>
              <a:rPr sz="1950" b="1">
                <a:solidFill>
                  <a:srgbClr val="172540"/>
                </a:solidFill>
                <a:latin typeface="Arial"/>
              </a:rPr>
              <a:t>Baseline</a:t>
            </a:r>
          </a:p>
        </p:txBody>
      </p:sp>
      <p:sp>
        <p:nvSpPr>
          <p:cNvPr id="81" name="TextBox 80"/>
          <p:cNvSpPr txBox="1"/>
          <p:nvPr/>
        </p:nvSpPr>
        <p:spPr>
          <a:xfrm>
            <a:off x="9829800" y="3429000"/>
            <a:ext cx="1362075" cy="457200"/>
          </a:xfrm>
          <a:prstGeom prst="rect">
            <a:avLst/>
          </a:prstGeom>
          <a:noFill/>
        </p:spPr>
        <p:txBody>
          <a:bodyPr wrap="none" lIns="0" rIns="0" tIns="0" bIns="0" anchor="t"/>
          <a:lstStyle/>
          <a:p>
            <a:pPr algn="l">
              <a:lnSpc>
                <a:spcPts val="1739"/>
              </a:lnSpc>
              <a:spcBef>
                <a:spcPts val="0"/>
              </a:spcBef>
              <a:spcAft>
                <a:spcPts val="0"/>
              </a:spcAft>
            </a:pPr>
            <a:r>
              <a:rPr sz="1500" b="0">
                <a:solidFill>
                  <a:srgbClr val="64728B"/>
                </a:solidFill>
                <a:latin typeface="Arial"/>
              </a:rPr>
              <a:t>Current</a:t>
            </a:r>
          </a:p>
          <a:p>
            <a:pPr algn="l">
              <a:lnSpc>
                <a:spcPts val="1739"/>
              </a:lnSpc>
              <a:spcBef>
                <a:spcPts val="0"/>
              </a:spcBef>
              <a:spcAft>
                <a:spcPts val="0"/>
              </a:spcAft>
            </a:pPr>
            <a:r>
              <a:rPr sz="1500" b="0">
                <a:solidFill>
                  <a:srgbClr val="64728B"/>
                </a:solidFill>
                <a:latin typeface="Arial"/>
              </a:rPr>
              <a:t>workflow</a:t>
            </a:r>
          </a:p>
        </p:txBody>
      </p:sp>
      <p:sp>
        <p:nvSpPr>
          <p:cNvPr id="82" name="Rounded Rectangle 81"/>
          <p:cNvSpPr/>
          <p:nvPr/>
        </p:nvSpPr>
        <p:spPr>
          <a:xfrm>
            <a:off x="8810625" y="4791075"/>
            <a:ext cx="2590800" cy="1304925"/>
          </a:xfrm>
          <a:prstGeom prst="roundRect">
            <a:avLst>
              <a:gd name="adj" fmla="val 14598"/>
            </a:avLst>
          </a:prstGeom>
          <a:solidFill>
            <a:srgbClr val="E7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ounded Rectangle 82"/>
          <p:cNvSpPr/>
          <p:nvPr/>
        </p:nvSpPr>
        <p:spPr>
          <a:xfrm>
            <a:off x="8801100" y="4724400"/>
            <a:ext cx="2590800" cy="1304925"/>
          </a:xfrm>
          <a:prstGeom prst="roundRect">
            <a:avLst>
              <a:gd name="adj" fmla="val 14598"/>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92" name="Group 91"/>
          <p:cNvGrpSpPr/>
          <p:nvPr/>
        </p:nvGrpSpPr>
        <p:grpSpPr>
          <a:xfrm>
            <a:off x="9066609" y="5008661"/>
            <a:ext cx="516731" cy="452140"/>
            <a:chOff x="9066609" y="5008661"/>
            <a:chExt cx="516731" cy="452140"/>
          </a:xfrm>
        </p:grpSpPr>
        <p:sp>
          <p:nvSpPr>
            <p:cNvPr id="84" name="Rounded Rectangle 83"/>
            <p:cNvSpPr/>
            <p:nvPr/>
          </p:nvSpPr>
          <p:spPr>
            <a:xfrm>
              <a:off x="9121973" y="5137844"/>
              <a:ext cx="406003" cy="322957"/>
            </a:xfrm>
            <a:prstGeom prst="roundRect">
              <a:avLst>
                <a:gd name="adj" fmla="val 20000"/>
              </a:avLst>
            </a:prstGeom>
            <a:noFill/>
            <a:ln w="24913">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5" name="Connector 84"/>
            <p:cNvCxnSpPr/>
            <p:nvPr/>
          </p:nvCxnSpPr>
          <p:spPr>
            <a:xfrm>
              <a:off x="9324975" y="5045571"/>
              <a:ext cx="0" cy="92273"/>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sp>
          <p:nvSpPr>
            <p:cNvPr id="86" name="Oval 85"/>
            <p:cNvSpPr/>
            <p:nvPr/>
          </p:nvSpPr>
          <p:spPr>
            <a:xfrm>
              <a:off x="9297292" y="5008661"/>
              <a:ext cx="55364" cy="55364"/>
            </a:xfrm>
            <a:prstGeom prst="ellipse">
              <a:avLst/>
            </a:prstGeom>
            <a:solidFill>
              <a:srgbClr val="0B9696"/>
            </a:solidFill>
            <a:ln w="24913">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7" name="Connector 86"/>
            <p:cNvCxnSpPr/>
            <p:nvPr/>
          </p:nvCxnSpPr>
          <p:spPr>
            <a:xfrm>
              <a:off x="9066609" y="5248572"/>
              <a:ext cx="55364" cy="0"/>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9527976" y="5248572"/>
              <a:ext cx="55364" cy="0"/>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sp>
          <p:nvSpPr>
            <p:cNvPr id="89" name="Oval 88"/>
            <p:cNvSpPr/>
            <p:nvPr/>
          </p:nvSpPr>
          <p:spPr>
            <a:xfrm>
              <a:off x="9223474" y="5230117"/>
              <a:ext cx="36909" cy="36909"/>
            </a:xfrm>
            <a:prstGeom prst="ellipse">
              <a:avLst/>
            </a:prstGeom>
            <a:solidFill>
              <a:srgbClr val="0B9696"/>
            </a:solidFill>
            <a:ln w="24913">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9389566" y="5230117"/>
              <a:ext cx="36909" cy="36909"/>
            </a:xfrm>
            <a:prstGeom prst="ellipse">
              <a:avLst/>
            </a:prstGeom>
            <a:solidFill>
              <a:srgbClr val="0B9696"/>
            </a:solidFill>
            <a:ln w="24913">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1" name="Connector 90"/>
            <p:cNvCxnSpPr/>
            <p:nvPr/>
          </p:nvCxnSpPr>
          <p:spPr>
            <a:xfrm>
              <a:off x="9251156" y="5359300"/>
              <a:ext cx="147637" cy="0"/>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grpSp>
      <p:sp>
        <p:nvSpPr>
          <p:cNvPr id="93" name="TextBox 92"/>
          <p:cNvSpPr txBox="1"/>
          <p:nvPr/>
        </p:nvSpPr>
        <p:spPr>
          <a:xfrm>
            <a:off x="9829800" y="4972050"/>
            <a:ext cx="1362075" cy="438150"/>
          </a:xfrm>
          <a:prstGeom prst="rect">
            <a:avLst/>
          </a:prstGeom>
          <a:noFill/>
        </p:spPr>
        <p:txBody>
          <a:bodyPr wrap="none" lIns="0" rIns="0" tIns="0" bIns="0" anchor="t"/>
          <a:lstStyle/>
          <a:p>
            <a:pPr algn="l">
              <a:lnSpc>
                <a:spcPts val="2261"/>
              </a:lnSpc>
              <a:spcBef>
                <a:spcPts val="0"/>
              </a:spcBef>
              <a:spcAft>
                <a:spcPts val="0"/>
              </a:spcAft>
            </a:pPr>
            <a:r>
              <a:rPr sz="1950" b="1">
                <a:solidFill>
                  <a:srgbClr val="172540"/>
                </a:solidFill>
                <a:latin typeface="Arial"/>
              </a:rPr>
              <a:t>Candidate</a:t>
            </a:r>
          </a:p>
        </p:txBody>
      </p:sp>
      <p:sp>
        <p:nvSpPr>
          <p:cNvPr id="94" name="TextBox 93"/>
          <p:cNvSpPr txBox="1"/>
          <p:nvPr/>
        </p:nvSpPr>
        <p:spPr>
          <a:xfrm>
            <a:off x="9829800" y="5467350"/>
            <a:ext cx="1362075" cy="457200"/>
          </a:xfrm>
          <a:prstGeom prst="rect">
            <a:avLst/>
          </a:prstGeom>
          <a:noFill/>
        </p:spPr>
        <p:txBody>
          <a:bodyPr wrap="none" lIns="0" rIns="0" tIns="0" bIns="0" anchor="t"/>
          <a:lstStyle/>
          <a:p>
            <a:pPr algn="l">
              <a:lnSpc>
                <a:spcPts val="1739"/>
              </a:lnSpc>
              <a:spcBef>
                <a:spcPts val="0"/>
              </a:spcBef>
              <a:spcAft>
                <a:spcPts val="0"/>
              </a:spcAft>
            </a:pPr>
            <a:r>
              <a:rPr sz="1500" b="0">
                <a:solidFill>
                  <a:srgbClr val="64728B"/>
                </a:solidFill>
                <a:latin typeface="Arial"/>
              </a:rPr>
              <a:t>One change</a:t>
            </a:r>
          </a:p>
        </p:txBody>
      </p:sp>
      <p:cxnSp>
        <p:nvCxnSpPr>
          <p:cNvPr id="95" name="Connector 94"/>
          <p:cNvCxnSpPr/>
          <p:nvPr/>
        </p:nvCxnSpPr>
        <p:spPr>
          <a:xfrm>
            <a:off x="11391900" y="3333750"/>
            <a:ext cx="485775" cy="0"/>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1877675" y="3333750"/>
            <a:ext cx="0" cy="1143000"/>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1877675" y="4476750"/>
            <a:ext cx="438150" cy="0"/>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a:off x="12215517" y="4476750"/>
            <a:ext cx="100308" cy="54798"/>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12215517" y="4421951"/>
            <a:ext cx="100308" cy="54799"/>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11391900" y="5372100"/>
            <a:ext cx="485775" cy="0"/>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11877675" y="4476750"/>
            <a:ext cx="0" cy="895350"/>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sp>
        <p:nvSpPr>
          <p:cNvPr id="102" name="Rounded Rectangle 101"/>
          <p:cNvSpPr/>
          <p:nvPr/>
        </p:nvSpPr>
        <p:spPr>
          <a:xfrm>
            <a:off x="12449175" y="3438525"/>
            <a:ext cx="2200275" cy="2219325"/>
          </a:xfrm>
          <a:prstGeom prst="roundRect">
            <a:avLst>
              <a:gd name="adj" fmla="val 8658"/>
            </a:avLst>
          </a:prstGeom>
          <a:solidFill>
            <a:srgbClr val="E7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ounded Rectangle 102"/>
          <p:cNvSpPr/>
          <p:nvPr/>
        </p:nvSpPr>
        <p:spPr>
          <a:xfrm>
            <a:off x="12439650" y="3371850"/>
            <a:ext cx="2200275" cy="2219325"/>
          </a:xfrm>
          <a:prstGeom prst="roundRect">
            <a:avLst>
              <a:gd name="adj" fmla="val 8658"/>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14" name="Group 113"/>
          <p:cNvGrpSpPr/>
          <p:nvPr/>
        </p:nvGrpSpPr>
        <p:grpSpPr>
          <a:xfrm>
            <a:off x="13299281" y="3694509"/>
            <a:ext cx="471487" cy="535781"/>
            <a:chOff x="13299281" y="3694509"/>
            <a:chExt cx="471487" cy="535781"/>
          </a:xfrm>
        </p:grpSpPr>
        <p:sp>
          <p:nvSpPr>
            <p:cNvPr id="104" name="Rounded Rectangle 103"/>
            <p:cNvSpPr/>
            <p:nvPr/>
          </p:nvSpPr>
          <p:spPr>
            <a:xfrm>
              <a:off x="13299281" y="3694509"/>
              <a:ext cx="471487" cy="535781"/>
            </a:xfrm>
            <a:prstGeom prst="roundRect">
              <a:avLst>
                <a:gd name="adj" fmla="val 9090"/>
              </a:avLst>
            </a:prstGeom>
            <a:noFill/>
            <a:ln w="28932">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5" name="Connector 104"/>
            <p:cNvCxnSpPr/>
            <p:nvPr/>
          </p:nvCxnSpPr>
          <p:spPr>
            <a:xfrm>
              <a:off x="13385006" y="3833812"/>
              <a:ext cx="42862" cy="42862"/>
            </a:xfrm>
            <a:prstGeom prst="line">
              <a:avLst/>
            </a:prstGeom>
            <a:ln w="2893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13427868" y="3790949"/>
              <a:ext cx="64294" cy="85725"/>
            </a:xfrm>
            <a:prstGeom prst="line">
              <a:avLst/>
            </a:prstGeom>
            <a:ln w="2893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13556456" y="3833812"/>
              <a:ext cx="128587" cy="0"/>
            </a:xfrm>
            <a:prstGeom prst="line">
              <a:avLst/>
            </a:prstGeom>
            <a:ln w="2893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13385006" y="3973115"/>
              <a:ext cx="42862" cy="42863"/>
            </a:xfrm>
            <a:prstGeom prst="line">
              <a:avLst/>
            </a:prstGeom>
            <a:ln w="2893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13427868" y="3930253"/>
              <a:ext cx="64294" cy="85725"/>
            </a:xfrm>
            <a:prstGeom prst="line">
              <a:avLst/>
            </a:prstGeom>
            <a:ln w="2893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13556456" y="3973115"/>
              <a:ext cx="128587" cy="0"/>
            </a:xfrm>
            <a:prstGeom prst="line">
              <a:avLst/>
            </a:prstGeom>
            <a:ln w="2893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13385006" y="4112418"/>
              <a:ext cx="42862" cy="42863"/>
            </a:xfrm>
            <a:prstGeom prst="line">
              <a:avLst/>
            </a:prstGeom>
            <a:ln w="2893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13427868" y="4069556"/>
              <a:ext cx="64294" cy="85725"/>
            </a:xfrm>
            <a:prstGeom prst="line">
              <a:avLst/>
            </a:prstGeom>
            <a:ln w="2893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13556456" y="4112418"/>
              <a:ext cx="128587" cy="0"/>
            </a:xfrm>
            <a:prstGeom prst="line">
              <a:avLst/>
            </a:prstGeom>
            <a:ln w="28932">
              <a:solidFill>
                <a:srgbClr val="0B9696"/>
              </a:solidFill>
            </a:ln>
          </p:spPr>
          <p:style>
            <a:lnRef idx="2">
              <a:schemeClr val="accent1"/>
            </a:lnRef>
            <a:fillRef idx="0">
              <a:schemeClr val="accent1"/>
            </a:fillRef>
            <a:effectRef idx="1">
              <a:schemeClr val="accent1"/>
            </a:effectRef>
            <a:fontRef idx="minor">
              <a:schemeClr val="tx1"/>
            </a:fontRef>
          </p:style>
        </p:cxnSp>
      </p:grpSp>
      <p:sp>
        <p:nvSpPr>
          <p:cNvPr id="115" name="TextBox 114"/>
          <p:cNvSpPr txBox="1"/>
          <p:nvPr/>
        </p:nvSpPr>
        <p:spPr>
          <a:xfrm>
            <a:off x="12630150" y="4505325"/>
            <a:ext cx="1809750" cy="381000"/>
          </a:xfrm>
          <a:prstGeom prst="rect">
            <a:avLst/>
          </a:prstGeom>
          <a:noFill/>
        </p:spPr>
        <p:txBody>
          <a:bodyPr wrap="none" lIns="0" rIns="0" tIns="0" bIns="0" anchor="t"/>
          <a:lstStyle/>
          <a:p>
            <a:pPr algn="ctr">
              <a:lnSpc>
                <a:spcPts val="2175"/>
              </a:lnSpc>
              <a:spcBef>
                <a:spcPts val="0"/>
              </a:spcBef>
              <a:spcAft>
                <a:spcPts val="0"/>
              </a:spcAft>
            </a:pPr>
            <a:r>
              <a:rPr sz="1875" b="1">
                <a:solidFill>
                  <a:srgbClr val="172540"/>
                </a:solidFill>
                <a:latin typeface="Arial"/>
              </a:rPr>
              <a:t>Check results</a:t>
            </a:r>
          </a:p>
        </p:txBody>
      </p:sp>
      <p:sp>
        <p:nvSpPr>
          <p:cNvPr id="116" name="TextBox 115"/>
          <p:cNvSpPr txBox="1"/>
          <p:nvPr/>
        </p:nvSpPr>
        <p:spPr>
          <a:xfrm>
            <a:off x="12630150" y="5029200"/>
            <a:ext cx="1819275" cy="323850"/>
          </a:xfrm>
          <a:prstGeom prst="rect">
            <a:avLst/>
          </a:prstGeom>
          <a:noFill/>
        </p:spPr>
        <p:txBody>
          <a:bodyPr wrap="none" lIns="0" rIns="0" tIns="0" bIns="0" anchor="t"/>
          <a:lstStyle/>
          <a:p>
            <a:pPr algn="ctr">
              <a:lnSpc>
                <a:spcPts val="1565"/>
              </a:lnSpc>
              <a:spcBef>
                <a:spcPts val="0"/>
              </a:spcBef>
              <a:spcAft>
                <a:spcPts val="0"/>
              </a:spcAft>
            </a:pPr>
            <a:r>
              <a:rPr sz="1350" b="0">
                <a:solidFill>
                  <a:srgbClr val="64728B"/>
                </a:solidFill>
                <a:latin typeface="Arial"/>
              </a:rPr>
              <a:t>Same assertions</a:t>
            </a:r>
          </a:p>
        </p:txBody>
      </p:sp>
      <p:cxnSp>
        <p:nvCxnSpPr>
          <p:cNvPr id="117" name="Connector 116"/>
          <p:cNvCxnSpPr/>
          <p:nvPr/>
        </p:nvCxnSpPr>
        <p:spPr>
          <a:xfrm>
            <a:off x="13535025" y="5715000"/>
            <a:ext cx="0" cy="1152525"/>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H="1">
            <a:off x="6134100" y="6867525"/>
            <a:ext cx="7400925" cy="0"/>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6134100" y="5953125"/>
            <a:ext cx="0" cy="914400"/>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6134100" y="5953125"/>
            <a:ext cx="54798" cy="100307"/>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H="1">
            <a:off x="6079301" y="5953125"/>
            <a:ext cx="54799" cy="100307"/>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sp>
        <p:nvSpPr>
          <p:cNvPr id="122" name="Rectangle 121"/>
          <p:cNvSpPr/>
          <p:nvPr/>
        </p:nvSpPr>
        <p:spPr>
          <a:xfrm>
            <a:off x="7753349" y="6562725"/>
            <a:ext cx="4371975" cy="59055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31" name="Group 130"/>
          <p:cNvGrpSpPr/>
          <p:nvPr/>
        </p:nvGrpSpPr>
        <p:grpSpPr>
          <a:xfrm>
            <a:off x="7946231" y="6707981"/>
            <a:ext cx="300037" cy="300037"/>
            <a:chOff x="7946231" y="6707981"/>
            <a:chExt cx="300037" cy="300037"/>
          </a:xfrm>
        </p:grpSpPr>
        <p:cxnSp>
          <p:nvCxnSpPr>
            <p:cNvPr id="123" name="Connector 122"/>
            <p:cNvCxnSpPr/>
            <p:nvPr/>
          </p:nvCxnSpPr>
          <p:spPr>
            <a:xfrm flipV="1">
              <a:off x="7946231" y="6707981"/>
              <a:ext cx="150018" cy="75009"/>
            </a:xfrm>
            <a:prstGeom prst="line">
              <a:avLst/>
            </a:prstGeom>
            <a:ln w="1687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8096249" y="6707981"/>
              <a:ext cx="150019" cy="75009"/>
            </a:xfrm>
            <a:prstGeom prst="line">
              <a:avLst/>
            </a:prstGeom>
            <a:ln w="1687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H="1">
              <a:off x="8096249" y="6782990"/>
              <a:ext cx="150019" cy="75010"/>
            </a:xfrm>
            <a:prstGeom prst="line">
              <a:avLst/>
            </a:prstGeom>
            <a:ln w="1687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H="1" flipV="1">
              <a:off x="7946231" y="6782990"/>
              <a:ext cx="150018" cy="75010"/>
            </a:xfrm>
            <a:prstGeom prst="line">
              <a:avLst/>
            </a:prstGeom>
            <a:ln w="1687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7946231" y="6858000"/>
              <a:ext cx="150018" cy="75009"/>
            </a:xfrm>
            <a:prstGeom prst="line">
              <a:avLst/>
            </a:prstGeom>
            <a:ln w="1687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8096249" y="6858000"/>
              <a:ext cx="150019" cy="75009"/>
            </a:xfrm>
            <a:prstGeom prst="line">
              <a:avLst/>
            </a:prstGeom>
            <a:ln w="1687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7946231" y="6933009"/>
              <a:ext cx="150018" cy="75009"/>
            </a:xfrm>
            <a:prstGeom prst="line">
              <a:avLst/>
            </a:prstGeom>
            <a:ln w="1687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8096249" y="6933009"/>
              <a:ext cx="150019" cy="75009"/>
            </a:xfrm>
            <a:prstGeom prst="line">
              <a:avLst/>
            </a:prstGeom>
            <a:ln w="16877">
              <a:solidFill>
                <a:srgbClr val="0B9696"/>
              </a:solidFill>
            </a:ln>
          </p:spPr>
          <p:style>
            <a:lnRef idx="2">
              <a:schemeClr val="accent1"/>
            </a:lnRef>
            <a:fillRef idx="0">
              <a:schemeClr val="accent1"/>
            </a:fillRef>
            <a:effectRef idx="1">
              <a:schemeClr val="accent1"/>
            </a:effectRef>
            <a:fontRef idx="minor">
              <a:schemeClr val="tx1"/>
            </a:fontRef>
          </p:style>
        </p:cxnSp>
      </p:grpSp>
      <p:sp>
        <p:nvSpPr>
          <p:cNvPr id="132" name="TextBox 131"/>
          <p:cNvSpPr txBox="1"/>
          <p:nvPr/>
        </p:nvSpPr>
        <p:spPr>
          <a:xfrm>
            <a:off x="8420100" y="6724650"/>
            <a:ext cx="3733799" cy="285750"/>
          </a:xfrm>
          <a:prstGeom prst="rect">
            <a:avLst/>
          </a:prstGeom>
          <a:noFill/>
        </p:spPr>
        <p:txBody>
          <a:bodyPr wrap="none" lIns="0" rIns="0" tIns="0" bIns="0" anchor="t"/>
          <a:lstStyle/>
          <a:p>
            <a:pPr algn="l">
              <a:lnSpc>
                <a:spcPts val="2000"/>
              </a:lnSpc>
              <a:spcBef>
                <a:spcPts val="0"/>
              </a:spcBef>
              <a:spcAft>
                <a:spcPts val="0"/>
              </a:spcAft>
            </a:pPr>
            <a:r>
              <a:rPr sz="1725" b="1">
                <a:solidFill>
                  <a:srgbClr val="0B9696"/>
                </a:solidFill>
                <a:latin typeface="Arial"/>
              </a:rPr>
              <a:t>Keep as a regression case</a:t>
            </a:r>
          </a:p>
        </p:txBody>
      </p:sp>
      <p:sp>
        <p:nvSpPr>
          <p:cNvPr id="133" name="Rounded Rectangle 132"/>
          <p:cNvSpPr/>
          <p:nvPr/>
        </p:nvSpPr>
        <p:spPr>
          <a:xfrm>
            <a:off x="609600" y="7219950"/>
            <a:ext cx="3419475" cy="371475"/>
          </a:xfrm>
          <a:prstGeom prst="roundRect">
            <a:avLst>
              <a:gd name="adj" fmla="val 45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723900" y="7305675"/>
            <a:ext cx="3190875" cy="247649"/>
          </a:xfrm>
          <a:prstGeom prst="rect">
            <a:avLst/>
          </a:prstGeom>
          <a:noFill/>
        </p:spPr>
        <p:txBody>
          <a:bodyPr wrap="none" lIns="0" rIns="0" tIns="0" bIns="0" anchor="t"/>
          <a:lstStyle/>
          <a:p>
            <a:pPr algn="ctr">
              <a:lnSpc>
                <a:spcPts val="1479"/>
              </a:lnSpc>
              <a:spcBef>
                <a:spcPts val="0"/>
              </a:spcBef>
              <a:spcAft>
                <a:spcPts val="0"/>
              </a:spcAft>
            </a:pPr>
            <a:r>
              <a:rPr sz="1275" b="1">
                <a:solidFill>
                  <a:srgbClr val="3973F6"/>
                </a:solidFill>
                <a:latin typeface="Arial"/>
              </a:rPr>
              <a:t>A report becomes an executable test.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ounded Rectangle 1"/>
          <p:cNvSpPr/>
          <p:nvPr/>
        </p:nvSpPr>
        <p:spPr>
          <a:xfrm>
            <a:off x="571500" y="390525"/>
            <a:ext cx="85725" cy="209550"/>
          </a:xfrm>
          <a:prstGeom prst="roundRect">
            <a:avLst>
              <a:gd name="adj" fmla="val 44444"/>
            </a:avLst>
          </a:prstGeom>
          <a:solidFill>
            <a:srgbClr val="39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1050" y="381000"/>
            <a:ext cx="13239750" cy="247649"/>
          </a:xfrm>
          <a:prstGeom prst="rect">
            <a:avLst/>
          </a:prstGeom>
          <a:noFill/>
        </p:spPr>
        <p:txBody>
          <a:bodyPr wrap="none" lIns="0" rIns="0" tIns="0" bIns="0" anchor="t"/>
          <a:lstStyle/>
          <a:p>
            <a:pPr algn="l">
              <a:lnSpc>
                <a:spcPts val="1305"/>
              </a:lnSpc>
              <a:spcBef>
                <a:spcPts val="0"/>
              </a:spcBef>
              <a:spcAft>
                <a:spcPts val="0"/>
              </a:spcAft>
            </a:pPr>
            <a:r>
              <a:rPr sz="1125" b="1">
                <a:solidFill>
                  <a:srgbClr val="64728B"/>
                </a:solidFill>
                <a:latin typeface="Arial"/>
              </a:rPr>
              <a:t>EVALUATION SCOPE</a:t>
            </a:r>
          </a:p>
        </p:txBody>
      </p:sp>
      <p:sp>
        <p:nvSpPr>
          <p:cNvPr id="4" name="TextBox 3"/>
          <p:cNvSpPr txBox="1"/>
          <p:nvPr/>
        </p:nvSpPr>
        <p:spPr>
          <a:xfrm>
            <a:off x="581025" y="8172450"/>
            <a:ext cx="13049250" cy="190500"/>
          </a:xfrm>
          <a:prstGeom prst="rect">
            <a:avLst/>
          </a:prstGeom>
          <a:noFill/>
        </p:spPr>
        <p:txBody>
          <a:bodyPr wrap="none" lIns="0" rIns="0" tIns="0" bIns="0" anchor="t"/>
          <a:lstStyle/>
          <a:p>
            <a:pPr algn="l">
              <a:lnSpc>
                <a:spcPts val="1044"/>
              </a:lnSpc>
              <a:spcBef>
                <a:spcPts val="0"/>
              </a:spcBef>
              <a:spcAft>
                <a:spcPts val="0"/>
              </a:spcAft>
            </a:pPr>
            <a:r>
              <a:rPr sz="900" b="0">
                <a:solidFill>
                  <a:srgbClr val="64728B"/>
                </a:solidFill>
                <a:latin typeface="Arial"/>
              </a:rPr>
              <a:t>INCIDENT REPLAY / SOFTWARE ENGINEERING</a:t>
            </a:r>
          </a:p>
        </p:txBody>
      </p:sp>
      <p:sp>
        <p:nvSpPr>
          <p:cNvPr id="5" name="TextBox 4"/>
          <p:cNvSpPr txBox="1"/>
          <p:nvPr/>
        </p:nvSpPr>
        <p:spPr>
          <a:xfrm>
            <a:off x="13887450" y="8124824"/>
            <a:ext cx="762000" cy="238125"/>
          </a:xfrm>
          <a:prstGeom prst="rect">
            <a:avLst/>
          </a:prstGeom>
          <a:noFill/>
        </p:spPr>
        <p:txBody>
          <a:bodyPr wrap="none" lIns="0" rIns="0" tIns="0" bIns="0" anchor="t"/>
          <a:lstStyle/>
          <a:p>
            <a:pPr algn="r">
              <a:lnSpc>
                <a:spcPts val="1218"/>
              </a:lnSpc>
              <a:spcBef>
                <a:spcPts val="0"/>
              </a:spcBef>
              <a:spcAft>
                <a:spcPts val="0"/>
              </a:spcAft>
            </a:pPr>
            <a:r>
              <a:rPr sz="1050" b="0">
                <a:solidFill>
                  <a:srgbClr val="64728B"/>
                </a:solidFill>
                <a:latin typeface="Courier New"/>
              </a:rPr>
              <a:t>03 / 10</a:t>
            </a:r>
          </a:p>
        </p:txBody>
      </p:sp>
      <p:sp>
        <p:nvSpPr>
          <p:cNvPr id="6" name="TextBox 5"/>
          <p:cNvSpPr txBox="1"/>
          <p:nvPr/>
        </p:nvSpPr>
        <p:spPr>
          <a:xfrm>
            <a:off x="571500" y="942975"/>
            <a:ext cx="14097000" cy="1181100"/>
          </a:xfrm>
          <a:prstGeom prst="rect">
            <a:avLst/>
          </a:prstGeom>
          <a:noFill/>
        </p:spPr>
        <p:txBody>
          <a:bodyPr wrap="none" lIns="0" rIns="0" tIns="0" bIns="0" anchor="t"/>
          <a:lstStyle/>
          <a:p>
            <a:pPr algn="l">
              <a:lnSpc>
                <a:spcPts val="4212"/>
              </a:lnSpc>
              <a:spcBef>
                <a:spcPts val="0"/>
              </a:spcBef>
              <a:spcAft>
                <a:spcPts val="0"/>
              </a:spcAft>
            </a:pPr>
            <a:r>
              <a:rPr sz="3900" b="1">
                <a:solidFill>
                  <a:srgbClr val="172540"/>
                </a:solidFill>
                <a:latin typeface="Arial"/>
              </a:rPr>
              <a:t>Expand the test boundary around the patch.</a:t>
            </a:r>
          </a:p>
        </p:txBody>
      </p:sp>
      <p:sp>
        <p:nvSpPr>
          <p:cNvPr id="7" name="TextBox 6"/>
          <p:cNvSpPr txBox="1"/>
          <p:nvPr/>
        </p:nvSpPr>
        <p:spPr>
          <a:xfrm>
            <a:off x="600075" y="1685925"/>
            <a:ext cx="13906500" cy="647700"/>
          </a:xfrm>
          <a:prstGeom prst="rect">
            <a:avLst/>
          </a:prstGeom>
          <a:noFill/>
        </p:spPr>
        <p:txBody>
          <a:bodyPr wrap="none" lIns="0" rIns="0" tIns="0" bIns="0" anchor="t"/>
          <a:lstStyle/>
          <a:p>
            <a:pPr algn="l">
              <a:lnSpc>
                <a:spcPts val="2175"/>
              </a:lnSpc>
              <a:spcBef>
                <a:spcPts val="0"/>
              </a:spcBef>
              <a:spcAft>
                <a:spcPts val="0"/>
              </a:spcAft>
            </a:pPr>
            <a:r>
              <a:rPr sz="1875" b="0">
                <a:solidFill>
                  <a:srgbClr val="64728B"/>
                </a:solidFill>
                <a:latin typeface="Arial"/>
              </a:rPr>
              <a:t>Incident replay makes operational state and recovery explicit.</a:t>
            </a:r>
          </a:p>
        </p:txBody>
      </p:sp>
      <p:sp>
        <p:nvSpPr>
          <p:cNvPr id="8" name="Rounded Rectangle 7"/>
          <p:cNvSpPr/>
          <p:nvPr/>
        </p:nvSpPr>
        <p:spPr>
          <a:xfrm>
            <a:off x="600075" y="2733675"/>
            <a:ext cx="5438775" cy="4162424"/>
          </a:xfrm>
          <a:prstGeom prst="roundRect">
            <a:avLst>
              <a:gd name="adj" fmla="val 5491"/>
            </a:avLst>
          </a:prstGeom>
          <a:solidFill>
            <a:srgbClr val="E7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0550" y="2667000"/>
            <a:ext cx="5438775" cy="4162424"/>
          </a:xfrm>
          <a:prstGeom prst="roundRect">
            <a:avLst>
              <a:gd name="adj" fmla="val 5491"/>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7725" y="2962275"/>
            <a:ext cx="4733925" cy="257175"/>
          </a:xfrm>
          <a:prstGeom prst="rect">
            <a:avLst/>
          </a:prstGeom>
          <a:noFill/>
        </p:spPr>
        <p:txBody>
          <a:bodyPr wrap="none" lIns="0" rIns="0" tIns="0" bIns="0" anchor="t"/>
          <a:lstStyle/>
          <a:p>
            <a:pPr algn="l">
              <a:lnSpc>
                <a:spcPts val="1391"/>
              </a:lnSpc>
              <a:spcBef>
                <a:spcPts val="0"/>
              </a:spcBef>
              <a:spcAft>
                <a:spcPts val="0"/>
              </a:spcAft>
            </a:pPr>
            <a:r>
              <a:rPr sz="1200" b="1">
                <a:solidFill>
                  <a:srgbClr val="64728B"/>
                </a:solidFill>
                <a:latin typeface="Arial"/>
              </a:rPr>
              <a:t>ISSUE-RESOLUTION TASK</a:t>
            </a:r>
          </a:p>
        </p:txBody>
      </p:sp>
      <p:grpSp>
        <p:nvGrpSpPr>
          <p:cNvPr id="21" name="Group 20"/>
          <p:cNvGrpSpPr/>
          <p:nvPr/>
        </p:nvGrpSpPr>
        <p:grpSpPr>
          <a:xfrm>
            <a:off x="1212651" y="4168675"/>
            <a:ext cx="385465" cy="510481"/>
            <a:chOff x="1212651" y="4168675"/>
            <a:chExt cx="385465" cy="510481"/>
          </a:xfrm>
        </p:grpSpPr>
        <p:cxnSp>
          <p:nvCxnSpPr>
            <p:cNvPr id="11" name="Connector 10"/>
            <p:cNvCxnSpPr/>
            <p:nvPr/>
          </p:nvCxnSpPr>
          <p:spPr>
            <a:xfrm flipH="1">
              <a:off x="1212651" y="4168675"/>
              <a:ext cx="260449" cy="0"/>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212651" y="4168675"/>
              <a:ext cx="0" cy="510481"/>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212651" y="4679156"/>
              <a:ext cx="385465" cy="0"/>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598116" y="4304109"/>
              <a:ext cx="0" cy="375047"/>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1473100" y="4168675"/>
              <a:ext cx="125016" cy="135434"/>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473100" y="4168675"/>
              <a:ext cx="0" cy="135434"/>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473100" y="4304109"/>
              <a:ext cx="125016" cy="0"/>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306413" y="4408289"/>
              <a:ext cx="197941" cy="0"/>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306413" y="4502050"/>
              <a:ext cx="197941" cy="0"/>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306413" y="4585394"/>
              <a:ext cx="125015" cy="0"/>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22" name="TextBox 21"/>
          <p:cNvSpPr txBox="1"/>
          <p:nvPr/>
        </p:nvSpPr>
        <p:spPr>
          <a:xfrm>
            <a:off x="838200" y="5057775"/>
            <a:ext cx="1143000" cy="314325"/>
          </a:xfrm>
          <a:prstGeom prst="rect">
            <a:avLst/>
          </a:prstGeom>
          <a:noFill/>
        </p:spPr>
        <p:txBody>
          <a:bodyPr wrap="none" lIns="0" rIns="0" tIns="0" bIns="0" anchor="t"/>
          <a:lstStyle/>
          <a:p>
            <a:pPr algn="ctr">
              <a:lnSpc>
                <a:spcPts val="2088"/>
              </a:lnSpc>
              <a:spcBef>
                <a:spcPts val="0"/>
              </a:spcBef>
              <a:spcAft>
                <a:spcPts val="0"/>
              </a:spcAft>
            </a:pPr>
            <a:r>
              <a:rPr sz="1800" b="1">
                <a:solidFill>
                  <a:srgbClr val="172540"/>
                </a:solidFill>
                <a:latin typeface="Arial"/>
              </a:rPr>
              <a:t>Issue</a:t>
            </a:r>
          </a:p>
        </p:txBody>
      </p:sp>
      <p:grpSp>
        <p:nvGrpSpPr>
          <p:cNvPr id="30" name="Group 29"/>
          <p:cNvGrpSpPr/>
          <p:nvPr/>
        </p:nvGrpSpPr>
        <p:grpSpPr>
          <a:xfrm>
            <a:off x="2825650" y="4199929"/>
            <a:ext cx="520899" cy="447972"/>
            <a:chOff x="2825650" y="4199929"/>
            <a:chExt cx="520899" cy="447972"/>
          </a:xfrm>
        </p:grpSpPr>
        <p:sp>
          <p:nvSpPr>
            <p:cNvPr id="23" name="Rounded Rectangle 22"/>
            <p:cNvSpPr/>
            <p:nvPr/>
          </p:nvSpPr>
          <p:spPr>
            <a:xfrm>
              <a:off x="2825650" y="4199929"/>
              <a:ext cx="520898" cy="447972"/>
            </a:xfrm>
            <a:prstGeom prst="roundRect">
              <a:avLst>
                <a:gd name="adj" fmla="val 9302"/>
              </a:avLst>
            </a:prstGeom>
            <a:noFill/>
            <a:ln w="28128">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2825650" y="4314527"/>
              <a:ext cx="520899" cy="0"/>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2940248" y="4408289"/>
              <a:ext cx="62508" cy="62507"/>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940248" y="4470796"/>
              <a:ext cx="62508" cy="62508"/>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169443" y="4408289"/>
              <a:ext cx="62508" cy="62507"/>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3169443" y="4470796"/>
              <a:ext cx="62508" cy="62508"/>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3065264" y="4387453"/>
              <a:ext cx="41671" cy="177105"/>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31" name="TextBox 30"/>
          <p:cNvSpPr txBox="1"/>
          <p:nvPr/>
        </p:nvSpPr>
        <p:spPr>
          <a:xfrm>
            <a:off x="2524125" y="5057775"/>
            <a:ext cx="1143000" cy="314325"/>
          </a:xfrm>
          <a:prstGeom prst="rect">
            <a:avLst/>
          </a:prstGeom>
          <a:noFill/>
        </p:spPr>
        <p:txBody>
          <a:bodyPr wrap="none" lIns="0" rIns="0" tIns="0" bIns="0" anchor="t"/>
          <a:lstStyle/>
          <a:p>
            <a:pPr algn="ctr">
              <a:lnSpc>
                <a:spcPts val="2088"/>
              </a:lnSpc>
              <a:spcBef>
                <a:spcPts val="0"/>
              </a:spcBef>
              <a:spcAft>
                <a:spcPts val="0"/>
              </a:spcAft>
            </a:pPr>
            <a:r>
              <a:rPr sz="1800" b="1">
                <a:solidFill>
                  <a:srgbClr val="172540"/>
                </a:solidFill>
                <a:latin typeface="Arial"/>
              </a:rPr>
              <a:t>Patch</a:t>
            </a:r>
          </a:p>
        </p:txBody>
      </p:sp>
      <p:grpSp>
        <p:nvGrpSpPr>
          <p:cNvPr id="42" name="Group 41"/>
          <p:cNvGrpSpPr/>
          <p:nvPr/>
        </p:nvGrpSpPr>
        <p:grpSpPr>
          <a:xfrm>
            <a:off x="4542829" y="4168675"/>
            <a:ext cx="458390" cy="520898"/>
            <a:chOff x="4542829" y="4168675"/>
            <a:chExt cx="458390" cy="520898"/>
          </a:xfrm>
        </p:grpSpPr>
        <p:sp>
          <p:nvSpPr>
            <p:cNvPr id="32" name="Rounded Rectangle 31"/>
            <p:cNvSpPr/>
            <p:nvPr/>
          </p:nvSpPr>
          <p:spPr>
            <a:xfrm>
              <a:off x="4542829" y="4168675"/>
              <a:ext cx="458390" cy="520898"/>
            </a:xfrm>
            <a:prstGeom prst="roundRect">
              <a:avLst>
                <a:gd name="adj" fmla="val 9090"/>
              </a:avLst>
            </a:prstGeom>
            <a:noFill/>
            <a:ln w="28128">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4626173" y="4304109"/>
              <a:ext cx="41672" cy="41672"/>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4667845" y="4262437"/>
              <a:ext cx="62508" cy="83344"/>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4792860" y="4304109"/>
              <a:ext cx="125016" cy="0"/>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626173" y="4439542"/>
              <a:ext cx="41672" cy="41672"/>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4667845" y="4397871"/>
              <a:ext cx="62508" cy="83343"/>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792860" y="4439542"/>
              <a:ext cx="125016" cy="0"/>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626173" y="4574976"/>
              <a:ext cx="41672" cy="41672"/>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4667845" y="4533304"/>
              <a:ext cx="62508" cy="83344"/>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4792860" y="4574976"/>
              <a:ext cx="125016" cy="0"/>
            </a:xfrm>
            <a:prstGeom prst="line">
              <a:avLst/>
            </a:prstGeom>
            <a:ln w="28128">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43" name="TextBox 42"/>
          <p:cNvSpPr txBox="1"/>
          <p:nvPr/>
        </p:nvSpPr>
        <p:spPr>
          <a:xfrm>
            <a:off x="4210050" y="5057775"/>
            <a:ext cx="1143000" cy="314325"/>
          </a:xfrm>
          <a:prstGeom prst="rect">
            <a:avLst/>
          </a:prstGeom>
          <a:noFill/>
        </p:spPr>
        <p:txBody>
          <a:bodyPr wrap="none" lIns="0" rIns="0" tIns="0" bIns="0" anchor="t"/>
          <a:lstStyle/>
          <a:p>
            <a:pPr algn="ctr">
              <a:lnSpc>
                <a:spcPts val="2088"/>
              </a:lnSpc>
              <a:spcBef>
                <a:spcPts val="0"/>
              </a:spcBef>
              <a:spcAft>
                <a:spcPts val="0"/>
              </a:spcAft>
            </a:pPr>
            <a:r>
              <a:rPr sz="1800" b="1">
                <a:solidFill>
                  <a:srgbClr val="172540"/>
                </a:solidFill>
                <a:latin typeface="Arial"/>
              </a:rPr>
              <a:t>Tests</a:t>
            </a:r>
          </a:p>
        </p:txBody>
      </p:sp>
      <p:cxnSp>
        <p:nvCxnSpPr>
          <p:cNvPr id="44" name="Connector 43"/>
          <p:cNvCxnSpPr/>
          <p:nvPr/>
        </p:nvCxnSpPr>
        <p:spPr>
          <a:xfrm>
            <a:off x="1885950" y="4429125"/>
            <a:ext cx="685800" cy="0"/>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2471442" y="4429125"/>
            <a:ext cx="100308" cy="54798"/>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471442" y="4374326"/>
            <a:ext cx="100308" cy="54799"/>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3571875" y="4429125"/>
            <a:ext cx="695325" cy="0"/>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166892" y="4429125"/>
            <a:ext cx="100308" cy="54798"/>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166892" y="4374326"/>
            <a:ext cx="100308" cy="54799"/>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14400" y="5953125"/>
            <a:ext cx="4762500" cy="552450"/>
          </a:xfrm>
          <a:prstGeom prst="rect">
            <a:avLst/>
          </a:prstGeom>
          <a:noFill/>
        </p:spPr>
        <p:txBody>
          <a:bodyPr wrap="none" lIns="0" rIns="0" tIns="0" bIns="0" anchor="t"/>
          <a:lstStyle/>
          <a:p>
            <a:pPr algn="ctr">
              <a:lnSpc>
                <a:spcPts val="2000"/>
              </a:lnSpc>
              <a:spcBef>
                <a:spcPts val="0"/>
              </a:spcBef>
              <a:spcAft>
                <a:spcPts val="0"/>
              </a:spcAft>
            </a:pPr>
            <a:r>
              <a:rPr sz="1725" b="0">
                <a:solidFill>
                  <a:srgbClr val="64728B"/>
                </a:solidFill>
                <a:latin typeface="Arial"/>
              </a:rPr>
              <a:t>A bounded repository task</a:t>
            </a:r>
          </a:p>
          <a:p>
            <a:pPr algn="ctr">
              <a:lnSpc>
                <a:spcPts val="2000"/>
              </a:lnSpc>
              <a:spcBef>
                <a:spcPts val="0"/>
              </a:spcBef>
              <a:spcAft>
                <a:spcPts val="0"/>
              </a:spcAft>
            </a:pPr>
            <a:r>
              <a:rPr sz="1725" b="0">
                <a:solidFill>
                  <a:srgbClr val="64728B"/>
                </a:solidFill>
                <a:latin typeface="Arial"/>
              </a:rPr>
              <a:t>with executable checks.</a:t>
            </a:r>
          </a:p>
        </p:txBody>
      </p:sp>
      <p:cxnSp>
        <p:nvCxnSpPr>
          <p:cNvPr id="51" name="Connector 50"/>
          <p:cNvCxnSpPr/>
          <p:nvPr/>
        </p:nvCxnSpPr>
        <p:spPr>
          <a:xfrm>
            <a:off x="6296025" y="4695825"/>
            <a:ext cx="552450" cy="0"/>
          </a:xfrm>
          <a:prstGeom prst="line">
            <a:avLst/>
          </a:prstGeom>
          <a:ln w="38100">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6748167" y="4695825"/>
            <a:ext cx="100308" cy="54798"/>
          </a:xfrm>
          <a:prstGeom prst="line">
            <a:avLst/>
          </a:prstGeom>
          <a:ln w="38100">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6748167" y="4641026"/>
            <a:ext cx="100308" cy="54799"/>
          </a:xfrm>
          <a:prstGeom prst="line">
            <a:avLst/>
          </a:prstGeom>
          <a:ln w="38100">
            <a:solidFill>
              <a:srgbClr val="3973F6"/>
            </a:solidFill>
          </a:ln>
        </p:spPr>
        <p:style>
          <a:lnRef idx="2">
            <a:schemeClr val="accent1"/>
          </a:lnRef>
          <a:fillRef idx="0">
            <a:schemeClr val="accent1"/>
          </a:fillRef>
          <a:effectRef idx="1">
            <a:schemeClr val="accent1"/>
          </a:effectRef>
          <a:fontRef idx="minor">
            <a:schemeClr val="tx1"/>
          </a:fontRef>
        </p:style>
      </p:cxnSp>
      <p:sp>
        <p:nvSpPr>
          <p:cNvPr id="54" name="Rounded Rectangle 53"/>
          <p:cNvSpPr/>
          <p:nvPr/>
        </p:nvSpPr>
        <p:spPr>
          <a:xfrm>
            <a:off x="7153275" y="2562225"/>
            <a:ext cx="7496174" cy="4438650"/>
          </a:xfrm>
          <a:prstGeom prst="roundRect">
            <a:avLst>
              <a:gd name="adj" fmla="val 6008"/>
            </a:avLst>
          </a:prstGeom>
          <a:solidFill>
            <a:srgbClr val="EAF1FF"/>
          </a:solidFill>
          <a:ln w="20955">
            <a:solidFill>
              <a:srgbClr val="3973F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458075" y="2819400"/>
            <a:ext cx="6743700" cy="257175"/>
          </a:xfrm>
          <a:prstGeom prst="rect">
            <a:avLst/>
          </a:prstGeom>
          <a:noFill/>
        </p:spPr>
        <p:txBody>
          <a:bodyPr wrap="none" lIns="0" rIns="0" tIns="0" bIns="0" anchor="t"/>
          <a:lstStyle/>
          <a:p>
            <a:pPr algn="l">
              <a:lnSpc>
                <a:spcPts val="1391"/>
              </a:lnSpc>
              <a:spcBef>
                <a:spcPts val="0"/>
              </a:spcBef>
              <a:spcAft>
                <a:spcPts val="0"/>
              </a:spcAft>
            </a:pPr>
            <a:r>
              <a:rPr sz="1200" b="1">
                <a:solidFill>
                  <a:srgbClr val="3973F6"/>
                </a:solidFill>
                <a:latin typeface="Arial"/>
              </a:rPr>
              <a:t>RESTORABLE ENGINEERING ENVIRONMENT</a:t>
            </a:r>
          </a:p>
        </p:txBody>
      </p:sp>
      <p:sp>
        <p:nvSpPr>
          <p:cNvPr id="56" name="Rounded Rectangle 55"/>
          <p:cNvSpPr/>
          <p:nvPr/>
        </p:nvSpPr>
        <p:spPr>
          <a:xfrm>
            <a:off x="9991725" y="4067175"/>
            <a:ext cx="1857375" cy="1619250"/>
          </a:xfrm>
          <a:prstGeom prst="roundRect">
            <a:avLst>
              <a:gd name="adj" fmla="val 10588"/>
            </a:avLst>
          </a:prstGeom>
          <a:solidFill>
            <a:srgbClr val="E7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9982200" y="4000500"/>
            <a:ext cx="1857375" cy="1619250"/>
          </a:xfrm>
          <a:prstGeom prst="roundRect">
            <a:avLst>
              <a:gd name="adj" fmla="val 10588"/>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5" name="Group 64"/>
          <p:cNvGrpSpPr/>
          <p:nvPr/>
        </p:nvGrpSpPr>
        <p:grpSpPr>
          <a:xfrm>
            <a:off x="10668000" y="4286250"/>
            <a:ext cx="476250" cy="409575"/>
            <a:chOff x="10668000" y="4286250"/>
            <a:chExt cx="476250" cy="409575"/>
          </a:xfrm>
        </p:grpSpPr>
        <p:sp>
          <p:nvSpPr>
            <p:cNvPr id="58" name="Rounded Rectangle 57"/>
            <p:cNvSpPr/>
            <p:nvPr/>
          </p:nvSpPr>
          <p:spPr>
            <a:xfrm>
              <a:off x="10668000" y="4286250"/>
              <a:ext cx="476250" cy="409575"/>
            </a:xfrm>
            <a:prstGeom prst="roundRect">
              <a:avLst>
                <a:gd name="adj" fmla="val 9302"/>
              </a:avLst>
            </a:prstGeom>
            <a:noFill/>
            <a:ln w="25717">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9" name="Connector 58"/>
            <p:cNvCxnSpPr/>
            <p:nvPr/>
          </p:nvCxnSpPr>
          <p:spPr>
            <a:xfrm>
              <a:off x="10668000" y="4391025"/>
              <a:ext cx="476250" cy="0"/>
            </a:xfrm>
            <a:prstGeom prst="line">
              <a:avLst/>
            </a:prstGeom>
            <a:ln w="2571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10772775" y="4476750"/>
              <a:ext cx="57150" cy="57150"/>
            </a:xfrm>
            <a:prstGeom prst="line">
              <a:avLst/>
            </a:prstGeom>
            <a:ln w="2571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10772775" y="4533900"/>
              <a:ext cx="57150" cy="57150"/>
            </a:xfrm>
            <a:prstGeom prst="line">
              <a:avLst/>
            </a:prstGeom>
            <a:ln w="2571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0982325" y="4476750"/>
              <a:ext cx="57150" cy="57150"/>
            </a:xfrm>
            <a:prstGeom prst="line">
              <a:avLst/>
            </a:prstGeom>
            <a:ln w="2571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10982325" y="4533900"/>
              <a:ext cx="57150" cy="57150"/>
            </a:xfrm>
            <a:prstGeom prst="line">
              <a:avLst/>
            </a:prstGeom>
            <a:ln w="2571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10887075" y="4457700"/>
              <a:ext cx="38100" cy="161925"/>
            </a:xfrm>
            <a:prstGeom prst="line">
              <a:avLst/>
            </a:prstGeom>
            <a:ln w="25717">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66" name="TextBox 65"/>
          <p:cNvSpPr txBox="1"/>
          <p:nvPr/>
        </p:nvSpPr>
        <p:spPr>
          <a:xfrm>
            <a:off x="10125075" y="5057775"/>
            <a:ext cx="1590675" cy="304800"/>
          </a:xfrm>
          <a:prstGeom prst="rect">
            <a:avLst/>
          </a:prstGeom>
          <a:noFill/>
        </p:spPr>
        <p:txBody>
          <a:bodyPr wrap="none" lIns="0" rIns="0" tIns="0" bIns="0" anchor="t"/>
          <a:lstStyle/>
          <a:p>
            <a:pPr algn="ctr">
              <a:lnSpc>
                <a:spcPts val="2000"/>
              </a:lnSpc>
              <a:spcBef>
                <a:spcPts val="0"/>
              </a:spcBef>
              <a:spcAft>
                <a:spcPts val="0"/>
              </a:spcAft>
            </a:pPr>
            <a:r>
              <a:rPr sz="1725" b="1">
                <a:solidFill>
                  <a:srgbClr val="172540"/>
                </a:solidFill>
                <a:latin typeface="Arial"/>
              </a:rPr>
              <a:t>Repository</a:t>
            </a:r>
          </a:p>
        </p:txBody>
      </p:sp>
      <p:grpSp>
        <p:nvGrpSpPr>
          <p:cNvPr id="94" name="Group 93"/>
          <p:cNvGrpSpPr/>
          <p:nvPr/>
        </p:nvGrpSpPr>
        <p:grpSpPr>
          <a:xfrm>
            <a:off x="7940278" y="3454896"/>
            <a:ext cx="369093" cy="433685"/>
            <a:chOff x="7940278" y="3454896"/>
            <a:chExt cx="369093" cy="433685"/>
          </a:xfrm>
        </p:grpSpPr>
        <p:cxnSp>
          <p:nvCxnSpPr>
            <p:cNvPr id="67" name="Connector 66"/>
            <p:cNvCxnSpPr/>
            <p:nvPr/>
          </p:nvCxnSpPr>
          <p:spPr>
            <a:xfrm>
              <a:off x="7940278" y="3528714"/>
              <a:ext cx="0" cy="276821"/>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8309371" y="3528714"/>
              <a:ext cx="0" cy="276821"/>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7940278" y="3454896"/>
              <a:ext cx="369093" cy="147637"/>
            </a:xfrm>
            <a:prstGeom prst="ellipse">
              <a:avLst/>
            </a:prstGeom>
            <a:noFill/>
            <a:ln w="24913">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flipH="1">
              <a:off x="8303083" y="3740943"/>
              <a:ext cx="6288" cy="19106"/>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8284647" y="3760049"/>
              <a:ext cx="18436" cy="17804"/>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8255319" y="3777853"/>
              <a:ext cx="29328" cy="15288"/>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8217098" y="3793141"/>
              <a:ext cx="38221" cy="11731"/>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8172589" y="3804872"/>
              <a:ext cx="44509" cy="7375"/>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8124824" y="3812247"/>
              <a:ext cx="47765" cy="2515"/>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flipV="1">
              <a:off x="8077060" y="3812247"/>
              <a:ext cx="47764" cy="2515"/>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flipV="1">
              <a:off x="8032551" y="3804872"/>
              <a:ext cx="44509" cy="7375"/>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flipV="1">
              <a:off x="7994330" y="3793141"/>
              <a:ext cx="38221" cy="11731"/>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flipV="1">
              <a:off x="7965002" y="3777853"/>
              <a:ext cx="29328" cy="15288"/>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flipV="1">
              <a:off x="7946566" y="3760049"/>
              <a:ext cx="18436" cy="17804"/>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flipV="1">
              <a:off x="7940278" y="3740943"/>
              <a:ext cx="6288" cy="19106"/>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a:off x="8303083" y="3814762"/>
              <a:ext cx="6288" cy="19106"/>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a:off x="8284647" y="3833868"/>
              <a:ext cx="18436" cy="17803"/>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8255319" y="3851671"/>
              <a:ext cx="29328" cy="15289"/>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a:off x="8217098" y="3866960"/>
              <a:ext cx="38221" cy="11731"/>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a:off x="8172589" y="3878691"/>
              <a:ext cx="44509" cy="7374"/>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a:off x="8124824" y="3886065"/>
              <a:ext cx="47765" cy="2516"/>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8077060" y="3886065"/>
              <a:ext cx="47764" cy="2516"/>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8032551" y="3878691"/>
              <a:ext cx="44509" cy="7374"/>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flipV="1">
              <a:off x="7994330" y="3866960"/>
              <a:ext cx="38221" cy="11731"/>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flipV="1">
              <a:off x="7965002" y="3851671"/>
              <a:ext cx="29328" cy="15289"/>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flipV="1">
              <a:off x="7946566" y="3833868"/>
              <a:ext cx="18436" cy="17803"/>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flipV="1">
              <a:off x="7940278" y="3814762"/>
              <a:ext cx="6288" cy="19106"/>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grpSp>
      <p:sp>
        <p:nvSpPr>
          <p:cNvPr id="95" name="TextBox 94"/>
          <p:cNvSpPr txBox="1"/>
          <p:nvPr/>
        </p:nvSpPr>
        <p:spPr>
          <a:xfrm>
            <a:off x="7534275" y="4124325"/>
            <a:ext cx="1200150" cy="295275"/>
          </a:xfrm>
          <a:prstGeom prst="rect">
            <a:avLst/>
          </a:prstGeom>
          <a:noFill/>
        </p:spPr>
        <p:txBody>
          <a:bodyPr wrap="none" lIns="0" rIns="0" tIns="0" bIns="0" anchor="t"/>
          <a:lstStyle/>
          <a:p>
            <a:pPr algn="ctr">
              <a:lnSpc>
                <a:spcPts val="1827"/>
              </a:lnSpc>
              <a:spcBef>
                <a:spcPts val="0"/>
              </a:spcBef>
              <a:spcAft>
                <a:spcPts val="0"/>
              </a:spcAft>
            </a:pPr>
            <a:r>
              <a:rPr sz="1575" b="1">
                <a:solidFill>
                  <a:srgbClr val="172540"/>
                </a:solidFill>
                <a:latin typeface="Arial"/>
              </a:rPr>
              <a:t>Data</a:t>
            </a:r>
          </a:p>
        </p:txBody>
      </p:sp>
      <p:grpSp>
        <p:nvGrpSpPr>
          <p:cNvPr id="105" name="Group 104"/>
          <p:cNvGrpSpPr/>
          <p:nvPr/>
        </p:nvGrpSpPr>
        <p:grpSpPr>
          <a:xfrm>
            <a:off x="12723018" y="3464123"/>
            <a:ext cx="442913" cy="406003"/>
            <a:chOff x="12723018" y="3464123"/>
            <a:chExt cx="442913" cy="406003"/>
          </a:xfrm>
        </p:grpSpPr>
        <p:cxnSp>
          <p:nvCxnSpPr>
            <p:cNvPr id="96" name="Connector 95"/>
            <p:cNvCxnSpPr/>
            <p:nvPr/>
          </p:nvCxnSpPr>
          <p:spPr>
            <a:xfrm>
              <a:off x="12723018" y="3510260"/>
              <a:ext cx="92274" cy="0"/>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12907565" y="3510260"/>
              <a:ext cx="258366" cy="0"/>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sp>
          <p:nvSpPr>
            <p:cNvPr id="98" name="Oval 97"/>
            <p:cNvSpPr/>
            <p:nvPr/>
          </p:nvSpPr>
          <p:spPr>
            <a:xfrm>
              <a:off x="12815292" y="3464123"/>
              <a:ext cx="92273" cy="92273"/>
            </a:xfrm>
            <a:prstGeom prst="ellipse">
              <a:avLst/>
            </a:prstGeom>
            <a:noFill/>
            <a:ln w="24913">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9" name="Connector 98"/>
            <p:cNvCxnSpPr/>
            <p:nvPr/>
          </p:nvCxnSpPr>
          <p:spPr>
            <a:xfrm>
              <a:off x="12723018" y="3667125"/>
              <a:ext cx="267593" cy="0"/>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13082885" y="3667125"/>
              <a:ext cx="83046" cy="0"/>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sp>
          <p:nvSpPr>
            <p:cNvPr id="101" name="Oval 100"/>
            <p:cNvSpPr/>
            <p:nvPr/>
          </p:nvSpPr>
          <p:spPr>
            <a:xfrm>
              <a:off x="12990611" y="3620988"/>
              <a:ext cx="92273" cy="92273"/>
            </a:xfrm>
            <a:prstGeom prst="ellipse">
              <a:avLst/>
            </a:prstGeom>
            <a:noFill/>
            <a:ln w="24913">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2" name="Connector 101"/>
            <p:cNvCxnSpPr/>
            <p:nvPr/>
          </p:nvCxnSpPr>
          <p:spPr>
            <a:xfrm>
              <a:off x="12723018" y="3823989"/>
              <a:ext cx="138410" cy="0"/>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2953702" y="3823989"/>
              <a:ext cx="212229" cy="0"/>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sp>
          <p:nvSpPr>
            <p:cNvPr id="104" name="Oval 103"/>
            <p:cNvSpPr/>
            <p:nvPr/>
          </p:nvSpPr>
          <p:spPr>
            <a:xfrm>
              <a:off x="12861428" y="3777853"/>
              <a:ext cx="92273" cy="92273"/>
            </a:xfrm>
            <a:prstGeom prst="ellipse">
              <a:avLst/>
            </a:prstGeom>
            <a:noFill/>
            <a:ln w="24913">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106" name="TextBox 105"/>
          <p:cNvSpPr txBox="1"/>
          <p:nvPr/>
        </p:nvSpPr>
        <p:spPr>
          <a:xfrm>
            <a:off x="12353925" y="4124325"/>
            <a:ext cx="1200150" cy="295275"/>
          </a:xfrm>
          <a:prstGeom prst="rect">
            <a:avLst/>
          </a:prstGeom>
          <a:noFill/>
        </p:spPr>
        <p:txBody>
          <a:bodyPr wrap="none" lIns="0" rIns="0" tIns="0" bIns="0" anchor="t"/>
          <a:lstStyle/>
          <a:p>
            <a:pPr algn="ctr">
              <a:lnSpc>
                <a:spcPts val="1827"/>
              </a:lnSpc>
              <a:spcBef>
                <a:spcPts val="0"/>
              </a:spcBef>
              <a:spcAft>
                <a:spcPts val="0"/>
              </a:spcAft>
            </a:pPr>
            <a:r>
              <a:rPr sz="1575" b="1">
                <a:solidFill>
                  <a:srgbClr val="172540"/>
                </a:solidFill>
                <a:latin typeface="Arial"/>
              </a:rPr>
              <a:t>Config</a:t>
            </a:r>
          </a:p>
        </p:txBody>
      </p:sp>
      <p:grpSp>
        <p:nvGrpSpPr>
          <p:cNvPr id="117" name="Group 116"/>
          <p:cNvGrpSpPr/>
          <p:nvPr/>
        </p:nvGrpSpPr>
        <p:grpSpPr>
          <a:xfrm>
            <a:off x="7958732" y="5627191"/>
            <a:ext cx="341412" cy="452140"/>
            <a:chOff x="7958732" y="5627191"/>
            <a:chExt cx="341412" cy="452140"/>
          </a:xfrm>
        </p:grpSpPr>
        <p:cxnSp>
          <p:nvCxnSpPr>
            <p:cNvPr id="107" name="Connector 106"/>
            <p:cNvCxnSpPr/>
            <p:nvPr/>
          </p:nvCxnSpPr>
          <p:spPr>
            <a:xfrm flipH="1">
              <a:off x="7958732" y="5627191"/>
              <a:ext cx="230684"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7958732" y="5627191"/>
              <a:ext cx="0" cy="45214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7958732" y="6079331"/>
              <a:ext cx="341412"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8300144" y="5747146"/>
              <a:ext cx="0" cy="332185"/>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8189416" y="5627191"/>
              <a:ext cx="110728" cy="119955"/>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8189416" y="5627191"/>
              <a:ext cx="0" cy="119955"/>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8189416" y="5747146"/>
              <a:ext cx="110728"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8041778" y="5839420"/>
              <a:ext cx="175320"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8041778" y="5922466"/>
              <a:ext cx="175320"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8041778" y="5996285"/>
              <a:ext cx="110729"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118" name="TextBox 117"/>
          <p:cNvSpPr txBox="1"/>
          <p:nvPr/>
        </p:nvSpPr>
        <p:spPr>
          <a:xfrm>
            <a:off x="7534275" y="6315075"/>
            <a:ext cx="1200150" cy="295275"/>
          </a:xfrm>
          <a:prstGeom prst="rect">
            <a:avLst/>
          </a:prstGeom>
          <a:noFill/>
        </p:spPr>
        <p:txBody>
          <a:bodyPr wrap="none" lIns="0" rIns="0" tIns="0" bIns="0" anchor="t"/>
          <a:lstStyle/>
          <a:p>
            <a:pPr algn="ctr">
              <a:lnSpc>
                <a:spcPts val="1827"/>
              </a:lnSpc>
              <a:spcBef>
                <a:spcPts val="0"/>
              </a:spcBef>
              <a:spcAft>
                <a:spcPts val="0"/>
              </a:spcAft>
            </a:pPr>
            <a:r>
              <a:rPr sz="1575" b="1">
                <a:solidFill>
                  <a:srgbClr val="172540"/>
                </a:solidFill>
                <a:latin typeface="Arial"/>
              </a:rPr>
              <a:t>History</a:t>
            </a:r>
          </a:p>
        </p:txBody>
      </p:sp>
      <p:grpSp>
        <p:nvGrpSpPr>
          <p:cNvPr id="126" name="Group 125"/>
          <p:cNvGrpSpPr/>
          <p:nvPr/>
        </p:nvGrpSpPr>
        <p:grpSpPr>
          <a:xfrm>
            <a:off x="12732246" y="5645646"/>
            <a:ext cx="415230" cy="415230"/>
            <a:chOff x="12732246" y="5645646"/>
            <a:chExt cx="415230" cy="415230"/>
          </a:xfrm>
        </p:grpSpPr>
        <p:sp>
          <p:nvSpPr>
            <p:cNvPr id="119" name="Oval 118"/>
            <p:cNvSpPr/>
            <p:nvPr/>
          </p:nvSpPr>
          <p:spPr>
            <a:xfrm>
              <a:off x="12732246" y="5645646"/>
              <a:ext cx="147637" cy="147637"/>
            </a:xfrm>
            <a:prstGeom prst="ellipse">
              <a:avLst/>
            </a:prstGeom>
            <a:noFill/>
            <a:ln w="24913">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12999839" y="5913239"/>
              <a:ext cx="147637" cy="147637"/>
            </a:xfrm>
            <a:prstGeom prst="ellipse">
              <a:avLst/>
            </a:prstGeom>
            <a:noFill/>
            <a:ln w="24913">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1" name="Connector 120"/>
            <p:cNvCxnSpPr/>
            <p:nvPr/>
          </p:nvCxnSpPr>
          <p:spPr>
            <a:xfrm>
              <a:off x="12852201" y="5765601"/>
              <a:ext cx="184547" cy="184547"/>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3082885" y="5645646"/>
              <a:ext cx="64591" cy="64591"/>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H="1">
              <a:off x="12824519" y="5710237"/>
              <a:ext cx="322957" cy="322957"/>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H="1" flipV="1">
              <a:off x="12759928" y="5968603"/>
              <a:ext cx="64591" cy="64591"/>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12759928" y="5645646"/>
              <a:ext cx="322957" cy="322957"/>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127" name="TextBox 126"/>
          <p:cNvSpPr txBox="1"/>
          <p:nvPr/>
        </p:nvSpPr>
        <p:spPr>
          <a:xfrm>
            <a:off x="12353925" y="6315075"/>
            <a:ext cx="1200150" cy="295275"/>
          </a:xfrm>
          <a:prstGeom prst="rect">
            <a:avLst/>
          </a:prstGeom>
          <a:noFill/>
        </p:spPr>
        <p:txBody>
          <a:bodyPr wrap="none" lIns="0" rIns="0" tIns="0" bIns="0" anchor="t"/>
          <a:lstStyle/>
          <a:p>
            <a:pPr algn="ctr">
              <a:lnSpc>
                <a:spcPts val="1827"/>
              </a:lnSpc>
              <a:spcBef>
                <a:spcPts val="0"/>
              </a:spcBef>
              <a:spcAft>
                <a:spcPts val="0"/>
              </a:spcAft>
            </a:pPr>
            <a:r>
              <a:rPr sz="1575" b="1">
                <a:solidFill>
                  <a:srgbClr val="172540"/>
                </a:solidFill>
                <a:latin typeface="Arial"/>
              </a:rPr>
              <a:t>Tools</a:t>
            </a:r>
          </a:p>
        </p:txBody>
      </p:sp>
      <p:cxnSp>
        <p:nvCxnSpPr>
          <p:cNvPr id="128" name="Connector 127"/>
          <p:cNvCxnSpPr/>
          <p:nvPr/>
        </p:nvCxnSpPr>
        <p:spPr>
          <a:xfrm>
            <a:off x="8515350" y="3705224"/>
            <a:ext cx="847725" cy="0"/>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9363075" y="3705224"/>
            <a:ext cx="0" cy="733426"/>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9363075" y="4438650"/>
            <a:ext cx="485775" cy="0"/>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H="1">
            <a:off x="9748542" y="4438650"/>
            <a:ext cx="100308" cy="54798"/>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H="1" flipV="1">
            <a:off x="9748542" y="4383851"/>
            <a:ext cx="100308" cy="54799"/>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H="1">
            <a:off x="12249150" y="3705224"/>
            <a:ext cx="323850" cy="0"/>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2249150" y="3705224"/>
            <a:ext cx="0" cy="733426"/>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H="1">
            <a:off x="11953875" y="4438650"/>
            <a:ext cx="295275" cy="0"/>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11953875" y="4383851"/>
            <a:ext cx="100307" cy="54799"/>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11953875" y="4438650"/>
            <a:ext cx="100307" cy="54798"/>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8515350" y="5886450"/>
            <a:ext cx="847725" cy="0"/>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9363075" y="5191125"/>
            <a:ext cx="0" cy="695325"/>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9363075" y="5191125"/>
            <a:ext cx="485775" cy="0"/>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H="1">
            <a:off x="9748542" y="5191125"/>
            <a:ext cx="100308" cy="54798"/>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H="1" flipV="1">
            <a:off x="9748542" y="5136326"/>
            <a:ext cx="100308" cy="54799"/>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H="1">
            <a:off x="12249150" y="5886450"/>
            <a:ext cx="323850" cy="0"/>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12249150" y="5191125"/>
            <a:ext cx="0" cy="695325"/>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H="1">
            <a:off x="11953875" y="5191125"/>
            <a:ext cx="295275" cy="0"/>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11953875" y="5136326"/>
            <a:ext cx="100307" cy="54799"/>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11953875" y="5191125"/>
            <a:ext cx="100307" cy="54798"/>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sp>
        <p:nvSpPr>
          <p:cNvPr id="148" name="TextBox 147"/>
          <p:cNvSpPr txBox="1"/>
          <p:nvPr/>
        </p:nvSpPr>
        <p:spPr>
          <a:xfrm>
            <a:off x="619125" y="7419975"/>
            <a:ext cx="13982700" cy="323850"/>
          </a:xfrm>
          <a:prstGeom prst="rect">
            <a:avLst/>
          </a:prstGeom>
          <a:noFill/>
        </p:spPr>
        <p:txBody>
          <a:bodyPr wrap="none" lIns="0" rIns="0" tIns="0" bIns="0" anchor="t"/>
          <a:lstStyle/>
          <a:p>
            <a:pPr algn="l">
              <a:lnSpc>
                <a:spcPts val="1827"/>
              </a:lnSpc>
              <a:spcBef>
                <a:spcPts val="0"/>
              </a:spcBef>
              <a:spcAft>
                <a:spcPts val="0"/>
              </a:spcAft>
            </a:pPr>
            <a:r>
              <a:rPr sz="1575" b="0">
                <a:solidFill>
                  <a:srgbClr val="64728B"/>
                </a:solidFill>
                <a:latin typeface="Arial"/>
              </a:rPr>
              <a:t>SWE-bench already uses real repository issues. Replay adds explicit state, action history, and recovery criteria.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ounded Rectangle 1"/>
          <p:cNvSpPr/>
          <p:nvPr/>
        </p:nvSpPr>
        <p:spPr>
          <a:xfrm>
            <a:off x="571500" y="390525"/>
            <a:ext cx="85725" cy="209550"/>
          </a:xfrm>
          <a:prstGeom prst="roundRect">
            <a:avLst>
              <a:gd name="adj" fmla="val 44444"/>
            </a:avLst>
          </a:prstGeom>
          <a:solidFill>
            <a:srgbClr val="39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1050" y="381000"/>
            <a:ext cx="13239750" cy="247649"/>
          </a:xfrm>
          <a:prstGeom prst="rect">
            <a:avLst/>
          </a:prstGeom>
          <a:noFill/>
        </p:spPr>
        <p:txBody>
          <a:bodyPr wrap="none" lIns="0" rIns="0" tIns="0" bIns="0" anchor="t"/>
          <a:lstStyle/>
          <a:p>
            <a:pPr algn="l">
              <a:lnSpc>
                <a:spcPts val="1305"/>
              </a:lnSpc>
              <a:spcBef>
                <a:spcPts val="0"/>
              </a:spcBef>
              <a:spcAft>
                <a:spcPts val="0"/>
              </a:spcAft>
            </a:pPr>
            <a:r>
              <a:rPr sz="1125" b="1">
                <a:solidFill>
                  <a:srgbClr val="64728B"/>
                </a:solidFill>
                <a:latin typeface="Arial"/>
              </a:rPr>
              <a:t>THE CASE LIBRARY</a:t>
            </a:r>
          </a:p>
        </p:txBody>
      </p:sp>
      <p:sp>
        <p:nvSpPr>
          <p:cNvPr id="4" name="TextBox 3"/>
          <p:cNvSpPr txBox="1"/>
          <p:nvPr/>
        </p:nvSpPr>
        <p:spPr>
          <a:xfrm>
            <a:off x="581025" y="8172450"/>
            <a:ext cx="13049250" cy="190500"/>
          </a:xfrm>
          <a:prstGeom prst="rect">
            <a:avLst/>
          </a:prstGeom>
          <a:noFill/>
        </p:spPr>
        <p:txBody>
          <a:bodyPr wrap="none" lIns="0" rIns="0" tIns="0" bIns="0" anchor="t"/>
          <a:lstStyle/>
          <a:p>
            <a:pPr algn="l">
              <a:lnSpc>
                <a:spcPts val="1044"/>
              </a:lnSpc>
              <a:spcBef>
                <a:spcPts val="0"/>
              </a:spcBef>
              <a:spcAft>
                <a:spcPts val="0"/>
              </a:spcAft>
            </a:pPr>
            <a:r>
              <a:rPr sz="900" b="0">
                <a:solidFill>
                  <a:srgbClr val="64728B"/>
                </a:solidFill>
                <a:latin typeface="Arial"/>
              </a:rPr>
              <a:t>INCIDENT REPLAY / SOFTWARE ENGINEERING</a:t>
            </a:r>
          </a:p>
        </p:txBody>
      </p:sp>
      <p:sp>
        <p:nvSpPr>
          <p:cNvPr id="5" name="TextBox 4"/>
          <p:cNvSpPr txBox="1"/>
          <p:nvPr/>
        </p:nvSpPr>
        <p:spPr>
          <a:xfrm>
            <a:off x="13887450" y="8124824"/>
            <a:ext cx="762000" cy="238125"/>
          </a:xfrm>
          <a:prstGeom prst="rect">
            <a:avLst/>
          </a:prstGeom>
          <a:noFill/>
        </p:spPr>
        <p:txBody>
          <a:bodyPr wrap="none" lIns="0" rIns="0" tIns="0" bIns="0" anchor="t"/>
          <a:lstStyle/>
          <a:p>
            <a:pPr algn="r">
              <a:lnSpc>
                <a:spcPts val="1218"/>
              </a:lnSpc>
              <a:spcBef>
                <a:spcPts val="0"/>
              </a:spcBef>
              <a:spcAft>
                <a:spcPts val="0"/>
              </a:spcAft>
            </a:pPr>
            <a:r>
              <a:rPr sz="1050" b="0">
                <a:solidFill>
                  <a:srgbClr val="64728B"/>
                </a:solidFill>
                <a:latin typeface="Courier New"/>
              </a:rPr>
              <a:t>04 / 10</a:t>
            </a:r>
          </a:p>
        </p:txBody>
      </p:sp>
      <p:sp>
        <p:nvSpPr>
          <p:cNvPr id="6" name="TextBox 5"/>
          <p:cNvSpPr txBox="1"/>
          <p:nvPr/>
        </p:nvSpPr>
        <p:spPr>
          <a:xfrm>
            <a:off x="571500" y="942975"/>
            <a:ext cx="14097000" cy="1181100"/>
          </a:xfrm>
          <a:prstGeom prst="rect">
            <a:avLst/>
          </a:prstGeom>
          <a:noFill/>
        </p:spPr>
        <p:txBody>
          <a:bodyPr wrap="none" lIns="0" rIns="0" tIns="0" bIns="0" anchor="t"/>
          <a:lstStyle/>
          <a:p>
            <a:pPr algn="l">
              <a:lnSpc>
                <a:spcPts val="4212"/>
              </a:lnSpc>
              <a:spcBef>
                <a:spcPts val="0"/>
              </a:spcBef>
              <a:spcAft>
                <a:spcPts val="0"/>
              </a:spcAft>
            </a:pPr>
            <a:r>
              <a:rPr sz="3900" b="1">
                <a:solidFill>
                  <a:srgbClr val="172540"/>
                </a:solidFill>
                <a:latin typeface="Arial"/>
              </a:rPr>
              <a:t>A case packages the complete experiment.</a:t>
            </a:r>
          </a:p>
        </p:txBody>
      </p:sp>
      <p:sp>
        <p:nvSpPr>
          <p:cNvPr id="7" name="TextBox 6"/>
          <p:cNvSpPr txBox="1"/>
          <p:nvPr/>
        </p:nvSpPr>
        <p:spPr>
          <a:xfrm>
            <a:off x="600075" y="1685925"/>
            <a:ext cx="13906500" cy="647700"/>
          </a:xfrm>
          <a:prstGeom prst="rect">
            <a:avLst/>
          </a:prstGeom>
          <a:noFill/>
        </p:spPr>
        <p:txBody>
          <a:bodyPr wrap="none" lIns="0" rIns="0" tIns="0" bIns="0" anchor="t"/>
          <a:lstStyle/>
          <a:p>
            <a:pPr algn="l">
              <a:lnSpc>
                <a:spcPts val="2175"/>
              </a:lnSpc>
              <a:spcBef>
                <a:spcPts val="0"/>
              </a:spcBef>
              <a:spcAft>
                <a:spcPts val="0"/>
              </a:spcAft>
            </a:pPr>
            <a:r>
              <a:rPr sz="1875" b="0">
                <a:solidFill>
                  <a:srgbClr val="64728B"/>
                </a:solidFill>
                <a:latin typeface="Arial"/>
              </a:rPr>
              <a:t>Three connected layers make the failure inspectable, resettable, and reusable.</a:t>
            </a:r>
          </a:p>
        </p:txBody>
      </p:sp>
      <p:sp>
        <p:nvSpPr>
          <p:cNvPr id="8" name="Rounded Rectangle 7"/>
          <p:cNvSpPr/>
          <p:nvPr/>
        </p:nvSpPr>
        <p:spPr>
          <a:xfrm>
            <a:off x="609600" y="2895600"/>
            <a:ext cx="2581275" cy="4095750"/>
          </a:xfrm>
          <a:prstGeom prst="roundRect">
            <a:avLst>
              <a:gd name="adj" fmla="val 8856"/>
            </a:avLst>
          </a:prstGeom>
          <a:solidFill>
            <a:srgbClr val="E7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00075" y="2828925"/>
            <a:ext cx="2581275" cy="4095750"/>
          </a:xfrm>
          <a:prstGeom prst="roundRect">
            <a:avLst>
              <a:gd name="adj" fmla="val 8856"/>
            </a:avLst>
          </a:prstGeom>
          <a:solidFill>
            <a:srgbClr val="14213D"/>
          </a:solidFill>
          <a:ln w="12382">
            <a:solidFill>
              <a:srgbClr val="14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0" name="Group 19"/>
          <p:cNvGrpSpPr/>
          <p:nvPr/>
        </p:nvGrpSpPr>
        <p:grpSpPr>
          <a:xfrm>
            <a:off x="1516856" y="3312021"/>
            <a:ext cx="700087" cy="758428"/>
            <a:chOff x="1516856" y="3312021"/>
            <a:chExt cx="700087" cy="758428"/>
          </a:xfrm>
        </p:grpSpPr>
        <p:cxnSp>
          <p:nvCxnSpPr>
            <p:cNvPr id="10" name="Connector 9"/>
            <p:cNvCxnSpPr/>
            <p:nvPr/>
          </p:nvCxnSpPr>
          <p:spPr>
            <a:xfrm flipV="1">
              <a:off x="1516856" y="3312021"/>
              <a:ext cx="350043" cy="160436"/>
            </a:xfrm>
            <a:prstGeom prst="line">
              <a:avLst/>
            </a:prstGeom>
            <a:ln w="39379">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866899" y="3312021"/>
              <a:ext cx="350044" cy="160436"/>
            </a:xfrm>
            <a:prstGeom prst="line">
              <a:avLst/>
            </a:prstGeom>
            <a:ln w="39379">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216943" y="3472457"/>
              <a:ext cx="0" cy="422970"/>
            </a:xfrm>
            <a:prstGeom prst="line">
              <a:avLst/>
            </a:prstGeom>
            <a:ln w="39379">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1866899" y="3895427"/>
              <a:ext cx="350044" cy="175022"/>
            </a:xfrm>
            <a:prstGeom prst="line">
              <a:avLst/>
            </a:prstGeom>
            <a:ln w="39379">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1516856" y="3895427"/>
              <a:ext cx="350043" cy="175022"/>
            </a:xfrm>
            <a:prstGeom prst="line">
              <a:avLst/>
            </a:prstGeom>
            <a:ln w="39379">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516856" y="3472457"/>
              <a:ext cx="0" cy="422970"/>
            </a:xfrm>
            <a:prstGeom prst="line">
              <a:avLst/>
            </a:prstGeom>
            <a:ln w="39379">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516856" y="3472457"/>
              <a:ext cx="350043" cy="175022"/>
            </a:xfrm>
            <a:prstGeom prst="line">
              <a:avLst/>
            </a:prstGeom>
            <a:ln w="39379">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866899" y="3472457"/>
              <a:ext cx="350044" cy="175022"/>
            </a:xfrm>
            <a:prstGeom prst="line">
              <a:avLst/>
            </a:prstGeom>
            <a:ln w="39379">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866899" y="3647479"/>
              <a:ext cx="0" cy="422970"/>
            </a:xfrm>
            <a:prstGeom prst="line">
              <a:avLst/>
            </a:prstGeom>
            <a:ln w="39379">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691878" y="3399532"/>
              <a:ext cx="350043" cy="160436"/>
            </a:xfrm>
            <a:prstGeom prst="line">
              <a:avLst/>
            </a:prstGeom>
            <a:ln w="39379">
              <a:solidFill>
                <a:srgbClr val="57DDD0"/>
              </a:solidFill>
            </a:ln>
          </p:spPr>
          <p:style>
            <a:lnRef idx="2">
              <a:schemeClr val="accent1"/>
            </a:lnRef>
            <a:fillRef idx="0">
              <a:schemeClr val="accent1"/>
            </a:fillRef>
            <a:effectRef idx="1">
              <a:schemeClr val="accent1"/>
            </a:effectRef>
            <a:fontRef idx="minor">
              <a:schemeClr val="tx1"/>
            </a:fontRef>
          </p:style>
        </p:cxnSp>
      </p:grpSp>
      <p:sp>
        <p:nvSpPr>
          <p:cNvPr id="21" name="TextBox 20"/>
          <p:cNvSpPr txBox="1"/>
          <p:nvPr/>
        </p:nvSpPr>
        <p:spPr>
          <a:xfrm>
            <a:off x="857250" y="4438650"/>
            <a:ext cx="2047875" cy="428625"/>
          </a:xfrm>
          <a:prstGeom prst="rect">
            <a:avLst/>
          </a:prstGeom>
          <a:noFill/>
        </p:spPr>
        <p:txBody>
          <a:bodyPr wrap="none" lIns="0" rIns="0" tIns="0" bIns="0" anchor="t"/>
          <a:lstStyle/>
          <a:p>
            <a:pPr algn="ctr">
              <a:lnSpc>
                <a:spcPts val="2522"/>
              </a:lnSpc>
              <a:spcBef>
                <a:spcPts val="0"/>
              </a:spcBef>
              <a:spcAft>
                <a:spcPts val="0"/>
              </a:spcAft>
            </a:pPr>
            <a:r>
              <a:rPr sz="2175" b="1">
                <a:solidFill>
                  <a:srgbClr val="FFFFFF"/>
                </a:solidFill>
                <a:latin typeface="Courier New"/>
              </a:rPr>
              <a:t>case.yaml</a:t>
            </a:r>
          </a:p>
        </p:txBody>
      </p:sp>
      <p:sp>
        <p:nvSpPr>
          <p:cNvPr id="22" name="TextBox 21"/>
          <p:cNvSpPr txBox="1"/>
          <p:nvPr/>
        </p:nvSpPr>
        <p:spPr>
          <a:xfrm>
            <a:off x="866775" y="5181600"/>
            <a:ext cx="2038349" cy="876300"/>
          </a:xfrm>
          <a:prstGeom prst="rect">
            <a:avLst/>
          </a:prstGeom>
          <a:noFill/>
        </p:spPr>
        <p:txBody>
          <a:bodyPr wrap="none" lIns="0" rIns="0" tIns="0" bIns="0" anchor="t"/>
          <a:lstStyle/>
          <a:p>
            <a:pPr algn="ctr">
              <a:lnSpc>
                <a:spcPts val="2349"/>
              </a:lnSpc>
              <a:spcBef>
                <a:spcPts val="0"/>
              </a:spcBef>
              <a:spcAft>
                <a:spcPts val="0"/>
              </a:spcAft>
            </a:pPr>
            <a:r>
              <a:rPr sz="2025" b="0">
                <a:solidFill>
                  <a:srgbClr val="AABAD2"/>
                </a:solidFill>
                <a:latin typeface="Arial"/>
              </a:rPr>
              <a:t>One versioned</a:t>
            </a:r>
          </a:p>
          <a:p>
            <a:pPr algn="ctr">
              <a:lnSpc>
                <a:spcPts val="2349"/>
              </a:lnSpc>
              <a:spcBef>
                <a:spcPts val="0"/>
              </a:spcBef>
              <a:spcAft>
                <a:spcPts val="0"/>
              </a:spcAft>
            </a:pPr>
            <a:r>
              <a:rPr sz="2025" b="0">
                <a:solidFill>
                  <a:srgbClr val="AABAD2"/>
                </a:solidFill>
                <a:latin typeface="Arial"/>
              </a:rPr>
              <a:t>entry point</a:t>
            </a:r>
          </a:p>
        </p:txBody>
      </p:sp>
      <p:sp>
        <p:nvSpPr>
          <p:cNvPr id="23" name="Rounded Rectangle 22"/>
          <p:cNvSpPr/>
          <p:nvPr/>
        </p:nvSpPr>
        <p:spPr>
          <a:xfrm>
            <a:off x="857250" y="6315075"/>
            <a:ext cx="2066924" cy="371475"/>
          </a:xfrm>
          <a:prstGeom prst="roundRect">
            <a:avLst>
              <a:gd name="adj" fmla="val 45000"/>
            </a:avLst>
          </a:prstGeom>
          <a:solidFill>
            <a:srgbClr val="2034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1550" y="6400800"/>
            <a:ext cx="1838324" cy="247649"/>
          </a:xfrm>
          <a:prstGeom prst="rect">
            <a:avLst/>
          </a:prstGeom>
          <a:noFill/>
        </p:spPr>
        <p:txBody>
          <a:bodyPr wrap="none" lIns="0" rIns="0" tIns="0" bIns="0" anchor="t"/>
          <a:lstStyle/>
          <a:p>
            <a:pPr algn="ctr">
              <a:lnSpc>
                <a:spcPts val="1391"/>
              </a:lnSpc>
              <a:spcBef>
                <a:spcPts val="0"/>
              </a:spcBef>
              <a:spcAft>
                <a:spcPts val="0"/>
              </a:spcAft>
            </a:pPr>
            <a:r>
              <a:rPr sz="1200" b="1">
                <a:solidFill>
                  <a:srgbClr val="57DDD0"/>
                </a:solidFill>
                <a:latin typeface="Arial"/>
              </a:rPr>
              <a:t>Provenance included</a:t>
            </a:r>
          </a:p>
        </p:txBody>
      </p:sp>
      <p:sp>
        <p:nvSpPr>
          <p:cNvPr id="25" name="Freeform 24"/>
          <p:cNvSpPr/>
          <p:nvPr/>
        </p:nvSpPr>
        <p:spPr>
          <a:xfrm>
            <a:off x="3962399" y="2857500"/>
            <a:ext cx="10429876" cy="200025"/>
          </a:xfrm>
          <a:custGeom>
            <a:avLst/>
            <a:gdLst/>
            <a:ahLst/>
            <a:cxnLst/>
            <a:rect l="l" t="t" r="r" b="b"/>
            <a:pathLst>
              <a:path w="10429876" h="200025">
                <a:moveTo>
                  <a:pt x="0" y="0"/>
                </a:moveTo>
                <a:lnTo>
                  <a:pt x="10125076" y="0"/>
                </a:lnTo>
                <a:lnTo>
                  <a:pt x="10429876" y="200025"/>
                </a:lnTo>
                <a:lnTo>
                  <a:pt x="304801" y="200025"/>
                </a:lnTo>
                <a:close/>
              </a:path>
            </a:pathLst>
          </a:custGeom>
          <a:solidFill>
            <a:srgbClr val="EAF1FF"/>
          </a:solidFill>
          <a:ln w="14287">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3962399" y="3000375"/>
            <a:ext cx="10429875" cy="1066800"/>
          </a:xfrm>
          <a:prstGeom prst="roundRect">
            <a:avLst>
              <a:gd name="adj" fmla="val 10714"/>
            </a:avLst>
          </a:prstGeom>
          <a:solidFill>
            <a:srgbClr val="FFFFFF"/>
          </a:solidFill>
          <a:ln w="14287">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962399" y="3952875"/>
            <a:ext cx="10429875" cy="133350"/>
          </a:xfrm>
          <a:prstGeom prst="roundRect">
            <a:avLst>
              <a:gd name="adj" fmla="val 35714"/>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19575" y="3219450"/>
            <a:ext cx="2190750" cy="257175"/>
          </a:xfrm>
          <a:prstGeom prst="rect">
            <a:avLst/>
          </a:prstGeom>
          <a:noFill/>
        </p:spPr>
        <p:txBody>
          <a:bodyPr wrap="none" lIns="0" rIns="0" tIns="0" bIns="0" anchor="t"/>
          <a:lstStyle/>
          <a:p>
            <a:pPr algn="l">
              <a:lnSpc>
                <a:spcPts val="1391"/>
              </a:lnSpc>
              <a:spcBef>
                <a:spcPts val="0"/>
              </a:spcBef>
              <a:spcAft>
                <a:spcPts val="0"/>
              </a:spcAft>
            </a:pPr>
            <a:r>
              <a:rPr sz="1200" b="1">
                <a:solidFill>
                  <a:srgbClr val="3973F6"/>
                </a:solidFill>
                <a:latin typeface="Arial"/>
              </a:rPr>
              <a:t>01 RESTORE</a:t>
            </a:r>
          </a:p>
        </p:txBody>
      </p:sp>
      <p:grpSp>
        <p:nvGrpSpPr>
          <p:cNvPr id="36" name="Group 35"/>
          <p:cNvGrpSpPr/>
          <p:nvPr/>
        </p:nvGrpSpPr>
        <p:grpSpPr>
          <a:xfrm>
            <a:off x="6742807" y="3242667"/>
            <a:ext cx="401835" cy="345578"/>
            <a:chOff x="6742807" y="3242667"/>
            <a:chExt cx="401835" cy="345578"/>
          </a:xfrm>
        </p:grpSpPr>
        <p:sp>
          <p:nvSpPr>
            <p:cNvPr id="29" name="Rounded Rectangle 28"/>
            <p:cNvSpPr/>
            <p:nvPr/>
          </p:nvSpPr>
          <p:spPr>
            <a:xfrm>
              <a:off x="6742807" y="3242667"/>
              <a:ext cx="401835" cy="345578"/>
            </a:xfrm>
            <a:prstGeom prst="roundRect">
              <a:avLst>
                <a:gd name="adj" fmla="val 9302"/>
              </a:avLst>
            </a:prstGeom>
            <a:noFill/>
            <a:ln w="21699">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6742807" y="3331071"/>
              <a:ext cx="401835" cy="0"/>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6831210" y="3403401"/>
              <a:ext cx="48221" cy="48220"/>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831210" y="3451621"/>
              <a:ext cx="48221" cy="48221"/>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7008018" y="3403401"/>
              <a:ext cx="48221" cy="48220"/>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7008018" y="3451621"/>
              <a:ext cx="48221" cy="48221"/>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6927651" y="3387328"/>
              <a:ext cx="32147" cy="136624"/>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37" name="TextBox 36"/>
          <p:cNvSpPr txBox="1"/>
          <p:nvPr/>
        </p:nvSpPr>
        <p:spPr>
          <a:xfrm>
            <a:off x="7315200" y="3276600"/>
            <a:ext cx="1809750" cy="409575"/>
          </a:xfrm>
          <a:prstGeom prst="rect">
            <a:avLst/>
          </a:prstGeom>
          <a:noFill/>
        </p:spPr>
        <p:txBody>
          <a:bodyPr wrap="none" lIns="0" rIns="0" tIns="0" bIns="0" anchor="t"/>
          <a:lstStyle/>
          <a:p>
            <a:pPr algn="l">
              <a:lnSpc>
                <a:spcPts val="1913"/>
              </a:lnSpc>
              <a:spcBef>
                <a:spcPts val="0"/>
              </a:spcBef>
              <a:spcAft>
                <a:spcPts val="0"/>
              </a:spcAft>
            </a:pPr>
            <a:r>
              <a:rPr sz="1650" b="1">
                <a:solidFill>
                  <a:srgbClr val="172540"/>
                </a:solidFill>
                <a:latin typeface="Arial"/>
              </a:rPr>
              <a:t>Repository</a:t>
            </a:r>
          </a:p>
        </p:txBody>
      </p:sp>
      <p:grpSp>
        <p:nvGrpSpPr>
          <p:cNvPr id="65" name="Group 64"/>
          <p:cNvGrpSpPr/>
          <p:nvPr/>
        </p:nvGrpSpPr>
        <p:grpSpPr>
          <a:xfrm>
            <a:off x="9240440" y="3234630"/>
            <a:ext cx="321469" cy="377726"/>
            <a:chOff x="9240440" y="3234630"/>
            <a:chExt cx="321469" cy="377726"/>
          </a:xfrm>
        </p:grpSpPr>
        <p:cxnSp>
          <p:nvCxnSpPr>
            <p:cNvPr id="38" name="Connector 37"/>
            <p:cNvCxnSpPr/>
            <p:nvPr/>
          </p:nvCxnSpPr>
          <p:spPr>
            <a:xfrm>
              <a:off x="9240440" y="3298924"/>
              <a:ext cx="0" cy="241101"/>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561909" y="3298924"/>
              <a:ext cx="0" cy="241101"/>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9240440" y="3234630"/>
              <a:ext cx="321468" cy="128587"/>
            </a:xfrm>
            <a:prstGeom prst="ellipse">
              <a:avLst/>
            </a:prstGeom>
            <a:noFill/>
            <a:ln w="21699">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1" name="Connector 40"/>
            <p:cNvCxnSpPr/>
            <p:nvPr/>
          </p:nvCxnSpPr>
          <p:spPr>
            <a:xfrm flipH="1">
              <a:off x="9556432" y="3483768"/>
              <a:ext cx="5477" cy="16641"/>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9540375" y="3500409"/>
              <a:ext cx="16057" cy="15506"/>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9514831" y="3515915"/>
              <a:ext cx="25544" cy="13316"/>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9481542" y="3529231"/>
              <a:ext cx="33289" cy="10217"/>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9442776" y="3539448"/>
              <a:ext cx="38766" cy="6423"/>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9401175" y="3545871"/>
              <a:ext cx="41601" cy="2191"/>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9359573" y="3545871"/>
              <a:ext cx="41602" cy="2191"/>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9320807" y="3539448"/>
              <a:ext cx="38766" cy="6423"/>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9287518" y="3529231"/>
              <a:ext cx="33289" cy="10217"/>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9261974" y="3515915"/>
              <a:ext cx="25544" cy="13316"/>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9245917" y="3500409"/>
              <a:ext cx="16057" cy="15506"/>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9240440" y="3483768"/>
              <a:ext cx="5477" cy="16641"/>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9556432" y="3548062"/>
              <a:ext cx="5477" cy="16640"/>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9540375" y="3564702"/>
              <a:ext cx="16057" cy="15507"/>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9514831" y="3580209"/>
              <a:ext cx="25544" cy="13316"/>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9481542" y="3593525"/>
              <a:ext cx="33289" cy="10217"/>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9442776" y="3603742"/>
              <a:ext cx="38766" cy="6423"/>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9401175" y="3610165"/>
              <a:ext cx="41601" cy="2191"/>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9359573" y="3610165"/>
              <a:ext cx="41602" cy="2191"/>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9320807" y="3603742"/>
              <a:ext cx="38766" cy="6423"/>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9287518" y="3593525"/>
              <a:ext cx="33289" cy="10217"/>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9261974" y="3580209"/>
              <a:ext cx="25544" cy="13316"/>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9245917" y="3564702"/>
              <a:ext cx="16057" cy="15507"/>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9240440" y="3548062"/>
              <a:ext cx="5477" cy="16640"/>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66" name="TextBox 65"/>
          <p:cNvSpPr txBox="1"/>
          <p:nvPr/>
        </p:nvSpPr>
        <p:spPr>
          <a:xfrm>
            <a:off x="9772650" y="3276600"/>
            <a:ext cx="1809750" cy="409575"/>
          </a:xfrm>
          <a:prstGeom prst="rect">
            <a:avLst/>
          </a:prstGeom>
          <a:noFill/>
        </p:spPr>
        <p:txBody>
          <a:bodyPr wrap="none" lIns="0" rIns="0" tIns="0" bIns="0" anchor="t"/>
          <a:lstStyle/>
          <a:p>
            <a:pPr algn="l">
              <a:lnSpc>
                <a:spcPts val="1913"/>
              </a:lnSpc>
              <a:spcBef>
                <a:spcPts val="0"/>
              </a:spcBef>
              <a:spcAft>
                <a:spcPts val="0"/>
              </a:spcAft>
            </a:pPr>
            <a:r>
              <a:rPr sz="1650" b="1">
                <a:solidFill>
                  <a:srgbClr val="172540"/>
                </a:solidFill>
                <a:latin typeface="Arial"/>
              </a:rPr>
              <a:t>Data snapshot</a:t>
            </a:r>
          </a:p>
        </p:txBody>
      </p:sp>
      <p:grpSp>
        <p:nvGrpSpPr>
          <p:cNvPr id="76" name="Group 75"/>
          <p:cNvGrpSpPr/>
          <p:nvPr/>
        </p:nvGrpSpPr>
        <p:grpSpPr>
          <a:xfrm>
            <a:off x="11665743" y="3242667"/>
            <a:ext cx="385763" cy="353615"/>
            <a:chOff x="11665743" y="3242667"/>
            <a:chExt cx="385763" cy="353615"/>
          </a:xfrm>
        </p:grpSpPr>
        <p:cxnSp>
          <p:nvCxnSpPr>
            <p:cNvPr id="67" name="Connector 66"/>
            <p:cNvCxnSpPr/>
            <p:nvPr/>
          </p:nvCxnSpPr>
          <p:spPr>
            <a:xfrm>
              <a:off x="11665743" y="3282850"/>
              <a:ext cx="80367" cy="0"/>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1826478" y="3282850"/>
              <a:ext cx="225028" cy="0"/>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sp>
          <p:nvSpPr>
            <p:cNvPr id="69" name="Oval 68"/>
            <p:cNvSpPr/>
            <p:nvPr/>
          </p:nvSpPr>
          <p:spPr>
            <a:xfrm>
              <a:off x="11746110" y="3242667"/>
              <a:ext cx="80367" cy="80367"/>
            </a:xfrm>
            <a:prstGeom prst="ellipse">
              <a:avLst/>
            </a:prstGeom>
            <a:noFill/>
            <a:ln w="21699">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a:off x="11665743" y="3419475"/>
              <a:ext cx="233065" cy="0"/>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1979175" y="3419475"/>
              <a:ext cx="72331" cy="0"/>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sp>
          <p:nvSpPr>
            <p:cNvPr id="72" name="Oval 71"/>
            <p:cNvSpPr/>
            <p:nvPr/>
          </p:nvSpPr>
          <p:spPr>
            <a:xfrm>
              <a:off x="11898808" y="3379291"/>
              <a:ext cx="80367" cy="80367"/>
            </a:xfrm>
            <a:prstGeom prst="ellipse">
              <a:avLst/>
            </a:prstGeom>
            <a:noFill/>
            <a:ln w="21699">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3" name="Connector 72"/>
            <p:cNvCxnSpPr/>
            <p:nvPr/>
          </p:nvCxnSpPr>
          <p:spPr>
            <a:xfrm>
              <a:off x="11665743" y="3556099"/>
              <a:ext cx="120551" cy="0"/>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1866661" y="3556099"/>
              <a:ext cx="184845" cy="0"/>
            </a:xfrm>
            <a:prstGeom prst="line">
              <a:avLst/>
            </a:prstGeom>
            <a:ln w="21699">
              <a:solidFill>
                <a:srgbClr val="3973F6"/>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11786294" y="3515915"/>
              <a:ext cx="80367" cy="80367"/>
            </a:xfrm>
            <a:prstGeom prst="ellipse">
              <a:avLst/>
            </a:prstGeom>
            <a:noFill/>
            <a:ln w="21699">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sp>
        <p:nvSpPr>
          <p:cNvPr id="77" name="TextBox 76"/>
          <p:cNvSpPr txBox="1"/>
          <p:nvPr/>
        </p:nvSpPr>
        <p:spPr>
          <a:xfrm>
            <a:off x="12230100" y="3276600"/>
            <a:ext cx="1809750" cy="409575"/>
          </a:xfrm>
          <a:prstGeom prst="rect">
            <a:avLst/>
          </a:prstGeom>
          <a:noFill/>
        </p:spPr>
        <p:txBody>
          <a:bodyPr wrap="none" lIns="0" rIns="0" tIns="0" bIns="0" anchor="t"/>
          <a:lstStyle/>
          <a:p>
            <a:pPr algn="l">
              <a:lnSpc>
                <a:spcPts val="1913"/>
              </a:lnSpc>
              <a:spcBef>
                <a:spcPts val="0"/>
              </a:spcBef>
              <a:spcAft>
                <a:spcPts val="0"/>
              </a:spcAft>
            </a:pPr>
            <a:r>
              <a:rPr sz="1650" b="1">
                <a:solidFill>
                  <a:srgbClr val="172540"/>
                </a:solidFill>
                <a:latin typeface="Arial"/>
              </a:rPr>
              <a:t>Dependencies</a:t>
            </a:r>
          </a:p>
        </p:txBody>
      </p:sp>
      <p:sp>
        <p:nvSpPr>
          <p:cNvPr id="78" name="Freeform 77"/>
          <p:cNvSpPr/>
          <p:nvPr/>
        </p:nvSpPr>
        <p:spPr>
          <a:xfrm>
            <a:off x="3962399" y="4581525"/>
            <a:ext cx="10429876" cy="200025"/>
          </a:xfrm>
          <a:custGeom>
            <a:avLst/>
            <a:gdLst/>
            <a:ahLst/>
            <a:cxnLst/>
            <a:rect l="l" t="t" r="r" b="b"/>
            <a:pathLst>
              <a:path w="10429876" h="200025">
                <a:moveTo>
                  <a:pt x="0" y="0"/>
                </a:moveTo>
                <a:lnTo>
                  <a:pt x="10125076" y="0"/>
                </a:lnTo>
                <a:lnTo>
                  <a:pt x="10429876" y="200025"/>
                </a:lnTo>
                <a:lnTo>
                  <a:pt x="304801" y="200025"/>
                </a:lnTo>
                <a:close/>
              </a:path>
            </a:pathLst>
          </a:custGeom>
          <a:solidFill>
            <a:srgbClr val="E5F5F2"/>
          </a:solidFill>
          <a:ln w="14287">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ounded Rectangle 78"/>
          <p:cNvSpPr/>
          <p:nvPr/>
        </p:nvSpPr>
        <p:spPr>
          <a:xfrm>
            <a:off x="3962399" y="4724400"/>
            <a:ext cx="10429875" cy="1066800"/>
          </a:xfrm>
          <a:prstGeom prst="roundRect">
            <a:avLst>
              <a:gd name="adj" fmla="val 10714"/>
            </a:avLst>
          </a:prstGeom>
          <a:solidFill>
            <a:srgbClr val="FFFFFF"/>
          </a:solidFill>
          <a:ln w="14287">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3962399" y="5676900"/>
            <a:ext cx="10429875" cy="133350"/>
          </a:xfrm>
          <a:prstGeom prst="roundRect">
            <a:avLst>
              <a:gd name="adj" fmla="val 35714"/>
            </a:avLst>
          </a:prstGeom>
          <a:solidFill>
            <a:srgbClr val="E5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219575" y="4943475"/>
            <a:ext cx="2190750" cy="257175"/>
          </a:xfrm>
          <a:prstGeom prst="rect">
            <a:avLst/>
          </a:prstGeom>
          <a:noFill/>
        </p:spPr>
        <p:txBody>
          <a:bodyPr wrap="none" lIns="0" rIns="0" tIns="0" bIns="0" anchor="t"/>
          <a:lstStyle/>
          <a:p>
            <a:pPr algn="l">
              <a:lnSpc>
                <a:spcPts val="1391"/>
              </a:lnSpc>
              <a:spcBef>
                <a:spcPts val="0"/>
              </a:spcBef>
              <a:spcAft>
                <a:spcPts val="0"/>
              </a:spcAft>
            </a:pPr>
            <a:r>
              <a:rPr sz="1200" b="1">
                <a:solidFill>
                  <a:srgbClr val="0B9696"/>
                </a:solidFill>
                <a:latin typeface="Arial"/>
              </a:rPr>
              <a:t>02 RECREATE</a:t>
            </a:r>
          </a:p>
        </p:txBody>
      </p:sp>
      <p:grpSp>
        <p:nvGrpSpPr>
          <p:cNvPr id="87" name="Group 86"/>
          <p:cNvGrpSpPr/>
          <p:nvPr/>
        </p:nvGrpSpPr>
        <p:grpSpPr>
          <a:xfrm>
            <a:off x="6815137" y="4950618"/>
            <a:ext cx="273248" cy="393799"/>
            <a:chOff x="6815137" y="4950618"/>
            <a:chExt cx="273248" cy="393799"/>
          </a:xfrm>
        </p:grpSpPr>
        <p:cxnSp>
          <p:nvCxnSpPr>
            <p:cNvPr id="82" name="Connector 81"/>
            <p:cNvCxnSpPr/>
            <p:nvPr/>
          </p:nvCxnSpPr>
          <p:spPr>
            <a:xfrm flipV="1">
              <a:off x="6815137" y="4950618"/>
              <a:ext cx="0" cy="393799"/>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6815137" y="4950618"/>
              <a:ext cx="273248" cy="0"/>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7040165" y="4950618"/>
              <a:ext cx="48220" cy="112514"/>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040165" y="5063132"/>
              <a:ext cx="48220" cy="104478"/>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a:off x="6815137" y="5167610"/>
              <a:ext cx="273248" cy="0"/>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grpSp>
      <p:sp>
        <p:nvSpPr>
          <p:cNvPr id="88" name="TextBox 87"/>
          <p:cNvSpPr txBox="1"/>
          <p:nvPr/>
        </p:nvSpPr>
        <p:spPr>
          <a:xfrm>
            <a:off x="7315200" y="5000625"/>
            <a:ext cx="1809750" cy="409575"/>
          </a:xfrm>
          <a:prstGeom prst="rect">
            <a:avLst/>
          </a:prstGeom>
          <a:noFill/>
        </p:spPr>
        <p:txBody>
          <a:bodyPr wrap="none" lIns="0" rIns="0" tIns="0" bIns="0" anchor="t"/>
          <a:lstStyle/>
          <a:p>
            <a:pPr algn="l">
              <a:lnSpc>
                <a:spcPts val="1913"/>
              </a:lnSpc>
              <a:spcBef>
                <a:spcPts val="0"/>
              </a:spcBef>
              <a:spcAft>
                <a:spcPts val="0"/>
              </a:spcAft>
            </a:pPr>
            <a:r>
              <a:rPr sz="1650" b="1">
                <a:solidFill>
                  <a:srgbClr val="172540"/>
                </a:solidFill>
                <a:latin typeface="Arial"/>
              </a:rPr>
              <a:t>Task</a:t>
            </a:r>
          </a:p>
        </p:txBody>
      </p:sp>
      <p:grpSp>
        <p:nvGrpSpPr>
          <p:cNvPr id="99" name="Group 98"/>
          <p:cNvGrpSpPr/>
          <p:nvPr/>
        </p:nvGrpSpPr>
        <p:grpSpPr>
          <a:xfrm>
            <a:off x="9224367" y="4958655"/>
            <a:ext cx="353615" cy="361652"/>
            <a:chOff x="9224367" y="4958655"/>
            <a:chExt cx="353615" cy="361652"/>
          </a:xfrm>
        </p:grpSpPr>
        <p:sp>
          <p:nvSpPr>
            <p:cNvPr id="89" name="Rounded Rectangle 88"/>
            <p:cNvSpPr/>
            <p:nvPr/>
          </p:nvSpPr>
          <p:spPr>
            <a:xfrm>
              <a:off x="9304734" y="5022949"/>
              <a:ext cx="192881" cy="297358"/>
            </a:xfrm>
            <a:prstGeom prst="roundRect">
              <a:avLst>
                <a:gd name="adj" fmla="val 45000"/>
              </a:avLst>
            </a:prstGeom>
            <a:noFill/>
            <a:ln w="21699">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0" name="Connector 89"/>
            <p:cNvCxnSpPr/>
            <p:nvPr/>
          </p:nvCxnSpPr>
          <p:spPr>
            <a:xfrm flipH="1" flipV="1">
              <a:off x="9320807" y="4958655"/>
              <a:ext cx="32147" cy="64294"/>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9449395" y="4958655"/>
              <a:ext cx="32147" cy="64294"/>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9401175" y="5055096"/>
              <a:ext cx="0" cy="233064"/>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9224367" y="5055096"/>
              <a:ext cx="80367" cy="32146"/>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9497615" y="5055096"/>
              <a:ext cx="80367" cy="32146"/>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9224367" y="5135463"/>
              <a:ext cx="80367" cy="32147"/>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9497615" y="5135463"/>
              <a:ext cx="80367" cy="32147"/>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9224367" y="5215830"/>
              <a:ext cx="80367" cy="32147"/>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9497615" y="5215830"/>
              <a:ext cx="80367" cy="32147"/>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grpSp>
      <p:sp>
        <p:nvSpPr>
          <p:cNvPr id="100" name="TextBox 99"/>
          <p:cNvSpPr txBox="1"/>
          <p:nvPr/>
        </p:nvSpPr>
        <p:spPr>
          <a:xfrm>
            <a:off x="9772650" y="5000625"/>
            <a:ext cx="1809750" cy="409575"/>
          </a:xfrm>
          <a:prstGeom prst="rect">
            <a:avLst/>
          </a:prstGeom>
          <a:noFill/>
        </p:spPr>
        <p:txBody>
          <a:bodyPr wrap="none" lIns="0" rIns="0" tIns="0" bIns="0" anchor="t"/>
          <a:lstStyle/>
          <a:p>
            <a:pPr algn="l">
              <a:lnSpc>
                <a:spcPts val="1913"/>
              </a:lnSpc>
              <a:spcBef>
                <a:spcPts val="0"/>
              </a:spcBef>
              <a:spcAft>
                <a:spcPts val="0"/>
              </a:spcAft>
            </a:pPr>
            <a:r>
              <a:rPr sz="1650" b="1">
                <a:solidFill>
                  <a:srgbClr val="172540"/>
                </a:solidFill>
                <a:latin typeface="Arial"/>
              </a:rPr>
              <a:t>Trigger</a:t>
            </a:r>
          </a:p>
        </p:txBody>
      </p:sp>
      <p:grpSp>
        <p:nvGrpSpPr>
          <p:cNvPr id="111" name="Group 110"/>
          <p:cNvGrpSpPr/>
          <p:nvPr/>
        </p:nvGrpSpPr>
        <p:grpSpPr>
          <a:xfrm>
            <a:off x="11713964" y="4942582"/>
            <a:ext cx="297358" cy="393799"/>
            <a:chOff x="11713964" y="4942582"/>
            <a:chExt cx="297358" cy="393799"/>
          </a:xfrm>
        </p:grpSpPr>
        <p:cxnSp>
          <p:nvCxnSpPr>
            <p:cNvPr id="101" name="Connector 100"/>
            <p:cNvCxnSpPr/>
            <p:nvPr/>
          </p:nvCxnSpPr>
          <p:spPr>
            <a:xfrm flipH="1">
              <a:off x="11713964" y="4942582"/>
              <a:ext cx="200918" cy="0"/>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11713964" y="4942582"/>
              <a:ext cx="0" cy="393799"/>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11713964" y="5336381"/>
              <a:ext cx="297358" cy="0"/>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12011322" y="5047059"/>
              <a:ext cx="0" cy="289322"/>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flipV="1">
              <a:off x="11914882" y="4942582"/>
              <a:ext cx="96440" cy="104477"/>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11914882" y="4942582"/>
              <a:ext cx="0" cy="104477"/>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11914882" y="5047059"/>
              <a:ext cx="96440" cy="0"/>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11786294" y="5127426"/>
              <a:ext cx="152698" cy="0"/>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11786294" y="5199757"/>
              <a:ext cx="152698" cy="0"/>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11786294" y="5264050"/>
              <a:ext cx="96441" cy="0"/>
            </a:xfrm>
            <a:prstGeom prst="line">
              <a:avLst/>
            </a:prstGeom>
            <a:ln w="21699">
              <a:solidFill>
                <a:srgbClr val="0B9696"/>
              </a:solidFill>
            </a:ln>
          </p:spPr>
          <p:style>
            <a:lnRef idx="2">
              <a:schemeClr val="accent1"/>
            </a:lnRef>
            <a:fillRef idx="0">
              <a:schemeClr val="accent1"/>
            </a:fillRef>
            <a:effectRef idx="1">
              <a:schemeClr val="accent1"/>
            </a:effectRef>
            <a:fontRef idx="minor">
              <a:schemeClr val="tx1"/>
            </a:fontRef>
          </p:style>
        </p:cxnSp>
      </p:grpSp>
      <p:sp>
        <p:nvSpPr>
          <p:cNvPr id="112" name="TextBox 111"/>
          <p:cNvSpPr txBox="1"/>
          <p:nvPr/>
        </p:nvSpPr>
        <p:spPr>
          <a:xfrm>
            <a:off x="12230100" y="5000625"/>
            <a:ext cx="1809750" cy="409575"/>
          </a:xfrm>
          <a:prstGeom prst="rect">
            <a:avLst/>
          </a:prstGeom>
          <a:noFill/>
        </p:spPr>
        <p:txBody>
          <a:bodyPr wrap="none" lIns="0" rIns="0" tIns="0" bIns="0" anchor="t"/>
          <a:lstStyle/>
          <a:p>
            <a:pPr algn="l">
              <a:lnSpc>
                <a:spcPts val="1913"/>
              </a:lnSpc>
              <a:spcBef>
                <a:spcPts val="0"/>
              </a:spcBef>
              <a:spcAft>
                <a:spcPts val="0"/>
              </a:spcAft>
            </a:pPr>
            <a:r>
              <a:rPr sz="1650" b="1">
                <a:solidFill>
                  <a:srgbClr val="172540"/>
                </a:solidFill>
                <a:latin typeface="Arial"/>
              </a:rPr>
              <a:t>History</a:t>
            </a:r>
          </a:p>
        </p:txBody>
      </p:sp>
      <p:sp>
        <p:nvSpPr>
          <p:cNvPr id="113" name="Freeform 112"/>
          <p:cNvSpPr/>
          <p:nvPr/>
        </p:nvSpPr>
        <p:spPr>
          <a:xfrm>
            <a:off x="3962399" y="6305550"/>
            <a:ext cx="10429876" cy="200025"/>
          </a:xfrm>
          <a:custGeom>
            <a:avLst/>
            <a:gdLst/>
            <a:ahLst/>
            <a:cxnLst/>
            <a:rect l="l" t="t" r="r" b="b"/>
            <a:pathLst>
              <a:path w="10429876" h="200025">
                <a:moveTo>
                  <a:pt x="0" y="0"/>
                </a:moveTo>
                <a:lnTo>
                  <a:pt x="10125076" y="0"/>
                </a:lnTo>
                <a:lnTo>
                  <a:pt x="10429876" y="200025"/>
                </a:lnTo>
                <a:lnTo>
                  <a:pt x="304801" y="200025"/>
                </a:lnTo>
                <a:close/>
              </a:path>
            </a:pathLst>
          </a:custGeom>
          <a:solidFill>
            <a:srgbClr val="FFF2E2"/>
          </a:solidFill>
          <a:ln w="14287">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ounded Rectangle 113"/>
          <p:cNvSpPr/>
          <p:nvPr/>
        </p:nvSpPr>
        <p:spPr>
          <a:xfrm>
            <a:off x="3962399" y="6448425"/>
            <a:ext cx="10429875" cy="1066800"/>
          </a:xfrm>
          <a:prstGeom prst="roundRect">
            <a:avLst>
              <a:gd name="adj" fmla="val 10714"/>
            </a:avLst>
          </a:prstGeom>
          <a:solidFill>
            <a:srgbClr val="FFFFFF"/>
          </a:solidFill>
          <a:ln w="14287">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Rounded Rectangle 114"/>
          <p:cNvSpPr/>
          <p:nvPr/>
        </p:nvSpPr>
        <p:spPr>
          <a:xfrm>
            <a:off x="3962399" y="7400925"/>
            <a:ext cx="10429875" cy="133350"/>
          </a:xfrm>
          <a:prstGeom prst="roundRect">
            <a:avLst>
              <a:gd name="adj" fmla="val 35714"/>
            </a:avLst>
          </a:prstGeom>
          <a:solidFill>
            <a:srgbClr val="FFF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extBox 115"/>
          <p:cNvSpPr txBox="1"/>
          <p:nvPr/>
        </p:nvSpPr>
        <p:spPr>
          <a:xfrm>
            <a:off x="4219575" y="6667500"/>
            <a:ext cx="2190750" cy="257175"/>
          </a:xfrm>
          <a:prstGeom prst="rect">
            <a:avLst/>
          </a:prstGeom>
          <a:noFill/>
        </p:spPr>
        <p:txBody>
          <a:bodyPr wrap="none" lIns="0" rIns="0" tIns="0" bIns="0" anchor="t"/>
          <a:lstStyle/>
          <a:p>
            <a:pPr algn="l">
              <a:lnSpc>
                <a:spcPts val="1391"/>
              </a:lnSpc>
              <a:spcBef>
                <a:spcPts val="0"/>
              </a:spcBef>
              <a:spcAft>
                <a:spcPts val="0"/>
              </a:spcAft>
            </a:pPr>
            <a:r>
              <a:rPr sz="1200" b="1">
                <a:solidFill>
                  <a:srgbClr val="D99528"/>
                </a:solidFill>
                <a:latin typeface="Arial"/>
              </a:rPr>
              <a:t>03 VERIFY</a:t>
            </a:r>
          </a:p>
        </p:txBody>
      </p:sp>
      <p:grpSp>
        <p:nvGrpSpPr>
          <p:cNvPr id="127" name="Group 126"/>
          <p:cNvGrpSpPr/>
          <p:nvPr/>
        </p:nvGrpSpPr>
        <p:grpSpPr>
          <a:xfrm>
            <a:off x="6766917" y="6666607"/>
            <a:ext cx="353615" cy="401835"/>
            <a:chOff x="6766917" y="6666607"/>
            <a:chExt cx="353615" cy="401835"/>
          </a:xfrm>
        </p:grpSpPr>
        <p:sp>
          <p:nvSpPr>
            <p:cNvPr id="117" name="Rounded Rectangle 116"/>
            <p:cNvSpPr/>
            <p:nvPr/>
          </p:nvSpPr>
          <p:spPr>
            <a:xfrm>
              <a:off x="6766917" y="6666607"/>
              <a:ext cx="353615" cy="401835"/>
            </a:xfrm>
            <a:prstGeom prst="roundRect">
              <a:avLst>
                <a:gd name="adj" fmla="val 9090"/>
              </a:avLst>
            </a:prstGeom>
            <a:noFill/>
            <a:ln w="21699">
              <a:solidFill>
                <a:srgbClr val="D99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8" name="Connector 117"/>
            <p:cNvCxnSpPr/>
            <p:nvPr/>
          </p:nvCxnSpPr>
          <p:spPr>
            <a:xfrm>
              <a:off x="6831210" y="6771084"/>
              <a:ext cx="32147" cy="32147"/>
            </a:xfrm>
            <a:prstGeom prst="line">
              <a:avLst/>
            </a:prstGeom>
            <a:ln w="21699">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6863357" y="6738937"/>
              <a:ext cx="48221" cy="64294"/>
            </a:xfrm>
            <a:prstGeom prst="line">
              <a:avLst/>
            </a:prstGeom>
            <a:ln w="21699">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6959798" y="6771084"/>
              <a:ext cx="96441" cy="0"/>
            </a:xfrm>
            <a:prstGeom prst="line">
              <a:avLst/>
            </a:prstGeom>
            <a:ln w="21699">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6831210" y="6875561"/>
              <a:ext cx="32147" cy="32147"/>
            </a:xfrm>
            <a:prstGeom prst="line">
              <a:avLst/>
            </a:prstGeom>
            <a:ln w="21699">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6863357" y="6843414"/>
              <a:ext cx="48221" cy="64294"/>
            </a:xfrm>
            <a:prstGeom prst="line">
              <a:avLst/>
            </a:prstGeom>
            <a:ln w="21699">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6959798" y="6875561"/>
              <a:ext cx="96441" cy="0"/>
            </a:xfrm>
            <a:prstGeom prst="line">
              <a:avLst/>
            </a:prstGeom>
            <a:ln w="21699">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6831210" y="6980039"/>
              <a:ext cx="32147" cy="32146"/>
            </a:xfrm>
            <a:prstGeom prst="line">
              <a:avLst/>
            </a:prstGeom>
            <a:ln w="21699">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6863357" y="6947892"/>
              <a:ext cx="48221" cy="64293"/>
            </a:xfrm>
            <a:prstGeom prst="line">
              <a:avLst/>
            </a:prstGeom>
            <a:ln w="21699">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6959798" y="6980039"/>
              <a:ext cx="96441" cy="0"/>
            </a:xfrm>
            <a:prstGeom prst="line">
              <a:avLst/>
            </a:prstGeom>
            <a:ln w="21699">
              <a:solidFill>
                <a:srgbClr val="D99528"/>
              </a:solidFill>
            </a:ln>
          </p:spPr>
          <p:style>
            <a:lnRef idx="2">
              <a:schemeClr val="accent1"/>
            </a:lnRef>
            <a:fillRef idx="0">
              <a:schemeClr val="accent1"/>
            </a:fillRef>
            <a:effectRef idx="1">
              <a:schemeClr val="accent1"/>
            </a:effectRef>
            <a:fontRef idx="minor">
              <a:schemeClr val="tx1"/>
            </a:fontRef>
          </p:style>
        </p:cxnSp>
      </p:grpSp>
      <p:sp>
        <p:nvSpPr>
          <p:cNvPr id="128" name="TextBox 127"/>
          <p:cNvSpPr txBox="1"/>
          <p:nvPr/>
        </p:nvSpPr>
        <p:spPr>
          <a:xfrm>
            <a:off x="7315200" y="6724650"/>
            <a:ext cx="1809750" cy="409575"/>
          </a:xfrm>
          <a:prstGeom prst="rect">
            <a:avLst/>
          </a:prstGeom>
          <a:noFill/>
        </p:spPr>
        <p:txBody>
          <a:bodyPr wrap="none" lIns="0" rIns="0" tIns="0" bIns="0" anchor="t"/>
          <a:lstStyle/>
          <a:p>
            <a:pPr algn="l">
              <a:lnSpc>
                <a:spcPts val="1913"/>
              </a:lnSpc>
              <a:spcBef>
                <a:spcPts val="0"/>
              </a:spcBef>
              <a:spcAft>
                <a:spcPts val="0"/>
              </a:spcAft>
            </a:pPr>
            <a:r>
              <a:rPr sz="1650" b="1">
                <a:solidFill>
                  <a:srgbClr val="172540"/>
                </a:solidFill>
                <a:latin typeface="Arial"/>
              </a:rPr>
              <a:t>Assertions</a:t>
            </a:r>
          </a:p>
        </p:txBody>
      </p:sp>
      <p:grpSp>
        <p:nvGrpSpPr>
          <p:cNvPr id="137" name="Group 136"/>
          <p:cNvGrpSpPr/>
          <p:nvPr/>
        </p:nvGrpSpPr>
        <p:grpSpPr>
          <a:xfrm>
            <a:off x="9200257" y="6674643"/>
            <a:ext cx="409872" cy="385762"/>
            <a:chOff x="9200257" y="6674643"/>
            <a:chExt cx="409872" cy="385762"/>
          </a:xfrm>
        </p:grpSpPr>
        <p:sp>
          <p:nvSpPr>
            <p:cNvPr id="129" name="Oval 128"/>
            <p:cNvSpPr/>
            <p:nvPr/>
          </p:nvSpPr>
          <p:spPr>
            <a:xfrm>
              <a:off x="9200257" y="6811267"/>
              <a:ext cx="96440" cy="96440"/>
            </a:xfrm>
            <a:prstGeom prst="ellipse">
              <a:avLst/>
            </a:prstGeom>
            <a:noFill/>
            <a:ln w="21699">
              <a:solidFill>
                <a:srgbClr val="D99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9513689" y="6674643"/>
              <a:ext cx="96440" cy="96440"/>
            </a:xfrm>
            <a:prstGeom prst="ellipse">
              <a:avLst/>
            </a:prstGeom>
            <a:noFill/>
            <a:ln w="21699">
              <a:solidFill>
                <a:srgbClr val="D99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9513689" y="6963965"/>
              <a:ext cx="96440" cy="96440"/>
            </a:xfrm>
            <a:prstGeom prst="ellipse">
              <a:avLst/>
            </a:prstGeom>
            <a:noFill/>
            <a:ln w="21699">
              <a:solidFill>
                <a:srgbClr val="D99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2" name="Connector 131"/>
            <p:cNvCxnSpPr/>
            <p:nvPr/>
          </p:nvCxnSpPr>
          <p:spPr>
            <a:xfrm>
              <a:off x="9296697" y="6859488"/>
              <a:ext cx="112514" cy="0"/>
            </a:xfrm>
            <a:prstGeom prst="line">
              <a:avLst/>
            </a:prstGeom>
            <a:ln w="21699">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9409211" y="6722864"/>
              <a:ext cx="0" cy="136624"/>
            </a:xfrm>
            <a:prstGeom prst="line">
              <a:avLst/>
            </a:prstGeom>
            <a:ln w="21699">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9409211" y="6722864"/>
              <a:ext cx="104478" cy="0"/>
            </a:xfrm>
            <a:prstGeom prst="line">
              <a:avLst/>
            </a:prstGeom>
            <a:ln w="21699">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9409211" y="6859488"/>
              <a:ext cx="0" cy="152697"/>
            </a:xfrm>
            <a:prstGeom prst="line">
              <a:avLst/>
            </a:prstGeom>
            <a:ln w="21699">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9409211" y="7012185"/>
              <a:ext cx="104478" cy="0"/>
            </a:xfrm>
            <a:prstGeom prst="line">
              <a:avLst/>
            </a:prstGeom>
            <a:ln w="21699">
              <a:solidFill>
                <a:srgbClr val="D99528"/>
              </a:solidFill>
            </a:ln>
          </p:spPr>
          <p:style>
            <a:lnRef idx="2">
              <a:schemeClr val="accent1"/>
            </a:lnRef>
            <a:fillRef idx="0">
              <a:schemeClr val="accent1"/>
            </a:fillRef>
            <a:effectRef idx="1">
              <a:schemeClr val="accent1"/>
            </a:effectRef>
            <a:fontRef idx="minor">
              <a:schemeClr val="tx1"/>
            </a:fontRef>
          </p:style>
        </p:cxnSp>
      </p:grpSp>
      <p:sp>
        <p:nvSpPr>
          <p:cNvPr id="138" name="TextBox 137"/>
          <p:cNvSpPr txBox="1"/>
          <p:nvPr/>
        </p:nvSpPr>
        <p:spPr>
          <a:xfrm>
            <a:off x="9772650" y="6724650"/>
            <a:ext cx="1809750" cy="409575"/>
          </a:xfrm>
          <a:prstGeom prst="rect">
            <a:avLst/>
          </a:prstGeom>
          <a:noFill/>
        </p:spPr>
        <p:txBody>
          <a:bodyPr wrap="none" lIns="0" rIns="0" tIns="0" bIns="0" anchor="t"/>
          <a:lstStyle/>
          <a:p>
            <a:pPr algn="l">
              <a:lnSpc>
                <a:spcPts val="1913"/>
              </a:lnSpc>
              <a:spcBef>
                <a:spcPts val="0"/>
              </a:spcBef>
              <a:spcAft>
                <a:spcPts val="0"/>
              </a:spcAft>
            </a:pPr>
            <a:r>
              <a:rPr sz="1650" b="1">
                <a:solidFill>
                  <a:srgbClr val="172540"/>
                </a:solidFill>
                <a:latin typeface="Arial"/>
              </a:rPr>
              <a:t>Variants</a:t>
            </a:r>
          </a:p>
        </p:txBody>
      </p:sp>
      <p:grpSp>
        <p:nvGrpSpPr>
          <p:cNvPr id="142" name="Group 141"/>
          <p:cNvGrpSpPr/>
          <p:nvPr/>
        </p:nvGrpSpPr>
        <p:grpSpPr>
          <a:xfrm>
            <a:off x="11657707" y="6666607"/>
            <a:ext cx="401835" cy="401835"/>
            <a:chOff x="11657707" y="6666607"/>
            <a:chExt cx="401835" cy="401835"/>
          </a:xfrm>
        </p:grpSpPr>
        <p:sp>
          <p:nvSpPr>
            <p:cNvPr id="139" name="Oval 138"/>
            <p:cNvSpPr/>
            <p:nvPr/>
          </p:nvSpPr>
          <p:spPr>
            <a:xfrm>
              <a:off x="11657707" y="6666607"/>
              <a:ext cx="401835" cy="401835"/>
            </a:xfrm>
            <a:prstGeom prst="ellipse">
              <a:avLst/>
            </a:prstGeom>
            <a:noFill/>
            <a:ln w="21699">
              <a:solidFill>
                <a:srgbClr val="D99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0" name="Connector 139"/>
            <p:cNvCxnSpPr/>
            <p:nvPr/>
          </p:nvCxnSpPr>
          <p:spPr>
            <a:xfrm>
              <a:off x="11754147" y="6867525"/>
              <a:ext cx="72331" cy="72330"/>
            </a:xfrm>
            <a:prstGeom prst="line">
              <a:avLst/>
            </a:prstGeom>
            <a:ln w="21699">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11826478" y="6795194"/>
              <a:ext cx="144661" cy="144661"/>
            </a:xfrm>
            <a:prstGeom prst="line">
              <a:avLst/>
            </a:prstGeom>
            <a:ln w="21699">
              <a:solidFill>
                <a:srgbClr val="D99528"/>
              </a:solidFill>
            </a:ln>
          </p:spPr>
          <p:style>
            <a:lnRef idx="2">
              <a:schemeClr val="accent1"/>
            </a:lnRef>
            <a:fillRef idx="0">
              <a:schemeClr val="accent1"/>
            </a:fillRef>
            <a:effectRef idx="1">
              <a:schemeClr val="accent1"/>
            </a:effectRef>
            <a:fontRef idx="minor">
              <a:schemeClr val="tx1"/>
            </a:fontRef>
          </p:style>
        </p:cxnSp>
      </p:grpSp>
      <p:sp>
        <p:nvSpPr>
          <p:cNvPr id="143" name="TextBox 142"/>
          <p:cNvSpPr txBox="1"/>
          <p:nvPr/>
        </p:nvSpPr>
        <p:spPr>
          <a:xfrm>
            <a:off x="12230100" y="6724650"/>
            <a:ext cx="1809750" cy="409575"/>
          </a:xfrm>
          <a:prstGeom prst="rect">
            <a:avLst/>
          </a:prstGeom>
          <a:noFill/>
        </p:spPr>
        <p:txBody>
          <a:bodyPr wrap="none" lIns="0" rIns="0" tIns="0" bIns="0" anchor="t"/>
          <a:lstStyle/>
          <a:p>
            <a:pPr algn="l">
              <a:lnSpc>
                <a:spcPts val="1913"/>
              </a:lnSpc>
              <a:spcBef>
                <a:spcPts val="0"/>
              </a:spcBef>
              <a:spcAft>
                <a:spcPts val="0"/>
              </a:spcAft>
            </a:pPr>
            <a:r>
              <a:rPr sz="1650" b="1">
                <a:solidFill>
                  <a:srgbClr val="172540"/>
                </a:solidFill>
                <a:latin typeface="Arial"/>
              </a:rPr>
              <a:t>Reference fix</a:t>
            </a:r>
          </a:p>
        </p:txBody>
      </p:sp>
      <p:cxnSp>
        <p:nvCxnSpPr>
          <p:cNvPr id="144" name="Connector 143"/>
          <p:cNvCxnSpPr/>
          <p:nvPr/>
        </p:nvCxnSpPr>
        <p:spPr>
          <a:xfrm>
            <a:off x="3181350" y="4867275"/>
            <a:ext cx="419100" cy="0"/>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3600450" y="3219450"/>
            <a:ext cx="0" cy="1647825"/>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3600450" y="3219450"/>
            <a:ext cx="247649" cy="0"/>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H="1">
            <a:off x="3747792" y="3219450"/>
            <a:ext cx="100307" cy="54798"/>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H="1" flipV="1">
            <a:off x="3747792" y="3164651"/>
            <a:ext cx="100307" cy="54799"/>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a:off x="3600450" y="4867275"/>
            <a:ext cx="247649" cy="0"/>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H="1">
            <a:off x="3747792" y="4867275"/>
            <a:ext cx="100307" cy="54798"/>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H="1" flipV="1">
            <a:off x="3747792" y="4812476"/>
            <a:ext cx="100307" cy="54799"/>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3600450" y="4867275"/>
            <a:ext cx="0" cy="1800225"/>
          </a:xfrm>
          <a:prstGeom prst="line">
            <a:avLst/>
          </a:prstGeom>
          <a:ln w="23812">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3600450" y="6667500"/>
            <a:ext cx="247649" cy="0"/>
          </a:xfrm>
          <a:prstGeom prst="line">
            <a:avLst/>
          </a:prstGeom>
          <a:ln w="23812">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H="1">
            <a:off x="3747792" y="6667500"/>
            <a:ext cx="100307" cy="54798"/>
          </a:xfrm>
          <a:prstGeom prst="line">
            <a:avLst/>
          </a:prstGeom>
          <a:ln w="23812">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H="1" flipV="1">
            <a:off x="3747792" y="6612701"/>
            <a:ext cx="100307" cy="54799"/>
          </a:xfrm>
          <a:prstGeom prst="line">
            <a:avLst/>
          </a:prstGeom>
          <a:ln w="23812">
            <a:solidFill>
              <a:srgbClr val="D99528"/>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ounded Rectangle 1"/>
          <p:cNvSpPr/>
          <p:nvPr/>
        </p:nvSpPr>
        <p:spPr>
          <a:xfrm>
            <a:off x="571500" y="390525"/>
            <a:ext cx="85725" cy="209550"/>
          </a:xfrm>
          <a:prstGeom prst="roundRect">
            <a:avLst>
              <a:gd name="adj" fmla="val 44444"/>
            </a:avLst>
          </a:prstGeom>
          <a:solidFill>
            <a:srgbClr val="39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1050" y="381000"/>
            <a:ext cx="13239750" cy="247649"/>
          </a:xfrm>
          <a:prstGeom prst="rect">
            <a:avLst/>
          </a:prstGeom>
          <a:noFill/>
        </p:spPr>
        <p:txBody>
          <a:bodyPr wrap="none" lIns="0" rIns="0" tIns="0" bIns="0" anchor="t"/>
          <a:lstStyle/>
          <a:p>
            <a:pPr algn="l">
              <a:lnSpc>
                <a:spcPts val="1305"/>
              </a:lnSpc>
              <a:spcBef>
                <a:spcPts val="0"/>
              </a:spcBef>
              <a:spcAft>
                <a:spcPts val="0"/>
              </a:spcAft>
            </a:pPr>
            <a:r>
              <a:rPr sz="1125" b="1">
                <a:solidFill>
                  <a:srgbClr val="64728B"/>
                </a:solidFill>
                <a:latin typeface="Arial"/>
              </a:rPr>
              <a:t>REPLAY FRAMEWORK</a:t>
            </a:r>
          </a:p>
        </p:txBody>
      </p:sp>
      <p:sp>
        <p:nvSpPr>
          <p:cNvPr id="4" name="TextBox 3"/>
          <p:cNvSpPr txBox="1"/>
          <p:nvPr/>
        </p:nvSpPr>
        <p:spPr>
          <a:xfrm>
            <a:off x="581025" y="8172450"/>
            <a:ext cx="13049250" cy="190500"/>
          </a:xfrm>
          <a:prstGeom prst="rect">
            <a:avLst/>
          </a:prstGeom>
          <a:noFill/>
        </p:spPr>
        <p:txBody>
          <a:bodyPr wrap="none" lIns="0" rIns="0" tIns="0" bIns="0" anchor="t"/>
          <a:lstStyle/>
          <a:p>
            <a:pPr algn="l">
              <a:lnSpc>
                <a:spcPts val="1044"/>
              </a:lnSpc>
              <a:spcBef>
                <a:spcPts val="0"/>
              </a:spcBef>
              <a:spcAft>
                <a:spcPts val="0"/>
              </a:spcAft>
            </a:pPr>
            <a:r>
              <a:rPr sz="900" b="0">
                <a:solidFill>
                  <a:srgbClr val="64728B"/>
                </a:solidFill>
                <a:latin typeface="Arial"/>
              </a:rPr>
              <a:t>INCIDENT REPLAY / SOFTWARE ENGINEERING</a:t>
            </a:r>
          </a:p>
        </p:txBody>
      </p:sp>
      <p:sp>
        <p:nvSpPr>
          <p:cNvPr id="5" name="TextBox 4"/>
          <p:cNvSpPr txBox="1"/>
          <p:nvPr/>
        </p:nvSpPr>
        <p:spPr>
          <a:xfrm>
            <a:off x="13887450" y="8124824"/>
            <a:ext cx="762000" cy="238125"/>
          </a:xfrm>
          <a:prstGeom prst="rect">
            <a:avLst/>
          </a:prstGeom>
          <a:noFill/>
        </p:spPr>
        <p:txBody>
          <a:bodyPr wrap="none" lIns="0" rIns="0" tIns="0" bIns="0" anchor="t"/>
          <a:lstStyle/>
          <a:p>
            <a:pPr algn="r">
              <a:lnSpc>
                <a:spcPts val="1218"/>
              </a:lnSpc>
              <a:spcBef>
                <a:spcPts val="0"/>
              </a:spcBef>
              <a:spcAft>
                <a:spcPts val="0"/>
              </a:spcAft>
            </a:pPr>
            <a:r>
              <a:rPr sz="1050" b="0">
                <a:solidFill>
                  <a:srgbClr val="64728B"/>
                </a:solidFill>
                <a:latin typeface="Courier New"/>
              </a:rPr>
              <a:t>05 / 10</a:t>
            </a:r>
          </a:p>
        </p:txBody>
      </p:sp>
      <p:sp>
        <p:nvSpPr>
          <p:cNvPr id="6" name="TextBox 5"/>
          <p:cNvSpPr txBox="1"/>
          <p:nvPr/>
        </p:nvSpPr>
        <p:spPr>
          <a:xfrm>
            <a:off x="571500" y="942975"/>
            <a:ext cx="14097000" cy="1181100"/>
          </a:xfrm>
          <a:prstGeom prst="rect">
            <a:avLst/>
          </a:prstGeom>
          <a:noFill/>
        </p:spPr>
        <p:txBody>
          <a:bodyPr wrap="none" lIns="0" rIns="0" tIns="0" bIns="0" anchor="t"/>
          <a:lstStyle/>
          <a:p>
            <a:pPr algn="l">
              <a:lnSpc>
                <a:spcPts val="4212"/>
              </a:lnSpc>
              <a:spcBef>
                <a:spcPts val="0"/>
              </a:spcBef>
              <a:spcAft>
                <a:spcPts val="0"/>
              </a:spcAft>
            </a:pPr>
            <a:r>
              <a:rPr sz="3900" b="1">
                <a:solidFill>
                  <a:srgbClr val="172540"/>
                </a:solidFill>
                <a:latin typeface="Arial"/>
              </a:rPr>
              <a:t>Three replay modes. Three different questions.</a:t>
            </a:r>
          </a:p>
        </p:txBody>
      </p:sp>
      <p:sp>
        <p:nvSpPr>
          <p:cNvPr id="7" name="TextBox 6"/>
          <p:cNvSpPr txBox="1"/>
          <p:nvPr/>
        </p:nvSpPr>
        <p:spPr>
          <a:xfrm>
            <a:off x="600075" y="1685925"/>
            <a:ext cx="13906500" cy="647700"/>
          </a:xfrm>
          <a:prstGeom prst="rect">
            <a:avLst/>
          </a:prstGeom>
          <a:noFill/>
        </p:spPr>
        <p:txBody>
          <a:bodyPr wrap="none" lIns="0" rIns="0" tIns="0" bIns="0" anchor="t"/>
          <a:lstStyle/>
          <a:p>
            <a:pPr algn="l">
              <a:lnSpc>
                <a:spcPts val="2175"/>
              </a:lnSpc>
              <a:spcBef>
                <a:spcPts val="0"/>
              </a:spcBef>
              <a:spcAft>
                <a:spcPts val="0"/>
              </a:spcAft>
            </a:pPr>
            <a:r>
              <a:rPr sz="1875" b="0">
                <a:solidFill>
                  <a:srgbClr val="64728B"/>
                </a:solidFill>
                <a:latin typeface="Arial"/>
              </a:rPr>
              <a:t>The execution path determines what the comparison can establish.</a:t>
            </a:r>
          </a:p>
        </p:txBody>
      </p:sp>
      <p:sp>
        <p:nvSpPr>
          <p:cNvPr id="8" name="Rounded Rectangle 7"/>
          <p:cNvSpPr/>
          <p:nvPr/>
        </p:nvSpPr>
        <p:spPr>
          <a:xfrm>
            <a:off x="581025" y="2486025"/>
            <a:ext cx="14049375" cy="1381125"/>
          </a:xfrm>
          <a:prstGeom prst="roundRect">
            <a:avLst>
              <a:gd name="adj" fmla="val 13793"/>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81025" y="4200525"/>
            <a:ext cx="14049375" cy="1381125"/>
          </a:xfrm>
          <a:prstGeom prst="roundRect">
            <a:avLst>
              <a:gd name="adj" fmla="val 13793"/>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81025" y="5915025"/>
            <a:ext cx="14049375" cy="1743075"/>
          </a:xfrm>
          <a:prstGeom prst="roundRect">
            <a:avLst>
              <a:gd name="adj" fmla="val 10928"/>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28675" y="2733675"/>
            <a:ext cx="552450" cy="371475"/>
          </a:xfrm>
          <a:prstGeom prst="roundRect">
            <a:avLst>
              <a:gd name="adj" fmla="val 45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2975" y="2819400"/>
            <a:ext cx="323850" cy="247649"/>
          </a:xfrm>
          <a:prstGeom prst="rect">
            <a:avLst/>
          </a:prstGeom>
          <a:noFill/>
        </p:spPr>
        <p:txBody>
          <a:bodyPr wrap="none" lIns="0" rIns="0" tIns="0" bIns="0" anchor="t"/>
          <a:lstStyle/>
          <a:p>
            <a:pPr algn="ctr">
              <a:lnSpc>
                <a:spcPts val="1652"/>
              </a:lnSpc>
              <a:spcBef>
                <a:spcPts val="0"/>
              </a:spcBef>
              <a:spcAft>
                <a:spcPts val="0"/>
              </a:spcAft>
            </a:pPr>
            <a:r>
              <a:rPr sz="1425" b="1">
                <a:solidFill>
                  <a:srgbClr val="64728B"/>
                </a:solidFill>
                <a:latin typeface="Arial"/>
              </a:rPr>
              <a:t>01</a:t>
            </a:r>
          </a:p>
        </p:txBody>
      </p:sp>
      <p:sp>
        <p:nvSpPr>
          <p:cNvPr id="13" name="TextBox 12"/>
          <p:cNvSpPr txBox="1"/>
          <p:nvPr/>
        </p:nvSpPr>
        <p:spPr>
          <a:xfrm>
            <a:off x="1581150" y="2695575"/>
            <a:ext cx="3819524" cy="371475"/>
          </a:xfrm>
          <a:prstGeom prst="rect">
            <a:avLst/>
          </a:prstGeom>
          <a:noFill/>
        </p:spPr>
        <p:txBody>
          <a:bodyPr wrap="none" lIns="0" rIns="0" tIns="0" bIns="0" anchor="t"/>
          <a:lstStyle/>
          <a:p>
            <a:pPr algn="l">
              <a:lnSpc>
                <a:spcPts val="2522"/>
              </a:lnSpc>
              <a:spcBef>
                <a:spcPts val="0"/>
              </a:spcBef>
              <a:spcAft>
                <a:spcPts val="0"/>
              </a:spcAft>
            </a:pPr>
            <a:r>
              <a:rPr sz="2175" b="1">
                <a:solidFill>
                  <a:srgbClr val="172540"/>
                </a:solidFill>
                <a:latin typeface="Arial"/>
              </a:rPr>
              <a:t>Inspect a trace</a:t>
            </a:r>
          </a:p>
        </p:txBody>
      </p:sp>
      <p:sp>
        <p:nvSpPr>
          <p:cNvPr id="14" name="TextBox 13"/>
          <p:cNvSpPr txBox="1"/>
          <p:nvPr/>
        </p:nvSpPr>
        <p:spPr>
          <a:xfrm>
            <a:off x="1590675" y="3209925"/>
            <a:ext cx="3790949" cy="333375"/>
          </a:xfrm>
          <a:prstGeom prst="rect">
            <a:avLst/>
          </a:prstGeom>
          <a:noFill/>
        </p:spPr>
        <p:txBody>
          <a:bodyPr wrap="none" lIns="0" rIns="0" tIns="0" bIns="0" anchor="t"/>
          <a:lstStyle/>
          <a:p>
            <a:pPr algn="l">
              <a:lnSpc>
                <a:spcPts val="2000"/>
              </a:lnSpc>
              <a:spcBef>
                <a:spcPts val="0"/>
              </a:spcBef>
              <a:spcAft>
                <a:spcPts val="0"/>
              </a:spcAft>
            </a:pPr>
            <a:r>
              <a:rPr sz="1725" b="0">
                <a:solidFill>
                  <a:srgbClr val="64728B"/>
                </a:solidFill>
                <a:latin typeface="Arial"/>
              </a:rPr>
              <a:t>What happened?</a:t>
            </a:r>
          </a:p>
        </p:txBody>
      </p:sp>
      <p:sp>
        <p:nvSpPr>
          <p:cNvPr id="15" name="Rounded Rectangle 14"/>
          <p:cNvSpPr/>
          <p:nvPr/>
        </p:nvSpPr>
        <p:spPr>
          <a:xfrm>
            <a:off x="828675" y="4448175"/>
            <a:ext cx="552450" cy="371475"/>
          </a:xfrm>
          <a:prstGeom prst="roundRect">
            <a:avLst>
              <a:gd name="adj" fmla="val 45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2975" y="4533900"/>
            <a:ext cx="323850" cy="247649"/>
          </a:xfrm>
          <a:prstGeom prst="rect">
            <a:avLst/>
          </a:prstGeom>
          <a:noFill/>
        </p:spPr>
        <p:txBody>
          <a:bodyPr wrap="none" lIns="0" rIns="0" tIns="0" bIns="0" anchor="t"/>
          <a:lstStyle/>
          <a:p>
            <a:pPr algn="ctr">
              <a:lnSpc>
                <a:spcPts val="1652"/>
              </a:lnSpc>
              <a:spcBef>
                <a:spcPts val="0"/>
              </a:spcBef>
              <a:spcAft>
                <a:spcPts val="0"/>
              </a:spcAft>
            </a:pPr>
            <a:r>
              <a:rPr sz="1425" b="1">
                <a:solidFill>
                  <a:srgbClr val="3973F6"/>
                </a:solidFill>
                <a:latin typeface="Arial"/>
              </a:rPr>
              <a:t>02</a:t>
            </a:r>
          </a:p>
        </p:txBody>
      </p:sp>
      <p:sp>
        <p:nvSpPr>
          <p:cNvPr id="17" name="TextBox 16"/>
          <p:cNvSpPr txBox="1"/>
          <p:nvPr/>
        </p:nvSpPr>
        <p:spPr>
          <a:xfrm>
            <a:off x="1581150" y="4410075"/>
            <a:ext cx="3819524" cy="371475"/>
          </a:xfrm>
          <a:prstGeom prst="rect">
            <a:avLst/>
          </a:prstGeom>
          <a:noFill/>
        </p:spPr>
        <p:txBody>
          <a:bodyPr wrap="none" lIns="0" rIns="0" tIns="0" bIns="0" anchor="t"/>
          <a:lstStyle/>
          <a:p>
            <a:pPr algn="l">
              <a:lnSpc>
                <a:spcPts val="2522"/>
              </a:lnSpc>
              <a:spcBef>
                <a:spcPts val="0"/>
              </a:spcBef>
              <a:spcAft>
                <a:spcPts val="0"/>
              </a:spcAft>
            </a:pPr>
            <a:r>
              <a:rPr sz="2175" b="1">
                <a:solidFill>
                  <a:srgbClr val="172540"/>
                </a:solidFill>
                <a:latin typeface="Arial"/>
              </a:rPr>
              <a:t>Replay actions</a:t>
            </a:r>
          </a:p>
        </p:txBody>
      </p:sp>
      <p:sp>
        <p:nvSpPr>
          <p:cNvPr id="18" name="TextBox 17"/>
          <p:cNvSpPr txBox="1"/>
          <p:nvPr/>
        </p:nvSpPr>
        <p:spPr>
          <a:xfrm>
            <a:off x="1590675" y="4924425"/>
            <a:ext cx="3790949" cy="333375"/>
          </a:xfrm>
          <a:prstGeom prst="rect">
            <a:avLst/>
          </a:prstGeom>
          <a:noFill/>
        </p:spPr>
        <p:txBody>
          <a:bodyPr wrap="none" lIns="0" rIns="0" tIns="0" bIns="0" anchor="t"/>
          <a:lstStyle/>
          <a:p>
            <a:pPr algn="l">
              <a:lnSpc>
                <a:spcPts val="2000"/>
              </a:lnSpc>
              <a:spcBef>
                <a:spcPts val="0"/>
              </a:spcBef>
              <a:spcAft>
                <a:spcPts val="0"/>
              </a:spcAft>
            </a:pPr>
            <a:r>
              <a:rPr sz="1725" b="0">
                <a:solidFill>
                  <a:srgbClr val="3973F6"/>
                </a:solidFill>
                <a:latin typeface="Arial"/>
              </a:rPr>
              <a:t>What changes the state?</a:t>
            </a:r>
          </a:p>
        </p:txBody>
      </p:sp>
      <p:sp>
        <p:nvSpPr>
          <p:cNvPr id="19" name="Rounded Rectangle 18"/>
          <p:cNvSpPr/>
          <p:nvPr/>
        </p:nvSpPr>
        <p:spPr>
          <a:xfrm>
            <a:off x="828675" y="6162675"/>
            <a:ext cx="552450" cy="371475"/>
          </a:xfrm>
          <a:prstGeom prst="roundRect">
            <a:avLst>
              <a:gd name="adj" fmla="val 45000"/>
            </a:avLst>
          </a:prstGeom>
          <a:solidFill>
            <a:srgbClr val="E5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2975" y="6248400"/>
            <a:ext cx="323850" cy="247649"/>
          </a:xfrm>
          <a:prstGeom prst="rect">
            <a:avLst/>
          </a:prstGeom>
          <a:noFill/>
        </p:spPr>
        <p:txBody>
          <a:bodyPr wrap="none" lIns="0" rIns="0" tIns="0" bIns="0" anchor="t"/>
          <a:lstStyle/>
          <a:p>
            <a:pPr algn="ctr">
              <a:lnSpc>
                <a:spcPts val="1652"/>
              </a:lnSpc>
              <a:spcBef>
                <a:spcPts val="0"/>
              </a:spcBef>
              <a:spcAft>
                <a:spcPts val="0"/>
              </a:spcAft>
            </a:pPr>
            <a:r>
              <a:rPr sz="1425" b="1">
                <a:solidFill>
                  <a:srgbClr val="0B9696"/>
                </a:solidFill>
                <a:latin typeface="Arial"/>
              </a:rPr>
              <a:t>03</a:t>
            </a:r>
          </a:p>
        </p:txBody>
      </p:sp>
      <p:sp>
        <p:nvSpPr>
          <p:cNvPr id="21" name="TextBox 20"/>
          <p:cNvSpPr txBox="1"/>
          <p:nvPr/>
        </p:nvSpPr>
        <p:spPr>
          <a:xfrm>
            <a:off x="1581150" y="6124575"/>
            <a:ext cx="3819524" cy="371475"/>
          </a:xfrm>
          <a:prstGeom prst="rect">
            <a:avLst/>
          </a:prstGeom>
          <a:noFill/>
        </p:spPr>
        <p:txBody>
          <a:bodyPr wrap="none" lIns="0" rIns="0" tIns="0" bIns="0" anchor="t"/>
          <a:lstStyle/>
          <a:p>
            <a:pPr algn="l">
              <a:lnSpc>
                <a:spcPts val="2522"/>
              </a:lnSpc>
              <a:spcBef>
                <a:spcPts val="0"/>
              </a:spcBef>
              <a:spcAft>
                <a:spcPts val="0"/>
              </a:spcAft>
            </a:pPr>
            <a:r>
              <a:rPr sz="2175" b="1">
                <a:solidFill>
                  <a:srgbClr val="172540"/>
                </a:solidFill>
                <a:latin typeface="Arial"/>
              </a:rPr>
              <a:t>Re-run the agent</a:t>
            </a:r>
          </a:p>
        </p:txBody>
      </p:sp>
      <p:sp>
        <p:nvSpPr>
          <p:cNvPr id="22" name="TextBox 21"/>
          <p:cNvSpPr txBox="1"/>
          <p:nvPr/>
        </p:nvSpPr>
        <p:spPr>
          <a:xfrm>
            <a:off x="1590675" y="6638925"/>
            <a:ext cx="3790949" cy="333375"/>
          </a:xfrm>
          <a:prstGeom prst="rect">
            <a:avLst/>
          </a:prstGeom>
          <a:noFill/>
        </p:spPr>
        <p:txBody>
          <a:bodyPr wrap="none" lIns="0" rIns="0" tIns="0" bIns="0" anchor="t"/>
          <a:lstStyle/>
          <a:p>
            <a:pPr algn="l">
              <a:lnSpc>
                <a:spcPts val="2000"/>
              </a:lnSpc>
              <a:spcBef>
                <a:spcPts val="0"/>
              </a:spcBef>
              <a:spcAft>
                <a:spcPts val="0"/>
              </a:spcAft>
            </a:pPr>
            <a:r>
              <a:rPr sz="1725" b="0">
                <a:solidFill>
                  <a:srgbClr val="0B9696"/>
                </a:solidFill>
                <a:latin typeface="Arial"/>
              </a:rPr>
              <a:t>Can it solve the task now?</a:t>
            </a:r>
          </a:p>
        </p:txBody>
      </p:sp>
      <p:grpSp>
        <p:nvGrpSpPr>
          <p:cNvPr id="33" name="Group 32"/>
          <p:cNvGrpSpPr/>
          <p:nvPr/>
        </p:nvGrpSpPr>
        <p:grpSpPr>
          <a:xfrm>
            <a:off x="6215657" y="2731591"/>
            <a:ext cx="341412" cy="452140"/>
            <a:chOff x="6215657" y="2731591"/>
            <a:chExt cx="341412" cy="452140"/>
          </a:xfrm>
        </p:grpSpPr>
        <p:cxnSp>
          <p:nvCxnSpPr>
            <p:cNvPr id="23" name="Connector 22"/>
            <p:cNvCxnSpPr/>
            <p:nvPr/>
          </p:nvCxnSpPr>
          <p:spPr>
            <a:xfrm flipH="1">
              <a:off x="6215657" y="2731591"/>
              <a:ext cx="230684" cy="0"/>
            </a:xfrm>
            <a:prstGeom prst="line">
              <a:avLst/>
            </a:prstGeom>
            <a:ln w="24913">
              <a:solidFill>
                <a:srgbClr val="64728B"/>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215657" y="2731591"/>
              <a:ext cx="0" cy="452140"/>
            </a:xfrm>
            <a:prstGeom prst="line">
              <a:avLst/>
            </a:prstGeom>
            <a:ln w="24913">
              <a:solidFill>
                <a:srgbClr val="64728B"/>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215657" y="3183731"/>
              <a:ext cx="341412" cy="0"/>
            </a:xfrm>
            <a:prstGeom prst="line">
              <a:avLst/>
            </a:prstGeom>
            <a:ln w="24913">
              <a:solidFill>
                <a:srgbClr val="64728B"/>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6557069" y="2851546"/>
              <a:ext cx="0" cy="332185"/>
            </a:xfrm>
            <a:prstGeom prst="line">
              <a:avLst/>
            </a:prstGeom>
            <a:ln w="24913">
              <a:solidFill>
                <a:srgbClr val="64728B"/>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6446341" y="2731591"/>
              <a:ext cx="110728" cy="119955"/>
            </a:xfrm>
            <a:prstGeom prst="line">
              <a:avLst/>
            </a:prstGeom>
            <a:ln w="24913">
              <a:solidFill>
                <a:srgbClr val="64728B"/>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446341" y="2731591"/>
              <a:ext cx="0" cy="119955"/>
            </a:xfrm>
            <a:prstGeom prst="line">
              <a:avLst/>
            </a:prstGeom>
            <a:ln w="24913">
              <a:solidFill>
                <a:srgbClr val="64728B"/>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446341" y="2851546"/>
              <a:ext cx="110728" cy="0"/>
            </a:xfrm>
            <a:prstGeom prst="line">
              <a:avLst/>
            </a:prstGeom>
            <a:ln w="24913">
              <a:solidFill>
                <a:srgbClr val="64728B"/>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298703" y="2943820"/>
              <a:ext cx="175320" cy="0"/>
            </a:xfrm>
            <a:prstGeom prst="line">
              <a:avLst/>
            </a:prstGeom>
            <a:ln w="24913">
              <a:solidFill>
                <a:srgbClr val="64728B"/>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298703" y="3026866"/>
              <a:ext cx="175320" cy="0"/>
            </a:xfrm>
            <a:prstGeom prst="line">
              <a:avLst/>
            </a:prstGeom>
            <a:ln w="24913">
              <a:solidFill>
                <a:srgbClr val="64728B"/>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298703" y="3100685"/>
              <a:ext cx="110729" cy="0"/>
            </a:xfrm>
            <a:prstGeom prst="line">
              <a:avLst/>
            </a:prstGeom>
            <a:ln w="24913">
              <a:solidFill>
                <a:srgbClr val="64728B"/>
              </a:solidFill>
            </a:ln>
          </p:spPr>
          <p:style>
            <a:lnRef idx="2">
              <a:schemeClr val="accent1"/>
            </a:lnRef>
            <a:fillRef idx="0">
              <a:schemeClr val="accent1"/>
            </a:fillRef>
            <a:effectRef idx="1">
              <a:schemeClr val="accent1"/>
            </a:effectRef>
            <a:fontRef idx="minor">
              <a:schemeClr val="tx1"/>
            </a:fontRef>
          </p:style>
        </p:cxnSp>
      </p:grpSp>
      <p:sp>
        <p:nvSpPr>
          <p:cNvPr id="34" name="TextBox 33"/>
          <p:cNvSpPr txBox="1"/>
          <p:nvPr/>
        </p:nvSpPr>
        <p:spPr>
          <a:xfrm>
            <a:off x="5762625" y="3381375"/>
            <a:ext cx="1304925" cy="285750"/>
          </a:xfrm>
          <a:prstGeom prst="rect">
            <a:avLst/>
          </a:prstGeom>
          <a:noFill/>
        </p:spPr>
        <p:txBody>
          <a:bodyPr wrap="none" lIns="0" rIns="0" tIns="0" bIns="0" anchor="t"/>
          <a:lstStyle/>
          <a:p>
            <a:pPr algn="ctr">
              <a:lnSpc>
                <a:spcPts val="1652"/>
              </a:lnSpc>
              <a:spcBef>
                <a:spcPts val="0"/>
              </a:spcBef>
              <a:spcAft>
                <a:spcPts val="0"/>
              </a:spcAft>
            </a:pPr>
            <a:r>
              <a:rPr sz="1425" b="1">
                <a:solidFill>
                  <a:srgbClr val="64728B"/>
                </a:solidFill>
                <a:latin typeface="Arial"/>
              </a:rPr>
              <a:t>Saved log</a:t>
            </a:r>
          </a:p>
        </p:txBody>
      </p:sp>
      <p:grpSp>
        <p:nvGrpSpPr>
          <p:cNvPr id="37" name="Group 36"/>
          <p:cNvGrpSpPr/>
          <p:nvPr/>
        </p:nvGrpSpPr>
        <p:grpSpPr>
          <a:xfrm>
            <a:off x="9312473" y="2740818"/>
            <a:ext cx="415230" cy="424458"/>
            <a:chOff x="9312473" y="2740818"/>
            <a:chExt cx="415230" cy="424458"/>
          </a:xfrm>
        </p:grpSpPr>
        <p:sp>
          <p:nvSpPr>
            <p:cNvPr id="35" name="Oval 34"/>
            <p:cNvSpPr/>
            <p:nvPr/>
          </p:nvSpPr>
          <p:spPr>
            <a:xfrm>
              <a:off x="9312473" y="2740818"/>
              <a:ext cx="295275" cy="295275"/>
            </a:xfrm>
            <a:prstGeom prst="ellipse">
              <a:avLst/>
            </a:prstGeom>
            <a:noFill/>
            <a:ln w="24913">
              <a:solidFill>
                <a:srgbClr val="64728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6" name="Connector 35"/>
            <p:cNvCxnSpPr/>
            <p:nvPr/>
          </p:nvCxnSpPr>
          <p:spPr>
            <a:xfrm>
              <a:off x="9570839" y="3008411"/>
              <a:ext cx="156864" cy="156865"/>
            </a:xfrm>
            <a:prstGeom prst="line">
              <a:avLst/>
            </a:prstGeom>
            <a:ln w="24913">
              <a:solidFill>
                <a:srgbClr val="64728B"/>
              </a:solidFill>
            </a:ln>
          </p:spPr>
          <p:style>
            <a:lnRef idx="2">
              <a:schemeClr val="accent1"/>
            </a:lnRef>
            <a:fillRef idx="0">
              <a:schemeClr val="accent1"/>
            </a:fillRef>
            <a:effectRef idx="1">
              <a:schemeClr val="accent1"/>
            </a:effectRef>
            <a:fontRef idx="minor">
              <a:schemeClr val="tx1"/>
            </a:fontRef>
          </p:style>
        </p:cxnSp>
      </p:grpSp>
      <p:sp>
        <p:nvSpPr>
          <p:cNvPr id="38" name="TextBox 37"/>
          <p:cNvSpPr txBox="1"/>
          <p:nvPr/>
        </p:nvSpPr>
        <p:spPr>
          <a:xfrm>
            <a:off x="8896350" y="3381375"/>
            <a:ext cx="1304925" cy="285750"/>
          </a:xfrm>
          <a:prstGeom prst="rect">
            <a:avLst/>
          </a:prstGeom>
          <a:noFill/>
        </p:spPr>
        <p:txBody>
          <a:bodyPr wrap="none" lIns="0" rIns="0" tIns="0" bIns="0" anchor="t"/>
          <a:lstStyle/>
          <a:p>
            <a:pPr algn="ctr">
              <a:lnSpc>
                <a:spcPts val="1652"/>
              </a:lnSpc>
              <a:spcBef>
                <a:spcPts val="0"/>
              </a:spcBef>
              <a:spcAft>
                <a:spcPts val="0"/>
              </a:spcAft>
            </a:pPr>
            <a:r>
              <a:rPr sz="1425" b="1">
                <a:solidFill>
                  <a:srgbClr val="64728B"/>
                </a:solidFill>
                <a:latin typeface="Arial"/>
              </a:rPr>
              <a:t>Analysis</a:t>
            </a:r>
          </a:p>
        </p:txBody>
      </p:sp>
      <p:grpSp>
        <p:nvGrpSpPr>
          <p:cNvPr id="44" name="Group 43"/>
          <p:cNvGrpSpPr/>
          <p:nvPr/>
        </p:nvGrpSpPr>
        <p:grpSpPr>
          <a:xfrm>
            <a:off x="12446198" y="2740818"/>
            <a:ext cx="433685" cy="424458"/>
            <a:chOff x="12446198" y="2740818"/>
            <a:chExt cx="433685" cy="424458"/>
          </a:xfrm>
        </p:grpSpPr>
        <p:cxnSp>
          <p:nvCxnSpPr>
            <p:cNvPr id="39" name="Connector 38"/>
            <p:cNvCxnSpPr/>
            <p:nvPr/>
          </p:nvCxnSpPr>
          <p:spPr>
            <a:xfrm>
              <a:off x="12446198" y="2740818"/>
              <a:ext cx="0" cy="424458"/>
            </a:xfrm>
            <a:prstGeom prst="line">
              <a:avLst/>
            </a:prstGeom>
            <a:ln w="24913">
              <a:solidFill>
                <a:srgbClr val="64728B"/>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2446198" y="3165276"/>
              <a:ext cx="433685" cy="0"/>
            </a:xfrm>
            <a:prstGeom prst="line">
              <a:avLst/>
            </a:prstGeom>
            <a:ln w="24913">
              <a:solidFill>
                <a:srgbClr val="64728B"/>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2538471" y="2962275"/>
              <a:ext cx="0" cy="119955"/>
            </a:xfrm>
            <a:prstGeom prst="line">
              <a:avLst/>
            </a:prstGeom>
            <a:ln w="24913">
              <a:solidFill>
                <a:srgbClr val="64728B"/>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12658427" y="2860774"/>
              <a:ext cx="0" cy="221456"/>
            </a:xfrm>
            <a:prstGeom prst="line">
              <a:avLst/>
            </a:prstGeom>
            <a:ln w="24913">
              <a:solidFill>
                <a:srgbClr val="64728B"/>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2778382" y="2777728"/>
              <a:ext cx="0" cy="304502"/>
            </a:xfrm>
            <a:prstGeom prst="line">
              <a:avLst/>
            </a:prstGeom>
            <a:ln w="24913">
              <a:solidFill>
                <a:srgbClr val="64728B"/>
              </a:solidFill>
            </a:ln>
          </p:spPr>
          <p:style>
            <a:lnRef idx="2">
              <a:schemeClr val="accent1"/>
            </a:lnRef>
            <a:fillRef idx="0">
              <a:schemeClr val="accent1"/>
            </a:fillRef>
            <a:effectRef idx="1">
              <a:schemeClr val="accent1"/>
            </a:effectRef>
            <a:fontRef idx="minor">
              <a:schemeClr val="tx1"/>
            </a:fontRef>
          </p:style>
        </p:cxnSp>
      </p:grpSp>
      <p:sp>
        <p:nvSpPr>
          <p:cNvPr id="45" name="TextBox 44"/>
          <p:cNvSpPr txBox="1"/>
          <p:nvPr/>
        </p:nvSpPr>
        <p:spPr>
          <a:xfrm>
            <a:off x="12030075" y="3381375"/>
            <a:ext cx="1304925" cy="285750"/>
          </a:xfrm>
          <a:prstGeom prst="rect">
            <a:avLst/>
          </a:prstGeom>
          <a:noFill/>
        </p:spPr>
        <p:txBody>
          <a:bodyPr wrap="none" lIns="0" rIns="0" tIns="0" bIns="0" anchor="t"/>
          <a:lstStyle/>
          <a:p>
            <a:pPr algn="ctr">
              <a:lnSpc>
                <a:spcPts val="1652"/>
              </a:lnSpc>
              <a:spcBef>
                <a:spcPts val="0"/>
              </a:spcBef>
              <a:spcAft>
                <a:spcPts val="0"/>
              </a:spcAft>
            </a:pPr>
            <a:r>
              <a:rPr sz="1425" b="1">
                <a:solidFill>
                  <a:srgbClr val="64728B"/>
                </a:solidFill>
                <a:latin typeface="Arial"/>
              </a:rPr>
              <a:t>Diagnostics</a:t>
            </a:r>
          </a:p>
        </p:txBody>
      </p:sp>
      <p:cxnSp>
        <p:nvCxnSpPr>
          <p:cNvPr id="46" name="Connector 45"/>
          <p:cNvCxnSpPr/>
          <p:nvPr/>
        </p:nvCxnSpPr>
        <p:spPr>
          <a:xfrm>
            <a:off x="6924675" y="2971800"/>
            <a:ext cx="2038350" cy="0"/>
          </a:xfrm>
          <a:prstGeom prst="line">
            <a:avLst/>
          </a:prstGeom>
          <a:ln w="23812">
            <a:solidFill>
              <a:srgbClr val="64728B"/>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8862717" y="2971800"/>
            <a:ext cx="100308" cy="54798"/>
          </a:xfrm>
          <a:prstGeom prst="line">
            <a:avLst/>
          </a:prstGeom>
          <a:ln w="23812">
            <a:solidFill>
              <a:srgbClr val="64728B"/>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8862717" y="2917001"/>
            <a:ext cx="100308" cy="54799"/>
          </a:xfrm>
          <a:prstGeom prst="line">
            <a:avLst/>
          </a:prstGeom>
          <a:ln w="23812">
            <a:solidFill>
              <a:srgbClr val="64728B"/>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0029825" y="2971800"/>
            <a:ext cx="2105025" cy="0"/>
          </a:xfrm>
          <a:prstGeom prst="line">
            <a:avLst/>
          </a:prstGeom>
          <a:ln w="23812">
            <a:solidFill>
              <a:srgbClr val="64728B"/>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12034542" y="2971800"/>
            <a:ext cx="100308" cy="54798"/>
          </a:xfrm>
          <a:prstGeom prst="line">
            <a:avLst/>
          </a:prstGeom>
          <a:ln w="23812">
            <a:solidFill>
              <a:srgbClr val="64728B"/>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12034542" y="2917001"/>
            <a:ext cx="100308" cy="54799"/>
          </a:xfrm>
          <a:prstGeom prst="line">
            <a:avLst/>
          </a:prstGeom>
          <a:ln w="23812">
            <a:solidFill>
              <a:srgbClr val="64728B"/>
            </a:solidFill>
          </a:ln>
        </p:spPr>
        <p:style>
          <a:lnRef idx="2">
            <a:schemeClr val="accent1"/>
          </a:lnRef>
          <a:fillRef idx="0">
            <a:schemeClr val="accent1"/>
          </a:fillRef>
          <a:effectRef idx="1">
            <a:schemeClr val="accent1"/>
          </a:effectRef>
          <a:fontRef idx="minor">
            <a:schemeClr val="tx1"/>
          </a:fontRef>
        </p:style>
      </p:cxnSp>
      <p:grpSp>
        <p:nvGrpSpPr>
          <p:cNvPr id="62" name="Group 61"/>
          <p:cNvGrpSpPr/>
          <p:nvPr/>
        </p:nvGrpSpPr>
        <p:grpSpPr>
          <a:xfrm>
            <a:off x="6215657" y="4446091"/>
            <a:ext cx="341412" cy="452140"/>
            <a:chOff x="6215657" y="4446091"/>
            <a:chExt cx="341412" cy="452140"/>
          </a:xfrm>
        </p:grpSpPr>
        <p:cxnSp>
          <p:nvCxnSpPr>
            <p:cNvPr id="52" name="Connector 51"/>
            <p:cNvCxnSpPr/>
            <p:nvPr/>
          </p:nvCxnSpPr>
          <p:spPr>
            <a:xfrm flipH="1">
              <a:off x="6215657" y="4446091"/>
              <a:ext cx="230684"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215657" y="4446091"/>
              <a:ext cx="0" cy="45214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215657" y="4898231"/>
              <a:ext cx="341412"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6557069" y="4566046"/>
              <a:ext cx="0" cy="332185"/>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6446341" y="4446091"/>
              <a:ext cx="110728" cy="119955"/>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446341" y="4446091"/>
              <a:ext cx="0" cy="119955"/>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6446341" y="4566046"/>
              <a:ext cx="110728"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6298703" y="4658320"/>
              <a:ext cx="175320"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a:off x="6298703" y="4741366"/>
              <a:ext cx="175320"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6298703" y="4815185"/>
              <a:ext cx="110729"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63" name="TextBox 62"/>
          <p:cNvSpPr txBox="1"/>
          <p:nvPr/>
        </p:nvSpPr>
        <p:spPr>
          <a:xfrm>
            <a:off x="5514975" y="5095875"/>
            <a:ext cx="1743075" cy="285750"/>
          </a:xfrm>
          <a:prstGeom prst="rect">
            <a:avLst/>
          </a:prstGeom>
          <a:noFill/>
        </p:spPr>
        <p:txBody>
          <a:bodyPr wrap="none" lIns="0" rIns="0" tIns="0" bIns="0" anchor="t"/>
          <a:lstStyle/>
          <a:p>
            <a:pPr algn="ctr">
              <a:lnSpc>
                <a:spcPts val="1652"/>
              </a:lnSpc>
              <a:spcBef>
                <a:spcPts val="0"/>
              </a:spcBef>
              <a:spcAft>
                <a:spcPts val="0"/>
              </a:spcAft>
            </a:pPr>
            <a:r>
              <a:rPr sz="1425" b="1">
                <a:solidFill>
                  <a:srgbClr val="172540"/>
                </a:solidFill>
                <a:latin typeface="Arial"/>
              </a:rPr>
              <a:t>Recorded actions</a:t>
            </a:r>
          </a:p>
        </p:txBody>
      </p:sp>
      <p:grpSp>
        <p:nvGrpSpPr>
          <p:cNvPr id="71" name="Group 70"/>
          <p:cNvGrpSpPr/>
          <p:nvPr/>
        </p:nvGrpSpPr>
        <p:grpSpPr>
          <a:xfrm>
            <a:off x="9303246" y="4464546"/>
            <a:ext cx="415230" cy="415230"/>
            <a:chOff x="9303246" y="4464546"/>
            <a:chExt cx="415230" cy="415230"/>
          </a:xfrm>
        </p:grpSpPr>
        <p:sp>
          <p:nvSpPr>
            <p:cNvPr id="64" name="Oval 63"/>
            <p:cNvSpPr/>
            <p:nvPr/>
          </p:nvSpPr>
          <p:spPr>
            <a:xfrm>
              <a:off x="9303246" y="4464546"/>
              <a:ext cx="147637" cy="147637"/>
            </a:xfrm>
            <a:prstGeom prst="ellipse">
              <a:avLst/>
            </a:prstGeom>
            <a:noFill/>
            <a:ln w="24913">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570839" y="4732139"/>
              <a:ext cx="147637" cy="147637"/>
            </a:xfrm>
            <a:prstGeom prst="ellipse">
              <a:avLst/>
            </a:prstGeom>
            <a:noFill/>
            <a:ln w="24913">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Connector 65"/>
            <p:cNvCxnSpPr/>
            <p:nvPr/>
          </p:nvCxnSpPr>
          <p:spPr>
            <a:xfrm>
              <a:off x="9423201" y="4584501"/>
              <a:ext cx="184547" cy="184547"/>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653885" y="4464546"/>
              <a:ext cx="64591" cy="64591"/>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9395519" y="4529137"/>
              <a:ext cx="322957" cy="322957"/>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9330928" y="4787503"/>
              <a:ext cx="64591" cy="64591"/>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9330928" y="4464546"/>
              <a:ext cx="322957" cy="322957"/>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72" name="TextBox 71"/>
          <p:cNvSpPr txBox="1"/>
          <p:nvPr/>
        </p:nvSpPr>
        <p:spPr>
          <a:xfrm>
            <a:off x="8648700" y="5095875"/>
            <a:ext cx="1743075" cy="285750"/>
          </a:xfrm>
          <a:prstGeom prst="rect">
            <a:avLst/>
          </a:prstGeom>
          <a:noFill/>
        </p:spPr>
        <p:txBody>
          <a:bodyPr wrap="none" lIns="0" rIns="0" tIns="0" bIns="0" anchor="t"/>
          <a:lstStyle/>
          <a:p>
            <a:pPr algn="ctr">
              <a:lnSpc>
                <a:spcPts val="1652"/>
              </a:lnSpc>
              <a:spcBef>
                <a:spcPts val="0"/>
              </a:spcBef>
              <a:spcAft>
                <a:spcPts val="0"/>
              </a:spcAft>
            </a:pPr>
            <a:r>
              <a:rPr sz="1425" b="1">
                <a:solidFill>
                  <a:srgbClr val="172540"/>
                </a:solidFill>
                <a:latin typeface="Arial"/>
              </a:rPr>
              <a:t>Tools</a:t>
            </a:r>
          </a:p>
        </p:txBody>
      </p:sp>
      <p:grpSp>
        <p:nvGrpSpPr>
          <p:cNvPr id="100" name="Group 99"/>
          <p:cNvGrpSpPr/>
          <p:nvPr/>
        </p:nvGrpSpPr>
        <p:grpSpPr>
          <a:xfrm>
            <a:off x="12464653" y="4464546"/>
            <a:ext cx="369093" cy="433685"/>
            <a:chOff x="12464653" y="4464546"/>
            <a:chExt cx="369093" cy="433685"/>
          </a:xfrm>
        </p:grpSpPr>
        <p:cxnSp>
          <p:nvCxnSpPr>
            <p:cNvPr id="73" name="Connector 72"/>
            <p:cNvCxnSpPr/>
            <p:nvPr/>
          </p:nvCxnSpPr>
          <p:spPr>
            <a:xfrm>
              <a:off x="12464653" y="4538364"/>
              <a:ext cx="0" cy="276821"/>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2833746" y="4538364"/>
              <a:ext cx="0" cy="276821"/>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sp>
          <p:nvSpPr>
            <p:cNvPr id="75" name="Oval 74"/>
            <p:cNvSpPr/>
            <p:nvPr/>
          </p:nvSpPr>
          <p:spPr>
            <a:xfrm>
              <a:off x="12464653" y="4464546"/>
              <a:ext cx="369093" cy="147637"/>
            </a:xfrm>
            <a:prstGeom prst="ellipse">
              <a:avLst/>
            </a:prstGeom>
            <a:noFill/>
            <a:ln w="24913">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6" name="Connector 75"/>
            <p:cNvCxnSpPr/>
            <p:nvPr/>
          </p:nvCxnSpPr>
          <p:spPr>
            <a:xfrm flipH="1">
              <a:off x="12827458" y="4750593"/>
              <a:ext cx="6288" cy="19106"/>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12809022" y="4769699"/>
              <a:ext cx="18436" cy="17804"/>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12779694" y="4787503"/>
              <a:ext cx="29328" cy="15288"/>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12741473" y="4802791"/>
              <a:ext cx="38221" cy="11731"/>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12696964" y="4814522"/>
              <a:ext cx="44509" cy="7375"/>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12649200" y="4821897"/>
              <a:ext cx="47764" cy="2515"/>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12601435" y="4821897"/>
              <a:ext cx="47765" cy="2515"/>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12556926" y="4814522"/>
              <a:ext cx="44509" cy="7375"/>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12518705" y="4802791"/>
              <a:ext cx="38221" cy="11731"/>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12489377" y="4787503"/>
              <a:ext cx="29328" cy="15288"/>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12470941" y="4769699"/>
              <a:ext cx="18436" cy="17804"/>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12464653" y="4750593"/>
              <a:ext cx="6288" cy="19106"/>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a:off x="12827458" y="4824412"/>
              <a:ext cx="6288" cy="19106"/>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a:off x="12809022" y="4843518"/>
              <a:ext cx="18436" cy="17803"/>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a:off x="12779694" y="4861321"/>
              <a:ext cx="29328" cy="15289"/>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a:off x="12741473" y="4876610"/>
              <a:ext cx="38221" cy="11731"/>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a:off x="12696964" y="4888341"/>
              <a:ext cx="44509" cy="7374"/>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a:off x="12649200" y="4895715"/>
              <a:ext cx="47764" cy="2516"/>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H="1" flipV="1">
              <a:off x="12601435" y="4895715"/>
              <a:ext cx="47765" cy="2516"/>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flipV="1">
              <a:off x="12556926" y="4888341"/>
              <a:ext cx="44509" cy="7374"/>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12518705" y="4876610"/>
              <a:ext cx="38221" cy="11731"/>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12489377" y="4861321"/>
              <a:ext cx="29328" cy="15289"/>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12470941" y="4843518"/>
              <a:ext cx="18436" cy="17803"/>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12464653" y="4824412"/>
              <a:ext cx="6288" cy="19106"/>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101" name="TextBox 100"/>
          <p:cNvSpPr txBox="1"/>
          <p:nvPr/>
        </p:nvSpPr>
        <p:spPr>
          <a:xfrm>
            <a:off x="11782425" y="5095875"/>
            <a:ext cx="1743075" cy="285750"/>
          </a:xfrm>
          <a:prstGeom prst="rect">
            <a:avLst/>
          </a:prstGeom>
          <a:noFill/>
        </p:spPr>
        <p:txBody>
          <a:bodyPr wrap="none" lIns="0" rIns="0" tIns="0" bIns="0" anchor="t"/>
          <a:lstStyle/>
          <a:p>
            <a:pPr algn="ctr">
              <a:lnSpc>
                <a:spcPts val="1652"/>
              </a:lnSpc>
              <a:spcBef>
                <a:spcPts val="0"/>
              </a:spcBef>
              <a:spcAft>
                <a:spcPts val="0"/>
              </a:spcAft>
            </a:pPr>
            <a:r>
              <a:rPr sz="1425" b="1">
                <a:solidFill>
                  <a:srgbClr val="172540"/>
                </a:solidFill>
                <a:latin typeface="Arial"/>
              </a:rPr>
              <a:t>State effects</a:t>
            </a:r>
          </a:p>
        </p:txBody>
      </p:sp>
      <p:cxnSp>
        <p:nvCxnSpPr>
          <p:cNvPr id="102" name="Connector 101"/>
          <p:cNvCxnSpPr/>
          <p:nvPr/>
        </p:nvCxnSpPr>
        <p:spPr>
          <a:xfrm>
            <a:off x="6924675" y="4686300"/>
            <a:ext cx="2038350" cy="0"/>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a:off x="8862717" y="4686300"/>
            <a:ext cx="100308" cy="54798"/>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8862717" y="4631501"/>
            <a:ext cx="100308" cy="54799"/>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10029825" y="4686300"/>
            <a:ext cx="2105025" cy="0"/>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a:off x="12034542" y="4686300"/>
            <a:ext cx="100308" cy="54798"/>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12034542" y="4631501"/>
            <a:ext cx="100308" cy="54799"/>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grpSp>
        <p:nvGrpSpPr>
          <p:cNvPr id="116" name="Group 115"/>
          <p:cNvGrpSpPr/>
          <p:nvPr/>
        </p:nvGrpSpPr>
        <p:grpSpPr>
          <a:xfrm>
            <a:off x="5843587" y="6234112"/>
            <a:ext cx="428625" cy="428625"/>
            <a:chOff x="5843587" y="6234112"/>
            <a:chExt cx="428625" cy="428625"/>
          </a:xfrm>
        </p:grpSpPr>
        <p:cxnSp>
          <p:nvCxnSpPr>
            <p:cNvPr id="108" name="Connector 107"/>
            <p:cNvCxnSpPr/>
            <p:nvPr/>
          </p:nvCxnSpPr>
          <p:spPr>
            <a:xfrm flipV="1">
              <a:off x="5843587" y="6234112"/>
              <a:ext cx="214313" cy="107156"/>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6057900" y="6234112"/>
              <a:ext cx="214312" cy="107156"/>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a:off x="6057900" y="6341268"/>
              <a:ext cx="214312" cy="107157"/>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5843587" y="6341268"/>
              <a:ext cx="214313" cy="107157"/>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5843587" y="6448425"/>
              <a:ext cx="214313" cy="107156"/>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6057900" y="6448425"/>
              <a:ext cx="214312" cy="107156"/>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5843587" y="6555581"/>
              <a:ext cx="214313" cy="107156"/>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6057900" y="6555581"/>
              <a:ext cx="214312" cy="107156"/>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grpSp>
      <p:sp>
        <p:nvSpPr>
          <p:cNvPr id="117" name="TextBox 116"/>
          <p:cNvSpPr txBox="1"/>
          <p:nvPr/>
        </p:nvSpPr>
        <p:spPr>
          <a:xfrm>
            <a:off x="5543550" y="7124700"/>
            <a:ext cx="1047749" cy="266700"/>
          </a:xfrm>
          <a:prstGeom prst="rect">
            <a:avLst/>
          </a:prstGeom>
          <a:noFill/>
        </p:spPr>
        <p:txBody>
          <a:bodyPr wrap="none" lIns="0" rIns="0" tIns="0" bIns="0" anchor="t"/>
          <a:lstStyle/>
          <a:p>
            <a:pPr algn="ctr">
              <a:lnSpc>
                <a:spcPts val="1652"/>
              </a:lnSpc>
              <a:spcBef>
                <a:spcPts val="0"/>
              </a:spcBef>
              <a:spcAft>
                <a:spcPts val="0"/>
              </a:spcAft>
            </a:pPr>
            <a:r>
              <a:rPr sz="1425" b="1">
                <a:solidFill>
                  <a:srgbClr val="172540"/>
                </a:solidFill>
                <a:latin typeface="Arial"/>
              </a:rPr>
              <a:t>Snapshot</a:t>
            </a:r>
          </a:p>
        </p:txBody>
      </p:sp>
      <p:grpSp>
        <p:nvGrpSpPr>
          <p:cNvPr id="126" name="Group 125"/>
          <p:cNvGrpSpPr/>
          <p:nvPr/>
        </p:nvGrpSpPr>
        <p:grpSpPr>
          <a:xfrm>
            <a:off x="8065293" y="6207323"/>
            <a:ext cx="500063" cy="437555"/>
            <a:chOff x="8065293" y="6207323"/>
            <a:chExt cx="500063" cy="437555"/>
          </a:xfrm>
        </p:grpSpPr>
        <p:sp>
          <p:nvSpPr>
            <p:cNvPr id="118" name="Rounded Rectangle 117"/>
            <p:cNvSpPr/>
            <p:nvPr/>
          </p:nvSpPr>
          <p:spPr>
            <a:xfrm>
              <a:off x="8118871" y="6332339"/>
              <a:ext cx="392906" cy="312539"/>
            </a:xfrm>
            <a:prstGeom prst="roundRect">
              <a:avLst>
                <a:gd name="adj" fmla="val 20000"/>
              </a:avLst>
            </a:prstGeom>
            <a:noFill/>
            <a:ln w="24110">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9" name="Connector 118"/>
            <p:cNvCxnSpPr/>
            <p:nvPr/>
          </p:nvCxnSpPr>
          <p:spPr>
            <a:xfrm>
              <a:off x="8315325" y="6243042"/>
              <a:ext cx="0" cy="89297"/>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sp>
          <p:nvSpPr>
            <p:cNvPr id="120" name="Oval 119"/>
            <p:cNvSpPr/>
            <p:nvPr/>
          </p:nvSpPr>
          <p:spPr>
            <a:xfrm>
              <a:off x="8288535" y="6207323"/>
              <a:ext cx="53578" cy="53578"/>
            </a:xfrm>
            <a:prstGeom prst="ellipse">
              <a:avLst/>
            </a:prstGeom>
            <a:solidFill>
              <a:srgbClr val="0B9696"/>
            </a:solidFill>
            <a:ln w="24110">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1" name="Connector 120"/>
            <p:cNvCxnSpPr/>
            <p:nvPr/>
          </p:nvCxnSpPr>
          <p:spPr>
            <a:xfrm>
              <a:off x="8065293" y="6439495"/>
              <a:ext cx="53578" cy="0"/>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8511778" y="6439495"/>
              <a:ext cx="53578" cy="0"/>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sp>
          <p:nvSpPr>
            <p:cNvPr id="123" name="Oval 122"/>
            <p:cNvSpPr/>
            <p:nvPr/>
          </p:nvSpPr>
          <p:spPr>
            <a:xfrm>
              <a:off x="8217098" y="6421635"/>
              <a:ext cx="35718" cy="35718"/>
            </a:xfrm>
            <a:prstGeom prst="ellipse">
              <a:avLst/>
            </a:prstGeom>
            <a:solidFill>
              <a:srgbClr val="0B9696"/>
            </a:solidFill>
            <a:ln w="24110">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8377832" y="6421635"/>
              <a:ext cx="35718" cy="35718"/>
            </a:xfrm>
            <a:prstGeom prst="ellipse">
              <a:avLst/>
            </a:prstGeom>
            <a:solidFill>
              <a:srgbClr val="0B9696"/>
            </a:solidFill>
            <a:ln w="24110">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5" name="Connector 124"/>
            <p:cNvCxnSpPr/>
            <p:nvPr/>
          </p:nvCxnSpPr>
          <p:spPr>
            <a:xfrm>
              <a:off x="8243887" y="6546651"/>
              <a:ext cx="142875" cy="0"/>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grpSp>
      <p:sp>
        <p:nvSpPr>
          <p:cNvPr id="127" name="TextBox 126"/>
          <p:cNvSpPr txBox="1"/>
          <p:nvPr/>
        </p:nvSpPr>
        <p:spPr>
          <a:xfrm>
            <a:off x="7800975" y="7124700"/>
            <a:ext cx="1047749" cy="266700"/>
          </a:xfrm>
          <a:prstGeom prst="rect">
            <a:avLst/>
          </a:prstGeom>
          <a:noFill/>
        </p:spPr>
        <p:txBody>
          <a:bodyPr wrap="none" lIns="0" rIns="0" tIns="0" bIns="0" anchor="t"/>
          <a:lstStyle/>
          <a:p>
            <a:pPr algn="ctr">
              <a:lnSpc>
                <a:spcPts val="1652"/>
              </a:lnSpc>
              <a:spcBef>
                <a:spcPts val="0"/>
              </a:spcBef>
              <a:spcAft>
                <a:spcPts val="0"/>
              </a:spcAft>
            </a:pPr>
            <a:r>
              <a:rPr sz="1425" b="1">
                <a:solidFill>
                  <a:srgbClr val="172540"/>
                </a:solidFill>
                <a:latin typeface="Arial"/>
              </a:rPr>
              <a:t>Agent</a:t>
            </a:r>
          </a:p>
        </p:txBody>
      </p:sp>
      <p:grpSp>
        <p:nvGrpSpPr>
          <p:cNvPr id="135" name="Group 134"/>
          <p:cNvGrpSpPr/>
          <p:nvPr/>
        </p:nvGrpSpPr>
        <p:grpSpPr>
          <a:xfrm>
            <a:off x="10481667" y="6243042"/>
            <a:ext cx="401836" cy="401836"/>
            <a:chOff x="10481667" y="6243042"/>
            <a:chExt cx="401836" cy="401836"/>
          </a:xfrm>
        </p:grpSpPr>
        <p:sp>
          <p:nvSpPr>
            <p:cNvPr id="128" name="Oval 127"/>
            <p:cNvSpPr/>
            <p:nvPr/>
          </p:nvSpPr>
          <p:spPr>
            <a:xfrm>
              <a:off x="10481667" y="6243042"/>
              <a:ext cx="142875" cy="142875"/>
            </a:xfrm>
            <a:prstGeom prst="ellipse">
              <a:avLst/>
            </a:prstGeom>
            <a:noFill/>
            <a:ln w="24110">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10740628" y="6502003"/>
              <a:ext cx="142875" cy="142875"/>
            </a:xfrm>
            <a:prstGeom prst="ellipse">
              <a:avLst/>
            </a:prstGeom>
            <a:noFill/>
            <a:ln w="24110">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0" name="Connector 129"/>
            <p:cNvCxnSpPr/>
            <p:nvPr/>
          </p:nvCxnSpPr>
          <p:spPr>
            <a:xfrm>
              <a:off x="10597753" y="6359128"/>
              <a:ext cx="178593" cy="178593"/>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10820995" y="6243042"/>
              <a:ext cx="62508" cy="62508"/>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H="1">
              <a:off x="10570964" y="6305550"/>
              <a:ext cx="312539" cy="312539"/>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H="1" flipV="1">
              <a:off x="10508456" y="6555581"/>
              <a:ext cx="62508" cy="62508"/>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10508456" y="6243042"/>
              <a:ext cx="312539" cy="312539"/>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grpSp>
      <p:sp>
        <p:nvSpPr>
          <p:cNvPr id="136" name="TextBox 135"/>
          <p:cNvSpPr txBox="1"/>
          <p:nvPr/>
        </p:nvSpPr>
        <p:spPr>
          <a:xfrm>
            <a:off x="10172700" y="7124700"/>
            <a:ext cx="1047749" cy="266700"/>
          </a:xfrm>
          <a:prstGeom prst="rect">
            <a:avLst/>
          </a:prstGeom>
          <a:noFill/>
        </p:spPr>
        <p:txBody>
          <a:bodyPr wrap="none" lIns="0" rIns="0" tIns="0" bIns="0" anchor="t"/>
          <a:lstStyle/>
          <a:p>
            <a:pPr algn="ctr">
              <a:lnSpc>
                <a:spcPts val="1652"/>
              </a:lnSpc>
              <a:spcBef>
                <a:spcPts val="0"/>
              </a:spcBef>
              <a:spcAft>
                <a:spcPts val="0"/>
              </a:spcAft>
            </a:pPr>
            <a:r>
              <a:rPr sz="1425" b="1">
                <a:solidFill>
                  <a:srgbClr val="172540"/>
                </a:solidFill>
                <a:latin typeface="Arial"/>
              </a:rPr>
              <a:t>Tools</a:t>
            </a:r>
          </a:p>
        </p:txBody>
      </p:sp>
      <p:grpSp>
        <p:nvGrpSpPr>
          <p:cNvPr id="147" name="Group 146"/>
          <p:cNvGrpSpPr/>
          <p:nvPr/>
        </p:nvGrpSpPr>
        <p:grpSpPr>
          <a:xfrm>
            <a:off x="12757546" y="6225182"/>
            <a:ext cx="392906" cy="446484"/>
            <a:chOff x="12757546" y="6225182"/>
            <a:chExt cx="392906" cy="446484"/>
          </a:xfrm>
        </p:grpSpPr>
        <p:sp>
          <p:nvSpPr>
            <p:cNvPr id="137" name="Rounded Rectangle 136"/>
            <p:cNvSpPr/>
            <p:nvPr/>
          </p:nvSpPr>
          <p:spPr>
            <a:xfrm>
              <a:off x="12757546" y="6225182"/>
              <a:ext cx="392906" cy="446484"/>
            </a:xfrm>
            <a:prstGeom prst="roundRect">
              <a:avLst>
                <a:gd name="adj" fmla="val 9090"/>
              </a:avLst>
            </a:prstGeom>
            <a:noFill/>
            <a:ln w="24110">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8" name="Connector 137"/>
            <p:cNvCxnSpPr/>
            <p:nvPr/>
          </p:nvCxnSpPr>
          <p:spPr>
            <a:xfrm>
              <a:off x="12828984" y="6341268"/>
              <a:ext cx="35719" cy="35719"/>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12864703" y="6305550"/>
              <a:ext cx="53578" cy="71437"/>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12971859" y="6341268"/>
              <a:ext cx="107156" cy="0"/>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12828984" y="6457354"/>
              <a:ext cx="35719" cy="35719"/>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12864703" y="6421635"/>
              <a:ext cx="53578" cy="71438"/>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12971859" y="6457354"/>
              <a:ext cx="107156" cy="0"/>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a:off x="12828984" y="6573440"/>
              <a:ext cx="35719" cy="35719"/>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12864703" y="6537721"/>
              <a:ext cx="53578" cy="71438"/>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a:off x="12971859" y="6573440"/>
              <a:ext cx="107156" cy="0"/>
            </a:xfrm>
            <a:prstGeom prst="line">
              <a:avLst/>
            </a:prstGeom>
            <a:ln w="24110">
              <a:solidFill>
                <a:srgbClr val="0B9696"/>
              </a:solidFill>
            </a:ln>
          </p:spPr>
          <p:style>
            <a:lnRef idx="2">
              <a:schemeClr val="accent1"/>
            </a:lnRef>
            <a:fillRef idx="0">
              <a:schemeClr val="accent1"/>
            </a:fillRef>
            <a:effectRef idx="1">
              <a:schemeClr val="accent1"/>
            </a:effectRef>
            <a:fontRef idx="minor">
              <a:schemeClr val="tx1"/>
            </a:fontRef>
          </p:style>
        </p:cxnSp>
      </p:grpSp>
      <p:sp>
        <p:nvSpPr>
          <p:cNvPr id="148" name="TextBox 147"/>
          <p:cNvSpPr txBox="1"/>
          <p:nvPr/>
        </p:nvSpPr>
        <p:spPr>
          <a:xfrm>
            <a:off x="12439650" y="7124700"/>
            <a:ext cx="1047749" cy="266700"/>
          </a:xfrm>
          <a:prstGeom prst="rect">
            <a:avLst/>
          </a:prstGeom>
          <a:noFill/>
        </p:spPr>
        <p:txBody>
          <a:bodyPr wrap="none" lIns="0" rIns="0" tIns="0" bIns="0" anchor="t"/>
          <a:lstStyle/>
          <a:p>
            <a:pPr algn="ctr">
              <a:lnSpc>
                <a:spcPts val="1652"/>
              </a:lnSpc>
              <a:spcBef>
                <a:spcPts val="0"/>
              </a:spcBef>
              <a:spcAft>
                <a:spcPts val="0"/>
              </a:spcAft>
            </a:pPr>
            <a:r>
              <a:rPr sz="1425" b="1">
                <a:solidFill>
                  <a:srgbClr val="172540"/>
                </a:solidFill>
                <a:latin typeface="Arial"/>
              </a:rPr>
              <a:t>Outcome</a:t>
            </a:r>
          </a:p>
        </p:txBody>
      </p:sp>
      <p:cxnSp>
        <p:nvCxnSpPr>
          <p:cNvPr id="149" name="Connector 148"/>
          <p:cNvCxnSpPr/>
          <p:nvPr/>
        </p:nvCxnSpPr>
        <p:spPr>
          <a:xfrm>
            <a:off x="6534150" y="6429375"/>
            <a:ext cx="1304924" cy="0"/>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H="1">
            <a:off x="7738767" y="6429375"/>
            <a:ext cx="100307" cy="54798"/>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H="1" flipV="1">
            <a:off x="7738767" y="6374576"/>
            <a:ext cx="100307" cy="54799"/>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8801100" y="6362700"/>
            <a:ext cx="1428750" cy="0"/>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H="1">
            <a:off x="10129542" y="6362700"/>
            <a:ext cx="100308" cy="54798"/>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H="1" flipV="1">
            <a:off x="10129542" y="6307901"/>
            <a:ext cx="100308" cy="54799"/>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H="1">
            <a:off x="8801100" y="6715125"/>
            <a:ext cx="1428750" cy="0"/>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8801100" y="6660326"/>
            <a:ext cx="100307" cy="54799"/>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8801100" y="6715125"/>
            <a:ext cx="100307" cy="54798"/>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11182350" y="6429375"/>
            <a:ext cx="1304925" cy="0"/>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H="1">
            <a:off x="12386967" y="6429375"/>
            <a:ext cx="100308" cy="54798"/>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H="1" flipV="1">
            <a:off x="12386967" y="6374576"/>
            <a:ext cx="100308" cy="54799"/>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sp>
        <p:nvSpPr>
          <p:cNvPr id="161" name="TextBox 160"/>
          <p:cNvSpPr txBox="1"/>
          <p:nvPr/>
        </p:nvSpPr>
        <p:spPr>
          <a:xfrm>
            <a:off x="9020175" y="6934200"/>
            <a:ext cx="1066800" cy="238125"/>
          </a:xfrm>
          <a:prstGeom prst="rect">
            <a:avLst/>
          </a:prstGeom>
          <a:noFill/>
        </p:spPr>
        <p:txBody>
          <a:bodyPr wrap="none" lIns="0" rIns="0" tIns="0" bIns="0" anchor="t"/>
          <a:lstStyle/>
          <a:p>
            <a:pPr algn="ctr">
              <a:lnSpc>
                <a:spcPts val="1391"/>
              </a:lnSpc>
              <a:spcBef>
                <a:spcPts val="0"/>
              </a:spcBef>
              <a:spcAft>
                <a:spcPts val="0"/>
              </a:spcAft>
            </a:pPr>
            <a:r>
              <a:rPr sz="1200" b="0">
                <a:solidFill>
                  <a:srgbClr val="0B9696"/>
                </a:solidFill>
                <a:latin typeface="Arial"/>
              </a:rPr>
              <a:t>feedback</a:t>
            </a:r>
          </a:p>
        </p:txBody>
      </p:sp>
      <p:sp>
        <p:nvSpPr>
          <p:cNvPr id="162" name="TextBox 161"/>
          <p:cNvSpPr txBox="1"/>
          <p:nvPr/>
        </p:nvSpPr>
        <p:spPr>
          <a:xfrm>
            <a:off x="609600" y="7791450"/>
            <a:ext cx="13935075" cy="257175"/>
          </a:xfrm>
          <a:prstGeom prst="rect">
            <a:avLst/>
          </a:prstGeom>
          <a:noFill/>
        </p:spPr>
        <p:txBody>
          <a:bodyPr wrap="none" lIns="0" rIns="0" tIns="0" bIns="0" anchor="t"/>
          <a:lstStyle/>
          <a:p>
            <a:pPr algn="l">
              <a:lnSpc>
                <a:spcPts val="1652"/>
              </a:lnSpc>
              <a:spcBef>
                <a:spcPts val="0"/>
              </a:spcBef>
              <a:spcAft>
                <a:spcPts val="0"/>
              </a:spcAft>
            </a:pPr>
            <a:r>
              <a:rPr sz="1425" b="0">
                <a:solidFill>
                  <a:srgbClr val="64728B"/>
                </a:solidFill>
                <a:latin typeface="Arial"/>
              </a:rPr>
              <a:t>Changed observations require new agent decisions; fixed actions cannot show adaptation.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ounded Rectangle 1"/>
          <p:cNvSpPr/>
          <p:nvPr/>
        </p:nvSpPr>
        <p:spPr>
          <a:xfrm>
            <a:off x="571500" y="390525"/>
            <a:ext cx="85725" cy="209550"/>
          </a:xfrm>
          <a:prstGeom prst="roundRect">
            <a:avLst>
              <a:gd name="adj" fmla="val 44444"/>
            </a:avLst>
          </a:prstGeom>
          <a:solidFill>
            <a:srgbClr val="39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1050" y="381000"/>
            <a:ext cx="13239750" cy="247649"/>
          </a:xfrm>
          <a:prstGeom prst="rect">
            <a:avLst/>
          </a:prstGeom>
          <a:noFill/>
        </p:spPr>
        <p:txBody>
          <a:bodyPr wrap="none" lIns="0" rIns="0" tIns="0" bIns="0" anchor="t"/>
          <a:lstStyle/>
          <a:p>
            <a:pPr algn="l">
              <a:lnSpc>
                <a:spcPts val="1305"/>
              </a:lnSpc>
              <a:spcBef>
                <a:spcPts val="0"/>
              </a:spcBef>
              <a:spcAft>
                <a:spcPts val="0"/>
              </a:spcAft>
            </a:pPr>
            <a:r>
              <a:rPr sz="1125" b="1">
                <a:solidFill>
                  <a:srgbClr val="64728B"/>
                </a:solidFill>
                <a:latin typeface="Arial"/>
              </a:rPr>
              <a:t>WORKED EXAMPLE / ILLUSTRATIVE FIXTURE</a:t>
            </a:r>
          </a:p>
        </p:txBody>
      </p:sp>
      <p:sp>
        <p:nvSpPr>
          <p:cNvPr id="4" name="TextBox 3"/>
          <p:cNvSpPr txBox="1"/>
          <p:nvPr/>
        </p:nvSpPr>
        <p:spPr>
          <a:xfrm>
            <a:off x="581025" y="8172450"/>
            <a:ext cx="13049250" cy="190500"/>
          </a:xfrm>
          <a:prstGeom prst="rect">
            <a:avLst/>
          </a:prstGeom>
          <a:noFill/>
        </p:spPr>
        <p:txBody>
          <a:bodyPr wrap="none" lIns="0" rIns="0" tIns="0" bIns="0" anchor="t"/>
          <a:lstStyle/>
          <a:p>
            <a:pPr algn="l">
              <a:lnSpc>
                <a:spcPts val="1044"/>
              </a:lnSpc>
              <a:spcBef>
                <a:spcPts val="0"/>
              </a:spcBef>
              <a:spcAft>
                <a:spcPts val="0"/>
              </a:spcAft>
            </a:pPr>
            <a:r>
              <a:rPr sz="900" b="0">
                <a:solidFill>
                  <a:srgbClr val="64728B"/>
                </a:solidFill>
                <a:latin typeface="Arial"/>
              </a:rPr>
              <a:t>INCIDENT REPLAY / SOFTWARE ENGINEERING</a:t>
            </a:r>
          </a:p>
        </p:txBody>
      </p:sp>
      <p:sp>
        <p:nvSpPr>
          <p:cNvPr id="5" name="TextBox 4"/>
          <p:cNvSpPr txBox="1"/>
          <p:nvPr/>
        </p:nvSpPr>
        <p:spPr>
          <a:xfrm>
            <a:off x="13887450" y="8124824"/>
            <a:ext cx="762000" cy="238125"/>
          </a:xfrm>
          <a:prstGeom prst="rect">
            <a:avLst/>
          </a:prstGeom>
          <a:noFill/>
        </p:spPr>
        <p:txBody>
          <a:bodyPr wrap="none" lIns="0" rIns="0" tIns="0" bIns="0" anchor="t"/>
          <a:lstStyle/>
          <a:p>
            <a:pPr algn="r">
              <a:lnSpc>
                <a:spcPts val="1218"/>
              </a:lnSpc>
              <a:spcBef>
                <a:spcPts val="0"/>
              </a:spcBef>
              <a:spcAft>
                <a:spcPts val="0"/>
              </a:spcAft>
            </a:pPr>
            <a:r>
              <a:rPr sz="1050" b="0">
                <a:solidFill>
                  <a:srgbClr val="64728B"/>
                </a:solidFill>
                <a:latin typeface="Courier New"/>
              </a:rPr>
              <a:t>06 / 10</a:t>
            </a:r>
          </a:p>
        </p:txBody>
      </p:sp>
      <p:sp>
        <p:nvSpPr>
          <p:cNvPr id="6" name="TextBox 5"/>
          <p:cNvSpPr txBox="1"/>
          <p:nvPr/>
        </p:nvSpPr>
        <p:spPr>
          <a:xfrm>
            <a:off x="571500" y="942975"/>
            <a:ext cx="14097000" cy="1181100"/>
          </a:xfrm>
          <a:prstGeom prst="rect">
            <a:avLst/>
          </a:prstGeom>
          <a:noFill/>
        </p:spPr>
        <p:txBody>
          <a:bodyPr wrap="none" lIns="0" rIns="0" tIns="0" bIns="0" anchor="t"/>
          <a:lstStyle/>
          <a:p>
            <a:pPr algn="l">
              <a:lnSpc>
                <a:spcPts val="4212"/>
              </a:lnSpc>
              <a:spcBef>
                <a:spcPts val="0"/>
              </a:spcBef>
              <a:spcAft>
                <a:spcPts val="0"/>
              </a:spcAft>
            </a:pPr>
            <a:r>
              <a:rPr sz="3900" b="1">
                <a:solidFill>
                  <a:srgbClr val="172540"/>
                </a:solidFill>
                <a:latin typeface="Arial"/>
              </a:rPr>
              <a:t>Replay the state transition behind a failure.</a:t>
            </a:r>
          </a:p>
        </p:txBody>
      </p:sp>
      <p:sp>
        <p:nvSpPr>
          <p:cNvPr id="7" name="TextBox 6"/>
          <p:cNvSpPr txBox="1"/>
          <p:nvPr/>
        </p:nvSpPr>
        <p:spPr>
          <a:xfrm>
            <a:off x="600075" y="1685925"/>
            <a:ext cx="13906500" cy="647700"/>
          </a:xfrm>
          <a:prstGeom prst="rect">
            <a:avLst/>
          </a:prstGeom>
          <a:noFill/>
        </p:spPr>
        <p:txBody>
          <a:bodyPr wrap="none" lIns="0" rIns="0" tIns="0" bIns="0" anchor="t"/>
          <a:lstStyle/>
          <a:p>
            <a:pPr algn="l">
              <a:lnSpc>
                <a:spcPts val="2175"/>
              </a:lnSpc>
              <a:spcBef>
                <a:spcPts val="0"/>
              </a:spcBef>
              <a:spcAft>
                <a:spcPts val="0"/>
              </a:spcAft>
            </a:pPr>
            <a:r>
              <a:rPr sz="1875" b="0">
                <a:solidFill>
                  <a:srgbClr val="64728B"/>
                </a:solidFill>
                <a:latin typeface="Arial"/>
              </a:rPr>
              <a:t>An interrupted migration becomes a task in diagnosis, data repair, and regression testing.</a:t>
            </a:r>
          </a:p>
        </p:txBody>
      </p:sp>
      <p:sp>
        <p:nvSpPr>
          <p:cNvPr id="8" name="Rounded Rectangle 7"/>
          <p:cNvSpPr/>
          <p:nvPr/>
        </p:nvSpPr>
        <p:spPr>
          <a:xfrm>
            <a:off x="600075" y="2819400"/>
            <a:ext cx="3705224" cy="2686050"/>
          </a:xfrm>
          <a:prstGeom prst="roundRect">
            <a:avLst>
              <a:gd name="adj" fmla="val 7801"/>
            </a:avLst>
          </a:prstGeom>
          <a:solidFill>
            <a:srgbClr val="E7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0550" y="2752725"/>
            <a:ext cx="3705224" cy="2686050"/>
          </a:xfrm>
          <a:prstGeom prst="roundRect">
            <a:avLst>
              <a:gd name="adj" fmla="val 7801"/>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28675" y="2962275"/>
            <a:ext cx="1200150" cy="371475"/>
          </a:xfrm>
          <a:prstGeom prst="roundRect">
            <a:avLst>
              <a:gd name="adj" fmla="val 45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2975" y="3048000"/>
            <a:ext cx="971550" cy="247649"/>
          </a:xfrm>
          <a:prstGeom prst="rect">
            <a:avLst/>
          </a:prstGeom>
          <a:noFill/>
        </p:spPr>
        <p:txBody>
          <a:bodyPr wrap="none" lIns="0" rIns="0" tIns="0" bIns="0" anchor="t"/>
          <a:lstStyle/>
          <a:p>
            <a:pPr algn="ctr">
              <a:lnSpc>
                <a:spcPts val="1391"/>
              </a:lnSpc>
              <a:spcBef>
                <a:spcPts val="0"/>
              </a:spcBef>
              <a:spcAft>
                <a:spcPts val="0"/>
              </a:spcAft>
            </a:pPr>
            <a:r>
              <a:rPr sz="1200" b="1">
                <a:solidFill>
                  <a:srgbClr val="3973F6"/>
                </a:solidFill>
                <a:latin typeface="Arial"/>
              </a:rPr>
              <a:t>BEFORE</a:t>
            </a:r>
          </a:p>
        </p:txBody>
      </p:sp>
      <p:sp>
        <p:nvSpPr>
          <p:cNvPr id="12" name="TextBox 11"/>
          <p:cNvSpPr txBox="1"/>
          <p:nvPr/>
        </p:nvSpPr>
        <p:spPr>
          <a:xfrm>
            <a:off x="828675" y="3562350"/>
            <a:ext cx="3238500" cy="381000"/>
          </a:xfrm>
          <a:prstGeom prst="rect">
            <a:avLst/>
          </a:prstGeom>
          <a:noFill/>
        </p:spPr>
        <p:txBody>
          <a:bodyPr wrap="none" lIns="0" rIns="0" tIns="0" bIns="0" anchor="t"/>
          <a:lstStyle/>
          <a:p>
            <a:pPr algn="l">
              <a:lnSpc>
                <a:spcPts val="2436"/>
              </a:lnSpc>
              <a:spcBef>
                <a:spcPts val="0"/>
              </a:spcBef>
              <a:spcAft>
                <a:spcPts val="0"/>
              </a:spcAft>
            </a:pPr>
            <a:r>
              <a:rPr sz="2100" b="1">
                <a:solidFill>
                  <a:srgbClr val="172540"/>
                </a:solidFill>
                <a:latin typeface="Arial"/>
              </a:rPr>
              <a:t>Consistent v1</a:t>
            </a:r>
          </a:p>
        </p:txBody>
      </p:sp>
      <p:grpSp>
        <p:nvGrpSpPr>
          <p:cNvPr id="40" name="Group 39"/>
          <p:cNvGrpSpPr/>
          <p:nvPr/>
        </p:nvGrpSpPr>
        <p:grpSpPr>
          <a:xfrm>
            <a:off x="949523" y="4288780"/>
            <a:ext cx="434578" cy="510629"/>
            <a:chOff x="949523" y="4288780"/>
            <a:chExt cx="434578" cy="510629"/>
          </a:xfrm>
        </p:grpSpPr>
        <p:cxnSp>
          <p:nvCxnSpPr>
            <p:cNvPr id="13" name="Connector 12"/>
            <p:cNvCxnSpPr/>
            <p:nvPr/>
          </p:nvCxnSpPr>
          <p:spPr>
            <a:xfrm>
              <a:off x="949523" y="4375695"/>
              <a:ext cx="0" cy="325934"/>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384101" y="4375695"/>
              <a:ext cx="0" cy="325934"/>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949523" y="4288780"/>
              <a:ext cx="434578" cy="173831"/>
            </a:xfrm>
            <a:prstGeom prst="ellipse">
              <a:avLst/>
            </a:prstGeom>
            <a:noFill/>
            <a:ln w="29334">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flipH="1">
              <a:off x="1376697" y="4625578"/>
              <a:ext cx="7404" cy="22495"/>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1354990" y="4648073"/>
              <a:ext cx="21707" cy="20962"/>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320459" y="4669035"/>
              <a:ext cx="34531" cy="18001"/>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275457" y="4687036"/>
              <a:ext cx="45002" cy="13813"/>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223051" y="4700849"/>
              <a:ext cx="52406" cy="8683"/>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1166812" y="4709532"/>
              <a:ext cx="56239" cy="2961"/>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1110573" y="4709532"/>
              <a:ext cx="56239" cy="2961"/>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1058167" y="4700849"/>
              <a:ext cx="52406" cy="8683"/>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1013165" y="4687036"/>
              <a:ext cx="45002" cy="13813"/>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978634" y="4669035"/>
              <a:ext cx="34531" cy="18001"/>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956927" y="4648073"/>
              <a:ext cx="21707" cy="20962"/>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949523" y="4625578"/>
              <a:ext cx="7404" cy="22495"/>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1376697" y="4712493"/>
              <a:ext cx="7404" cy="22496"/>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1354990" y="4734989"/>
              <a:ext cx="21707" cy="20962"/>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1320459" y="4755951"/>
              <a:ext cx="34531" cy="18001"/>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1275457" y="4773952"/>
              <a:ext cx="45002" cy="13812"/>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1223051" y="4787764"/>
              <a:ext cx="52406" cy="8683"/>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1166812" y="4796447"/>
              <a:ext cx="56239" cy="2962"/>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1110573" y="4796447"/>
              <a:ext cx="56239" cy="2962"/>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1058167" y="4787764"/>
              <a:ext cx="52406" cy="8683"/>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1013165" y="4773952"/>
              <a:ext cx="45002" cy="13812"/>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978634" y="4755951"/>
              <a:ext cx="34531" cy="18001"/>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956927" y="4734989"/>
              <a:ext cx="21707" cy="20962"/>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949523" y="4712493"/>
              <a:ext cx="7404" cy="22496"/>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41" name="Rounded Rectangle 40"/>
          <p:cNvSpPr/>
          <p:nvPr/>
        </p:nvSpPr>
        <p:spPr>
          <a:xfrm>
            <a:off x="2028825" y="4229100"/>
            <a:ext cx="247649" cy="247649"/>
          </a:xfrm>
          <a:prstGeom prst="roundRect">
            <a:avLst>
              <a:gd name="adj" fmla="val 19230"/>
            </a:avLst>
          </a:prstGeom>
          <a:solidFill>
            <a:srgbClr val="39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352675" y="4229100"/>
            <a:ext cx="247649" cy="247649"/>
          </a:xfrm>
          <a:prstGeom prst="roundRect">
            <a:avLst>
              <a:gd name="adj" fmla="val 19230"/>
            </a:avLst>
          </a:prstGeom>
          <a:solidFill>
            <a:srgbClr val="39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2676525" y="4229100"/>
            <a:ext cx="247649" cy="247649"/>
          </a:xfrm>
          <a:prstGeom prst="roundRect">
            <a:avLst>
              <a:gd name="adj" fmla="val 19230"/>
            </a:avLst>
          </a:prstGeom>
          <a:solidFill>
            <a:srgbClr val="39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3000375" y="4229100"/>
            <a:ext cx="247649" cy="247649"/>
          </a:xfrm>
          <a:prstGeom prst="roundRect">
            <a:avLst>
              <a:gd name="adj" fmla="val 19230"/>
            </a:avLst>
          </a:prstGeom>
          <a:solidFill>
            <a:srgbClr val="39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2028825" y="4552950"/>
            <a:ext cx="247649" cy="247649"/>
          </a:xfrm>
          <a:prstGeom prst="roundRect">
            <a:avLst>
              <a:gd name="adj" fmla="val 19230"/>
            </a:avLst>
          </a:prstGeom>
          <a:solidFill>
            <a:srgbClr val="39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2352675" y="4552950"/>
            <a:ext cx="247649" cy="247649"/>
          </a:xfrm>
          <a:prstGeom prst="roundRect">
            <a:avLst>
              <a:gd name="adj" fmla="val 19230"/>
            </a:avLst>
          </a:prstGeom>
          <a:solidFill>
            <a:srgbClr val="39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2676525" y="4552950"/>
            <a:ext cx="247649" cy="247649"/>
          </a:xfrm>
          <a:prstGeom prst="roundRect">
            <a:avLst>
              <a:gd name="adj" fmla="val 19230"/>
            </a:avLst>
          </a:prstGeom>
          <a:solidFill>
            <a:srgbClr val="39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3000375" y="4552950"/>
            <a:ext cx="247649" cy="247649"/>
          </a:xfrm>
          <a:prstGeom prst="roundRect">
            <a:avLst>
              <a:gd name="adj" fmla="val 19230"/>
            </a:avLst>
          </a:prstGeom>
          <a:solidFill>
            <a:srgbClr val="39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38200" y="5095875"/>
            <a:ext cx="3200400" cy="276225"/>
          </a:xfrm>
          <a:prstGeom prst="rect">
            <a:avLst/>
          </a:prstGeom>
          <a:noFill/>
        </p:spPr>
        <p:txBody>
          <a:bodyPr wrap="none" lIns="0" rIns="0" tIns="0" bIns="0" anchor="t"/>
          <a:lstStyle/>
          <a:p>
            <a:pPr algn="l">
              <a:lnSpc>
                <a:spcPts val="1565"/>
              </a:lnSpc>
              <a:spcBef>
                <a:spcPts val="0"/>
              </a:spcBef>
              <a:spcAft>
                <a:spcPts val="0"/>
              </a:spcAft>
            </a:pPr>
            <a:r>
              <a:rPr sz="1350" b="0">
                <a:solidFill>
                  <a:srgbClr val="64728B"/>
                </a:solidFill>
                <a:latin typeface="Arial"/>
              </a:rPr>
              <a:t>All records use the old schema.</a:t>
            </a:r>
          </a:p>
        </p:txBody>
      </p:sp>
      <p:sp>
        <p:nvSpPr>
          <p:cNvPr id="50" name="Rounded Rectangle 49"/>
          <p:cNvSpPr/>
          <p:nvPr/>
        </p:nvSpPr>
        <p:spPr>
          <a:xfrm>
            <a:off x="5772150" y="2819400"/>
            <a:ext cx="3705224" cy="2686050"/>
          </a:xfrm>
          <a:prstGeom prst="roundRect">
            <a:avLst>
              <a:gd name="adj" fmla="val 7801"/>
            </a:avLst>
          </a:prstGeom>
          <a:solidFill>
            <a:srgbClr val="E7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5762625" y="2752725"/>
            <a:ext cx="3705224" cy="2686050"/>
          </a:xfrm>
          <a:prstGeom prst="roundRect">
            <a:avLst>
              <a:gd name="adj" fmla="val 7801"/>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6000750" y="2962275"/>
            <a:ext cx="1200150" cy="371475"/>
          </a:xfrm>
          <a:prstGeom prst="roundRect">
            <a:avLst>
              <a:gd name="adj" fmla="val 45000"/>
            </a:avLst>
          </a:prstGeom>
          <a:solidFill>
            <a:srgbClr val="FFF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115050" y="3048000"/>
            <a:ext cx="971550" cy="247649"/>
          </a:xfrm>
          <a:prstGeom prst="rect">
            <a:avLst/>
          </a:prstGeom>
          <a:noFill/>
        </p:spPr>
        <p:txBody>
          <a:bodyPr wrap="none" lIns="0" rIns="0" tIns="0" bIns="0" anchor="t"/>
          <a:lstStyle/>
          <a:p>
            <a:pPr algn="ctr">
              <a:lnSpc>
                <a:spcPts val="1391"/>
              </a:lnSpc>
              <a:spcBef>
                <a:spcPts val="0"/>
              </a:spcBef>
              <a:spcAft>
                <a:spcPts val="0"/>
              </a:spcAft>
            </a:pPr>
            <a:r>
              <a:rPr sz="1200" b="1">
                <a:solidFill>
                  <a:srgbClr val="D99528"/>
                </a:solidFill>
                <a:latin typeface="Arial"/>
              </a:rPr>
              <a:t>FAILURE</a:t>
            </a:r>
          </a:p>
        </p:txBody>
      </p:sp>
      <p:sp>
        <p:nvSpPr>
          <p:cNvPr id="54" name="TextBox 53"/>
          <p:cNvSpPr txBox="1"/>
          <p:nvPr/>
        </p:nvSpPr>
        <p:spPr>
          <a:xfrm>
            <a:off x="6000750" y="3562350"/>
            <a:ext cx="3238500" cy="381000"/>
          </a:xfrm>
          <a:prstGeom prst="rect">
            <a:avLst/>
          </a:prstGeom>
          <a:noFill/>
        </p:spPr>
        <p:txBody>
          <a:bodyPr wrap="none" lIns="0" rIns="0" tIns="0" bIns="0" anchor="t"/>
          <a:lstStyle/>
          <a:p>
            <a:pPr algn="l">
              <a:lnSpc>
                <a:spcPts val="2436"/>
              </a:lnSpc>
              <a:spcBef>
                <a:spcPts val="0"/>
              </a:spcBef>
              <a:spcAft>
                <a:spcPts val="0"/>
              </a:spcAft>
            </a:pPr>
            <a:r>
              <a:rPr sz="2100" b="1">
                <a:solidFill>
                  <a:srgbClr val="172540"/>
                </a:solidFill>
                <a:latin typeface="Arial"/>
              </a:rPr>
              <a:t>Partially migrated</a:t>
            </a:r>
          </a:p>
        </p:txBody>
      </p:sp>
      <p:grpSp>
        <p:nvGrpSpPr>
          <p:cNvPr id="82" name="Group 81"/>
          <p:cNvGrpSpPr/>
          <p:nvPr/>
        </p:nvGrpSpPr>
        <p:grpSpPr>
          <a:xfrm>
            <a:off x="6121598" y="4288780"/>
            <a:ext cx="434578" cy="510629"/>
            <a:chOff x="6121598" y="4288780"/>
            <a:chExt cx="434578" cy="510629"/>
          </a:xfrm>
        </p:grpSpPr>
        <p:cxnSp>
          <p:nvCxnSpPr>
            <p:cNvPr id="55" name="Connector 54"/>
            <p:cNvCxnSpPr/>
            <p:nvPr/>
          </p:nvCxnSpPr>
          <p:spPr>
            <a:xfrm>
              <a:off x="6121598" y="4375695"/>
              <a:ext cx="0" cy="325934"/>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6556176" y="4375695"/>
              <a:ext cx="0" cy="325934"/>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6121598" y="4288780"/>
              <a:ext cx="434578" cy="173831"/>
            </a:xfrm>
            <a:prstGeom prst="ellipse">
              <a:avLst/>
            </a:prstGeom>
            <a:noFill/>
            <a:ln w="29334">
              <a:solidFill>
                <a:srgbClr val="D99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flipH="1">
              <a:off x="6548772" y="4625578"/>
              <a:ext cx="7404" cy="22495"/>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6527065" y="4648073"/>
              <a:ext cx="21707" cy="20962"/>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6492534" y="4669035"/>
              <a:ext cx="34531" cy="18001"/>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6447532" y="4687036"/>
              <a:ext cx="45002" cy="13813"/>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6395126" y="4700849"/>
              <a:ext cx="52406" cy="8683"/>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6338887" y="4709532"/>
              <a:ext cx="56239" cy="2961"/>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6282648" y="4709532"/>
              <a:ext cx="56239" cy="2961"/>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6230242" y="4700849"/>
              <a:ext cx="52406" cy="8683"/>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6185240" y="4687036"/>
              <a:ext cx="45002" cy="13813"/>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6150709" y="4669035"/>
              <a:ext cx="34531" cy="18001"/>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6129002" y="4648073"/>
              <a:ext cx="21707" cy="20962"/>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6121598" y="4625578"/>
              <a:ext cx="7404" cy="22495"/>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6548772" y="4712493"/>
              <a:ext cx="7404" cy="22496"/>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6527065" y="4734989"/>
              <a:ext cx="21707" cy="20962"/>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6492534" y="4755951"/>
              <a:ext cx="34531" cy="18001"/>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6447532" y="4773952"/>
              <a:ext cx="45002" cy="13812"/>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6395126" y="4787764"/>
              <a:ext cx="52406" cy="8683"/>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6338887" y="4796447"/>
              <a:ext cx="56239" cy="2962"/>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flipV="1">
              <a:off x="6282648" y="4796447"/>
              <a:ext cx="56239" cy="2962"/>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flipV="1">
              <a:off x="6230242" y="4787764"/>
              <a:ext cx="52406" cy="8683"/>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flipV="1">
              <a:off x="6185240" y="4773952"/>
              <a:ext cx="45002" cy="13812"/>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flipV="1">
              <a:off x="6150709" y="4755951"/>
              <a:ext cx="34531" cy="18001"/>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flipV="1">
              <a:off x="6129002" y="4734989"/>
              <a:ext cx="21707" cy="20962"/>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flipV="1">
              <a:off x="6121598" y="4712493"/>
              <a:ext cx="7404" cy="22496"/>
            </a:xfrm>
            <a:prstGeom prst="line">
              <a:avLst/>
            </a:prstGeom>
            <a:ln w="29334">
              <a:solidFill>
                <a:srgbClr val="D99528"/>
              </a:solidFill>
            </a:ln>
          </p:spPr>
          <p:style>
            <a:lnRef idx="2">
              <a:schemeClr val="accent1"/>
            </a:lnRef>
            <a:fillRef idx="0">
              <a:schemeClr val="accent1"/>
            </a:fillRef>
            <a:effectRef idx="1">
              <a:schemeClr val="accent1"/>
            </a:effectRef>
            <a:fontRef idx="minor">
              <a:schemeClr val="tx1"/>
            </a:fontRef>
          </p:style>
        </p:cxnSp>
      </p:grpSp>
      <p:sp>
        <p:nvSpPr>
          <p:cNvPr id="83" name="Rounded Rectangle 82"/>
          <p:cNvSpPr/>
          <p:nvPr/>
        </p:nvSpPr>
        <p:spPr>
          <a:xfrm>
            <a:off x="7200900" y="4229100"/>
            <a:ext cx="247649" cy="247649"/>
          </a:xfrm>
          <a:prstGeom prst="roundRect">
            <a:avLst>
              <a:gd name="adj" fmla="val 19230"/>
            </a:avLst>
          </a:prstGeom>
          <a:solidFill>
            <a:srgbClr val="0B9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ounded Rectangle 83"/>
          <p:cNvSpPr/>
          <p:nvPr/>
        </p:nvSpPr>
        <p:spPr>
          <a:xfrm>
            <a:off x="7524749" y="4229100"/>
            <a:ext cx="247649" cy="247649"/>
          </a:xfrm>
          <a:prstGeom prst="roundRect">
            <a:avLst>
              <a:gd name="adj" fmla="val 19230"/>
            </a:avLst>
          </a:prstGeom>
          <a:solidFill>
            <a:srgbClr val="0B9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7848600" y="4229100"/>
            <a:ext cx="247649" cy="247649"/>
          </a:xfrm>
          <a:prstGeom prst="roundRect">
            <a:avLst>
              <a:gd name="adj" fmla="val 19230"/>
            </a:avLst>
          </a:prstGeom>
          <a:solidFill>
            <a:srgbClr val="0B9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8172450" y="4229100"/>
            <a:ext cx="247649" cy="247649"/>
          </a:xfrm>
          <a:prstGeom prst="roundRect">
            <a:avLst>
              <a:gd name="adj" fmla="val 19230"/>
            </a:avLst>
          </a:prstGeom>
          <a:solidFill>
            <a:srgbClr val="0B9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ounded Rectangle 86"/>
          <p:cNvSpPr/>
          <p:nvPr/>
        </p:nvSpPr>
        <p:spPr>
          <a:xfrm>
            <a:off x="7200900" y="4552950"/>
            <a:ext cx="247649" cy="247649"/>
          </a:xfrm>
          <a:prstGeom prst="roundRect">
            <a:avLst>
              <a:gd name="adj" fmla="val 19230"/>
            </a:avLst>
          </a:prstGeom>
          <a:solidFill>
            <a:srgbClr val="D99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ounded Rectangle 87"/>
          <p:cNvSpPr/>
          <p:nvPr/>
        </p:nvSpPr>
        <p:spPr>
          <a:xfrm>
            <a:off x="7524749" y="4552950"/>
            <a:ext cx="247649" cy="247649"/>
          </a:xfrm>
          <a:prstGeom prst="roundRect">
            <a:avLst>
              <a:gd name="adj" fmla="val 19230"/>
            </a:avLst>
          </a:prstGeom>
          <a:solidFill>
            <a:srgbClr val="D99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ounded Rectangle 88"/>
          <p:cNvSpPr/>
          <p:nvPr/>
        </p:nvSpPr>
        <p:spPr>
          <a:xfrm>
            <a:off x="7848600" y="4552950"/>
            <a:ext cx="247649" cy="247649"/>
          </a:xfrm>
          <a:prstGeom prst="roundRect">
            <a:avLst>
              <a:gd name="adj" fmla="val 19230"/>
            </a:avLst>
          </a:prstGeom>
          <a:solidFill>
            <a:srgbClr val="D99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Rounded Rectangle 89"/>
          <p:cNvSpPr/>
          <p:nvPr/>
        </p:nvSpPr>
        <p:spPr>
          <a:xfrm>
            <a:off x="8172450" y="4552950"/>
            <a:ext cx="247649" cy="247649"/>
          </a:xfrm>
          <a:prstGeom prst="roundRect">
            <a:avLst>
              <a:gd name="adj" fmla="val 19230"/>
            </a:avLst>
          </a:prstGeom>
          <a:solidFill>
            <a:srgbClr val="D99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010275" y="5095875"/>
            <a:ext cx="3200400" cy="276225"/>
          </a:xfrm>
          <a:prstGeom prst="rect">
            <a:avLst/>
          </a:prstGeom>
          <a:noFill/>
        </p:spPr>
        <p:txBody>
          <a:bodyPr wrap="none" lIns="0" rIns="0" tIns="0" bIns="0" anchor="t"/>
          <a:lstStyle/>
          <a:p>
            <a:pPr algn="l">
              <a:lnSpc>
                <a:spcPts val="1565"/>
              </a:lnSpc>
              <a:spcBef>
                <a:spcPts val="0"/>
              </a:spcBef>
              <a:spcAft>
                <a:spcPts val="0"/>
              </a:spcAft>
            </a:pPr>
            <a:r>
              <a:rPr sz="1350" b="0">
                <a:solidFill>
                  <a:srgbClr val="64728B"/>
                </a:solidFill>
                <a:latin typeface="Arial"/>
              </a:rPr>
              <a:t>Reads encounter mixed state.</a:t>
            </a:r>
          </a:p>
        </p:txBody>
      </p:sp>
      <p:sp>
        <p:nvSpPr>
          <p:cNvPr id="92" name="Rounded Rectangle 91"/>
          <p:cNvSpPr/>
          <p:nvPr/>
        </p:nvSpPr>
        <p:spPr>
          <a:xfrm>
            <a:off x="10944225" y="2819400"/>
            <a:ext cx="3705224" cy="2686050"/>
          </a:xfrm>
          <a:prstGeom prst="roundRect">
            <a:avLst>
              <a:gd name="adj" fmla="val 7801"/>
            </a:avLst>
          </a:prstGeom>
          <a:solidFill>
            <a:srgbClr val="E7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ounded Rectangle 92"/>
          <p:cNvSpPr/>
          <p:nvPr/>
        </p:nvSpPr>
        <p:spPr>
          <a:xfrm>
            <a:off x="10934700" y="2752725"/>
            <a:ext cx="3705224" cy="2686050"/>
          </a:xfrm>
          <a:prstGeom prst="roundRect">
            <a:avLst>
              <a:gd name="adj" fmla="val 7801"/>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11172825" y="2962275"/>
            <a:ext cx="1200150" cy="371475"/>
          </a:xfrm>
          <a:prstGeom prst="roundRect">
            <a:avLst>
              <a:gd name="adj" fmla="val 45000"/>
            </a:avLst>
          </a:prstGeom>
          <a:solidFill>
            <a:srgbClr val="E5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1287125" y="3048000"/>
            <a:ext cx="971550" cy="247649"/>
          </a:xfrm>
          <a:prstGeom prst="rect">
            <a:avLst/>
          </a:prstGeom>
          <a:noFill/>
        </p:spPr>
        <p:txBody>
          <a:bodyPr wrap="none" lIns="0" rIns="0" tIns="0" bIns="0" anchor="t"/>
          <a:lstStyle/>
          <a:p>
            <a:pPr algn="ctr">
              <a:lnSpc>
                <a:spcPts val="1391"/>
              </a:lnSpc>
              <a:spcBef>
                <a:spcPts val="0"/>
              </a:spcBef>
              <a:spcAft>
                <a:spcPts val="0"/>
              </a:spcAft>
            </a:pPr>
            <a:r>
              <a:rPr sz="1200" b="1">
                <a:solidFill>
                  <a:srgbClr val="0B9696"/>
                </a:solidFill>
                <a:latin typeface="Arial"/>
              </a:rPr>
              <a:t>AFTER</a:t>
            </a:r>
          </a:p>
        </p:txBody>
      </p:sp>
      <p:sp>
        <p:nvSpPr>
          <p:cNvPr id="96" name="TextBox 95"/>
          <p:cNvSpPr txBox="1"/>
          <p:nvPr/>
        </p:nvSpPr>
        <p:spPr>
          <a:xfrm>
            <a:off x="11172825" y="3562350"/>
            <a:ext cx="3238500" cy="381000"/>
          </a:xfrm>
          <a:prstGeom prst="rect">
            <a:avLst/>
          </a:prstGeom>
          <a:noFill/>
        </p:spPr>
        <p:txBody>
          <a:bodyPr wrap="none" lIns="0" rIns="0" tIns="0" bIns="0" anchor="t"/>
          <a:lstStyle/>
          <a:p>
            <a:pPr algn="l">
              <a:lnSpc>
                <a:spcPts val="2436"/>
              </a:lnSpc>
              <a:spcBef>
                <a:spcPts val="0"/>
              </a:spcBef>
              <a:spcAft>
                <a:spcPts val="0"/>
              </a:spcAft>
            </a:pPr>
            <a:r>
              <a:rPr sz="2100" b="1">
                <a:solidFill>
                  <a:srgbClr val="172540"/>
                </a:solidFill>
                <a:latin typeface="Arial"/>
              </a:rPr>
              <a:t>Consistent state</a:t>
            </a:r>
          </a:p>
        </p:txBody>
      </p:sp>
      <p:grpSp>
        <p:nvGrpSpPr>
          <p:cNvPr id="124" name="Group 123"/>
          <p:cNvGrpSpPr/>
          <p:nvPr/>
        </p:nvGrpSpPr>
        <p:grpSpPr>
          <a:xfrm>
            <a:off x="11293673" y="4288780"/>
            <a:ext cx="434578" cy="510629"/>
            <a:chOff x="11293673" y="4288780"/>
            <a:chExt cx="434578" cy="510629"/>
          </a:xfrm>
        </p:grpSpPr>
        <p:cxnSp>
          <p:nvCxnSpPr>
            <p:cNvPr id="97" name="Connector 96"/>
            <p:cNvCxnSpPr/>
            <p:nvPr/>
          </p:nvCxnSpPr>
          <p:spPr>
            <a:xfrm>
              <a:off x="11293673" y="4375695"/>
              <a:ext cx="0" cy="325934"/>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11728251" y="4375695"/>
              <a:ext cx="0" cy="325934"/>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sp>
          <p:nvSpPr>
            <p:cNvPr id="99" name="Oval 98"/>
            <p:cNvSpPr/>
            <p:nvPr/>
          </p:nvSpPr>
          <p:spPr>
            <a:xfrm>
              <a:off x="11293673" y="4288780"/>
              <a:ext cx="434578" cy="173831"/>
            </a:xfrm>
            <a:prstGeom prst="ellipse">
              <a:avLst/>
            </a:prstGeom>
            <a:noFill/>
            <a:ln w="29334">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0" name="Connector 99"/>
            <p:cNvCxnSpPr/>
            <p:nvPr/>
          </p:nvCxnSpPr>
          <p:spPr>
            <a:xfrm flipH="1">
              <a:off x="11720847" y="4625578"/>
              <a:ext cx="7404" cy="22495"/>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a:off x="11699140" y="4648073"/>
              <a:ext cx="21707" cy="20962"/>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a:off x="11664609" y="4669035"/>
              <a:ext cx="34531" cy="18001"/>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a:off x="11619607" y="4687036"/>
              <a:ext cx="45002" cy="13813"/>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a:off x="11567201" y="4700849"/>
              <a:ext cx="52406" cy="8683"/>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a:off x="11510962" y="4709532"/>
              <a:ext cx="56239" cy="2961"/>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flipV="1">
              <a:off x="11454723" y="4709532"/>
              <a:ext cx="56239" cy="2961"/>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flipV="1">
              <a:off x="11402317" y="4700849"/>
              <a:ext cx="52406" cy="8683"/>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11357315" y="4687036"/>
              <a:ext cx="45002" cy="13813"/>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11322784" y="4669035"/>
              <a:ext cx="34531" cy="18001"/>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11301077" y="4648073"/>
              <a:ext cx="21707" cy="20962"/>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11293673" y="4625578"/>
              <a:ext cx="7404" cy="22495"/>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a:off x="11720847" y="4712493"/>
              <a:ext cx="7404" cy="22496"/>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a:off x="11699140" y="4734989"/>
              <a:ext cx="21707" cy="20962"/>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a:off x="11664609" y="4755951"/>
              <a:ext cx="34531" cy="18001"/>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a:off x="11619607" y="4773952"/>
              <a:ext cx="45002" cy="13812"/>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a:off x="11567201" y="4787764"/>
              <a:ext cx="52406" cy="8683"/>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a:off x="11510962" y="4796447"/>
              <a:ext cx="56239" cy="2962"/>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H="1" flipV="1">
              <a:off x="11454723" y="4796447"/>
              <a:ext cx="56239" cy="2962"/>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H="1" flipV="1">
              <a:off x="11402317" y="4787764"/>
              <a:ext cx="52406" cy="8683"/>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H="1" flipV="1">
              <a:off x="11357315" y="4773952"/>
              <a:ext cx="45002" cy="13812"/>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H="1" flipV="1">
              <a:off x="11322784" y="4755951"/>
              <a:ext cx="34531" cy="18001"/>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H="1" flipV="1">
              <a:off x="11301077" y="4734989"/>
              <a:ext cx="21707" cy="20962"/>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H="1" flipV="1">
              <a:off x="11293673" y="4712493"/>
              <a:ext cx="7404" cy="22496"/>
            </a:xfrm>
            <a:prstGeom prst="line">
              <a:avLst/>
            </a:prstGeom>
            <a:ln w="29334">
              <a:solidFill>
                <a:srgbClr val="0B9696"/>
              </a:solidFill>
            </a:ln>
          </p:spPr>
          <p:style>
            <a:lnRef idx="2">
              <a:schemeClr val="accent1"/>
            </a:lnRef>
            <a:fillRef idx="0">
              <a:schemeClr val="accent1"/>
            </a:fillRef>
            <a:effectRef idx="1">
              <a:schemeClr val="accent1"/>
            </a:effectRef>
            <a:fontRef idx="minor">
              <a:schemeClr val="tx1"/>
            </a:fontRef>
          </p:style>
        </p:cxnSp>
      </p:grpSp>
      <p:sp>
        <p:nvSpPr>
          <p:cNvPr id="125" name="Rounded Rectangle 124"/>
          <p:cNvSpPr/>
          <p:nvPr/>
        </p:nvSpPr>
        <p:spPr>
          <a:xfrm>
            <a:off x="12372975" y="4229100"/>
            <a:ext cx="247649" cy="247649"/>
          </a:xfrm>
          <a:prstGeom prst="roundRect">
            <a:avLst>
              <a:gd name="adj" fmla="val 19230"/>
            </a:avLst>
          </a:prstGeom>
          <a:solidFill>
            <a:srgbClr val="0B9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Rounded Rectangle 125"/>
          <p:cNvSpPr/>
          <p:nvPr/>
        </p:nvSpPr>
        <p:spPr>
          <a:xfrm>
            <a:off x="12696825" y="4229100"/>
            <a:ext cx="247649" cy="247649"/>
          </a:xfrm>
          <a:prstGeom prst="roundRect">
            <a:avLst>
              <a:gd name="adj" fmla="val 19230"/>
            </a:avLst>
          </a:prstGeom>
          <a:solidFill>
            <a:srgbClr val="0B9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Rounded Rectangle 126"/>
          <p:cNvSpPr/>
          <p:nvPr/>
        </p:nvSpPr>
        <p:spPr>
          <a:xfrm>
            <a:off x="13020675" y="4229100"/>
            <a:ext cx="247649" cy="247649"/>
          </a:xfrm>
          <a:prstGeom prst="roundRect">
            <a:avLst>
              <a:gd name="adj" fmla="val 19230"/>
            </a:avLst>
          </a:prstGeom>
          <a:solidFill>
            <a:srgbClr val="0B9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Rounded Rectangle 127"/>
          <p:cNvSpPr/>
          <p:nvPr/>
        </p:nvSpPr>
        <p:spPr>
          <a:xfrm>
            <a:off x="13344525" y="4229100"/>
            <a:ext cx="247649" cy="247649"/>
          </a:xfrm>
          <a:prstGeom prst="roundRect">
            <a:avLst>
              <a:gd name="adj" fmla="val 19230"/>
            </a:avLst>
          </a:prstGeom>
          <a:solidFill>
            <a:srgbClr val="0B9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Rounded Rectangle 128"/>
          <p:cNvSpPr/>
          <p:nvPr/>
        </p:nvSpPr>
        <p:spPr>
          <a:xfrm>
            <a:off x="12372975" y="4552950"/>
            <a:ext cx="247649" cy="247649"/>
          </a:xfrm>
          <a:prstGeom prst="roundRect">
            <a:avLst>
              <a:gd name="adj" fmla="val 19230"/>
            </a:avLst>
          </a:prstGeom>
          <a:solidFill>
            <a:srgbClr val="0B9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Rounded Rectangle 129"/>
          <p:cNvSpPr/>
          <p:nvPr/>
        </p:nvSpPr>
        <p:spPr>
          <a:xfrm>
            <a:off x="12696825" y="4552950"/>
            <a:ext cx="247649" cy="247649"/>
          </a:xfrm>
          <a:prstGeom prst="roundRect">
            <a:avLst>
              <a:gd name="adj" fmla="val 19230"/>
            </a:avLst>
          </a:prstGeom>
          <a:solidFill>
            <a:srgbClr val="0B9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Rounded Rectangle 130"/>
          <p:cNvSpPr/>
          <p:nvPr/>
        </p:nvSpPr>
        <p:spPr>
          <a:xfrm>
            <a:off x="13020675" y="4552950"/>
            <a:ext cx="247649" cy="247649"/>
          </a:xfrm>
          <a:prstGeom prst="roundRect">
            <a:avLst>
              <a:gd name="adj" fmla="val 19230"/>
            </a:avLst>
          </a:prstGeom>
          <a:solidFill>
            <a:srgbClr val="0B9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ounded Rectangle 131"/>
          <p:cNvSpPr/>
          <p:nvPr/>
        </p:nvSpPr>
        <p:spPr>
          <a:xfrm>
            <a:off x="13344525" y="4552950"/>
            <a:ext cx="247649" cy="247649"/>
          </a:xfrm>
          <a:prstGeom prst="roundRect">
            <a:avLst>
              <a:gd name="adj" fmla="val 19230"/>
            </a:avLst>
          </a:prstGeom>
          <a:solidFill>
            <a:srgbClr val="0B9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1182350" y="5095875"/>
            <a:ext cx="3200400" cy="276225"/>
          </a:xfrm>
          <a:prstGeom prst="rect">
            <a:avLst/>
          </a:prstGeom>
          <a:noFill/>
        </p:spPr>
        <p:txBody>
          <a:bodyPr wrap="none" lIns="0" rIns="0" tIns="0" bIns="0" anchor="t"/>
          <a:lstStyle/>
          <a:p>
            <a:pPr algn="l">
              <a:lnSpc>
                <a:spcPts val="1565"/>
              </a:lnSpc>
              <a:spcBef>
                <a:spcPts val="0"/>
              </a:spcBef>
              <a:spcAft>
                <a:spcPts val="0"/>
              </a:spcAft>
            </a:pPr>
            <a:r>
              <a:rPr sz="1350" b="0">
                <a:solidFill>
                  <a:srgbClr val="64728B"/>
                </a:solidFill>
                <a:latin typeface="Arial"/>
              </a:rPr>
              <a:t>Reads work; data stays intact.</a:t>
            </a:r>
          </a:p>
        </p:txBody>
      </p:sp>
      <p:cxnSp>
        <p:nvCxnSpPr>
          <p:cNvPr id="134" name="Connector 133"/>
          <p:cNvCxnSpPr/>
          <p:nvPr/>
        </p:nvCxnSpPr>
        <p:spPr>
          <a:xfrm>
            <a:off x="4419600" y="4095750"/>
            <a:ext cx="1209675" cy="0"/>
          </a:xfrm>
          <a:prstGeom prst="line">
            <a:avLst/>
          </a:prstGeom>
          <a:ln w="38100">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H="1">
            <a:off x="5528967" y="4095750"/>
            <a:ext cx="100308" cy="54798"/>
          </a:xfrm>
          <a:prstGeom prst="line">
            <a:avLst/>
          </a:prstGeom>
          <a:ln w="38100">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H="1" flipV="1">
            <a:off x="5528967" y="4040951"/>
            <a:ext cx="100308" cy="54799"/>
          </a:xfrm>
          <a:prstGeom prst="line">
            <a:avLst/>
          </a:prstGeom>
          <a:ln w="38100">
            <a:solidFill>
              <a:srgbClr val="D99528"/>
            </a:solidFill>
          </a:ln>
        </p:spPr>
        <p:style>
          <a:lnRef idx="2">
            <a:schemeClr val="accent1"/>
          </a:lnRef>
          <a:fillRef idx="0">
            <a:schemeClr val="accent1"/>
          </a:fillRef>
          <a:effectRef idx="1">
            <a:schemeClr val="accent1"/>
          </a:effectRef>
          <a:fontRef idx="minor">
            <a:schemeClr val="tx1"/>
          </a:fontRef>
        </p:style>
      </p:cxnSp>
      <p:grpSp>
        <p:nvGrpSpPr>
          <p:cNvPr id="147" name="Group 146"/>
          <p:cNvGrpSpPr/>
          <p:nvPr/>
        </p:nvGrpSpPr>
        <p:grpSpPr>
          <a:xfrm>
            <a:off x="4829472" y="3355925"/>
            <a:ext cx="294680" cy="301376"/>
            <a:chOff x="4829472" y="3355925"/>
            <a:chExt cx="294680" cy="301376"/>
          </a:xfrm>
        </p:grpSpPr>
        <p:sp>
          <p:nvSpPr>
            <p:cNvPr id="137" name="Rounded Rectangle 136"/>
            <p:cNvSpPr/>
            <p:nvPr/>
          </p:nvSpPr>
          <p:spPr>
            <a:xfrm>
              <a:off x="4896445" y="3409503"/>
              <a:ext cx="160734" cy="247798"/>
            </a:xfrm>
            <a:prstGeom prst="roundRect">
              <a:avLst>
                <a:gd name="adj" fmla="val 45000"/>
              </a:avLst>
            </a:prstGeom>
            <a:noFill/>
            <a:ln w="18082">
              <a:solidFill>
                <a:srgbClr val="D99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8" name="Connector 137"/>
            <p:cNvCxnSpPr/>
            <p:nvPr/>
          </p:nvCxnSpPr>
          <p:spPr>
            <a:xfrm flipH="1" flipV="1">
              <a:off x="4909839" y="3355925"/>
              <a:ext cx="26789" cy="53578"/>
            </a:xfrm>
            <a:prstGeom prst="line">
              <a:avLst/>
            </a:prstGeom>
            <a:ln w="18082">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5016996" y="3355925"/>
              <a:ext cx="26789" cy="53578"/>
            </a:xfrm>
            <a:prstGeom prst="line">
              <a:avLst/>
            </a:prstGeom>
            <a:ln w="18082">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4976812" y="3436292"/>
              <a:ext cx="0" cy="194221"/>
            </a:xfrm>
            <a:prstGeom prst="line">
              <a:avLst/>
            </a:prstGeom>
            <a:ln w="18082">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a:off x="4829472" y="3436292"/>
              <a:ext cx="66973" cy="26789"/>
            </a:xfrm>
            <a:prstGeom prst="line">
              <a:avLst/>
            </a:prstGeom>
            <a:ln w="18082">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5057179" y="3436292"/>
              <a:ext cx="66973" cy="26789"/>
            </a:xfrm>
            <a:prstGeom prst="line">
              <a:avLst/>
            </a:prstGeom>
            <a:ln w="18082">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a:off x="4829472" y="3503265"/>
              <a:ext cx="66973" cy="26789"/>
            </a:xfrm>
            <a:prstGeom prst="line">
              <a:avLst/>
            </a:prstGeom>
            <a:ln w="18082">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5057179" y="3503265"/>
              <a:ext cx="66973" cy="26789"/>
            </a:xfrm>
            <a:prstGeom prst="line">
              <a:avLst/>
            </a:prstGeom>
            <a:ln w="18082">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a:off x="4829472" y="3570237"/>
              <a:ext cx="66973" cy="26789"/>
            </a:xfrm>
            <a:prstGeom prst="line">
              <a:avLst/>
            </a:prstGeom>
            <a:ln w="18082">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5057179" y="3570237"/>
              <a:ext cx="66973" cy="26789"/>
            </a:xfrm>
            <a:prstGeom prst="line">
              <a:avLst/>
            </a:prstGeom>
            <a:ln w="18082">
              <a:solidFill>
                <a:srgbClr val="D99528"/>
              </a:solidFill>
            </a:ln>
          </p:spPr>
          <p:style>
            <a:lnRef idx="2">
              <a:schemeClr val="accent1"/>
            </a:lnRef>
            <a:fillRef idx="0">
              <a:schemeClr val="accent1"/>
            </a:fillRef>
            <a:effectRef idx="1">
              <a:schemeClr val="accent1"/>
            </a:effectRef>
            <a:fontRef idx="minor">
              <a:schemeClr val="tx1"/>
            </a:fontRef>
          </p:style>
        </p:cxnSp>
      </p:grpSp>
      <p:sp>
        <p:nvSpPr>
          <p:cNvPr id="148" name="TextBox 147"/>
          <p:cNvSpPr txBox="1"/>
          <p:nvPr/>
        </p:nvSpPr>
        <p:spPr>
          <a:xfrm>
            <a:off x="4362450" y="4667250"/>
            <a:ext cx="1304925" cy="285750"/>
          </a:xfrm>
          <a:prstGeom prst="rect">
            <a:avLst/>
          </a:prstGeom>
          <a:noFill/>
        </p:spPr>
        <p:txBody>
          <a:bodyPr wrap="none" lIns="0" rIns="0" tIns="0" bIns="0" anchor="t"/>
          <a:lstStyle/>
          <a:p>
            <a:pPr algn="ctr">
              <a:lnSpc>
                <a:spcPts val="1739"/>
              </a:lnSpc>
              <a:spcBef>
                <a:spcPts val="0"/>
              </a:spcBef>
              <a:spcAft>
                <a:spcPts val="0"/>
              </a:spcAft>
            </a:pPr>
            <a:r>
              <a:rPr sz="1500" b="1">
                <a:solidFill>
                  <a:srgbClr val="D99528"/>
                </a:solidFill>
                <a:latin typeface="Arial"/>
              </a:rPr>
              <a:t>interrupt</a:t>
            </a:r>
          </a:p>
        </p:txBody>
      </p:sp>
      <p:cxnSp>
        <p:nvCxnSpPr>
          <p:cNvPr id="149" name="Connector 148"/>
          <p:cNvCxnSpPr/>
          <p:nvPr/>
        </p:nvCxnSpPr>
        <p:spPr>
          <a:xfrm>
            <a:off x="7620000" y="5543550"/>
            <a:ext cx="0" cy="447675"/>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H="1" flipV="1">
            <a:off x="7565201" y="5890917"/>
            <a:ext cx="54799" cy="100308"/>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7620000" y="5890917"/>
            <a:ext cx="54798" cy="100308"/>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8839200" y="6543675"/>
            <a:ext cx="1581150" cy="0"/>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10420350" y="4095750"/>
            <a:ext cx="0" cy="2447925"/>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10420350" y="4095750"/>
            <a:ext cx="400050" cy="0"/>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H="1">
            <a:off x="10720092" y="4095750"/>
            <a:ext cx="100308" cy="54798"/>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H="1" flipV="1">
            <a:off x="10720092" y="4040951"/>
            <a:ext cx="100308" cy="54799"/>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sp>
        <p:nvSpPr>
          <p:cNvPr id="157" name="Rounded Rectangle 156"/>
          <p:cNvSpPr/>
          <p:nvPr/>
        </p:nvSpPr>
        <p:spPr>
          <a:xfrm>
            <a:off x="6391275" y="6115050"/>
            <a:ext cx="2457450" cy="1228725"/>
          </a:xfrm>
          <a:prstGeom prst="roundRect">
            <a:avLst>
              <a:gd name="adj" fmla="val 13953"/>
            </a:avLst>
          </a:prstGeom>
          <a:solidFill>
            <a:srgbClr val="E5F5F2"/>
          </a:solidFill>
          <a:ln w="12382">
            <a:solidFill>
              <a:srgbClr val="B7E4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65" name="Group 164"/>
          <p:cNvGrpSpPr/>
          <p:nvPr/>
        </p:nvGrpSpPr>
        <p:grpSpPr>
          <a:xfrm>
            <a:off x="6689526" y="6518076"/>
            <a:ext cx="348258" cy="348257"/>
            <a:chOff x="6689526" y="6518076"/>
            <a:chExt cx="348258" cy="348257"/>
          </a:xfrm>
        </p:grpSpPr>
        <p:sp>
          <p:nvSpPr>
            <p:cNvPr id="158" name="Oval 157"/>
            <p:cNvSpPr/>
            <p:nvPr/>
          </p:nvSpPr>
          <p:spPr>
            <a:xfrm>
              <a:off x="6689526" y="6518076"/>
              <a:ext cx="123824" cy="123824"/>
            </a:xfrm>
            <a:prstGeom prst="ellipse">
              <a:avLst/>
            </a:prstGeom>
            <a:noFill/>
            <a:ln w="20895">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 name="Oval 158"/>
            <p:cNvSpPr/>
            <p:nvPr/>
          </p:nvSpPr>
          <p:spPr>
            <a:xfrm>
              <a:off x="6913959" y="6742509"/>
              <a:ext cx="123824" cy="123824"/>
            </a:xfrm>
            <a:prstGeom prst="ellipse">
              <a:avLst/>
            </a:prstGeom>
            <a:noFill/>
            <a:ln w="20895">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0" name="Connector 159"/>
            <p:cNvCxnSpPr/>
            <p:nvPr/>
          </p:nvCxnSpPr>
          <p:spPr>
            <a:xfrm>
              <a:off x="6790134" y="6618684"/>
              <a:ext cx="154781" cy="154781"/>
            </a:xfrm>
            <a:prstGeom prst="line">
              <a:avLst/>
            </a:prstGeom>
            <a:ln w="2089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6983610" y="6518076"/>
              <a:ext cx="54174" cy="54174"/>
            </a:xfrm>
            <a:prstGeom prst="line">
              <a:avLst/>
            </a:prstGeom>
            <a:ln w="2089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H="1">
              <a:off x="6766917" y="6572250"/>
              <a:ext cx="270867" cy="270867"/>
            </a:xfrm>
            <a:prstGeom prst="line">
              <a:avLst/>
            </a:prstGeom>
            <a:ln w="2089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H="1" flipV="1">
              <a:off x="6712743" y="6788943"/>
              <a:ext cx="54174" cy="54174"/>
            </a:xfrm>
            <a:prstGeom prst="line">
              <a:avLst/>
            </a:prstGeom>
            <a:ln w="2089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6712743" y="6518076"/>
              <a:ext cx="270867" cy="270867"/>
            </a:xfrm>
            <a:prstGeom prst="line">
              <a:avLst/>
            </a:prstGeom>
            <a:ln w="20895">
              <a:solidFill>
                <a:srgbClr val="0B9696"/>
              </a:solidFill>
            </a:ln>
          </p:spPr>
          <p:style>
            <a:lnRef idx="2">
              <a:schemeClr val="accent1"/>
            </a:lnRef>
            <a:fillRef idx="0">
              <a:schemeClr val="accent1"/>
            </a:fillRef>
            <a:effectRef idx="1">
              <a:schemeClr val="accent1"/>
            </a:effectRef>
            <a:fontRef idx="minor">
              <a:schemeClr val="tx1"/>
            </a:fontRef>
          </p:style>
        </p:cxnSp>
      </p:grpSp>
      <p:sp>
        <p:nvSpPr>
          <p:cNvPr id="166" name="TextBox 165"/>
          <p:cNvSpPr txBox="1"/>
          <p:nvPr/>
        </p:nvSpPr>
        <p:spPr>
          <a:xfrm>
            <a:off x="7296150" y="6410325"/>
            <a:ext cx="1381125" cy="609600"/>
          </a:xfrm>
          <a:prstGeom prst="rect">
            <a:avLst/>
          </a:prstGeom>
          <a:noFill/>
        </p:spPr>
        <p:txBody>
          <a:bodyPr wrap="none" lIns="0" rIns="0" tIns="0" bIns="0" anchor="t"/>
          <a:lstStyle/>
          <a:p>
            <a:pPr algn="l">
              <a:lnSpc>
                <a:spcPts val="2088"/>
              </a:lnSpc>
              <a:spcBef>
                <a:spcPts val="0"/>
              </a:spcBef>
              <a:spcAft>
                <a:spcPts val="0"/>
              </a:spcAft>
            </a:pPr>
            <a:r>
              <a:rPr sz="1800" b="1">
                <a:solidFill>
                  <a:srgbClr val="0B9696"/>
                </a:solidFill>
                <a:latin typeface="Arial"/>
              </a:rPr>
              <a:t>Repair or</a:t>
            </a:r>
          </a:p>
          <a:p>
            <a:pPr algn="l">
              <a:lnSpc>
                <a:spcPts val="2088"/>
              </a:lnSpc>
              <a:spcBef>
                <a:spcPts val="0"/>
              </a:spcBef>
              <a:spcAft>
                <a:spcPts val="0"/>
              </a:spcAft>
            </a:pPr>
            <a:r>
              <a:rPr sz="1800" b="1">
                <a:solidFill>
                  <a:srgbClr val="0B9696"/>
                </a:solidFill>
                <a:latin typeface="Arial"/>
              </a:rPr>
              <a:t>roll back</a:t>
            </a:r>
          </a:p>
        </p:txBody>
      </p:sp>
      <p:sp>
        <p:nvSpPr>
          <p:cNvPr id="167" name="TextBox 166"/>
          <p:cNvSpPr txBox="1"/>
          <p:nvPr/>
        </p:nvSpPr>
        <p:spPr>
          <a:xfrm>
            <a:off x="619125" y="6057900"/>
            <a:ext cx="4819650" cy="257175"/>
          </a:xfrm>
          <a:prstGeom prst="rect">
            <a:avLst/>
          </a:prstGeom>
          <a:noFill/>
        </p:spPr>
        <p:txBody>
          <a:bodyPr wrap="none" lIns="0" rIns="0" tIns="0" bIns="0" anchor="t"/>
          <a:lstStyle/>
          <a:p>
            <a:pPr algn="l">
              <a:lnSpc>
                <a:spcPts val="1391"/>
              </a:lnSpc>
              <a:spcBef>
                <a:spcPts val="0"/>
              </a:spcBef>
              <a:spcAft>
                <a:spcPts val="0"/>
              </a:spcAft>
            </a:pPr>
            <a:r>
              <a:rPr sz="1200" b="1">
                <a:solidFill>
                  <a:srgbClr val="3973F6"/>
                </a:solidFill>
                <a:latin typeface="Arial"/>
              </a:rPr>
              <a:t>THE ENGINEERING TASK</a:t>
            </a:r>
          </a:p>
        </p:txBody>
      </p:sp>
      <p:grpSp>
        <p:nvGrpSpPr>
          <p:cNvPr id="170" name="Group 169"/>
          <p:cNvGrpSpPr/>
          <p:nvPr/>
        </p:nvGrpSpPr>
        <p:grpSpPr>
          <a:xfrm>
            <a:off x="802778" y="6663928"/>
            <a:ext cx="354955" cy="362843"/>
            <a:chOff x="802778" y="6663928"/>
            <a:chExt cx="354955" cy="362843"/>
          </a:xfrm>
        </p:grpSpPr>
        <p:sp>
          <p:nvSpPr>
            <p:cNvPr id="168" name="Oval 167"/>
            <p:cNvSpPr/>
            <p:nvPr/>
          </p:nvSpPr>
          <p:spPr>
            <a:xfrm>
              <a:off x="802778" y="6663928"/>
              <a:ext cx="252412" cy="252412"/>
            </a:xfrm>
            <a:prstGeom prst="ellipse">
              <a:avLst/>
            </a:prstGeom>
            <a:noFill/>
            <a:ln w="21297">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9" name="Connector 168"/>
            <p:cNvCxnSpPr/>
            <p:nvPr/>
          </p:nvCxnSpPr>
          <p:spPr>
            <a:xfrm>
              <a:off x="1023639" y="6892676"/>
              <a:ext cx="134094" cy="134095"/>
            </a:xfrm>
            <a:prstGeom prst="line">
              <a:avLst/>
            </a:prstGeom>
            <a:ln w="21297">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171" name="TextBox 170"/>
          <p:cNvSpPr txBox="1"/>
          <p:nvPr/>
        </p:nvSpPr>
        <p:spPr>
          <a:xfrm>
            <a:off x="514350" y="7286625"/>
            <a:ext cx="1009650" cy="276225"/>
          </a:xfrm>
          <a:prstGeom prst="rect">
            <a:avLst/>
          </a:prstGeom>
          <a:noFill/>
        </p:spPr>
        <p:txBody>
          <a:bodyPr wrap="none" lIns="0" rIns="0" tIns="0" bIns="0" anchor="t"/>
          <a:lstStyle/>
          <a:p>
            <a:pPr algn="ctr">
              <a:lnSpc>
                <a:spcPts val="1652"/>
              </a:lnSpc>
              <a:spcBef>
                <a:spcPts val="0"/>
              </a:spcBef>
              <a:spcAft>
                <a:spcPts val="0"/>
              </a:spcAft>
            </a:pPr>
            <a:r>
              <a:rPr sz="1425" b="1">
                <a:solidFill>
                  <a:srgbClr val="172540"/>
                </a:solidFill>
                <a:latin typeface="Arial"/>
              </a:rPr>
              <a:t>Diagnose</a:t>
            </a:r>
          </a:p>
        </p:txBody>
      </p:sp>
      <p:grpSp>
        <p:nvGrpSpPr>
          <p:cNvPr id="179" name="Group 178"/>
          <p:cNvGrpSpPr/>
          <p:nvPr/>
        </p:nvGrpSpPr>
        <p:grpSpPr>
          <a:xfrm>
            <a:off x="2604641" y="6671816"/>
            <a:ext cx="354955" cy="354954"/>
            <a:chOff x="2604641" y="6671816"/>
            <a:chExt cx="354955" cy="354954"/>
          </a:xfrm>
        </p:grpSpPr>
        <p:sp>
          <p:nvSpPr>
            <p:cNvPr id="172" name="Oval 171"/>
            <p:cNvSpPr/>
            <p:nvPr/>
          </p:nvSpPr>
          <p:spPr>
            <a:xfrm>
              <a:off x="2604641" y="6671816"/>
              <a:ext cx="126206" cy="126206"/>
            </a:xfrm>
            <a:prstGeom prst="ellipse">
              <a:avLst/>
            </a:prstGeom>
            <a:noFill/>
            <a:ln w="21297">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Oval 172"/>
            <p:cNvSpPr/>
            <p:nvPr/>
          </p:nvSpPr>
          <p:spPr>
            <a:xfrm>
              <a:off x="2833389" y="6900564"/>
              <a:ext cx="126206" cy="126206"/>
            </a:xfrm>
            <a:prstGeom prst="ellipse">
              <a:avLst/>
            </a:prstGeom>
            <a:noFill/>
            <a:ln w="21297">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4" name="Connector 173"/>
            <p:cNvCxnSpPr/>
            <p:nvPr/>
          </p:nvCxnSpPr>
          <p:spPr>
            <a:xfrm>
              <a:off x="2707183" y="6774358"/>
              <a:ext cx="157758" cy="157758"/>
            </a:xfrm>
            <a:prstGeom prst="line">
              <a:avLst/>
            </a:prstGeom>
            <a:ln w="2129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a:off x="2904380" y="6671816"/>
              <a:ext cx="55216" cy="55215"/>
            </a:xfrm>
            <a:prstGeom prst="line">
              <a:avLst/>
            </a:prstGeom>
            <a:ln w="2129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H="1">
              <a:off x="2683519" y="6727031"/>
              <a:ext cx="276077" cy="276076"/>
            </a:xfrm>
            <a:prstGeom prst="line">
              <a:avLst/>
            </a:prstGeom>
            <a:ln w="2129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H="1" flipV="1">
              <a:off x="2628304" y="6947892"/>
              <a:ext cx="55215" cy="55215"/>
            </a:xfrm>
            <a:prstGeom prst="line">
              <a:avLst/>
            </a:prstGeom>
            <a:ln w="2129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2628304" y="6671816"/>
              <a:ext cx="276076" cy="276076"/>
            </a:xfrm>
            <a:prstGeom prst="line">
              <a:avLst/>
            </a:prstGeom>
            <a:ln w="21297">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180" name="TextBox 179"/>
          <p:cNvSpPr txBox="1"/>
          <p:nvPr/>
        </p:nvSpPr>
        <p:spPr>
          <a:xfrm>
            <a:off x="2324100" y="7286625"/>
            <a:ext cx="1009650" cy="276225"/>
          </a:xfrm>
          <a:prstGeom prst="rect">
            <a:avLst/>
          </a:prstGeom>
          <a:noFill/>
        </p:spPr>
        <p:txBody>
          <a:bodyPr wrap="none" lIns="0" rIns="0" tIns="0" bIns="0" anchor="t"/>
          <a:lstStyle/>
          <a:p>
            <a:pPr algn="ctr">
              <a:lnSpc>
                <a:spcPts val="1652"/>
              </a:lnSpc>
              <a:spcBef>
                <a:spcPts val="0"/>
              </a:spcBef>
              <a:spcAft>
                <a:spcPts val="0"/>
              </a:spcAft>
            </a:pPr>
            <a:r>
              <a:rPr sz="1425" b="1">
                <a:solidFill>
                  <a:srgbClr val="172540"/>
                </a:solidFill>
                <a:latin typeface="Arial"/>
              </a:rPr>
              <a:t>Repair</a:t>
            </a:r>
          </a:p>
        </p:txBody>
      </p:sp>
      <p:grpSp>
        <p:nvGrpSpPr>
          <p:cNvPr id="191" name="Group 190"/>
          <p:cNvGrpSpPr/>
          <p:nvPr/>
        </p:nvGrpSpPr>
        <p:grpSpPr>
          <a:xfrm>
            <a:off x="4422278" y="6656040"/>
            <a:ext cx="347067" cy="394394"/>
            <a:chOff x="4422278" y="6656040"/>
            <a:chExt cx="347067" cy="394394"/>
          </a:xfrm>
        </p:grpSpPr>
        <p:sp>
          <p:nvSpPr>
            <p:cNvPr id="181" name="Rounded Rectangle 180"/>
            <p:cNvSpPr/>
            <p:nvPr/>
          </p:nvSpPr>
          <p:spPr>
            <a:xfrm>
              <a:off x="4422278" y="6656040"/>
              <a:ext cx="347067" cy="394394"/>
            </a:xfrm>
            <a:prstGeom prst="roundRect">
              <a:avLst>
                <a:gd name="adj" fmla="val 9090"/>
              </a:avLst>
            </a:prstGeom>
            <a:noFill/>
            <a:ln w="21297">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2" name="Connector 181"/>
            <p:cNvCxnSpPr/>
            <p:nvPr/>
          </p:nvCxnSpPr>
          <p:spPr>
            <a:xfrm>
              <a:off x="4485382" y="6758582"/>
              <a:ext cx="31551" cy="31552"/>
            </a:xfrm>
            <a:prstGeom prst="line">
              <a:avLst/>
            </a:prstGeom>
            <a:ln w="2129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4516933" y="6727031"/>
              <a:ext cx="47327" cy="63103"/>
            </a:xfrm>
            <a:prstGeom prst="line">
              <a:avLst/>
            </a:prstGeom>
            <a:ln w="2129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4611588" y="6758582"/>
              <a:ext cx="94654" cy="0"/>
            </a:xfrm>
            <a:prstGeom prst="line">
              <a:avLst/>
            </a:prstGeom>
            <a:ln w="2129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4485382" y="6861125"/>
              <a:ext cx="31551" cy="31551"/>
            </a:xfrm>
            <a:prstGeom prst="line">
              <a:avLst/>
            </a:prstGeom>
            <a:ln w="2129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4516933" y="6829573"/>
              <a:ext cx="47327" cy="63103"/>
            </a:xfrm>
            <a:prstGeom prst="line">
              <a:avLst/>
            </a:prstGeom>
            <a:ln w="2129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4611588" y="6861125"/>
              <a:ext cx="94654" cy="0"/>
            </a:xfrm>
            <a:prstGeom prst="line">
              <a:avLst/>
            </a:prstGeom>
            <a:ln w="2129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4485382" y="6963667"/>
              <a:ext cx="31551" cy="31552"/>
            </a:xfrm>
            <a:prstGeom prst="line">
              <a:avLst/>
            </a:prstGeom>
            <a:ln w="2129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4516933" y="6932116"/>
              <a:ext cx="47327" cy="63103"/>
            </a:xfrm>
            <a:prstGeom prst="line">
              <a:avLst/>
            </a:prstGeom>
            <a:ln w="2129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4611588" y="6963667"/>
              <a:ext cx="94654" cy="0"/>
            </a:xfrm>
            <a:prstGeom prst="line">
              <a:avLst/>
            </a:prstGeom>
            <a:ln w="21297">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192" name="TextBox 191"/>
          <p:cNvSpPr txBox="1"/>
          <p:nvPr/>
        </p:nvSpPr>
        <p:spPr>
          <a:xfrm>
            <a:off x="4133849" y="7286625"/>
            <a:ext cx="1009650" cy="276225"/>
          </a:xfrm>
          <a:prstGeom prst="rect">
            <a:avLst/>
          </a:prstGeom>
          <a:noFill/>
        </p:spPr>
        <p:txBody>
          <a:bodyPr wrap="none" lIns="0" rIns="0" tIns="0" bIns="0" anchor="t"/>
          <a:lstStyle/>
          <a:p>
            <a:pPr algn="ctr">
              <a:lnSpc>
                <a:spcPts val="1652"/>
              </a:lnSpc>
              <a:spcBef>
                <a:spcPts val="0"/>
              </a:spcBef>
              <a:spcAft>
                <a:spcPts val="0"/>
              </a:spcAft>
            </a:pPr>
            <a:r>
              <a:rPr sz="1425" b="1">
                <a:solidFill>
                  <a:srgbClr val="172540"/>
                </a:solidFill>
                <a:latin typeface="Arial"/>
              </a:rPr>
              <a:t>Test</a:t>
            </a:r>
          </a:p>
        </p:txBody>
      </p:sp>
      <p:cxnSp>
        <p:nvCxnSpPr>
          <p:cNvPr id="193" name="Connector 192"/>
          <p:cNvCxnSpPr/>
          <p:nvPr/>
        </p:nvCxnSpPr>
        <p:spPr>
          <a:xfrm>
            <a:off x="1343025" y="6858000"/>
            <a:ext cx="990600" cy="0"/>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H="1">
            <a:off x="2233317" y="6858000"/>
            <a:ext cx="100308" cy="54798"/>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H="1" flipV="1">
            <a:off x="2233317" y="6803201"/>
            <a:ext cx="100308" cy="54799"/>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3152775" y="6858000"/>
            <a:ext cx="990600" cy="0"/>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H="1">
            <a:off x="4043067" y="6858000"/>
            <a:ext cx="100308" cy="54798"/>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H="1" flipV="1">
            <a:off x="4043067" y="6803201"/>
            <a:ext cx="100308" cy="54799"/>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grpSp>
        <p:nvGrpSpPr>
          <p:cNvPr id="202" name="Group 201"/>
          <p:cNvGrpSpPr/>
          <p:nvPr/>
        </p:nvGrpSpPr>
        <p:grpSpPr>
          <a:xfrm>
            <a:off x="11118353" y="6117728"/>
            <a:ext cx="223242" cy="223242"/>
            <a:chOff x="11118353" y="6117728"/>
            <a:chExt cx="223242" cy="223242"/>
          </a:xfrm>
        </p:grpSpPr>
        <p:sp>
          <p:nvSpPr>
            <p:cNvPr id="199" name="Oval 198"/>
            <p:cNvSpPr/>
            <p:nvPr/>
          </p:nvSpPr>
          <p:spPr>
            <a:xfrm>
              <a:off x="11118353" y="6117728"/>
              <a:ext cx="223242" cy="223242"/>
            </a:xfrm>
            <a:prstGeom prst="ellipse">
              <a:avLst/>
            </a:prstGeom>
            <a:noFill/>
            <a:ln w="12055">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0" name="Connector 199"/>
            <p:cNvCxnSpPr/>
            <p:nvPr/>
          </p:nvCxnSpPr>
          <p:spPr>
            <a:xfrm>
              <a:off x="11171932" y="6229350"/>
              <a:ext cx="40183" cy="40183"/>
            </a:xfrm>
            <a:prstGeom prst="line">
              <a:avLst/>
            </a:prstGeom>
            <a:ln w="1205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11212115" y="6189166"/>
              <a:ext cx="80367" cy="80367"/>
            </a:xfrm>
            <a:prstGeom prst="line">
              <a:avLst/>
            </a:prstGeom>
            <a:ln w="12055">
              <a:solidFill>
                <a:srgbClr val="0B9696"/>
              </a:solidFill>
            </a:ln>
          </p:spPr>
          <p:style>
            <a:lnRef idx="2">
              <a:schemeClr val="accent1"/>
            </a:lnRef>
            <a:fillRef idx="0">
              <a:schemeClr val="accent1"/>
            </a:fillRef>
            <a:effectRef idx="1">
              <a:schemeClr val="accent1"/>
            </a:effectRef>
            <a:fontRef idx="minor">
              <a:schemeClr val="tx1"/>
            </a:fontRef>
          </p:style>
        </p:cxnSp>
      </p:grpSp>
      <p:sp>
        <p:nvSpPr>
          <p:cNvPr id="203" name="TextBox 202"/>
          <p:cNvSpPr txBox="1"/>
          <p:nvPr/>
        </p:nvSpPr>
        <p:spPr>
          <a:xfrm>
            <a:off x="11525250" y="6105525"/>
            <a:ext cx="3067050" cy="352425"/>
          </a:xfrm>
          <a:prstGeom prst="rect">
            <a:avLst/>
          </a:prstGeom>
          <a:noFill/>
        </p:spPr>
        <p:txBody>
          <a:bodyPr wrap="none" lIns="0" rIns="0" tIns="0" bIns="0" anchor="t"/>
          <a:lstStyle/>
          <a:p>
            <a:pPr algn="l">
              <a:lnSpc>
                <a:spcPts val="1827"/>
              </a:lnSpc>
              <a:spcBef>
                <a:spcPts val="0"/>
              </a:spcBef>
              <a:spcAft>
                <a:spcPts val="0"/>
              </a:spcAft>
            </a:pPr>
            <a:r>
              <a:rPr sz="1575" b="0">
                <a:solidFill>
                  <a:srgbClr val="172540"/>
                </a:solidFill>
                <a:latin typeface="Arial"/>
              </a:rPr>
              <a:t>Readable records</a:t>
            </a:r>
          </a:p>
        </p:txBody>
      </p:sp>
      <p:grpSp>
        <p:nvGrpSpPr>
          <p:cNvPr id="207" name="Group 206"/>
          <p:cNvGrpSpPr/>
          <p:nvPr/>
        </p:nvGrpSpPr>
        <p:grpSpPr>
          <a:xfrm>
            <a:off x="11118353" y="6651128"/>
            <a:ext cx="223242" cy="223242"/>
            <a:chOff x="11118353" y="6651128"/>
            <a:chExt cx="223242" cy="223242"/>
          </a:xfrm>
        </p:grpSpPr>
        <p:sp>
          <p:nvSpPr>
            <p:cNvPr id="204" name="Oval 203"/>
            <p:cNvSpPr/>
            <p:nvPr/>
          </p:nvSpPr>
          <p:spPr>
            <a:xfrm>
              <a:off x="11118353" y="6651128"/>
              <a:ext cx="223242" cy="223242"/>
            </a:xfrm>
            <a:prstGeom prst="ellipse">
              <a:avLst/>
            </a:prstGeom>
            <a:noFill/>
            <a:ln w="12055">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5" name="Connector 204"/>
            <p:cNvCxnSpPr/>
            <p:nvPr/>
          </p:nvCxnSpPr>
          <p:spPr>
            <a:xfrm>
              <a:off x="11171932" y="6762750"/>
              <a:ext cx="40183" cy="40183"/>
            </a:xfrm>
            <a:prstGeom prst="line">
              <a:avLst/>
            </a:prstGeom>
            <a:ln w="1205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11212115" y="6722566"/>
              <a:ext cx="80367" cy="80367"/>
            </a:xfrm>
            <a:prstGeom prst="line">
              <a:avLst/>
            </a:prstGeom>
            <a:ln w="12055">
              <a:solidFill>
                <a:srgbClr val="0B9696"/>
              </a:solidFill>
            </a:ln>
          </p:spPr>
          <p:style>
            <a:lnRef idx="2">
              <a:schemeClr val="accent1"/>
            </a:lnRef>
            <a:fillRef idx="0">
              <a:schemeClr val="accent1"/>
            </a:fillRef>
            <a:effectRef idx="1">
              <a:schemeClr val="accent1"/>
            </a:effectRef>
            <a:fontRef idx="minor">
              <a:schemeClr val="tx1"/>
            </a:fontRef>
          </p:style>
        </p:cxnSp>
      </p:grpSp>
      <p:sp>
        <p:nvSpPr>
          <p:cNvPr id="208" name="TextBox 207"/>
          <p:cNvSpPr txBox="1"/>
          <p:nvPr/>
        </p:nvSpPr>
        <p:spPr>
          <a:xfrm>
            <a:off x="11525250" y="6638925"/>
            <a:ext cx="3067050" cy="352425"/>
          </a:xfrm>
          <a:prstGeom prst="rect">
            <a:avLst/>
          </a:prstGeom>
          <a:noFill/>
        </p:spPr>
        <p:txBody>
          <a:bodyPr wrap="none" lIns="0" rIns="0" tIns="0" bIns="0" anchor="t"/>
          <a:lstStyle/>
          <a:p>
            <a:pPr algn="l">
              <a:lnSpc>
                <a:spcPts val="1827"/>
              </a:lnSpc>
              <a:spcBef>
                <a:spcPts val="0"/>
              </a:spcBef>
              <a:spcAft>
                <a:spcPts val="0"/>
              </a:spcAft>
            </a:pPr>
            <a:r>
              <a:rPr sz="1575" b="0">
                <a:solidFill>
                  <a:srgbClr val="172540"/>
                </a:solidFill>
                <a:latin typeface="Arial"/>
              </a:rPr>
              <a:t>No lost or duplicate updates</a:t>
            </a:r>
          </a:p>
        </p:txBody>
      </p:sp>
      <p:grpSp>
        <p:nvGrpSpPr>
          <p:cNvPr id="212" name="Group 211"/>
          <p:cNvGrpSpPr/>
          <p:nvPr/>
        </p:nvGrpSpPr>
        <p:grpSpPr>
          <a:xfrm>
            <a:off x="11118353" y="7184528"/>
            <a:ext cx="223242" cy="223242"/>
            <a:chOff x="11118353" y="7184528"/>
            <a:chExt cx="223242" cy="223242"/>
          </a:xfrm>
        </p:grpSpPr>
        <p:sp>
          <p:nvSpPr>
            <p:cNvPr id="209" name="Oval 208"/>
            <p:cNvSpPr/>
            <p:nvPr/>
          </p:nvSpPr>
          <p:spPr>
            <a:xfrm>
              <a:off x="11118353" y="7184528"/>
              <a:ext cx="223242" cy="223242"/>
            </a:xfrm>
            <a:prstGeom prst="ellipse">
              <a:avLst/>
            </a:prstGeom>
            <a:noFill/>
            <a:ln w="12055">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0" name="Connector 209"/>
            <p:cNvCxnSpPr/>
            <p:nvPr/>
          </p:nvCxnSpPr>
          <p:spPr>
            <a:xfrm>
              <a:off x="11171932" y="7296150"/>
              <a:ext cx="40183" cy="40183"/>
            </a:xfrm>
            <a:prstGeom prst="line">
              <a:avLst/>
            </a:prstGeom>
            <a:ln w="1205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11212115" y="7255966"/>
              <a:ext cx="80367" cy="80367"/>
            </a:xfrm>
            <a:prstGeom prst="line">
              <a:avLst/>
            </a:prstGeom>
            <a:ln w="12055">
              <a:solidFill>
                <a:srgbClr val="0B9696"/>
              </a:solidFill>
            </a:ln>
          </p:spPr>
          <p:style>
            <a:lnRef idx="2">
              <a:schemeClr val="accent1"/>
            </a:lnRef>
            <a:fillRef idx="0">
              <a:schemeClr val="accent1"/>
            </a:fillRef>
            <a:effectRef idx="1">
              <a:schemeClr val="accent1"/>
            </a:effectRef>
            <a:fontRef idx="minor">
              <a:schemeClr val="tx1"/>
            </a:fontRef>
          </p:style>
        </p:cxnSp>
      </p:grpSp>
      <p:sp>
        <p:nvSpPr>
          <p:cNvPr id="213" name="TextBox 212"/>
          <p:cNvSpPr txBox="1"/>
          <p:nvPr/>
        </p:nvSpPr>
        <p:spPr>
          <a:xfrm>
            <a:off x="11525250" y="7172325"/>
            <a:ext cx="3067050" cy="352425"/>
          </a:xfrm>
          <a:prstGeom prst="rect">
            <a:avLst/>
          </a:prstGeom>
          <a:noFill/>
        </p:spPr>
        <p:txBody>
          <a:bodyPr wrap="none" lIns="0" rIns="0" tIns="0" bIns="0" anchor="t"/>
          <a:lstStyle/>
          <a:p>
            <a:pPr algn="l">
              <a:lnSpc>
                <a:spcPts val="1827"/>
              </a:lnSpc>
              <a:spcBef>
                <a:spcPts val="0"/>
              </a:spcBef>
              <a:spcAft>
                <a:spcPts val="0"/>
              </a:spcAft>
            </a:pPr>
            <a:r>
              <a:rPr sz="1575" b="0">
                <a:solidFill>
                  <a:srgbClr val="172540"/>
                </a:solidFill>
                <a:latin typeface="Arial"/>
              </a:rPr>
              <a:t>Repeatable, correct retries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ounded Rectangle 1"/>
          <p:cNvSpPr/>
          <p:nvPr/>
        </p:nvSpPr>
        <p:spPr>
          <a:xfrm>
            <a:off x="571500" y="390525"/>
            <a:ext cx="85725" cy="209550"/>
          </a:xfrm>
          <a:prstGeom prst="roundRect">
            <a:avLst>
              <a:gd name="adj" fmla="val 44444"/>
            </a:avLst>
          </a:prstGeom>
          <a:solidFill>
            <a:srgbClr val="39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1050" y="381000"/>
            <a:ext cx="13239750" cy="247649"/>
          </a:xfrm>
          <a:prstGeom prst="rect">
            <a:avLst/>
          </a:prstGeom>
          <a:noFill/>
        </p:spPr>
        <p:txBody>
          <a:bodyPr wrap="none" lIns="0" rIns="0" tIns="0" bIns="0" anchor="t"/>
          <a:lstStyle/>
          <a:p>
            <a:pPr algn="l">
              <a:lnSpc>
                <a:spcPts val="1305"/>
              </a:lnSpc>
              <a:spcBef>
                <a:spcPts val="0"/>
              </a:spcBef>
              <a:spcAft>
                <a:spcPts val="0"/>
              </a:spcAft>
            </a:pPr>
            <a:r>
              <a:rPr sz="1125" b="1">
                <a:solidFill>
                  <a:srgbClr val="64728B"/>
                </a:solidFill>
                <a:latin typeface="Arial"/>
              </a:rPr>
              <a:t>RESEARCH CONNECTION / OPENAI–HF</a:t>
            </a:r>
          </a:p>
        </p:txBody>
      </p:sp>
      <p:sp>
        <p:nvSpPr>
          <p:cNvPr id="4" name="TextBox 3"/>
          <p:cNvSpPr txBox="1"/>
          <p:nvPr/>
        </p:nvSpPr>
        <p:spPr>
          <a:xfrm>
            <a:off x="581025" y="8172450"/>
            <a:ext cx="13049250" cy="190500"/>
          </a:xfrm>
          <a:prstGeom prst="rect">
            <a:avLst/>
          </a:prstGeom>
          <a:noFill/>
        </p:spPr>
        <p:txBody>
          <a:bodyPr wrap="none" lIns="0" rIns="0" tIns="0" bIns="0" anchor="t"/>
          <a:lstStyle/>
          <a:p>
            <a:pPr algn="l">
              <a:lnSpc>
                <a:spcPts val="1044"/>
              </a:lnSpc>
              <a:spcBef>
                <a:spcPts val="0"/>
              </a:spcBef>
              <a:spcAft>
                <a:spcPts val="0"/>
              </a:spcAft>
            </a:pPr>
            <a:r>
              <a:rPr sz="900" b="0">
                <a:solidFill>
                  <a:srgbClr val="64728B"/>
                </a:solidFill>
                <a:latin typeface="Arial"/>
              </a:rPr>
              <a:t>INCIDENT REPLAY / SOFTWARE ENGINEERING</a:t>
            </a:r>
          </a:p>
        </p:txBody>
      </p:sp>
      <p:sp>
        <p:nvSpPr>
          <p:cNvPr id="5" name="TextBox 4"/>
          <p:cNvSpPr txBox="1"/>
          <p:nvPr/>
        </p:nvSpPr>
        <p:spPr>
          <a:xfrm>
            <a:off x="13887450" y="8124824"/>
            <a:ext cx="762000" cy="238125"/>
          </a:xfrm>
          <a:prstGeom prst="rect">
            <a:avLst/>
          </a:prstGeom>
          <a:noFill/>
        </p:spPr>
        <p:txBody>
          <a:bodyPr wrap="none" lIns="0" rIns="0" tIns="0" bIns="0" anchor="t"/>
          <a:lstStyle/>
          <a:p>
            <a:pPr algn="r">
              <a:lnSpc>
                <a:spcPts val="1218"/>
              </a:lnSpc>
              <a:spcBef>
                <a:spcPts val="0"/>
              </a:spcBef>
              <a:spcAft>
                <a:spcPts val="0"/>
              </a:spcAft>
            </a:pPr>
            <a:r>
              <a:rPr sz="1050" b="0">
                <a:solidFill>
                  <a:srgbClr val="64728B"/>
                </a:solidFill>
                <a:latin typeface="Courier New"/>
              </a:rPr>
              <a:t>07 / 10</a:t>
            </a:r>
          </a:p>
        </p:txBody>
      </p:sp>
      <p:sp>
        <p:nvSpPr>
          <p:cNvPr id="6" name="TextBox 5"/>
          <p:cNvSpPr txBox="1"/>
          <p:nvPr/>
        </p:nvSpPr>
        <p:spPr>
          <a:xfrm>
            <a:off x="571500" y="942975"/>
            <a:ext cx="14097000" cy="1181100"/>
          </a:xfrm>
          <a:prstGeom prst="rect">
            <a:avLst/>
          </a:prstGeom>
          <a:noFill/>
        </p:spPr>
        <p:txBody>
          <a:bodyPr wrap="none" lIns="0" rIns="0" tIns="0" bIns="0" anchor="t"/>
          <a:lstStyle/>
          <a:p>
            <a:pPr algn="l">
              <a:lnSpc>
                <a:spcPts val="4212"/>
              </a:lnSpc>
              <a:spcBef>
                <a:spcPts val="0"/>
              </a:spcBef>
              <a:spcAft>
                <a:spcPts val="0"/>
              </a:spcAft>
            </a:pPr>
            <a:r>
              <a:rPr sz="3900" b="1">
                <a:solidFill>
                  <a:srgbClr val="172540"/>
                </a:solidFill>
                <a:latin typeface="Arial"/>
              </a:rPr>
              <a:t>One agent’s output becomes another’s input.</a:t>
            </a:r>
          </a:p>
        </p:txBody>
      </p:sp>
      <p:sp>
        <p:nvSpPr>
          <p:cNvPr id="7" name="TextBox 6"/>
          <p:cNvSpPr txBox="1"/>
          <p:nvPr/>
        </p:nvSpPr>
        <p:spPr>
          <a:xfrm>
            <a:off x="600075" y="1685925"/>
            <a:ext cx="13906500" cy="647700"/>
          </a:xfrm>
          <a:prstGeom prst="rect">
            <a:avLst/>
          </a:prstGeom>
          <a:noFill/>
        </p:spPr>
        <p:txBody>
          <a:bodyPr wrap="none" lIns="0" rIns="0" tIns="0" bIns="0" anchor="t"/>
          <a:lstStyle/>
          <a:p>
            <a:pPr algn="l">
              <a:lnSpc>
                <a:spcPts val="2175"/>
              </a:lnSpc>
              <a:spcBef>
                <a:spcPts val="0"/>
              </a:spcBef>
              <a:spcAft>
                <a:spcPts val="0"/>
              </a:spcAft>
            </a:pPr>
            <a:r>
              <a:rPr sz="1875" b="0">
                <a:solidFill>
                  <a:srgbClr val="64728B"/>
                </a:solidFill>
                <a:latin typeface="Arial"/>
              </a:rPr>
              <a:t>Shared infrastructure creates dependencies between otherwise separate trajectories.</a:t>
            </a:r>
          </a:p>
        </p:txBody>
      </p:sp>
      <p:sp>
        <p:nvSpPr>
          <p:cNvPr id="8" name="Rounded Rectangle 7"/>
          <p:cNvSpPr/>
          <p:nvPr/>
        </p:nvSpPr>
        <p:spPr>
          <a:xfrm>
            <a:off x="590550" y="2705100"/>
            <a:ext cx="14058900" cy="2695575"/>
          </a:xfrm>
          <a:prstGeom prst="roundRect">
            <a:avLst>
              <a:gd name="adj" fmla="val 8480"/>
            </a:avLst>
          </a:prstGeom>
          <a:solidFill>
            <a:srgbClr val="E7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81025" y="2638425"/>
            <a:ext cx="14058900" cy="2695575"/>
          </a:xfrm>
          <a:prstGeom prst="roundRect">
            <a:avLst>
              <a:gd name="adj" fmla="val 8480"/>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8" name="Group 17"/>
          <p:cNvGrpSpPr/>
          <p:nvPr/>
        </p:nvGrpSpPr>
        <p:grpSpPr>
          <a:xfrm>
            <a:off x="1310282" y="3304728"/>
            <a:ext cx="741760" cy="649039"/>
            <a:chOff x="1310282" y="3304728"/>
            <a:chExt cx="741760" cy="649039"/>
          </a:xfrm>
        </p:grpSpPr>
        <p:sp>
          <p:nvSpPr>
            <p:cNvPr id="10" name="Rounded Rectangle 9"/>
            <p:cNvSpPr/>
            <p:nvPr/>
          </p:nvSpPr>
          <p:spPr>
            <a:xfrm>
              <a:off x="1389757" y="3490168"/>
              <a:ext cx="582810" cy="463599"/>
            </a:xfrm>
            <a:prstGeom prst="roundRect">
              <a:avLst>
                <a:gd name="adj" fmla="val 20000"/>
              </a:avLst>
            </a:prstGeom>
            <a:noFill/>
            <a:ln w="35763">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681162" y="3357711"/>
              <a:ext cx="0" cy="132457"/>
            </a:xfrm>
            <a:prstGeom prst="line">
              <a:avLst/>
            </a:prstGeom>
            <a:ln w="35763">
              <a:solidFill>
                <a:srgbClr val="3973F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641425" y="3304728"/>
              <a:ext cx="79474" cy="79474"/>
            </a:xfrm>
            <a:prstGeom prst="ellipse">
              <a:avLst/>
            </a:prstGeom>
            <a:solidFill>
              <a:srgbClr val="3973F6"/>
            </a:solidFill>
            <a:ln w="35763">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310282" y="3649116"/>
              <a:ext cx="79475" cy="0"/>
            </a:xfrm>
            <a:prstGeom prst="line">
              <a:avLst/>
            </a:prstGeom>
            <a:ln w="3576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972567" y="3649116"/>
              <a:ext cx="79475" cy="0"/>
            </a:xfrm>
            <a:prstGeom prst="line">
              <a:avLst/>
            </a:prstGeom>
            <a:ln w="35763">
              <a:solidFill>
                <a:srgbClr val="3973F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535459" y="3622625"/>
              <a:ext cx="52982" cy="52982"/>
            </a:xfrm>
            <a:prstGeom prst="ellipse">
              <a:avLst/>
            </a:prstGeom>
            <a:solidFill>
              <a:srgbClr val="3973F6"/>
            </a:solidFill>
            <a:ln w="35763">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773882" y="3622625"/>
              <a:ext cx="52982" cy="52982"/>
            </a:xfrm>
            <a:prstGeom prst="ellipse">
              <a:avLst/>
            </a:prstGeom>
            <a:solidFill>
              <a:srgbClr val="3973F6"/>
            </a:solidFill>
            <a:ln w="35763">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1575196" y="3808065"/>
              <a:ext cx="211932" cy="0"/>
            </a:xfrm>
            <a:prstGeom prst="line">
              <a:avLst/>
            </a:prstGeom>
            <a:ln w="35763">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19" name="TextBox 18"/>
          <p:cNvSpPr txBox="1"/>
          <p:nvPr/>
        </p:nvSpPr>
        <p:spPr>
          <a:xfrm>
            <a:off x="942975" y="4438650"/>
            <a:ext cx="1495425" cy="361950"/>
          </a:xfrm>
          <a:prstGeom prst="rect">
            <a:avLst/>
          </a:prstGeom>
          <a:noFill/>
        </p:spPr>
        <p:txBody>
          <a:bodyPr wrap="none" lIns="0" rIns="0" tIns="0" bIns="0" anchor="t"/>
          <a:lstStyle/>
          <a:p>
            <a:pPr algn="ctr">
              <a:lnSpc>
                <a:spcPts val="2349"/>
              </a:lnSpc>
              <a:spcBef>
                <a:spcPts val="0"/>
              </a:spcBef>
              <a:spcAft>
                <a:spcPts val="0"/>
              </a:spcAft>
            </a:pPr>
            <a:r>
              <a:rPr sz="2025" b="1">
                <a:solidFill>
                  <a:srgbClr val="172540"/>
                </a:solidFill>
                <a:latin typeface="Arial"/>
              </a:rPr>
              <a:t>Agent A</a:t>
            </a:r>
          </a:p>
        </p:txBody>
      </p:sp>
      <p:sp>
        <p:nvSpPr>
          <p:cNvPr id="20" name="Rounded Rectangle 19"/>
          <p:cNvSpPr/>
          <p:nvPr/>
        </p:nvSpPr>
        <p:spPr>
          <a:xfrm>
            <a:off x="5476875" y="3028950"/>
            <a:ext cx="4267200" cy="1800225"/>
          </a:xfrm>
          <a:prstGeom prst="roundRect">
            <a:avLst>
              <a:gd name="adj" fmla="val 10582"/>
            </a:avLst>
          </a:prstGeom>
          <a:solidFill>
            <a:srgbClr val="EAF1FF"/>
          </a:solidFill>
          <a:ln w="12382">
            <a:solidFill>
              <a:srgbClr val="CEDCF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8" name="Group 47"/>
          <p:cNvGrpSpPr/>
          <p:nvPr/>
        </p:nvGrpSpPr>
        <p:grpSpPr>
          <a:xfrm>
            <a:off x="5854898" y="3431530"/>
            <a:ext cx="434578" cy="510629"/>
            <a:chOff x="5854898" y="3431530"/>
            <a:chExt cx="434578" cy="510629"/>
          </a:xfrm>
        </p:grpSpPr>
        <p:cxnSp>
          <p:nvCxnSpPr>
            <p:cNvPr id="21" name="Connector 20"/>
            <p:cNvCxnSpPr/>
            <p:nvPr/>
          </p:nvCxnSpPr>
          <p:spPr>
            <a:xfrm>
              <a:off x="5854898" y="3518445"/>
              <a:ext cx="0" cy="325934"/>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289476" y="3518445"/>
              <a:ext cx="0" cy="325934"/>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5854898" y="3431530"/>
              <a:ext cx="434578" cy="173831"/>
            </a:xfrm>
            <a:prstGeom prst="ellipse">
              <a:avLst/>
            </a:prstGeom>
            <a:noFill/>
            <a:ln w="29334">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flipH="1">
              <a:off x="6282072" y="3768328"/>
              <a:ext cx="7404" cy="22495"/>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6260365" y="3790823"/>
              <a:ext cx="21707" cy="20962"/>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6225834" y="3811785"/>
              <a:ext cx="34531" cy="18001"/>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6180832" y="3829786"/>
              <a:ext cx="45002" cy="13813"/>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6128426" y="3843599"/>
              <a:ext cx="52406" cy="8683"/>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6072187" y="3852282"/>
              <a:ext cx="56239" cy="2961"/>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6015948" y="3852282"/>
              <a:ext cx="56239" cy="2961"/>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5963542" y="3843599"/>
              <a:ext cx="52406" cy="8683"/>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5918540" y="3829786"/>
              <a:ext cx="45002" cy="13813"/>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5884009" y="3811785"/>
              <a:ext cx="34531" cy="18001"/>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5862302" y="3790823"/>
              <a:ext cx="21707" cy="20962"/>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5854898" y="3768328"/>
              <a:ext cx="7404" cy="22495"/>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6282072" y="3855243"/>
              <a:ext cx="7404" cy="22496"/>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6260365" y="3877739"/>
              <a:ext cx="21707" cy="20962"/>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6225834" y="3898701"/>
              <a:ext cx="34531" cy="18001"/>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6180832" y="3916702"/>
              <a:ext cx="45002" cy="13812"/>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6128426" y="3930514"/>
              <a:ext cx="52406" cy="8683"/>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6072187" y="3939197"/>
              <a:ext cx="56239" cy="2962"/>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6015948" y="3939197"/>
              <a:ext cx="56239" cy="2962"/>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5963542" y="3930514"/>
              <a:ext cx="52406" cy="8683"/>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5918540" y="3916702"/>
              <a:ext cx="45002" cy="13812"/>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5884009" y="3898701"/>
              <a:ext cx="34531" cy="18001"/>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5862302" y="3877739"/>
              <a:ext cx="21707" cy="20962"/>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5854898" y="3855243"/>
              <a:ext cx="7404" cy="22496"/>
            </a:xfrm>
            <a:prstGeom prst="line">
              <a:avLst/>
            </a:prstGeom>
            <a:ln w="29334">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49" name="TextBox 48"/>
          <p:cNvSpPr txBox="1"/>
          <p:nvPr/>
        </p:nvSpPr>
        <p:spPr>
          <a:xfrm>
            <a:off x="6677025" y="3333750"/>
            <a:ext cx="2743200" cy="390525"/>
          </a:xfrm>
          <a:prstGeom prst="rect">
            <a:avLst/>
          </a:prstGeom>
          <a:noFill/>
        </p:spPr>
        <p:txBody>
          <a:bodyPr wrap="none" lIns="0" rIns="0" tIns="0" bIns="0" anchor="t"/>
          <a:lstStyle/>
          <a:p>
            <a:pPr algn="l">
              <a:lnSpc>
                <a:spcPts val="2436"/>
              </a:lnSpc>
              <a:spcBef>
                <a:spcPts val="0"/>
              </a:spcBef>
              <a:spcAft>
                <a:spcPts val="0"/>
              </a:spcAft>
            </a:pPr>
            <a:r>
              <a:rPr sz="2100" b="1">
                <a:solidFill>
                  <a:srgbClr val="172540"/>
                </a:solidFill>
                <a:latin typeface="Arial"/>
              </a:rPr>
              <a:t>Shared workspace</a:t>
            </a:r>
          </a:p>
        </p:txBody>
      </p:sp>
      <p:sp>
        <p:nvSpPr>
          <p:cNvPr id="50" name="TextBox 49"/>
          <p:cNvSpPr txBox="1"/>
          <p:nvPr/>
        </p:nvSpPr>
        <p:spPr>
          <a:xfrm>
            <a:off x="6696075" y="3914775"/>
            <a:ext cx="2752725" cy="609600"/>
          </a:xfrm>
          <a:prstGeom prst="rect">
            <a:avLst/>
          </a:prstGeom>
          <a:noFill/>
        </p:spPr>
        <p:txBody>
          <a:bodyPr wrap="none" lIns="0" rIns="0" tIns="0" bIns="0" anchor="t"/>
          <a:lstStyle/>
          <a:p>
            <a:pPr algn="l">
              <a:lnSpc>
                <a:spcPts val="2000"/>
              </a:lnSpc>
              <a:spcBef>
                <a:spcPts val="0"/>
              </a:spcBef>
              <a:spcAft>
                <a:spcPts val="0"/>
              </a:spcAft>
            </a:pPr>
            <a:r>
              <a:rPr sz="1725" b="0">
                <a:solidFill>
                  <a:srgbClr val="64728B"/>
                </a:solidFill>
                <a:latin typeface="Arial"/>
              </a:rPr>
              <a:t>Files, tools,</a:t>
            </a:r>
          </a:p>
          <a:p>
            <a:pPr algn="l">
              <a:lnSpc>
                <a:spcPts val="2000"/>
              </a:lnSpc>
              <a:spcBef>
                <a:spcPts val="0"/>
              </a:spcBef>
              <a:spcAft>
                <a:spcPts val="0"/>
              </a:spcAft>
            </a:pPr>
            <a:r>
              <a:rPr sz="1725" b="0">
                <a:solidFill>
                  <a:srgbClr val="64728B"/>
                </a:solidFill>
                <a:latin typeface="Arial"/>
              </a:rPr>
              <a:t>and prior outputs</a:t>
            </a:r>
          </a:p>
        </p:txBody>
      </p:sp>
      <p:grpSp>
        <p:nvGrpSpPr>
          <p:cNvPr id="59" name="Group 58"/>
          <p:cNvGrpSpPr/>
          <p:nvPr/>
        </p:nvGrpSpPr>
        <p:grpSpPr>
          <a:xfrm>
            <a:off x="12254507" y="3304728"/>
            <a:ext cx="741760" cy="649039"/>
            <a:chOff x="12254507" y="3304728"/>
            <a:chExt cx="741760" cy="649039"/>
          </a:xfrm>
        </p:grpSpPr>
        <p:sp>
          <p:nvSpPr>
            <p:cNvPr id="51" name="Rounded Rectangle 50"/>
            <p:cNvSpPr/>
            <p:nvPr/>
          </p:nvSpPr>
          <p:spPr>
            <a:xfrm>
              <a:off x="12333982" y="3490168"/>
              <a:ext cx="582810" cy="463599"/>
            </a:xfrm>
            <a:prstGeom prst="roundRect">
              <a:avLst>
                <a:gd name="adj" fmla="val 20000"/>
              </a:avLst>
            </a:prstGeom>
            <a:noFill/>
            <a:ln w="35763">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12625387" y="3357711"/>
              <a:ext cx="0" cy="132457"/>
            </a:xfrm>
            <a:prstGeom prst="line">
              <a:avLst/>
            </a:prstGeom>
            <a:ln w="35763">
              <a:solidFill>
                <a:srgbClr val="0B9696"/>
              </a:solidFill>
            </a:ln>
          </p:spPr>
          <p:style>
            <a:lnRef idx="2">
              <a:schemeClr val="accent1"/>
            </a:lnRef>
            <a:fillRef idx="0">
              <a:schemeClr val="accent1"/>
            </a:fillRef>
            <a:effectRef idx="1">
              <a:schemeClr val="accent1"/>
            </a:effectRef>
            <a:fontRef idx="minor">
              <a:schemeClr val="tx1"/>
            </a:fontRef>
          </p:style>
        </p:cxnSp>
        <p:sp>
          <p:nvSpPr>
            <p:cNvPr id="53" name="Oval 52"/>
            <p:cNvSpPr/>
            <p:nvPr/>
          </p:nvSpPr>
          <p:spPr>
            <a:xfrm>
              <a:off x="12585650" y="3304728"/>
              <a:ext cx="79474" cy="79474"/>
            </a:xfrm>
            <a:prstGeom prst="ellipse">
              <a:avLst/>
            </a:prstGeom>
            <a:solidFill>
              <a:srgbClr val="0B9696"/>
            </a:solidFill>
            <a:ln w="35763">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12254507" y="3649116"/>
              <a:ext cx="79475" cy="0"/>
            </a:xfrm>
            <a:prstGeom prst="line">
              <a:avLst/>
            </a:prstGeom>
            <a:ln w="3576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2916792" y="3649116"/>
              <a:ext cx="79475" cy="0"/>
            </a:xfrm>
            <a:prstGeom prst="line">
              <a:avLst/>
            </a:prstGeom>
            <a:ln w="35763">
              <a:solidFill>
                <a:srgbClr val="0B9696"/>
              </a:solidFill>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12479684" y="3622625"/>
              <a:ext cx="52982" cy="52982"/>
            </a:xfrm>
            <a:prstGeom prst="ellipse">
              <a:avLst/>
            </a:prstGeom>
            <a:solidFill>
              <a:srgbClr val="0B9696"/>
            </a:solidFill>
            <a:ln w="35763">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2718107" y="3622625"/>
              <a:ext cx="52982" cy="52982"/>
            </a:xfrm>
            <a:prstGeom prst="ellipse">
              <a:avLst/>
            </a:prstGeom>
            <a:solidFill>
              <a:srgbClr val="0B9696"/>
            </a:solidFill>
            <a:ln w="35763">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12519421" y="3808065"/>
              <a:ext cx="211932" cy="0"/>
            </a:xfrm>
            <a:prstGeom prst="line">
              <a:avLst/>
            </a:prstGeom>
            <a:ln w="35763">
              <a:solidFill>
                <a:srgbClr val="0B9696"/>
              </a:solidFill>
            </a:ln>
          </p:spPr>
          <p:style>
            <a:lnRef idx="2">
              <a:schemeClr val="accent1"/>
            </a:lnRef>
            <a:fillRef idx="0">
              <a:schemeClr val="accent1"/>
            </a:fillRef>
            <a:effectRef idx="1">
              <a:schemeClr val="accent1"/>
            </a:effectRef>
            <a:fontRef idx="minor">
              <a:schemeClr val="tx1"/>
            </a:fontRef>
          </p:style>
        </p:cxnSp>
      </p:grpSp>
      <p:sp>
        <p:nvSpPr>
          <p:cNvPr id="60" name="TextBox 59"/>
          <p:cNvSpPr txBox="1"/>
          <p:nvPr/>
        </p:nvSpPr>
        <p:spPr>
          <a:xfrm>
            <a:off x="11877675" y="4438650"/>
            <a:ext cx="1495425" cy="361950"/>
          </a:xfrm>
          <a:prstGeom prst="rect">
            <a:avLst/>
          </a:prstGeom>
          <a:noFill/>
        </p:spPr>
        <p:txBody>
          <a:bodyPr wrap="none" lIns="0" rIns="0" tIns="0" bIns="0" anchor="t"/>
          <a:lstStyle/>
          <a:p>
            <a:pPr algn="ctr">
              <a:lnSpc>
                <a:spcPts val="2349"/>
              </a:lnSpc>
              <a:spcBef>
                <a:spcPts val="0"/>
              </a:spcBef>
              <a:spcAft>
                <a:spcPts val="0"/>
              </a:spcAft>
            </a:pPr>
            <a:r>
              <a:rPr sz="2025" b="1">
                <a:solidFill>
                  <a:srgbClr val="172540"/>
                </a:solidFill>
                <a:latin typeface="Arial"/>
              </a:rPr>
              <a:t>Agent B</a:t>
            </a:r>
          </a:p>
        </p:txBody>
      </p:sp>
      <p:cxnSp>
        <p:nvCxnSpPr>
          <p:cNvPr id="61" name="Connector 60"/>
          <p:cNvCxnSpPr/>
          <p:nvPr/>
        </p:nvCxnSpPr>
        <p:spPr>
          <a:xfrm>
            <a:off x="2390775" y="3638550"/>
            <a:ext cx="2933700" cy="0"/>
          </a:xfrm>
          <a:prstGeom prst="line">
            <a:avLst/>
          </a:prstGeom>
          <a:ln w="3333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5224167" y="3638550"/>
            <a:ext cx="100308" cy="54798"/>
          </a:xfrm>
          <a:prstGeom prst="line">
            <a:avLst/>
          </a:prstGeom>
          <a:ln w="3333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5224167" y="3583751"/>
            <a:ext cx="100308" cy="54799"/>
          </a:xfrm>
          <a:prstGeom prst="line">
            <a:avLst/>
          </a:prstGeom>
          <a:ln w="33337">
            <a:solidFill>
              <a:srgbClr val="3973F6"/>
            </a:solidFill>
          </a:ln>
        </p:spPr>
        <p:style>
          <a:lnRef idx="2">
            <a:schemeClr val="accent1"/>
          </a:lnRef>
          <a:fillRef idx="0">
            <a:schemeClr val="accent1"/>
          </a:fillRef>
          <a:effectRef idx="1">
            <a:schemeClr val="accent1"/>
          </a:effectRef>
          <a:fontRef idx="minor">
            <a:schemeClr val="tx1"/>
          </a:fontRef>
        </p:style>
      </p:cxnSp>
      <p:sp>
        <p:nvSpPr>
          <p:cNvPr id="64" name="Rounded Rectangle 63"/>
          <p:cNvSpPr/>
          <p:nvPr/>
        </p:nvSpPr>
        <p:spPr>
          <a:xfrm>
            <a:off x="3248025" y="3219450"/>
            <a:ext cx="1238250" cy="371475"/>
          </a:xfrm>
          <a:prstGeom prst="roundRect">
            <a:avLst>
              <a:gd name="adj" fmla="val 45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362325" y="3305175"/>
            <a:ext cx="1009650" cy="247649"/>
          </a:xfrm>
          <a:prstGeom prst="rect">
            <a:avLst/>
          </a:prstGeom>
          <a:noFill/>
        </p:spPr>
        <p:txBody>
          <a:bodyPr wrap="none" lIns="0" rIns="0" tIns="0" bIns="0" anchor="t"/>
          <a:lstStyle/>
          <a:p>
            <a:pPr algn="ctr">
              <a:lnSpc>
                <a:spcPts val="1565"/>
              </a:lnSpc>
              <a:spcBef>
                <a:spcPts val="0"/>
              </a:spcBef>
              <a:spcAft>
                <a:spcPts val="0"/>
              </a:spcAft>
            </a:pPr>
            <a:r>
              <a:rPr sz="1350" b="1">
                <a:solidFill>
                  <a:srgbClr val="3973F6"/>
                </a:solidFill>
                <a:latin typeface="Arial"/>
              </a:rPr>
              <a:t>writes</a:t>
            </a:r>
          </a:p>
        </p:txBody>
      </p:sp>
      <p:cxnSp>
        <p:nvCxnSpPr>
          <p:cNvPr id="66" name="Connector 65"/>
          <p:cNvCxnSpPr/>
          <p:nvPr/>
        </p:nvCxnSpPr>
        <p:spPr>
          <a:xfrm>
            <a:off x="9858375" y="3638550"/>
            <a:ext cx="2181225" cy="0"/>
          </a:xfrm>
          <a:prstGeom prst="line">
            <a:avLst/>
          </a:prstGeom>
          <a:ln w="3333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1939292" y="3638550"/>
            <a:ext cx="100308" cy="54798"/>
          </a:xfrm>
          <a:prstGeom prst="line">
            <a:avLst/>
          </a:prstGeom>
          <a:ln w="3333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11939292" y="3583751"/>
            <a:ext cx="100308" cy="54799"/>
          </a:xfrm>
          <a:prstGeom prst="line">
            <a:avLst/>
          </a:prstGeom>
          <a:ln w="33337">
            <a:solidFill>
              <a:srgbClr val="0B9696"/>
            </a:solidFill>
          </a:ln>
        </p:spPr>
        <p:style>
          <a:lnRef idx="2">
            <a:schemeClr val="accent1"/>
          </a:lnRef>
          <a:fillRef idx="0">
            <a:schemeClr val="accent1"/>
          </a:fillRef>
          <a:effectRef idx="1">
            <a:schemeClr val="accent1"/>
          </a:effectRef>
          <a:fontRef idx="minor">
            <a:schemeClr val="tx1"/>
          </a:fontRef>
        </p:style>
      </p:cxnSp>
      <p:sp>
        <p:nvSpPr>
          <p:cNvPr id="69" name="Rounded Rectangle 68"/>
          <p:cNvSpPr/>
          <p:nvPr/>
        </p:nvSpPr>
        <p:spPr>
          <a:xfrm>
            <a:off x="10420350" y="3219450"/>
            <a:ext cx="1238250" cy="371475"/>
          </a:xfrm>
          <a:prstGeom prst="roundRect">
            <a:avLst>
              <a:gd name="adj" fmla="val 45000"/>
            </a:avLst>
          </a:prstGeom>
          <a:solidFill>
            <a:srgbClr val="E5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534650" y="3305175"/>
            <a:ext cx="1009650" cy="247649"/>
          </a:xfrm>
          <a:prstGeom prst="rect">
            <a:avLst/>
          </a:prstGeom>
          <a:noFill/>
        </p:spPr>
        <p:txBody>
          <a:bodyPr wrap="none" lIns="0" rIns="0" tIns="0" bIns="0" anchor="t"/>
          <a:lstStyle/>
          <a:p>
            <a:pPr algn="ctr">
              <a:lnSpc>
                <a:spcPts val="1565"/>
              </a:lnSpc>
              <a:spcBef>
                <a:spcPts val="0"/>
              </a:spcBef>
              <a:spcAft>
                <a:spcPts val="0"/>
              </a:spcAft>
            </a:pPr>
            <a:r>
              <a:rPr sz="1350" b="1">
                <a:solidFill>
                  <a:srgbClr val="0B9696"/>
                </a:solidFill>
                <a:latin typeface="Arial"/>
              </a:rPr>
              <a:t>reads</a:t>
            </a:r>
          </a:p>
        </p:txBody>
      </p:sp>
      <p:sp>
        <p:nvSpPr>
          <p:cNvPr id="71" name="TextBox 70"/>
          <p:cNvSpPr txBox="1"/>
          <p:nvPr/>
        </p:nvSpPr>
        <p:spPr>
          <a:xfrm>
            <a:off x="628650" y="5686425"/>
            <a:ext cx="13782675" cy="257175"/>
          </a:xfrm>
          <a:prstGeom prst="rect">
            <a:avLst/>
          </a:prstGeom>
          <a:noFill/>
        </p:spPr>
        <p:txBody>
          <a:bodyPr wrap="none" lIns="0" rIns="0" tIns="0" bIns="0" anchor="t"/>
          <a:lstStyle/>
          <a:p>
            <a:pPr algn="l">
              <a:lnSpc>
                <a:spcPts val="1391"/>
              </a:lnSpc>
              <a:spcBef>
                <a:spcPts val="0"/>
              </a:spcBef>
              <a:spcAft>
                <a:spcPts val="0"/>
              </a:spcAft>
            </a:pPr>
            <a:r>
              <a:rPr sz="1200" b="1">
                <a:solidFill>
                  <a:srgbClr val="64728B"/>
                </a:solidFill>
                <a:latin typeface="Arial"/>
              </a:rPr>
              <a:t>PROPOSED COMPARISONS: CHANGE THE SHARING TOPOLOGY</a:t>
            </a:r>
          </a:p>
        </p:txBody>
      </p:sp>
      <p:sp>
        <p:nvSpPr>
          <p:cNvPr id="72" name="Rounded Rectangle 71"/>
          <p:cNvSpPr/>
          <p:nvPr/>
        </p:nvSpPr>
        <p:spPr>
          <a:xfrm>
            <a:off x="619125" y="6124575"/>
            <a:ext cx="4333875" cy="1209675"/>
          </a:xfrm>
          <a:prstGeom prst="roundRect">
            <a:avLst>
              <a:gd name="adj" fmla="val 13385"/>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752600" y="6534150"/>
            <a:ext cx="3057525" cy="533400"/>
          </a:xfrm>
          <a:prstGeom prst="rect">
            <a:avLst/>
          </a:prstGeom>
          <a:noFill/>
        </p:spPr>
        <p:txBody>
          <a:bodyPr wrap="none" lIns="0" rIns="0" tIns="0" bIns="0" anchor="t"/>
          <a:lstStyle/>
          <a:p>
            <a:pPr algn="l">
              <a:lnSpc>
                <a:spcPts val="2175"/>
              </a:lnSpc>
              <a:spcBef>
                <a:spcPts val="0"/>
              </a:spcBef>
              <a:spcAft>
                <a:spcPts val="0"/>
              </a:spcAft>
            </a:pPr>
            <a:r>
              <a:rPr sz="1875" b="1">
                <a:solidFill>
                  <a:srgbClr val="172540"/>
                </a:solidFill>
                <a:latin typeface="Arial"/>
              </a:rPr>
              <a:t>Isolated state</a:t>
            </a:r>
          </a:p>
        </p:txBody>
      </p:sp>
      <p:sp>
        <p:nvSpPr>
          <p:cNvPr id="74" name="Rounded Rectangle 73"/>
          <p:cNvSpPr/>
          <p:nvPr/>
        </p:nvSpPr>
        <p:spPr>
          <a:xfrm>
            <a:off x="5448300" y="6124575"/>
            <a:ext cx="4333875" cy="1209675"/>
          </a:xfrm>
          <a:prstGeom prst="roundRect">
            <a:avLst>
              <a:gd name="adj" fmla="val 13385"/>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581775" y="6534150"/>
            <a:ext cx="3057525" cy="533400"/>
          </a:xfrm>
          <a:prstGeom prst="rect">
            <a:avLst/>
          </a:prstGeom>
          <a:noFill/>
        </p:spPr>
        <p:txBody>
          <a:bodyPr wrap="none" lIns="0" rIns="0" tIns="0" bIns="0" anchor="t"/>
          <a:lstStyle/>
          <a:p>
            <a:pPr algn="l">
              <a:lnSpc>
                <a:spcPts val="2175"/>
              </a:lnSpc>
              <a:spcBef>
                <a:spcPts val="0"/>
              </a:spcBef>
              <a:spcAft>
                <a:spcPts val="0"/>
              </a:spcAft>
            </a:pPr>
            <a:r>
              <a:rPr sz="1875" b="1">
                <a:solidFill>
                  <a:srgbClr val="172540"/>
                </a:solidFill>
                <a:latin typeface="Arial"/>
              </a:rPr>
              <a:t>Shared state</a:t>
            </a:r>
          </a:p>
        </p:txBody>
      </p:sp>
      <p:sp>
        <p:nvSpPr>
          <p:cNvPr id="76" name="Rounded Rectangle 75"/>
          <p:cNvSpPr/>
          <p:nvPr/>
        </p:nvSpPr>
        <p:spPr>
          <a:xfrm>
            <a:off x="10287000" y="6124575"/>
            <a:ext cx="4333875" cy="1209675"/>
          </a:xfrm>
          <a:prstGeom prst="roundRect">
            <a:avLst>
              <a:gd name="adj" fmla="val 13385"/>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1420475" y="6534150"/>
            <a:ext cx="3057525" cy="533400"/>
          </a:xfrm>
          <a:prstGeom prst="rect">
            <a:avLst/>
          </a:prstGeom>
          <a:noFill/>
        </p:spPr>
        <p:txBody>
          <a:bodyPr wrap="none" lIns="0" rIns="0" tIns="0" bIns="0" anchor="t"/>
          <a:lstStyle/>
          <a:p>
            <a:pPr algn="l">
              <a:lnSpc>
                <a:spcPts val="2175"/>
              </a:lnSpc>
              <a:spcBef>
                <a:spcPts val="0"/>
              </a:spcBef>
              <a:spcAft>
                <a:spcPts val="0"/>
              </a:spcAft>
            </a:pPr>
            <a:r>
              <a:rPr sz="1875" b="1">
                <a:solidFill>
                  <a:srgbClr val="172540"/>
                </a:solidFill>
                <a:latin typeface="Arial"/>
              </a:rPr>
              <a:t>Coordinated workflow</a:t>
            </a:r>
          </a:p>
        </p:txBody>
      </p:sp>
      <p:grpSp>
        <p:nvGrpSpPr>
          <p:cNvPr id="86" name="Group 85"/>
          <p:cNvGrpSpPr/>
          <p:nvPr/>
        </p:nvGrpSpPr>
        <p:grpSpPr>
          <a:xfrm>
            <a:off x="831651" y="6323558"/>
            <a:ext cx="308372" cy="269825"/>
            <a:chOff x="831651" y="6323558"/>
            <a:chExt cx="308372" cy="269825"/>
          </a:xfrm>
        </p:grpSpPr>
        <p:sp>
          <p:nvSpPr>
            <p:cNvPr id="78" name="Rounded Rectangle 77"/>
            <p:cNvSpPr/>
            <p:nvPr/>
          </p:nvSpPr>
          <p:spPr>
            <a:xfrm>
              <a:off x="864691" y="6400651"/>
              <a:ext cx="242292" cy="192732"/>
            </a:xfrm>
            <a:prstGeom prst="roundRect">
              <a:avLst>
                <a:gd name="adj" fmla="val 20000"/>
              </a:avLst>
            </a:prstGeom>
            <a:noFill/>
            <a:ln w="14867">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9" name="Connector 78"/>
            <p:cNvCxnSpPr/>
            <p:nvPr/>
          </p:nvCxnSpPr>
          <p:spPr>
            <a:xfrm>
              <a:off x="985837" y="6345584"/>
              <a:ext cx="0" cy="55067"/>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sp>
          <p:nvSpPr>
            <p:cNvPr id="80" name="Oval 79"/>
            <p:cNvSpPr/>
            <p:nvPr/>
          </p:nvSpPr>
          <p:spPr>
            <a:xfrm>
              <a:off x="969317" y="6323558"/>
              <a:ext cx="33039" cy="33039"/>
            </a:xfrm>
            <a:prstGeom prst="ellipse">
              <a:avLst/>
            </a:prstGeom>
            <a:solidFill>
              <a:srgbClr val="3973F6"/>
            </a:solidFill>
            <a:ln w="14867">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1" name="Connector 80"/>
            <p:cNvCxnSpPr/>
            <p:nvPr/>
          </p:nvCxnSpPr>
          <p:spPr>
            <a:xfrm>
              <a:off x="831651" y="6466730"/>
              <a:ext cx="33040" cy="0"/>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106983" y="6466730"/>
              <a:ext cx="33040" cy="0"/>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sp>
          <p:nvSpPr>
            <p:cNvPr id="83" name="Oval 82"/>
            <p:cNvSpPr/>
            <p:nvPr/>
          </p:nvSpPr>
          <p:spPr>
            <a:xfrm>
              <a:off x="925264" y="6455717"/>
              <a:ext cx="22026" cy="22026"/>
            </a:xfrm>
            <a:prstGeom prst="ellipse">
              <a:avLst/>
            </a:prstGeom>
            <a:solidFill>
              <a:srgbClr val="3973F6"/>
            </a:solidFill>
            <a:ln w="14867">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024383" y="6455717"/>
              <a:ext cx="22026" cy="22026"/>
            </a:xfrm>
            <a:prstGeom prst="ellipse">
              <a:avLst/>
            </a:prstGeom>
            <a:solidFill>
              <a:srgbClr val="3973F6"/>
            </a:solidFill>
            <a:ln w="14867">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5" name="Connector 84"/>
            <p:cNvCxnSpPr/>
            <p:nvPr/>
          </p:nvCxnSpPr>
          <p:spPr>
            <a:xfrm>
              <a:off x="941784" y="6532810"/>
              <a:ext cx="88106" cy="0"/>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grpSp>
      <p:grpSp>
        <p:nvGrpSpPr>
          <p:cNvPr id="114" name="Group 113"/>
          <p:cNvGrpSpPr/>
          <p:nvPr/>
        </p:nvGrpSpPr>
        <p:grpSpPr>
          <a:xfrm>
            <a:off x="1409104" y="6345584"/>
            <a:ext cx="220266" cy="258812"/>
            <a:chOff x="1409104" y="6345584"/>
            <a:chExt cx="220266" cy="258812"/>
          </a:xfrm>
        </p:grpSpPr>
        <p:cxnSp>
          <p:nvCxnSpPr>
            <p:cNvPr id="87" name="Connector 86"/>
            <p:cNvCxnSpPr/>
            <p:nvPr/>
          </p:nvCxnSpPr>
          <p:spPr>
            <a:xfrm>
              <a:off x="1409104" y="6389637"/>
              <a:ext cx="0" cy="165200"/>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1629370" y="6389637"/>
              <a:ext cx="0" cy="165200"/>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sp>
          <p:nvSpPr>
            <p:cNvPr id="89" name="Oval 88"/>
            <p:cNvSpPr/>
            <p:nvPr/>
          </p:nvSpPr>
          <p:spPr>
            <a:xfrm>
              <a:off x="1409104" y="6345584"/>
              <a:ext cx="220265" cy="88106"/>
            </a:xfrm>
            <a:prstGeom prst="ellipse">
              <a:avLst/>
            </a:prstGeom>
            <a:noFill/>
            <a:ln w="14867">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0" name="Connector 89"/>
            <p:cNvCxnSpPr/>
            <p:nvPr/>
          </p:nvCxnSpPr>
          <p:spPr>
            <a:xfrm flipH="1">
              <a:off x="1625617" y="6516290"/>
              <a:ext cx="3753" cy="11402"/>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a:off x="1614615" y="6527692"/>
              <a:ext cx="11002" cy="10625"/>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a:off x="1597113" y="6538317"/>
              <a:ext cx="17502" cy="9123"/>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a:off x="1574303" y="6547440"/>
              <a:ext cx="22810" cy="7001"/>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H="1">
              <a:off x="1547741" y="6554441"/>
              <a:ext cx="26562" cy="4401"/>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a:off x="1519237" y="6558842"/>
              <a:ext cx="28504" cy="1501"/>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1490733" y="6558842"/>
              <a:ext cx="28504" cy="1501"/>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1464171" y="6554441"/>
              <a:ext cx="26562" cy="4401"/>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1441361" y="6547440"/>
              <a:ext cx="22810" cy="7001"/>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1423859" y="6538317"/>
              <a:ext cx="17502" cy="9123"/>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flipV="1">
              <a:off x="1412857" y="6527692"/>
              <a:ext cx="11002" cy="10625"/>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flipV="1">
              <a:off x="1409104" y="6516290"/>
              <a:ext cx="3753" cy="11402"/>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a:off x="1625617" y="6560343"/>
              <a:ext cx="3753" cy="11402"/>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a:off x="1614615" y="6571745"/>
              <a:ext cx="11002" cy="10625"/>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a:off x="1597113" y="6582370"/>
              <a:ext cx="17502" cy="9124"/>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a:off x="1574303" y="6591494"/>
              <a:ext cx="22810" cy="7000"/>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a:off x="1547741" y="6598494"/>
              <a:ext cx="26562" cy="4401"/>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a:off x="1519237" y="6602895"/>
              <a:ext cx="28504" cy="1501"/>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1490733" y="6602895"/>
              <a:ext cx="28504" cy="1501"/>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1464171" y="6598494"/>
              <a:ext cx="26562" cy="4401"/>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1441361" y="6591494"/>
              <a:ext cx="22810" cy="7000"/>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1423859" y="6582370"/>
              <a:ext cx="17502" cy="9124"/>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1412857" y="6571745"/>
              <a:ext cx="11002" cy="10625"/>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flipV="1">
              <a:off x="1409104" y="6560343"/>
              <a:ext cx="3753" cy="11402"/>
            </a:xfrm>
            <a:prstGeom prst="line">
              <a:avLst/>
            </a:prstGeom>
            <a:ln w="14867">
              <a:solidFill>
                <a:srgbClr val="3973F6"/>
              </a:solidFill>
            </a:ln>
          </p:spPr>
          <p:style>
            <a:lnRef idx="2">
              <a:schemeClr val="accent1"/>
            </a:lnRef>
            <a:fillRef idx="0">
              <a:schemeClr val="accent1"/>
            </a:fillRef>
            <a:effectRef idx="1">
              <a:schemeClr val="accent1"/>
            </a:effectRef>
            <a:fontRef idx="minor">
              <a:schemeClr val="tx1"/>
            </a:fontRef>
          </p:style>
        </p:cxnSp>
      </p:grpSp>
      <p:grpSp>
        <p:nvGrpSpPr>
          <p:cNvPr id="123" name="Group 122"/>
          <p:cNvGrpSpPr/>
          <p:nvPr/>
        </p:nvGrpSpPr>
        <p:grpSpPr>
          <a:xfrm>
            <a:off x="831651" y="6856958"/>
            <a:ext cx="308372" cy="269825"/>
            <a:chOff x="831651" y="6856958"/>
            <a:chExt cx="308372" cy="269825"/>
          </a:xfrm>
        </p:grpSpPr>
        <p:sp>
          <p:nvSpPr>
            <p:cNvPr id="115" name="Rounded Rectangle 114"/>
            <p:cNvSpPr/>
            <p:nvPr/>
          </p:nvSpPr>
          <p:spPr>
            <a:xfrm>
              <a:off x="864691" y="6934051"/>
              <a:ext cx="242292" cy="192732"/>
            </a:xfrm>
            <a:prstGeom prst="roundRect">
              <a:avLst>
                <a:gd name="adj" fmla="val 20000"/>
              </a:avLst>
            </a:prstGeom>
            <a:noFill/>
            <a:ln w="14867">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6" name="Connector 115"/>
            <p:cNvCxnSpPr/>
            <p:nvPr/>
          </p:nvCxnSpPr>
          <p:spPr>
            <a:xfrm>
              <a:off x="985837" y="6878984"/>
              <a:ext cx="0" cy="55067"/>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sp>
          <p:nvSpPr>
            <p:cNvPr id="117" name="Oval 116"/>
            <p:cNvSpPr/>
            <p:nvPr/>
          </p:nvSpPr>
          <p:spPr>
            <a:xfrm>
              <a:off x="969317" y="6856958"/>
              <a:ext cx="33039" cy="33039"/>
            </a:xfrm>
            <a:prstGeom prst="ellipse">
              <a:avLst/>
            </a:prstGeom>
            <a:solidFill>
              <a:srgbClr val="0B9696"/>
            </a:solidFill>
            <a:ln w="14867">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8" name="Connector 117"/>
            <p:cNvCxnSpPr/>
            <p:nvPr/>
          </p:nvCxnSpPr>
          <p:spPr>
            <a:xfrm>
              <a:off x="831651" y="7000130"/>
              <a:ext cx="33040" cy="0"/>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1106983" y="7000130"/>
              <a:ext cx="33040" cy="0"/>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sp>
          <p:nvSpPr>
            <p:cNvPr id="120" name="Oval 119"/>
            <p:cNvSpPr/>
            <p:nvPr/>
          </p:nvSpPr>
          <p:spPr>
            <a:xfrm>
              <a:off x="925264" y="6989117"/>
              <a:ext cx="22026" cy="22026"/>
            </a:xfrm>
            <a:prstGeom prst="ellipse">
              <a:avLst/>
            </a:prstGeom>
            <a:solidFill>
              <a:srgbClr val="0B9696"/>
            </a:solidFill>
            <a:ln w="14867">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1024383" y="6989117"/>
              <a:ext cx="22026" cy="22026"/>
            </a:xfrm>
            <a:prstGeom prst="ellipse">
              <a:avLst/>
            </a:prstGeom>
            <a:solidFill>
              <a:srgbClr val="0B9696"/>
            </a:solidFill>
            <a:ln w="14867">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2" name="Connector 121"/>
            <p:cNvCxnSpPr/>
            <p:nvPr/>
          </p:nvCxnSpPr>
          <p:spPr>
            <a:xfrm>
              <a:off x="941784" y="7066210"/>
              <a:ext cx="88106" cy="0"/>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grpSp>
      <p:grpSp>
        <p:nvGrpSpPr>
          <p:cNvPr id="151" name="Group 150"/>
          <p:cNvGrpSpPr/>
          <p:nvPr/>
        </p:nvGrpSpPr>
        <p:grpSpPr>
          <a:xfrm>
            <a:off x="1409104" y="6878984"/>
            <a:ext cx="220266" cy="258812"/>
            <a:chOff x="1409104" y="6878984"/>
            <a:chExt cx="220266" cy="258812"/>
          </a:xfrm>
        </p:grpSpPr>
        <p:cxnSp>
          <p:nvCxnSpPr>
            <p:cNvPr id="124" name="Connector 123"/>
            <p:cNvCxnSpPr/>
            <p:nvPr/>
          </p:nvCxnSpPr>
          <p:spPr>
            <a:xfrm>
              <a:off x="1409104" y="6923037"/>
              <a:ext cx="0" cy="165200"/>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1629370" y="6923037"/>
              <a:ext cx="0" cy="165200"/>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sp>
          <p:nvSpPr>
            <p:cNvPr id="126" name="Oval 125"/>
            <p:cNvSpPr/>
            <p:nvPr/>
          </p:nvSpPr>
          <p:spPr>
            <a:xfrm>
              <a:off x="1409104" y="6878984"/>
              <a:ext cx="220265" cy="88106"/>
            </a:xfrm>
            <a:prstGeom prst="ellipse">
              <a:avLst/>
            </a:prstGeom>
            <a:noFill/>
            <a:ln w="14867">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7" name="Connector 126"/>
            <p:cNvCxnSpPr/>
            <p:nvPr/>
          </p:nvCxnSpPr>
          <p:spPr>
            <a:xfrm flipH="1">
              <a:off x="1625617" y="7049690"/>
              <a:ext cx="3753" cy="11402"/>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H="1">
              <a:off x="1614615" y="7061092"/>
              <a:ext cx="11002" cy="10625"/>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H="1">
              <a:off x="1597113" y="7071717"/>
              <a:ext cx="17502" cy="9123"/>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H="1">
              <a:off x="1574303" y="7080840"/>
              <a:ext cx="22810" cy="7001"/>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H="1">
              <a:off x="1547741" y="7087841"/>
              <a:ext cx="26562" cy="4401"/>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H="1">
              <a:off x="1519237" y="7092242"/>
              <a:ext cx="28504" cy="1501"/>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H="1" flipV="1">
              <a:off x="1490733" y="7092242"/>
              <a:ext cx="28504" cy="1501"/>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H="1" flipV="1">
              <a:off x="1464171" y="7087841"/>
              <a:ext cx="26562" cy="4401"/>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H="1" flipV="1">
              <a:off x="1441361" y="7080840"/>
              <a:ext cx="22810" cy="7001"/>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H="1" flipV="1">
              <a:off x="1423859" y="7071717"/>
              <a:ext cx="17502" cy="9123"/>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H="1" flipV="1">
              <a:off x="1412857" y="7061092"/>
              <a:ext cx="11002" cy="10625"/>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H="1" flipV="1">
              <a:off x="1409104" y="7049690"/>
              <a:ext cx="3753" cy="11402"/>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H="1">
              <a:off x="1625617" y="7093743"/>
              <a:ext cx="3753" cy="11402"/>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H="1">
              <a:off x="1614615" y="7105145"/>
              <a:ext cx="11002" cy="10625"/>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H="1">
              <a:off x="1597113" y="7115770"/>
              <a:ext cx="17502" cy="9124"/>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H="1">
              <a:off x="1574303" y="7124894"/>
              <a:ext cx="22810" cy="7000"/>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H="1">
              <a:off x="1547741" y="7131894"/>
              <a:ext cx="26562" cy="4401"/>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H="1">
              <a:off x="1519237" y="7136295"/>
              <a:ext cx="28504" cy="1501"/>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H="1" flipV="1">
              <a:off x="1490733" y="7136295"/>
              <a:ext cx="28504" cy="1501"/>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H="1" flipV="1">
              <a:off x="1464171" y="7131894"/>
              <a:ext cx="26562" cy="4401"/>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H="1" flipV="1">
              <a:off x="1441361" y="7124894"/>
              <a:ext cx="22810" cy="7000"/>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H="1" flipV="1">
              <a:off x="1423859" y="7115770"/>
              <a:ext cx="17502" cy="9124"/>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H="1" flipV="1">
              <a:off x="1412857" y="7105145"/>
              <a:ext cx="11002" cy="10625"/>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H="1" flipV="1">
              <a:off x="1409104" y="7093743"/>
              <a:ext cx="3753" cy="11402"/>
            </a:xfrm>
            <a:prstGeom prst="line">
              <a:avLst/>
            </a:prstGeom>
            <a:ln w="14867">
              <a:solidFill>
                <a:srgbClr val="0B9696"/>
              </a:solidFill>
            </a:ln>
          </p:spPr>
          <p:style>
            <a:lnRef idx="2">
              <a:schemeClr val="accent1"/>
            </a:lnRef>
            <a:fillRef idx="0">
              <a:schemeClr val="accent1"/>
            </a:fillRef>
            <a:effectRef idx="1">
              <a:schemeClr val="accent1"/>
            </a:effectRef>
            <a:fontRef idx="minor">
              <a:schemeClr val="tx1"/>
            </a:fontRef>
          </p:style>
        </p:cxnSp>
      </p:grpSp>
      <p:cxnSp>
        <p:nvCxnSpPr>
          <p:cNvPr id="152" name="Connector 151"/>
          <p:cNvCxnSpPr/>
          <p:nvPr/>
        </p:nvCxnSpPr>
        <p:spPr>
          <a:xfrm>
            <a:off x="1219200" y="6486525"/>
            <a:ext cx="114300" cy="0"/>
          </a:xfrm>
          <a:prstGeom prst="line">
            <a:avLst/>
          </a:prstGeom>
          <a:ln w="19050">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219200" y="7019925"/>
            <a:ext cx="114300" cy="0"/>
          </a:xfrm>
          <a:prstGeom prst="line">
            <a:avLst/>
          </a:prstGeom>
          <a:ln w="19050">
            <a:solidFill>
              <a:srgbClr val="0B9696"/>
            </a:solidFill>
          </a:ln>
        </p:spPr>
        <p:style>
          <a:lnRef idx="2">
            <a:schemeClr val="accent1"/>
          </a:lnRef>
          <a:fillRef idx="0">
            <a:schemeClr val="accent1"/>
          </a:fillRef>
          <a:effectRef idx="1">
            <a:schemeClr val="accent1"/>
          </a:effectRef>
          <a:fontRef idx="minor">
            <a:schemeClr val="tx1"/>
          </a:fontRef>
        </p:style>
      </p:cxnSp>
      <p:grpSp>
        <p:nvGrpSpPr>
          <p:cNvPr id="162" name="Group 161"/>
          <p:cNvGrpSpPr/>
          <p:nvPr/>
        </p:nvGrpSpPr>
        <p:grpSpPr>
          <a:xfrm>
            <a:off x="5630465" y="6340375"/>
            <a:ext cx="283369" cy="247947"/>
            <a:chOff x="5630465" y="6340375"/>
            <a:chExt cx="283369" cy="247947"/>
          </a:xfrm>
        </p:grpSpPr>
        <p:sp>
          <p:nvSpPr>
            <p:cNvPr id="154" name="Rounded Rectangle 153"/>
            <p:cNvSpPr/>
            <p:nvPr/>
          </p:nvSpPr>
          <p:spPr>
            <a:xfrm>
              <a:off x="5660826" y="6411217"/>
              <a:ext cx="222646" cy="177105"/>
            </a:xfrm>
            <a:prstGeom prst="roundRect">
              <a:avLst>
                <a:gd name="adj" fmla="val 20000"/>
              </a:avLst>
            </a:prstGeom>
            <a:noFill/>
            <a:ln w="13662">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5" name="Connector 154"/>
            <p:cNvCxnSpPr/>
            <p:nvPr/>
          </p:nvCxnSpPr>
          <p:spPr>
            <a:xfrm>
              <a:off x="5772150" y="6360616"/>
              <a:ext cx="0" cy="50601"/>
            </a:xfrm>
            <a:prstGeom prst="line">
              <a:avLst/>
            </a:prstGeom>
            <a:ln w="13662">
              <a:solidFill>
                <a:srgbClr val="3973F6"/>
              </a:solidFill>
            </a:ln>
          </p:spPr>
          <p:style>
            <a:lnRef idx="2">
              <a:schemeClr val="accent1"/>
            </a:lnRef>
            <a:fillRef idx="0">
              <a:schemeClr val="accent1"/>
            </a:fillRef>
            <a:effectRef idx="1">
              <a:schemeClr val="accent1"/>
            </a:effectRef>
            <a:fontRef idx="minor">
              <a:schemeClr val="tx1"/>
            </a:fontRef>
          </p:style>
        </p:cxnSp>
        <p:sp>
          <p:nvSpPr>
            <p:cNvPr id="156" name="Oval 155"/>
            <p:cNvSpPr/>
            <p:nvPr/>
          </p:nvSpPr>
          <p:spPr>
            <a:xfrm>
              <a:off x="5756969" y="6340375"/>
              <a:ext cx="30360" cy="30360"/>
            </a:xfrm>
            <a:prstGeom prst="ellipse">
              <a:avLst/>
            </a:prstGeom>
            <a:solidFill>
              <a:srgbClr val="3973F6"/>
            </a:solidFill>
            <a:ln w="13662">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7" name="Connector 156"/>
            <p:cNvCxnSpPr/>
            <p:nvPr/>
          </p:nvCxnSpPr>
          <p:spPr>
            <a:xfrm>
              <a:off x="5630465" y="6471939"/>
              <a:ext cx="30361" cy="0"/>
            </a:xfrm>
            <a:prstGeom prst="line">
              <a:avLst/>
            </a:prstGeom>
            <a:ln w="1366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a:off x="5883473" y="6471939"/>
              <a:ext cx="30361" cy="0"/>
            </a:xfrm>
            <a:prstGeom prst="line">
              <a:avLst/>
            </a:prstGeom>
            <a:ln w="13662">
              <a:solidFill>
                <a:srgbClr val="3973F6"/>
              </a:solidFill>
            </a:ln>
          </p:spPr>
          <p:style>
            <a:lnRef idx="2">
              <a:schemeClr val="accent1"/>
            </a:lnRef>
            <a:fillRef idx="0">
              <a:schemeClr val="accent1"/>
            </a:fillRef>
            <a:effectRef idx="1">
              <a:schemeClr val="accent1"/>
            </a:effectRef>
            <a:fontRef idx="minor">
              <a:schemeClr val="tx1"/>
            </a:fontRef>
          </p:style>
        </p:cxnSp>
        <p:sp>
          <p:nvSpPr>
            <p:cNvPr id="159" name="Oval 158"/>
            <p:cNvSpPr/>
            <p:nvPr/>
          </p:nvSpPr>
          <p:spPr>
            <a:xfrm>
              <a:off x="5716488" y="6461819"/>
              <a:ext cx="20240" cy="20240"/>
            </a:xfrm>
            <a:prstGeom prst="ellipse">
              <a:avLst/>
            </a:prstGeom>
            <a:solidFill>
              <a:srgbClr val="3973F6"/>
            </a:solidFill>
            <a:ln w="13662">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Oval 159"/>
            <p:cNvSpPr/>
            <p:nvPr/>
          </p:nvSpPr>
          <p:spPr>
            <a:xfrm>
              <a:off x="5807571" y="6461819"/>
              <a:ext cx="20240" cy="20240"/>
            </a:xfrm>
            <a:prstGeom prst="ellipse">
              <a:avLst/>
            </a:prstGeom>
            <a:solidFill>
              <a:srgbClr val="3973F6"/>
            </a:solidFill>
            <a:ln w="13662">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1" name="Connector 160"/>
            <p:cNvCxnSpPr/>
            <p:nvPr/>
          </p:nvCxnSpPr>
          <p:spPr>
            <a:xfrm>
              <a:off x="5731668" y="6532661"/>
              <a:ext cx="80963" cy="0"/>
            </a:xfrm>
            <a:prstGeom prst="line">
              <a:avLst/>
            </a:prstGeom>
            <a:ln w="13662">
              <a:solidFill>
                <a:srgbClr val="3973F6"/>
              </a:solidFill>
            </a:ln>
          </p:spPr>
          <p:style>
            <a:lnRef idx="2">
              <a:schemeClr val="accent1"/>
            </a:lnRef>
            <a:fillRef idx="0">
              <a:schemeClr val="accent1"/>
            </a:fillRef>
            <a:effectRef idx="1">
              <a:schemeClr val="accent1"/>
            </a:effectRef>
            <a:fontRef idx="minor">
              <a:schemeClr val="tx1"/>
            </a:fontRef>
          </p:style>
        </p:cxnSp>
      </p:grpSp>
      <p:grpSp>
        <p:nvGrpSpPr>
          <p:cNvPr id="171" name="Group 170"/>
          <p:cNvGrpSpPr/>
          <p:nvPr/>
        </p:nvGrpSpPr>
        <p:grpSpPr>
          <a:xfrm>
            <a:off x="5630465" y="6873775"/>
            <a:ext cx="283369" cy="247947"/>
            <a:chOff x="5630465" y="6873775"/>
            <a:chExt cx="283369" cy="247947"/>
          </a:xfrm>
        </p:grpSpPr>
        <p:sp>
          <p:nvSpPr>
            <p:cNvPr id="163" name="Rounded Rectangle 162"/>
            <p:cNvSpPr/>
            <p:nvPr/>
          </p:nvSpPr>
          <p:spPr>
            <a:xfrm>
              <a:off x="5660826" y="6944617"/>
              <a:ext cx="222646" cy="177105"/>
            </a:xfrm>
            <a:prstGeom prst="roundRect">
              <a:avLst>
                <a:gd name="adj" fmla="val 20000"/>
              </a:avLst>
            </a:prstGeom>
            <a:noFill/>
            <a:ln w="13662">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4" name="Connector 163"/>
            <p:cNvCxnSpPr/>
            <p:nvPr/>
          </p:nvCxnSpPr>
          <p:spPr>
            <a:xfrm>
              <a:off x="5772150" y="6894016"/>
              <a:ext cx="0" cy="50601"/>
            </a:xfrm>
            <a:prstGeom prst="line">
              <a:avLst/>
            </a:prstGeom>
            <a:ln w="13662">
              <a:solidFill>
                <a:srgbClr val="0B9696"/>
              </a:solidFill>
            </a:ln>
          </p:spPr>
          <p:style>
            <a:lnRef idx="2">
              <a:schemeClr val="accent1"/>
            </a:lnRef>
            <a:fillRef idx="0">
              <a:schemeClr val="accent1"/>
            </a:fillRef>
            <a:effectRef idx="1">
              <a:schemeClr val="accent1"/>
            </a:effectRef>
            <a:fontRef idx="minor">
              <a:schemeClr val="tx1"/>
            </a:fontRef>
          </p:style>
        </p:cxnSp>
        <p:sp>
          <p:nvSpPr>
            <p:cNvPr id="165" name="Oval 164"/>
            <p:cNvSpPr/>
            <p:nvPr/>
          </p:nvSpPr>
          <p:spPr>
            <a:xfrm>
              <a:off x="5756969" y="6873775"/>
              <a:ext cx="30360" cy="30360"/>
            </a:xfrm>
            <a:prstGeom prst="ellipse">
              <a:avLst/>
            </a:prstGeom>
            <a:solidFill>
              <a:srgbClr val="0B9696"/>
            </a:solidFill>
            <a:ln w="13662">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6" name="Connector 165"/>
            <p:cNvCxnSpPr/>
            <p:nvPr/>
          </p:nvCxnSpPr>
          <p:spPr>
            <a:xfrm>
              <a:off x="5630465" y="7005339"/>
              <a:ext cx="30361" cy="0"/>
            </a:xfrm>
            <a:prstGeom prst="line">
              <a:avLst/>
            </a:prstGeom>
            <a:ln w="1366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a:off x="5883473" y="7005339"/>
              <a:ext cx="30361" cy="0"/>
            </a:xfrm>
            <a:prstGeom prst="line">
              <a:avLst/>
            </a:prstGeom>
            <a:ln w="13662">
              <a:solidFill>
                <a:srgbClr val="0B9696"/>
              </a:solidFill>
            </a:ln>
          </p:spPr>
          <p:style>
            <a:lnRef idx="2">
              <a:schemeClr val="accent1"/>
            </a:lnRef>
            <a:fillRef idx="0">
              <a:schemeClr val="accent1"/>
            </a:fillRef>
            <a:effectRef idx="1">
              <a:schemeClr val="accent1"/>
            </a:effectRef>
            <a:fontRef idx="minor">
              <a:schemeClr val="tx1"/>
            </a:fontRef>
          </p:style>
        </p:cxnSp>
        <p:sp>
          <p:nvSpPr>
            <p:cNvPr id="168" name="Oval 167"/>
            <p:cNvSpPr/>
            <p:nvPr/>
          </p:nvSpPr>
          <p:spPr>
            <a:xfrm>
              <a:off x="5716488" y="6995219"/>
              <a:ext cx="20240" cy="20240"/>
            </a:xfrm>
            <a:prstGeom prst="ellipse">
              <a:avLst/>
            </a:prstGeom>
            <a:solidFill>
              <a:srgbClr val="0B9696"/>
            </a:solidFill>
            <a:ln w="13662">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Oval 168"/>
            <p:cNvSpPr/>
            <p:nvPr/>
          </p:nvSpPr>
          <p:spPr>
            <a:xfrm>
              <a:off x="5807571" y="6995219"/>
              <a:ext cx="20240" cy="20240"/>
            </a:xfrm>
            <a:prstGeom prst="ellipse">
              <a:avLst/>
            </a:prstGeom>
            <a:solidFill>
              <a:srgbClr val="0B9696"/>
            </a:solidFill>
            <a:ln w="13662">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0" name="Connector 169"/>
            <p:cNvCxnSpPr/>
            <p:nvPr/>
          </p:nvCxnSpPr>
          <p:spPr>
            <a:xfrm>
              <a:off x="5731668" y="7066061"/>
              <a:ext cx="80963" cy="0"/>
            </a:xfrm>
            <a:prstGeom prst="line">
              <a:avLst/>
            </a:prstGeom>
            <a:ln w="13662">
              <a:solidFill>
                <a:srgbClr val="0B9696"/>
              </a:solidFill>
            </a:ln>
          </p:spPr>
          <p:style>
            <a:lnRef idx="2">
              <a:schemeClr val="accent1"/>
            </a:lnRef>
            <a:fillRef idx="0">
              <a:schemeClr val="accent1"/>
            </a:fillRef>
            <a:effectRef idx="1">
              <a:schemeClr val="accent1"/>
            </a:effectRef>
            <a:fontRef idx="minor">
              <a:schemeClr val="tx1"/>
            </a:fontRef>
          </p:style>
        </p:cxnSp>
      </p:grpSp>
      <p:grpSp>
        <p:nvGrpSpPr>
          <p:cNvPr id="199" name="Group 198"/>
          <p:cNvGrpSpPr/>
          <p:nvPr/>
        </p:nvGrpSpPr>
        <p:grpSpPr>
          <a:xfrm>
            <a:off x="6222801" y="6624488"/>
            <a:ext cx="232172" cy="272802"/>
            <a:chOff x="6222801" y="6624488"/>
            <a:chExt cx="232172" cy="272802"/>
          </a:xfrm>
        </p:grpSpPr>
        <p:cxnSp>
          <p:nvCxnSpPr>
            <p:cNvPr id="172" name="Connector 171"/>
            <p:cNvCxnSpPr/>
            <p:nvPr/>
          </p:nvCxnSpPr>
          <p:spPr>
            <a:xfrm>
              <a:off x="6222801" y="6670923"/>
              <a:ext cx="0" cy="174128"/>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a:off x="6454973" y="6670923"/>
              <a:ext cx="0" cy="174128"/>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sp>
          <p:nvSpPr>
            <p:cNvPr id="174" name="Oval 173"/>
            <p:cNvSpPr/>
            <p:nvPr/>
          </p:nvSpPr>
          <p:spPr>
            <a:xfrm>
              <a:off x="6222801" y="6624488"/>
              <a:ext cx="232171" cy="92868"/>
            </a:xfrm>
            <a:prstGeom prst="ellipse">
              <a:avLst/>
            </a:prstGeom>
            <a:noFill/>
            <a:ln w="15671">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5" name="Connector 174"/>
            <p:cNvCxnSpPr/>
            <p:nvPr/>
          </p:nvCxnSpPr>
          <p:spPr>
            <a:xfrm flipH="1">
              <a:off x="6451017" y="6804421"/>
              <a:ext cx="3956" cy="12018"/>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H="1">
              <a:off x="6439420" y="6816439"/>
              <a:ext cx="11597" cy="11200"/>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H="1">
              <a:off x="6420972" y="6827639"/>
              <a:ext cx="18448" cy="9616"/>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H="1">
              <a:off x="6396930" y="6837255"/>
              <a:ext cx="24042" cy="7380"/>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H="1">
              <a:off x="6368932" y="6844635"/>
              <a:ext cx="27998" cy="4639"/>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H="1">
              <a:off x="6338887" y="6849274"/>
              <a:ext cx="30045" cy="1582"/>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H="1" flipV="1">
              <a:off x="6308842" y="6849274"/>
              <a:ext cx="30045" cy="1582"/>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H="1" flipV="1">
              <a:off x="6280844" y="6844635"/>
              <a:ext cx="27998" cy="4639"/>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H="1" flipV="1">
              <a:off x="6256802" y="6837255"/>
              <a:ext cx="24042" cy="7380"/>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H="1" flipV="1">
              <a:off x="6238354" y="6827639"/>
              <a:ext cx="18448" cy="9616"/>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H="1" flipV="1">
              <a:off x="6226757" y="6816439"/>
              <a:ext cx="11597" cy="11200"/>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H="1" flipV="1">
              <a:off x="6222801" y="6804421"/>
              <a:ext cx="3956" cy="12018"/>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H="1">
              <a:off x="6451017" y="6850856"/>
              <a:ext cx="3956" cy="12018"/>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H="1">
              <a:off x="6439420" y="6862874"/>
              <a:ext cx="11597" cy="11199"/>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H="1">
              <a:off x="6420972" y="6874073"/>
              <a:ext cx="18448" cy="9617"/>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H="1">
              <a:off x="6396930" y="6883690"/>
              <a:ext cx="24042" cy="7379"/>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H="1">
              <a:off x="6368932" y="6891069"/>
              <a:ext cx="27998" cy="4639"/>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H="1">
              <a:off x="6338887" y="6895708"/>
              <a:ext cx="30045" cy="1582"/>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H="1" flipV="1">
              <a:off x="6308842" y="6895708"/>
              <a:ext cx="30045" cy="1582"/>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H="1" flipV="1">
              <a:off x="6280844" y="6891069"/>
              <a:ext cx="27998" cy="4639"/>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H="1" flipV="1">
              <a:off x="6256802" y="6883690"/>
              <a:ext cx="24042" cy="7379"/>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H="1" flipV="1">
              <a:off x="6238354" y="6874073"/>
              <a:ext cx="18448" cy="9617"/>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H="1" flipV="1">
              <a:off x="6226757" y="6862874"/>
              <a:ext cx="11597" cy="11199"/>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H="1" flipV="1">
              <a:off x="6222801" y="6850856"/>
              <a:ext cx="3956" cy="12018"/>
            </a:xfrm>
            <a:prstGeom prst="line">
              <a:avLst/>
            </a:prstGeom>
            <a:ln w="15671">
              <a:solidFill>
                <a:srgbClr val="3973F6"/>
              </a:solidFill>
            </a:ln>
          </p:spPr>
          <p:style>
            <a:lnRef idx="2">
              <a:schemeClr val="accent1"/>
            </a:lnRef>
            <a:fillRef idx="0">
              <a:schemeClr val="accent1"/>
            </a:fillRef>
            <a:effectRef idx="1">
              <a:schemeClr val="accent1"/>
            </a:effectRef>
            <a:fontRef idx="minor">
              <a:schemeClr val="tx1"/>
            </a:fontRef>
          </p:style>
        </p:cxnSp>
      </p:grpSp>
      <p:cxnSp>
        <p:nvCxnSpPr>
          <p:cNvPr id="200" name="Connector 199"/>
          <p:cNvCxnSpPr/>
          <p:nvPr/>
        </p:nvCxnSpPr>
        <p:spPr>
          <a:xfrm>
            <a:off x="5962650" y="6477000"/>
            <a:ext cx="123825" cy="0"/>
          </a:xfrm>
          <a:prstGeom prst="line">
            <a:avLst/>
          </a:prstGeom>
          <a:ln w="19050">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6086475" y="6477000"/>
            <a:ext cx="0" cy="295275"/>
          </a:xfrm>
          <a:prstGeom prst="line">
            <a:avLst/>
          </a:prstGeom>
          <a:ln w="19050">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a:off x="6086475" y="6772275"/>
            <a:ext cx="66675" cy="0"/>
          </a:xfrm>
          <a:prstGeom prst="line">
            <a:avLst/>
          </a:prstGeom>
          <a:ln w="19050">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5962650" y="7000875"/>
            <a:ext cx="123825" cy="0"/>
          </a:xfrm>
          <a:prstGeom prst="line">
            <a:avLst/>
          </a:prstGeom>
          <a:ln w="1905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6086475" y="6772275"/>
            <a:ext cx="0" cy="228600"/>
          </a:xfrm>
          <a:prstGeom prst="line">
            <a:avLst/>
          </a:prstGeom>
          <a:ln w="19050">
            <a:solidFill>
              <a:srgbClr val="0B9696"/>
            </a:solidFill>
          </a:ln>
        </p:spPr>
        <p:style>
          <a:lnRef idx="2">
            <a:schemeClr val="accent1"/>
          </a:lnRef>
          <a:fillRef idx="0">
            <a:schemeClr val="accent1"/>
          </a:fillRef>
          <a:effectRef idx="1">
            <a:schemeClr val="accent1"/>
          </a:effectRef>
          <a:fontRef idx="minor">
            <a:schemeClr val="tx1"/>
          </a:fontRef>
        </p:style>
      </p:cxnSp>
      <p:grpSp>
        <p:nvGrpSpPr>
          <p:cNvPr id="213" name="Group 212"/>
          <p:cNvGrpSpPr/>
          <p:nvPr/>
        </p:nvGrpSpPr>
        <p:grpSpPr>
          <a:xfrm>
            <a:off x="10473332" y="6402734"/>
            <a:ext cx="341710" cy="298996"/>
            <a:chOff x="10473332" y="6402734"/>
            <a:chExt cx="341710" cy="298996"/>
          </a:xfrm>
        </p:grpSpPr>
        <p:sp>
          <p:nvSpPr>
            <p:cNvPr id="205" name="Rounded Rectangle 204"/>
            <p:cNvSpPr/>
            <p:nvPr/>
          </p:nvSpPr>
          <p:spPr>
            <a:xfrm>
              <a:off x="10509944" y="6488162"/>
              <a:ext cx="268485" cy="213568"/>
            </a:xfrm>
            <a:prstGeom prst="roundRect">
              <a:avLst>
                <a:gd name="adj" fmla="val 20000"/>
              </a:avLst>
            </a:prstGeom>
            <a:noFill/>
            <a:ln w="16475">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6" name="Connector 205"/>
            <p:cNvCxnSpPr/>
            <p:nvPr/>
          </p:nvCxnSpPr>
          <p:spPr>
            <a:xfrm>
              <a:off x="10644187" y="6427142"/>
              <a:ext cx="0" cy="61020"/>
            </a:xfrm>
            <a:prstGeom prst="line">
              <a:avLst/>
            </a:prstGeom>
            <a:ln w="16475">
              <a:solidFill>
                <a:srgbClr val="3973F6"/>
              </a:solidFill>
            </a:ln>
          </p:spPr>
          <p:style>
            <a:lnRef idx="2">
              <a:schemeClr val="accent1"/>
            </a:lnRef>
            <a:fillRef idx="0">
              <a:schemeClr val="accent1"/>
            </a:fillRef>
            <a:effectRef idx="1">
              <a:schemeClr val="accent1"/>
            </a:effectRef>
            <a:fontRef idx="minor">
              <a:schemeClr val="tx1"/>
            </a:fontRef>
          </p:style>
        </p:cxnSp>
        <p:sp>
          <p:nvSpPr>
            <p:cNvPr id="207" name="Oval 206"/>
            <p:cNvSpPr/>
            <p:nvPr/>
          </p:nvSpPr>
          <p:spPr>
            <a:xfrm>
              <a:off x="10625881" y="6402734"/>
              <a:ext cx="36611" cy="36611"/>
            </a:xfrm>
            <a:prstGeom prst="ellipse">
              <a:avLst/>
            </a:prstGeom>
            <a:solidFill>
              <a:srgbClr val="3973F6"/>
            </a:solidFill>
            <a:ln w="16475">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8" name="Connector 207"/>
            <p:cNvCxnSpPr/>
            <p:nvPr/>
          </p:nvCxnSpPr>
          <p:spPr>
            <a:xfrm>
              <a:off x="10473332" y="6561385"/>
              <a:ext cx="36612" cy="0"/>
            </a:xfrm>
            <a:prstGeom prst="line">
              <a:avLst/>
            </a:prstGeom>
            <a:ln w="164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10778430" y="6561385"/>
              <a:ext cx="36612" cy="0"/>
            </a:xfrm>
            <a:prstGeom prst="line">
              <a:avLst/>
            </a:prstGeom>
            <a:ln w="16475">
              <a:solidFill>
                <a:srgbClr val="3973F6"/>
              </a:solidFill>
            </a:ln>
          </p:spPr>
          <p:style>
            <a:lnRef idx="2">
              <a:schemeClr val="accent1"/>
            </a:lnRef>
            <a:fillRef idx="0">
              <a:schemeClr val="accent1"/>
            </a:fillRef>
            <a:effectRef idx="1">
              <a:schemeClr val="accent1"/>
            </a:effectRef>
            <a:fontRef idx="minor">
              <a:schemeClr val="tx1"/>
            </a:fontRef>
          </p:style>
        </p:cxnSp>
        <p:sp>
          <p:nvSpPr>
            <p:cNvPr id="210" name="Oval 209"/>
            <p:cNvSpPr/>
            <p:nvPr/>
          </p:nvSpPr>
          <p:spPr>
            <a:xfrm>
              <a:off x="10577066" y="6549181"/>
              <a:ext cx="24407" cy="24407"/>
            </a:xfrm>
            <a:prstGeom prst="ellipse">
              <a:avLst/>
            </a:prstGeom>
            <a:solidFill>
              <a:srgbClr val="3973F6"/>
            </a:solidFill>
            <a:ln w="16475">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10686901" y="6549181"/>
              <a:ext cx="24407" cy="24407"/>
            </a:xfrm>
            <a:prstGeom prst="ellipse">
              <a:avLst/>
            </a:prstGeom>
            <a:solidFill>
              <a:srgbClr val="3973F6"/>
            </a:solidFill>
            <a:ln w="16475">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2" name="Connector 211"/>
            <p:cNvCxnSpPr/>
            <p:nvPr/>
          </p:nvCxnSpPr>
          <p:spPr>
            <a:xfrm>
              <a:off x="10595371" y="6634608"/>
              <a:ext cx="97632" cy="0"/>
            </a:xfrm>
            <a:prstGeom prst="line">
              <a:avLst/>
            </a:prstGeom>
            <a:ln w="16475">
              <a:solidFill>
                <a:srgbClr val="3973F6"/>
              </a:solidFill>
            </a:ln>
          </p:spPr>
          <p:style>
            <a:lnRef idx="2">
              <a:schemeClr val="accent1"/>
            </a:lnRef>
            <a:fillRef idx="0">
              <a:schemeClr val="accent1"/>
            </a:fillRef>
            <a:effectRef idx="1">
              <a:schemeClr val="accent1"/>
            </a:effectRef>
            <a:fontRef idx="minor">
              <a:schemeClr val="tx1"/>
            </a:fontRef>
          </p:style>
        </p:cxnSp>
      </p:grpSp>
      <p:grpSp>
        <p:nvGrpSpPr>
          <p:cNvPr id="222" name="Group 221"/>
          <p:cNvGrpSpPr/>
          <p:nvPr/>
        </p:nvGrpSpPr>
        <p:grpSpPr>
          <a:xfrm>
            <a:off x="10940057" y="6793259"/>
            <a:ext cx="341710" cy="298996"/>
            <a:chOff x="10940057" y="6793259"/>
            <a:chExt cx="341710" cy="298996"/>
          </a:xfrm>
        </p:grpSpPr>
        <p:sp>
          <p:nvSpPr>
            <p:cNvPr id="214" name="Rounded Rectangle 213"/>
            <p:cNvSpPr/>
            <p:nvPr/>
          </p:nvSpPr>
          <p:spPr>
            <a:xfrm>
              <a:off x="10976669" y="6878687"/>
              <a:ext cx="268485" cy="213568"/>
            </a:xfrm>
            <a:prstGeom prst="roundRect">
              <a:avLst>
                <a:gd name="adj" fmla="val 20000"/>
              </a:avLst>
            </a:prstGeom>
            <a:noFill/>
            <a:ln w="16475">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5" name="Connector 214"/>
            <p:cNvCxnSpPr/>
            <p:nvPr/>
          </p:nvCxnSpPr>
          <p:spPr>
            <a:xfrm>
              <a:off x="11110912" y="6817667"/>
              <a:ext cx="0" cy="61020"/>
            </a:xfrm>
            <a:prstGeom prst="line">
              <a:avLst/>
            </a:prstGeom>
            <a:ln w="16475">
              <a:solidFill>
                <a:srgbClr val="0B9696"/>
              </a:solidFill>
            </a:ln>
          </p:spPr>
          <p:style>
            <a:lnRef idx="2">
              <a:schemeClr val="accent1"/>
            </a:lnRef>
            <a:fillRef idx="0">
              <a:schemeClr val="accent1"/>
            </a:fillRef>
            <a:effectRef idx="1">
              <a:schemeClr val="accent1"/>
            </a:effectRef>
            <a:fontRef idx="minor">
              <a:schemeClr val="tx1"/>
            </a:fontRef>
          </p:style>
        </p:cxnSp>
        <p:sp>
          <p:nvSpPr>
            <p:cNvPr id="216" name="Oval 215"/>
            <p:cNvSpPr/>
            <p:nvPr/>
          </p:nvSpPr>
          <p:spPr>
            <a:xfrm>
              <a:off x="11092606" y="6793259"/>
              <a:ext cx="36611" cy="36611"/>
            </a:xfrm>
            <a:prstGeom prst="ellipse">
              <a:avLst/>
            </a:prstGeom>
            <a:solidFill>
              <a:srgbClr val="0B9696"/>
            </a:solidFill>
            <a:ln w="16475">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7" name="Connector 216"/>
            <p:cNvCxnSpPr/>
            <p:nvPr/>
          </p:nvCxnSpPr>
          <p:spPr>
            <a:xfrm>
              <a:off x="10940057" y="6951910"/>
              <a:ext cx="36612" cy="0"/>
            </a:xfrm>
            <a:prstGeom prst="line">
              <a:avLst/>
            </a:prstGeom>
            <a:ln w="164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11245155" y="6951910"/>
              <a:ext cx="36612" cy="0"/>
            </a:xfrm>
            <a:prstGeom prst="line">
              <a:avLst/>
            </a:prstGeom>
            <a:ln w="16475">
              <a:solidFill>
                <a:srgbClr val="0B9696"/>
              </a:solidFill>
            </a:ln>
          </p:spPr>
          <p:style>
            <a:lnRef idx="2">
              <a:schemeClr val="accent1"/>
            </a:lnRef>
            <a:fillRef idx="0">
              <a:schemeClr val="accent1"/>
            </a:fillRef>
            <a:effectRef idx="1">
              <a:schemeClr val="accent1"/>
            </a:effectRef>
            <a:fontRef idx="minor">
              <a:schemeClr val="tx1"/>
            </a:fontRef>
          </p:style>
        </p:cxnSp>
        <p:sp>
          <p:nvSpPr>
            <p:cNvPr id="219" name="Oval 218"/>
            <p:cNvSpPr/>
            <p:nvPr/>
          </p:nvSpPr>
          <p:spPr>
            <a:xfrm>
              <a:off x="11043791" y="6939706"/>
              <a:ext cx="24407" cy="24407"/>
            </a:xfrm>
            <a:prstGeom prst="ellipse">
              <a:avLst/>
            </a:prstGeom>
            <a:solidFill>
              <a:srgbClr val="0B9696"/>
            </a:solidFill>
            <a:ln w="16475">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Oval 219"/>
            <p:cNvSpPr/>
            <p:nvPr/>
          </p:nvSpPr>
          <p:spPr>
            <a:xfrm>
              <a:off x="11153626" y="6939706"/>
              <a:ext cx="24407" cy="24407"/>
            </a:xfrm>
            <a:prstGeom prst="ellipse">
              <a:avLst/>
            </a:prstGeom>
            <a:solidFill>
              <a:srgbClr val="0B9696"/>
            </a:solidFill>
            <a:ln w="16475">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1" name="Connector 220"/>
            <p:cNvCxnSpPr/>
            <p:nvPr/>
          </p:nvCxnSpPr>
          <p:spPr>
            <a:xfrm>
              <a:off x="11062096" y="7025133"/>
              <a:ext cx="97632" cy="0"/>
            </a:xfrm>
            <a:prstGeom prst="line">
              <a:avLst/>
            </a:prstGeom>
            <a:ln w="16475">
              <a:solidFill>
                <a:srgbClr val="0B9696"/>
              </a:solidFill>
            </a:ln>
          </p:spPr>
          <p:style>
            <a:lnRef idx="2">
              <a:schemeClr val="accent1"/>
            </a:lnRef>
            <a:fillRef idx="0">
              <a:schemeClr val="accent1"/>
            </a:fillRef>
            <a:effectRef idx="1">
              <a:schemeClr val="accent1"/>
            </a:effectRef>
            <a:fontRef idx="minor">
              <a:schemeClr val="tx1"/>
            </a:fontRef>
          </p:style>
        </p:cxnSp>
      </p:grpSp>
      <p:cxnSp>
        <p:nvCxnSpPr>
          <p:cNvPr id="223" name="Connector 222"/>
          <p:cNvCxnSpPr/>
          <p:nvPr/>
        </p:nvCxnSpPr>
        <p:spPr>
          <a:xfrm>
            <a:off x="10858500" y="6486525"/>
            <a:ext cx="285750" cy="0"/>
          </a:xfrm>
          <a:prstGeom prst="line">
            <a:avLst/>
          </a:prstGeom>
          <a:ln w="1905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11144250" y="6486525"/>
            <a:ext cx="0" cy="209550"/>
          </a:xfrm>
          <a:prstGeom prst="line">
            <a:avLst/>
          </a:prstGeom>
          <a:ln w="1905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flipH="1" flipV="1">
            <a:off x="11089451" y="6595767"/>
            <a:ext cx="54799" cy="100308"/>
          </a:xfrm>
          <a:prstGeom prst="line">
            <a:avLst/>
          </a:prstGeom>
          <a:ln w="19050">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flipV="1">
            <a:off x="11144250" y="6595767"/>
            <a:ext cx="54798" cy="100308"/>
          </a:xfrm>
          <a:prstGeom prst="line">
            <a:avLst/>
          </a:prstGeom>
          <a:ln w="19050">
            <a:solidFill>
              <a:srgbClr val="0B9696"/>
            </a:solidFill>
          </a:ln>
        </p:spPr>
        <p:style>
          <a:lnRef idx="2">
            <a:schemeClr val="accent1"/>
          </a:lnRef>
          <a:fillRef idx="0">
            <a:schemeClr val="accent1"/>
          </a:fillRef>
          <a:effectRef idx="1">
            <a:schemeClr val="accent1"/>
          </a:effectRef>
          <a:fontRef idx="minor">
            <a:schemeClr val="tx1"/>
          </a:fontRef>
        </p:style>
      </p:cxnSp>
      <p:sp>
        <p:nvSpPr>
          <p:cNvPr id="227" name="TextBox 226"/>
          <p:cNvSpPr txBox="1"/>
          <p:nvPr/>
        </p:nvSpPr>
        <p:spPr>
          <a:xfrm>
            <a:off x="609600" y="7677150"/>
            <a:ext cx="13982700" cy="266700"/>
          </a:xfrm>
          <a:prstGeom prst="rect">
            <a:avLst/>
          </a:prstGeom>
          <a:noFill/>
        </p:spPr>
        <p:txBody>
          <a:bodyPr wrap="none" lIns="0" rIns="0" tIns="0" bIns="0" anchor="t"/>
          <a:lstStyle/>
          <a:p>
            <a:pPr algn="l">
              <a:lnSpc>
                <a:spcPts val="1652"/>
              </a:lnSpc>
              <a:spcBef>
                <a:spcPts val="0"/>
              </a:spcBef>
              <a:spcAft>
                <a:spcPts val="0"/>
              </a:spcAft>
            </a:pPr>
            <a:r>
              <a:rPr sz="1425" b="0">
                <a:solidFill>
                  <a:srgbClr val="64728B"/>
                </a:solidFill>
                <a:latin typeface="Arial"/>
              </a:rPr>
              <a:t>Published component environments are the starting point; a connected replay is further 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ounded Rectangle 1"/>
          <p:cNvSpPr/>
          <p:nvPr/>
        </p:nvSpPr>
        <p:spPr>
          <a:xfrm>
            <a:off x="571500" y="390525"/>
            <a:ext cx="85725" cy="209550"/>
          </a:xfrm>
          <a:prstGeom prst="roundRect">
            <a:avLst>
              <a:gd name="adj" fmla="val 44444"/>
            </a:avLst>
          </a:prstGeom>
          <a:solidFill>
            <a:srgbClr val="39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1050" y="381000"/>
            <a:ext cx="13239750" cy="247649"/>
          </a:xfrm>
          <a:prstGeom prst="rect">
            <a:avLst/>
          </a:prstGeom>
          <a:noFill/>
        </p:spPr>
        <p:txBody>
          <a:bodyPr wrap="none" lIns="0" rIns="0" tIns="0" bIns="0" anchor="t"/>
          <a:lstStyle/>
          <a:p>
            <a:pPr algn="l">
              <a:lnSpc>
                <a:spcPts val="1305"/>
              </a:lnSpc>
              <a:spcBef>
                <a:spcPts val="0"/>
              </a:spcBef>
              <a:spcAft>
                <a:spcPts val="0"/>
              </a:spcAft>
            </a:pPr>
            <a:r>
              <a:rPr sz="1125" b="1">
                <a:solidFill>
                  <a:srgbClr val="64728B"/>
                </a:solidFill>
                <a:latin typeface="Arial"/>
              </a:rPr>
              <a:t>EVALUATION DESIGN</a:t>
            </a:r>
          </a:p>
        </p:txBody>
      </p:sp>
      <p:sp>
        <p:nvSpPr>
          <p:cNvPr id="4" name="TextBox 3"/>
          <p:cNvSpPr txBox="1"/>
          <p:nvPr/>
        </p:nvSpPr>
        <p:spPr>
          <a:xfrm>
            <a:off x="581025" y="8172450"/>
            <a:ext cx="13049250" cy="190500"/>
          </a:xfrm>
          <a:prstGeom prst="rect">
            <a:avLst/>
          </a:prstGeom>
          <a:noFill/>
        </p:spPr>
        <p:txBody>
          <a:bodyPr wrap="none" lIns="0" rIns="0" tIns="0" bIns="0" anchor="t"/>
          <a:lstStyle/>
          <a:p>
            <a:pPr algn="l">
              <a:lnSpc>
                <a:spcPts val="1044"/>
              </a:lnSpc>
              <a:spcBef>
                <a:spcPts val="0"/>
              </a:spcBef>
              <a:spcAft>
                <a:spcPts val="0"/>
              </a:spcAft>
            </a:pPr>
            <a:r>
              <a:rPr sz="900" b="0">
                <a:solidFill>
                  <a:srgbClr val="64728B"/>
                </a:solidFill>
                <a:latin typeface="Arial"/>
              </a:rPr>
              <a:t>INCIDENT REPLAY / SOFTWARE ENGINEERING</a:t>
            </a:r>
          </a:p>
        </p:txBody>
      </p:sp>
      <p:sp>
        <p:nvSpPr>
          <p:cNvPr id="5" name="TextBox 4"/>
          <p:cNvSpPr txBox="1"/>
          <p:nvPr/>
        </p:nvSpPr>
        <p:spPr>
          <a:xfrm>
            <a:off x="13887450" y="8124824"/>
            <a:ext cx="762000" cy="238125"/>
          </a:xfrm>
          <a:prstGeom prst="rect">
            <a:avLst/>
          </a:prstGeom>
          <a:noFill/>
        </p:spPr>
        <p:txBody>
          <a:bodyPr wrap="none" lIns="0" rIns="0" tIns="0" bIns="0" anchor="t"/>
          <a:lstStyle/>
          <a:p>
            <a:pPr algn="r">
              <a:lnSpc>
                <a:spcPts val="1218"/>
              </a:lnSpc>
              <a:spcBef>
                <a:spcPts val="0"/>
              </a:spcBef>
              <a:spcAft>
                <a:spcPts val="0"/>
              </a:spcAft>
            </a:pPr>
            <a:r>
              <a:rPr sz="1050" b="0">
                <a:solidFill>
                  <a:srgbClr val="64728B"/>
                </a:solidFill>
                <a:latin typeface="Courier New"/>
              </a:rPr>
              <a:t>08 / 10</a:t>
            </a:r>
          </a:p>
        </p:txBody>
      </p:sp>
      <p:sp>
        <p:nvSpPr>
          <p:cNvPr id="6" name="TextBox 5"/>
          <p:cNvSpPr txBox="1"/>
          <p:nvPr/>
        </p:nvSpPr>
        <p:spPr>
          <a:xfrm>
            <a:off x="571500" y="942975"/>
            <a:ext cx="14097000" cy="1181100"/>
          </a:xfrm>
          <a:prstGeom prst="rect">
            <a:avLst/>
          </a:prstGeom>
          <a:noFill/>
        </p:spPr>
        <p:txBody>
          <a:bodyPr wrap="none" lIns="0" rIns="0" tIns="0" bIns="0" anchor="t"/>
          <a:lstStyle/>
          <a:p>
            <a:pPr algn="l">
              <a:lnSpc>
                <a:spcPts val="4212"/>
              </a:lnSpc>
              <a:spcBef>
                <a:spcPts val="0"/>
              </a:spcBef>
              <a:spcAft>
                <a:spcPts val="0"/>
              </a:spcAft>
            </a:pPr>
            <a:r>
              <a:rPr sz="3900" b="1">
                <a:solidFill>
                  <a:srgbClr val="172540"/>
                </a:solidFill>
                <a:latin typeface="Arial"/>
              </a:rPr>
              <a:t>Compare the change from the same starting state.</a:t>
            </a:r>
          </a:p>
        </p:txBody>
      </p:sp>
      <p:sp>
        <p:nvSpPr>
          <p:cNvPr id="7" name="TextBox 6"/>
          <p:cNvSpPr txBox="1"/>
          <p:nvPr/>
        </p:nvSpPr>
        <p:spPr>
          <a:xfrm>
            <a:off x="600075" y="1685925"/>
            <a:ext cx="13906500" cy="647700"/>
          </a:xfrm>
          <a:prstGeom prst="rect">
            <a:avLst/>
          </a:prstGeom>
          <a:noFill/>
        </p:spPr>
        <p:txBody>
          <a:bodyPr wrap="none" lIns="0" rIns="0" tIns="0" bIns="0" anchor="t"/>
          <a:lstStyle/>
          <a:p>
            <a:pPr algn="l">
              <a:lnSpc>
                <a:spcPts val="2175"/>
              </a:lnSpc>
              <a:spcBef>
                <a:spcPts val="0"/>
              </a:spcBef>
              <a:spcAft>
                <a:spcPts val="0"/>
              </a:spcAft>
            </a:pPr>
            <a:r>
              <a:rPr sz="1875" b="0">
                <a:solidFill>
                  <a:srgbClr val="64728B"/>
                </a:solidFill>
                <a:latin typeface="Arial"/>
              </a:rPr>
              <a:t>Keep four outcome dimensions visible, alongside repeated trials and matched budgets.</a:t>
            </a:r>
          </a:p>
        </p:txBody>
      </p:sp>
      <p:sp>
        <p:nvSpPr>
          <p:cNvPr id="8" name="Rounded Rectangle 7"/>
          <p:cNvSpPr/>
          <p:nvPr/>
        </p:nvSpPr>
        <p:spPr>
          <a:xfrm>
            <a:off x="609600" y="3867150"/>
            <a:ext cx="2619375" cy="2085975"/>
          </a:xfrm>
          <a:prstGeom prst="roundRect">
            <a:avLst>
              <a:gd name="adj" fmla="val 10958"/>
            </a:avLst>
          </a:prstGeom>
          <a:solidFill>
            <a:srgbClr val="E7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00075" y="3800475"/>
            <a:ext cx="2619375" cy="2085975"/>
          </a:xfrm>
          <a:prstGeom prst="roundRect">
            <a:avLst>
              <a:gd name="adj" fmla="val 10958"/>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8" name="Group 17"/>
          <p:cNvGrpSpPr/>
          <p:nvPr/>
        </p:nvGrpSpPr>
        <p:grpSpPr>
          <a:xfrm>
            <a:off x="1638300" y="4152900"/>
            <a:ext cx="514350" cy="514350"/>
            <a:chOff x="1638300" y="4152900"/>
            <a:chExt cx="514350" cy="514350"/>
          </a:xfrm>
        </p:grpSpPr>
        <p:cxnSp>
          <p:nvCxnSpPr>
            <p:cNvPr id="10" name="Connector 9"/>
            <p:cNvCxnSpPr/>
            <p:nvPr/>
          </p:nvCxnSpPr>
          <p:spPr>
            <a:xfrm flipV="1">
              <a:off x="1638300" y="4152900"/>
              <a:ext cx="257174" cy="128587"/>
            </a:xfrm>
            <a:prstGeom prst="line">
              <a:avLst/>
            </a:prstGeom>
            <a:ln w="2893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895474" y="4152900"/>
              <a:ext cx="257176" cy="128587"/>
            </a:xfrm>
            <a:prstGeom prst="line">
              <a:avLst/>
            </a:prstGeom>
            <a:ln w="2893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895474" y="4281487"/>
              <a:ext cx="257176" cy="128588"/>
            </a:xfrm>
            <a:prstGeom prst="line">
              <a:avLst/>
            </a:prstGeom>
            <a:ln w="2893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1638300" y="4281487"/>
              <a:ext cx="257174" cy="128588"/>
            </a:xfrm>
            <a:prstGeom prst="line">
              <a:avLst/>
            </a:prstGeom>
            <a:ln w="2893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638300" y="4410075"/>
              <a:ext cx="257174" cy="128587"/>
            </a:xfrm>
            <a:prstGeom prst="line">
              <a:avLst/>
            </a:prstGeom>
            <a:ln w="2893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895474" y="4410075"/>
              <a:ext cx="257176" cy="128587"/>
            </a:xfrm>
            <a:prstGeom prst="line">
              <a:avLst/>
            </a:prstGeom>
            <a:ln w="2893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638300" y="4538662"/>
              <a:ext cx="257174" cy="128588"/>
            </a:xfrm>
            <a:prstGeom prst="line">
              <a:avLst/>
            </a:prstGeom>
            <a:ln w="2893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895474" y="4538662"/>
              <a:ext cx="257176" cy="128588"/>
            </a:xfrm>
            <a:prstGeom prst="line">
              <a:avLst/>
            </a:prstGeom>
            <a:ln w="28932">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19" name="TextBox 18"/>
          <p:cNvSpPr txBox="1"/>
          <p:nvPr/>
        </p:nvSpPr>
        <p:spPr>
          <a:xfrm>
            <a:off x="781050" y="4962525"/>
            <a:ext cx="2257425" cy="371475"/>
          </a:xfrm>
          <a:prstGeom prst="rect">
            <a:avLst/>
          </a:prstGeom>
          <a:noFill/>
        </p:spPr>
        <p:txBody>
          <a:bodyPr wrap="none" lIns="0" rIns="0" tIns="0" bIns="0" anchor="t"/>
          <a:lstStyle/>
          <a:p>
            <a:pPr algn="ctr">
              <a:lnSpc>
                <a:spcPts val="2349"/>
              </a:lnSpc>
              <a:spcBef>
                <a:spcPts val="0"/>
              </a:spcBef>
              <a:spcAft>
                <a:spcPts val="0"/>
              </a:spcAft>
            </a:pPr>
            <a:r>
              <a:rPr sz="2025" b="1">
                <a:solidFill>
                  <a:srgbClr val="172540"/>
                </a:solidFill>
                <a:latin typeface="Arial"/>
              </a:rPr>
              <a:t>Same snapshot</a:t>
            </a:r>
          </a:p>
        </p:txBody>
      </p:sp>
      <p:sp>
        <p:nvSpPr>
          <p:cNvPr id="20" name="TextBox 19"/>
          <p:cNvSpPr txBox="1"/>
          <p:nvPr/>
        </p:nvSpPr>
        <p:spPr>
          <a:xfrm>
            <a:off x="828675" y="5448300"/>
            <a:ext cx="2190750" cy="295275"/>
          </a:xfrm>
          <a:prstGeom prst="rect">
            <a:avLst/>
          </a:prstGeom>
          <a:noFill/>
        </p:spPr>
        <p:txBody>
          <a:bodyPr wrap="none" lIns="0" rIns="0" tIns="0" bIns="0" anchor="t"/>
          <a:lstStyle/>
          <a:p>
            <a:pPr algn="ctr">
              <a:lnSpc>
                <a:spcPts val="1652"/>
              </a:lnSpc>
              <a:spcBef>
                <a:spcPts val="0"/>
              </a:spcBef>
              <a:spcAft>
                <a:spcPts val="0"/>
              </a:spcAft>
            </a:pPr>
            <a:r>
              <a:rPr sz="1425" b="0">
                <a:solidFill>
                  <a:srgbClr val="64728B"/>
                </a:solidFill>
                <a:latin typeface="Arial"/>
              </a:rPr>
              <a:t>Reset before each run</a:t>
            </a:r>
          </a:p>
        </p:txBody>
      </p:sp>
      <p:cxnSp>
        <p:nvCxnSpPr>
          <p:cNvPr id="21" name="Connector 20"/>
          <p:cNvCxnSpPr/>
          <p:nvPr/>
        </p:nvCxnSpPr>
        <p:spPr>
          <a:xfrm>
            <a:off x="3333750" y="4800600"/>
            <a:ext cx="447675" cy="0"/>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781425" y="3371850"/>
            <a:ext cx="0" cy="1428750"/>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81425" y="3371850"/>
            <a:ext cx="400050" cy="0"/>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4081167" y="3371850"/>
            <a:ext cx="100308" cy="54798"/>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4081167" y="3317051"/>
            <a:ext cx="100308" cy="54799"/>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781425" y="4800600"/>
            <a:ext cx="0" cy="1381125"/>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781425" y="6181725"/>
            <a:ext cx="400050" cy="0"/>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4081167" y="6181725"/>
            <a:ext cx="100308" cy="54798"/>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4081167" y="6126926"/>
            <a:ext cx="100308" cy="54799"/>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324350" y="2733675"/>
            <a:ext cx="3057525" cy="1438275"/>
          </a:xfrm>
          <a:prstGeom prst="roundRect">
            <a:avLst>
              <a:gd name="adj" fmla="val 13245"/>
            </a:avLst>
          </a:prstGeom>
          <a:solidFill>
            <a:srgbClr val="E7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314825" y="2667000"/>
            <a:ext cx="3057525" cy="1438275"/>
          </a:xfrm>
          <a:prstGeom prst="roundRect">
            <a:avLst>
              <a:gd name="adj" fmla="val 13245"/>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40" name="Group 39"/>
          <p:cNvGrpSpPr/>
          <p:nvPr/>
        </p:nvGrpSpPr>
        <p:grpSpPr>
          <a:xfrm>
            <a:off x="4580334" y="2951261"/>
            <a:ext cx="516731" cy="452140"/>
            <a:chOff x="4580334" y="2951261"/>
            <a:chExt cx="516731" cy="452140"/>
          </a:xfrm>
        </p:grpSpPr>
        <p:sp>
          <p:nvSpPr>
            <p:cNvPr id="32" name="Rounded Rectangle 31"/>
            <p:cNvSpPr/>
            <p:nvPr/>
          </p:nvSpPr>
          <p:spPr>
            <a:xfrm>
              <a:off x="4635698" y="3080444"/>
              <a:ext cx="406003" cy="322957"/>
            </a:xfrm>
            <a:prstGeom prst="roundRect">
              <a:avLst>
                <a:gd name="adj" fmla="val 20000"/>
              </a:avLst>
            </a:prstGeom>
            <a:noFill/>
            <a:ln w="24913">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4838700" y="2988171"/>
              <a:ext cx="0" cy="92273"/>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4811017" y="2951261"/>
              <a:ext cx="55364" cy="55364"/>
            </a:xfrm>
            <a:prstGeom prst="ellipse">
              <a:avLst/>
            </a:prstGeom>
            <a:solidFill>
              <a:srgbClr val="3973F6"/>
            </a:solidFill>
            <a:ln w="24913">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4580334" y="3191172"/>
              <a:ext cx="55364"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041701" y="3191172"/>
              <a:ext cx="55364"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sp>
          <p:nvSpPr>
            <p:cNvPr id="37" name="Oval 36"/>
            <p:cNvSpPr/>
            <p:nvPr/>
          </p:nvSpPr>
          <p:spPr>
            <a:xfrm>
              <a:off x="4737199" y="3172717"/>
              <a:ext cx="36909" cy="36909"/>
            </a:xfrm>
            <a:prstGeom prst="ellipse">
              <a:avLst/>
            </a:prstGeom>
            <a:solidFill>
              <a:srgbClr val="3973F6"/>
            </a:solidFill>
            <a:ln w="24913">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903291" y="3172717"/>
              <a:ext cx="36909" cy="36909"/>
            </a:xfrm>
            <a:prstGeom prst="ellipse">
              <a:avLst/>
            </a:prstGeom>
            <a:solidFill>
              <a:srgbClr val="3973F6"/>
            </a:solidFill>
            <a:ln w="24913">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9" name="Connector 38"/>
            <p:cNvCxnSpPr/>
            <p:nvPr/>
          </p:nvCxnSpPr>
          <p:spPr>
            <a:xfrm>
              <a:off x="4764881" y="3301900"/>
              <a:ext cx="147637" cy="0"/>
            </a:xfrm>
            <a:prstGeom prst="line">
              <a:avLst/>
            </a:prstGeom>
            <a:ln w="24913">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41" name="TextBox 40"/>
          <p:cNvSpPr txBox="1"/>
          <p:nvPr/>
        </p:nvSpPr>
        <p:spPr>
          <a:xfrm>
            <a:off x="5343525" y="2914650"/>
            <a:ext cx="1828800" cy="438150"/>
          </a:xfrm>
          <a:prstGeom prst="rect">
            <a:avLst/>
          </a:prstGeom>
          <a:noFill/>
        </p:spPr>
        <p:txBody>
          <a:bodyPr wrap="none" lIns="0" rIns="0" tIns="0" bIns="0" anchor="t"/>
          <a:lstStyle/>
          <a:p>
            <a:pPr algn="l">
              <a:lnSpc>
                <a:spcPts val="2261"/>
              </a:lnSpc>
              <a:spcBef>
                <a:spcPts val="0"/>
              </a:spcBef>
              <a:spcAft>
                <a:spcPts val="0"/>
              </a:spcAft>
            </a:pPr>
            <a:r>
              <a:rPr sz="1950" b="1">
                <a:solidFill>
                  <a:srgbClr val="172540"/>
                </a:solidFill>
                <a:latin typeface="Arial"/>
              </a:rPr>
              <a:t>Baseline</a:t>
            </a:r>
          </a:p>
        </p:txBody>
      </p:sp>
      <p:sp>
        <p:nvSpPr>
          <p:cNvPr id="42" name="TextBox 41"/>
          <p:cNvSpPr txBox="1"/>
          <p:nvPr/>
        </p:nvSpPr>
        <p:spPr>
          <a:xfrm>
            <a:off x="5343525" y="3409950"/>
            <a:ext cx="1828800" cy="590550"/>
          </a:xfrm>
          <a:prstGeom prst="rect">
            <a:avLst/>
          </a:prstGeom>
          <a:noFill/>
        </p:spPr>
        <p:txBody>
          <a:bodyPr wrap="none" lIns="0" rIns="0" tIns="0" bIns="0" anchor="t"/>
          <a:lstStyle/>
          <a:p>
            <a:pPr algn="l">
              <a:lnSpc>
                <a:spcPts val="1739"/>
              </a:lnSpc>
              <a:spcBef>
                <a:spcPts val="0"/>
              </a:spcBef>
              <a:spcAft>
                <a:spcPts val="0"/>
              </a:spcAft>
            </a:pPr>
            <a:r>
              <a:rPr sz="1500" b="0">
                <a:solidFill>
                  <a:srgbClr val="64728B"/>
                </a:solidFill>
                <a:latin typeface="Arial"/>
              </a:rPr>
              <a:t>Repeated agent trials</a:t>
            </a:r>
          </a:p>
        </p:txBody>
      </p:sp>
      <p:sp>
        <p:nvSpPr>
          <p:cNvPr id="43" name="Rounded Rectangle 42"/>
          <p:cNvSpPr/>
          <p:nvPr/>
        </p:nvSpPr>
        <p:spPr>
          <a:xfrm>
            <a:off x="4324350" y="5543550"/>
            <a:ext cx="3057525" cy="1438275"/>
          </a:xfrm>
          <a:prstGeom prst="roundRect">
            <a:avLst>
              <a:gd name="adj" fmla="val 13245"/>
            </a:avLst>
          </a:prstGeom>
          <a:solidFill>
            <a:srgbClr val="E7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314825" y="5476875"/>
            <a:ext cx="3057525" cy="1438275"/>
          </a:xfrm>
          <a:prstGeom prst="roundRect">
            <a:avLst>
              <a:gd name="adj" fmla="val 13245"/>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3" name="Group 52"/>
          <p:cNvGrpSpPr/>
          <p:nvPr/>
        </p:nvGrpSpPr>
        <p:grpSpPr>
          <a:xfrm>
            <a:off x="4580334" y="5761136"/>
            <a:ext cx="516731" cy="452140"/>
            <a:chOff x="4580334" y="5761136"/>
            <a:chExt cx="516731" cy="452140"/>
          </a:xfrm>
        </p:grpSpPr>
        <p:sp>
          <p:nvSpPr>
            <p:cNvPr id="45" name="Rounded Rectangle 44"/>
            <p:cNvSpPr/>
            <p:nvPr/>
          </p:nvSpPr>
          <p:spPr>
            <a:xfrm>
              <a:off x="4635698" y="5890319"/>
              <a:ext cx="406003" cy="322957"/>
            </a:xfrm>
            <a:prstGeom prst="roundRect">
              <a:avLst>
                <a:gd name="adj" fmla="val 20000"/>
              </a:avLst>
            </a:prstGeom>
            <a:noFill/>
            <a:ln w="24913">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4838700" y="5798046"/>
              <a:ext cx="0" cy="92273"/>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sp>
          <p:nvSpPr>
            <p:cNvPr id="47" name="Oval 46"/>
            <p:cNvSpPr/>
            <p:nvPr/>
          </p:nvSpPr>
          <p:spPr>
            <a:xfrm>
              <a:off x="4811017" y="5761136"/>
              <a:ext cx="55364" cy="55364"/>
            </a:xfrm>
            <a:prstGeom prst="ellipse">
              <a:avLst/>
            </a:prstGeom>
            <a:solidFill>
              <a:srgbClr val="0B9696"/>
            </a:solidFill>
            <a:ln w="24913">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4580334" y="6001047"/>
              <a:ext cx="55364" cy="0"/>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5041701" y="6001047"/>
              <a:ext cx="55364" cy="0"/>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sp>
          <p:nvSpPr>
            <p:cNvPr id="50" name="Oval 49"/>
            <p:cNvSpPr/>
            <p:nvPr/>
          </p:nvSpPr>
          <p:spPr>
            <a:xfrm>
              <a:off x="4737199" y="5982592"/>
              <a:ext cx="36909" cy="36909"/>
            </a:xfrm>
            <a:prstGeom prst="ellipse">
              <a:avLst/>
            </a:prstGeom>
            <a:solidFill>
              <a:srgbClr val="0B9696"/>
            </a:solidFill>
            <a:ln w="24913">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4903291" y="5982592"/>
              <a:ext cx="36909" cy="36909"/>
            </a:xfrm>
            <a:prstGeom prst="ellipse">
              <a:avLst/>
            </a:prstGeom>
            <a:solidFill>
              <a:srgbClr val="0B9696"/>
            </a:solidFill>
            <a:ln w="24913">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4764881" y="6111775"/>
              <a:ext cx="147637" cy="0"/>
            </a:xfrm>
            <a:prstGeom prst="line">
              <a:avLst/>
            </a:prstGeom>
            <a:ln w="24913">
              <a:solidFill>
                <a:srgbClr val="0B9696"/>
              </a:solidFill>
            </a:ln>
          </p:spPr>
          <p:style>
            <a:lnRef idx="2">
              <a:schemeClr val="accent1"/>
            </a:lnRef>
            <a:fillRef idx="0">
              <a:schemeClr val="accent1"/>
            </a:fillRef>
            <a:effectRef idx="1">
              <a:schemeClr val="accent1"/>
            </a:effectRef>
            <a:fontRef idx="minor">
              <a:schemeClr val="tx1"/>
            </a:fontRef>
          </p:style>
        </p:cxnSp>
      </p:grpSp>
      <p:sp>
        <p:nvSpPr>
          <p:cNvPr id="54" name="TextBox 53"/>
          <p:cNvSpPr txBox="1"/>
          <p:nvPr/>
        </p:nvSpPr>
        <p:spPr>
          <a:xfrm>
            <a:off x="5343525" y="5724525"/>
            <a:ext cx="1828800" cy="438150"/>
          </a:xfrm>
          <a:prstGeom prst="rect">
            <a:avLst/>
          </a:prstGeom>
          <a:noFill/>
        </p:spPr>
        <p:txBody>
          <a:bodyPr wrap="none" lIns="0" rIns="0" tIns="0" bIns="0" anchor="t"/>
          <a:lstStyle/>
          <a:p>
            <a:pPr algn="l">
              <a:lnSpc>
                <a:spcPts val="2261"/>
              </a:lnSpc>
              <a:spcBef>
                <a:spcPts val="0"/>
              </a:spcBef>
              <a:spcAft>
                <a:spcPts val="0"/>
              </a:spcAft>
            </a:pPr>
            <a:r>
              <a:rPr sz="1950" b="1">
                <a:solidFill>
                  <a:srgbClr val="172540"/>
                </a:solidFill>
                <a:latin typeface="Arial"/>
              </a:rPr>
              <a:t>Candidate</a:t>
            </a:r>
          </a:p>
        </p:txBody>
      </p:sp>
      <p:sp>
        <p:nvSpPr>
          <p:cNvPr id="55" name="TextBox 54"/>
          <p:cNvSpPr txBox="1"/>
          <p:nvPr/>
        </p:nvSpPr>
        <p:spPr>
          <a:xfrm>
            <a:off x="5343525" y="6219825"/>
            <a:ext cx="1828800" cy="590550"/>
          </a:xfrm>
          <a:prstGeom prst="rect">
            <a:avLst/>
          </a:prstGeom>
          <a:noFill/>
        </p:spPr>
        <p:txBody>
          <a:bodyPr wrap="none" lIns="0" rIns="0" tIns="0" bIns="0" anchor="t"/>
          <a:lstStyle/>
          <a:p>
            <a:pPr algn="l">
              <a:lnSpc>
                <a:spcPts val="1739"/>
              </a:lnSpc>
              <a:spcBef>
                <a:spcPts val="0"/>
              </a:spcBef>
              <a:spcAft>
                <a:spcPts val="0"/>
              </a:spcAft>
            </a:pPr>
            <a:r>
              <a:rPr sz="1500" b="0">
                <a:solidFill>
                  <a:srgbClr val="64728B"/>
                </a:solidFill>
                <a:latin typeface="Arial"/>
              </a:rPr>
              <a:t>Repeated agent trials</a:t>
            </a:r>
          </a:p>
        </p:txBody>
      </p:sp>
      <p:cxnSp>
        <p:nvCxnSpPr>
          <p:cNvPr id="56" name="Connector 55"/>
          <p:cNvCxnSpPr/>
          <p:nvPr/>
        </p:nvCxnSpPr>
        <p:spPr>
          <a:xfrm>
            <a:off x="7486650" y="3371850"/>
            <a:ext cx="371475" cy="0"/>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7858125" y="3371850"/>
            <a:ext cx="0" cy="1438275"/>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7858125" y="4810125"/>
            <a:ext cx="342900" cy="0"/>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8100717" y="4810125"/>
            <a:ext cx="100308" cy="54798"/>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8100717" y="4755326"/>
            <a:ext cx="100308" cy="54799"/>
          </a:xfrm>
          <a:prstGeom prst="line">
            <a:avLst/>
          </a:prstGeom>
          <a:ln w="28575">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7486650" y="6181725"/>
            <a:ext cx="371475" cy="0"/>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7858125" y="4810125"/>
            <a:ext cx="0" cy="1371600"/>
          </a:xfrm>
          <a:prstGeom prst="line">
            <a:avLst/>
          </a:prstGeom>
          <a:ln w="28575">
            <a:solidFill>
              <a:srgbClr val="0B9696"/>
            </a:solidFill>
          </a:ln>
        </p:spPr>
        <p:style>
          <a:lnRef idx="2">
            <a:schemeClr val="accent1"/>
          </a:lnRef>
          <a:fillRef idx="0">
            <a:schemeClr val="accent1"/>
          </a:fillRef>
          <a:effectRef idx="1">
            <a:schemeClr val="accent1"/>
          </a:effectRef>
          <a:fontRef idx="minor">
            <a:schemeClr val="tx1"/>
          </a:fontRef>
        </p:style>
      </p:cxnSp>
      <p:sp>
        <p:nvSpPr>
          <p:cNvPr id="63" name="Rounded Rectangle 62"/>
          <p:cNvSpPr/>
          <p:nvPr/>
        </p:nvSpPr>
        <p:spPr>
          <a:xfrm>
            <a:off x="8343900" y="4000500"/>
            <a:ext cx="1800225" cy="1771650"/>
          </a:xfrm>
          <a:prstGeom prst="roundRect">
            <a:avLst>
              <a:gd name="adj" fmla="val 11827"/>
            </a:avLst>
          </a:prstGeom>
          <a:solidFill>
            <a:srgbClr val="E7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8334375" y="3933824"/>
            <a:ext cx="1800225" cy="1771650"/>
          </a:xfrm>
          <a:prstGeom prst="roundRect">
            <a:avLst>
              <a:gd name="adj" fmla="val 11827"/>
            </a:avLst>
          </a:prstGeom>
          <a:solidFill>
            <a:srgbClr val="14213D"/>
          </a:solidFill>
          <a:ln w="12382">
            <a:solidFill>
              <a:srgbClr val="1421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67" name="Group 66"/>
          <p:cNvGrpSpPr/>
          <p:nvPr/>
        </p:nvGrpSpPr>
        <p:grpSpPr>
          <a:xfrm>
            <a:off x="9017198" y="4245768"/>
            <a:ext cx="415230" cy="424458"/>
            <a:chOff x="9017198" y="4245768"/>
            <a:chExt cx="415230" cy="424458"/>
          </a:xfrm>
        </p:grpSpPr>
        <p:sp>
          <p:nvSpPr>
            <p:cNvPr id="65" name="Oval 64"/>
            <p:cNvSpPr/>
            <p:nvPr/>
          </p:nvSpPr>
          <p:spPr>
            <a:xfrm>
              <a:off x="9017198" y="4245768"/>
              <a:ext cx="295275" cy="295275"/>
            </a:xfrm>
            <a:prstGeom prst="ellipse">
              <a:avLst/>
            </a:prstGeom>
            <a:noFill/>
            <a:ln w="24913">
              <a:solidFill>
                <a:srgbClr val="57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Connector 65"/>
            <p:cNvCxnSpPr/>
            <p:nvPr/>
          </p:nvCxnSpPr>
          <p:spPr>
            <a:xfrm>
              <a:off x="9275564" y="4513361"/>
              <a:ext cx="156864" cy="156865"/>
            </a:xfrm>
            <a:prstGeom prst="line">
              <a:avLst/>
            </a:prstGeom>
            <a:ln w="24913">
              <a:solidFill>
                <a:srgbClr val="57DDD0"/>
              </a:solidFill>
            </a:ln>
          </p:spPr>
          <p:style>
            <a:lnRef idx="2">
              <a:schemeClr val="accent1"/>
            </a:lnRef>
            <a:fillRef idx="0">
              <a:schemeClr val="accent1"/>
            </a:fillRef>
            <a:effectRef idx="1">
              <a:schemeClr val="accent1"/>
            </a:effectRef>
            <a:fontRef idx="minor">
              <a:schemeClr val="tx1"/>
            </a:fontRef>
          </p:style>
        </p:cxnSp>
      </p:grpSp>
      <p:sp>
        <p:nvSpPr>
          <p:cNvPr id="68" name="TextBox 67"/>
          <p:cNvSpPr txBox="1"/>
          <p:nvPr/>
        </p:nvSpPr>
        <p:spPr>
          <a:xfrm>
            <a:off x="8496300" y="5095875"/>
            <a:ext cx="1466850" cy="571500"/>
          </a:xfrm>
          <a:prstGeom prst="rect">
            <a:avLst/>
          </a:prstGeom>
          <a:noFill/>
        </p:spPr>
        <p:txBody>
          <a:bodyPr wrap="none" lIns="0" rIns="0" tIns="0" bIns="0" anchor="t"/>
          <a:lstStyle/>
          <a:p>
            <a:pPr algn="ctr">
              <a:lnSpc>
                <a:spcPts val="2175"/>
              </a:lnSpc>
              <a:spcBef>
                <a:spcPts val="0"/>
              </a:spcBef>
              <a:spcAft>
                <a:spcPts val="0"/>
              </a:spcAft>
            </a:pPr>
            <a:r>
              <a:rPr sz="1875" b="1">
                <a:solidFill>
                  <a:srgbClr val="FFFFFF"/>
                </a:solidFill>
                <a:latin typeface="Arial"/>
              </a:rPr>
              <a:t>Same</a:t>
            </a:r>
          </a:p>
          <a:p>
            <a:pPr algn="ctr">
              <a:lnSpc>
                <a:spcPts val="2175"/>
              </a:lnSpc>
              <a:spcBef>
                <a:spcPts val="0"/>
              </a:spcBef>
              <a:spcAft>
                <a:spcPts val="0"/>
              </a:spcAft>
            </a:pPr>
            <a:r>
              <a:rPr sz="1875" b="1">
                <a:solidFill>
                  <a:srgbClr val="FFFFFF"/>
                </a:solidFill>
                <a:latin typeface="Arial"/>
              </a:rPr>
              <a:t>checks</a:t>
            </a:r>
          </a:p>
        </p:txBody>
      </p:sp>
      <p:cxnSp>
        <p:nvCxnSpPr>
          <p:cNvPr id="69" name="Connector 68"/>
          <p:cNvCxnSpPr/>
          <p:nvPr/>
        </p:nvCxnSpPr>
        <p:spPr>
          <a:xfrm>
            <a:off x="10239375" y="4810125"/>
            <a:ext cx="333375" cy="0"/>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10572750" y="2943225"/>
            <a:ext cx="0" cy="1866900"/>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0572750" y="2943225"/>
            <a:ext cx="323850" cy="0"/>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10796292" y="2943225"/>
            <a:ext cx="100308" cy="54798"/>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10796292" y="2888426"/>
            <a:ext cx="100308" cy="54799"/>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10572750" y="4171950"/>
            <a:ext cx="0" cy="638175"/>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0572750" y="4171950"/>
            <a:ext cx="323850" cy="0"/>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10796292" y="4171950"/>
            <a:ext cx="100308" cy="54798"/>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flipV="1">
            <a:off x="10796292" y="4117151"/>
            <a:ext cx="100308" cy="54799"/>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0572750" y="4810125"/>
            <a:ext cx="0" cy="590550"/>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10572750" y="5400675"/>
            <a:ext cx="323850" cy="0"/>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10796292" y="5400675"/>
            <a:ext cx="100308" cy="54798"/>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flipV="1">
            <a:off x="10796292" y="5345876"/>
            <a:ext cx="100308" cy="54799"/>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10572750" y="5400675"/>
            <a:ext cx="0" cy="1228725"/>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10572750" y="6629400"/>
            <a:ext cx="323850" cy="0"/>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10796292" y="6629400"/>
            <a:ext cx="100308" cy="54798"/>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10796292" y="6574601"/>
            <a:ext cx="100308" cy="54799"/>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sp>
        <p:nvSpPr>
          <p:cNvPr id="86" name="Rounded Rectangle 85"/>
          <p:cNvSpPr/>
          <p:nvPr/>
        </p:nvSpPr>
        <p:spPr>
          <a:xfrm>
            <a:off x="11020425" y="2428875"/>
            <a:ext cx="3619500" cy="1028700"/>
          </a:xfrm>
          <a:prstGeom prst="roundRect">
            <a:avLst>
              <a:gd name="adj" fmla="val 14814"/>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97" name="Group 96"/>
          <p:cNvGrpSpPr/>
          <p:nvPr/>
        </p:nvGrpSpPr>
        <p:grpSpPr>
          <a:xfrm>
            <a:off x="11282362" y="2726531"/>
            <a:ext cx="314325" cy="357187"/>
            <a:chOff x="11282362" y="2726531"/>
            <a:chExt cx="314325" cy="357187"/>
          </a:xfrm>
        </p:grpSpPr>
        <p:sp>
          <p:nvSpPr>
            <p:cNvPr id="87" name="Rounded Rectangle 86"/>
            <p:cNvSpPr/>
            <p:nvPr/>
          </p:nvSpPr>
          <p:spPr>
            <a:xfrm>
              <a:off x="11282362" y="2726531"/>
              <a:ext cx="314325" cy="357187"/>
            </a:xfrm>
            <a:prstGeom prst="roundRect">
              <a:avLst>
                <a:gd name="adj" fmla="val 9090"/>
              </a:avLst>
            </a:prstGeom>
            <a:noFill/>
            <a:ln w="19288">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8" name="Connector 87"/>
            <p:cNvCxnSpPr/>
            <p:nvPr/>
          </p:nvCxnSpPr>
          <p:spPr>
            <a:xfrm>
              <a:off x="11339512" y="2819400"/>
              <a:ext cx="28575" cy="28575"/>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1368087" y="2790825"/>
              <a:ext cx="42863" cy="57150"/>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11453812" y="2819400"/>
              <a:ext cx="85725" cy="0"/>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11339512" y="2912268"/>
              <a:ext cx="28575" cy="28575"/>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11368087" y="2883693"/>
              <a:ext cx="42863" cy="57150"/>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11453812" y="2912268"/>
              <a:ext cx="85725" cy="0"/>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11339512" y="3005137"/>
              <a:ext cx="28575" cy="28575"/>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11368087" y="2976562"/>
              <a:ext cx="42863" cy="57150"/>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11453812" y="3005137"/>
              <a:ext cx="85725" cy="0"/>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98" name="TextBox 97"/>
          <p:cNvSpPr txBox="1"/>
          <p:nvPr/>
        </p:nvSpPr>
        <p:spPr>
          <a:xfrm>
            <a:off x="11868150" y="2609850"/>
            <a:ext cx="2571750" cy="342900"/>
          </a:xfrm>
          <a:prstGeom prst="rect">
            <a:avLst/>
          </a:prstGeom>
          <a:noFill/>
        </p:spPr>
        <p:txBody>
          <a:bodyPr wrap="none" lIns="0" rIns="0" tIns="0" bIns="0" anchor="t"/>
          <a:lstStyle/>
          <a:p>
            <a:pPr algn="l">
              <a:lnSpc>
                <a:spcPts val="2175"/>
              </a:lnSpc>
              <a:spcBef>
                <a:spcPts val="0"/>
              </a:spcBef>
              <a:spcAft>
                <a:spcPts val="0"/>
              </a:spcAft>
            </a:pPr>
            <a:r>
              <a:rPr sz="1875" b="1">
                <a:solidFill>
                  <a:srgbClr val="172540"/>
                </a:solidFill>
                <a:latin typeface="Arial"/>
              </a:rPr>
              <a:t>Completion</a:t>
            </a:r>
          </a:p>
        </p:txBody>
      </p:sp>
      <p:sp>
        <p:nvSpPr>
          <p:cNvPr id="99" name="TextBox 98"/>
          <p:cNvSpPr txBox="1"/>
          <p:nvPr/>
        </p:nvSpPr>
        <p:spPr>
          <a:xfrm>
            <a:off x="11877675" y="3048000"/>
            <a:ext cx="2514600" cy="295275"/>
          </a:xfrm>
          <a:prstGeom prst="rect">
            <a:avLst/>
          </a:prstGeom>
          <a:noFill/>
        </p:spPr>
        <p:txBody>
          <a:bodyPr wrap="none" lIns="0" rIns="0" tIns="0" bIns="0" anchor="t"/>
          <a:lstStyle/>
          <a:p>
            <a:pPr algn="l">
              <a:lnSpc>
                <a:spcPts val="1652"/>
              </a:lnSpc>
              <a:spcBef>
                <a:spcPts val="0"/>
              </a:spcBef>
              <a:spcAft>
                <a:spcPts val="0"/>
              </a:spcAft>
            </a:pPr>
            <a:r>
              <a:rPr sz="1425" b="0">
                <a:solidFill>
                  <a:srgbClr val="64728B"/>
                </a:solidFill>
                <a:latin typeface="Arial"/>
              </a:rPr>
              <a:t>Behavior + tests</a:t>
            </a:r>
          </a:p>
        </p:txBody>
      </p:sp>
      <p:sp>
        <p:nvSpPr>
          <p:cNvPr id="100" name="Rounded Rectangle 99"/>
          <p:cNvSpPr/>
          <p:nvPr/>
        </p:nvSpPr>
        <p:spPr>
          <a:xfrm>
            <a:off x="11020425" y="3657600"/>
            <a:ext cx="3619500" cy="1028700"/>
          </a:xfrm>
          <a:prstGeom prst="roundRect">
            <a:avLst>
              <a:gd name="adj" fmla="val 14814"/>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28" name="Group 127"/>
          <p:cNvGrpSpPr/>
          <p:nvPr/>
        </p:nvGrpSpPr>
        <p:grpSpPr>
          <a:xfrm>
            <a:off x="11296650" y="3969543"/>
            <a:ext cx="285750" cy="335757"/>
            <a:chOff x="11296650" y="3969543"/>
            <a:chExt cx="285750" cy="335757"/>
          </a:xfrm>
        </p:grpSpPr>
        <p:cxnSp>
          <p:nvCxnSpPr>
            <p:cNvPr id="101" name="Connector 100"/>
            <p:cNvCxnSpPr/>
            <p:nvPr/>
          </p:nvCxnSpPr>
          <p:spPr>
            <a:xfrm>
              <a:off x="11296650" y="4026693"/>
              <a:ext cx="0" cy="214313"/>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11582400" y="4026693"/>
              <a:ext cx="0" cy="214313"/>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sp>
          <p:nvSpPr>
            <p:cNvPr id="103" name="Oval 102"/>
            <p:cNvSpPr/>
            <p:nvPr/>
          </p:nvSpPr>
          <p:spPr>
            <a:xfrm>
              <a:off x="11296650" y="3969543"/>
              <a:ext cx="285750" cy="114300"/>
            </a:xfrm>
            <a:prstGeom prst="ellipse">
              <a:avLst/>
            </a:prstGeom>
            <a:noFill/>
            <a:ln w="19288">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4" name="Connector 103"/>
            <p:cNvCxnSpPr/>
            <p:nvPr/>
          </p:nvCxnSpPr>
          <p:spPr>
            <a:xfrm flipH="1">
              <a:off x="11577531" y="4190999"/>
              <a:ext cx="4869" cy="14792"/>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a:off x="11563258" y="4205791"/>
              <a:ext cx="14273" cy="13784"/>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a:off x="11540552" y="4219575"/>
              <a:ext cx="22706" cy="11836"/>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a:off x="11510962" y="4231411"/>
              <a:ext cx="29590" cy="9082"/>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a:off x="11476503" y="4240493"/>
              <a:ext cx="34459" cy="5709"/>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a:off x="11439525" y="4246202"/>
              <a:ext cx="36978" cy="1948"/>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11402546" y="4246202"/>
              <a:ext cx="36979" cy="1948"/>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11368087" y="4240493"/>
              <a:ext cx="34459" cy="5709"/>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11338497" y="4231411"/>
              <a:ext cx="29590" cy="9082"/>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flipV="1">
              <a:off x="11315791" y="4219575"/>
              <a:ext cx="22706" cy="11836"/>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flipV="1">
              <a:off x="11301518" y="4205791"/>
              <a:ext cx="14273" cy="13784"/>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flipV="1">
              <a:off x="11296650" y="4190999"/>
              <a:ext cx="4868" cy="14792"/>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a:off x="11577531" y="4248150"/>
              <a:ext cx="4869" cy="14791"/>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a:off x="11563258" y="4262941"/>
              <a:ext cx="14273" cy="13784"/>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H="1">
              <a:off x="11540552" y="4276725"/>
              <a:ext cx="22706" cy="11836"/>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H="1">
              <a:off x="11510962" y="4288561"/>
              <a:ext cx="29590" cy="9082"/>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H="1">
              <a:off x="11476503" y="4297643"/>
              <a:ext cx="34459" cy="5709"/>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H="1">
              <a:off x="11439525" y="4303352"/>
              <a:ext cx="36978" cy="1948"/>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H="1" flipV="1">
              <a:off x="11402546" y="4303352"/>
              <a:ext cx="36979" cy="1948"/>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H="1" flipV="1">
              <a:off x="11368087" y="4297643"/>
              <a:ext cx="34459" cy="5709"/>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H="1" flipV="1">
              <a:off x="11338497" y="4288561"/>
              <a:ext cx="29590" cy="9082"/>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H="1" flipV="1">
              <a:off x="11315791" y="4276725"/>
              <a:ext cx="22706" cy="11836"/>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H="1" flipV="1">
              <a:off x="11301518" y="4262941"/>
              <a:ext cx="14273" cy="13784"/>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H="1" flipV="1">
              <a:off x="11296650" y="4248150"/>
              <a:ext cx="4868" cy="14791"/>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grpSp>
      <p:sp>
        <p:nvSpPr>
          <p:cNvPr id="129" name="TextBox 128"/>
          <p:cNvSpPr txBox="1"/>
          <p:nvPr/>
        </p:nvSpPr>
        <p:spPr>
          <a:xfrm>
            <a:off x="11868150" y="3838575"/>
            <a:ext cx="2571750" cy="342900"/>
          </a:xfrm>
          <a:prstGeom prst="rect">
            <a:avLst/>
          </a:prstGeom>
          <a:noFill/>
        </p:spPr>
        <p:txBody>
          <a:bodyPr wrap="none" lIns="0" rIns="0" tIns="0" bIns="0" anchor="t"/>
          <a:lstStyle/>
          <a:p>
            <a:pPr algn="l">
              <a:lnSpc>
                <a:spcPts val="2175"/>
              </a:lnSpc>
              <a:spcBef>
                <a:spcPts val="0"/>
              </a:spcBef>
              <a:spcAft>
                <a:spcPts val="0"/>
              </a:spcAft>
            </a:pPr>
            <a:r>
              <a:rPr sz="1875" b="1">
                <a:solidFill>
                  <a:srgbClr val="172540"/>
                </a:solidFill>
                <a:latin typeface="Arial"/>
              </a:rPr>
              <a:t>System integrity</a:t>
            </a:r>
          </a:p>
        </p:txBody>
      </p:sp>
      <p:sp>
        <p:nvSpPr>
          <p:cNvPr id="130" name="TextBox 129"/>
          <p:cNvSpPr txBox="1"/>
          <p:nvPr/>
        </p:nvSpPr>
        <p:spPr>
          <a:xfrm>
            <a:off x="11877675" y="4276725"/>
            <a:ext cx="2514600" cy="295275"/>
          </a:xfrm>
          <a:prstGeom prst="rect">
            <a:avLst/>
          </a:prstGeom>
          <a:noFill/>
        </p:spPr>
        <p:txBody>
          <a:bodyPr wrap="none" lIns="0" rIns="0" tIns="0" bIns="0" anchor="t"/>
          <a:lstStyle/>
          <a:p>
            <a:pPr algn="l">
              <a:lnSpc>
                <a:spcPts val="1652"/>
              </a:lnSpc>
              <a:spcBef>
                <a:spcPts val="0"/>
              </a:spcBef>
              <a:spcAft>
                <a:spcPts val="0"/>
              </a:spcAft>
            </a:pPr>
            <a:r>
              <a:rPr sz="1425" b="0">
                <a:solidFill>
                  <a:srgbClr val="64728B"/>
                </a:solidFill>
                <a:latin typeface="Arial"/>
              </a:rPr>
              <a:t>Data + state changes</a:t>
            </a:r>
          </a:p>
        </p:txBody>
      </p:sp>
      <p:sp>
        <p:nvSpPr>
          <p:cNvPr id="131" name="Rounded Rectangle 130"/>
          <p:cNvSpPr/>
          <p:nvPr/>
        </p:nvSpPr>
        <p:spPr>
          <a:xfrm>
            <a:off x="11020425" y="4886325"/>
            <a:ext cx="3619500" cy="1028700"/>
          </a:xfrm>
          <a:prstGeom prst="roundRect">
            <a:avLst>
              <a:gd name="adj" fmla="val 14814"/>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58" name="Group 157"/>
          <p:cNvGrpSpPr/>
          <p:nvPr/>
        </p:nvGrpSpPr>
        <p:grpSpPr>
          <a:xfrm>
            <a:off x="11282406" y="5191125"/>
            <a:ext cx="314281" cy="328302"/>
            <a:chOff x="11282406" y="5191125"/>
            <a:chExt cx="314281" cy="328302"/>
          </a:xfrm>
        </p:grpSpPr>
        <p:cxnSp>
          <p:nvCxnSpPr>
            <p:cNvPr id="132" name="Connector 131"/>
            <p:cNvCxnSpPr/>
            <p:nvPr/>
          </p:nvCxnSpPr>
          <p:spPr>
            <a:xfrm flipH="1">
              <a:off x="11524776" y="5473705"/>
              <a:ext cx="25879" cy="20901"/>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H="1">
              <a:off x="11495077" y="5494606"/>
              <a:ext cx="29699" cy="14985"/>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H="1">
              <a:off x="11462890" y="5509591"/>
              <a:ext cx="32187" cy="8399"/>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H="1">
              <a:off x="11429656" y="5517990"/>
              <a:ext cx="33234" cy="1437"/>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H="1" flipV="1">
              <a:off x="11396864" y="5513836"/>
              <a:ext cx="32792" cy="5591"/>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H="1" flipV="1">
              <a:off x="11365983" y="5501469"/>
              <a:ext cx="30881" cy="12367"/>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H="1" flipV="1">
              <a:off x="11338397" y="5482880"/>
              <a:ext cx="27586" cy="18589"/>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H="1" flipV="1">
              <a:off x="11315342" y="5458901"/>
              <a:ext cx="23055" cy="23979"/>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H="1" flipV="1">
              <a:off x="11297850" y="5430606"/>
              <a:ext cx="17492" cy="28295"/>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H="1" flipV="1">
              <a:off x="11286704" y="5399263"/>
              <a:ext cx="11146" cy="31343"/>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H="1" flipV="1">
              <a:off x="11282406" y="5366277"/>
              <a:ext cx="4298" cy="32986"/>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11282406" y="5333125"/>
              <a:ext cx="2740" cy="33152"/>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11285146" y="5301292"/>
              <a:ext cx="9656" cy="31833"/>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11294802" y="5272205"/>
              <a:ext cx="16140" cy="29087"/>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11310942" y="5247167"/>
              <a:ext cx="21900" cy="25038"/>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11332842" y="5227298"/>
              <a:ext cx="26680" cy="19869"/>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11359522" y="5213490"/>
              <a:ext cx="30264" cy="13808"/>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11389786" y="5206361"/>
              <a:ext cx="32492" cy="7129"/>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11422278" y="5206230"/>
              <a:ext cx="33265" cy="131"/>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11455543" y="5206230"/>
              <a:ext cx="32547" cy="6874"/>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11488090" y="5213104"/>
              <a:ext cx="30372" cy="13570"/>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11518462" y="5226674"/>
              <a:ext cx="26835" cy="19658"/>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11545297" y="5246332"/>
              <a:ext cx="22096" cy="24866"/>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11567393" y="5271198"/>
              <a:ext cx="16368" cy="28960"/>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11525250" y="5191125"/>
              <a:ext cx="71437" cy="42862"/>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H="1">
              <a:off x="11582400" y="5233987"/>
              <a:ext cx="14287" cy="85725"/>
            </a:xfrm>
            <a:prstGeom prst="line">
              <a:avLst/>
            </a:prstGeom>
            <a:ln w="19288">
              <a:solidFill>
                <a:srgbClr val="0B9696"/>
              </a:solidFill>
            </a:ln>
          </p:spPr>
          <p:style>
            <a:lnRef idx="2">
              <a:schemeClr val="accent1"/>
            </a:lnRef>
            <a:fillRef idx="0">
              <a:schemeClr val="accent1"/>
            </a:fillRef>
            <a:effectRef idx="1">
              <a:schemeClr val="accent1"/>
            </a:effectRef>
            <a:fontRef idx="minor">
              <a:schemeClr val="tx1"/>
            </a:fontRef>
          </p:style>
        </p:cxnSp>
      </p:grpSp>
      <p:sp>
        <p:nvSpPr>
          <p:cNvPr id="159" name="TextBox 158"/>
          <p:cNvSpPr txBox="1"/>
          <p:nvPr/>
        </p:nvSpPr>
        <p:spPr>
          <a:xfrm>
            <a:off x="11868150" y="5067300"/>
            <a:ext cx="2571750" cy="342900"/>
          </a:xfrm>
          <a:prstGeom prst="rect">
            <a:avLst/>
          </a:prstGeom>
          <a:noFill/>
        </p:spPr>
        <p:txBody>
          <a:bodyPr wrap="none" lIns="0" rIns="0" tIns="0" bIns="0" anchor="t"/>
          <a:lstStyle/>
          <a:p>
            <a:pPr algn="l">
              <a:lnSpc>
                <a:spcPts val="2175"/>
              </a:lnSpc>
              <a:spcBef>
                <a:spcPts val="0"/>
              </a:spcBef>
              <a:spcAft>
                <a:spcPts val="0"/>
              </a:spcAft>
            </a:pPr>
            <a:r>
              <a:rPr sz="1875" b="1">
                <a:solidFill>
                  <a:srgbClr val="172540"/>
                </a:solidFill>
                <a:latin typeface="Arial"/>
              </a:rPr>
              <a:t>Recovery</a:t>
            </a:r>
          </a:p>
        </p:txBody>
      </p:sp>
      <p:sp>
        <p:nvSpPr>
          <p:cNvPr id="160" name="TextBox 159"/>
          <p:cNvSpPr txBox="1"/>
          <p:nvPr/>
        </p:nvSpPr>
        <p:spPr>
          <a:xfrm>
            <a:off x="11877675" y="5505450"/>
            <a:ext cx="2514600" cy="295275"/>
          </a:xfrm>
          <a:prstGeom prst="rect">
            <a:avLst/>
          </a:prstGeom>
          <a:noFill/>
        </p:spPr>
        <p:txBody>
          <a:bodyPr wrap="none" lIns="0" rIns="0" tIns="0" bIns="0" anchor="t"/>
          <a:lstStyle/>
          <a:p>
            <a:pPr algn="l">
              <a:lnSpc>
                <a:spcPts val="1652"/>
              </a:lnSpc>
              <a:spcBef>
                <a:spcPts val="0"/>
              </a:spcBef>
              <a:spcAft>
                <a:spcPts val="0"/>
              </a:spcAft>
            </a:pPr>
            <a:r>
              <a:rPr sz="1425" b="0">
                <a:solidFill>
                  <a:srgbClr val="64728B"/>
                </a:solidFill>
                <a:latin typeface="Arial"/>
              </a:rPr>
              <a:t>Repair + retry behavior</a:t>
            </a:r>
          </a:p>
        </p:txBody>
      </p:sp>
      <p:sp>
        <p:nvSpPr>
          <p:cNvPr id="161" name="Rounded Rectangle 160"/>
          <p:cNvSpPr/>
          <p:nvPr/>
        </p:nvSpPr>
        <p:spPr>
          <a:xfrm>
            <a:off x="11020425" y="6115050"/>
            <a:ext cx="3619500" cy="1028700"/>
          </a:xfrm>
          <a:prstGeom prst="roundRect">
            <a:avLst>
              <a:gd name="adj" fmla="val 14814"/>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65" name="Group 164"/>
          <p:cNvGrpSpPr/>
          <p:nvPr/>
        </p:nvGrpSpPr>
        <p:grpSpPr>
          <a:xfrm>
            <a:off x="11260931" y="6412706"/>
            <a:ext cx="357187" cy="357187"/>
            <a:chOff x="11260931" y="6412706"/>
            <a:chExt cx="357187" cy="357187"/>
          </a:xfrm>
        </p:grpSpPr>
        <p:sp>
          <p:nvSpPr>
            <p:cNvPr id="162" name="Oval 161"/>
            <p:cNvSpPr/>
            <p:nvPr/>
          </p:nvSpPr>
          <p:spPr>
            <a:xfrm>
              <a:off x="11260931" y="6412706"/>
              <a:ext cx="357187" cy="357187"/>
            </a:xfrm>
            <a:prstGeom prst="ellipse">
              <a:avLst/>
            </a:prstGeom>
            <a:noFill/>
            <a:ln w="19288">
              <a:solidFill>
                <a:srgbClr val="D99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3" name="Connector 162"/>
            <p:cNvCxnSpPr/>
            <p:nvPr/>
          </p:nvCxnSpPr>
          <p:spPr>
            <a:xfrm>
              <a:off x="11439525" y="6484143"/>
              <a:ext cx="0" cy="114300"/>
            </a:xfrm>
            <a:prstGeom prst="line">
              <a:avLst/>
            </a:prstGeom>
            <a:ln w="19288">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11439525" y="6598443"/>
              <a:ext cx="85725" cy="42863"/>
            </a:xfrm>
            <a:prstGeom prst="line">
              <a:avLst/>
            </a:prstGeom>
            <a:ln w="19288">
              <a:solidFill>
                <a:srgbClr val="D99528"/>
              </a:solidFill>
            </a:ln>
          </p:spPr>
          <p:style>
            <a:lnRef idx="2">
              <a:schemeClr val="accent1"/>
            </a:lnRef>
            <a:fillRef idx="0">
              <a:schemeClr val="accent1"/>
            </a:fillRef>
            <a:effectRef idx="1">
              <a:schemeClr val="accent1"/>
            </a:effectRef>
            <a:fontRef idx="minor">
              <a:schemeClr val="tx1"/>
            </a:fontRef>
          </p:style>
        </p:cxnSp>
      </p:grpSp>
      <p:sp>
        <p:nvSpPr>
          <p:cNvPr id="166" name="TextBox 165"/>
          <p:cNvSpPr txBox="1"/>
          <p:nvPr/>
        </p:nvSpPr>
        <p:spPr>
          <a:xfrm>
            <a:off x="11868150" y="6296025"/>
            <a:ext cx="2571750" cy="342900"/>
          </a:xfrm>
          <a:prstGeom prst="rect">
            <a:avLst/>
          </a:prstGeom>
          <a:noFill/>
        </p:spPr>
        <p:txBody>
          <a:bodyPr wrap="none" lIns="0" rIns="0" tIns="0" bIns="0" anchor="t"/>
          <a:lstStyle/>
          <a:p>
            <a:pPr algn="l">
              <a:lnSpc>
                <a:spcPts val="2175"/>
              </a:lnSpc>
              <a:spcBef>
                <a:spcPts val="0"/>
              </a:spcBef>
              <a:spcAft>
                <a:spcPts val="0"/>
              </a:spcAft>
            </a:pPr>
            <a:r>
              <a:rPr sz="1875" b="1">
                <a:solidFill>
                  <a:srgbClr val="172540"/>
                </a:solidFill>
                <a:latin typeface="Arial"/>
              </a:rPr>
              <a:t>Effort</a:t>
            </a:r>
          </a:p>
        </p:txBody>
      </p:sp>
      <p:sp>
        <p:nvSpPr>
          <p:cNvPr id="167" name="TextBox 166"/>
          <p:cNvSpPr txBox="1"/>
          <p:nvPr/>
        </p:nvSpPr>
        <p:spPr>
          <a:xfrm>
            <a:off x="11877675" y="6734175"/>
            <a:ext cx="2514600" cy="295275"/>
          </a:xfrm>
          <a:prstGeom prst="rect">
            <a:avLst/>
          </a:prstGeom>
          <a:noFill/>
        </p:spPr>
        <p:txBody>
          <a:bodyPr wrap="none" lIns="0" rIns="0" tIns="0" bIns="0" anchor="t"/>
          <a:lstStyle/>
          <a:p>
            <a:pPr algn="l">
              <a:lnSpc>
                <a:spcPts val="1652"/>
              </a:lnSpc>
              <a:spcBef>
                <a:spcPts val="0"/>
              </a:spcBef>
              <a:spcAft>
                <a:spcPts val="0"/>
              </a:spcAft>
            </a:pPr>
            <a:r>
              <a:rPr sz="1425" b="0">
                <a:solidFill>
                  <a:srgbClr val="64728B"/>
                </a:solidFill>
                <a:latin typeface="Arial"/>
              </a:rPr>
              <a:t>Time + compute + help</a:t>
            </a:r>
          </a:p>
        </p:txBody>
      </p:sp>
      <p:sp>
        <p:nvSpPr>
          <p:cNvPr id="168" name="Rounded Rectangle 167"/>
          <p:cNvSpPr/>
          <p:nvPr/>
        </p:nvSpPr>
        <p:spPr>
          <a:xfrm>
            <a:off x="600075" y="7458075"/>
            <a:ext cx="9439275" cy="371475"/>
          </a:xfrm>
          <a:prstGeom prst="roundRect">
            <a:avLst>
              <a:gd name="adj" fmla="val 45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TextBox 168"/>
          <p:cNvSpPr txBox="1"/>
          <p:nvPr/>
        </p:nvSpPr>
        <p:spPr>
          <a:xfrm>
            <a:off x="714375" y="7543800"/>
            <a:ext cx="9210675" cy="247649"/>
          </a:xfrm>
          <a:prstGeom prst="rect">
            <a:avLst/>
          </a:prstGeom>
          <a:noFill/>
        </p:spPr>
        <p:txBody>
          <a:bodyPr wrap="none" lIns="0" rIns="0" tIns="0" bIns="0" anchor="t"/>
          <a:lstStyle/>
          <a:p>
            <a:pPr algn="ctr">
              <a:lnSpc>
                <a:spcPts val="1827"/>
              </a:lnSpc>
              <a:spcBef>
                <a:spcPts val="0"/>
              </a:spcBef>
              <a:spcAft>
                <a:spcPts val="0"/>
              </a:spcAft>
            </a:pPr>
            <a:r>
              <a:rPr sz="1575" b="1">
                <a:solidFill>
                  <a:srgbClr val="3973F6"/>
                </a:solidFill>
                <a:latin typeface="Arial"/>
              </a:rPr>
              <a:t>Also test normal cases; report uncertainty and unsuccessful runs.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C"/>
        </a:solidFill>
        <a:effectLst/>
      </p:bgPr>
    </p:bg>
    <p:spTree>
      <p:nvGrpSpPr>
        <p:cNvPr id="1" name=""/>
        <p:cNvGrpSpPr/>
        <p:nvPr/>
      </p:nvGrpSpPr>
      <p:grpSpPr/>
      <p:sp>
        <p:nvSpPr>
          <p:cNvPr id="2" name="Rounded Rectangle 1"/>
          <p:cNvSpPr/>
          <p:nvPr/>
        </p:nvSpPr>
        <p:spPr>
          <a:xfrm>
            <a:off x="571500" y="390525"/>
            <a:ext cx="85725" cy="209550"/>
          </a:xfrm>
          <a:prstGeom prst="roundRect">
            <a:avLst>
              <a:gd name="adj" fmla="val 44444"/>
            </a:avLst>
          </a:prstGeom>
          <a:solidFill>
            <a:srgbClr val="39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1050" y="381000"/>
            <a:ext cx="13239750" cy="247649"/>
          </a:xfrm>
          <a:prstGeom prst="rect">
            <a:avLst/>
          </a:prstGeom>
          <a:noFill/>
        </p:spPr>
        <p:txBody>
          <a:bodyPr wrap="none" lIns="0" rIns="0" tIns="0" bIns="0" anchor="t"/>
          <a:lstStyle/>
          <a:p>
            <a:pPr algn="l">
              <a:lnSpc>
                <a:spcPts val="1305"/>
              </a:lnSpc>
              <a:spcBef>
                <a:spcPts val="0"/>
              </a:spcBef>
              <a:spcAft>
                <a:spcPts val="0"/>
              </a:spcAft>
            </a:pPr>
            <a:r>
              <a:rPr sz="1125" b="1">
                <a:solidFill>
                  <a:srgbClr val="64728B"/>
                </a:solidFill>
                <a:latin typeface="Arial"/>
              </a:rPr>
              <a:t>PILOT PLAN</a:t>
            </a:r>
          </a:p>
        </p:txBody>
      </p:sp>
      <p:sp>
        <p:nvSpPr>
          <p:cNvPr id="4" name="TextBox 3"/>
          <p:cNvSpPr txBox="1"/>
          <p:nvPr/>
        </p:nvSpPr>
        <p:spPr>
          <a:xfrm>
            <a:off x="581025" y="8172450"/>
            <a:ext cx="13049250" cy="190500"/>
          </a:xfrm>
          <a:prstGeom prst="rect">
            <a:avLst/>
          </a:prstGeom>
          <a:noFill/>
        </p:spPr>
        <p:txBody>
          <a:bodyPr wrap="none" lIns="0" rIns="0" tIns="0" bIns="0" anchor="t"/>
          <a:lstStyle/>
          <a:p>
            <a:pPr algn="l">
              <a:lnSpc>
                <a:spcPts val="1044"/>
              </a:lnSpc>
              <a:spcBef>
                <a:spcPts val="0"/>
              </a:spcBef>
              <a:spcAft>
                <a:spcPts val="0"/>
              </a:spcAft>
            </a:pPr>
            <a:r>
              <a:rPr sz="900" b="0">
                <a:solidFill>
                  <a:srgbClr val="64728B"/>
                </a:solidFill>
                <a:latin typeface="Arial"/>
              </a:rPr>
              <a:t>INCIDENT REPLAY / SOFTWARE ENGINEERING</a:t>
            </a:r>
          </a:p>
        </p:txBody>
      </p:sp>
      <p:sp>
        <p:nvSpPr>
          <p:cNvPr id="5" name="TextBox 4"/>
          <p:cNvSpPr txBox="1"/>
          <p:nvPr/>
        </p:nvSpPr>
        <p:spPr>
          <a:xfrm>
            <a:off x="13887450" y="8124824"/>
            <a:ext cx="762000" cy="238125"/>
          </a:xfrm>
          <a:prstGeom prst="rect">
            <a:avLst/>
          </a:prstGeom>
          <a:noFill/>
        </p:spPr>
        <p:txBody>
          <a:bodyPr wrap="none" lIns="0" rIns="0" tIns="0" bIns="0" anchor="t"/>
          <a:lstStyle/>
          <a:p>
            <a:pPr algn="r">
              <a:lnSpc>
                <a:spcPts val="1218"/>
              </a:lnSpc>
              <a:spcBef>
                <a:spcPts val="0"/>
              </a:spcBef>
              <a:spcAft>
                <a:spcPts val="0"/>
              </a:spcAft>
            </a:pPr>
            <a:r>
              <a:rPr sz="1050" b="0">
                <a:solidFill>
                  <a:srgbClr val="64728B"/>
                </a:solidFill>
                <a:latin typeface="Courier New"/>
              </a:rPr>
              <a:t>09 / 10</a:t>
            </a:r>
          </a:p>
        </p:txBody>
      </p:sp>
      <p:sp>
        <p:nvSpPr>
          <p:cNvPr id="6" name="TextBox 5"/>
          <p:cNvSpPr txBox="1"/>
          <p:nvPr/>
        </p:nvSpPr>
        <p:spPr>
          <a:xfrm>
            <a:off x="571500" y="942975"/>
            <a:ext cx="14097000" cy="1181100"/>
          </a:xfrm>
          <a:prstGeom prst="rect">
            <a:avLst/>
          </a:prstGeom>
          <a:noFill/>
        </p:spPr>
        <p:txBody>
          <a:bodyPr wrap="none" lIns="0" rIns="0" tIns="0" bIns="0" anchor="t"/>
          <a:lstStyle/>
          <a:p>
            <a:pPr algn="l">
              <a:lnSpc>
                <a:spcPts val="4212"/>
              </a:lnSpc>
              <a:spcBef>
                <a:spcPts val="0"/>
              </a:spcBef>
              <a:spcAft>
                <a:spcPts val="0"/>
              </a:spcAft>
            </a:pPr>
            <a:r>
              <a:rPr sz="3900" b="1">
                <a:solidFill>
                  <a:srgbClr val="172540"/>
                </a:solidFill>
                <a:latin typeface="Arial"/>
              </a:rPr>
              <a:t>Grow coverage by failure mechanism.</a:t>
            </a:r>
          </a:p>
        </p:txBody>
      </p:sp>
      <p:sp>
        <p:nvSpPr>
          <p:cNvPr id="7" name="TextBox 6"/>
          <p:cNvSpPr txBox="1"/>
          <p:nvPr/>
        </p:nvSpPr>
        <p:spPr>
          <a:xfrm>
            <a:off x="600075" y="1685925"/>
            <a:ext cx="13906500" cy="647700"/>
          </a:xfrm>
          <a:prstGeom prst="rect">
            <a:avLst/>
          </a:prstGeom>
          <a:noFill/>
        </p:spPr>
        <p:txBody>
          <a:bodyPr wrap="none" lIns="0" rIns="0" tIns="0" bIns="0" anchor="t"/>
          <a:lstStyle/>
          <a:p>
            <a:pPr algn="l">
              <a:lnSpc>
                <a:spcPts val="2175"/>
              </a:lnSpc>
              <a:spcBef>
                <a:spcPts val="0"/>
              </a:spcBef>
              <a:spcAft>
                <a:spcPts val="0"/>
              </a:spcAft>
            </a:pPr>
            <a:r>
              <a:rPr sz="1875" b="0">
                <a:solidFill>
                  <a:srgbClr val="64728B"/>
                </a:solidFill>
                <a:latin typeface="Arial"/>
              </a:rPr>
              <a:t>Start with one qualified family, then add different sources of engineering failure.</a:t>
            </a:r>
          </a:p>
        </p:txBody>
      </p:sp>
      <p:sp>
        <p:nvSpPr>
          <p:cNvPr id="8" name="Rounded Rectangle 7"/>
          <p:cNvSpPr/>
          <p:nvPr/>
        </p:nvSpPr>
        <p:spPr>
          <a:xfrm>
            <a:off x="600075" y="2762250"/>
            <a:ext cx="4476750" cy="2990850"/>
          </a:xfrm>
          <a:prstGeom prst="roundRect">
            <a:avLst>
              <a:gd name="adj" fmla="val 7006"/>
            </a:avLst>
          </a:prstGeom>
          <a:solidFill>
            <a:srgbClr val="E7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0550" y="2695575"/>
            <a:ext cx="4476750" cy="2990850"/>
          </a:xfrm>
          <a:prstGeom prst="roundRect">
            <a:avLst>
              <a:gd name="adj" fmla="val 7006"/>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391150" y="2762250"/>
            <a:ext cx="4476750" cy="2990850"/>
          </a:xfrm>
          <a:prstGeom prst="roundRect">
            <a:avLst>
              <a:gd name="adj" fmla="val 7006"/>
            </a:avLst>
          </a:prstGeom>
          <a:solidFill>
            <a:srgbClr val="E7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381625" y="2695575"/>
            <a:ext cx="4476750" cy="2990850"/>
          </a:xfrm>
          <a:prstGeom prst="roundRect">
            <a:avLst>
              <a:gd name="adj" fmla="val 7006"/>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182225" y="2762250"/>
            <a:ext cx="4476750" cy="2990850"/>
          </a:xfrm>
          <a:prstGeom prst="roundRect">
            <a:avLst>
              <a:gd name="adj" fmla="val 7006"/>
            </a:avLst>
          </a:prstGeom>
          <a:solidFill>
            <a:srgbClr val="E7ED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172700" y="2695575"/>
            <a:ext cx="4476750" cy="2990850"/>
          </a:xfrm>
          <a:prstGeom prst="roundRect">
            <a:avLst>
              <a:gd name="adj" fmla="val 7006"/>
            </a:avLst>
          </a:prstGeom>
          <a:solidFill>
            <a:srgbClr val="FFFFFF"/>
          </a:solidFill>
          <a:ln w="12382">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47725" y="2924175"/>
            <a:ext cx="647700" cy="371475"/>
          </a:xfrm>
          <a:prstGeom prst="roundRect">
            <a:avLst>
              <a:gd name="adj" fmla="val 45000"/>
            </a:avLst>
          </a:prstGeom>
          <a:solidFill>
            <a:srgbClr val="EAF1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2024" y="3009900"/>
            <a:ext cx="419100" cy="247649"/>
          </a:xfrm>
          <a:prstGeom prst="rect">
            <a:avLst/>
          </a:prstGeom>
          <a:noFill/>
        </p:spPr>
        <p:txBody>
          <a:bodyPr wrap="none" lIns="0" rIns="0" tIns="0" bIns="0" anchor="t"/>
          <a:lstStyle/>
          <a:p>
            <a:pPr algn="ctr">
              <a:lnSpc>
                <a:spcPts val="1827"/>
              </a:lnSpc>
              <a:spcBef>
                <a:spcPts val="0"/>
              </a:spcBef>
              <a:spcAft>
                <a:spcPts val="0"/>
              </a:spcAft>
            </a:pPr>
            <a:r>
              <a:rPr sz="1575" b="1">
                <a:solidFill>
                  <a:srgbClr val="3973F6"/>
                </a:solidFill>
                <a:latin typeface="Arial"/>
              </a:rPr>
              <a:t>01</a:t>
            </a:r>
          </a:p>
        </p:txBody>
      </p:sp>
      <p:sp>
        <p:nvSpPr>
          <p:cNvPr id="16" name="Rounded Rectangle 15"/>
          <p:cNvSpPr/>
          <p:nvPr/>
        </p:nvSpPr>
        <p:spPr>
          <a:xfrm>
            <a:off x="5638800" y="2924175"/>
            <a:ext cx="647700" cy="371475"/>
          </a:xfrm>
          <a:prstGeom prst="roundRect">
            <a:avLst>
              <a:gd name="adj" fmla="val 45000"/>
            </a:avLst>
          </a:prstGeom>
          <a:solidFill>
            <a:srgbClr val="E5F5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53100" y="3009900"/>
            <a:ext cx="419100" cy="247649"/>
          </a:xfrm>
          <a:prstGeom prst="rect">
            <a:avLst/>
          </a:prstGeom>
          <a:noFill/>
        </p:spPr>
        <p:txBody>
          <a:bodyPr wrap="none" lIns="0" rIns="0" tIns="0" bIns="0" anchor="t"/>
          <a:lstStyle/>
          <a:p>
            <a:pPr algn="ctr">
              <a:lnSpc>
                <a:spcPts val="1827"/>
              </a:lnSpc>
              <a:spcBef>
                <a:spcPts val="0"/>
              </a:spcBef>
              <a:spcAft>
                <a:spcPts val="0"/>
              </a:spcAft>
            </a:pPr>
            <a:r>
              <a:rPr sz="1575" b="1">
                <a:solidFill>
                  <a:srgbClr val="0B9696"/>
                </a:solidFill>
                <a:latin typeface="Arial"/>
              </a:rPr>
              <a:t>02</a:t>
            </a:r>
          </a:p>
        </p:txBody>
      </p:sp>
      <p:sp>
        <p:nvSpPr>
          <p:cNvPr id="18" name="Rounded Rectangle 17"/>
          <p:cNvSpPr/>
          <p:nvPr/>
        </p:nvSpPr>
        <p:spPr>
          <a:xfrm>
            <a:off x="10429875" y="2924175"/>
            <a:ext cx="647700" cy="371475"/>
          </a:xfrm>
          <a:prstGeom prst="roundRect">
            <a:avLst>
              <a:gd name="adj" fmla="val 45000"/>
            </a:avLst>
          </a:prstGeom>
          <a:solidFill>
            <a:srgbClr val="FFF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44175" y="3009900"/>
            <a:ext cx="419100" cy="247649"/>
          </a:xfrm>
          <a:prstGeom prst="rect">
            <a:avLst/>
          </a:prstGeom>
          <a:noFill/>
        </p:spPr>
        <p:txBody>
          <a:bodyPr wrap="none" lIns="0" rIns="0" tIns="0" bIns="0" anchor="t"/>
          <a:lstStyle/>
          <a:p>
            <a:pPr algn="ctr">
              <a:lnSpc>
                <a:spcPts val="1827"/>
              </a:lnSpc>
              <a:spcBef>
                <a:spcPts val="0"/>
              </a:spcBef>
              <a:spcAft>
                <a:spcPts val="0"/>
              </a:spcAft>
            </a:pPr>
            <a:r>
              <a:rPr sz="1575" b="1">
                <a:solidFill>
                  <a:srgbClr val="D99528"/>
                </a:solidFill>
                <a:latin typeface="Arial"/>
              </a:rPr>
              <a:t>03</a:t>
            </a:r>
          </a:p>
        </p:txBody>
      </p:sp>
      <p:grpSp>
        <p:nvGrpSpPr>
          <p:cNvPr id="28" name="Group 27"/>
          <p:cNvGrpSpPr/>
          <p:nvPr/>
        </p:nvGrpSpPr>
        <p:grpSpPr>
          <a:xfrm>
            <a:off x="1265039" y="3617267"/>
            <a:ext cx="508396" cy="444847"/>
            <a:chOff x="1265039" y="3617267"/>
            <a:chExt cx="508396" cy="444847"/>
          </a:xfrm>
        </p:grpSpPr>
        <p:sp>
          <p:nvSpPr>
            <p:cNvPr id="20" name="Rounded Rectangle 19"/>
            <p:cNvSpPr/>
            <p:nvPr/>
          </p:nvSpPr>
          <p:spPr>
            <a:xfrm>
              <a:off x="1319510" y="3744366"/>
              <a:ext cx="399454" cy="317748"/>
            </a:xfrm>
            <a:prstGeom prst="roundRect">
              <a:avLst>
                <a:gd name="adj" fmla="val 20000"/>
              </a:avLst>
            </a:prstGeom>
            <a:noFill/>
            <a:ln w="24511">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1519237" y="3653581"/>
              <a:ext cx="0" cy="90785"/>
            </a:xfrm>
            <a:prstGeom prst="line">
              <a:avLst/>
            </a:prstGeom>
            <a:ln w="24511">
              <a:solidFill>
                <a:srgbClr val="3973F6"/>
              </a:solidFill>
            </a:ln>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1492001" y="3617267"/>
              <a:ext cx="54471" cy="54471"/>
            </a:xfrm>
            <a:prstGeom prst="ellipse">
              <a:avLst/>
            </a:prstGeom>
            <a:solidFill>
              <a:srgbClr val="3973F6"/>
            </a:solidFill>
            <a:ln w="24511">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1265039" y="3853308"/>
              <a:ext cx="54471" cy="0"/>
            </a:xfrm>
            <a:prstGeom prst="line">
              <a:avLst/>
            </a:prstGeom>
            <a:ln w="2451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718964" y="3853308"/>
              <a:ext cx="54471" cy="0"/>
            </a:xfrm>
            <a:prstGeom prst="line">
              <a:avLst/>
            </a:prstGeom>
            <a:ln w="24511">
              <a:solidFill>
                <a:srgbClr val="3973F6"/>
              </a:solidFill>
            </a:ln>
          </p:spPr>
          <p:style>
            <a:lnRef idx="2">
              <a:schemeClr val="accent1"/>
            </a:lnRef>
            <a:fillRef idx="0">
              <a:schemeClr val="accent1"/>
            </a:fillRef>
            <a:effectRef idx="1">
              <a:schemeClr val="accent1"/>
            </a:effectRef>
            <a:fontRef idx="minor">
              <a:schemeClr val="tx1"/>
            </a:fontRef>
          </p:style>
        </p:cxnSp>
        <p:sp>
          <p:nvSpPr>
            <p:cNvPr id="25" name="Oval 24"/>
            <p:cNvSpPr/>
            <p:nvPr/>
          </p:nvSpPr>
          <p:spPr>
            <a:xfrm>
              <a:off x="1419373" y="3835151"/>
              <a:ext cx="36314" cy="36314"/>
            </a:xfrm>
            <a:prstGeom prst="ellipse">
              <a:avLst/>
            </a:prstGeom>
            <a:solidFill>
              <a:srgbClr val="3973F6"/>
            </a:solidFill>
            <a:ln w="24511">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582787" y="3835151"/>
              <a:ext cx="36314" cy="36314"/>
            </a:xfrm>
            <a:prstGeom prst="ellipse">
              <a:avLst/>
            </a:prstGeom>
            <a:solidFill>
              <a:srgbClr val="3973F6"/>
            </a:solidFill>
            <a:ln w="24511">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1446609" y="3962251"/>
              <a:ext cx="145256" cy="0"/>
            </a:xfrm>
            <a:prstGeom prst="line">
              <a:avLst/>
            </a:prstGeom>
            <a:ln w="24511">
              <a:solidFill>
                <a:srgbClr val="3973F6"/>
              </a:solidFill>
            </a:ln>
          </p:spPr>
          <p:style>
            <a:lnRef idx="2">
              <a:schemeClr val="accent1"/>
            </a:lnRef>
            <a:fillRef idx="0">
              <a:schemeClr val="accent1"/>
            </a:fillRef>
            <a:effectRef idx="1">
              <a:schemeClr val="accent1"/>
            </a:effectRef>
            <a:fontRef idx="minor">
              <a:schemeClr val="tx1"/>
            </a:fontRef>
          </p:style>
        </p:cxnSp>
      </p:grpSp>
      <p:grpSp>
        <p:nvGrpSpPr>
          <p:cNvPr id="56" name="Group 55"/>
          <p:cNvGrpSpPr/>
          <p:nvPr/>
        </p:nvGrpSpPr>
        <p:grpSpPr>
          <a:xfrm>
            <a:off x="2649735" y="3649414"/>
            <a:ext cx="386954" cy="454670"/>
            <a:chOff x="2649735" y="3649414"/>
            <a:chExt cx="386954" cy="454670"/>
          </a:xfrm>
        </p:grpSpPr>
        <p:cxnSp>
          <p:nvCxnSpPr>
            <p:cNvPr id="29" name="Connector 28"/>
            <p:cNvCxnSpPr/>
            <p:nvPr/>
          </p:nvCxnSpPr>
          <p:spPr>
            <a:xfrm>
              <a:off x="2649735" y="3726805"/>
              <a:ext cx="0" cy="290214"/>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036689" y="3726805"/>
              <a:ext cx="0" cy="290214"/>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2649735" y="3649414"/>
              <a:ext cx="386953" cy="154781"/>
            </a:xfrm>
            <a:prstGeom prst="ellipse">
              <a:avLst/>
            </a:prstGeom>
            <a:noFill/>
            <a:ln w="26119">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 name="Connector 31"/>
            <p:cNvCxnSpPr/>
            <p:nvPr/>
          </p:nvCxnSpPr>
          <p:spPr>
            <a:xfrm flipH="1">
              <a:off x="3030096" y="3949303"/>
              <a:ext cx="6593" cy="20030"/>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3010768" y="3969333"/>
              <a:ext cx="19328" cy="18665"/>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2980021" y="3987998"/>
              <a:ext cx="30747" cy="16028"/>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2939950" y="4004026"/>
              <a:ext cx="40071" cy="12299"/>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2893287" y="4016325"/>
              <a:ext cx="46663" cy="7731"/>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2843212" y="4024056"/>
              <a:ext cx="50075" cy="2637"/>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793137" y="4024056"/>
              <a:ext cx="50075" cy="2637"/>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746474" y="4016325"/>
              <a:ext cx="46663" cy="7731"/>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706403" y="4004026"/>
              <a:ext cx="40071" cy="12299"/>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675656" y="3987998"/>
              <a:ext cx="30747" cy="16028"/>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656328" y="3969333"/>
              <a:ext cx="19328" cy="18665"/>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649735" y="3949303"/>
              <a:ext cx="6593" cy="20030"/>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3030096" y="4026693"/>
              <a:ext cx="6593" cy="20030"/>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3010768" y="4046723"/>
              <a:ext cx="19328" cy="18666"/>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2980021" y="4065389"/>
              <a:ext cx="30747" cy="16028"/>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2939950" y="4081417"/>
              <a:ext cx="40071" cy="12298"/>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2893287" y="4093715"/>
              <a:ext cx="46663" cy="7732"/>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2843212" y="4101447"/>
              <a:ext cx="50075" cy="2637"/>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793137" y="4101447"/>
              <a:ext cx="50075" cy="2637"/>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746474" y="4093715"/>
              <a:ext cx="46663" cy="7732"/>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706403" y="4081417"/>
              <a:ext cx="40071" cy="12298"/>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675656" y="4065389"/>
              <a:ext cx="30747" cy="16028"/>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656328" y="4046723"/>
              <a:ext cx="19328" cy="18666"/>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649735" y="4026693"/>
              <a:ext cx="6593" cy="20030"/>
            </a:xfrm>
            <a:prstGeom prst="line">
              <a:avLst/>
            </a:prstGeom>
            <a:ln w="26119">
              <a:solidFill>
                <a:srgbClr val="3973F6"/>
              </a:solidFill>
            </a:ln>
          </p:spPr>
          <p:style>
            <a:lnRef idx="2">
              <a:schemeClr val="accent1"/>
            </a:lnRef>
            <a:fillRef idx="0">
              <a:schemeClr val="accent1"/>
            </a:fillRef>
            <a:effectRef idx="1">
              <a:schemeClr val="accent1"/>
            </a:effectRef>
            <a:fontRef idx="minor">
              <a:schemeClr val="tx1"/>
            </a:fontRef>
          </p:style>
        </p:cxnSp>
      </p:grpSp>
      <p:grpSp>
        <p:nvGrpSpPr>
          <p:cNvPr id="65" name="Group 64"/>
          <p:cNvGrpSpPr/>
          <p:nvPr/>
        </p:nvGrpSpPr>
        <p:grpSpPr>
          <a:xfrm>
            <a:off x="3922514" y="3617267"/>
            <a:ext cx="508396" cy="444847"/>
            <a:chOff x="3922514" y="3617267"/>
            <a:chExt cx="508396" cy="444847"/>
          </a:xfrm>
        </p:grpSpPr>
        <p:sp>
          <p:nvSpPr>
            <p:cNvPr id="57" name="Rounded Rectangle 56"/>
            <p:cNvSpPr/>
            <p:nvPr/>
          </p:nvSpPr>
          <p:spPr>
            <a:xfrm>
              <a:off x="3976985" y="3744366"/>
              <a:ext cx="399454" cy="317748"/>
            </a:xfrm>
            <a:prstGeom prst="roundRect">
              <a:avLst>
                <a:gd name="adj" fmla="val 20000"/>
              </a:avLst>
            </a:prstGeom>
            <a:noFill/>
            <a:ln w="24511">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4176712" y="3653581"/>
              <a:ext cx="0" cy="90785"/>
            </a:xfrm>
            <a:prstGeom prst="line">
              <a:avLst/>
            </a:prstGeom>
            <a:ln w="24511">
              <a:solidFill>
                <a:srgbClr val="0B9696"/>
              </a:solidFill>
            </a:ln>
          </p:spPr>
          <p:style>
            <a:lnRef idx="2">
              <a:schemeClr val="accent1"/>
            </a:lnRef>
            <a:fillRef idx="0">
              <a:schemeClr val="accent1"/>
            </a:fillRef>
            <a:effectRef idx="1">
              <a:schemeClr val="accent1"/>
            </a:effectRef>
            <a:fontRef idx="minor">
              <a:schemeClr val="tx1"/>
            </a:fontRef>
          </p:style>
        </p:cxnSp>
        <p:sp>
          <p:nvSpPr>
            <p:cNvPr id="59" name="Oval 58"/>
            <p:cNvSpPr/>
            <p:nvPr/>
          </p:nvSpPr>
          <p:spPr>
            <a:xfrm>
              <a:off x="4149476" y="3617267"/>
              <a:ext cx="54471" cy="54471"/>
            </a:xfrm>
            <a:prstGeom prst="ellipse">
              <a:avLst/>
            </a:prstGeom>
            <a:solidFill>
              <a:srgbClr val="0B9696"/>
            </a:solidFill>
            <a:ln w="24511">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3922514" y="3853308"/>
              <a:ext cx="54471" cy="0"/>
            </a:xfrm>
            <a:prstGeom prst="line">
              <a:avLst/>
            </a:prstGeom>
            <a:ln w="24511">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a:off x="4376439" y="3853308"/>
              <a:ext cx="54471" cy="0"/>
            </a:xfrm>
            <a:prstGeom prst="line">
              <a:avLst/>
            </a:prstGeom>
            <a:ln w="24511">
              <a:solidFill>
                <a:srgbClr val="0B9696"/>
              </a:solidFill>
            </a:ln>
          </p:spPr>
          <p:style>
            <a:lnRef idx="2">
              <a:schemeClr val="accent1"/>
            </a:lnRef>
            <a:fillRef idx="0">
              <a:schemeClr val="accent1"/>
            </a:fillRef>
            <a:effectRef idx="1">
              <a:schemeClr val="accent1"/>
            </a:effectRef>
            <a:fontRef idx="minor">
              <a:schemeClr val="tx1"/>
            </a:fontRef>
          </p:style>
        </p:cxnSp>
        <p:sp>
          <p:nvSpPr>
            <p:cNvPr id="62" name="Oval 61"/>
            <p:cNvSpPr/>
            <p:nvPr/>
          </p:nvSpPr>
          <p:spPr>
            <a:xfrm>
              <a:off x="4076848" y="3835151"/>
              <a:ext cx="36314" cy="36314"/>
            </a:xfrm>
            <a:prstGeom prst="ellipse">
              <a:avLst/>
            </a:prstGeom>
            <a:solidFill>
              <a:srgbClr val="0B9696"/>
            </a:solidFill>
            <a:ln w="24511">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4240262" y="3835151"/>
              <a:ext cx="36314" cy="36314"/>
            </a:xfrm>
            <a:prstGeom prst="ellipse">
              <a:avLst/>
            </a:prstGeom>
            <a:solidFill>
              <a:srgbClr val="0B9696"/>
            </a:solidFill>
            <a:ln w="24511">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4104084" y="3962251"/>
              <a:ext cx="145256" cy="0"/>
            </a:xfrm>
            <a:prstGeom prst="line">
              <a:avLst/>
            </a:prstGeom>
            <a:ln w="24511">
              <a:solidFill>
                <a:srgbClr val="0B9696"/>
              </a:solidFill>
            </a:ln>
          </p:spPr>
          <p:style>
            <a:lnRef idx="2">
              <a:schemeClr val="accent1"/>
            </a:lnRef>
            <a:fillRef idx="0">
              <a:schemeClr val="accent1"/>
            </a:fillRef>
            <a:effectRef idx="1">
              <a:schemeClr val="accent1"/>
            </a:effectRef>
            <a:fontRef idx="minor">
              <a:schemeClr val="tx1"/>
            </a:fontRef>
          </p:style>
        </p:cxnSp>
      </p:grpSp>
      <p:cxnSp>
        <p:nvCxnSpPr>
          <p:cNvPr id="66" name="Connector 65"/>
          <p:cNvCxnSpPr/>
          <p:nvPr/>
        </p:nvCxnSpPr>
        <p:spPr>
          <a:xfrm>
            <a:off x="1895474" y="3867150"/>
            <a:ext cx="533401" cy="0"/>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2328567" y="3867150"/>
            <a:ext cx="100308" cy="54798"/>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328567" y="3812351"/>
            <a:ext cx="100308" cy="54799"/>
          </a:xfrm>
          <a:prstGeom prst="line">
            <a:avLst/>
          </a:prstGeom>
          <a:ln w="23812">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3248025" y="3867150"/>
            <a:ext cx="542924" cy="0"/>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3690642" y="3867150"/>
            <a:ext cx="100307" cy="54798"/>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3690642" y="3812351"/>
            <a:ext cx="100307" cy="54799"/>
          </a:xfrm>
          <a:prstGeom prst="line">
            <a:avLst/>
          </a:prstGeom>
          <a:ln w="23812">
            <a:solidFill>
              <a:srgbClr val="0B9696"/>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847725" y="4524375"/>
            <a:ext cx="3933824" cy="381000"/>
          </a:xfrm>
          <a:prstGeom prst="rect">
            <a:avLst/>
          </a:prstGeom>
          <a:noFill/>
        </p:spPr>
        <p:txBody>
          <a:bodyPr wrap="none" lIns="0" rIns="0" tIns="0" bIns="0" anchor="t"/>
          <a:lstStyle/>
          <a:p>
            <a:pPr algn="l">
              <a:lnSpc>
                <a:spcPts val="2610"/>
              </a:lnSpc>
              <a:spcBef>
                <a:spcPts val="0"/>
              </a:spcBef>
              <a:spcAft>
                <a:spcPts val="0"/>
              </a:spcAft>
            </a:pPr>
            <a:r>
              <a:rPr sz="2250" b="1">
                <a:solidFill>
                  <a:srgbClr val="172540"/>
                </a:solidFill>
                <a:latin typeface="Arial"/>
              </a:rPr>
              <a:t>Shared state</a:t>
            </a:r>
          </a:p>
        </p:txBody>
      </p:sp>
      <p:sp>
        <p:nvSpPr>
          <p:cNvPr id="73" name="TextBox 72"/>
          <p:cNvSpPr txBox="1"/>
          <p:nvPr/>
        </p:nvSpPr>
        <p:spPr>
          <a:xfrm>
            <a:off x="847725" y="5076825"/>
            <a:ext cx="3914775" cy="409575"/>
          </a:xfrm>
          <a:prstGeom prst="rect">
            <a:avLst/>
          </a:prstGeom>
          <a:noFill/>
        </p:spPr>
        <p:txBody>
          <a:bodyPr wrap="none" lIns="0" rIns="0" tIns="0" bIns="0" anchor="t"/>
          <a:lstStyle/>
          <a:p>
            <a:pPr algn="l">
              <a:lnSpc>
                <a:spcPts val="1739"/>
              </a:lnSpc>
              <a:spcBef>
                <a:spcPts val="0"/>
              </a:spcBef>
              <a:spcAft>
                <a:spcPts val="0"/>
              </a:spcAft>
            </a:pPr>
            <a:r>
              <a:rPr sz="1500" b="0">
                <a:solidFill>
                  <a:srgbClr val="64728B"/>
                </a:solidFill>
                <a:latin typeface="Arial"/>
              </a:rPr>
              <a:t>OpenAI–HF component environments</a:t>
            </a:r>
          </a:p>
        </p:txBody>
      </p:sp>
      <p:grpSp>
        <p:nvGrpSpPr>
          <p:cNvPr id="101" name="Group 100"/>
          <p:cNvGrpSpPr/>
          <p:nvPr/>
        </p:nvGrpSpPr>
        <p:grpSpPr>
          <a:xfrm>
            <a:off x="6135290" y="3665636"/>
            <a:ext cx="416719" cy="489645"/>
            <a:chOff x="6135290" y="3665636"/>
            <a:chExt cx="416719" cy="489645"/>
          </a:xfrm>
        </p:grpSpPr>
        <p:cxnSp>
          <p:nvCxnSpPr>
            <p:cNvPr id="74" name="Connector 73"/>
            <p:cNvCxnSpPr/>
            <p:nvPr/>
          </p:nvCxnSpPr>
          <p:spPr>
            <a:xfrm>
              <a:off x="6135290" y="3748980"/>
              <a:ext cx="0" cy="312539"/>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552009" y="3748980"/>
              <a:ext cx="0" cy="312539"/>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sp>
          <p:nvSpPr>
            <p:cNvPr id="76" name="Oval 75"/>
            <p:cNvSpPr/>
            <p:nvPr/>
          </p:nvSpPr>
          <p:spPr>
            <a:xfrm>
              <a:off x="6135290" y="3665636"/>
              <a:ext cx="416718" cy="166687"/>
            </a:xfrm>
            <a:prstGeom prst="ellipse">
              <a:avLst/>
            </a:prstGeom>
            <a:noFill/>
            <a:ln w="28128">
              <a:solidFill>
                <a:srgbClr val="0B96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7" name="Connector 76"/>
            <p:cNvCxnSpPr/>
            <p:nvPr/>
          </p:nvCxnSpPr>
          <p:spPr>
            <a:xfrm flipH="1">
              <a:off x="6544909" y="3988593"/>
              <a:ext cx="7100" cy="21571"/>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6524094" y="4010164"/>
              <a:ext cx="20815" cy="20101"/>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6490982" y="4030265"/>
              <a:ext cx="33112" cy="17261"/>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6447829" y="4047526"/>
              <a:ext cx="43153" cy="13245"/>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6397577" y="4060771"/>
              <a:ext cx="50252" cy="8326"/>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a:off x="6343650" y="4069097"/>
              <a:ext cx="53927" cy="2840"/>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6289722" y="4069097"/>
              <a:ext cx="53928" cy="2840"/>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6239470" y="4060771"/>
              <a:ext cx="50252" cy="8326"/>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6196317" y="4047526"/>
              <a:ext cx="43153" cy="13245"/>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6163205" y="4030265"/>
              <a:ext cx="33112" cy="17261"/>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6142390" y="4010164"/>
              <a:ext cx="20815" cy="20101"/>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6135290" y="3988593"/>
              <a:ext cx="7100" cy="21571"/>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a:off x="6544909" y="4071937"/>
              <a:ext cx="7100" cy="21571"/>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a:off x="6524094" y="4093508"/>
              <a:ext cx="20815" cy="20101"/>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a:off x="6490982" y="4113609"/>
              <a:ext cx="33112" cy="17261"/>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a:off x="6447829" y="4130870"/>
              <a:ext cx="43153" cy="13245"/>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a:off x="6397577" y="4144115"/>
              <a:ext cx="50252" cy="8326"/>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H="1">
              <a:off x="6343650" y="4152441"/>
              <a:ext cx="53927" cy="2840"/>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flipV="1">
              <a:off x="6289722" y="4152441"/>
              <a:ext cx="53928" cy="2840"/>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6239470" y="4144115"/>
              <a:ext cx="50252" cy="8326"/>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6196317" y="4130870"/>
              <a:ext cx="43153" cy="13245"/>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6163205" y="4113609"/>
              <a:ext cx="33112" cy="17261"/>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6142390" y="4093508"/>
              <a:ext cx="20815" cy="20101"/>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flipV="1">
              <a:off x="6135290" y="4071937"/>
              <a:ext cx="7100" cy="21571"/>
            </a:xfrm>
            <a:prstGeom prst="line">
              <a:avLst/>
            </a:prstGeom>
            <a:ln w="28128">
              <a:solidFill>
                <a:srgbClr val="0B9696"/>
              </a:solidFill>
            </a:ln>
          </p:spPr>
          <p:style>
            <a:lnRef idx="2">
              <a:schemeClr val="accent1"/>
            </a:lnRef>
            <a:fillRef idx="0">
              <a:schemeClr val="accent1"/>
            </a:fillRef>
            <a:effectRef idx="1">
              <a:schemeClr val="accent1"/>
            </a:effectRef>
            <a:fontRef idx="minor">
              <a:schemeClr val="tx1"/>
            </a:fontRef>
          </p:style>
        </p:cxnSp>
      </p:grpSp>
      <p:sp>
        <p:nvSpPr>
          <p:cNvPr id="102" name="Rounded Rectangle 101"/>
          <p:cNvSpPr/>
          <p:nvPr/>
        </p:nvSpPr>
        <p:spPr>
          <a:xfrm>
            <a:off x="7219950" y="3609975"/>
            <a:ext cx="238125" cy="238125"/>
          </a:xfrm>
          <a:prstGeom prst="roundRect">
            <a:avLst>
              <a:gd name="adj" fmla="val 20000"/>
            </a:avLst>
          </a:prstGeom>
          <a:solidFill>
            <a:srgbClr val="0B9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ounded Rectangle 102"/>
          <p:cNvSpPr/>
          <p:nvPr/>
        </p:nvSpPr>
        <p:spPr>
          <a:xfrm>
            <a:off x="7534275" y="3609975"/>
            <a:ext cx="238125" cy="238125"/>
          </a:xfrm>
          <a:prstGeom prst="roundRect">
            <a:avLst>
              <a:gd name="adj" fmla="val 20000"/>
            </a:avLst>
          </a:prstGeom>
          <a:solidFill>
            <a:srgbClr val="0B9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ounded Rectangle 103"/>
          <p:cNvSpPr/>
          <p:nvPr/>
        </p:nvSpPr>
        <p:spPr>
          <a:xfrm>
            <a:off x="7848600" y="3609975"/>
            <a:ext cx="238125" cy="238125"/>
          </a:xfrm>
          <a:prstGeom prst="roundRect">
            <a:avLst>
              <a:gd name="adj" fmla="val 20000"/>
            </a:avLst>
          </a:prstGeom>
          <a:solidFill>
            <a:srgbClr val="0B9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ounded Rectangle 104"/>
          <p:cNvSpPr/>
          <p:nvPr/>
        </p:nvSpPr>
        <p:spPr>
          <a:xfrm>
            <a:off x="8162925" y="3609975"/>
            <a:ext cx="238125" cy="238125"/>
          </a:xfrm>
          <a:prstGeom prst="roundRect">
            <a:avLst>
              <a:gd name="adj" fmla="val 20000"/>
            </a:avLst>
          </a:prstGeom>
          <a:solidFill>
            <a:srgbClr val="0B9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ounded Rectangle 105"/>
          <p:cNvSpPr/>
          <p:nvPr/>
        </p:nvSpPr>
        <p:spPr>
          <a:xfrm>
            <a:off x="7219950" y="3924300"/>
            <a:ext cx="238125" cy="238125"/>
          </a:xfrm>
          <a:prstGeom prst="roundRect">
            <a:avLst>
              <a:gd name="adj" fmla="val 20000"/>
            </a:avLst>
          </a:prstGeom>
          <a:solidFill>
            <a:srgbClr val="D99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Rounded Rectangle 106"/>
          <p:cNvSpPr/>
          <p:nvPr/>
        </p:nvSpPr>
        <p:spPr>
          <a:xfrm>
            <a:off x="7534275" y="3924300"/>
            <a:ext cx="238125" cy="238125"/>
          </a:xfrm>
          <a:prstGeom prst="roundRect">
            <a:avLst>
              <a:gd name="adj" fmla="val 20000"/>
            </a:avLst>
          </a:prstGeom>
          <a:solidFill>
            <a:srgbClr val="D99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ounded Rectangle 107"/>
          <p:cNvSpPr/>
          <p:nvPr/>
        </p:nvSpPr>
        <p:spPr>
          <a:xfrm>
            <a:off x="7848600" y="3924300"/>
            <a:ext cx="238125" cy="238125"/>
          </a:xfrm>
          <a:prstGeom prst="roundRect">
            <a:avLst>
              <a:gd name="adj" fmla="val 20000"/>
            </a:avLst>
          </a:prstGeom>
          <a:solidFill>
            <a:srgbClr val="D99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ounded Rectangle 108"/>
          <p:cNvSpPr/>
          <p:nvPr/>
        </p:nvSpPr>
        <p:spPr>
          <a:xfrm>
            <a:off x="8162925" y="3924300"/>
            <a:ext cx="238125" cy="238125"/>
          </a:xfrm>
          <a:prstGeom prst="roundRect">
            <a:avLst>
              <a:gd name="adj" fmla="val 20000"/>
            </a:avLst>
          </a:prstGeom>
          <a:solidFill>
            <a:srgbClr val="D995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5638800" y="4524375"/>
            <a:ext cx="3933824" cy="381000"/>
          </a:xfrm>
          <a:prstGeom prst="rect">
            <a:avLst/>
          </a:prstGeom>
          <a:noFill/>
        </p:spPr>
        <p:txBody>
          <a:bodyPr wrap="none" lIns="0" rIns="0" tIns="0" bIns="0" anchor="t"/>
          <a:lstStyle/>
          <a:p>
            <a:pPr algn="l">
              <a:lnSpc>
                <a:spcPts val="2610"/>
              </a:lnSpc>
              <a:spcBef>
                <a:spcPts val="0"/>
              </a:spcBef>
              <a:spcAft>
                <a:spcPts val="0"/>
              </a:spcAft>
            </a:pPr>
            <a:r>
              <a:rPr sz="2250" b="1">
                <a:solidFill>
                  <a:srgbClr val="172540"/>
                </a:solidFill>
                <a:latin typeface="Arial"/>
              </a:rPr>
              <a:t>Partial updates</a:t>
            </a:r>
          </a:p>
        </p:txBody>
      </p:sp>
      <p:sp>
        <p:nvSpPr>
          <p:cNvPr id="111" name="TextBox 110"/>
          <p:cNvSpPr txBox="1"/>
          <p:nvPr/>
        </p:nvSpPr>
        <p:spPr>
          <a:xfrm>
            <a:off x="5638800" y="5076825"/>
            <a:ext cx="3914775" cy="409575"/>
          </a:xfrm>
          <a:prstGeom prst="rect">
            <a:avLst/>
          </a:prstGeom>
          <a:noFill/>
        </p:spPr>
        <p:txBody>
          <a:bodyPr wrap="none" lIns="0" rIns="0" tIns="0" bIns="0" anchor="t"/>
          <a:lstStyle/>
          <a:p>
            <a:pPr algn="l">
              <a:lnSpc>
                <a:spcPts val="1739"/>
              </a:lnSpc>
              <a:spcBef>
                <a:spcPts val="0"/>
              </a:spcBef>
              <a:spcAft>
                <a:spcPts val="0"/>
              </a:spcAft>
            </a:pPr>
            <a:r>
              <a:rPr sz="1500" b="0">
                <a:solidFill>
                  <a:srgbClr val="64728B"/>
                </a:solidFill>
                <a:latin typeface="Arial"/>
              </a:rPr>
              <a:t>Migration or failed recovery</a:t>
            </a:r>
          </a:p>
        </p:txBody>
      </p:sp>
      <p:grpSp>
        <p:nvGrpSpPr>
          <p:cNvPr id="119" name="Group 118"/>
          <p:cNvGrpSpPr/>
          <p:nvPr/>
        </p:nvGrpSpPr>
        <p:grpSpPr>
          <a:xfrm>
            <a:off x="10822483" y="3670101"/>
            <a:ext cx="491133" cy="422374"/>
            <a:chOff x="10822483" y="3670101"/>
            <a:chExt cx="491133" cy="422374"/>
          </a:xfrm>
        </p:grpSpPr>
        <p:sp>
          <p:nvSpPr>
            <p:cNvPr id="112" name="Rounded Rectangle 111"/>
            <p:cNvSpPr/>
            <p:nvPr/>
          </p:nvSpPr>
          <p:spPr>
            <a:xfrm>
              <a:off x="10822483" y="3670101"/>
              <a:ext cx="491132" cy="422374"/>
            </a:xfrm>
            <a:prstGeom prst="roundRect">
              <a:avLst>
                <a:gd name="adj" fmla="val 9302"/>
              </a:avLst>
            </a:prstGeom>
            <a:noFill/>
            <a:ln w="26521">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3" name="Connector 112"/>
            <p:cNvCxnSpPr/>
            <p:nvPr/>
          </p:nvCxnSpPr>
          <p:spPr>
            <a:xfrm>
              <a:off x="10822483" y="3778150"/>
              <a:ext cx="491133" cy="0"/>
            </a:xfrm>
            <a:prstGeom prst="line">
              <a:avLst/>
            </a:prstGeom>
            <a:ln w="2652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a:off x="10930532" y="3866554"/>
              <a:ext cx="58936" cy="58936"/>
            </a:xfrm>
            <a:prstGeom prst="line">
              <a:avLst/>
            </a:prstGeom>
            <a:ln w="2652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930532" y="3925490"/>
              <a:ext cx="58936" cy="58936"/>
            </a:xfrm>
            <a:prstGeom prst="line">
              <a:avLst/>
            </a:prstGeom>
            <a:ln w="2652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1146631" y="3866554"/>
              <a:ext cx="58936" cy="58936"/>
            </a:xfrm>
            <a:prstGeom prst="line">
              <a:avLst/>
            </a:prstGeom>
            <a:ln w="2652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a:off x="11146631" y="3925490"/>
              <a:ext cx="58936" cy="58936"/>
            </a:xfrm>
            <a:prstGeom prst="line">
              <a:avLst/>
            </a:prstGeom>
            <a:ln w="26521">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H="1">
              <a:off x="11048404" y="3846909"/>
              <a:ext cx="39291" cy="166985"/>
            </a:xfrm>
            <a:prstGeom prst="line">
              <a:avLst/>
            </a:prstGeom>
            <a:ln w="26521">
              <a:solidFill>
                <a:srgbClr val="3973F6"/>
              </a:solidFill>
            </a:ln>
          </p:spPr>
          <p:style>
            <a:lnRef idx="2">
              <a:schemeClr val="accent1"/>
            </a:lnRef>
            <a:fillRef idx="0">
              <a:schemeClr val="accent1"/>
            </a:fillRef>
            <a:effectRef idx="1">
              <a:schemeClr val="accent1"/>
            </a:effectRef>
            <a:fontRef idx="minor">
              <a:schemeClr val="tx1"/>
            </a:fontRef>
          </p:style>
        </p:cxnSp>
      </p:grpSp>
      <p:grpSp>
        <p:nvGrpSpPr>
          <p:cNvPr id="129" name="Group 128"/>
          <p:cNvGrpSpPr/>
          <p:nvPr/>
        </p:nvGrpSpPr>
        <p:grpSpPr>
          <a:xfrm>
            <a:off x="13375481" y="3670101"/>
            <a:ext cx="471487" cy="432196"/>
            <a:chOff x="13375481" y="3670101"/>
            <a:chExt cx="471487" cy="432196"/>
          </a:xfrm>
        </p:grpSpPr>
        <p:cxnSp>
          <p:nvCxnSpPr>
            <p:cNvPr id="120" name="Connector 119"/>
            <p:cNvCxnSpPr/>
            <p:nvPr/>
          </p:nvCxnSpPr>
          <p:spPr>
            <a:xfrm>
              <a:off x="13375481" y="3719214"/>
              <a:ext cx="98226" cy="0"/>
            </a:xfrm>
            <a:prstGeom prst="line">
              <a:avLst/>
            </a:prstGeom>
            <a:ln w="26521">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3571934" y="3719214"/>
              <a:ext cx="275034" cy="0"/>
            </a:xfrm>
            <a:prstGeom prst="line">
              <a:avLst/>
            </a:prstGeom>
            <a:ln w="26521">
              <a:solidFill>
                <a:srgbClr val="D99528"/>
              </a:solidFill>
            </a:ln>
          </p:spPr>
          <p:style>
            <a:lnRef idx="2">
              <a:schemeClr val="accent1"/>
            </a:lnRef>
            <a:fillRef idx="0">
              <a:schemeClr val="accent1"/>
            </a:fillRef>
            <a:effectRef idx="1">
              <a:schemeClr val="accent1"/>
            </a:effectRef>
            <a:fontRef idx="minor">
              <a:schemeClr val="tx1"/>
            </a:fontRef>
          </p:style>
        </p:cxnSp>
        <p:sp>
          <p:nvSpPr>
            <p:cNvPr id="122" name="Oval 121"/>
            <p:cNvSpPr/>
            <p:nvPr/>
          </p:nvSpPr>
          <p:spPr>
            <a:xfrm>
              <a:off x="13473707" y="3670101"/>
              <a:ext cx="98226" cy="98226"/>
            </a:xfrm>
            <a:prstGeom prst="ellipse">
              <a:avLst/>
            </a:prstGeom>
            <a:noFill/>
            <a:ln w="26521">
              <a:solidFill>
                <a:srgbClr val="D99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3" name="Connector 122"/>
            <p:cNvCxnSpPr/>
            <p:nvPr/>
          </p:nvCxnSpPr>
          <p:spPr>
            <a:xfrm>
              <a:off x="13375481" y="3886200"/>
              <a:ext cx="284857" cy="0"/>
            </a:xfrm>
            <a:prstGeom prst="line">
              <a:avLst/>
            </a:prstGeom>
            <a:ln w="26521">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3758564" y="3886200"/>
              <a:ext cx="88404" cy="0"/>
            </a:xfrm>
            <a:prstGeom prst="line">
              <a:avLst/>
            </a:prstGeom>
            <a:ln w="26521">
              <a:solidFill>
                <a:srgbClr val="D99528"/>
              </a:solidFill>
            </a:ln>
          </p:spPr>
          <p:style>
            <a:lnRef idx="2">
              <a:schemeClr val="accent1"/>
            </a:lnRef>
            <a:fillRef idx="0">
              <a:schemeClr val="accent1"/>
            </a:fillRef>
            <a:effectRef idx="1">
              <a:schemeClr val="accent1"/>
            </a:effectRef>
            <a:fontRef idx="minor">
              <a:schemeClr val="tx1"/>
            </a:fontRef>
          </p:style>
        </p:cxnSp>
        <p:sp>
          <p:nvSpPr>
            <p:cNvPr id="125" name="Oval 124"/>
            <p:cNvSpPr/>
            <p:nvPr/>
          </p:nvSpPr>
          <p:spPr>
            <a:xfrm>
              <a:off x="13660338" y="3837086"/>
              <a:ext cx="98226" cy="98226"/>
            </a:xfrm>
            <a:prstGeom prst="ellipse">
              <a:avLst/>
            </a:prstGeom>
            <a:noFill/>
            <a:ln w="26521">
              <a:solidFill>
                <a:srgbClr val="D99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6" name="Connector 125"/>
            <p:cNvCxnSpPr/>
            <p:nvPr/>
          </p:nvCxnSpPr>
          <p:spPr>
            <a:xfrm>
              <a:off x="13375481" y="4053185"/>
              <a:ext cx="147340" cy="0"/>
            </a:xfrm>
            <a:prstGeom prst="line">
              <a:avLst/>
            </a:prstGeom>
            <a:ln w="26521">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13621047" y="4053185"/>
              <a:ext cx="225921" cy="0"/>
            </a:xfrm>
            <a:prstGeom prst="line">
              <a:avLst/>
            </a:prstGeom>
            <a:ln w="26521">
              <a:solidFill>
                <a:srgbClr val="D99528"/>
              </a:solidFill>
            </a:ln>
          </p:spPr>
          <p:style>
            <a:lnRef idx="2">
              <a:schemeClr val="accent1"/>
            </a:lnRef>
            <a:fillRef idx="0">
              <a:schemeClr val="accent1"/>
            </a:fillRef>
            <a:effectRef idx="1">
              <a:schemeClr val="accent1"/>
            </a:effectRef>
            <a:fontRef idx="minor">
              <a:schemeClr val="tx1"/>
            </a:fontRef>
          </p:style>
        </p:cxnSp>
        <p:sp>
          <p:nvSpPr>
            <p:cNvPr id="128" name="Oval 127"/>
            <p:cNvSpPr/>
            <p:nvPr/>
          </p:nvSpPr>
          <p:spPr>
            <a:xfrm>
              <a:off x="13522821" y="4004071"/>
              <a:ext cx="98226" cy="98226"/>
            </a:xfrm>
            <a:prstGeom prst="ellipse">
              <a:avLst/>
            </a:prstGeom>
            <a:noFill/>
            <a:ln w="26521">
              <a:solidFill>
                <a:srgbClr val="D9952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cxnSp>
        <p:nvCxnSpPr>
          <p:cNvPr id="130" name="Connector 129"/>
          <p:cNvCxnSpPr/>
          <p:nvPr/>
        </p:nvCxnSpPr>
        <p:spPr>
          <a:xfrm>
            <a:off x="11487150" y="3886200"/>
            <a:ext cx="1666875" cy="0"/>
          </a:xfrm>
          <a:prstGeom prst="line">
            <a:avLst/>
          </a:prstGeom>
          <a:ln w="23812">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H="1">
            <a:off x="13053717" y="3886200"/>
            <a:ext cx="100308" cy="54798"/>
          </a:xfrm>
          <a:prstGeom prst="line">
            <a:avLst/>
          </a:prstGeom>
          <a:ln w="23812">
            <a:solidFill>
              <a:srgbClr val="D99528"/>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H="1" flipV="1">
            <a:off x="13053717" y="3831401"/>
            <a:ext cx="100308" cy="54799"/>
          </a:xfrm>
          <a:prstGeom prst="line">
            <a:avLst/>
          </a:prstGeom>
          <a:ln w="23812">
            <a:solidFill>
              <a:srgbClr val="D99528"/>
            </a:solidFill>
          </a:ln>
        </p:spPr>
        <p:style>
          <a:lnRef idx="2">
            <a:schemeClr val="accent1"/>
          </a:lnRef>
          <a:fillRef idx="0">
            <a:schemeClr val="accent1"/>
          </a:fillRef>
          <a:effectRef idx="1">
            <a:schemeClr val="accent1"/>
          </a:effectRef>
          <a:fontRef idx="minor">
            <a:schemeClr val="tx1"/>
          </a:fontRef>
        </p:style>
      </p:cxnSp>
      <p:sp>
        <p:nvSpPr>
          <p:cNvPr id="133" name="Rounded Rectangle 132"/>
          <p:cNvSpPr/>
          <p:nvPr/>
        </p:nvSpPr>
        <p:spPr>
          <a:xfrm>
            <a:off x="11858625" y="3457575"/>
            <a:ext cx="904875" cy="371475"/>
          </a:xfrm>
          <a:prstGeom prst="roundRect">
            <a:avLst>
              <a:gd name="adj" fmla="val 45000"/>
            </a:avLst>
          </a:prstGeom>
          <a:solidFill>
            <a:srgbClr val="FFF2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11972925" y="3543300"/>
            <a:ext cx="676275" cy="247649"/>
          </a:xfrm>
          <a:prstGeom prst="rect">
            <a:avLst/>
          </a:prstGeom>
          <a:noFill/>
        </p:spPr>
        <p:txBody>
          <a:bodyPr wrap="none" lIns="0" rIns="0" tIns="0" bIns="0" anchor="t"/>
          <a:lstStyle/>
          <a:p>
            <a:pPr algn="ctr">
              <a:lnSpc>
                <a:spcPts val="1391"/>
              </a:lnSpc>
              <a:spcBef>
                <a:spcPts val="0"/>
              </a:spcBef>
              <a:spcAft>
                <a:spcPts val="0"/>
              </a:spcAft>
            </a:pPr>
            <a:r>
              <a:rPr sz="1200" b="1">
                <a:solidFill>
                  <a:srgbClr val="D99528"/>
                </a:solidFill>
                <a:latin typeface="Arial"/>
              </a:rPr>
              <a:t>v1 → v2</a:t>
            </a:r>
          </a:p>
        </p:txBody>
      </p:sp>
      <p:sp>
        <p:nvSpPr>
          <p:cNvPr id="135" name="TextBox 134"/>
          <p:cNvSpPr txBox="1"/>
          <p:nvPr/>
        </p:nvSpPr>
        <p:spPr>
          <a:xfrm>
            <a:off x="10429875" y="4524375"/>
            <a:ext cx="3933824" cy="381000"/>
          </a:xfrm>
          <a:prstGeom prst="rect">
            <a:avLst/>
          </a:prstGeom>
          <a:noFill/>
        </p:spPr>
        <p:txBody>
          <a:bodyPr wrap="none" lIns="0" rIns="0" tIns="0" bIns="0" anchor="t"/>
          <a:lstStyle/>
          <a:p>
            <a:pPr algn="l">
              <a:lnSpc>
                <a:spcPts val="2610"/>
              </a:lnSpc>
              <a:spcBef>
                <a:spcPts val="0"/>
              </a:spcBef>
              <a:spcAft>
                <a:spcPts val="0"/>
              </a:spcAft>
            </a:pPr>
            <a:r>
              <a:rPr sz="2250" b="1">
                <a:solidFill>
                  <a:srgbClr val="172540"/>
                </a:solidFill>
                <a:latin typeface="Arial"/>
              </a:rPr>
              <a:t>Environment drift</a:t>
            </a:r>
          </a:p>
        </p:txBody>
      </p:sp>
      <p:sp>
        <p:nvSpPr>
          <p:cNvPr id="136" name="TextBox 135"/>
          <p:cNvSpPr txBox="1"/>
          <p:nvPr/>
        </p:nvSpPr>
        <p:spPr>
          <a:xfrm>
            <a:off x="10429875" y="5076825"/>
            <a:ext cx="3914775" cy="409575"/>
          </a:xfrm>
          <a:prstGeom prst="rect">
            <a:avLst/>
          </a:prstGeom>
          <a:noFill/>
        </p:spPr>
        <p:txBody>
          <a:bodyPr wrap="none" lIns="0" rIns="0" tIns="0" bIns="0" anchor="t"/>
          <a:lstStyle/>
          <a:p>
            <a:pPr algn="l">
              <a:lnSpc>
                <a:spcPts val="1739"/>
              </a:lnSpc>
              <a:spcBef>
                <a:spcPts val="0"/>
              </a:spcBef>
              <a:spcAft>
                <a:spcPts val="0"/>
              </a:spcAft>
            </a:pPr>
            <a:r>
              <a:rPr sz="1500" b="0">
                <a:solidFill>
                  <a:srgbClr val="64728B"/>
                </a:solidFill>
                <a:latin typeface="Arial"/>
              </a:rPr>
              <a:t>Dependency or configuration mismatch</a:t>
            </a:r>
          </a:p>
        </p:txBody>
      </p:sp>
      <p:sp>
        <p:nvSpPr>
          <p:cNvPr id="137" name="TextBox 136"/>
          <p:cNvSpPr txBox="1"/>
          <p:nvPr/>
        </p:nvSpPr>
        <p:spPr>
          <a:xfrm>
            <a:off x="609600" y="6143625"/>
            <a:ext cx="13696950" cy="257175"/>
          </a:xfrm>
          <a:prstGeom prst="rect">
            <a:avLst/>
          </a:prstGeom>
          <a:noFill/>
        </p:spPr>
        <p:txBody>
          <a:bodyPr wrap="none" lIns="0" rIns="0" tIns="0" bIns="0" anchor="t"/>
          <a:lstStyle/>
          <a:p>
            <a:pPr algn="l">
              <a:lnSpc>
                <a:spcPts val="1391"/>
              </a:lnSpc>
              <a:spcBef>
                <a:spcPts val="0"/>
              </a:spcBef>
              <a:spcAft>
                <a:spcPts val="0"/>
              </a:spcAft>
            </a:pPr>
            <a:r>
              <a:rPr sz="1200" b="1">
                <a:solidFill>
                  <a:srgbClr val="64728B"/>
                </a:solidFill>
                <a:latin typeface="Arial"/>
              </a:rPr>
              <a:t>BUILD ORDER: MOVE FORWARD WHEN THE CASE IS READY</a:t>
            </a:r>
          </a:p>
        </p:txBody>
      </p:sp>
      <p:cxnSp>
        <p:nvCxnSpPr>
          <p:cNvPr id="138" name="Connector 137"/>
          <p:cNvCxnSpPr/>
          <p:nvPr/>
        </p:nvCxnSpPr>
        <p:spPr>
          <a:xfrm>
            <a:off x="2076450" y="6981825"/>
            <a:ext cx="4991100" cy="0"/>
          </a:xfrm>
          <a:prstGeom prst="line">
            <a:avLst/>
          </a:prstGeom>
          <a:ln w="38100">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7067550" y="6981825"/>
            <a:ext cx="5010150" cy="0"/>
          </a:xfrm>
          <a:prstGeom prst="line">
            <a:avLst/>
          </a:prstGeom>
          <a:ln w="38100">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H="1">
            <a:off x="11977392" y="6981825"/>
            <a:ext cx="100308" cy="54798"/>
          </a:xfrm>
          <a:prstGeom prst="line">
            <a:avLst/>
          </a:prstGeom>
          <a:ln w="38100">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H="1" flipV="1">
            <a:off x="11977392" y="6927026"/>
            <a:ext cx="100308" cy="54799"/>
          </a:xfrm>
          <a:prstGeom prst="line">
            <a:avLst/>
          </a:prstGeom>
          <a:ln w="38100">
            <a:solidFill>
              <a:srgbClr val="3973F6"/>
            </a:solidFill>
          </a:ln>
        </p:spPr>
        <p:style>
          <a:lnRef idx="2">
            <a:schemeClr val="accent1"/>
          </a:lnRef>
          <a:fillRef idx="0">
            <a:schemeClr val="accent1"/>
          </a:fillRef>
          <a:effectRef idx="1">
            <a:schemeClr val="accent1"/>
          </a:effectRef>
          <a:fontRef idx="minor">
            <a:schemeClr val="tx1"/>
          </a:fontRef>
        </p:style>
      </p:cxnSp>
      <p:sp>
        <p:nvSpPr>
          <p:cNvPr id="142" name="Oval 141"/>
          <p:cNvSpPr/>
          <p:nvPr/>
        </p:nvSpPr>
        <p:spPr>
          <a:xfrm>
            <a:off x="1304925" y="6534150"/>
            <a:ext cx="838200" cy="838200"/>
          </a:xfrm>
          <a:prstGeom prst="ellipse">
            <a:avLst/>
          </a:prstGeom>
          <a:solidFill>
            <a:srgbClr val="FFFFFF"/>
          </a:solidFill>
          <a:ln w="19050">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46" name="Group 145"/>
          <p:cNvGrpSpPr/>
          <p:nvPr/>
        </p:nvGrpSpPr>
        <p:grpSpPr>
          <a:xfrm>
            <a:off x="1545431" y="6774656"/>
            <a:ext cx="357187" cy="357187"/>
            <a:chOff x="1545431" y="6774656"/>
            <a:chExt cx="357187" cy="357187"/>
          </a:xfrm>
        </p:grpSpPr>
        <p:sp>
          <p:nvSpPr>
            <p:cNvPr id="143" name="Oval 142"/>
            <p:cNvSpPr/>
            <p:nvPr/>
          </p:nvSpPr>
          <p:spPr>
            <a:xfrm>
              <a:off x="1545431" y="6774656"/>
              <a:ext cx="357187" cy="357187"/>
            </a:xfrm>
            <a:prstGeom prst="ellipse">
              <a:avLst/>
            </a:prstGeom>
            <a:noFill/>
            <a:ln w="19288">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4" name="Connector 143"/>
            <p:cNvCxnSpPr/>
            <p:nvPr/>
          </p:nvCxnSpPr>
          <p:spPr>
            <a:xfrm>
              <a:off x="1631156" y="6953250"/>
              <a:ext cx="64294" cy="64293"/>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1695450" y="6888956"/>
              <a:ext cx="128587" cy="128587"/>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147" name="Rectangle 146"/>
          <p:cNvSpPr/>
          <p:nvPr/>
        </p:nvSpPr>
        <p:spPr>
          <a:xfrm>
            <a:off x="1057275" y="7477125"/>
            <a:ext cx="3676649" cy="40005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Box 147"/>
          <p:cNvSpPr txBox="1"/>
          <p:nvPr/>
        </p:nvSpPr>
        <p:spPr>
          <a:xfrm>
            <a:off x="1057275" y="7515225"/>
            <a:ext cx="3676649" cy="352425"/>
          </a:xfrm>
          <a:prstGeom prst="rect">
            <a:avLst/>
          </a:prstGeom>
          <a:noFill/>
        </p:spPr>
        <p:txBody>
          <a:bodyPr wrap="none" lIns="0" rIns="0" tIns="0" bIns="0" anchor="t"/>
          <a:lstStyle/>
          <a:p>
            <a:pPr algn="l">
              <a:lnSpc>
                <a:spcPts val="2175"/>
              </a:lnSpc>
              <a:spcBef>
                <a:spcPts val="0"/>
              </a:spcBef>
              <a:spcAft>
                <a:spcPts val="0"/>
              </a:spcAft>
            </a:pPr>
            <a:r>
              <a:rPr sz="1875" b="1">
                <a:solidFill>
                  <a:srgbClr val="172540"/>
                </a:solidFill>
                <a:latin typeface="Arial"/>
              </a:rPr>
              <a:t>Qualify fixture</a:t>
            </a:r>
          </a:p>
        </p:txBody>
      </p:sp>
      <p:sp>
        <p:nvSpPr>
          <p:cNvPr id="149" name="Oval 148"/>
          <p:cNvSpPr/>
          <p:nvPr/>
        </p:nvSpPr>
        <p:spPr>
          <a:xfrm>
            <a:off x="6334125" y="6534150"/>
            <a:ext cx="838200" cy="838200"/>
          </a:xfrm>
          <a:prstGeom prst="ellipse">
            <a:avLst/>
          </a:prstGeom>
          <a:solidFill>
            <a:srgbClr val="FFFFFF"/>
          </a:solidFill>
          <a:ln w="19050">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58" name="Group 157"/>
          <p:cNvGrpSpPr/>
          <p:nvPr/>
        </p:nvGrpSpPr>
        <p:grpSpPr>
          <a:xfrm>
            <a:off x="6574631" y="6781800"/>
            <a:ext cx="364331" cy="342900"/>
            <a:chOff x="6574631" y="6781800"/>
            <a:chExt cx="364331" cy="342900"/>
          </a:xfrm>
        </p:grpSpPr>
        <p:sp>
          <p:nvSpPr>
            <p:cNvPr id="150" name="Oval 149"/>
            <p:cNvSpPr/>
            <p:nvPr/>
          </p:nvSpPr>
          <p:spPr>
            <a:xfrm>
              <a:off x="6574631" y="6903243"/>
              <a:ext cx="85725" cy="85725"/>
            </a:xfrm>
            <a:prstGeom prst="ellipse">
              <a:avLst/>
            </a:prstGeom>
            <a:noFill/>
            <a:ln w="19288">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Oval 150"/>
            <p:cNvSpPr/>
            <p:nvPr/>
          </p:nvSpPr>
          <p:spPr>
            <a:xfrm>
              <a:off x="6853237" y="6781800"/>
              <a:ext cx="85725" cy="85725"/>
            </a:xfrm>
            <a:prstGeom prst="ellipse">
              <a:avLst/>
            </a:prstGeom>
            <a:noFill/>
            <a:ln w="19288">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Oval 151"/>
            <p:cNvSpPr/>
            <p:nvPr/>
          </p:nvSpPr>
          <p:spPr>
            <a:xfrm>
              <a:off x="6853237" y="7038975"/>
              <a:ext cx="85725" cy="85725"/>
            </a:xfrm>
            <a:prstGeom prst="ellipse">
              <a:avLst/>
            </a:prstGeom>
            <a:noFill/>
            <a:ln w="19288">
              <a:solidFill>
                <a:srgbClr val="3973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3" name="Connector 152"/>
            <p:cNvCxnSpPr/>
            <p:nvPr/>
          </p:nvCxnSpPr>
          <p:spPr>
            <a:xfrm>
              <a:off x="6660356" y="6946106"/>
              <a:ext cx="100012" cy="0"/>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6760368" y="6824662"/>
              <a:ext cx="0" cy="121444"/>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a:off x="6760368" y="6824662"/>
              <a:ext cx="92869" cy="0"/>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6760368" y="6946106"/>
              <a:ext cx="0" cy="135731"/>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a:off x="6760368" y="7081837"/>
              <a:ext cx="92869" cy="0"/>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159" name="Rectangle 158"/>
          <p:cNvSpPr/>
          <p:nvPr/>
        </p:nvSpPr>
        <p:spPr>
          <a:xfrm>
            <a:off x="6086475" y="7477125"/>
            <a:ext cx="3676649" cy="40005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6086475" y="7515225"/>
            <a:ext cx="3676649" cy="352425"/>
          </a:xfrm>
          <a:prstGeom prst="rect">
            <a:avLst/>
          </a:prstGeom>
          <a:noFill/>
        </p:spPr>
        <p:txBody>
          <a:bodyPr wrap="none" lIns="0" rIns="0" tIns="0" bIns="0" anchor="t"/>
          <a:lstStyle/>
          <a:p>
            <a:pPr algn="l">
              <a:lnSpc>
                <a:spcPts val="2175"/>
              </a:lnSpc>
              <a:spcBef>
                <a:spcPts val="0"/>
              </a:spcBef>
              <a:spcAft>
                <a:spcPts val="0"/>
              </a:spcAft>
            </a:pPr>
            <a:r>
              <a:rPr sz="1875" b="1">
                <a:solidFill>
                  <a:srgbClr val="172540"/>
                </a:solidFill>
                <a:latin typeface="Arial"/>
              </a:rPr>
              <a:t>Compare changes</a:t>
            </a:r>
          </a:p>
        </p:txBody>
      </p:sp>
      <p:sp>
        <p:nvSpPr>
          <p:cNvPr id="161" name="Oval 160"/>
          <p:cNvSpPr/>
          <p:nvPr/>
        </p:nvSpPr>
        <p:spPr>
          <a:xfrm>
            <a:off x="11372850" y="6534150"/>
            <a:ext cx="838200" cy="838200"/>
          </a:xfrm>
          <a:prstGeom prst="ellipse">
            <a:avLst/>
          </a:prstGeom>
          <a:solidFill>
            <a:srgbClr val="FFFFFF"/>
          </a:solidFill>
          <a:ln w="19050">
            <a:solidFill>
              <a:srgbClr val="DCE4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70" name="Group 169"/>
          <p:cNvGrpSpPr/>
          <p:nvPr/>
        </p:nvGrpSpPr>
        <p:grpSpPr>
          <a:xfrm>
            <a:off x="11620500" y="6781800"/>
            <a:ext cx="342900" cy="342900"/>
            <a:chOff x="11620500" y="6781800"/>
            <a:chExt cx="342900" cy="342900"/>
          </a:xfrm>
        </p:grpSpPr>
        <p:cxnSp>
          <p:nvCxnSpPr>
            <p:cNvPr id="162" name="Connector 161"/>
            <p:cNvCxnSpPr/>
            <p:nvPr/>
          </p:nvCxnSpPr>
          <p:spPr>
            <a:xfrm flipV="1">
              <a:off x="11620500" y="6781800"/>
              <a:ext cx="171450" cy="85725"/>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11791950" y="6781800"/>
              <a:ext cx="171450" cy="85725"/>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H="1">
              <a:off x="11791950" y="6867525"/>
              <a:ext cx="171450" cy="85725"/>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H="1" flipV="1">
              <a:off x="11620500" y="6867525"/>
              <a:ext cx="171450" cy="85725"/>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a:off x="11620500" y="6953250"/>
              <a:ext cx="171450" cy="85725"/>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11791950" y="6953250"/>
              <a:ext cx="171450" cy="85725"/>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a:off x="11620500" y="7038975"/>
              <a:ext cx="171450" cy="85725"/>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11791950" y="7038975"/>
              <a:ext cx="171450" cy="85725"/>
            </a:xfrm>
            <a:prstGeom prst="line">
              <a:avLst/>
            </a:prstGeom>
            <a:ln w="19288">
              <a:solidFill>
                <a:srgbClr val="3973F6"/>
              </a:solidFill>
            </a:ln>
          </p:spPr>
          <p:style>
            <a:lnRef idx="2">
              <a:schemeClr val="accent1"/>
            </a:lnRef>
            <a:fillRef idx="0">
              <a:schemeClr val="accent1"/>
            </a:fillRef>
            <a:effectRef idx="1">
              <a:schemeClr val="accent1"/>
            </a:effectRef>
            <a:fontRef idx="minor">
              <a:schemeClr val="tx1"/>
            </a:fontRef>
          </p:style>
        </p:cxnSp>
      </p:grpSp>
      <p:sp>
        <p:nvSpPr>
          <p:cNvPr id="171" name="Rectangle 170"/>
          <p:cNvSpPr/>
          <p:nvPr/>
        </p:nvSpPr>
        <p:spPr>
          <a:xfrm>
            <a:off x="11125200" y="7477125"/>
            <a:ext cx="3676649" cy="400050"/>
          </a:xfrm>
          <a:prstGeom prst="rect">
            <a:avLst/>
          </a:prstGeom>
          <a:solidFill>
            <a:srgbClr val="F4F7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TextBox 171"/>
          <p:cNvSpPr txBox="1"/>
          <p:nvPr/>
        </p:nvSpPr>
        <p:spPr>
          <a:xfrm>
            <a:off x="11125200" y="7515225"/>
            <a:ext cx="3676649" cy="352425"/>
          </a:xfrm>
          <a:prstGeom prst="rect">
            <a:avLst/>
          </a:prstGeom>
          <a:noFill/>
        </p:spPr>
        <p:txBody>
          <a:bodyPr wrap="none" lIns="0" rIns="0" tIns="0" bIns="0" anchor="t"/>
          <a:lstStyle/>
          <a:p>
            <a:pPr algn="l">
              <a:lnSpc>
                <a:spcPts val="2175"/>
              </a:lnSpc>
              <a:spcBef>
                <a:spcPts val="0"/>
              </a:spcBef>
              <a:spcAft>
                <a:spcPts val="0"/>
              </a:spcAft>
            </a:pPr>
            <a:r>
              <a:rPr sz="1875" b="1">
                <a:solidFill>
                  <a:srgbClr val="172540"/>
                </a:solidFill>
                <a:latin typeface="Arial"/>
              </a:rPr>
              <a:t>Retain as regression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Rounded Rectangle 1"/>
          <p:cNvSpPr/>
          <p:nvPr/>
        </p:nvSpPr>
        <p:spPr>
          <a:xfrm>
            <a:off x="571500" y="390525"/>
            <a:ext cx="85725" cy="209550"/>
          </a:xfrm>
          <a:prstGeom prst="roundRect">
            <a:avLst>
              <a:gd name="adj" fmla="val 44444"/>
            </a:avLst>
          </a:prstGeom>
          <a:solidFill>
            <a:srgbClr val="57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1050" y="381000"/>
            <a:ext cx="13239750" cy="247649"/>
          </a:xfrm>
          <a:prstGeom prst="rect">
            <a:avLst/>
          </a:prstGeom>
          <a:noFill/>
        </p:spPr>
        <p:txBody>
          <a:bodyPr wrap="none" lIns="0" rIns="0" tIns="0" bIns="0" anchor="t"/>
          <a:lstStyle/>
          <a:p>
            <a:pPr algn="l">
              <a:lnSpc>
                <a:spcPts val="1305"/>
              </a:lnSpc>
              <a:spcBef>
                <a:spcPts val="0"/>
              </a:spcBef>
              <a:spcAft>
                <a:spcPts val="0"/>
              </a:spcAft>
            </a:pPr>
            <a:r>
              <a:rPr sz="1125" b="1">
                <a:solidFill>
                  <a:srgbClr val="AABAD2"/>
                </a:solidFill>
                <a:latin typeface="Arial"/>
              </a:rPr>
              <a:t>FIRST RELEASE</a:t>
            </a:r>
          </a:p>
        </p:txBody>
      </p:sp>
      <p:sp>
        <p:nvSpPr>
          <p:cNvPr id="4" name="TextBox 3"/>
          <p:cNvSpPr txBox="1"/>
          <p:nvPr/>
        </p:nvSpPr>
        <p:spPr>
          <a:xfrm>
            <a:off x="581025" y="8172450"/>
            <a:ext cx="13049250" cy="190500"/>
          </a:xfrm>
          <a:prstGeom prst="rect">
            <a:avLst/>
          </a:prstGeom>
          <a:noFill/>
        </p:spPr>
        <p:txBody>
          <a:bodyPr wrap="none" lIns="0" rIns="0" tIns="0" bIns="0" anchor="t"/>
          <a:lstStyle/>
          <a:p>
            <a:pPr algn="l">
              <a:lnSpc>
                <a:spcPts val="1044"/>
              </a:lnSpc>
              <a:spcBef>
                <a:spcPts val="0"/>
              </a:spcBef>
              <a:spcAft>
                <a:spcPts val="0"/>
              </a:spcAft>
            </a:pPr>
            <a:r>
              <a:rPr sz="900" b="0">
                <a:solidFill>
                  <a:srgbClr val="AABAD2"/>
                </a:solidFill>
                <a:latin typeface="Arial"/>
              </a:rPr>
              <a:t>INCIDENT REPLAY / SOFTWARE ENGINEERING</a:t>
            </a:r>
          </a:p>
        </p:txBody>
      </p:sp>
      <p:sp>
        <p:nvSpPr>
          <p:cNvPr id="5" name="TextBox 4"/>
          <p:cNvSpPr txBox="1"/>
          <p:nvPr/>
        </p:nvSpPr>
        <p:spPr>
          <a:xfrm>
            <a:off x="13887450" y="8124824"/>
            <a:ext cx="762000" cy="238125"/>
          </a:xfrm>
          <a:prstGeom prst="rect">
            <a:avLst/>
          </a:prstGeom>
          <a:noFill/>
        </p:spPr>
        <p:txBody>
          <a:bodyPr wrap="none" lIns="0" rIns="0" tIns="0" bIns="0" anchor="t"/>
          <a:lstStyle/>
          <a:p>
            <a:pPr algn="r">
              <a:lnSpc>
                <a:spcPts val="1218"/>
              </a:lnSpc>
              <a:spcBef>
                <a:spcPts val="0"/>
              </a:spcBef>
              <a:spcAft>
                <a:spcPts val="0"/>
              </a:spcAft>
            </a:pPr>
            <a:r>
              <a:rPr sz="1050" b="0">
                <a:solidFill>
                  <a:srgbClr val="AABAD2"/>
                </a:solidFill>
                <a:latin typeface="Courier New"/>
              </a:rPr>
              <a:t>10 / 10</a:t>
            </a:r>
          </a:p>
        </p:txBody>
      </p:sp>
      <p:sp>
        <p:nvSpPr>
          <p:cNvPr id="6" name="TextBox 5"/>
          <p:cNvSpPr txBox="1"/>
          <p:nvPr/>
        </p:nvSpPr>
        <p:spPr>
          <a:xfrm>
            <a:off x="571500" y="942975"/>
            <a:ext cx="14097000" cy="1181100"/>
          </a:xfrm>
          <a:prstGeom prst="rect">
            <a:avLst/>
          </a:prstGeom>
          <a:noFill/>
        </p:spPr>
        <p:txBody>
          <a:bodyPr wrap="none" lIns="0" rIns="0" tIns="0" bIns="0" anchor="t"/>
          <a:lstStyle/>
          <a:p>
            <a:pPr algn="l">
              <a:lnSpc>
                <a:spcPts val="4212"/>
              </a:lnSpc>
              <a:spcBef>
                <a:spcPts val="0"/>
              </a:spcBef>
              <a:spcAft>
                <a:spcPts val="0"/>
              </a:spcAft>
            </a:pPr>
            <a:r>
              <a:rPr sz="3900" b="1">
                <a:solidFill>
                  <a:srgbClr val="FFFFFF"/>
                </a:solidFill>
                <a:latin typeface="Arial"/>
              </a:rPr>
              <a:t>A regression loop that grows with every failure.</a:t>
            </a:r>
          </a:p>
        </p:txBody>
      </p:sp>
      <p:sp>
        <p:nvSpPr>
          <p:cNvPr id="7" name="TextBox 6"/>
          <p:cNvSpPr txBox="1"/>
          <p:nvPr/>
        </p:nvSpPr>
        <p:spPr>
          <a:xfrm>
            <a:off x="600075" y="1685925"/>
            <a:ext cx="13906500" cy="647700"/>
          </a:xfrm>
          <a:prstGeom prst="rect">
            <a:avLst/>
          </a:prstGeom>
          <a:noFill/>
        </p:spPr>
        <p:txBody>
          <a:bodyPr wrap="none" lIns="0" rIns="0" tIns="0" bIns="0" anchor="t"/>
          <a:lstStyle/>
          <a:p>
            <a:pPr algn="l">
              <a:lnSpc>
                <a:spcPts val="2175"/>
              </a:lnSpc>
              <a:spcBef>
                <a:spcPts val="0"/>
              </a:spcBef>
              <a:spcAft>
                <a:spcPts val="0"/>
              </a:spcAft>
            </a:pPr>
            <a:r>
              <a:rPr sz="1875" b="0">
                <a:solidFill>
                  <a:srgbClr val="AABAD2"/>
                </a:solidFill>
                <a:latin typeface="Arial"/>
              </a:rPr>
              <a:t>Ship the case library, replay runner, and evidence together.</a:t>
            </a:r>
          </a:p>
        </p:txBody>
      </p:sp>
      <p:sp>
        <p:nvSpPr>
          <p:cNvPr id="8" name="Rounded Rectangle 7"/>
          <p:cNvSpPr/>
          <p:nvPr/>
        </p:nvSpPr>
        <p:spPr>
          <a:xfrm>
            <a:off x="609600" y="2876550"/>
            <a:ext cx="4010025" cy="3562350"/>
          </a:xfrm>
          <a:prstGeom prst="roundRect">
            <a:avLst>
              <a:gd name="adj" fmla="val 6149"/>
            </a:avLst>
          </a:prstGeom>
          <a:solidFill>
            <a:srgbClr val="10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00075" y="2809875"/>
            <a:ext cx="4010025" cy="3562350"/>
          </a:xfrm>
          <a:prstGeom prst="roundRect">
            <a:avLst>
              <a:gd name="adj" fmla="val 6149"/>
            </a:avLst>
          </a:prstGeom>
          <a:solidFill>
            <a:srgbClr val="203453"/>
          </a:solidFill>
          <a:ln w="12382">
            <a:solidFill>
              <a:srgbClr val="425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619750" y="2876550"/>
            <a:ext cx="4010025" cy="3562350"/>
          </a:xfrm>
          <a:prstGeom prst="roundRect">
            <a:avLst>
              <a:gd name="adj" fmla="val 6149"/>
            </a:avLst>
          </a:prstGeom>
          <a:solidFill>
            <a:srgbClr val="10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610225" y="2809875"/>
            <a:ext cx="4010025" cy="3562350"/>
          </a:xfrm>
          <a:prstGeom prst="roundRect">
            <a:avLst>
              <a:gd name="adj" fmla="val 6149"/>
            </a:avLst>
          </a:prstGeom>
          <a:solidFill>
            <a:srgbClr val="203453"/>
          </a:solidFill>
          <a:ln w="12382">
            <a:solidFill>
              <a:srgbClr val="425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0629900" y="2876550"/>
            <a:ext cx="4010025" cy="3562350"/>
          </a:xfrm>
          <a:prstGeom prst="roundRect">
            <a:avLst>
              <a:gd name="adj" fmla="val 6149"/>
            </a:avLst>
          </a:prstGeom>
          <a:solidFill>
            <a:srgbClr val="101C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620375" y="2809875"/>
            <a:ext cx="4010025" cy="3562350"/>
          </a:xfrm>
          <a:prstGeom prst="roundRect">
            <a:avLst>
              <a:gd name="adj" fmla="val 6149"/>
            </a:avLst>
          </a:prstGeom>
          <a:solidFill>
            <a:srgbClr val="203453"/>
          </a:solidFill>
          <a:ln w="12382">
            <a:solidFill>
              <a:srgbClr val="425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7725" y="3038475"/>
            <a:ext cx="3533775" cy="257175"/>
          </a:xfrm>
          <a:prstGeom prst="rect">
            <a:avLst/>
          </a:prstGeom>
          <a:noFill/>
        </p:spPr>
        <p:txBody>
          <a:bodyPr wrap="none" lIns="0" rIns="0" tIns="0" bIns="0" anchor="t"/>
          <a:lstStyle/>
          <a:p>
            <a:pPr algn="l">
              <a:lnSpc>
                <a:spcPts val="1391"/>
              </a:lnSpc>
              <a:spcBef>
                <a:spcPts val="0"/>
              </a:spcBef>
              <a:spcAft>
                <a:spcPts val="0"/>
              </a:spcAft>
            </a:pPr>
            <a:r>
              <a:rPr sz="1200" b="1">
                <a:solidFill>
                  <a:srgbClr val="57DDD0"/>
                </a:solidFill>
                <a:latin typeface="Arial"/>
              </a:rPr>
              <a:t>01 CASE LIBRARY</a:t>
            </a:r>
          </a:p>
        </p:txBody>
      </p:sp>
      <p:sp>
        <p:nvSpPr>
          <p:cNvPr id="15" name="TextBox 14"/>
          <p:cNvSpPr txBox="1"/>
          <p:nvPr/>
        </p:nvSpPr>
        <p:spPr>
          <a:xfrm>
            <a:off x="5857875" y="3038475"/>
            <a:ext cx="3533775" cy="257175"/>
          </a:xfrm>
          <a:prstGeom prst="rect">
            <a:avLst/>
          </a:prstGeom>
          <a:noFill/>
        </p:spPr>
        <p:txBody>
          <a:bodyPr wrap="none" lIns="0" rIns="0" tIns="0" bIns="0" anchor="t"/>
          <a:lstStyle/>
          <a:p>
            <a:pPr algn="l">
              <a:lnSpc>
                <a:spcPts val="1391"/>
              </a:lnSpc>
              <a:spcBef>
                <a:spcPts val="0"/>
              </a:spcBef>
              <a:spcAft>
                <a:spcPts val="0"/>
              </a:spcAft>
            </a:pPr>
            <a:r>
              <a:rPr sz="1200" b="1">
                <a:solidFill>
                  <a:srgbClr val="57DDD0"/>
                </a:solidFill>
                <a:latin typeface="Arial"/>
              </a:rPr>
              <a:t>02 REPLAY RUNNER</a:t>
            </a:r>
          </a:p>
        </p:txBody>
      </p:sp>
      <p:sp>
        <p:nvSpPr>
          <p:cNvPr id="16" name="TextBox 15"/>
          <p:cNvSpPr txBox="1"/>
          <p:nvPr/>
        </p:nvSpPr>
        <p:spPr>
          <a:xfrm>
            <a:off x="10868025" y="3038475"/>
            <a:ext cx="3533775" cy="257175"/>
          </a:xfrm>
          <a:prstGeom prst="rect">
            <a:avLst/>
          </a:prstGeom>
          <a:noFill/>
        </p:spPr>
        <p:txBody>
          <a:bodyPr wrap="none" lIns="0" rIns="0" tIns="0" bIns="0" anchor="t"/>
          <a:lstStyle/>
          <a:p>
            <a:pPr algn="l">
              <a:lnSpc>
                <a:spcPts val="1391"/>
              </a:lnSpc>
              <a:spcBef>
                <a:spcPts val="0"/>
              </a:spcBef>
              <a:spcAft>
                <a:spcPts val="0"/>
              </a:spcAft>
            </a:pPr>
            <a:r>
              <a:rPr sz="1200" b="1">
                <a:solidFill>
                  <a:srgbClr val="57DDD0"/>
                </a:solidFill>
                <a:latin typeface="Arial"/>
              </a:rPr>
              <a:t>03 COMPARISON REPORT</a:t>
            </a:r>
          </a:p>
        </p:txBody>
      </p:sp>
      <p:sp>
        <p:nvSpPr>
          <p:cNvPr id="17" name="Rounded Rectangle 16"/>
          <p:cNvSpPr/>
          <p:nvPr/>
        </p:nvSpPr>
        <p:spPr>
          <a:xfrm>
            <a:off x="857250" y="3667125"/>
            <a:ext cx="3486150" cy="609600"/>
          </a:xfrm>
          <a:prstGeom prst="roundRect">
            <a:avLst>
              <a:gd name="adj" fmla="val 18750"/>
            </a:avLst>
          </a:prstGeom>
          <a:solidFill>
            <a:srgbClr val="172A47"/>
          </a:solidFill>
          <a:ln w="9525">
            <a:solidFill>
              <a:srgbClr val="425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5" name="Group 24"/>
          <p:cNvGrpSpPr/>
          <p:nvPr/>
        </p:nvGrpSpPr>
        <p:grpSpPr>
          <a:xfrm>
            <a:off x="1028104" y="3844528"/>
            <a:ext cx="267891" cy="230385"/>
            <a:chOff x="1028104" y="3844528"/>
            <a:chExt cx="267891" cy="230385"/>
          </a:xfrm>
        </p:grpSpPr>
        <p:sp>
          <p:nvSpPr>
            <p:cNvPr id="18" name="Rounded Rectangle 17"/>
            <p:cNvSpPr/>
            <p:nvPr/>
          </p:nvSpPr>
          <p:spPr>
            <a:xfrm>
              <a:off x="1028104" y="3844528"/>
              <a:ext cx="267890" cy="230385"/>
            </a:xfrm>
            <a:prstGeom prst="roundRect">
              <a:avLst>
                <a:gd name="adj" fmla="val 9302"/>
              </a:avLst>
            </a:prstGeom>
            <a:noFill/>
            <a:ln w="14466">
              <a:solidFill>
                <a:srgbClr val="57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1028104" y="3903464"/>
              <a:ext cx="267891" cy="0"/>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87040" y="3951684"/>
              <a:ext cx="32147" cy="32147"/>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87040" y="3983831"/>
              <a:ext cx="32147" cy="32147"/>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204912" y="3951684"/>
              <a:ext cx="32147" cy="32147"/>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1204912" y="3983831"/>
              <a:ext cx="32147" cy="32147"/>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1151334" y="3940968"/>
              <a:ext cx="21431" cy="91083"/>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grpSp>
      <p:sp>
        <p:nvSpPr>
          <p:cNvPr id="26" name="TextBox 25"/>
          <p:cNvSpPr txBox="1"/>
          <p:nvPr/>
        </p:nvSpPr>
        <p:spPr>
          <a:xfrm>
            <a:off x="1504950" y="3867150"/>
            <a:ext cx="2667000" cy="285750"/>
          </a:xfrm>
          <a:prstGeom prst="rect">
            <a:avLst/>
          </a:prstGeom>
          <a:noFill/>
        </p:spPr>
        <p:txBody>
          <a:bodyPr wrap="none" lIns="0" rIns="0" tIns="0" bIns="0" anchor="t"/>
          <a:lstStyle/>
          <a:p>
            <a:pPr algn="l">
              <a:lnSpc>
                <a:spcPts val="1827"/>
              </a:lnSpc>
              <a:spcBef>
                <a:spcPts val="0"/>
              </a:spcBef>
              <a:spcAft>
                <a:spcPts val="0"/>
              </a:spcAft>
            </a:pPr>
            <a:r>
              <a:rPr sz="1575" b="0">
                <a:solidFill>
                  <a:srgbClr val="FFFFFF"/>
                </a:solidFill>
                <a:latin typeface="Arial"/>
              </a:rPr>
              <a:t>Repository + state</a:t>
            </a:r>
          </a:p>
        </p:txBody>
      </p:sp>
      <p:sp>
        <p:nvSpPr>
          <p:cNvPr id="27" name="Rounded Rectangle 26"/>
          <p:cNvSpPr/>
          <p:nvPr/>
        </p:nvSpPr>
        <p:spPr>
          <a:xfrm>
            <a:off x="857250" y="4419600"/>
            <a:ext cx="3486150" cy="609600"/>
          </a:xfrm>
          <a:prstGeom prst="roundRect">
            <a:avLst>
              <a:gd name="adj" fmla="val 18750"/>
            </a:avLst>
          </a:prstGeom>
          <a:solidFill>
            <a:srgbClr val="172A47"/>
          </a:solidFill>
          <a:ln w="9525">
            <a:solidFill>
              <a:srgbClr val="425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38" name="Group 37"/>
          <p:cNvGrpSpPr/>
          <p:nvPr/>
        </p:nvGrpSpPr>
        <p:grpSpPr>
          <a:xfrm>
            <a:off x="1044178" y="4591645"/>
            <a:ext cx="235743" cy="241101"/>
            <a:chOff x="1044178" y="4591645"/>
            <a:chExt cx="235743" cy="241101"/>
          </a:xfrm>
        </p:grpSpPr>
        <p:sp>
          <p:nvSpPr>
            <p:cNvPr id="28" name="Rounded Rectangle 27"/>
            <p:cNvSpPr/>
            <p:nvPr/>
          </p:nvSpPr>
          <p:spPr>
            <a:xfrm>
              <a:off x="1097756" y="4634507"/>
              <a:ext cx="128587" cy="198239"/>
            </a:xfrm>
            <a:prstGeom prst="roundRect">
              <a:avLst>
                <a:gd name="adj" fmla="val 45000"/>
              </a:avLst>
            </a:prstGeom>
            <a:noFill/>
            <a:ln w="14466">
              <a:solidFill>
                <a:srgbClr val="57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flipH="1" flipV="1">
              <a:off x="1108471" y="4591645"/>
              <a:ext cx="21432" cy="42862"/>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194196" y="4591645"/>
              <a:ext cx="21432" cy="42862"/>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162050" y="4655939"/>
              <a:ext cx="0" cy="155376"/>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044178" y="4655939"/>
              <a:ext cx="53578" cy="21431"/>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1226343" y="4655939"/>
              <a:ext cx="53578" cy="21431"/>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44178" y="4709517"/>
              <a:ext cx="53578" cy="21431"/>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1226343" y="4709517"/>
              <a:ext cx="53578" cy="21431"/>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44178" y="4763095"/>
              <a:ext cx="53578" cy="21431"/>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1226343" y="4763095"/>
              <a:ext cx="53578" cy="21431"/>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grpSp>
      <p:sp>
        <p:nvSpPr>
          <p:cNvPr id="39" name="TextBox 38"/>
          <p:cNvSpPr txBox="1"/>
          <p:nvPr/>
        </p:nvSpPr>
        <p:spPr>
          <a:xfrm>
            <a:off x="1504950" y="4619625"/>
            <a:ext cx="2667000" cy="285750"/>
          </a:xfrm>
          <a:prstGeom prst="rect">
            <a:avLst/>
          </a:prstGeom>
          <a:noFill/>
        </p:spPr>
        <p:txBody>
          <a:bodyPr wrap="none" lIns="0" rIns="0" tIns="0" bIns="0" anchor="t"/>
          <a:lstStyle/>
          <a:p>
            <a:pPr algn="l">
              <a:lnSpc>
                <a:spcPts val="1827"/>
              </a:lnSpc>
              <a:spcBef>
                <a:spcPts val="0"/>
              </a:spcBef>
              <a:spcAft>
                <a:spcPts val="0"/>
              </a:spcAft>
            </a:pPr>
            <a:r>
              <a:rPr sz="1575" b="0">
                <a:solidFill>
                  <a:srgbClr val="FFFFFF"/>
                </a:solidFill>
                <a:latin typeface="Arial"/>
              </a:rPr>
              <a:t>Trigger + history</a:t>
            </a:r>
          </a:p>
        </p:txBody>
      </p:sp>
      <p:sp>
        <p:nvSpPr>
          <p:cNvPr id="40" name="Rounded Rectangle 39"/>
          <p:cNvSpPr/>
          <p:nvPr/>
        </p:nvSpPr>
        <p:spPr>
          <a:xfrm>
            <a:off x="857250" y="5172075"/>
            <a:ext cx="3486150" cy="609600"/>
          </a:xfrm>
          <a:prstGeom prst="roundRect">
            <a:avLst>
              <a:gd name="adj" fmla="val 18750"/>
            </a:avLst>
          </a:prstGeom>
          <a:solidFill>
            <a:srgbClr val="172A47"/>
          </a:solidFill>
          <a:ln w="9525">
            <a:solidFill>
              <a:srgbClr val="425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51" name="Group 50"/>
          <p:cNvGrpSpPr/>
          <p:nvPr/>
        </p:nvGrpSpPr>
        <p:grpSpPr>
          <a:xfrm>
            <a:off x="1044178" y="5333404"/>
            <a:ext cx="235743" cy="267890"/>
            <a:chOff x="1044178" y="5333404"/>
            <a:chExt cx="235743" cy="267890"/>
          </a:xfrm>
        </p:grpSpPr>
        <p:sp>
          <p:nvSpPr>
            <p:cNvPr id="41" name="Rounded Rectangle 40"/>
            <p:cNvSpPr/>
            <p:nvPr/>
          </p:nvSpPr>
          <p:spPr>
            <a:xfrm>
              <a:off x="1044178" y="5333404"/>
              <a:ext cx="235743" cy="267890"/>
            </a:xfrm>
            <a:prstGeom prst="roundRect">
              <a:avLst>
                <a:gd name="adj" fmla="val 9090"/>
              </a:avLst>
            </a:prstGeom>
            <a:noFill/>
            <a:ln w="14466">
              <a:solidFill>
                <a:srgbClr val="57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2" name="Connector 41"/>
            <p:cNvCxnSpPr/>
            <p:nvPr/>
          </p:nvCxnSpPr>
          <p:spPr>
            <a:xfrm>
              <a:off x="1087040" y="5403056"/>
              <a:ext cx="21431" cy="21431"/>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108471" y="5381625"/>
              <a:ext cx="32147" cy="42862"/>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172765" y="5403056"/>
              <a:ext cx="64294" cy="0"/>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087040" y="5472707"/>
              <a:ext cx="21431" cy="21432"/>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1108471" y="5451276"/>
              <a:ext cx="32147" cy="42863"/>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172765" y="5472707"/>
              <a:ext cx="64294" cy="0"/>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087040" y="5542359"/>
              <a:ext cx="21431" cy="21431"/>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1108471" y="5520928"/>
              <a:ext cx="32147" cy="42862"/>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172765" y="5542359"/>
              <a:ext cx="64294" cy="0"/>
            </a:xfrm>
            <a:prstGeom prst="line">
              <a:avLst/>
            </a:prstGeom>
            <a:ln w="14466">
              <a:solidFill>
                <a:srgbClr val="57DDD0"/>
              </a:solidFill>
            </a:ln>
          </p:spPr>
          <p:style>
            <a:lnRef idx="2">
              <a:schemeClr val="accent1"/>
            </a:lnRef>
            <a:fillRef idx="0">
              <a:schemeClr val="accent1"/>
            </a:fillRef>
            <a:effectRef idx="1">
              <a:schemeClr val="accent1"/>
            </a:effectRef>
            <a:fontRef idx="minor">
              <a:schemeClr val="tx1"/>
            </a:fontRef>
          </p:style>
        </p:cxnSp>
      </p:grpSp>
      <p:sp>
        <p:nvSpPr>
          <p:cNvPr id="52" name="TextBox 51"/>
          <p:cNvSpPr txBox="1"/>
          <p:nvPr/>
        </p:nvSpPr>
        <p:spPr>
          <a:xfrm>
            <a:off x="1504950" y="5372100"/>
            <a:ext cx="2667000" cy="285750"/>
          </a:xfrm>
          <a:prstGeom prst="rect">
            <a:avLst/>
          </a:prstGeom>
          <a:noFill/>
        </p:spPr>
        <p:txBody>
          <a:bodyPr wrap="none" lIns="0" rIns="0" tIns="0" bIns="0" anchor="t"/>
          <a:lstStyle/>
          <a:p>
            <a:pPr algn="l">
              <a:lnSpc>
                <a:spcPts val="1827"/>
              </a:lnSpc>
              <a:spcBef>
                <a:spcPts val="0"/>
              </a:spcBef>
              <a:spcAft>
                <a:spcPts val="0"/>
              </a:spcAft>
            </a:pPr>
            <a:r>
              <a:rPr sz="1575" b="0">
                <a:solidFill>
                  <a:srgbClr val="FFFFFF"/>
                </a:solidFill>
                <a:latin typeface="Arial"/>
              </a:rPr>
              <a:t>Checks + variants</a:t>
            </a:r>
          </a:p>
        </p:txBody>
      </p:sp>
      <p:grpSp>
        <p:nvGrpSpPr>
          <p:cNvPr id="61" name="Group 60"/>
          <p:cNvGrpSpPr/>
          <p:nvPr/>
        </p:nvGrpSpPr>
        <p:grpSpPr>
          <a:xfrm>
            <a:off x="6206728" y="3865066"/>
            <a:ext cx="616743" cy="539650"/>
            <a:chOff x="6206728" y="3865066"/>
            <a:chExt cx="616743" cy="539650"/>
          </a:xfrm>
        </p:grpSpPr>
        <p:sp>
          <p:nvSpPr>
            <p:cNvPr id="53" name="Rounded Rectangle 52"/>
            <p:cNvSpPr/>
            <p:nvPr/>
          </p:nvSpPr>
          <p:spPr>
            <a:xfrm>
              <a:off x="6272807" y="4019252"/>
              <a:ext cx="484584" cy="385464"/>
            </a:xfrm>
            <a:prstGeom prst="roundRect">
              <a:avLst>
                <a:gd name="adj" fmla="val 20000"/>
              </a:avLst>
            </a:prstGeom>
            <a:noFill/>
            <a:ln w="29735">
              <a:solidFill>
                <a:srgbClr val="57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 name="Connector 53"/>
            <p:cNvCxnSpPr/>
            <p:nvPr/>
          </p:nvCxnSpPr>
          <p:spPr>
            <a:xfrm>
              <a:off x="6515100" y="3909119"/>
              <a:ext cx="0" cy="110133"/>
            </a:xfrm>
            <a:prstGeom prst="line">
              <a:avLst/>
            </a:prstGeom>
            <a:ln w="29735">
              <a:solidFill>
                <a:srgbClr val="57DDD0"/>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6482060" y="3865066"/>
              <a:ext cx="66079" cy="66079"/>
            </a:xfrm>
            <a:prstGeom prst="ellipse">
              <a:avLst/>
            </a:prstGeom>
            <a:solidFill>
              <a:srgbClr val="57DDD0"/>
            </a:solidFill>
            <a:ln w="29735">
              <a:solidFill>
                <a:srgbClr val="57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a:off x="6206728" y="4151411"/>
              <a:ext cx="66079" cy="0"/>
            </a:xfrm>
            <a:prstGeom prst="line">
              <a:avLst/>
            </a:prstGeom>
            <a:ln w="29735">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6757392" y="4151411"/>
              <a:ext cx="66079" cy="0"/>
            </a:xfrm>
            <a:prstGeom prst="line">
              <a:avLst/>
            </a:prstGeom>
            <a:ln w="29735">
              <a:solidFill>
                <a:srgbClr val="57DDD0"/>
              </a:solidFill>
            </a:ln>
          </p:spPr>
          <p:style>
            <a:lnRef idx="2">
              <a:schemeClr val="accent1"/>
            </a:lnRef>
            <a:fillRef idx="0">
              <a:schemeClr val="accent1"/>
            </a:fillRef>
            <a:effectRef idx="1">
              <a:schemeClr val="accent1"/>
            </a:effectRef>
            <a:fontRef idx="minor">
              <a:schemeClr val="tx1"/>
            </a:fontRef>
          </p:style>
        </p:cxnSp>
        <p:sp>
          <p:nvSpPr>
            <p:cNvPr id="58" name="Oval 57"/>
            <p:cNvSpPr/>
            <p:nvPr/>
          </p:nvSpPr>
          <p:spPr>
            <a:xfrm>
              <a:off x="6393953" y="4129385"/>
              <a:ext cx="44053" cy="44053"/>
            </a:xfrm>
            <a:prstGeom prst="ellipse">
              <a:avLst/>
            </a:prstGeom>
            <a:solidFill>
              <a:srgbClr val="57DDD0"/>
            </a:solidFill>
            <a:ln w="29735">
              <a:solidFill>
                <a:srgbClr val="57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6592192" y="4129385"/>
              <a:ext cx="44053" cy="44053"/>
            </a:xfrm>
            <a:prstGeom prst="ellipse">
              <a:avLst/>
            </a:prstGeom>
            <a:solidFill>
              <a:srgbClr val="57DDD0"/>
            </a:solidFill>
            <a:ln w="29735">
              <a:solidFill>
                <a:srgbClr val="57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6426993" y="4283571"/>
              <a:ext cx="176213" cy="0"/>
            </a:xfrm>
            <a:prstGeom prst="line">
              <a:avLst/>
            </a:prstGeom>
            <a:ln w="29735">
              <a:solidFill>
                <a:srgbClr val="57DDD0"/>
              </a:solidFill>
            </a:ln>
          </p:spPr>
          <p:style>
            <a:lnRef idx="2">
              <a:schemeClr val="accent1"/>
            </a:lnRef>
            <a:fillRef idx="0">
              <a:schemeClr val="accent1"/>
            </a:fillRef>
            <a:effectRef idx="1">
              <a:schemeClr val="accent1"/>
            </a:effectRef>
            <a:fontRef idx="minor">
              <a:schemeClr val="tx1"/>
            </a:fontRef>
          </p:style>
        </p:cxnSp>
      </p:grpSp>
      <p:grpSp>
        <p:nvGrpSpPr>
          <p:cNvPr id="69" name="Group 68"/>
          <p:cNvGrpSpPr/>
          <p:nvPr/>
        </p:nvGrpSpPr>
        <p:grpSpPr>
          <a:xfrm>
            <a:off x="8547794" y="3909119"/>
            <a:ext cx="495598" cy="495597"/>
            <a:chOff x="8547794" y="3909119"/>
            <a:chExt cx="495598" cy="495597"/>
          </a:xfrm>
        </p:grpSpPr>
        <p:sp>
          <p:nvSpPr>
            <p:cNvPr id="62" name="Oval 61"/>
            <p:cNvSpPr/>
            <p:nvPr/>
          </p:nvSpPr>
          <p:spPr>
            <a:xfrm>
              <a:off x="8547794" y="3909119"/>
              <a:ext cx="176212" cy="176212"/>
            </a:xfrm>
            <a:prstGeom prst="ellipse">
              <a:avLst/>
            </a:prstGeom>
            <a:noFill/>
            <a:ln w="29735">
              <a:solidFill>
                <a:srgbClr val="57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8867179" y="4228504"/>
              <a:ext cx="176212" cy="176212"/>
            </a:xfrm>
            <a:prstGeom prst="ellipse">
              <a:avLst/>
            </a:prstGeom>
            <a:noFill/>
            <a:ln w="29735">
              <a:solidFill>
                <a:srgbClr val="57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4" name="Connector 63"/>
            <p:cNvCxnSpPr/>
            <p:nvPr/>
          </p:nvCxnSpPr>
          <p:spPr>
            <a:xfrm>
              <a:off x="8690967" y="4052292"/>
              <a:ext cx="220265" cy="220265"/>
            </a:xfrm>
            <a:prstGeom prst="line">
              <a:avLst/>
            </a:prstGeom>
            <a:ln w="29735">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966299" y="3909119"/>
              <a:ext cx="77093" cy="77093"/>
            </a:xfrm>
            <a:prstGeom prst="line">
              <a:avLst/>
            </a:prstGeom>
            <a:ln w="29735">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8657927" y="3986212"/>
              <a:ext cx="385465" cy="385465"/>
            </a:xfrm>
            <a:prstGeom prst="line">
              <a:avLst/>
            </a:prstGeom>
            <a:ln w="29735">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8580834" y="4294584"/>
              <a:ext cx="77093" cy="77093"/>
            </a:xfrm>
            <a:prstGeom prst="line">
              <a:avLst/>
            </a:prstGeom>
            <a:ln w="29735">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8580834" y="3909119"/>
              <a:ext cx="385465" cy="385465"/>
            </a:xfrm>
            <a:prstGeom prst="line">
              <a:avLst/>
            </a:prstGeom>
            <a:ln w="29735">
              <a:solidFill>
                <a:srgbClr val="57DDD0"/>
              </a:solidFill>
            </a:ln>
          </p:spPr>
          <p:style>
            <a:lnRef idx="2">
              <a:schemeClr val="accent1"/>
            </a:lnRef>
            <a:fillRef idx="0">
              <a:schemeClr val="accent1"/>
            </a:fillRef>
            <a:effectRef idx="1">
              <a:schemeClr val="accent1"/>
            </a:effectRef>
            <a:fontRef idx="minor">
              <a:schemeClr val="tx1"/>
            </a:fontRef>
          </p:style>
        </p:cxnSp>
      </p:grpSp>
      <p:cxnSp>
        <p:nvCxnSpPr>
          <p:cNvPr id="70" name="Connector 69"/>
          <p:cNvCxnSpPr/>
          <p:nvPr/>
        </p:nvCxnSpPr>
        <p:spPr>
          <a:xfrm>
            <a:off x="7010400" y="4048124"/>
            <a:ext cx="1304925" cy="0"/>
          </a:xfrm>
          <a:prstGeom prst="line">
            <a:avLst/>
          </a:prstGeom>
          <a:ln w="28575">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8215017" y="4048124"/>
            <a:ext cx="100308" cy="54799"/>
          </a:xfrm>
          <a:prstGeom prst="line">
            <a:avLst/>
          </a:prstGeom>
          <a:ln w="28575">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8215017" y="3993326"/>
            <a:ext cx="100308" cy="54798"/>
          </a:xfrm>
          <a:prstGeom prst="line">
            <a:avLst/>
          </a:prstGeom>
          <a:ln w="28575">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7010400" y="4476750"/>
            <a:ext cx="1304925" cy="0"/>
          </a:xfrm>
          <a:prstGeom prst="line">
            <a:avLst/>
          </a:prstGeom>
          <a:ln w="28575">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7010400" y="4421951"/>
            <a:ext cx="100307" cy="54799"/>
          </a:xfrm>
          <a:prstGeom prst="line">
            <a:avLst/>
          </a:prstGeom>
          <a:ln w="28575">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7010400" y="4476750"/>
            <a:ext cx="100307" cy="54798"/>
          </a:xfrm>
          <a:prstGeom prst="line">
            <a:avLst/>
          </a:prstGeom>
          <a:ln w="28575">
            <a:solidFill>
              <a:srgbClr val="57DDD0"/>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096000" y="4857750"/>
            <a:ext cx="847725" cy="295275"/>
          </a:xfrm>
          <a:prstGeom prst="rect">
            <a:avLst/>
          </a:prstGeom>
          <a:noFill/>
        </p:spPr>
        <p:txBody>
          <a:bodyPr wrap="none" lIns="0" rIns="0" tIns="0" bIns="0" anchor="t"/>
          <a:lstStyle/>
          <a:p>
            <a:pPr algn="ctr">
              <a:lnSpc>
                <a:spcPts val="1827"/>
              </a:lnSpc>
              <a:spcBef>
                <a:spcPts val="0"/>
              </a:spcBef>
              <a:spcAft>
                <a:spcPts val="0"/>
              </a:spcAft>
            </a:pPr>
            <a:r>
              <a:rPr sz="1575" b="1">
                <a:solidFill>
                  <a:srgbClr val="FFFFFF"/>
                </a:solidFill>
                <a:latin typeface="Arial"/>
              </a:rPr>
              <a:t>Agent</a:t>
            </a:r>
          </a:p>
        </p:txBody>
      </p:sp>
      <p:sp>
        <p:nvSpPr>
          <p:cNvPr id="77" name="TextBox 76"/>
          <p:cNvSpPr txBox="1"/>
          <p:nvPr/>
        </p:nvSpPr>
        <p:spPr>
          <a:xfrm>
            <a:off x="8381999" y="4857750"/>
            <a:ext cx="847725" cy="295275"/>
          </a:xfrm>
          <a:prstGeom prst="rect">
            <a:avLst/>
          </a:prstGeom>
          <a:noFill/>
        </p:spPr>
        <p:txBody>
          <a:bodyPr wrap="none" lIns="0" rIns="0" tIns="0" bIns="0" anchor="t"/>
          <a:lstStyle/>
          <a:p>
            <a:pPr algn="ctr">
              <a:lnSpc>
                <a:spcPts val="1827"/>
              </a:lnSpc>
              <a:spcBef>
                <a:spcPts val="0"/>
              </a:spcBef>
              <a:spcAft>
                <a:spcPts val="0"/>
              </a:spcAft>
            </a:pPr>
            <a:r>
              <a:rPr sz="1575" b="1">
                <a:solidFill>
                  <a:srgbClr val="FFFFFF"/>
                </a:solidFill>
                <a:latin typeface="Arial"/>
              </a:rPr>
              <a:t>Tools</a:t>
            </a:r>
          </a:p>
        </p:txBody>
      </p:sp>
      <p:sp>
        <p:nvSpPr>
          <p:cNvPr id="78" name="Rounded Rectangle 77"/>
          <p:cNvSpPr/>
          <p:nvPr/>
        </p:nvSpPr>
        <p:spPr>
          <a:xfrm>
            <a:off x="5876925" y="5410200"/>
            <a:ext cx="3476625" cy="638175"/>
          </a:xfrm>
          <a:prstGeom prst="roundRect">
            <a:avLst>
              <a:gd name="adj" fmla="val 17910"/>
            </a:avLst>
          </a:prstGeom>
          <a:solidFill>
            <a:srgbClr val="172A47"/>
          </a:solidFill>
          <a:ln w="9525">
            <a:solidFill>
              <a:srgbClr val="42557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105" name="Group 104"/>
          <p:cNvGrpSpPr/>
          <p:nvPr/>
        </p:nvGrpSpPr>
        <p:grpSpPr>
          <a:xfrm>
            <a:off x="6097518" y="5601890"/>
            <a:ext cx="216068" cy="225708"/>
            <a:chOff x="6097518" y="5601890"/>
            <a:chExt cx="216068" cy="225708"/>
          </a:xfrm>
        </p:grpSpPr>
        <p:cxnSp>
          <p:nvCxnSpPr>
            <p:cNvPr id="79" name="Connector 78"/>
            <p:cNvCxnSpPr/>
            <p:nvPr/>
          </p:nvCxnSpPr>
          <p:spPr>
            <a:xfrm flipH="1">
              <a:off x="6264147" y="5796164"/>
              <a:ext cx="17792" cy="14369"/>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6243730" y="5810533"/>
              <a:ext cx="20417" cy="10303"/>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6221601" y="5820836"/>
              <a:ext cx="22129" cy="5774"/>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a:off x="6198753" y="5826610"/>
              <a:ext cx="22848" cy="988"/>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6176208" y="5823755"/>
              <a:ext cx="22545" cy="3843"/>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6154978" y="5815252"/>
              <a:ext cx="21230" cy="8503"/>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6136012" y="5802472"/>
              <a:ext cx="18966" cy="12780"/>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6120161" y="5785986"/>
              <a:ext cx="15851" cy="16486"/>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6108135" y="5766534"/>
              <a:ext cx="12026" cy="19452"/>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6100473" y="5744986"/>
              <a:ext cx="7662" cy="21548"/>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6097518" y="5722308"/>
              <a:ext cx="2955" cy="22678"/>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6097518" y="5699516"/>
              <a:ext cx="1884" cy="22792"/>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6099402" y="5677631"/>
              <a:ext cx="6638" cy="21885"/>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6106040" y="5657633"/>
              <a:ext cx="11097" cy="19998"/>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6117137" y="5640419"/>
              <a:ext cx="15056" cy="17214"/>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6132193" y="5626759"/>
              <a:ext cx="18342" cy="13660"/>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6150535" y="5617266"/>
              <a:ext cx="20807" cy="9493"/>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6171342" y="5612365"/>
              <a:ext cx="22338" cy="4901"/>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6193680" y="5612275"/>
              <a:ext cx="22870" cy="90"/>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6216550" y="5612275"/>
              <a:ext cx="22376" cy="4726"/>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6238926" y="5617001"/>
              <a:ext cx="20880" cy="9329"/>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6259806" y="5626330"/>
              <a:ext cx="18449" cy="13515"/>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6278255" y="5639845"/>
              <a:ext cx="15192" cy="17096"/>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6293447" y="5656941"/>
              <a:ext cx="11253" cy="19909"/>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6264473" y="5601890"/>
              <a:ext cx="49113" cy="29468"/>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a:off x="6303764" y="5631358"/>
              <a:ext cx="9822" cy="58936"/>
            </a:xfrm>
            <a:prstGeom prst="line">
              <a:avLst/>
            </a:prstGeom>
            <a:ln w="13260">
              <a:solidFill>
                <a:srgbClr val="57DDD0"/>
              </a:solidFill>
            </a:ln>
          </p:spPr>
          <p:style>
            <a:lnRef idx="2">
              <a:schemeClr val="accent1"/>
            </a:lnRef>
            <a:fillRef idx="0">
              <a:schemeClr val="accent1"/>
            </a:fillRef>
            <a:effectRef idx="1">
              <a:schemeClr val="accent1"/>
            </a:effectRef>
            <a:fontRef idx="minor">
              <a:schemeClr val="tx1"/>
            </a:fontRef>
          </p:style>
        </p:cxnSp>
      </p:grpSp>
      <p:sp>
        <p:nvSpPr>
          <p:cNvPr id="106" name="TextBox 105"/>
          <p:cNvSpPr txBox="1"/>
          <p:nvPr/>
        </p:nvSpPr>
        <p:spPr>
          <a:xfrm>
            <a:off x="6572250" y="5610225"/>
            <a:ext cx="2647950" cy="285750"/>
          </a:xfrm>
          <a:prstGeom prst="rect">
            <a:avLst/>
          </a:prstGeom>
          <a:noFill/>
        </p:spPr>
        <p:txBody>
          <a:bodyPr wrap="none" lIns="0" rIns="0" tIns="0" bIns="0" anchor="t"/>
          <a:lstStyle/>
          <a:p>
            <a:pPr algn="l">
              <a:lnSpc>
                <a:spcPts val="1739"/>
              </a:lnSpc>
              <a:spcBef>
                <a:spcPts val="0"/>
              </a:spcBef>
              <a:spcAft>
                <a:spcPts val="0"/>
              </a:spcAft>
            </a:pPr>
            <a:r>
              <a:rPr sz="1500" b="0">
                <a:solidFill>
                  <a:srgbClr val="AABAD2"/>
                </a:solidFill>
                <a:latin typeface="Arial"/>
              </a:rPr>
              <a:t>Reset → run → observe</a:t>
            </a:r>
          </a:p>
        </p:txBody>
      </p:sp>
      <p:grpSp>
        <p:nvGrpSpPr>
          <p:cNvPr id="110" name="Group 109"/>
          <p:cNvGrpSpPr/>
          <p:nvPr/>
        </p:nvGrpSpPr>
        <p:grpSpPr>
          <a:xfrm>
            <a:off x="10963721" y="3696146"/>
            <a:ext cx="275332" cy="275332"/>
            <a:chOff x="10963721" y="3696146"/>
            <a:chExt cx="275332" cy="275332"/>
          </a:xfrm>
        </p:grpSpPr>
        <p:sp>
          <p:nvSpPr>
            <p:cNvPr id="107" name="Oval 106"/>
            <p:cNvSpPr/>
            <p:nvPr/>
          </p:nvSpPr>
          <p:spPr>
            <a:xfrm>
              <a:off x="10963721" y="3696146"/>
              <a:ext cx="275332" cy="275332"/>
            </a:xfrm>
            <a:prstGeom prst="ellipse">
              <a:avLst/>
            </a:prstGeom>
            <a:noFill/>
            <a:ln w="14867">
              <a:solidFill>
                <a:srgbClr val="57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8" name="Connector 107"/>
            <p:cNvCxnSpPr/>
            <p:nvPr/>
          </p:nvCxnSpPr>
          <p:spPr>
            <a:xfrm>
              <a:off x="11029801" y="3833812"/>
              <a:ext cx="49559" cy="49560"/>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11079360" y="3784252"/>
              <a:ext cx="99120" cy="99120"/>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grpSp>
      <p:sp>
        <p:nvSpPr>
          <p:cNvPr id="111" name="TextBox 110"/>
          <p:cNvSpPr txBox="1"/>
          <p:nvPr/>
        </p:nvSpPr>
        <p:spPr>
          <a:xfrm>
            <a:off x="11468100" y="3705224"/>
            <a:ext cx="2867025" cy="323850"/>
          </a:xfrm>
          <a:prstGeom prst="rect">
            <a:avLst/>
          </a:prstGeom>
          <a:noFill/>
        </p:spPr>
        <p:txBody>
          <a:bodyPr wrap="none" lIns="0" rIns="0" tIns="0" bIns="0" anchor="t"/>
          <a:lstStyle/>
          <a:p>
            <a:pPr algn="l">
              <a:lnSpc>
                <a:spcPts val="2088"/>
              </a:lnSpc>
              <a:spcBef>
                <a:spcPts val="0"/>
              </a:spcBef>
              <a:spcAft>
                <a:spcPts val="0"/>
              </a:spcAft>
            </a:pPr>
            <a:r>
              <a:rPr sz="1800" b="0">
                <a:solidFill>
                  <a:srgbClr val="FFFFFF"/>
                </a:solidFill>
                <a:latin typeface="Arial"/>
              </a:rPr>
              <a:t>Completion</a:t>
            </a:r>
          </a:p>
        </p:txBody>
      </p:sp>
      <p:grpSp>
        <p:nvGrpSpPr>
          <p:cNvPr id="139" name="Group 138"/>
          <p:cNvGrpSpPr/>
          <p:nvPr/>
        </p:nvGrpSpPr>
        <p:grpSpPr>
          <a:xfrm>
            <a:off x="10991254" y="4307234"/>
            <a:ext cx="220266" cy="258812"/>
            <a:chOff x="10991254" y="4307234"/>
            <a:chExt cx="220266" cy="258812"/>
          </a:xfrm>
        </p:grpSpPr>
        <p:cxnSp>
          <p:nvCxnSpPr>
            <p:cNvPr id="112" name="Connector 111"/>
            <p:cNvCxnSpPr/>
            <p:nvPr/>
          </p:nvCxnSpPr>
          <p:spPr>
            <a:xfrm>
              <a:off x="10991254" y="4351287"/>
              <a:ext cx="0" cy="165200"/>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11211520" y="4351287"/>
              <a:ext cx="0" cy="165200"/>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sp>
          <p:nvSpPr>
            <p:cNvPr id="114" name="Oval 113"/>
            <p:cNvSpPr/>
            <p:nvPr/>
          </p:nvSpPr>
          <p:spPr>
            <a:xfrm>
              <a:off x="10991254" y="4307234"/>
              <a:ext cx="220265" cy="88106"/>
            </a:xfrm>
            <a:prstGeom prst="ellipse">
              <a:avLst/>
            </a:prstGeom>
            <a:noFill/>
            <a:ln w="14867">
              <a:solidFill>
                <a:srgbClr val="57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5" name="Connector 114"/>
            <p:cNvCxnSpPr/>
            <p:nvPr/>
          </p:nvCxnSpPr>
          <p:spPr>
            <a:xfrm flipH="1">
              <a:off x="11207767" y="4477940"/>
              <a:ext cx="3753" cy="11402"/>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a:off x="11196765" y="4489342"/>
              <a:ext cx="11002" cy="10625"/>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a:off x="11179263" y="4499967"/>
              <a:ext cx="17502" cy="9123"/>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H="1">
              <a:off x="11156453" y="4509090"/>
              <a:ext cx="22810" cy="7001"/>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H="1">
              <a:off x="11129891" y="4516091"/>
              <a:ext cx="26562" cy="4401"/>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H="1">
              <a:off x="11101387" y="4520492"/>
              <a:ext cx="28504" cy="1501"/>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H="1" flipV="1">
              <a:off x="11072883" y="4520492"/>
              <a:ext cx="28504" cy="1501"/>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H="1" flipV="1">
              <a:off x="11046321" y="4516091"/>
              <a:ext cx="26562" cy="4401"/>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H="1" flipV="1">
              <a:off x="11023511" y="4509090"/>
              <a:ext cx="22810" cy="7001"/>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H="1" flipV="1">
              <a:off x="11006009" y="4499967"/>
              <a:ext cx="17502" cy="9123"/>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H="1" flipV="1">
              <a:off x="10995007" y="4489342"/>
              <a:ext cx="11002" cy="10625"/>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H="1" flipV="1">
              <a:off x="10991254" y="4477940"/>
              <a:ext cx="3753" cy="11402"/>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H="1">
              <a:off x="11207767" y="4521993"/>
              <a:ext cx="3753" cy="11402"/>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H="1">
              <a:off x="11196765" y="4533395"/>
              <a:ext cx="11002" cy="10625"/>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H="1">
              <a:off x="11179263" y="4544020"/>
              <a:ext cx="17502" cy="9124"/>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H="1">
              <a:off x="11156453" y="4553144"/>
              <a:ext cx="22810" cy="7000"/>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H="1">
              <a:off x="11129891" y="4560144"/>
              <a:ext cx="26562" cy="4401"/>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H="1">
              <a:off x="11101387" y="4564545"/>
              <a:ext cx="28504" cy="1501"/>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H="1" flipV="1">
              <a:off x="11072883" y="4564545"/>
              <a:ext cx="28504" cy="1501"/>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H="1" flipV="1">
              <a:off x="11046321" y="4560144"/>
              <a:ext cx="26562" cy="4401"/>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H="1" flipV="1">
              <a:off x="11023511" y="4553144"/>
              <a:ext cx="22810" cy="7000"/>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H="1" flipV="1">
              <a:off x="11006009" y="4544020"/>
              <a:ext cx="17502" cy="9124"/>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H="1" flipV="1">
              <a:off x="10995007" y="4533395"/>
              <a:ext cx="11002" cy="10625"/>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H="1" flipV="1">
              <a:off x="10991254" y="4521993"/>
              <a:ext cx="3753" cy="11402"/>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grpSp>
      <p:sp>
        <p:nvSpPr>
          <p:cNvPr id="140" name="TextBox 139"/>
          <p:cNvSpPr txBox="1"/>
          <p:nvPr/>
        </p:nvSpPr>
        <p:spPr>
          <a:xfrm>
            <a:off x="11468100" y="4305300"/>
            <a:ext cx="2867025" cy="323850"/>
          </a:xfrm>
          <a:prstGeom prst="rect">
            <a:avLst/>
          </a:prstGeom>
          <a:noFill/>
        </p:spPr>
        <p:txBody>
          <a:bodyPr wrap="none" lIns="0" rIns="0" tIns="0" bIns="0" anchor="t"/>
          <a:lstStyle/>
          <a:p>
            <a:pPr algn="l">
              <a:lnSpc>
                <a:spcPts val="2088"/>
              </a:lnSpc>
              <a:spcBef>
                <a:spcPts val="0"/>
              </a:spcBef>
              <a:spcAft>
                <a:spcPts val="0"/>
              </a:spcAft>
            </a:pPr>
            <a:r>
              <a:rPr sz="1800" b="0">
                <a:solidFill>
                  <a:srgbClr val="FFFFFF"/>
                </a:solidFill>
                <a:latin typeface="Arial"/>
              </a:rPr>
              <a:t>System integrity</a:t>
            </a:r>
          </a:p>
        </p:txBody>
      </p:sp>
      <p:grpSp>
        <p:nvGrpSpPr>
          <p:cNvPr id="167" name="Group 166"/>
          <p:cNvGrpSpPr/>
          <p:nvPr/>
        </p:nvGrpSpPr>
        <p:grpSpPr>
          <a:xfrm>
            <a:off x="10980275" y="4901803"/>
            <a:ext cx="242258" cy="253066"/>
            <a:chOff x="10980275" y="4901803"/>
            <a:chExt cx="242258" cy="253066"/>
          </a:xfrm>
        </p:grpSpPr>
        <p:cxnSp>
          <p:nvCxnSpPr>
            <p:cNvPr id="141" name="Connector 140"/>
            <p:cNvCxnSpPr/>
            <p:nvPr/>
          </p:nvCxnSpPr>
          <p:spPr>
            <a:xfrm flipH="1">
              <a:off x="11167102" y="5119625"/>
              <a:ext cx="19948" cy="16111"/>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H="1">
              <a:off x="11144209" y="5135736"/>
              <a:ext cx="22893" cy="11551"/>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H="1">
              <a:off x="11119398" y="5147287"/>
              <a:ext cx="24811" cy="6475"/>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H="1">
              <a:off x="11093780" y="5153762"/>
              <a:ext cx="25618" cy="1107"/>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H="1" flipV="1">
              <a:off x="11068503" y="5150560"/>
              <a:ext cx="25277" cy="4309"/>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H="1" flipV="1">
              <a:off x="11044699" y="5141027"/>
              <a:ext cx="23804" cy="9533"/>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H="1" flipV="1">
              <a:off x="11023435" y="5126697"/>
              <a:ext cx="21264" cy="14330"/>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H="1" flipV="1">
              <a:off x="11005663" y="5108213"/>
              <a:ext cx="17772" cy="18484"/>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H="1" flipV="1">
              <a:off x="10992179" y="5086403"/>
              <a:ext cx="13484" cy="21810"/>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H="1" flipV="1">
              <a:off x="10983588" y="5062243"/>
              <a:ext cx="8591" cy="24160"/>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H="1" flipV="1">
              <a:off x="10980275" y="5036816"/>
              <a:ext cx="3313" cy="25427"/>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10980275" y="5011261"/>
              <a:ext cx="2112" cy="25555"/>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10982387" y="4986724"/>
              <a:ext cx="7443" cy="24537"/>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10989830" y="4964302"/>
              <a:ext cx="12441" cy="22422"/>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11002271" y="4945002"/>
              <a:ext cx="16882" cy="19300"/>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11019153" y="4929686"/>
              <a:ext cx="20566" cy="15316"/>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11039719" y="4919043"/>
              <a:ext cx="23328" cy="10643"/>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11063047" y="4913548"/>
              <a:ext cx="25046" cy="5495"/>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11088093" y="4913447"/>
              <a:ext cx="25642" cy="101"/>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a:off x="11113735" y="4913447"/>
              <a:ext cx="25088" cy="5298"/>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a:off x="11138823" y="4918745"/>
              <a:ext cx="23412" cy="10460"/>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a:off x="11162235" y="4929205"/>
              <a:ext cx="20685" cy="15154"/>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a:off x="11182920" y="4944359"/>
              <a:ext cx="17032" cy="19167"/>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11199952" y="4963526"/>
              <a:ext cx="12617" cy="22323"/>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11167467" y="4901803"/>
              <a:ext cx="55066" cy="33039"/>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H="1">
              <a:off x="11211520" y="4934842"/>
              <a:ext cx="11013" cy="66080"/>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grpSp>
      <p:sp>
        <p:nvSpPr>
          <p:cNvPr id="168" name="TextBox 167"/>
          <p:cNvSpPr txBox="1"/>
          <p:nvPr/>
        </p:nvSpPr>
        <p:spPr>
          <a:xfrm>
            <a:off x="11468100" y="4905375"/>
            <a:ext cx="2867025" cy="323850"/>
          </a:xfrm>
          <a:prstGeom prst="rect">
            <a:avLst/>
          </a:prstGeom>
          <a:noFill/>
        </p:spPr>
        <p:txBody>
          <a:bodyPr wrap="none" lIns="0" rIns="0" tIns="0" bIns="0" anchor="t"/>
          <a:lstStyle/>
          <a:p>
            <a:pPr algn="l">
              <a:lnSpc>
                <a:spcPts val="2088"/>
              </a:lnSpc>
              <a:spcBef>
                <a:spcPts val="0"/>
              </a:spcBef>
              <a:spcAft>
                <a:spcPts val="0"/>
              </a:spcAft>
            </a:pPr>
            <a:r>
              <a:rPr sz="1800" b="0">
                <a:solidFill>
                  <a:srgbClr val="FFFFFF"/>
                </a:solidFill>
                <a:latin typeface="Arial"/>
              </a:rPr>
              <a:t>Recovery</a:t>
            </a:r>
          </a:p>
        </p:txBody>
      </p:sp>
      <p:grpSp>
        <p:nvGrpSpPr>
          <p:cNvPr id="172" name="Group 171"/>
          <p:cNvGrpSpPr/>
          <p:nvPr/>
        </p:nvGrpSpPr>
        <p:grpSpPr>
          <a:xfrm>
            <a:off x="10963721" y="5496371"/>
            <a:ext cx="275332" cy="275332"/>
            <a:chOff x="10963721" y="5496371"/>
            <a:chExt cx="275332" cy="275332"/>
          </a:xfrm>
        </p:grpSpPr>
        <p:sp>
          <p:nvSpPr>
            <p:cNvPr id="169" name="Oval 168"/>
            <p:cNvSpPr/>
            <p:nvPr/>
          </p:nvSpPr>
          <p:spPr>
            <a:xfrm>
              <a:off x="10963721" y="5496371"/>
              <a:ext cx="275332" cy="275332"/>
            </a:xfrm>
            <a:prstGeom prst="ellipse">
              <a:avLst/>
            </a:prstGeom>
            <a:noFill/>
            <a:ln w="14867">
              <a:solidFill>
                <a:srgbClr val="57DDD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0" name="Connector 169"/>
            <p:cNvCxnSpPr/>
            <p:nvPr/>
          </p:nvCxnSpPr>
          <p:spPr>
            <a:xfrm>
              <a:off x="11101387" y="5551437"/>
              <a:ext cx="0" cy="88107"/>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a:off x="11101387" y="5639544"/>
              <a:ext cx="66080" cy="33039"/>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grpSp>
      <p:sp>
        <p:nvSpPr>
          <p:cNvPr id="173" name="TextBox 172"/>
          <p:cNvSpPr txBox="1"/>
          <p:nvPr/>
        </p:nvSpPr>
        <p:spPr>
          <a:xfrm>
            <a:off x="11468100" y="5505450"/>
            <a:ext cx="2867025" cy="323850"/>
          </a:xfrm>
          <a:prstGeom prst="rect">
            <a:avLst/>
          </a:prstGeom>
          <a:noFill/>
        </p:spPr>
        <p:txBody>
          <a:bodyPr wrap="none" lIns="0" rIns="0" tIns="0" bIns="0" anchor="t"/>
          <a:lstStyle/>
          <a:p>
            <a:pPr algn="l">
              <a:lnSpc>
                <a:spcPts val="2088"/>
              </a:lnSpc>
              <a:spcBef>
                <a:spcPts val="0"/>
              </a:spcBef>
              <a:spcAft>
                <a:spcPts val="0"/>
              </a:spcAft>
            </a:pPr>
            <a:r>
              <a:rPr sz="1800" b="0">
                <a:solidFill>
                  <a:srgbClr val="FFFFFF"/>
                </a:solidFill>
                <a:latin typeface="Arial"/>
              </a:rPr>
              <a:t>Effort</a:t>
            </a:r>
          </a:p>
        </p:txBody>
      </p:sp>
      <p:cxnSp>
        <p:nvCxnSpPr>
          <p:cNvPr id="174" name="Connector 173"/>
          <p:cNvCxnSpPr/>
          <p:nvPr/>
        </p:nvCxnSpPr>
        <p:spPr>
          <a:xfrm>
            <a:off x="4724400" y="4610100"/>
            <a:ext cx="771525" cy="0"/>
          </a:xfrm>
          <a:prstGeom prst="line">
            <a:avLst/>
          </a:prstGeom>
          <a:ln w="3810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H="1">
            <a:off x="5395617" y="4610100"/>
            <a:ext cx="100308" cy="54798"/>
          </a:xfrm>
          <a:prstGeom prst="line">
            <a:avLst/>
          </a:prstGeom>
          <a:ln w="3810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H="1" flipV="1">
            <a:off x="5395617" y="4555301"/>
            <a:ext cx="100308" cy="54799"/>
          </a:xfrm>
          <a:prstGeom prst="line">
            <a:avLst/>
          </a:prstGeom>
          <a:ln w="3810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a:off x="9734550" y="4610100"/>
            <a:ext cx="771525" cy="0"/>
          </a:xfrm>
          <a:prstGeom prst="line">
            <a:avLst/>
          </a:prstGeom>
          <a:ln w="3810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H="1">
            <a:off x="10405767" y="4610100"/>
            <a:ext cx="100308" cy="54798"/>
          </a:xfrm>
          <a:prstGeom prst="line">
            <a:avLst/>
          </a:prstGeom>
          <a:ln w="3810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H="1" flipV="1">
            <a:off x="10405767" y="4555301"/>
            <a:ext cx="100308" cy="54799"/>
          </a:xfrm>
          <a:prstGeom prst="line">
            <a:avLst/>
          </a:prstGeom>
          <a:ln w="38100">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a:off x="12620625" y="6486525"/>
            <a:ext cx="0" cy="657225"/>
          </a:xfrm>
          <a:prstGeom prst="line">
            <a:avLst/>
          </a:prstGeom>
          <a:ln w="28575">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H="1">
            <a:off x="2609850" y="7143750"/>
            <a:ext cx="10010775" cy="0"/>
          </a:xfrm>
          <a:prstGeom prst="line">
            <a:avLst/>
          </a:prstGeom>
          <a:ln w="28575">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2609850" y="6486525"/>
            <a:ext cx="0" cy="657225"/>
          </a:xfrm>
          <a:prstGeom prst="line">
            <a:avLst/>
          </a:prstGeom>
          <a:ln w="28575">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2609850" y="6486525"/>
            <a:ext cx="54798" cy="100307"/>
          </a:xfrm>
          <a:prstGeom prst="line">
            <a:avLst/>
          </a:prstGeom>
          <a:ln w="28575">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H="1">
            <a:off x="2555051" y="6486525"/>
            <a:ext cx="54799" cy="100307"/>
          </a:xfrm>
          <a:prstGeom prst="line">
            <a:avLst/>
          </a:prstGeom>
          <a:ln w="28575">
            <a:solidFill>
              <a:srgbClr val="57DDD0"/>
            </a:solidFill>
          </a:ln>
        </p:spPr>
        <p:style>
          <a:lnRef idx="2">
            <a:schemeClr val="accent1"/>
          </a:lnRef>
          <a:fillRef idx="0">
            <a:schemeClr val="accent1"/>
          </a:fillRef>
          <a:effectRef idx="1">
            <a:schemeClr val="accent1"/>
          </a:effectRef>
          <a:fontRef idx="minor">
            <a:schemeClr val="tx1"/>
          </a:fontRef>
        </p:style>
      </p:cxnSp>
      <p:sp>
        <p:nvSpPr>
          <p:cNvPr id="185" name="Rectangle 184"/>
          <p:cNvSpPr/>
          <p:nvPr/>
        </p:nvSpPr>
        <p:spPr>
          <a:xfrm>
            <a:off x="4695825" y="6848475"/>
            <a:ext cx="5753100" cy="590550"/>
          </a:xfrm>
          <a:prstGeom prst="rect">
            <a:avLst/>
          </a:prstGeom>
          <a:solidFill>
            <a:srgbClr val="1421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nvGrpSpPr>
          <p:cNvPr id="212" name="Group 211"/>
          <p:cNvGrpSpPr/>
          <p:nvPr/>
        </p:nvGrpSpPr>
        <p:grpSpPr>
          <a:xfrm>
            <a:off x="4931900" y="7016353"/>
            <a:ext cx="242258" cy="253066"/>
            <a:chOff x="4931900" y="7016353"/>
            <a:chExt cx="242258" cy="253066"/>
          </a:xfrm>
        </p:grpSpPr>
        <p:cxnSp>
          <p:nvCxnSpPr>
            <p:cNvPr id="186" name="Connector 185"/>
            <p:cNvCxnSpPr/>
            <p:nvPr/>
          </p:nvCxnSpPr>
          <p:spPr>
            <a:xfrm flipH="1">
              <a:off x="5118727" y="7234175"/>
              <a:ext cx="19948" cy="16111"/>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H="1">
              <a:off x="5095834" y="7250286"/>
              <a:ext cx="22893" cy="11551"/>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H="1">
              <a:off x="5071023" y="7261837"/>
              <a:ext cx="24811" cy="6475"/>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H="1">
              <a:off x="5045405" y="7268312"/>
              <a:ext cx="25618" cy="1107"/>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H="1" flipV="1">
              <a:off x="5020128" y="7265110"/>
              <a:ext cx="25277" cy="4309"/>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H="1" flipV="1">
              <a:off x="4996324" y="7255577"/>
              <a:ext cx="23804" cy="9533"/>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H="1" flipV="1">
              <a:off x="4975060" y="7241247"/>
              <a:ext cx="21264" cy="14330"/>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H="1" flipV="1">
              <a:off x="4957288" y="7222763"/>
              <a:ext cx="17772" cy="18484"/>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H="1" flipV="1">
              <a:off x="4943804" y="7200953"/>
              <a:ext cx="13484" cy="21810"/>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H="1" flipV="1">
              <a:off x="4935213" y="7176793"/>
              <a:ext cx="8591" cy="24160"/>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H="1" flipV="1">
              <a:off x="4931900" y="7151366"/>
              <a:ext cx="3313" cy="25427"/>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4931900" y="7125811"/>
              <a:ext cx="2112" cy="25555"/>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4934012" y="7101274"/>
              <a:ext cx="7443" cy="24537"/>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4941455" y="7078852"/>
              <a:ext cx="12441" cy="22422"/>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4953896" y="7059552"/>
              <a:ext cx="16882" cy="19300"/>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4970778" y="7044236"/>
              <a:ext cx="20566" cy="15316"/>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4991344" y="7033593"/>
              <a:ext cx="23328" cy="10643"/>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5014672" y="7028098"/>
              <a:ext cx="25046" cy="5495"/>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5039718" y="7027997"/>
              <a:ext cx="25642" cy="101"/>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5065360" y="7027997"/>
              <a:ext cx="25088" cy="5298"/>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5090448" y="7033295"/>
              <a:ext cx="23412" cy="10460"/>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5113860" y="7043755"/>
              <a:ext cx="20685" cy="15154"/>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5134545" y="7058909"/>
              <a:ext cx="17032" cy="19167"/>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5151577" y="7078076"/>
              <a:ext cx="12617" cy="22323"/>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5119092" y="7016353"/>
              <a:ext cx="55066" cy="33039"/>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H="1">
              <a:off x="5163145" y="7049392"/>
              <a:ext cx="11013" cy="66080"/>
            </a:xfrm>
            <a:prstGeom prst="line">
              <a:avLst/>
            </a:prstGeom>
            <a:ln w="14867">
              <a:solidFill>
                <a:srgbClr val="57DDD0"/>
              </a:solidFill>
            </a:ln>
          </p:spPr>
          <p:style>
            <a:lnRef idx="2">
              <a:schemeClr val="accent1"/>
            </a:lnRef>
            <a:fillRef idx="0">
              <a:schemeClr val="accent1"/>
            </a:fillRef>
            <a:effectRef idx="1">
              <a:schemeClr val="accent1"/>
            </a:effectRef>
            <a:fontRef idx="minor">
              <a:schemeClr val="tx1"/>
            </a:fontRef>
          </p:style>
        </p:cxnSp>
      </p:grpSp>
      <p:sp>
        <p:nvSpPr>
          <p:cNvPr id="213" name="TextBox 212"/>
          <p:cNvSpPr txBox="1"/>
          <p:nvPr/>
        </p:nvSpPr>
        <p:spPr>
          <a:xfrm>
            <a:off x="5410200" y="7019925"/>
            <a:ext cx="4829175" cy="342900"/>
          </a:xfrm>
          <a:prstGeom prst="rect">
            <a:avLst/>
          </a:prstGeom>
          <a:noFill/>
        </p:spPr>
        <p:txBody>
          <a:bodyPr wrap="none" lIns="0" rIns="0" tIns="0" bIns="0" anchor="t"/>
          <a:lstStyle/>
          <a:p>
            <a:pPr algn="l">
              <a:lnSpc>
                <a:spcPts val="2261"/>
              </a:lnSpc>
              <a:spcBef>
                <a:spcPts val="0"/>
              </a:spcBef>
              <a:spcAft>
                <a:spcPts val="0"/>
              </a:spcAft>
            </a:pPr>
            <a:r>
              <a:rPr sz="1950" b="1">
                <a:solidFill>
                  <a:srgbClr val="57DDD0"/>
                </a:solidFill>
                <a:latin typeface="Arial"/>
              </a:rPr>
              <a:t>Regress on every system change</a:t>
            </a:r>
          </a:p>
        </p:txBody>
      </p:sp>
      <p:sp>
        <p:nvSpPr>
          <p:cNvPr id="214" name="TextBox 213"/>
          <p:cNvSpPr txBox="1"/>
          <p:nvPr/>
        </p:nvSpPr>
        <p:spPr>
          <a:xfrm>
            <a:off x="628650" y="7658100"/>
            <a:ext cx="14011275" cy="323850"/>
          </a:xfrm>
          <a:prstGeom prst="rect">
            <a:avLst/>
          </a:prstGeom>
          <a:noFill/>
        </p:spPr>
        <p:txBody>
          <a:bodyPr wrap="none" lIns="0" rIns="0" tIns="0" bIns="0" anchor="t"/>
          <a:lstStyle/>
          <a:p>
            <a:pPr algn="l">
              <a:lnSpc>
                <a:spcPts val="2349"/>
              </a:lnSpc>
              <a:spcBef>
                <a:spcPts val="0"/>
              </a:spcBef>
              <a:spcAft>
                <a:spcPts val="0"/>
              </a:spcAft>
            </a:pPr>
            <a:r>
              <a:rPr sz="2025" b="1">
                <a:solidFill>
                  <a:srgbClr val="FFFFFF"/>
                </a:solidFill>
                <a:latin typeface="Arial"/>
              </a:rPr>
              <a:t>Every reproducible failure becomes reusable engineering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Incident Replay — Software Engineering</dc:title>
  <dc:subject>Executable failures, causal replay, and engineering regression tests</dc:subject>
  <dc:creator>Jiawei Li</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