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is a public report; figures are the reporters' own. Full sources on the incident references slide. Several rows are evaluation findings in constructed scenarios, not deployment incidents; the deck says which.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is a public report; figures are the reporters' own. Full sources on the incident references slide. Several rows are evaluation findings in constructed scenarios, not deployment incidents; the deck says which.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is a public report; figures are the reporters' own. Full sources on the incident references slide. Several rows are evaluation findings in constructed scenarios, not deployment incidents; the deck says which.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docs/incident-study-results.md, docs/link-study-results.md, results/link-study-v1/run-0022.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 material already in the repo: 28 harness cases, 8 replay controls, 12 permission controls, ImpossibleBench checks, 1,543 monitor inputs from 224 rollouts. None stored in this schema yet.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Foundation: counterfactual evaluation infrastructure offline stages passed (4 cases, 320 transition checks, 17 grader cases).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checked 2026-10-05. Replay implications and admission rules are design assessments, not completed replications or estimates of the original laboratories' expenditure.</a:t>
            </a:r>
          </a:p>
          <a:p/>
          <a:p>
            <a:r>
              <a:t>OpenAI o1 System Card, section 3: https://cdn.openai.com/o1-system-card-20241205.pdf</a:t>
            </a:r>
          </a:p>
          <a:p>
            <a:r>
              <a:t>Baker et al. (2025), sections 2–3 and Appendix C: https://arxiv.org/html/2503.11926v1</a:t>
            </a:r>
          </a:p>
          <a:p>
            <a:r>
              <a:t>Palisade shutdown study: https://palisaderesearch.org/research/shutdown-resistance</a:t>
            </a:r>
          </a:p>
          <a:p>
            <a:r>
              <a:t>Palisade public harness: https://github.com/PalisadeResearch/shutdown_avoidance</a:t>
            </a:r>
          </a:p>
          <a:p>
            <a:r>
              <a:t>Apollo scheming demo: https://www.apolloresearch.ai/science/demo-example-scheming-reasoning-evaluations</a:t>
            </a:r>
          </a:p>
          <a:p>
            <a:r>
              <a:t>OpenAI reasoning visibility: https://developers.openai.com/api/docs/guides/reasoning</a:t>
            </a:r>
          </a:p>
          <a:p>
            <a:r>
              <a:t>OpenAI model availability: https://developers.openai.com/api/docs/deprecations</a:t>
            </a:r>
          </a:p>
          <a:p/>
          <a:p>
            <a:r>
              <a:t>This is an artifact-by-artifact feasibility assessment. Do not infer that every OpenAI incident used an unreleased model, or that every evaluation detail is secret. Public checkpoint names, prompts, code or traces can each help without establishing access to the entire original experiment. Full replay here means rerunning under materially matched conditions and measuring uncertainty, not guaranteeing a byte-identical stochastic trajectory. The public reasoning API exposes summaries rather than raw reasoning text; an observation-dependent evaluator may therefore be impossible to match.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checked 2026-10-05. Replay implications and admission rules are design assessments, not completed replications or estimates of the original laboratories' expenditure.</a:t>
            </a:r>
          </a:p>
          <a:p/>
          <a:p>
            <a:r>
              <a:t>OpenAI o1 System Card, section 3: https://cdn.openai.com/o1-system-card-20241205.pdf</a:t>
            </a:r>
          </a:p>
          <a:p>
            <a:r>
              <a:t>Baker et al. (2025), sections 2–3 and Appendix C: https://arxiv.org/html/2503.11926v1</a:t>
            </a:r>
          </a:p>
          <a:p>
            <a:r>
              <a:t>Palisade shutdown study: https://palisaderesearch.org/research/shutdown-resistance</a:t>
            </a:r>
          </a:p>
          <a:p>
            <a:r>
              <a:t>Palisade public harness: https://github.com/PalisadeResearch/shutdown_avoidance</a:t>
            </a:r>
          </a:p>
          <a:p>
            <a:r>
              <a:t>Apollo scheming demo: https://www.apolloresearch.ai/science/demo-example-scheming-reasoning-evaluations</a:t>
            </a:r>
          </a:p>
          <a:p>
            <a:r>
              <a:t>OpenAI reasoning visibility: https://developers.openai.com/api/docs/guides/reasoning</a:t>
            </a:r>
          </a:p>
          <a:p>
            <a:r>
              <a:t>OpenAI model availability: https://developers.openai.com/api/docs/deprecations</a:t>
            </a:r>
          </a:p>
          <a:p/>
          <a:p>
            <a:r>
              <a:t>Sources: o1 System Card section 3; Baker et al. sections 2–3 and Appendix C; Palisade's public shutdown_avoidance repository. The last column is our inference about requirements, not a claim that an exhaustive artifact search has proved every item unavailable. Account access and retired snapshots must be checked separately. The shutdown example is an external study of an OpenAI model, unlike the training-time examples. Do not pool their reproduction feasibility.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checked 2026-10-05. Replay implications and admission rules are design assessments, not completed replications or estimates of the original laboratories' expenditure.</a:t>
            </a:r>
          </a:p>
          <a:p/>
          <a:p>
            <a:r>
              <a:t>OpenAI o1 System Card, section 3: https://cdn.openai.com/o1-system-card-20241205.pdf</a:t>
            </a:r>
          </a:p>
          <a:p>
            <a:r>
              <a:t>Baker et al. (2025), sections 2–3 and Appendix C: https://arxiv.org/html/2503.11926v1</a:t>
            </a:r>
          </a:p>
          <a:p>
            <a:r>
              <a:t>Palisade shutdown study: https://palisaderesearch.org/research/shutdown-resistance</a:t>
            </a:r>
          </a:p>
          <a:p>
            <a:r>
              <a:t>Palisade public harness: https://github.com/PalisadeResearch/shutdown_avoidance</a:t>
            </a:r>
          </a:p>
          <a:p>
            <a:r>
              <a:t>Apollo scheming demo: https://www.apolloresearch.ai/science/demo-example-scheming-reasoning-evaluations</a:t>
            </a:r>
          </a:p>
          <a:p>
            <a:r>
              <a:t>OpenAI reasoning visibility: https://developers.openai.com/api/docs/guides/reasoning</a:t>
            </a:r>
          </a:p>
          <a:p>
            <a:r>
              <a:t>OpenAI model availability: https://developers.openai.com/api/docs/deprecations</a:t>
            </a:r>
          </a:p>
          <a:p/>
          <a:p>
            <a:r>
              <a:t>The first two modes can be useful even if the incident-generating model is unavailable. Re-scoring can consume judge API calls; fixed-action execution can consume environment resources. Neither is automatically cost-free. Selected public traces can support a conditional detection evaluation but do not provide a population denominator. An injected action tests a control against that action, not whether a policy prevents an agent from independently selecting another action. Changing a tool response invalidates a recorded future as a behavioral counterfactual: resample the actor from the intervention point, or limit the claim to the fixed-action effect. This matches the distinction in docs/counterfactual-replay.md.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checked 2026-10-05. Replay implications and admission rules are design assessments, not completed replications or estimates of the original laboratories' expenditure.</a:t>
            </a:r>
          </a:p>
          <a:p/>
          <a:p>
            <a:r>
              <a:t>OpenAI o1 System Card, section 3: https://cdn.openai.com/o1-system-card-20241205.pdf</a:t>
            </a:r>
          </a:p>
          <a:p>
            <a:r>
              <a:t>Baker et al. (2025), sections 2–3 and Appendix C: https://arxiv.org/html/2503.11926v1</a:t>
            </a:r>
          </a:p>
          <a:p>
            <a:r>
              <a:t>Palisade shutdown study: https://palisaderesearch.org/research/shutdown-resistance</a:t>
            </a:r>
          </a:p>
          <a:p>
            <a:r>
              <a:t>Palisade public harness: https://github.com/PalisadeResearch/shutdown_avoidance</a:t>
            </a:r>
          </a:p>
          <a:p>
            <a:r>
              <a:t>Apollo scheming demo: https://www.apolloresearch.ai/science/demo-example-scheming-reasoning-evaluations</a:t>
            </a:r>
          </a:p>
          <a:p>
            <a:r>
              <a:t>OpenAI reasoning visibility: https://developers.openai.com/api/docs/guides/reasoning</a:t>
            </a:r>
          </a:p>
          <a:p>
            <a:r>
              <a:t>OpenAI model availability: https://developers.openai.com/api/docs/deprecations</a:t>
            </a:r>
          </a:p>
          <a:p/>
          <a:p>
            <a:r>
              <a:t>These are proposed qualification requirements, not a statement that this project already supports arbitrary evaluator infrastructure. A harness adapter needs snapshot/reset, tool input/output interception and trusted event capture. External services, time, randomness, authentication and asynchronous actions can make snapshots incomplete. Mocks must preserve the state transitions relevant to the tested mechanism; their deviations must be declared. Independently check the effect rather than trusting a score the agent can manipulate. For a grader-induced failure, the grader configuration is itself a critical dependency. Reject or narrow the causal claim when it cannot be recovered. See docs/counterfactual-replay.md and docs/standardized-benchmarks.md.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checked 2026-10-05. Replay implications and admission rules are design assessments, not completed replications or estimates of the original laboratories' expenditure.</a:t>
            </a:r>
          </a:p>
          <a:p/>
          <a:p>
            <a:r>
              <a:t>OpenAI o1 System Card, section 3: https://cdn.openai.com/o1-system-card-20241205.pdf</a:t>
            </a:r>
          </a:p>
          <a:p>
            <a:r>
              <a:t>Baker et al. (2025), sections 2–3 and Appendix C: https://arxiv.org/html/2503.11926v1</a:t>
            </a:r>
          </a:p>
          <a:p>
            <a:r>
              <a:t>Palisade shutdown study: https://palisaderesearch.org/research/shutdown-resistance</a:t>
            </a:r>
          </a:p>
          <a:p>
            <a:r>
              <a:t>Palisade public harness: https://github.com/PalisadeResearch/shutdown_avoidance</a:t>
            </a:r>
          </a:p>
          <a:p>
            <a:r>
              <a:t>Apollo scheming demo: https://www.apolloresearch.ai/science/demo-example-scheming-reasoning-evaluations</a:t>
            </a:r>
          </a:p>
          <a:p>
            <a:r>
              <a:t>OpenAI reasoning visibility: https://developers.openai.com/api/docs/guides/reasoning</a:t>
            </a:r>
          </a:p>
          <a:p>
            <a:r>
              <a:t>OpenAI model availability: https://developers.openai.com/api/docs/deprecations</a:t>
            </a:r>
          </a:p>
          <a:p/>
          <a:p>
            <a:r>
              <a:t>Resource accounting: sum billed input/output tokens times the selected model rates for actor and judge calls; include repeated history, hidden reasoning, retries and failed usage. For self-hosting, measure GPU-hours, memory, throughput and utilization on the actual checkpoint/context, then apply the applicable hardware rate. Add CPU/IO, reset, storage, engineering and human qualification. A public inference API quote does not estimate an internal RL experiment or buy access to missing weights. Large models need not be trained again merely to rerun inference if the exact checkpoint is accessible; reproducing a training-dependent cause is a different study. Dollar totals are premature before these dependencies are known. API availability/rate limits and engineering lead time can dominate even when per-token cost is modest. The sampling illustration is ceil(log(0.05)/log(1-0.001)) = 2,995 under independent, fixed-rate Bernoulli trials. This is not an empirical rate, a safety certificate, or the sample size for a policy comparison. Correlated variants do not replace independent lineages. Reuse shared fixed-pool development trajectories where valid; do not count them twice for B3/B4 or reuse test outcomes for selection. Cap requests, tokens, GPU-hours and wall time; timeouts remain unknown outcomes.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checked 2026-10-05. Replay implications and admission rules are design assessments, not completed replications or estimates of the original laboratories' expenditure.</a:t>
            </a:r>
          </a:p>
          <a:p/>
          <a:p>
            <a:r>
              <a:t>OpenAI o1 System Card, section 3: https://cdn.openai.com/o1-system-card-20241205.pdf</a:t>
            </a:r>
          </a:p>
          <a:p>
            <a:r>
              <a:t>Baker et al. (2025), sections 2–3 and Appendix C: https://arxiv.org/html/2503.11926v1</a:t>
            </a:r>
          </a:p>
          <a:p>
            <a:r>
              <a:t>Palisade shutdown study: https://palisaderesearch.org/research/shutdown-resistance</a:t>
            </a:r>
          </a:p>
          <a:p>
            <a:r>
              <a:t>Palisade public harness: https://github.com/PalisadeResearch/shutdown_avoidance</a:t>
            </a:r>
          </a:p>
          <a:p>
            <a:r>
              <a:t>Apollo scheming demo: https://www.apolloresearch.ai/science/demo-example-scheming-reasoning-evaluations</a:t>
            </a:r>
          </a:p>
          <a:p>
            <a:r>
              <a:t>OpenAI reasoning visibility: https://developers.openai.com/api/docs/guides/reasoning</a:t>
            </a:r>
          </a:p>
          <a:p>
            <a:r>
              <a:t>OpenAI model availability: https://developers.openai.com/api/docs/deprecations</a:t>
            </a:r>
          </a:p>
          <a:p/>
          <a:p>
            <a:r>
              <a:t>This is a proposed mechanism study inspired by test-harness reward hacking, not a report that it has been run. The core hypothesis is that a mismatch between apparent task success and independently observed effects, combined with a relevant opportunity and incentive, permits the failure. Keep those ingredients explicit. An accessible actor must independently exhibit the behavior before claiming behavioral reproduction under the declared prompts. A script or an explicitly attack-instructed actor can qualify an effect/guard fixture but cannot establish naturally occurring misbehavior; keep these populations separate. A negative control should remove the suspected opportunity while preserving the legitimate task, and the benign twin must verify that a defense does not merely block all useful work. If behavior does not occur, report an inconclusive behavioral reproduction rather than forcing it and relabeling it as natural. Mechanism preservation is a hypothesis tested by controls, not something guaranteed by constructing a plausible sandbox. This does not reproduce the emergence of a failure during RL, or transport a measured rate to another model or real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checked 2026-10-05. Replay implications and admission rules are design assessments, not completed replications or estimates of the original laboratories' expenditure.</a:t>
            </a:r>
          </a:p>
          <a:p/>
          <a:p>
            <a:r>
              <a:t>OpenAI o1 System Card, section 3: https://cdn.openai.com/o1-system-card-20241205.pdf</a:t>
            </a:r>
          </a:p>
          <a:p>
            <a:r>
              <a:t>Baker et al. (2025), sections 2–3 and Appendix C: https://arxiv.org/html/2503.11926v1</a:t>
            </a:r>
          </a:p>
          <a:p>
            <a:r>
              <a:t>Palisade shutdown study: https://palisaderesearch.org/research/shutdown-resistance</a:t>
            </a:r>
          </a:p>
          <a:p>
            <a:r>
              <a:t>Palisade public harness: https://github.com/PalisadeResearch/shutdown_avoidance</a:t>
            </a:r>
          </a:p>
          <a:p>
            <a:r>
              <a:t>Apollo scheming demo: https://www.apolloresearch.ai/science/demo-example-scheming-reasoning-evaluations</a:t>
            </a:r>
          </a:p>
          <a:p>
            <a:r>
              <a:t>OpenAI reasoning visibility: https://developers.openai.com/api/docs/guides/reasoning</a:t>
            </a:r>
          </a:p>
          <a:p>
            <a:r>
              <a:t>OpenAI model availability: https://developers.openai.com/api/docs/deprecations</a:t>
            </a:r>
          </a:p>
          <a:p/>
          <a:p>
            <a:r>
              <a:t>Proposed admission metadata: incident/source lineage; evidence grade A/B/C; execution mode; historical fidelity; model/checkpoint and access status; prompt/scaffold hashes; environment/state references; observer visibility; controls and qualification result; missing dependencies; request/token/GPU/wall-time limits and actual usage; intended and unsupported claims. Grade A can describe an executable mechanism fixture without establishing historical model equivalence. Start with own runs and public reproducible harnesses, since logs and snapshots can be captured at source. For private cases, the owner could run a versioned adapter in its existing infrastructure and share permitted evidence; that is owner-run evidence, not independently reproduced access. Choose full replay when the needed scientific claim depends on the exact actor/environment and access plus cost make it feasible. Choose a controlled mechanism study only when the narrower claim is useful and the relevant causal structure can be tested. Otherwise defer. Keep narrative leads and unsupported labels out of automatic optimizer feedback. Regression gates operate on qualified, declared suites; unknowns never become passes. Track reports considered, artifacts obtained, environments built, qualified cases, blocked reasons and measured costs. Report outcomes by fidelity and lineage instead of pooling historical, surrogate and trace-only cases. This makes the limits of the deck's incident-to-regression vision explicit.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body: Incident-Aware Optimization"/>
          <p:cNvSpPr txBox="1"/>
          <p:nvPr/>
        </p:nvSpPr>
        <p:spPr>
          <a:xfrm>
            <a:off x="1874519" y="1418590"/>
            <a:ext cx="10881360" cy="811276"/>
          </a:xfrm>
          <a:prstGeom prst="rect">
            <a:avLst/>
          </a:prstGeom>
          <a:noFill/>
        </p:spPr>
        <p:txBody>
          <a:bodyPr wrap="none" lIns="0" rIns="0" tIns="0" bIns="0" anchor="t">
            <a:noAutofit/>
          </a:bodyPr>
          <a:lstStyle/>
          <a:p>
            <a:pPr algn="ctr">
              <a:lnSpc>
                <a:spcPts val="5848"/>
              </a:lnSpc>
              <a:spcBef>
                <a:spcPts val="0"/>
              </a:spcBef>
              <a:spcAft>
                <a:spcPts val="0"/>
              </a:spcAft>
            </a:pPr>
            <a:r>
              <a:rPr sz="4300" b="1">
                <a:solidFill>
                  <a:srgbClr val="293E46"/>
                </a:solidFill>
                <a:latin typeface="Chalkboard SE"/>
              </a:rPr>
              <a:t>Incident-Aware Optimization</a:t>
            </a:r>
          </a:p>
        </p:txBody>
      </p:sp>
      <p:sp>
        <p:nvSpPr>
          <p:cNvPr id="3" name="body: Turning the history of agent incidents into better evaluation ta"/>
          <p:cNvSpPr txBox="1"/>
          <p:nvPr/>
        </p:nvSpPr>
        <p:spPr>
          <a:xfrm>
            <a:off x="2560320" y="2504694"/>
            <a:ext cx="9509760" cy="842772"/>
          </a:xfrm>
          <a:prstGeom prst="rect">
            <a:avLst/>
          </a:prstGeom>
          <a:noFill/>
        </p:spPr>
        <p:txBody>
          <a:bodyPr wrap="none" lIns="0" rIns="0" tIns="0" bIns="0" anchor="t">
            <a:noAutofit/>
          </a:bodyPr>
          <a:lstStyle/>
          <a:p>
            <a:pPr algn="ctr">
              <a:lnSpc>
                <a:spcPts val="3048"/>
              </a:lnSpc>
              <a:spcBef>
                <a:spcPts val="0"/>
              </a:spcBef>
              <a:spcAft>
                <a:spcPts val="0"/>
              </a:spcAft>
            </a:pPr>
            <a:r>
              <a:rPr sz="2400" b="0">
                <a:solidFill>
                  <a:srgbClr val="4E7892"/>
                </a:solidFill>
                <a:latin typeface="Trebuchet MS"/>
              </a:rPr>
              <a:t>Turning the history of agent incidents into better evaluation tasks,</a:t>
            </a:r>
            <a:br/>
            <a:r>
              <a:rPr sz="2400" b="0">
                <a:solidFill>
                  <a:srgbClr val="4E7892"/>
                </a:solidFill>
                <a:latin typeface="Trebuchet MS"/>
              </a:rPr>
              <a:t>runtime monitors and instructions: a proposed Inspect extension</a:t>
            </a:r>
          </a:p>
        </p:txBody>
      </p:sp>
      <p:sp>
        <p:nvSpPr>
          <p:cNvPr id="4" name="Freeform 3"/>
          <p:cNvSpPr/>
          <p:nvPr/>
        </p:nvSpPr>
        <p:spPr>
          <a:xfrm>
            <a:off x="4663440" y="4495922"/>
            <a:ext cx="5303520" cy="38771"/>
          </a:xfrm>
          <a:custGeom>
            <a:avLst/>
            <a:gdLst/>
            <a:ahLst/>
            <a:cxnLst/>
            <a:rect l="l" t="t" r="r" b="b"/>
            <a:pathLst>
              <a:path w="58000" h="424">
                <a:moveTo>
                  <a:pt x="0" y="196"/>
                </a:moveTo>
                <a:lnTo>
                  <a:pt x="2417" y="329"/>
                </a:lnTo>
                <a:lnTo>
                  <a:pt x="4833" y="357"/>
                </a:lnTo>
                <a:lnTo>
                  <a:pt x="7250" y="362"/>
                </a:lnTo>
                <a:lnTo>
                  <a:pt x="9667" y="145"/>
                </a:lnTo>
                <a:lnTo>
                  <a:pt x="12083" y="34"/>
                </a:lnTo>
                <a:lnTo>
                  <a:pt x="14500" y="19"/>
                </a:lnTo>
                <a:lnTo>
                  <a:pt x="16917" y="84"/>
                </a:lnTo>
                <a:lnTo>
                  <a:pt x="19333" y="314"/>
                </a:lnTo>
                <a:lnTo>
                  <a:pt x="21750" y="397"/>
                </a:lnTo>
                <a:lnTo>
                  <a:pt x="24167" y="424"/>
                </a:lnTo>
                <a:lnTo>
                  <a:pt x="26583" y="394"/>
                </a:lnTo>
                <a:lnTo>
                  <a:pt x="29000" y="157"/>
                </a:lnTo>
                <a:lnTo>
                  <a:pt x="31417" y="5"/>
                </a:lnTo>
                <a:lnTo>
                  <a:pt x="33833" y="0"/>
                </a:lnTo>
                <a:lnTo>
                  <a:pt x="36250" y="120"/>
                </a:lnTo>
                <a:lnTo>
                  <a:pt x="38667" y="241"/>
                </a:lnTo>
                <a:lnTo>
                  <a:pt x="41083" y="350"/>
                </a:lnTo>
                <a:lnTo>
                  <a:pt x="43500" y="350"/>
                </a:lnTo>
                <a:lnTo>
                  <a:pt x="45917" y="363"/>
                </a:lnTo>
                <a:lnTo>
                  <a:pt x="48333" y="254"/>
                </a:lnTo>
                <a:lnTo>
                  <a:pt x="50750" y="17"/>
                </a:lnTo>
                <a:lnTo>
                  <a:pt x="53167" y="23"/>
                </a:lnTo>
                <a:lnTo>
                  <a:pt x="55583" y="232"/>
                </a:lnTo>
                <a:lnTo>
                  <a:pt x="58000" y="328"/>
                </a:lnTo>
              </a:path>
            </a:pathLst>
          </a:custGeom>
          <a:noFill/>
          <a:ln w="635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4663440" y="4512381"/>
            <a:ext cx="5303520" cy="38771"/>
          </a:xfrm>
          <a:custGeom>
            <a:avLst/>
            <a:gdLst/>
            <a:ahLst/>
            <a:cxnLst/>
            <a:rect l="l" t="t" r="r" b="b"/>
            <a:pathLst>
              <a:path w="58000" h="424">
                <a:moveTo>
                  <a:pt x="0" y="196"/>
                </a:moveTo>
                <a:lnTo>
                  <a:pt x="2417" y="329"/>
                </a:lnTo>
                <a:lnTo>
                  <a:pt x="4833" y="357"/>
                </a:lnTo>
                <a:lnTo>
                  <a:pt x="7250" y="362"/>
                </a:lnTo>
                <a:lnTo>
                  <a:pt x="9667" y="145"/>
                </a:lnTo>
                <a:lnTo>
                  <a:pt x="12083" y="34"/>
                </a:lnTo>
                <a:lnTo>
                  <a:pt x="14500" y="19"/>
                </a:lnTo>
                <a:lnTo>
                  <a:pt x="16917" y="84"/>
                </a:lnTo>
                <a:lnTo>
                  <a:pt x="19333" y="314"/>
                </a:lnTo>
                <a:lnTo>
                  <a:pt x="21750" y="397"/>
                </a:lnTo>
                <a:lnTo>
                  <a:pt x="24167" y="424"/>
                </a:lnTo>
                <a:lnTo>
                  <a:pt x="26583" y="394"/>
                </a:lnTo>
                <a:lnTo>
                  <a:pt x="29000" y="157"/>
                </a:lnTo>
                <a:lnTo>
                  <a:pt x="31417" y="5"/>
                </a:lnTo>
                <a:lnTo>
                  <a:pt x="33833" y="0"/>
                </a:lnTo>
                <a:lnTo>
                  <a:pt x="36250" y="120"/>
                </a:lnTo>
                <a:lnTo>
                  <a:pt x="38667" y="241"/>
                </a:lnTo>
                <a:lnTo>
                  <a:pt x="41083" y="350"/>
                </a:lnTo>
                <a:lnTo>
                  <a:pt x="43500" y="350"/>
                </a:lnTo>
                <a:lnTo>
                  <a:pt x="45917" y="363"/>
                </a:lnTo>
                <a:lnTo>
                  <a:pt x="48333" y="254"/>
                </a:lnTo>
                <a:lnTo>
                  <a:pt x="50750" y="17"/>
                </a:lnTo>
                <a:lnTo>
                  <a:pt x="53167" y="23"/>
                </a:lnTo>
                <a:lnTo>
                  <a:pt x="55583" y="232"/>
                </a:lnTo>
                <a:lnTo>
                  <a:pt x="58000" y="328"/>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ody: We cannot make incidents never happen. We can make every inciden"/>
          <p:cNvSpPr txBox="1"/>
          <p:nvPr/>
        </p:nvSpPr>
        <p:spPr>
          <a:xfrm>
            <a:off x="1828800" y="5068220"/>
            <a:ext cx="10972800" cy="754062"/>
          </a:xfrm>
          <a:prstGeom prst="rect">
            <a:avLst/>
          </a:prstGeom>
          <a:noFill/>
        </p:spPr>
        <p:txBody>
          <a:bodyPr wrap="none" lIns="0" rIns="0" tIns="0" bIns="0" anchor="t">
            <a:noAutofit/>
          </a:bodyPr>
          <a:lstStyle/>
          <a:p>
            <a:pPr algn="ctr">
              <a:lnSpc>
                <a:spcPts val="2698"/>
              </a:lnSpc>
              <a:spcBef>
                <a:spcPts val="0"/>
              </a:spcBef>
              <a:spcAft>
                <a:spcPts val="0"/>
              </a:spcAft>
            </a:pPr>
            <a:r>
              <a:rPr sz="2125" b="0">
                <a:solidFill>
                  <a:srgbClr val="293E46"/>
                </a:solidFill>
                <a:latin typeface="Trebuchet MS"/>
              </a:rPr>
              <a:t>We cannot make incidents never happen. We can make every incident that did happen</a:t>
            </a:r>
            <a:br/>
            <a:r>
              <a:rPr sz="2125" b="0">
                <a:solidFill>
                  <a:srgbClr val="293E46"/>
                </a:solidFill>
                <a:latin typeface="Trebuchet MS"/>
              </a:rPr>
              <a:t>a permanent, regression-tested improvement to the next policy.</a:t>
            </a:r>
          </a:p>
        </p:txBody>
      </p:sp>
      <p:sp>
        <p:nvSpPr>
          <p:cNvPr id="7" name="body: Jiawei Li · containment-extension · design proposal, October 202"/>
          <p:cNvSpPr txBox="1"/>
          <p:nvPr/>
        </p:nvSpPr>
        <p:spPr>
          <a:xfrm>
            <a:off x="1463040" y="7059358"/>
            <a:ext cx="11704320" cy="310515"/>
          </a:xfrm>
          <a:prstGeom prst="rect">
            <a:avLst/>
          </a:prstGeom>
          <a:noFill/>
        </p:spPr>
        <p:txBody>
          <a:bodyPr wrap="none" lIns="0" rIns="0" tIns="0" bIns="0" anchor="t">
            <a:noAutofit/>
          </a:bodyPr>
          <a:lstStyle/>
          <a:p>
            <a:pPr algn="ctr">
              <a:lnSpc>
                <a:spcPts val="1905"/>
              </a:lnSpc>
              <a:spcBef>
                <a:spcPts val="0"/>
              </a:spcBef>
              <a:spcAft>
                <a:spcPts val="0"/>
              </a:spcAft>
            </a:pPr>
            <a:r>
              <a:rPr sz="1500" b="0">
                <a:solidFill>
                  <a:srgbClr val="68736E"/>
                </a:solidFill>
                <a:latin typeface="Trebuchet MS"/>
              </a:rPr>
              <a:t>Jiawei Li · containment-extension · design proposal, October 2026</a:t>
            </a:r>
          </a:p>
        </p:txBody>
      </p:sp>
      <p:sp>
        <p:nvSpPr>
          <p:cNvPr id="8" name="Freeform 7"/>
          <p:cNvSpPr/>
          <p:nvPr/>
        </p:nvSpPr>
        <p:spPr>
          <a:xfrm>
            <a:off x="786384" y="1005840"/>
            <a:ext cx="347472" cy="183"/>
          </a:xfrm>
          <a:custGeom>
            <a:avLst/>
            <a:gdLst/>
            <a:ahLst/>
            <a:cxnLst/>
            <a:rect l="l" t="t" r="r" b="b"/>
            <a:pathLst>
              <a:path w="3800" h="2">
                <a:moveTo>
                  <a:pt x="0" y="0"/>
                </a:moveTo>
                <a:lnTo>
                  <a:pt x="38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960120" y="832104"/>
            <a:ext cx="183" cy="347472"/>
          </a:xfrm>
          <a:custGeom>
            <a:avLst/>
            <a:gdLst/>
            <a:ahLst/>
            <a:cxnLst/>
            <a:rect l="l" t="t" r="r" b="b"/>
            <a:pathLst>
              <a:path w="2" h="3800">
                <a:moveTo>
                  <a:pt x="0" y="0"/>
                </a:moveTo>
                <a:lnTo>
                  <a:pt x="2" y="38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900684" y="946404"/>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900684" y="946404"/>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13441680" y="4233672"/>
            <a:ext cx="365760" cy="183"/>
          </a:xfrm>
          <a:custGeom>
            <a:avLst/>
            <a:gdLst/>
            <a:ahLst/>
            <a:cxnLst/>
            <a:rect l="l" t="t" r="r" b="b"/>
            <a:pathLst>
              <a:path w="4000" h="2">
                <a:moveTo>
                  <a:pt x="0" y="0"/>
                </a:moveTo>
                <a:lnTo>
                  <a:pt x="4000" y="2"/>
                </a:lnTo>
              </a:path>
            </a:pathLst>
          </a:custGeom>
          <a:noFill/>
          <a:ln w="16510" cap="rnd">
            <a:solidFill>
              <a:srgbClr val="557B6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3624560" y="4050792"/>
            <a:ext cx="183" cy="365760"/>
          </a:xfrm>
          <a:custGeom>
            <a:avLst/>
            <a:gdLst/>
            <a:ahLst/>
            <a:cxnLst/>
            <a:rect l="l" t="t" r="r" b="b"/>
            <a:pathLst>
              <a:path w="2" h="4000">
                <a:moveTo>
                  <a:pt x="0" y="0"/>
                </a:moveTo>
                <a:lnTo>
                  <a:pt x="2" y="4000"/>
                </a:lnTo>
              </a:path>
            </a:pathLst>
          </a:custGeom>
          <a:noFill/>
          <a:ln w="16510" cap="rnd">
            <a:solidFill>
              <a:srgbClr val="557B6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3565124" y="4174236"/>
            <a:ext cx="118872" cy="118872"/>
          </a:xfrm>
          <a:custGeom>
            <a:avLst/>
            <a:gdLst/>
            <a:ahLst/>
            <a:cxnLst/>
            <a:rect l="l" t="t" r="r" b="b"/>
            <a:pathLst>
              <a:path w="1300" h="1300">
                <a:moveTo>
                  <a:pt x="0" y="0"/>
                </a:moveTo>
                <a:lnTo>
                  <a:pt x="1300" y="1300"/>
                </a:lnTo>
              </a:path>
            </a:pathLst>
          </a:custGeom>
          <a:noFill/>
          <a:ln w="16510" cap="rnd">
            <a:solidFill>
              <a:srgbClr val="557B6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13565124" y="4174236"/>
            <a:ext cx="118872" cy="118872"/>
          </a:xfrm>
          <a:custGeom>
            <a:avLst/>
            <a:gdLst/>
            <a:ahLst/>
            <a:cxnLst/>
            <a:rect l="l" t="t" r="r" b="b"/>
            <a:pathLst>
              <a:path w="1300" h="1300">
                <a:moveTo>
                  <a:pt x="0" y="1300"/>
                </a:moveTo>
                <a:lnTo>
                  <a:pt x="1300" y="0"/>
                </a:lnTo>
              </a:path>
            </a:pathLst>
          </a:custGeom>
          <a:noFill/>
          <a:ln w="16510" cap="rnd">
            <a:solidFill>
              <a:srgbClr val="557B6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960120" y="7612654"/>
            <a:ext cx="1143000" cy="42702"/>
          </a:xfrm>
          <a:custGeom>
            <a:avLst/>
            <a:gdLst/>
            <a:ahLst/>
            <a:cxnLst/>
            <a:rect l="l" t="t" r="r" b="b"/>
            <a:pathLst>
              <a:path w="12500" h="467">
                <a:moveTo>
                  <a:pt x="0" y="250"/>
                </a:moveTo>
                <a:lnTo>
                  <a:pt x="521" y="420"/>
                </a:lnTo>
                <a:lnTo>
                  <a:pt x="1042" y="384"/>
                </a:lnTo>
                <a:lnTo>
                  <a:pt x="1562" y="409"/>
                </a:lnTo>
                <a:lnTo>
                  <a:pt x="2083" y="184"/>
                </a:lnTo>
                <a:lnTo>
                  <a:pt x="2604" y="106"/>
                </a:lnTo>
                <a:lnTo>
                  <a:pt x="3125" y="9"/>
                </a:lnTo>
                <a:lnTo>
                  <a:pt x="3646" y="179"/>
                </a:lnTo>
                <a:lnTo>
                  <a:pt x="4167" y="240"/>
                </a:lnTo>
                <a:lnTo>
                  <a:pt x="4688" y="349"/>
                </a:lnTo>
                <a:lnTo>
                  <a:pt x="5208" y="355"/>
                </a:lnTo>
                <a:lnTo>
                  <a:pt x="5729" y="370"/>
                </a:lnTo>
                <a:lnTo>
                  <a:pt x="6250" y="237"/>
                </a:lnTo>
                <a:lnTo>
                  <a:pt x="6771" y="87"/>
                </a:lnTo>
                <a:lnTo>
                  <a:pt x="7292" y="0"/>
                </a:lnTo>
                <a:lnTo>
                  <a:pt x="7812" y="172"/>
                </a:lnTo>
                <a:lnTo>
                  <a:pt x="8333" y="358"/>
                </a:lnTo>
                <a:lnTo>
                  <a:pt x="8854" y="467"/>
                </a:lnTo>
                <a:lnTo>
                  <a:pt x="9375" y="370"/>
                </a:lnTo>
                <a:lnTo>
                  <a:pt x="9896" y="375"/>
                </a:lnTo>
                <a:lnTo>
                  <a:pt x="10417" y="237"/>
                </a:lnTo>
                <a:lnTo>
                  <a:pt x="10938" y="162"/>
                </a:lnTo>
                <a:lnTo>
                  <a:pt x="11458" y="25"/>
                </a:lnTo>
                <a:lnTo>
                  <a:pt x="11979" y="89"/>
                </a:lnTo>
                <a:lnTo>
                  <a:pt x="12500" y="355"/>
                </a:lnTo>
              </a:path>
            </a:pathLst>
          </a:custGeom>
          <a:noFill/>
          <a:ln w="50800" cap="rnd">
            <a:solidFill>
              <a:srgbClr val="AE6B5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960120" y="7629114"/>
            <a:ext cx="1143000" cy="42702"/>
          </a:xfrm>
          <a:custGeom>
            <a:avLst/>
            <a:gdLst/>
            <a:ahLst/>
            <a:cxnLst/>
            <a:rect l="l" t="t" r="r" b="b"/>
            <a:pathLst>
              <a:path w="12500" h="467">
                <a:moveTo>
                  <a:pt x="0" y="250"/>
                </a:moveTo>
                <a:lnTo>
                  <a:pt x="521" y="420"/>
                </a:lnTo>
                <a:lnTo>
                  <a:pt x="1042" y="384"/>
                </a:lnTo>
                <a:lnTo>
                  <a:pt x="1562" y="409"/>
                </a:lnTo>
                <a:lnTo>
                  <a:pt x="2083" y="184"/>
                </a:lnTo>
                <a:lnTo>
                  <a:pt x="2604" y="106"/>
                </a:lnTo>
                <a:lnTo>
                  <a:pt x="3125" y="9"/>
                </a:lnTo>
                <a:lnTo>
                  <a:pt x="3646" y="179"/>
                </a:lnTo>
                <a:lnTo>
                  <a:pt x="4167" y="240"/>
                </a:lnTo>
                <a:lnTo>
                  <a:pt x="4688" y="349"/>
                </a:lnTo>
                <a:lnTo>
                  <a:pt x="5208" y="355"/>
                </a:lnTo>
                <a:lnTo>
                  <a:pt x="5729" y="370"/>
                </a:lnTo>
                <a:lnTo>
                  <a:pt x="6250" y="237"/>
                </a:lnTo>
                <a:lnTo>
                  <a:pt x="6771" y="87"/>
                </a:lnTo>
                <a:lnTo>
                  <a:pt x="7292" y="0"/>
                </a:lnTo>
                <a:lnTo>
                  <a:pt x="7812" y="172"/>
                </a:lnTo>
                <a:lnTo>
                  <a:pt x="8333" y="358"/>
                </a:lnTo>
                <a:lnTo>
                  <a:pt x="8854" y="467"/>
                </a:lnTo>
                <a:lnTo>
                  <a:pt x="9375" y="370"/>
                </a:lnTo>
                <a:lnTo>
                  <a:pt x="9896" y="375"/>
                </a:lnTo>
                <a:lnTo>
                  <a:pt x="10417" y="237"/>
                </a:lnTo>
                <a:lnTo>
                  <a:pt x="10938" y="162"/>
                </a:lnTo>
                <a:lnTo>
                  <a:pt x="11458" y="25"/>
                </a:lnTo>
                <a:lnTo>
                  <a:pt x="11979" y="89"/>
                </a:lnTo>
                <a:lnTo>
                  <a:pt x="12500" y="355"/>
                </a:lnTo>
              </a:path>
            </a:pathLst>
          </a:custGeom>
          <a:noFill/>
          <a:ln w="10160" cap="rnd">
            <a:solidFill>
              <a:srgbClr val="AE6B5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2527280" y="378927"/>
            <a:ext cx="1005840" cy="45811"/>
          </a:xfrm>
          <a:custGeom>
            <a:avLst/>
            <a:gdLst/>
            <a:ahLst/>
            <a:cxnLst/>
            <a:rect l="l" t="t" r="r" b="b"/>
            <a:pathLst>
              <a:path w="11000" h="501">
                <a:moveTo>
                  <a:pt x="0" y="327"/>
                </a:moveTo>
                <a:lnTo>
                  <a:pt x="458" y="354"/>
                </a:lnTo>
                <a:lnTo>
                  <a:pt x="917" y="449"/>
                </a:lnTo>
                <a:lnTo>
                  <a:pt x="1375" y="449"/>
                </a:lnTo>
                <a:lnTo>
                  <a:pt x="1833" y="208"/>
                </a:lnTo>
                <a:lnTo>
                  <a:pt x="2292" y="88"/>
                </a:lnTo>
                <a:lnTo>
                  <a:pt x="2750" y="0"/>
                </a:lnTo>
                <a:lnTo>
                  <a:pt x="3208" y="184"/>
                </a:lnTo>
                <a:lnTo>
                  <a:pt x="3667" y="283"/>
                </a:lnTo>
                <a:lnTo>
                  <a:pt x="4125" y="321"/>
                </a:lnTo>
                <a:lnTo>
                  <a:pt x="4583" y="382"/>
                </a:lnTo>
                <a:lnTo>
                  <a:pt x="5042" y="338"/>
                </a:lnTo>
                <a:lnTo>
                  <a:pt x="5500" y="185"/>
                </a:lnTo>
                <a:lnTo>
                  <a:pt x="5958" y="99"/>
                </a:lnTo>
                <a:lnTo>
                  <a:pt x="6417" y="153"/>
                </a:lnTo>
                <a:lnTo>
                  <a:pt x="6875" y="113"/>
                </a:lnTo>
                <a:lnTo>
                  <a:pt x="7333" y="273"/>
                </a:lnTo>
                <a:lnTo>
                  <a:pt x="7792" y="436"/>
                </a:lnTo>
                <a:lnTo>
                  <a:pt x="8250" y="501"/>
                </a:lnTo>
                <a:lnTo>
                  <a:pt x="8708" y="360"/>
                </a:lnTo>
                <a:lnTo>
                  <a:pt x="9167" y="268"/>
                </a:lnTo>
                <a:lnTo>
                  <a:pt x="9625" y="129"/>
                </a:lnTo>
                <a:lnTo>
                  <a:pt x="10083" y="97"/>
                </a:lnTo>
                <a:lnTo>
                  <a:pt x="10542" y="205"/>
                </a:lnTo>
                <a:lnTo>
                  <a:pt x="11000" y="245"/>
                </a:lnTo>
              </a:path>
            </a:pathLst>
          </a:custGeom>
          <a:noFill/>
          <a:ln w="50800" cap="rnd">
            <a:solidFill>
              <a:srgbClr val="557B6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2527280" y="395387"/>
            <a:ext cx="1005840" cy="45811"/>
          </a:xfrm>
          <a:custGeom>
            <a:avLst/>
            <a:gdLst/>
            <a:ahLst/>
            <a:cxnLst/>
            <a:rect l="l" t="t" r="r" b="b"/>
            <a:pathLst>
              <a:path w="11000" h="501">
                <a:moveTo>
                  <a:pt x="0" y="327"/>
                </a:moveTo>
                <a:lnTo>
                  <a:pt x="458" y="354"/>
                </a:lnTo>
                <a:lnTo>
                  <a:pt x="917" y="449"/>
                </a:lnTo>
                <a:lnTo>
                  <a:pt x="1375" y="449"/>
                </a:lnTo>
                <a:lnTo>
                  <a:pt x="1833" y="208"/>
                </a:lnTo>
                <a:lnTo>
                  <a:pt x="2292" y="88"/>
                </a:lnTo>
                <a:lnTo>
                  <a:pt x="2750" y="0"/>
                </a:lnTo>
                <a:lnTo>
                  <a:pt x="3208" y="184"/>
                </a:lnTo>
                <a:lnTo>
                  <a:pt x="3667" y="283"/>
                </a:lnTo>
                <a:lnTo>
                  <a:pt x="4125" y="321"/>
                </a:lnTo>
                <a:lnTo>
                  <a:pt x="4583" y="382"/>
                </a:lnTo>
                <a:lnTo>
                  <a:pt x="5042" y="338"/>
                </a:lnTo>
                <a:lnTo>
                  <a:pt x="5500" y="185"/>
                </a:lnTo>
                <a:lnTo>
                  <a:pt x="5958" y="99"/>
                </a:lnTo>
                <a:lnTo>
                  <a:pt x="6417" y="153"/>
                </a:lnTo>
                <a:lnTo>
                  <a:pt x="6875" y="113"/>
                </a:lnTo>
                <a:lnTo>
                  <a:pt x="7333" y="273"/>
                </a:lnTo>
                <a:lnTo>
                  <a:pt x="7792" y="436"/>
                </a:lnTo>
                <a:lnTo>
                  <a:pt x="8250" y="501"/>
                </a:lnTo>
                <a:lnTo>
                  <a:pt x="8708" y="360"/>
                </a:lnTo>
                <a:lnTo>
                  <a:pt x="9167" y="268"/>
                </a:lnTo>
                <a:lnTo>
                  <a:pt x="9625" y="129"/>
                </a:lnTo>
                <a:lnTo>
                  <a:pt x="10083" y="97"/>
                </a:lnTo>
                <a:lnTo>
                  <a:pt x="10542" y="205"/>
                </a:lnTo>
                <a:lnTo>
                  <a:pt x="11000" y="245"/>
                </a:lnTo>
              </a:path>
            </a:pathLst>
          </a:custGeom>
          <a:noFill/>
          <a:ln w="10160" cap="rnd">
            <a:solidFill>
              <a:srgbClr val="557B6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title: What this deck cover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What this deck covers</a:t>
            </a:r>
          </a:p>
        </p:txBody>
      </p:sp>
      <p:sp>
        <p:nvSpPr>
          <p:cNvPr id="3" name="Freeform 2"/>
          <p:cNvSpPr/>
          <p:nvPr/>
        </p:nvSpPr>
        <p:spPr>
          <a:xfrm>
            <a:off x="6263640" y="1359804"/>
            <a:ext cx="2103120" cy="42245"/>
          </a:xfrm>
          <a:custGeom>
            <a:avLst/>
            <a:gdLst/>
            <a:ahLst/>
            <a:cxnLst/>
            <a:rect l="l" t="t" r="r" b="b"/>
            <a:pathLst>
              <a:path w="23000" h="462">
                <a:moveTo>
                  <a:pt x="0" y="167"/>
                </a:moveTo>
                <a:lnTo>
                  <a:pt x="958" y="419"/>
                </a:lnTo>
                <a:lnTo>
                  <a:pt x="1917" y="462"/>
                </a:lnTo>
                <a:lnTo>
                  <a:pt x="2875" y="294"/>
                </a:lnTo>
                <a:lnTo>
                  <a:pt x="3833" y="185"/>
                </a:lnTo>
                <a:lnTo>
                  <a:pt x="4792" y="63"/>
                </a:lnTo>
                <a:lnTo>
                  <a:pt x="5750" y="121"/>
                </a:lnTo>
                <a:lnTo>
                  <a:pt x="6708" y="59"/>
                </a:lnTo>
                <a:lnTo>
                  <a:pt x="7667" y="262"/>
                </a:lnTo>
                <a:lnTo>
                  <a:pt x="8625" y="391"/>
                </a:lnTo>
                <a:lnTo>
                  <a:pt x="9583" y="428"/>
                </a:lnTo>
                <a:lnTo>
                  <a:pt x="10542" y="367"/>
                </a:lnTo>
                <a:lnTo>
                  <a:pt x="11500" y="269"/>
                </a:lnTo>
                <a:lnTo>
                  <a:pt x="12458" y="0"/>
                </a:lnTo>
                <a:lnTo>
                  <a:pt x="13417" y="43"/>
                </a:lnTo>
                <a:lnTo>
                  <a:pt x="14375" y="211"/>
                </a:lnTo>
                <a:lnTo>
                  <a:pt x="15333" y="239"/>
                </a:lnTo>
                <a:lnTo>
                  <a:pt x="16292" y="326"/>
                </a:lnTo>
                <a:lnTo>
                  <a:pt x="17250" y="335"/>
                </a:lnTo>
                <a:lnTo>
                  <a:pt x="18208" y="328"/>
                </a:lnTo>
                <a:lnTo>
                  <a:pt x="19167" y="136"/>
                </a:lnTo>
                <a:lnTo>
                  <a:pt x="20125" y="51"/>
                </a:lnTo>
                <a:lnTo>
                  <a:pt x="21083" y="56"/>
                </a:lnTo>
                <a:lnTo>
                  <a:pt x="22042" y="123"/>
                </a:lnTo>
                <a:lnTo>
                  <a:pt x="23000" y="249"/>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263640" y="1376263"/>
            <a:ext cx="2103120" cy="42245"/>
          </a:xfrm>
          <a:custGeom>
            <a:avLst/>
            <a:gdLst/>
            <a:ahLst/>
            <a:cxnLst/>
            <a:rect l="l" t="t" r="r" b="b"/>
            <a:pathLst>
              <a:path w="23000" h="462">
                <a:moveTo>
                  <a:pt x="0" y="167"/>
                </a:moveTo>
                <a:lnTo>
                  <a:pt x="958" y="419"/>
                </a:lnTo>
                <a:lnTo>
                  <a:pt x="1917" y="462"/>
                </a:lnTo>
                <a:lnTo>
                  <a:pt x="2875" y="294"/>
                </a:lnTo>
                <a:lnTo>
                  <a:pt x="3833" y="185"/>
                </a:lnTo>
                <a:lnTo>
                  <a:pt x="4792" y="63"/>
                </a:lnTo>
                <a:lnTo>
                  <a:pt x="5750" y="121"/>
                </a:lnTo>
                <a:lnTo>
                  <a:pt x="6708" y="59"/>
                </a:lnTo>
                <a:lnTo>
                  <a:pt x="7667" y="262"/>
                </a:lnTo>
                <a:lnTo>
                  <a:pt x="8625" y="391"/>
                </a:lnTo>
                <a:lnTo>
                  <a:pt x="9583" y="428"/>
                </a:lnTo>
                <a:lnTo>
                  <a:pt x="10542" y="367"/>
                </a:lnTo>
                <a:lnTo>
                  <a:pt x="11500" y="269"/>
                </a:lnTo>
                <a:lnTo>
                  <a:pt x="12458" y="0"/>
                </a:lnTo>
                <a:lnTo>
                  <a:pt x="13417" y="43"/>
                </a:lnTo>
                <a:lnTo>
                  <a:pt x="14375" y="211"/>
                </a:lnTo>
                <a:lnTo>
                  <a:pt x="15333" y="239"/>
                </a:lnTo>
                <a:lnTo>
                  <a:pt x="16292" y="326"/>
                </a:lnTo>
                <a:lnTo>
                  <a:pt x="17250" y="335"/>
                </a:lnTo>
                <a:lnTo>
                  <a:pt x="18208" y="328"/>
                </a:lnTo>
                <a:lnTo>
                  <a:pt x="19167" y="136"/>
                </a:lnTo>
                <a:lnTo>
                  <a:pt x="20125" y="51"/>
                </a:lnTo>
                <a:lnTo>
                  <a:pt x="21083" y="56"/>
                </a:lnTo>
                <a:lnTo>
                  <a:pt x="22042" y="123"/>
                </a:lnTo>
                <a:lnTo>
                  <a:pt x="23000" y="249"/>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2"/>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2</a:t>
            </a:r>
          </a:p>
        </p:txBody>
      </p:sp>
      <p:sp>
        <p:nvSpPr>
          <p:cNvPr id="12" name="Rounded Rectangle 11"/>
          <p:cNvSpPr/>
          <p:nvPr/>
        </p:nvSpPr>
        <p:spPr>
          <a:xfrm>
            <a:off x="640080" y="1801368"/>
            <a:ext cx="6510528" cy="1645920"/>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5475" y="1805940"/>
            <a:ext cx="6501384" cy="1636319"/>
          </a:xfrm>
          <a:custGeom>
            <a:avLst/>
            <a:gdLst/>
            <a:ahLst/>
            <a:cxnLst/>
            <a:rect l="l" t="t" r="r" b="b"/>
            <a:pathLst>
              <a:path w="71100" h="17895">
                <a:moveTo>
                  <a:pt x="70957" y="8861"/>
                </a:moveTo>
                <a:lnTo>
                  <a:pt x="70885" y="11741"/>
                </a:lnTo>
                <a:lnTo>
                  <a:pt x="71055" y="12510"/>
                </a:lnTo>
                <a:lnTo>
                  <a:pt x="70830" y="13132"/>
                </a:lnTo>
                <a:lnTo>
                  <a:pt x="70682" y="13673"/>
                </a:lnTo>
                <a:lnTo>
                  <a:pt x="70581" y="14134"/>
                </a:lnTo>
                <a:lnTo>
                  <a:pt x="70188" y="14388"/>
                </a:lnTo>
                <a:lnTo>
                  <a:pt x="70059" y="14931"/>
                </a:lnTo>
                <a:lnTo>
                  <a:pt x="69776" y="15106"/>
                </a:lnTo>
                <a:lnTo>
                  <a:pt x="69537" y="15475"/>
                </a:lnTo>
                <a:lnTo>
                  <a:pt x="69029" y="15754"/>
                </a:lnTo>
                <a:lnTo>
                  <a:pt x="68728" y="15908"/>
                </a:lnTo>
                <a:lnTo>
                  <a:pt x="68080" y="16191"/>
                </a:lnTo>
                <a:lnTo>
                  <a:pt x="67509" y="16364"/>
                </a:lnTo>
                <a:lnTo>
                  <a:pt x="66982" y="16518"/>
                </a:lnTo>
                <a:lnTo>
                  <a:pt x="66420" y="16689"/>
                </a:lnTo>
                <a:lnTo>
                  <a:pt x="65869" y="16751"/>
                </a:lnTo>
                <a:lnTo>
                  <a:pt x="65085" y="16969"/>
                </a:lnTo>
                <a:lnTo>
                  <a:pt x="64285" y="17066"/>
                </a:lnTo>
                <a:lnTo>
                  <a:pt x="63448" y="17126"/>
                </a:lnTo>
                <a:lnTo>
                  <a:pt x="62301" y="17413"/>
                </a:lnTo>
                <a:lnTo>
                  <a:pt x="61474" y="17366"/>
                </a:lnTo>
                <a:lnTo>
                  <a:pt x="60297" y="17487"/>
                </a:lnTo>
                <a:lnTo>
                  <a:pt x="59169" y="17700"/>
                </a:lnTo>
                <a:lnTo>
                  <a:pt x="57820" y="17653"/>
                </a:lnTo>
                <a:lnTo>
                  <a:pt x="56077" y="17657"/>
                </a:lnTo>
                <a:lnTo>
                  <a:pt x="54488" y="17675"/>
                </a:lnTo>
                <a:lnTo>
                  <a:pt x="52512" y="17895"/>
                </a:lnTo>
                <a:lnTo>
                  <a:pt x="49821" y="17806"/>
                </a:lnTo>
                <a:lnTo>
                  <a:pt x="46463" y="17706"/>
                </a:lnTo>
                <a:lnTo>
                  <a:pt x="35553" y="17769"/>
                </a:lnTo>
                <a:lnTo>
                  <a:pt x="24578" y="17749"/>
                </a:lnTo>
                <a:lnTo>
                  <a:pt x="21178" y="17856"/>
                </a:lnTo>
                <a:lnTo>
                  <a:pt x="18620" y="17787"/>
                </a:lnTo>
                <a:lnTo>
                  <a:pt x="16561" y="17681"/>
                </a:lnTo>
                <a:lnTo>
                  <a:pt x="14890" y="17597"/>
                </a:lnTo>
                <a:lnTo>
                  <a:pt x="13407" y="17539"/>
                </a:lnTo>
                <a:lnTo>
                  <a:pt x="12100" y="17688"/>
                </a:lnTo>
                <a:lnTo>
                  <a:pt x="10768" y="17446"/>
                </a:lnTo>
                <a:lnTo>
                  <a:pt x="9609" y="17429"/>
                </a:lnTo>
                <a:lnTo>
                  <a:pt x="8766" y="17315"/>
                </a:lnTo>
                <a:lnTo>
                  <a:pt x="7692" y="17296"/>
                </a:lnTo>
                <a:lnTo>
                  <a:pt x="6892" y="17015"/>
                </a:lnTo>
                <a:lnTo>
                  <a:pt x="6082" y="16884"/>
                </a:lnTo>
                <a:lnTo>
                  <a:pt x="5410" y="16916"/>
                </a:lnTo>
                <a:lnTo>
                  <a:pt x="4571" y="16573"/>
                </a:lnTo>
                <a:lnTo>
                  <a:pt x="3988" y="16515"/>
                </a:lnTo>
                <a:lnTo>
                  <a:pt x="3460" y="16224"/>
                </a:lnTo>
                <a:lnTo>
                  <a:pt x="2845" y="16164"/>
                </a:lnTo>
                <a:lnTo>
                  <a:pt x="2399" y="15818"/>
                </a:lnTo>
                <a:lnTo>
                  <a:pt x="2083" y="15746"/>
                </a:lnTo>
                <a:lnTo>
                  <a:pt x="1731" y="15324"/>
                </a:lnTo>
                <a:lnTo>
                  <a:pt x="1292" y="15226"/>
                </a:lnTo>
                <a:lnTo>
                  <a:pt x="1124" y="14906"/>
                </a:lnTo>
                <a:lnTo>
                  <a:pt x="708" y="14614"/>
                </a:lnTo>
                <a:lnTo>
                  <a:pt x="620" y="14060"/>
                </a:lnTo>
                <a:lnTo>
                  <a:pt x="318" y="13630"/>
                </a:lnTo>
                <a:lnTo>
                  <a:pt x="138" y="13091"/>
                </a:lnTo>
                <a:lnTo>
                  <a:pt x="64" y="12438"/>
                </a:lnTo>
                <a:lnTo>
                  <a:pt x="0" y="11717"/>
                </a:lnTo>
                <a:lnTo>
                  <a:pt x="168" y="8958"/>
                </a:lnTo>
                <a:lnTo>
                  <a:pt x="35" y="6217"/>
                </a:lnTo>
                <a:lnTo>
                  <a:pt x="175" y="5459"/>
                </a:lnTo>
                <a:lnTo>
                  <a:pt x="332" y="4801"/>
                </a:lnTo>
                <a:lnTo>
                  <a:pt x="392" y="4184"/>
                </a:lnTo>
                <a:lnTo>
                  <a:pt x="539" y="3874"/>
                </a:lnTo>
                <a:lnTo>
                  <a:pt x="696" y="3434"/>
                </a:lnTo>
                <a:lnTo>
                  <a:pt x="1120" y="3012"/>
                </a:lnTo>
                <a:lnTo>
                  <a:pt x="1428" y="2811"/>
                </a:lnTo>
                <a:lnTo>
                  <a:pt x="1670" y="2456"/>
                </a:lnTo>
                <a:lnTo>
                  <a:pt x="1924" y="2138"/>
                </a:lnTo>
                <a:lnTo>
                  <a:pt x="2446" y="1961"/>
                </a:lnTo>
                <a:lnTo>
                  <a:pt x="2960" y="1685"/>
                </a:lnTo>
                <a:lnTo>
                  <a:pt x="3528" y="1488"/>
                </a:lnTo>
                <a:lnTo>
                  <a:pt x="4124" y="1448"/>
                </a:lnTo>
                <a:lnTo>
                  <a:pt x="4544" y="1283"/>
                </a:lnTo>
                <a:lnTo>
                  <a:pt x="5233" y="1057"/>
                </a:lnTo>
                <a:lnTo>
                  <a:pt x="6011" y="866"/>
                </a:lnTo>
                <a:lnTo>
                  <a:pt x="6737" y="698"/>
                </a:lnTo>
                <a:lnTo>
                  <a:pt x="7710" y="775"/>
                </a:lnTo>
                <a:lnTo>
                  <a:pt x="8697" y="494"/>
                </a:lnTo>
                <a:lnTo>
                  <a:pt x="9572" y="529"/>
                </a:lnTo>
                <a:lnTo>
                  <a:pt x="10902" y="448"/>
                </a:lnTo>
                <a:lnTo>
                  <a:pt x="12047" y="424"/>
                </a:lnTo>
                <a:lnTo>
                  <a:pt x="13404" y="132"/>
                </a:lnTo>
                <a:lnTo>
                  <a:pt x="14822" y="101"/>
                </a:lnTo>
                <a:lnTo>
                  <a:pt x="16545" y="262"/>
                </a:lnTo>
                <a:lnTo>
                  <a:pt x="18676" y="9"/>
                </a:lnTo>
                <a:lnTo>
                  <a:pt x="21209" y="0"/>
                </a:lnTo>
                <a:lnTo>
                  <a:pt x="24622" y="40"/>
                </a:lnTo>
                <a:lnTo>
                  <a:pt x="35532" y="85"/>
                </a:lnTo>
                <a:lnTo>
                  <a:pt x="46479" y="67"/>
                </a:lnTo>
                <a:lnTo>
                  <a:pt x="49938" y="162"/>
                </a:lnTo>
                <a:lnTo>
                  <a:pt x="52357" y="74"/>
                </a:lnTo>
                <a:lnTo>
                  <a:pt x="54550" y="110"/>
                </a:lnTo>
                <a:lnTo>
                  <a:pt x="56148" y="157"/>
                </a:lnTo>
                <a:lnTo>
                  <a:pt x="57637" y="328"/>
                </a:lnTo>
                <a:lnTo>
                  <a:pt x="59002" y="241"/>
                </a:lnTo>
                <a:lnTo>
                  <a:pt x="60398" y="446"/>
                </a:lnTo>
                <a:lnTo>
                  <a:pt x="61482" y="580"/>
                </a:lnTo>
                <a:lnTo>
                  <a:pt x="62444" y="494"/>
                </a:lnTo>
                <a:lnTo>
                  <a:pt x="63242" y="717"/>
                </a:lnTo>
                <a:lnTo>
                  <a:pt x="64251" y="715"/>
                </a:lnTo>
                <a:lnTo>
                  <a:pt x="65056" y="927"/>
                </a:lnTo>
                <a:lnTo>
                  <a:pt x="65826" y="1127"/>
                </a:lnTo>
                <a:lnTo>
                  <a:pt x="66405" y="1245"/>
                </a:lnTo>
                <a:lnTo>
                  <a:pt x="67006" y="1414"/>
                </a:lnTo>
                <a:lnTo>
                  <a:pt x="67529" y="1528"/>
                </a:lnTo>
                <a:lnTo>
                  <a:pt x="68151" y="1864"/>
                </a:lnTo>
                <a:lnTo>
                  <a:pt x="68633" y="2051"/>
                </a:lnTo>
                <a:lnTo>
                  <a:pt x="69024" y="2158"/>
                </a:lnTo>
                <a:lnTo>
                  <a:pt x="69304" y="2375"/>
                </a:lnTo>
                <a:lnTo>
                  <a:pt x="69855" y="2681"/>
                </a:lnTo>
                <a:lnTo>
                  <a:pt x="70152" y="3014"/>
                </a:lnTo>
                <a:lnTo>
                  <a:pt x="70405" y="3365"/>
                </a:lnTo>
                <a:lnTo>
                  <a:pt x="70487" y="3851"/>
                </a:lnTo>
                <a:lnTo>
                  <a:pt x="70801" y="4265"/>
                </a:lnTo>
                <a:lnTo>
                  <a:pt x="70748" y="4805"/>
                </a:lnTo>
                <a:lnTo>
                  <a:pt x="71068" y="5363"/>
                </a:lnTo>
                <a:lnTo>
                  <a:pt x="71100" y="6191"/>
                </a:lnTo>
                <a:lnTo>
                  <a:pt x="70936" y="9050"/>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50230" y="1802100"/>
            <a:ext cx="6493977" cy="1639428"/>
          </a:xfrm>
          <a:custGeom>
            <a:avLst/>
            <a:gdLst/>
            <a:ahLst/>
            <a:cxnLst/>
            <a:rect l="l" t="t" r="r" b="b"/>
            <a:pathLst>
              <a:path w="71019" h="17929">
                <a:moveTo>
                  <a:pt x="70998" y="8949"/>
                </a:moveTo>
                <a:lnTo>
                  <a:pt x="70896" y="11601"/>
                </a:lnTo>
                <a:lnTo>
                  <a:pt x="70811" y="12664"/>
                </a:lnTo>
                <a:lnTo>
                  <a:pt x="70786" y="13313"/>
                </a:lnTo>
                <a:lnTo>
                  <a:pt x="70727" y="13644"/>
                </a:lnTo>
                <a:lnTo>
                  <a:pt x="70523" y="14266"/>
                </a:lnTo>
                <a:lnTo>
                  <a:pt x="70316" y="14551"/>
                </a:lnTo>
                <a:lnTo>
                  <a:pt x="69889" y="14846"/>
                </a:lnTo>
                <a:lnTo>
                  <a:pt x="69743" y="15129"/>
                </a:lnTo>
                <a:lnTo>
                  <a:pt x="69346" y="15463"/>
                </a:lnTo>
                <a:lnTo>
                  <a:pt x="69022" y="15706"/>
                </a:lnTo>
                <a:lnTo>
                  <a:pt x="68524" y="15917"/>
                </a:lnTo>
                <a:lnTo>
                  <a:pt x="68177" y="16267"/>
                </a:lnTo>
                <a:lnTo>
                  <a:pt x="67544" y="16463"/>
                </a:lnTo>
                <a:lnTo>
                  <a:pt x="66903" y="16447"/>
                </a:lnTo>
                <a:lnTo>
                  <a:pt x="66346" y="16793"/>
                </a:lnTo>
                <a:lnTo>
                  <a:pt x="65714" y="16982"/>
                </a:lnTo>
                <a:lnTo>
                  <a:pt x="65093" y="16972"/>
                </a:lnTo>
                <a:lnTo>
                  <a:pt x="64141" y="17249"/>
                </a:lnTo>
                <a:lnTo>
                  <a:pt x="63223" y="17254"/>
                </a:lnTo>
                <a:lnTo>
                  <a:pt x="62394" y="17425"/>
                </a:lnTo>
                <a:lnTo>
                  <a:pt x="61272" y="17541"/>
                </a:lnTo>
                <a:lnTo>
                  <a:pt x="60344" y="17616"/>
                </a:lnTo>
                <a:lnTo>
                  <a:pt x="59013" y="17631"/>
                </a:lnTo>
                <a:lnTo>
                  <a:pt x="57671" y="17722"/>
                </a:lnTo>
                <a:lnTo>
                  <a:pt x="56240" y="17787"/>
                </a:lnTo>
                <a:lnTo>
                  <a:pt x="54469" y="17827"/>
                </a:lnTo>
                <a:lnTo>
                  <a:pt x="52295" y="17844"/>
                </a:lnTo>
                <a:lnTo>
                  <a:pt x="49842" y="17755"/>
                </a:lnTo>
                <a:lnTo>
                  <a:pt x="46497" y="17781"/>
                </a:lnTo>
                <a:lnTo>
                  <a:pt x="35601" y="17757"/>
                </a:lnTo>
                <a:lnTo>
                  <a:pt x="24521" y="17929"/>
                </a:lnTo>
                <a:lnTo>
                  <a:pt x="21082" y="17923"/>
                </a:lnTo>
                <a:lnTo>
                  <a:pt x="18512" y="17806"/>
                </a:lnTo>
                <a:lnTo>
                  <a:pt x="16509" y="17831"/>
                </a:lnTo>
                <a:lnTo>
                  <a:pt x="14902" y="17705"/>
                </a:lnTo>
                <a:lnTo>
                  <a:pt x="13287" y="17625"/>
                </a:lnTo>
                <a:lnTo>
                  <a:pt x="12028" y="17703"/>
                </a:lnTo>
                <a:lnTo>
                  <a:pt x="10625" y="17490"/>
                </a:lnTo>
                <a:lnTo>
                  <a:pt x="9604" y="17557"/>
                </a:lnTo>
                <a:lnTo>
                  <a:pt x="8522" y="17435"/>
                </a:lnTo>
                <a:lnTo>
                  <a:pt x="7623" y="17288"/>
                </a:lnTo>
                <a:lnTo>
                  <a:pt x="6853" y="17045"/>
                </a:lnTo>
                <a:lnTo>
                  <a:pt x="6034" y="16994"/>
                </a:lnTo>
                <a:lnTo>
                  <a:pt x="5224" y="16809"/>
                </a:lnTo>
                <a:lnTo>
                  <a:pt x="4543" y="16709"/>
                </a:lnTo>
                <a:lnTo>
                  <a:pt x="4081" y="16608"/>
                </a:lnTo>
                <a:lnTo>
                  <a:pt x="3519" y="16265"/>
                </a:lnTo>
                <a:lnTo>
                  <a:pt x="2899" y="16187"/>
                </a:lnTo>
                <a:lnTo>
                  <a:pt x="2473" y="15863"/>
                </a:lnTo>
                <a:lnTo>
                  <a:pt x="1882" y="15609"/>
                </a:lnTo>
                <a:lnTo>
                  <a:pt x="1560" y="15558"/>
                </a:lnTo>
                <a:lnTo>
                  <a:pt x="1259" y="15215"/>
                </a:lnTo>
                <a:lnTo>
                  <a:pt x="1013" y="14785"/>
                </a:lnTo>
                <a:lnTo>
                  <a:pt x="645" y="14464"/>
                </a:lnTo>
                <a:lnTo>
                  <a:pt x="513" y="14134"/>
                </a:lnTo>
                <a:lnTo>
                  <a:pt x="429" y="13675"/>
                </a:lnTo>
                <a:lnTo>
                  <a:pt x="130" y="13158"/>
                </a:lnTo>
                <a:lnTo>
                  <a:pt x="53" y="12557"/>
                </a:lnTo>
                <a:lnTo>
                  <a:pt x="121" y="11834"/>
                </a:lnTo>
                <a:lnTo>
                  <a:pt x="60" y="8911"/>
                </a:lnTo>
                <a:lnTo>
                  <a:pt x="0" y="6186"/>
                </a:lnTo>
                <a:lnTo>
                  <a:pt x="52" y="5500"/>
                </a:lnTo>
                <a:lnTo>
                  <a:pt x="107" y="4757"/>
                </a:lnTo>
                <a:lnTo>
                  <a:pt x="352" y="4295"/>
                </a:lnTo>
                <a:lnTo>
                  <a:pt x="387" y="3737"/>
                </a:lnTo>
                <a:lnTo>
                  <a:pt x="683" y="3424"/>
                </a:lnTo>
                <a:lnTo>
                  <a:pt x="1024" y="3168"/>
                </a:lnTo>
                <a:lnTo>
                  <a:pt x="1209" y="2818"/>
                </a:lnTo>
                <a:lnTo>
                  <a:pt x="1631" y="2455"/>
                </a:lnTo>
                <a:lnTo>
                  <a:pt x="1900" y="2181"/>
                </a:lnTo>
                <a:lnTo>
                  <a:pt x="2536" y="1921"/>
                </a:lnTo>
                <a:lnTo>
                  <a:pt x="2780" y="1916"/>
                </a:lnTo>
                <a:lnTo>
                  <a:pt x="3316" y="1675"/>
                </a:lnTo>
                <a:lnTo>
                  <a:pt x="3910" y="1313"/>
                </a:lnTo>
                <a:lnTo>
                  <a:pt x="4702" y="1145"/>
                </a:lnTo>
                <a:lnTo>
                  <a:pt x="5309" y="1113"/>
                </a:lnTo>
                <a:lnTo>
                  <a:pt x="6083" y="969"/>
                </a:lnTo>
                <a:lnTo>
                  <a:pt x="6718" y="752"/>
                </a:lnTo>
                <a:lnTo>
                  <a:pt x="7639" y="746"/>
                </a:lnTo>
                <a:lnTo>
                  <a:pt x="8699" y="627"/>
                </a:lnTo>
                <a:lnTo>
                  <a:pt x="9648" y="542"/>
                </a:lnTo>
                <a:lnTo>
                  <a:pt x="10773" y="398"/>
                </a:lnTo>
                <a:lnTo>
                  <a:pt x="11845" y="250"/>
                </a:lnTo>
                <a:lnTo>
                  <a:pt x="13194" y="315"/>
                </a:lnTo>
                <a:lnTo>
                  <a:pt x="14886" y="254"/>
                </a:lnTo>
                <a:lnTo>
                  <a:pt x="16638" y="224"/>
                </a:lnTo>
                <a:lnTo>
                  <a:pt x="18702" y="87"/>
                </a:lnTo>
                <a:lnTo>
                  <a:pt x="21056" y="150"/>
                </a:lnTo>
                <a:lnTo>
                  <a:pt x="24480" y="80"/>
                </a:lnTo>
                <a:lnTo>
                  <a:pt x="35528" y="140"/>
                </a:lnTo>
                <a:lnTo>
                  <a:pt x="46369" y="0"/>
                </a:lnTo>
                <a:lnTo>
                  <a:pt x="49804" y="126"/>
                </a:lnTo>
                <a:lnTo>
                  <a:pt x="52357" y="147"/>
                </a:lnTo>
                <a:lnTo>
                  <a:pt x="54335" y="264"/>
                </a:lnTo>
                <a:lnTo>
                  <a:pt x="56125" y="209"/>
                </a:lnTo>
                <a:lnTo>
                  <a:pt x="57583" y="186"/>
                </a:lnTo>
                <a:lnTo>
                  <a:pt x="58943" y="339"/>
                </a:lnTo>
                <a:lnTo>
                  <a:pt x="60209" y="355"/>
                </a:lnTo>
                <a:lnTo>
                  <a:pt x="61289" y="603"/>
                </a:lnTo>
                <a:lnTo>
                  <a:pt x="62251" y="505"/>
                </a:lnTo>
                <a:lnTo>
                  <a:pt x="63438" y="659"/>
                </a:lnTo>
                <a:lnTo>
                  <a:pt x="64283" y="769"/>
                </a:lnTo>
                <a:lnTo>
                  <a:pt x="65086" y="854"/>
                </a:lnTo>
                <a:lnTo>
                  <a:pt x="65668" y="1192"/>
                </a:lnTo>
                <a:lnTo>
                  <a:pt x="66365" y="1332"/>
                </a:lnTo>
                <a:lnTo>
                  <a:pt x="67088" y="1437"/>
                </a:lnTo>
                <a:lnTo>
                  <a:pt x="67679" y="1549"/>
                </a:lnTo>
                <a:lnTo>
                  <a:pt x="68042" y="1784"/>
                </a:lnTo>
                <a:lnTo>
                  <a:pt x="68551" y="1992"/>
                </a:lnTo>
                <a:lnTo>
                  <a:pt x="69037" y="2224"/>
                </a:lnTo>
                <a:lnTo>
                  <a:pt x="69450" y="2531"/>
                </a:lnTo>
                <a:lnTo>
                  <a:pt x="69593" y="2730"/>
                </a:lnTo>
                <a:lnTo>
                  <a:pt x="69894" y="3116"/>
                </a:lnTo>
                <a:lnTo>
                  <a:pt x="70281" y="3403"/>
                </a:lnTo>
                <a:lnTo>
                  <a:pt x="70476" y="3744"/>
                </a:lnTo>
                <a:lnTo>
                  <a:pt x="70705" y="4286"/>
                </a:lnTo>
                <a:lnTo>
                  <a:pt x="70809" y="4747"/>
                </a:lnTo>
                <a:lnTo>
                  <a:pt x="70844" y="5390"/>
                </a:lnTo>
                <a:lnTo>
                  <a:pt x="71019" y="6248"/>
                </a:lnTo>
                <a:lnTo>
                  <a:pt x="70919" y="9059"/>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7024421" y="3057571"/>
            <a:ext cx="86685" cy="133320"/>
          </a:xfrm>
          <a:custGeom>
            <a:avLst/>
            <a:gdLst/>
            <a:ahLst/>
            <a:cxnLst/>
            <a:rect l="l" t="t" r="r" b="b"/>
            <a:pathLst>
              <a:path w="948" h="1458">
                <a:moveTo>
                  <a:pt x="948" y="0"/>
                </a:moveTo>
                <a:lnTo>
                  <a:pt x="771" y="433"/>
                </a:lnTo>
                <a:lnTo>
                  <a:pt x="555" y="813"/>
                </a:lnTo>
                <a:lnTo>
                  <a:pt x="298" y="1152"/>
                </a:lnTo>
                <a:lnTo>
                  <a:pt x="0" y="1458"/>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6047384" y="3381177"/>
            <a:ext cx="392186" cy="33101"/>
          </a:xfrm>
          <a:custGeom>
            <a:avLst/>
            <a:gdLst/>
            <a:ahLst/>
            <a:cxnLst/>
            <a:rect l="l" t="t" r="r" b="b"/>
            <a:pathLst>
              <a:path w="4289" h="362">
                <a:moveTo>
                  <a:pt x="4289" y="0"/>
                </a:moveTo>
                <a:lnTo>
                  <a:pt x="3354" y="106"/>
                </a:lnTo>
                <a:lnTo>
                  <a:pt x="2335" y="202"/>
                </a:lnTo>
                <a:lnTo>
                  <a:pt x="1223" y="288"/>
                </a:lnTo>
                <a:lnTo>
                  <a:pt x="0" y="36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631472" y="3407512"/>
            <a:ext cx="533004" cy="21671"/>
          </a:xfrm>
          <a:custGeom>
            <a:avLst/>
            <a:gdLst/>
            <a:ahLst/>
            <a:cxnLst/>
            <a:rect l="l" t="t" r="r" b="b"/>
            <a:pathLst>
              <a:path w="5829" h="237">
                <a:moveTo>
                  <a:pt x="5829" y="237"/>
                </a:moveTo>
                <a:lnTo>
                  <a:pt x="4096" y="193"/>
                </a:lnTo>
                <a:lnTo>
                  <a:pt x="2577" y="139"/>
                </a:lnTo>
                <a:lnTo>
                  <a:pt x="1223" y="74"/>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39018" y="3162910"/>
            <a:ext cx="132497" cy="98207"/>
          </a:xfrm>
          <a:custGeom>
            <a:avLst/>
            <a:gdLst/>
            <a:ahLst/>
            <a:cxnLst/>
            <a:rect l="l" t="t" r="r" b="b"/>
            <a:pathLst>
              <a:path w="1449" h="1074">
                <a:moveTo>
                  <a:pt x="1449" y="1074"/>
                </a:moveTo>
                <a:lnTo>
                  <a:pt x="1022" y="840"/>
                </a:lnTo>
                <a:lnTo>
                  <a:pt x="639" y="585"/>
                </a:lnTo>
                <a:lnTo>
                  <a:pt x="298" y="306"/>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79582" y="2057766"/>
            <a:ext cx="86685" cy="133320"/>
          </a:xfrm>
          <a:custGeom>
            <a:avLst/>
            <a:gdLst/>
            <a:ahLst/>
            <a:cxnLst/>
            <a:rect l="l" t="t" r="r" b="b"/>
            <a:pathLst>
              <a:path w="948" h="1458">
                <a:moveTo>
                  <a:pt x="0" y="1458"/>
                </a:moveTo>
                <a:lnTo>
                  <a:pt x="177" y="1025"/>
                </a:lnTo>
                <a:lnTo>
                  <a:pt x="393" y="645"/>
                </a:lnTo>
                <a:lnTo>
                  <a:pt x="650" y="306"/>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351117" y="1834378"/>
            <a:ext cx="392186" cy="33101"/>
          </a:xfrm>
          <a:custGeom>
            <a:avLst/>
            <a:gdLst/>
            <a:ahLst/>
            <a:cxnLst/>
            <a:rect l="l" t="t" r="r" b="b"/>
            <a:pathLst>
              <a:path w="4289" h="362">
                <a:moveTo>
                  <a:pt x="0" y="362"/>
                </a:moveTo>
                <a:lnTo>
                  <a:pt x="935" y="256"/>
                </a:lnTo>
                <a:lnTo>
                  <a:pt x="1954" y="160"/>
                </a:lnTo>
                <a:lnTo>
                  <a:pt x="3066" y="74"/>
                </a:lnTo>
                <a:lnTo>
                  <a:pt x="428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626212" y="1819473"/>
            <a:ext cx="533004" cy="21671"/>
          </a:xfrm>
          <a:custGeom>
            <a:avLst/>
            <a:gdLst/>
            <a:ahLst/>
            <a:cxnLst/>
            <a:rect l="l" t="t" r="r" b="b"/>
            <a:pathLst>
              <a:path w="5829" h="237">
                <a:moveTo>
                  <a:pt x="0" y="0"/>
                </a:moveTo>
                <a:lnTo>
                  <a:pt x="1733" y="44"/>
                </a:lnTo>
                <a:lnTo>
                  <a:pt x="3252" y="98"/>
                </a:lnTo>
                <a:lnTo>
                  <a:pt x="4606" y="163"/>
                </a:lnTo>
                <a:lnTo>
                  <a:pt x="5829" y="23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919173" y="1987540"/>
            <a:ext cx="132497" cy="98207"/>
          </a:xfrm>
          <a:custGeom>
            <a:avLst/>
            <a:gdLst/>
            <a:ahLst/>
            <a:cxnLst/>
            <a:rect l="l" t="t" r="r" b="b"/>
            <a:pathLst>
              <a:path w="1449" h="1074">
                <a:moveTo>
                  <a:pt x="0" y="0"/>
                </a:moveTo>
                <a:lnTo>
                  <a:pt x="427" y="234"/>
                </a:lnTo>
                <a:lnTo>
                  <a:pt x="810" y="489"/>
                </a:lnTo>
                <a:lnTo>
                  <a:pt x="1151" y="768"/>
                </a:lnTo>
                <a:lnTo>
                  <a:pt x="1449" y="107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1"/>
          <p:cNvSpPr txBox="1"/>
          <p:nvPr/>
        </p:nvSpPr>
        <p:spPr>
          <a:xfrm>
            <a:off x="914400" y="2094055"/>
            <a:ext cx="420624" cy="411321"/>
          </a:xfrm>
          <a:prstGeom prst="rect">
            <a:avLst/>
          </a:prstGeom>
          <a:noFill/>
        </p:spPr>
        <p:txBody>
          <a:bodyPr wrap="none" lIns="0" rIns="0" tIns="0" bIns="0" anchor="t">
            <a:noAutofit/>
          </a:bodyPr>
          <a:lstStyle/>
          <a:p>
            <a:pPr algn="ctr">
              <a:lnSpc>
                <a:spcPts val="2698"/>
              </a:lnSpc>
              <a:spcBef>
                <a:spcPts val="0"/>
              </a:spcBef>
              <a:spcAft>
                <a:spcPts val="0"/>
              </a:spcAft>
            </a:pPr>
            <a:r>
              <a:rPr sz="2125" b="1">
                <a:solidFill>
                  <a:srgbClr val="4E7892"/>
                </a:solidFill>
                <a:latin typeface="Trebuchet MS"/>
              </a:rPr>
              <a:t>1</a:t>
            </a:r>
          </a:p>
        </p:txBody>
      </p:sp>
      <p:sp>
        <p:nvSpPr>
          <p:cNvPr id="24" name="body: Motivation"/>
          <p:cNvSpPr txBox="1"/>
          <p:nvPr/>
        </p:nvSpPr>
        <p:spPr>
          <a:xfrm>
            <a:off x="1554480" y="1966214"/>
            <a:ext cx="5266944" cy="465836"/>
          </a:xfrm>
          <a:prstGeom prst="rect">
            <a:avLst/>
          </a:prstGeom>
          <a:noFill/>
        </p:spPr>
        <p:txBody>
          <a:bodyPr wrap="none" lIns="0" rIns="0" tIns="0" bIns="0" anchor="t">
            <a:noAutofit/>
          </a:bodyPr>
          <a:lstStyle/>
          <a:p>
            <a:pPr algn="ctr">
              <a:lnSpc>
                <a:spcPts val="3128"/>
              </a:lnSpc>
              <a:spcBef>
                <a:spcPts val="0"/>
              </a:spcBef>
              <a:spcAft>
                <a:spcPts val="0"/>
              </a:spcAft>
            </a:pPr>
            <a:r>
              <a:rPr sz="2300" b="1">
                <a:solidFill>
                  <a:srgbClr val="4E7892"/>
                </a:solidFill>
                <a:latin typeface="Chalkboard SE"/>
              </a:rPr>
              <a:t>Motivation</a:t>
            </a:r>
          </a:p>
        </p:txBody>
      </p:sp>
      <p:sp>
        <p:nvSpPr>
          <p:cNvPr id="25" name="body: Incidents are inevitable; history is the asset"/>
          <p:cNvSpPr txBox="1"/>
          <p:nvPr/>
        </p:nvSpPr>
        <p:spPr>
          <a:xfrm>
            <a:off x="1508760" y="2748787"/>
            <a:ext cx="5321808" cy="391160"/>
          </a:xfrm>
          <a:prstGeom prst="rect">
            <a:avLst/>
          </a:prstGeom>
          <a:noFill/>
        </p:spPr>
        <p:txBody>
          <a:bodyPr wrap="none" lIns="0" rIns="0" tIns="0" bIns="0" anchor="t">
            <a:noAutofit/>
          </a:bodyPr>
          <a:lstStyle/>
          <a:p>
            <a:pPr algn="ctr">
              <a:lnSpc>
                <a:spcPts val="2540"/>
              </a:lnSpc>
              <a:spcBef>
                <a:spcPts val="0"/>
              </a:spcBef>
              <a:spcAft>
                <a:spcPts val="0"/>
              </a:spcAft>
            </a:pPr>
            <a:r>
              <a:rPr sz="2000" b="0">
                <a:solidFill>
                  <a:srgbClr val="293E46"/>
                </a:solidFill>
                <a:latin typeface="Trebuchet MS"/>
              </a:rPr>
              <a:t>Incidents are inevitable; history is the asset</a:t>
            </a:r>
          </a:p>
        </p:txBody>
      </p:sp>
      <p:sp>
        <p:nvSpPr>
          <p:cNvPr id="26" name="Rounded Rectangle 25"/>
          <p:cNvSpPr/>
          <p:nvPr/>
        </p:nvSpPr>
        <p:spPr>
          <a:xfrm>
            <a:off x="7479792" y="1801368"/>
            <a:ext cx="6510528" cy="1645920"/>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7484913" y="1804751"/>
            <a:ext cx="6503213" cy="1640708"/>
          </a:xfrm>
          <a:custGeom>
            <a:avLst/>
            <a:gdLst/>
            <a:ahLst/>
            <a:cxnLst/>
            <a:rect l="l" t="t" r="r" b="b"/>
            <a:pathLst>
              <a:path w="71120" h="17943">
                <a:moveTo>
                  <a:pt x="70985" y="9019"/>
                </a:moveTo>
                <a:lnTo>
                  <a:pt x="71120" y="11614"/>
                </a:lnTo>
                <a:lnTo>
                  <a:pt x="71055" y="12452"/>
                </a:lnTo>
                <a:lnTo>
                  <a:pt x="70910" y="13310"/>
                </a:lnTo>
                <a:lnTo>
                  <a:pt x="70790" y="13770"/>
                </a:lnTo>
                <a:lnTo>
                  <a:pt x="70597" y="14194"/>
                </a:lnTo>
                <a:lnTo>
                  <a:pt x="70428" y="14622"/>
                </a:lnTo>
                <a:lnTo>
                  <a:pt x="70078" y="14862"/>
                </a:lnTo>
                <a:lnTo>
                  <a:pt x="69640" y="15270"/>
                </a:lnTo>
                <a:lnTo>
                  <a:pt x="69400" y="15381"/>
                </a:lnTo>
                <a:lnTo>
                  <a:pt x="69046" y="15639"/>
                </a:lnTo>
                <a:lnTo>
                  <a:pt x="68491" y="15848"/>
                </a:lnTo>
                <a:lnTo>
                  <a:pt x="68136" y="16230"/>
                </a:lnTo>
                <a:lnTo>
                  <a:pt x="67508" y="16376"/>
                </a:lnTo>
                <a:lnTo>
                  <a:pt x="67017" y="16438"/>
                </a:lnTo>
                <a:lnTo>
                  <a:pt x="66551" y="16738"/>
                </a:lnTo>
                <a:lnTo>
                  <a:pt x="65778" y="16852"/>
                </a:lnTo>
                <a:lnTo>
                  <a:pt x="65044" y="17059"/>
                </a:lnTo>
                <a:lnTo>
                  <a:pt x="64219" y="17214"/>
                </a:lnTo>
                <a:lnTo>
                  <a:pt x="63301" y="17145"/>
                </a:lnTo>
                <a:lnTo>
                  <a:pt x="62366" y="17297"/>
                </a:lnTo>
                <a:lnTo>
                  <a:pt x="61384" y="17377"/>
                </a:lnTo>
                <a:lnTo>
                  <a:pt x="60385" y="17573"/>
                </a:lnTo>
                <a:lnTo>
                  <a:pt x="59189" y="17654"/>
                </a:lnTo>
                <a:lnTo>
                  <a:pt x="57698" y="17626"/>
                </a:lnTo>
                <a:lnTo>
                  <a:pt x="56259" y="17667"/>
                </a:lnTo>
                <a:lnTo>
                  <a:pt x="54513" y="17871"/>
                </a:lnTo>
                <a:lnTo>
                  <a:pt x="52552" y="17875"/>
                </a:lnTo>
                <a:lnTo>
                  <a:pt x="50038" y="17943"/>
                </a:lnTo>
                <a:lnTo>
                  <a:pt x="46567" y="17769"/>
                </a:lnTo>
                <a:lnTo>
                  <a:pt x="35579" y="17926"/>
                </a:lnTo>
                <a:lnTo>
                  <a:pt x="24734" y="17847"/>
                </a:lnTo>
                <a:lnTo>
                  <a:pt x="21263" y="17744"/>
                </a:lnTo>
                <a:lnTo>
                  <a:pt x="18566" y="17912"/>
                </a:lnTo>
                <a:lnTo>
                  <a:pt x="16490" y="17647"/>
                </a:lnTo>
                <a:lnTo>
                  <a:pt x="14759" y="17702"/>
                </a:lnTo>
                <a:lnTo>
                  <a:pt x="13354" y="17558"/>
                </a:lnTo>
                <a:lnTo>
                  <a:pt x="11970" y="17644"/>
                </a:lnTo>
                <a:lnTo>
                  <a:pt x="10829" y="17555"/>
                </a:lnTo>
                <a:lnTo>
                  <a:pt x="9577" y="17501"/>
                </a:lnTo>
                <a:lnTo>
                  <a:pt x="8760" y="17271"/>
                </a:lnTo>
                <a:lnTo>
                  <a:pt x="7592" y="17304"/>
                </a:lnTo>
                <a:lnTo>
                  <a:pt x="6849" y="17100"/>
                </a:lnTo>
                <a:lnTo>
                  <a:pt x="6065" y="16989"/>
                </a:lnTo>
                <a:lnTo>
                  <a:pt x="5202" y="16916"/>
                </a:lnTo>
                <a:lnTo>
                  <a:pt x="4731" y="16638"/>
                </a:lnTo>
                <a:lnTo>
                  <a:pt x="4038" y="16580"/>
                </a:lnTo>
                <a:lnTo>
                  <a:pt x="3367" y="16385"/>
                </a:lnTo>
                <a:lnTo>
                  <a:pt x="3053" y="16083"/>
                </a:lnTo>
                <a:lnTo>
                  <a:pt x="2581" y="15894"/>
                </a:lnTo>
                <a:lnTo>
                  <a:pt x="2064" y="15783"/>
                </a:lnTo>
                <a:lnTo>
                  <a:pt x="1711" y="15359"/>
                </a:lnTo>
                <a:lnTo>
                  <a:pt x="1247" y="15130"/>
                </a:lnTo>
                <a:lnTo>
                  <a:pt x="983" y="14775"/>
                </a:lnTo>
                <a:lnTo>
                  <a:pt x="778" y="14415"/>
                </a:lnTo>
                <a:lnTo>
                  <a:pt x="521" y="14204"/>
                </a:lnTo>
                <a:lnTo>
                  <a:pt x="478" y="13695"/>
                </a:lnTo>
                <a:lnTo>
                  <a:pt x="209" y="13133"/>
                </a:lnTo>
                <a:lnTo>
                  <a:pt x="179" y="12618"/>
                </a:lnTo>
                <a:lnTo>
                  <a:pt x="0" y="11671"/>
                </a:lnTo>
                <a:lnTo>
                  <a:pt x="190" y="9038"/>
                </a:lnTo>
                <a:lnTo>
                  <a:pt x="205" y="6239"/>
                </a:lnTo>
                <a:lnTo>
                  <a:pt x="145" y="5417"/>
                </a:lnTo>
                <a:lnTo>
                  <a:pt x="277" y="4807"/>
                </a:lnTo>
                <a:lnTo>
                  <a:pt x="284" y="4255"/>
                </a:lnTo>
                <a:lnTo>
                  <a:pt x="503" y="3738"/>
                </a:lnTo>
                <a:lnTo>
                  <a:pt x="735" y="3488"/>
                </a:lnTo>
                <a:lnTo>
                  <a:pt x="969" y="3147"/>
                </a:lnTo>
                <a:lnTo>
                  <a:pt x="1259" y="2718"/>
                </a:lnTo>
                <a:lnTo>
                  <a:pt x="1539" y="2426"/>
                </a:lnTo>
                <a:lnTo>
                  <a:pt x="1930" y="2343"/>
                </a:lnTo>
                <a:lnTo>
                  <a:pt x="2430" y="1880"/>
                </a:lnTo>
                <a:lnTo>
                  <a:pt x="2825" y="1886"/>
                </a:lnTo>
                <a:lnTo>
                  <a:pt x="3376" y="1468"/>
                </a:lnTo>
                <a:lnTo>
                  <a:pt x="3954" y="1363"/>
                </a:lnTo>
                <a:lnTo>
                  <a:pt x="4575" y="1326"/>
                </a:lnTo>
                <a:lnTo>
                  <a:pt x="5283" y="1176"/>
                </a:lnTo>
                <a:lnTo>
                  <a:pt x="6076" y="836"/>
                </a:lnTo>
                <a:lnTo>
                  <a:pt x="6842" y="903"/>
                </a:lnTo>
                <a:lnTo>
                  <a:pt x="7738" y="765"/>
                </a:lnTo>
                <a:lnTo>
                  <a:pt x="8556" y="501"/>
                </a:lnTo>
                <a:lnTo>
                  <a:pt x="9792" y="435"/>
                </a:lnTo>
                <a:lnTo>
                  <a:pt x="10765" y="298"/>
                </a:lnTo>
                <a:lnTo>
                  <a:pt x="12029" y="433"/>
                </a:lnTo>
                <a:lnTo>
                  <a:pt x="13308" y="367"/>
                </a:lnTo>
                <a:lnTo>
                  <a:pt x="14769" y="175"/>
                </a:lnTo>
                <a:lnTo>
                  <a:pt x="16531" y="54"/>
                </a:lnTo>
                <a:lnTo>
                  <a:pt x="18693" y="169"/>
                </a:lnTo>
                <a:lnTo>
                  <a:pt x="21084" y="119"/>
                </a:lnTo>
                <a:lnTo>
                  <a:pt x="24683" y="0"/>
                </a:lnTo>
                <a:lnTo>
                  <a:pt x="35439" y="196"/>
                </a:lnTo>
                <a:lnTo>
                  <a:pt x="46340" y="94"/>
                </a:lnTo>
                <a:lnTo>
                  <a:pt x="49840" y="173"/>
                </a:lnTo>
                <a:lnTo>
                  <a:pt x="52426" y="131"/>
                </a:lnTo>
                <a:lnTo>
                  <a:pt x="54400" y="55"/>
                </a:lnTo>
                <a:lnTo>
                  <a:pt x="56203" y="209"/>
                </a:lnTo>
                <a:lnTo>
                  <a:pt x="57701" y="326"/>
                </a:lnTo>
                <a:lnTo>
                  <a:pt x="58970" y="262"/>
                </a:lnTo>
                <a:lnTo>
                  <a:pt x="60406" y="388"/>
                </a:lnTo>
                <a:lnTo>
                  <a:pt x="61451" y="432"/>
                </a:lnTo>
                <a:lnTo>
                  <a:pt x="62335" y="498"/>
                </a:lnTo>
                <a:lnTo>
                  <a:pt x="63245" y="781"/>
                </a:lnTo>
                <a:lnTo>
                  <a:pt x="64131" y="908"/>
                </a:lnTo>
                <a:lnTo>
                  <a:pt x="65046" y="1052"/>
                </a:lnTo>
                <a:lnTo>
                  <a:pt x="65815" y="1023"/>
                </a:lnTo>
                <a:lnTo>
                  <a:pt x="66527" y="1229"/>
                </a:lnTo>
                <a:lnTo>
                  <a:pt x="67166" y="1331"/>
                </a:lnTo>
                <a:lnTo>
                  <a:pt x="67563" y="1610"/>
                </a:lnTo>
                <a:lnTo>
                  <a:pt x="68038" y="1706"/>
                </a:lnTo>
                <a:lnTo>
                  <a:pt x="68583" y="1954"/>
                </a:lnTo>
                <a:lnTo>
                  <a:pt x="69032" y="2233"/>
                </a:lnTo>
                <a:lnTo>
                  <a:pt x="69451" y="2604"/>
                </a:lnTo>
                <a:lnTo>
                  <a:pt x="69751" y="2656"/>
                </a:lnTo>
                <a:lnTo>
                  <a:pt x="70062" y="2978"/>
                </a:lnTo>
                <a:lnTo>
                  <a:pt x="70221" y="3319"/>
                </a:lnTo>
                <a:lnTo>
                  <a:pt x="70574" y="3845"/>
                </a:lnTo>
                <a:lnTo>
                  <a:pt x="70608" y="4243"/>
                </a:lnTo>
                <a:lnTo>
                  <a:pt x="70738" y="4645"/>
                </a:lnTo>
                <a:lnTo>
                  <a:pt x="70967" y="5409"/>
                </a:lnTo>
                <a:lnTo>
                  <a:pt x="70993" y="6154"/>
                </a:lnTo>
                <a:lnTo>
                  <a:pt x="70928" y="9012"/>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7481072" y="1810421"/>
            <a:ext cx="6508699" cy="1632753"/>
          </a:xfrm>
          <a:custGeom>
            <a:avLst/>
            <a:gdLst/>
            <a:ahLst/>
            <a:cxnLst/>
            <a:rect l="l" t="t" r="r" b="b"/>
            <a:pathLst>
              <a:path w="71180" h="17856">
                <a:moveTo>
                  <a:pt x="71001" y="8941"/>
                </a:moveTo>
                <a:lnTo>
                  <a:pt x="71078" y="11555"/>
                </a:lnTo>
                <a:lnTo>
                  <a:pt x="70899" y="12576"/>
                </a:lnTo>
                <a:lnTo>
                  <a:pt x="70797" y="13035"/>
                </a:lnTo>
                <a:lnTo>
                  <a:pt x="70867" y="13640"/>
                </a:lnTo>
                <a:lnTo>
                  <a:pt x="70521" y="14161"/>
                </a:lnTo>
                <a:lnTo>
                  <a:pt x="70438" y="14469"/>
                </a:lnTo>
                <a:lnTo>
                  <a:pt x="70207" y="14882"/>
                </a:lnTo>
                <a:lnTo>
                  <a:pt x="69698" y="15146"/>
                </a:lnTo>
                <a:lnTo>
                  <a:pt x="69378" y="15450"/>
                </a:lnTo>
                <a:lnTo>
                  <a:pt x="69141" y="15680"/>
                </a:lnTo>
                <a:lnTo>
                  <a:pt x="68749" y="15760"/>
                </a:lnTo>
                <a:lnTo>
                  <a:pt x="68184" y="15972"/>
                </a:lnTo>
                <a:lnTo>
                  <a:pt x="67719" y="16233"/>
                </a:lnTo>
                <a:lnTo>
                  <a:pt x="67189" y="16463"/>
                </a:lnTo>
                <a:lnTo>
                  <a:pt x="66509" y="16643"/>
                </a:lnTo>
                <a:lnTo>
                  <a:pt x="65923" y="16758"/>
                </a:lnTo>
                <a:lnTo>
                  <a:pt x="65129" y="17029"/>
                </a:lnTo>
                <a:lnTo>
                  <a:pt x="64245" y="17094"/>
                </a:lnTo>
                <a:lnTo>
                  <a:pt x="63322" y="17206"/>
                </a:lnTo>
                <a:lnTo>
                  <a:pt x="62522" y="17209"/>
                </a:lnTo>
                <a:lnTo>
                  <a:pt x="61365" y="17445"/>
                </a:lnTo>
                <a:lnTo>
                  <a:pt x="60412" y="17521"/>
                </a:lnTo>
                <a:lnTo>
                  <a:pt x="59083" y="17577"/>
                </a:lnTo>
                <a:lnTo>
                  <a:pt x="57800" y="17599"/>
                </a:lnTo>
                <a:lnTo>
                  <a:pt x="56141" y="17564"/>
                </a:lnTo>
                <a:lnTo>
                  <a:pt x="54431" y="17715"/>
                </a:lnTo>
                <a:lnTo>
                  <a:pt x="52402" y="17761"/>
                </a:lnTo>
                <a:lnTo>
                  <a:pt x="49968" y="17856"/>
                </a:lnTo>
                <a:lnTo>
                  <a:pt x="46423" y="17757"/>
                </a:lnTo>
                <a:lnTo>
                  <a:pt x="35460" y="17760"/>
                </a:lnTo>
                <a:lnTo>
                  <a:pt x="24812" y="17791"/>
                </a:lnTo>
                <a:lnTo>
                  <a:pt x="21334" y="17647"/>
                </a:lnTo>
                <a:lnTo>
                  <a:pt x="18614" y="17824"/>
                </a:lnTo>
                <a:lnTo>
                  <a:pt x="16751" y="17764"/>
                </a:lnTo>
                <a:lnTo>
                  <a:pt x="14909" y="17706"/>
                </a:lnTo>
                <a:lnTo>
                  <a:pt x="13451" y="17527"/>
                </a:lnTo>
                <a:lnTo>
                  <a:pt x="12133" y="17658"/>
                </a:lnTo>
                <a:lnTo>
                  <a:pt x="10820" y="17571"/>
                </a:lnTo>
                <a:lnTo>
                  <a:pt x="9833" y="17421"/>
                </a:lnTo>
                <a:lnTo>
                  <a:pt x="8608" y="17390"/>
                </a:lnTo>
                <a:lnTo>
                  <a:pt x="7783" y="17065"/>
                </a:lnTo>
                <a:lnTo>
                  <a:pt x="6854" y="16954"/>
                </a:lnTo>
                <a:lnTo>
                  <a:pt x="6097" y="16891"/>
                </a:lnTo>
                <a:lnTo>
                  <a:pt x="5406" y="16685"/>
                </a:lnTo>
                <a:lnTo>
                  <a:pt x="4569" y="16680"/>
                </a:lnTo>
                <a:lnTo>
                  <a:pt x="3961" y="16429"/>
                </a:lnTo>
                <a:lnTo>
                  <a:pt x="3589" y="16338"/>
                </a:lnTo>
                <a:lnTo>
                  <a:pt x="3014" y="16099"/>
                </a:lnTo>
                <a:lnTo>
                  <a:pt x="2448" y="15840"/>
                </a:lnTo>
                <a:lnTo>
                  <a:pt x="2039" y="15579"/>
                </a:lnTo>
                <a:lnTo>
                  <a:pt x="1763" y="15481"/>
                </a:lnTo>
                <a:lnTo>
                  <a:pt x="1388" y="15017"/>
                </a:lnTo>
                <a:lnTo>
                  <a:pt x="1186" y="14700"/>
                </a:lnTo>
                <a:lnTo>
                  <a:pt x="709" y="14482"/>
                </a:lnTo>
                <a:lnTo>
                  <a:pt x="580" y="14186"/>
                </a:lnTo>
                <a:lnTo>
                  <a:pt x="326" y="13738"/>
                </a:lnTo>
                <a:lnTo>
                  <a:pt x="248" y="13110"/>
                </a:lnTo>
                <a:lnTo>
                  <a:pt x="132" y="12485"/>
                </a:lnTo>
                <a:lnTo>
                  <a:pt x="53" y="11623"/>
                </a:lnTo>
                <a:lnTo>
                  <a:pt x="51" y="8925"/>
                </a:lnTo>
                <a:lnTo>
                  <a:pt x="0" y="6223"/>
                </a:lnTo>
                <a:lnTo>
                  <a:pt x="125" y="5417"/>
                </a:lnTo>
                <a:lnTo>
                  <a:pt x="211" y="4618"/>
                </a:lnTo>
                <a:lnTo>
                  <a:pt x="474" y="4280"/>
                </a:lnTo>
                <a:lnTo>
                  <a:pt x="506" y="3838"/>
                </a:lnTo>
                <a:lnTo>
                  <a:pt x="756" y="3293"/>
                </a:lnTo>
                <a:lnTo>
                  <a:pt x="949" y="2972"/>
                </a:lnTo>
                <a:lnTo>
                  <a:pt x="1367" y="2766"/>
                </a:lnTo>
                <a:lnTo>
                  <a:pt x="1665" y="2480"/>
                </a:lnTo>
                <a:lnTo>
                  <a:pt x="2179" y="2257"/>
                </a:lnTo>
                <a:lnTo>
                  <a:pt x="2589" y="1874"/>
                </a:lnTo>
                <a:lnTo>
                  <a:pt x="3096" y="1678"/>
                </a:lnTo>
                <a:lnTo>
                  <a:pt x="3542" y="1534"/>
                </a:lnTo>
                <a:lnTo>
                  <a:pt x="4059" y="1304"/>
                </a:lnTo>
                <a:lnTo>
                  <a:pt x="4611" y="1083"/>
                </a:lnTo>
                <a:lnTo>
                  <a:pt x="5482" y="1133"/>
                </a:lnTo>
                <a:lnTo>
                  <a:pt x="6149" y="947"/>
                </a:lnTo>
                <a:lnTo>
                  <a:pt x="6945" y="698"/>
                </a:lnTo>
                <a:lnTo>
                  <a:pt x="7769" y="511"/>
                </a:lnTo>
                <a:lnTo>
                  <a:pt x="8649" y="541"/>
                </a:lnTo>
                <a:lnTo>
                  <a:pt x="9620" y="527"/>
                </a:lnTo>
                <a:lnTo>
                  <a:pt x="10757" y="304"/>
                </a:lnTo>
                <a:lnTo>
                  <a:pt x="11939" y="221"/>
                </a:lnTo>
                <a:lnTo>
                  <a:pt x="13436" y="139"/>
                </a:lnTo>
                <a:lnTo>
                  <a:pt x="15010" y="164"/>
                </a:lnTo>
                <a:lnTo>
                  <a:pt x="16739" y="0"/>
                </a:lnTo>
                <a:lnTo>
                  <a:pt x="18760" y="21"/>
                </a:lnTo>
                <a:lnTo>
                  <a:pt x="21213" y="110"/>
                </a:lnTo>
                <a:lnTo>
                  <a:pt x="24602" y="51"/>
                </a:lnTo>
                <a:lnTo>
                  <a:pt x="35668" y="111"/>
                </a:lnTo>
                <a:lnTo>
                  <a:pt x="46493" y="3"/>
                </a:lnTo>
                <a:lnTo>
                  <a:pt x="49892" y="93"/>
                </a:lnTo>
                <a:lnTo>
                  <a:pt x="52407" y="111"/>
                </a:lnTo>
                <a:lnTo>
                  <a:pt x="54555" y="21"/>
                </a:lnTo>
                <a:lnTo>
                  <a:pt x="56170" y="195"/>
                </a:lnTo>
                <a:lnTo>
                  <a:pt x="57743" y="282"/>
                </a:lnTo>
                <a:lnTo>
                  <a:pt x="59189" y="194"/>
                </a:lnTo>
                <a:lnTo>
                  <a:pt x="60249" y="286"/>
                </a:lnTo>
                <a:lnTo>
                  <a:pt x="61483" y="420"/>
                </a:lnTo>
                <a:lnTo>
                  <a:pt x="62475" y="636"/>
                </a:lnTo>
                <a:lnTo>
                  <a:pt x="63333" y="654"/>
                </a:lnTo>
                <a:lnTo>
                  <a:pt x="64210" y="795"/>
                </a:lnTo>
                <a:lnTo>
                  <a:pt x="65178" y="927"/>
                </a:lnTo>
                <a:lnTo>
                  <a:pt x="65758" y="976"/>
                </a:lnTo>
                <a:lnTo>
                  <a:pt x="66396" y="1222"/>
                </a:lnTo>
                <a:lnTo>
                  <a:pt x="67027" y="1269"/>
                </a:lnTo>
                <a:lnTo>
                  <a:pt x="67632" y="1638"/>
                </a:lnTo>
                <a:lnTo>
                  <a:pt x="68163" y="1707"/>
                </a:lnTo>
                <a:lnTo>
                  <a:pt x="68660" y="1941"/>
                </a:lnTo>
                <a:lnTo>
                  <a:pt x="69121" y="2181"/>
                </a:lnTo>
                <a:lnTo>
                  <a:pt x="69460" y="2373"/>
                </a:lnTo>
                <a:lnTo>
                  <a:pt x="69734" y="2595"/>
                </a:lnTo>
                <a:lnTo>
                  <a:pt x="70101" y="3009"/>
                </a:lnTo>
                <a:lnTo>
                  <a:pt x="70402" y="3457"/>
                </a:lnTo>
                <a:lnTo>
                  <a:pt x="70705" y="3665"/>
                </a:lnTo>
                <a:lnTo>
                  <a:pt x="70750" y="4198"/>
                </a:lnTo>
                <a:lnTo>
                  <a:pt x="70799" y="4707"/>
                </a:lnTo>
                <a:lnTo>
                  <a:pt x="70861" y="5192"/>
                </a:lnTo>
                <a:lnTo>
                  <a:pt x="71175" y="6117"/>
                </a:lnTo>
                <a:lnTo>
                  <a:pt x="71180" y="8945"/>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13864133" y="3057571"/>
            <a:ext cx="86685" cy="133320"/>
          </a:xfrm>
          <a:custGeom>
            <a:avLst/>
            <a:gdLst/>
            <a:ahLst/>
            <a:cxnLst/>
            <a:rect l="l" t="t" r="r" b="b"/>
            <a:pathLst>
              <a:path w="948" h="1458">
                <a:moveTo>
                  <a:pt x="948" y="0"/>
                </a:moveTo>
                <a:lnTo>
                  <a:pt x="771" y="433"/>
                </a:lnTo>
                <a:lnTo>
                  <a:pt x="555" y="813"/>
                </a:lnTo>
                <a:lnTo>
                  <a:pt x="298" y="1152"/>
                </a:lnTo>
                <a:lnTo>
                  <a:pt x="0" y="1458"/>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12887096" y="3381177"/>
            <a:ext cx="392186" cy="33101"/>
          </a:xfrm>
          <a:custGeom>
            <a:avLst/>
            <a:gdLst/>
            <a:ahLst/>
            <a:cxnLst/>
            <a:rect l="l" t="t" r="r" b="b"/>
            <a:pathLst>
              <a:path w="4289" h="362">
                <a:moveTo>
                  <a:pt x="4289" y="0"/>
                </a:moveTo>
                <a:lnTo>
                  <a:pt x="3354" y="106"/>
                </a:lnTo>
                <a:lnTo>
                  <a:pt x="2335" y="202"/>
                </a:lnTo>
                <a:lnTo>
                  <a:pt x="1223" y="288"/>
                </a:lnTo>
                <a:lnTo>
                  <a:pt x="0" y="362"/>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8471184" y="3407512"/>
            <a:ext cx="533004" cy="21671"/>
          </a:xfrm>
          <a:custGeom>
            <a:avLst/>
            <a:gdLst/>
            <a:ahLst/>
            <a:cxnLst/>
            <a:rect l="l" t="t" r="r" b="b"/>
            <a:pathLst>
              <a:path w="5829" h="237">
                <a:moveTo>
                  <a:pt x="5829" y="237"/>
                </a:moveTo>
                <a:lnTo>
                  <a:pt x="4096" y="193"/>
                </a:lnTo>
                <a:lnTo>
                  <a:pt x="2577" y="139"/>
                </a:lnTo>
                <a:lnTo>
                  <a:pt x="1223" y="74"/>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7578730" y="3162910"/>
            <a:ext cx="132497" cy="98207"/>
          </a:xfrm>
          <a:custGeom>
            <a:avLst/>
            <a:gdLst/>
            <a:ahLst/>
            <a:cxnLst/>
            <a:rect l="l" t="t" r="r" b="b"/>
            <a:pathLst>
              <a:path w="1449" h="1074">
                <a:moveTo>
                  <a:pt x="1449" y="1074"/>
                </a:moveTo>
                <a:lnTo>
                  <a:pt x="1022" y="840"/>
                </a:lnTo>
                <a:lnTo>
                  <a:pt x="639" y="585"/>
                </a:lnTo>
                <a:lnTo>
                  <a:pt x="298" y="306"/>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7519294" y="2057766"/>
            <a:ext cx="86685" cy="133320"/>
          </a:xfrm>
          <a:custGeom>
            <a:avLst/>
            <a:gdLst/>
            <a:ahLst/>
            <a:cxnLst/>
            <a:rect l="l" t="t" r="r" b="b"/>
            <a:pathLst>
              <a:path w="948" h="1458">
                <a:moveTo>
                  <a:pt x="0" y="1458"/>
                </a:moveTo>
                <a:lnTo>
                  <a:pt x="177" y="1025"/>
                </a:lnTo>
                <a:lnTo>
                  <a:pt x="393" y="645"/>
                </a:lnTo>
                <a:lnTo>
                  <a:pt x="650" y="306"/>
                </a:lnTo>
                <a:lnTo>
                  <a:pt x="948"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8190829" y="1834378"/>
            <a:ext cx="392186" cy="33101"/>
          </a:xfrm>
          <a:custGeom>
            <a:avLst/>
            <a:gdLst/>
            <a:ahLst/>
            <a:cxnLst/>
            <a:rect l="l" t="t" r="r" b="b"/>
            <a:pathLst>
              <a:path w="4289" h="362">
                <a:moveTo>
                  <a:pt x="0" y="362"/>
                </a:moveTo>
                <a:lnTo>
                  <a:pt x="935" y="256"/>
                </a:lnTo>
                <a:lnTo>
                  <a:pt x="1954" y="160"/>
                </a:lnTo>
                <a:lnTo>
                  <a:pt x="3066" y="74"/>
                </a:lnTo>
                <a:lnTo>
                  <a:pt x="4289"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12465924" y="1819473"/>
            <a:ext cx="533004" cy="21671"/>
          </a:xfrm>
          <a:custGeom>
            <a:avLst/>
            <a:gdLst/>
            <a:ahLst/>
            <a:cxnLst/>
            <a:rect l="l" t="t" r="r" b="b"/>
            <a:pathLst>
              <a:path w="5829" h="237">
                <a:moveTo>
                  <a:pt x="0" y="0"/>
                </a:moveTo>
                <a:lnTo>
                  <a:pt x="1733" y="44"/>
                </a:lnTo>
                <a:lnTo>
                  <a:pt x="3252" y="98"/>
                </a:lnTo>
                <a:lnTo>
                  <a:pt x="4606" y="163"/>
                </a:lnTo>
                <a:lnTo>
                  <a:pt x="5829" y="237"/>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13758885" y="1987540"/>
            <a:ext cx="132497" cy="98207"/>
          </a:xfrm>
          <a:custGeom>
            <a:avLst/>
            <a:gdLst/>
            <a:ahLst/>
            <a:cxnLst/>
            <a:rect l="l" t="t" r="r" b="b"/>
            <a:pathLst>
              <a:path w="1449" h="1074">
                <a:moveTo>
                  <a:pt x="0" y="0"/>
                </a:moveTo>
                <a:lnTo>
                  <a:pt x="427" y="234"/>
                </a:lnTo>
                <a:lnTo>
                  <a:pt x="810" y="489"/>
                </a:lnTo>
                <a:lnTo>
                  <a:pt x="1151" y="768"/>
                </a:lnTo>
                <a:lnTo>
                  <a:pt x="1449" y="1074"/>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ody: 2"/>
          <p:cNvSpPr txBox="1"/>
          <p:nvPr/>
        </p:nvSpPr>
        <p:spPr>
          <a:xfrm>
            <a:off x="7754112" y="2094055"/>
            <a:ext cx="420624" cy="411321"/>
          </a:xfrm>
          <a:prstGeom prst="rect">
            <a:avLst/>
          </a:prstGeom>
          <a:noFill/>
        </p:spPr>
        <p:txBody>
          <a:bodyPr wrap="none" lIns="0" rIns="0" tIns="0" bIns="0" anchor="t">
            <a:noAutofit/>
          </a:bodyPr>
          <a:lstStyle/>
          <a:p>
            <a:pPr algn="ctr">
              <a:lnSpc>
                <a:spcPts val="2698"/>
              </a:lnSpc>
              <a:spcBef>
                <a:spcPts val="0"/>
              </a:spcBef>
              <a:spcAft>
                <a:spcPts val="0"/>
              </a:spcAft>
            </a:pPr>
            <a:r>
              <a:rPr sz="2125" b="1">
                <a:solidFill>
                  <a:srgbClr val="557B65"/>
                </a:solidFill>
                <a:latin typeface="Trebuchet MS"/>
              </a:rPr>
              <a:t>2</a:t>
            </a:r>
          </a:p>
        </p:txBody>
      </p:sp>
      <p:sp>
        <p:nvSpPr>
          <p:cNvPr id="38" name="body: Delivery"/>
          <p:cNvSpPr txBox="1"/>
          <p:nvPr/>
        </p:nvSpPr>
        <p:spPr>
          <a:xfrm>
            <a:off x="8394192" y="1966214"/>
            <a:ext cx="5266944" cy="465836"/>
          </a:xfrm>
          <a:prstGeom prst="rect">
            <a:avLst/>
          </a:prstGeom>
          <a:noFill/>
        </p:spPr>
        <p:txBody>
          <a:bodyPr wrap="none" lIns="0" rIns="0" tIns="0" bIns="0" anchor="t">
            <a:noAutofit/>
          </a:bodyPr>
          <a:lstStyle/>
          <a:p>
            <a:pPr algn="ctr">
              <a:lnSpc>
                <a:spcPts val="3128"/>
              </a:lnSpc>
              <a:spcBef>
                <a:spcPts val="0"/>
              </a:spcBef>
              <a:spcAft>
                <a:spcPts val="0"/>
              </a:spcAft>
            </a:pPr>
            <a:r>
              <a:rPr sz="2300" b="1">
                <a:solidFill>
                  <a:srgbClr val="557B65"/>
                </a:solidFill>
                <a:latin typeface="Chalkboard SE"/>
              </a:rPr>
              <a:t>Delivery</a:t>
            </a:r>
          </a:p>
        </p:txBody>
      </p:sp>
      <p:sp>
        <p:nvSpPr>
          <p:cNvPr id="39" name="body: An Inspect extension plus an incident library; who uses it"/>
          <p:cNvSpPr txBox="1"/>
          <p:nvPr/>
        </p:nvSpPr>
        <p:spPr>
          <a:xfrm>
            <a:off x="8348471" y="2587498"/>
            <a:ext cx="5321808" cy="713739"/>
          </a:xfrm>
          <a:prstGeom prst="rect">
            <a:avLst/>
          </a:prstGeom>
          <a:noFill/>
        </p:spPr>
        <p:txBody>
          <a:bodyPr wrap="none" lIns="0" rIns="0" tIns="0" bIns="0" anchor="t">
            <a:noAutofit/>
          </a:bodyPr>
          <a:lstStyle/>
          <a:p>
            <a:pPr algn="ctr">
              <a:lnSpc>
                <a:spcPts val="2540"/>
              </a:lnSpc>
              <a:spcBef>
                <a:spcPts val="0"/>
              </a:spcBef>
              <a:spcAft>
                <a:spcPts val="0"/>
              </a:spcAft>
            </a:pPr>
            <a:r>
              <a:rPr sz="2000" b="0">
                <a:solidFill>
                  <a:srgbClr val="293E46"/>
                </a:solidFill>
                <a:latin typeface="Trebuchet MS"/>
              </a:rPr>
              <a:t>An Inspect extension plus an incident</a:t>
            </a:r>
            <a:br/>
            <a:r>
              <a:rPr sz="2000" b="0">
                <a:solidFill>
                  <a:srgbClr val="293E46"/>
                </a:solidFill>
                <a:latin typeface="Trebuchet MS"/>
              </a:rPr>
              <a:t>library; who uses it</a:t>
            </a:r>
          </a:p>
        </p:txBody>
      </p:sp>
      <p:sp>
        <p:nvSpPr>
          <p:cNvPr id="40" name="Rounded Rectangle 39"/>
          <p:cNvSpPr/>
          <p:nvPr/>
        </p:nvSpPr>
        <p:spPr>
          <a:xfrm>
            <a:off x="640080" y="3721608"/>
            <a:ext cx="6510528" cy="1645920"/>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648492" y="3722157"/>
            <a:ext cx="6495075" cy="1644640"/>
          </a:xfrm>
          <a:custGeom>
            <a:avLst/>
            <a:gdLst/>
            <a:ahLst/>
            <a:cxnLst/>
            <a:rect l="l" t="t" r="r" b="b"/>
            <a:pathLst>
              <a:path w="71031" h="17986">
                <a:moveTo>
                  <a:pt x="70864" y="8965"/>
                </a:moveTo>
                <a:lnTo>
                  <a:pt x="70945" y="11806"/>
                </a:lnTo>
                <a:lnTo>
                  <a:pt x="70826" y="12580"/>
                </a:lnTo>
                <a:lnTo>
                  <a:pt x="70712" y="13302"/>
                </a:lnTo>
                <a:lnTo>
                  <a:pt x="70739" y="13672"/>
                </a:lnTo>
                <a:lnTo>
                  <a:pt x="70506" y="14186"/>
                </a:lnTo>
                <a:lnTo>
                  <a:pt x="70325" y="14631"/>
                </a:lnTo>
                <a:lnTo>
                  <a:pt x="70103" y="14773"/>
                </a:lnTo>
                <a:lnTo>
                  <a:pt x="69717" y="15305"/>
                </a:lnTo>
                <a:lnTo>
                  <a:pt x="69479" y="15472"/>
                </a:lnTo>
                <a:lnTo>
                  <a:pt x="69092" y="15636"/>
                </a:lnTo>
                <a:lnTo>
                  <a:pt x="68544" y="16075"/>
                </a:lnTo>
                <a:lnTo>
                  <a:pt x="68203" y="16188"/>
                </a:lnTo>
                <a:lnTo>
                  <a:pt x="67610" y="16414"/>
                </a:lnTo>
                <a:lnTo>
                  <a:pt x="67064" y="16613"/>
                </a:lnTo>
                <a:lnTo>
                  <a:pt x="66400" y="16789"/>
                </a:lnTo>
                <a:lnTo>
                  <a:pt x="65667" y="16808"/>
                </a:lnTo>
                <a:lnTo>
                  <a:pt x="64904" y="17024"/>
                </a:lnTo>
                <a:lnTo>
                  <a:pt x="64199" y="17173"/>
                </a:lnTo>
                <a:lnTo>
                  <a:pt x="63361" y="17332"/>
                </a:lnTo>
                <a:lnTo>
                  <a:pt x="62339" y="17370"/>
                </a:lnTo>
                <a:lnTo>
                  <a:pt x="61293" y="17520"/>
                </a:lnTo>
                <a:lnTo>
                  <a:pt x="60233" y="17456"/>
                </a:lnTo>
                <a:lnTo>
                  <a:pt x="59166" y="17686"/>
                </a:lnTo>
                <a:lnTo>
                  <a:pt x="57614" y="17760"/>
                </a:lnTo>
                <a:lnTo>
                  <a:pt x="56046" y="17656"/>
                </a:lnTo>
                <a:lnTo>
                  <a:pt x="54387" y="17907"/>
                </a:lnTo>
                <a:lnTo>
                  <a:pt x="52480" y="17854"/>
                </a:lnTo>
                <a:lnTo>
                  <a:pt x="49809" y="17760"/>
                </a:lnTo>
                <a:lnTo>
                  <a:pt x="46478" y="17953"/>
                </a:lnTo>
                <a:lnTo>
                  <a:pt x="35455" y="17986"/>
                </a:lnTo>
                <a:lnTo>
                  <a:pt x="24527" y="17779"/>
                </a:lnTo>
                <a:lnTo>
                  <a:pt x="21059" y="17828"/>
                </a:lnTo>
                <a:lnTo>
                  <a:pt x="18569" y="17794"/>
                </a:lnTo>
                <a:lnTo>
                  <a:pt x="16526" y="17757"/>
                </a:lnTo>
                <a:lnTo>
                  <a:pt x="14881" y="17773"/>
                </a:lnTo>
                <a:lnTo>
                  <a:pt x="13447" y="17782"/>
                </a:lnTo>
                <a:lnTo>
                  <a:pt x="11872" y="17546"/>
                </a:lnTo>
                <a:lnTo>
                  <a:pt x="10658" y="17656"/>
                </a:lnTo>
                <a:lnTo>
                  <a:pt x="9518" y="17466"/>
                </a:lnTo>
                <a:lnTo>
                  <a:pt x="8716" y="17322"/>
                </a:lnTo>
                <a:lnTo>
                  <a:pt x="7746" y="17219"/>
                </a:lnTo>
                <a:lnTo>
                  <a:pt x="6908" y="17223"/>
                </a:lnTo>
                <a:lnTo>
                  <a:pt x="6032" y="17054"/>
                </a:lnTo>
                <a:lnTo>
                  <a:pt x="5233" y="16961"/>
                </a:lnTo>
                <a:lnTo>
                  <a:pt x="4650" y="16654"/>
                </a:lnTo>
                <a:lnTo>
                  <a:pt x="3904" y="16535"/>
                </a:lnTo>
                <a:lnTo>
                  <a:pt x="3499" y="16345"/>
                </a:lnTo>
                <a:lnTo>
                  <a:pt x="2915" y="16148"/>
                </a:lnTo>
                <a:lnTo>
                  <a:pt x="2337" y="15891"/>
                </a:lnTo>
                <a:lnTo>
                  <a:pt x="2135" y="15746"/>
                </a:lnTo>
                <a:lnTo>
                  <a:pt x="1722" y="15452"/>
                </a:lnTo>
                <a:lnTo>
                  <a:pt x="1396" y="15185"/>
                </a:lnTo>
                <a:lnTo>
                  <a:pt x="1089" y="14967"/>
                </a:lnTo>
                <a:lnTo>
                  <a:pt x="622" y="14582"/>
                </a:lnTo>
                <a:lnTo>
                  <a:pt x="483" y="14096"/>
                </a:lnTo>
                <a:lnTo>
                  <a:pt x="288" y="13767"/>
                </a:lnTo>
                <a:lnTo>
                  <a:pt x="228" y="13278"/>
                </a:lnTo>
                <a:lnTo>
                  <a:pt x="30" y="12545"/>
                </a:lnTo>
                <a:lnTo>
                  <a:pt x="0" y="11616"/>
                </a:lnTo>
                <a:lnTo>
                  <a:pt x="26" y="9056"/>
                </a:lnTo>
                <a:lnTo>
                  <a:pt x="23" y="6301"/>
                </a:lnTo>
                <a:lnTo>
                  <a:pt x="158" y="5310"/>
                </a:lnTo>
                <a:lnTo>
                  <a:pt x="164" y="4659"/>
                </a:lnTo>
                <a:lnTo>
                  <a:pt x="348" y="4218"/>
                </a:lnTo>
                <a:lnTo>
                  <a:pt x="613" y="3902"/>
                </a:lnTo>
                <a:lnTo>
                  <a:pt x="740" y="3449"/>
                </a:lnTo>
                <a:lnTo>
                  <a:pt x="1017" y="3164"/>
                </a:lnTo>
                <a:lnTo>
                  <a:pt x="1408" y="2799"/>
                </a:lnTo>
                <a:lnTo>
                  <a:pt x="1717" y="2411"/>
                </a:lnTo>
                <a:lnTo>
                  <a:pt x="1995" y="2289"/>
                </a:lnTo>
                <a:lnTo>
                  <a:pt x="2473" y="1932"/>
                </a:lnTo>
                <a:lnTo>
                  <a:pt x="2925" y="1816"/>
                </a:lnTo>
                <a:lnTo>
                  <a:pt x="3310" y="1529"/>
                </a:lnTo>
                <a:lnTo>
                  <a:pt x="3937" y="1527"/>
                </a:lnTo>
                <a:lnTo>
                  <a:pt x="4591" y="1294"/>
                </a:lnTo>
                <a:lnTo>
                  <a:pt x="5199" y="1103"/>
                </a:lnTo>
                <a:lnTo>
                  <a:pt x="5962" y="871"/>
                </a:lnTo>
                <a:lnTo>
                  <a:pt x="6907" y="868"/>
                </a:lnTo>
                <a:lnTo>
                  <a:pt x="7811" y="614"/>
                </a:lnTo>
                <a:lnTo>
                  <a:pt x="8641" y="524"/>
                </a:lnTo>
                <a:lnTo>
                  <a:pt x="9555" y="579"/>
                </a:lnTo>
                <a:lnTo>
                  <a:pt x="10850" y="467"/>
                </a:lnTo>
                <a:lnTo>
                  <a:pt x="12081" y="451"/>
                </a:lnTo>
                <a:lnTo>
                  <a:pt x="13386" y="280"/>
                </a:lnTo>
                <a:lnTo>
                  <a:pt x="14908" y="175"/>
                </a:lnTo>
                <a:lnTo>
                  <a:pt x="16571" y="260"/>
                </a:lnTo>
                <a:lnTo>
                  <a:pt x="18505" y="254"/>
                </a:lnTo>
                <a:lnTo>
                  <a:pt x="21104" y="15"/>
                </a:lnTo>
                <a:lnTo>
                  <a:pt x="24626" y="133"/>
                </a:lnTo>
                <a:lnTo>
                  <a:pt x="35491" y="0"/>
                </a:lnTo>
                <a:lnTo>
                  <a:pt x="46478" y="219"/>
                </a:lnTo>
                <a:lnTo>
                  <a:pt x="49802" y="185"/>
                </a:lnTo>
                <a:lnTo>
                  <a:pt x="52329" y="239"/>
                </a:lnTo>
                <a:lnTo>
                  <a:pt x="54381" y="259"/>
                </a:lnTo>
                <a:lnTo>
                  <a:pt x="56160" y="246"/>
                </a:lnTo>
                <a:lnTo>
                  <a:pt x="57746" y="364"/>
                </a:lnTo>
                <a:lnTo>
                  <a:pt x="59108" y="288"/>
                </a:lnTo>
                <a:lnTo>
                  <a:pt x="60249" y="362"/>
                </a:lnTo>
                <a:lnTo>
                  <a:pt x="61257" y="519"/>
                </a:lnTo>
                <a:lnTo>
                  <a:pt x="62455" y="545"/>
                </a:lnTo>
                <a:lnTo>
                  <a:pt x="63443" y="834"/>
                </a:lnTo>
                <a:lnTo>
                  <a:pt x="64208" y="843"/>
                </a:lnTo>
                <a:lnTo>
                  <a:pt x="64978" y="879"/>
                </a:lnTo>
                <a:lnTo>
                  <a:pt x="65599" y="995"/>
                </a:lnTo>
                <a:lnTo>
                  <a:pt x="66286" y="1285"/>
                </a:lnTo>
                <a:lnTo>
                  <a:pt x="66989" y="1498"/>
                </a:lnTo>
                <a:lnTo>
                  <a:pt x="67467" y="1697"/>
                </a:lnTo>
                <a:lnTo>
                  <a:pt x="67998" y="1774"/>
                </a:lnTo>
                <a:lnTo>
                  <a:pt x="68508" y="2078"/>
                </a:lnTo>
                <a:lnTo>
                  <a:pt x="68918" y="2256"/>
                </a:lnTo>
                <a:lnTo>
                  <a:pt x="69273" y="2425"/>
                </a:lnTo>
                <a:lnTo>
                  <a:pt x="69850" y="2773"/>
                </a:lnTo>
                <a:lnTo>
                  <a:pt x="69973" y="3211"/>
                </a:lnTo>
                <a:lnTo>
                  <a:pt x="70311" y="3555"/>
                </a:lnTo>
                <a:lnTo>
                  <a:pt x="70523" y="3720"/>
                </a:lnTo>
                <a:lnTo>
                  <a:pt x="70648" y="4155"/>
                </a:lnTo>
                <a:lnTo>
                  <a:pt x="70700" y="4747"/>
                </a:lnTo>
                <a:lnTo>
                  <a:pt x="70898" y="5504"/>
                </a:lnTo>
                <a:lnTo>
                  <a:pt x="70998" y="6244"/>
                </a:lnTo>
                <a:lnTo>
                  <a:pt x="71031" y="9019"/>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644378" y="3728375"/>
            <a:ext cx="6499007" cy="1634490"/>
          </a:xfrm>
          <a:custGeom>
            <a:avLst/>
            <a:gdLst/>
            <a:ahLst/>
            <a:cxnLst/>
            <a:rect l="l" t="t" r="r" b="b"/>
            <a:pathLst>
              <a:path w="71074" h="17875">
                <a:moveTo>
                  <a:pt x="70944" y="8978"/>
                </a:moveTo>
                <a:lnTo>
                  <a:pt x="70936" y="11597"/>
                </a:lnTo>
                <a:lnTo>
                  <a:pt x="71044" y="12525"/>
                </a:lnTo>
                <a:lnTo>
                  <a:pt x="70876" y="13073"/>
                </a:lnTo>
                <a:lnTo>
                  <a:pt x="70798" y="13740"/>
                </a:lnTo>
                <a:lnTo>
                  <a:pt x="70423" y="14131"/>
                </a:lnTo>
                <a:lnTo>
                  <a:pt x="70288" y="14361"/>
                </a:lnTo>
                <a:lnTo>
                  <a:pt x="70010" y="14828"/>
                </a:lnTo>
                <a:lnTo>
                  <a:pt x="69677" y="15080"/>
                </a:lnTo>
                <a:lnTo>
                  <a:pt x="69456" y="15476"/>
                </a:lnTo>
                <a:lnTo>
                  <a:pt x="68969" y="15543"/>
                </a:lnTo>
                <a:lnTo>
                  <a:pt x="68519" y="15837"/>
                </a:lnTo>
                <a:lnTo>
                  <a:pt x="68141" y="16044"/>
                </a:lnTo>
                <a:lnTo>
                  <a:pt x="67590" y="16268"/>
                </a:lnTo>
                <a:lnTo>
                  <a:pt x="66991" y="16413"/>
                </a:lnTo>
                <a:lnTo>
                  <a:pt x="66521" y="16569"/>
                </a:lnTo>
                <a:lnTo>
                  <a:pt x="65672" y="16749"/>
                </a:lnTo>
                <a:lnTo>
                  <a:pt x="64975" y="17039"/>
                </a:lnTo>
                <a:lnTo>
                  <a:pt x="64257" y="17030"/>
                </a:lnTo>
                <a:lnTo>
                  <a:pt x="63363" y="17295"/>
                </a:lnTo>
                <a:lnTo>
                  <a:pt x="62563" y="17288"/>
                </a:lnTo>
                <a:lnTo>
                  <a:pt x="61525" y="17364"/>
                </a:lnTo>
                <a:lnTo>
                  <a:pt x="60222" y="17424"/>
                </a:lnTo>
                <a:lnTo>
                  <a:pt x="59115" y="17480"/>
                </a:lnTo>
                <a:lnTo>
                  <a:pt x="57711" y="17685"/>
                </a:lnTo>
                <a:lnTo>
                  <a:pt x="56222" y="17703"/>
                </a:lnTo>
                <a:lnTo>
                  <a:pt x="54379" y="17804"/>
                </a:lnTo>
                <a:lnTo>
                  <a:pt x="52448" y="17722"/>
                </a:lnTo>
                <a:lnTo>
                  <a:pt x="50019" y="17816"/>
                </a:lnTo>
                <a:lnTo>
                  <a:pt x="46354" y="17740"/>
                </a:lnTo>
                <a:lnTo>
                  <a:pt x="35504" y="17818"/>
                </a:lnTo>
                <a:lnTo>
                  <a:pt x="24561" y="17747"/>
                </a:lnTo>
                <a:lnTo>
                  <a:pt x="21106" y="17875"/>
                </a:lnTo>
                <a:lnTo>
                  <a:pt x="18689" y="17871"/>
                </a:lnTo>
                <a:lnTo>
                  <a:pt x="16639" y="17703"/>
                </a:lnTo>
                <a:lnTo>
                  <a:pt x="14982" y="17642"/>
                </a:lnTo>
                <a:lnTo>
                  <a:pt x="13263" y="17651"/>
                </a:lnTo>
                <a:lnTo>
                  <a:pt x="12110" y="17636"/>
                </a:lnTo>
                <a:lnTo>
                  <a:pt x="10860" y="17540"/>
                </a:lnTo>
                <a:lnTo>
                  <a:pt x="9777" y="17313"/>
                </a:lnTo>
                <a:lnTo>
                  <a:pt x="8621" y="17332"/>
                </a:lnTo>
                <a:lnTo>
                  <a:pt x="7622" y="17186"/>
                </a:lnTo>
                <a:lnTo>
                  <a:pt x="6897" y="17096"/>
                </a:lnTo>
                <a:lnTo>
                  <a:pt x="6182" y="16889"/>
                </a:lnTo>
                <a:lnTo>
                  <a:pt x="5444" y="16770"/>
                </a:lnTo>
                <a:lnTo>
                  <a:pt x="4693" y="16645"/>
                </a:lnTo>
                <a:lnTo>
                  <a:pt x="4173" y="16493"/>
                </a:lnTo>
                <a:lnTo>
                  <a:pt x="3348" y="16350"/>
                </a:lnTo>
                <a:lnTo>
                  <a:pt x="2835" y="16009"/>
                </a:lnTo>
                <a:lnTo>
                  <a:pt x="2528" y="15876"/>
                </a:lnTo>
                <a:lnTo>
                  <a:pt x="2175" y="15713"/>
                </a:lnTo>
                <a:lnTo>
                  <a:pt x="1770" y="15415"/>
                </a:lnTo>
                <a:lnTo>
                  <a:pt x="1394" y="15153"/>
                </a:lnTo>
                <a:lnTo>
                  <a:pt x="945" y="14739"/>
                </a:lnTo>
                <a:lnTo>
                  <a:pt x="708" y="14393"/>
                </a:lnTo>
                <a:lnTo>
                  <a:pt x="679" y="14162"/>
                </a:lnTo>
                <a:lnTo>
                  <a:pt x="280" y="13772"/>
                </a:lnTo>
                <a:lnTo>
                  <a:pt x="181" y="13077"/>
                </a:lnTo>
                <a:lnTo>
                  <a:pt x="77" y="12419"/>
                </a:lnTo>
                <a:lnTo>
                  <a:pt x="0" y="11539"/>
                </a:lnTo>
                <a:lnTo>
                  <a:pt x="167" y="9013"/>
                </a:lnTo>
                <a:lnTo>
                  <a:pt x="190" y="6253"/>
                </a:lnTo>
                <a:lnTo>
                  <a:pt x="158" y="5364"/>
                </a:lnTo>
                <a:lnTo>
                  <a:pt x="371" y="4798"/>
                </a:lnTo>
                <a:lnTo>
                  <a:pt x="308" y="4083"/>
                </a:lnTo>
                <a:lnTo>
                  <a:pt x="550" y="3843"/>
                </a:lnTo>
                <a:lnTo>
                  <a:pt x="834" y="3356"/>
                </a:lnTo>
                <a:lnTo>
                  <a:pt x="1067" y="3129"/>
                </a:lnTo>
                <a:lnTo>
                  <a:pt x="1426" y="2723"/>
                </a:lnTo>
                <a:lnTo>
                  <a:pt x="1614" y="2336"/>
                </a:lnTo>
                <a:lnTo>
                  <a:pt x="1949" y="2254"/>
                </a:lnTo>
                <a:lnTo>
                  <a:pt x="2567" y="1979"/>
                </a:lnTo>
                <a:lnTo>
                  <a:pt x="3052" y="1682"/>
                </a:lnTo>
                <a:lnTo>
                  <a:pt x="3411" y="1614"/>
                </a:lnTo>
                <a:lnTo>
                  <a:pt x="4094" y="1361"/>
                </a:lnTo>
                <a:lnTo>
                  <a:pt x="4645" y="1285"/>
                </a:lnTo>
                <a:lnTo>
                  <a:pt x="5402" y="1065"/>
                </a:lnTo>
                <a:lnTo>
                  <a:pt x="5974" y="809"/>
                </a:lnTo>
                <a:lnTo>
                  <a:pt x="6742" y="728"/>
                </a:lnTo>
                <a:lnTo>
                  <a:pt x="7652" y="672"/>
                </a:lnTo>
                <a:lnTo>
                  <a:pt x="8657" y="493"/>
                </a:lnTo>
                <a:lnTo>
                  <a:pt x="9618" y="555"/>
                </a:lnTo>
                <a:lnTo>
                  <a:pt x="10814" y="251"/>
                </a:lnTo>
                <a:lnTo>
                  <a:pt x="12143" y="205"/>
                </a:lnTo>
                <a:lnTo>
                  <a:pt x="13456" y="178"/>
                </a:lnTo>
                <a:lnTo>
                  <a:pt x="14824" y="236"/>
                </a:lnTo>
                <a:lnTo>
                  <a:pt x="16653" y="123"/>
                </a:lnTo>
                <a:lnTo>
                  <a:pt x="18694" y="4"/>
                </a:lnTo>
                <a:lnTo>
                  <a:pt x="21275" y="48"/>
                </a:lnTo>
                <a:lnTo>
                  <a:pt x="24609" y="11"/>
                </a:lnTo>
                <a:lnTo>
                  <a:pt x="35517" y="0"/>
                </a:lnTo>
                <a:lnTo>
                  <a:pt x="46431" y="28"/>
                </a:lnTo>
                <a:lnTo>
                  <a:pt x="50004" y="44"/>
                </a:lnTo>
                <a:lnTo>
                  <a:pt x="52417" y="42"/>
                </a:lnTo>
                <a:lnTo>
                  <a:pt x="54458" y="175"/>
                </a:lnTo>
                <a:lnTo>
                  <a:pt x="56310" y="187"/>
                </a:lnTo>
                <a:lnTo>
                  <a:pt x="57743" y="155"/>
                </a:lnTo>
                <a:lnTo>
                  <a:pt x="59076" y="310"/>
                </a:lnTo>
                <a:lnTo>
                  <a:pt x="60335" y="332"/>
                </a:lnTo>
                <a:lnTo>
                  <a:pt x="61351" y="346"/>
                </a:lnTo>
                <a:lnTo>
                  <a:pt x="62561" y="560"/>
                </a:lnTo>
                <a:lnTo>
                  <a:pt x="63294" y="676"/>
                </a:lnTo>
                <a:lnTo>
                  <a:pt x="64215" y="741"/>
                </a:lnTo>
                <a:lnTo>
                  <a:pt x="64955" y="859"/>
                </a:lnTo>
                <a:lnTo>
                  <a:pt x="65810" y="928"/>
                </a:lnTo>
                <a:lnTo>
                  <a:pt x="66379" y="1123"/>
                </a:lnTo>
                <a:lnTo>
                  <a:pt x="67041" y="1246"/>
                </a:lnTo>
                <a:lnTo>
                  <a:pt x="67710" y="1629"/>
                </a:lnTo>
                <a:lnTo>
                  <a:pt x="68174" y="1819"/>
                </a:lnTo>
                <a:lnTo>
                  <a:pt x="68607" y="2052"/>
                </a:lnTo>
                <a:lnTo>
                  <a:pt x="69079" y="2139"/>
                </a:lnTo>
                <a:lnTo>
                  <a:pt x="69477" y="2370"/>
                </a:lnTo>
                <a:lnTo>
                  <a:pt x="69784" y="2740"/>
                </a:lnTo>
                <a:lnTo>
                  <a:pt x="70121" y="3111"/>
                </a:lnTo>
                <a:lnTo>
                  <a:pt x="70323" y="3407"/>
                </a:lnTo>
                <a:lnTo>
                  <a:pt x="70553" y="3843"/>
                </a:lnTo>
                <a:lnTo>
                  <a:pt x="70728" y="4116"/>
                </a:lnTo>
                <a:lnTo>
                  <a:pt x="70975" y="4697"/>
                </a:lnTo>
                <a:lnTo>
                  <a:pt x="70958" y="5233"/>
                </a:lnTo>
                <a:lnTo>
                  <a:pt x="70924" y="6249"/>
                </a:lnTo>
                <a:lnTo>
                  <a:pt x="71074" y="8841"/>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7024421" y="4977811"/>
            <a:ext cx="86685" cy="133320"/>
          </a:xfrm>
          <a:custGeom>
            <a:avLst/>
            <a:gdLst/>
            <a:ahLst/>
            <a:cxnLst/>
            <a:rect l="l" t="t" r="r" b="b"/>
            <a:pathLst>
              <a:path w="948" h="1458">
                <a:moveTo>
                  <a:pt x="948" y="0"/>
                </a:moveTo>
                <a:lnTo>
                  <a:pt x="771" y="433"/>
                </a:lnTo>
                <a:lnTo>
                  <a:pt x="555" y="813"/>
                </a:lnTo>
                <a:lnTo>
                  <a:pt x="298" y="1152"/>
                </a:lnTo>
                <a:lnTo>
                  <a:pt x="0" y="1458"/>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6047384" y="5301417"/>
            <a:ext cx="392186" cy="33101"/>
          </a:xfrm>
          <a:custGeom>
            <a:avLst/>
            <a:gdLst/>
            <a:ahLst/>
            <a:cxnLst/>
            <a:rect l="l" t="t" r="r" b="b"/>
            <a:pathLst>
              <a:path w="4289" h="362">
                <a:moveTo>
                  <a:pt x="4289" y="0"/>
                </a:moveTo>
                <a:lnTo>
                  <a:pt x="3354" y="106"/>
                </a:lnTo>
                <a:lnTo>
                  <a:pt x="2335" y="202"/>
                </a:lnTo>
                <a:lnTo>
                  <a:pt x="1223" y="288"/>
                </a:lnTo>
                <a:lnTo>
                  <a:pt x="0" y="362"/>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1631472" y="5327752"/>
            <a:ext cx="533004" cy="21671"/>
          </a:xfrm>
          <a:custGeom>
            <a:avLst/>
            <a:gdLst/>
            <a:ahLst/>
            <a:cxnLst/>
            <a:rect l="l" t="t" r="r" b="b"/>
            <a:pathLst>
              <a:path w="5829" h="237">
                <a:moveTo>
                  <a:pt x="5829" y="237"/>
                </a:moveTo>
                <a:lnTo>
                  <a:pt x="4096" y="193"/>
                </a:lnTo>
                <a:lnTo>
                  <a:pt x="2577" y="139"/>
                </a:lnTo>
                <a:lnTo>
                  <a:pt x="1223" y="74"/>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739018" y="5083150"/>
            <a:ext cx="132497" cy="98207"/>
          </a:xfrm>
          <a:custGeom>
            <a:avLst/>
            <a:gdLst/>
            <a:ahLst/>
            <a:cxnLst/>
            <a:rect l="l" t="t" r="r" b="b"/>
            <a:pathLst>
              <a:path w="1449" h="1074">
                <a:moveTo>
                  <a:pt x="1449" y="1074"/>
                </a:moveTo>
                <a:lnTo>
                  <a:pt x="1022" y="840"/>
                </a:lnTo>
                <a:lnTo>
                  <a:pt x="639" y="585"/>
                </a:lnTo>
                <a:lnTo>
                  <a:pt x="298" y="306"/>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679582" y="3978006"/>
            <a:ext cx="86685" cy="133320"/>
          </a:xfrm>
          <a:custGeom>
            <a:avLst/>
            <a:gdLst/>
            <a:ahLst/>
            <a:cxnLst/>
            <a:rect l="l" t="t" r="r" b="b"/>
            <a:pathLst>
              <a:path w="948" h="1458">
                <a:moveTo>
                  <a:pt x="0" y="1458"/>
                </a:moveTo>
                <a:lnTo>
                  <a:pt x="177" y="1025"/>
                </a:lnTo>
                <a:lnTo>
                  <a:pt x="393" y="645"/>
                </a:lnTo>
                <a:lnTo>
                  <a:pt x="650" y="306"/>
                </a:lnTo>
                <a:lnTo>
                  <a:pt x="948"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1351117" y="3754618"/>
            <a:ext cx="392186" cy="33101"/>
          </a:xfrm>
          <a:custGeom>
            <a:avLst/>
            <a:gdLst/>
            <a:ahLst/>
            <a:cxnLst/>
            <a:rect l="l" t="t" r="r" b="b"/>
            <a:pathLst>
              <a:path w="4289" h="362">
                <a:moveTo>
                  <a:pt x="0" y="362"/>
                </a:moveTo>
                <a:lnTo>
                  <a:pt x="935" y="256"/>
                </a:lnTo>
                <a:lnTo>
                  <a:pt x="1954" y="160"/>
                </a:lnTo>
                <a:lnTo>
                  <a:pt x="3066" y="74"/>
                </a:lnTo>
                <a:lnTo>
                  <a:pt x="4289"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5626212" y="3739713"/>
            <a:ext cx="533004" cy="21671"/>
          </a:xfrm>
          <a:custGeom>
            <a:avLst/>
            <a:gdLst/>
            <a:ahLst/>
            <a:cxnLst/>
            <a:rect l="l" t="t" r="r" b="b"/>
            <a:pathLst>
              <a:path w="5829" h="237">
                <a:moveTo>
                  <a:pt x="0" y="0"/>
                </a:moveTo>
                <a:lnTo>
                  <a:pt x="1733" y="44"/>
                </a:lnTo>
                <a:lnTo>
                  <a:pt x="3252" y="98"/>
                </a:lnTo>
                <a:lnTo>
                  <a:pt x="4606" y="163"/>
                </a:lnTo>
                <a:lnTo>
                  <a:pt x="5829" y="237"/>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6919173" y="3907780"/>
            <a:ext cx="132497" cy="98207"/>
          </a:xfrm>
          <a:custGeom>
            <a:avLst/>
            <a:gdLst/>
            <a:ahLst/>
            <a:cxnLst/>
            <a:rect l="l" t="t" r="r" b="b"/>
            <a:pathLst>
              <a:path w="1449" h="1074">
                <a:moveTo>
                  <a:pt x="0" y="0"/>
                </a:moveTo>
                <a:lnTo>
                  <a:pt x="427" y="234"/>
                </a:lnTo>
                <a:lnTo>
                  <a:pt x="810" y="489"/>
                </a:lnTo>
                <a:lnTo>
                  <a:pt x="1151" y="768"/>
                </a:lnTo>
                <a:lnTo>
                  <a:pt x="1449" y="107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ody: 3"/>
          <p:cNvSpPr txBox="1"/>
          <p:nvPr/>
        </p:nvSpPr>
        <p:spPr>
          <a:xfrm>
            <a:off x="914400" y="4014295"/>
            <a:ext cx="420624" cy="411321"/>
          </a:xfrm>
          <a:prstGeom prst="rect">
            <a:avLst/>
          </a:prstGeom>
          <a:noFill/>
        </p:spPr>
        <p:txBody>
          <a:bodyPr wrap="none" lIns="0" rIns="0" tIns="0" bIns="0" anchor="t">
            <a:noAutofit/>
          </a:bodyPr>
          <a:lstStyle/>
          <a:p>
            <a:pPr algn="ctr">
              <a:lnSpc>
                <a:spcPts val="2698"/>
              </a:lnSpc>
              <a:spcBef>
                <a:spcPts val="0"/>
              </a:spcBef>
              <a:spcAft>
                <a:spcPts val="0"/>
              </a:spcAft>
            </a:pPr>
            <a:r>
              <a:rPr sz="2125" b="1">
                <a:solidFill>
                  <a:srgbClr val="9D7B35"/>
                </a:solidFill>
                <a:latin typeface="Trebuchet MS"/>
              </a:rPr>
              <a:t>3</a:t>
            </a:r>
          </a:p>
        </p:txBody>
      </p:sp>
      <p:sp>
        <p:nvSpPr>
          <p:cNvPr id="52" name="body: Design"/>
          <p:cNvSpPr txBox="1"/>
          <p:nvPr/>
        </p:nvSpPr>
        <p:spPr>
          <a:xfrm>
            <a:off x="1554480" y="3886454"/>
            <a:ext cx="5266944" cy="465836"/>
          </a:xfrm>
          <a:prstGeom prst="rect">
            <a:avLst/>
          </a:prstGeom>
          <a:noFill/>
        </p:spPr>
        <p:txBody>
          <a:bodyPr wrap="none" lIns="0" rIns="0" tIns="0" bIns="0" anchor="t">
            <a:noAutofit/>
          </a:bodyPr>
          <a:lstStyle/>
          <a:p>
            <a:pPr algn="ctr">
              <a:lnSpc>
                <a:spcPts val="3128"/>
              </a:lnSpc>
              <a:spcBef>
                <a:spcPts val="0"/>
              </a:spcBef>
              <a:spcAft>
                <a:spcPts val="0"/>
              </a:spcAft>
            </a:pPr>
            <a:r>
              <a:rPr sz="2300" b="1">
                <a:solidFill>
                  <a:srgbClr val="9D7B35"/>
                </a:solidFill>
                <a:latin typeface="Chalkboard SE"/>
              </a:rPr>
              <a:t>Design</a:t>
            </a:r>
          </a:p>
        </p:txBody>
      </p:sp>
      <p:sp>
        <p:nvSpPr>
          <p:cNvPr id="53" name="body: One architecture, seven principles"/>
          <p:cNvSpPr txBox="1"/>
          <p:nvPr/>
        </p:nvSpPr>
        <p:spPr>
          <a:xfrm>
            <a:off x="1508760" y="4669028"/>
            <a:ext cx="5321808" cy="391160"/>
          </a:xfrm>
          <a:prstGeom prst="rect">
            <a:avLst/>
          </a:prstGeom>
          <a:noFill/>
        </p:spPr>
        <p:txBody>
          <a:bodyPr wrap="none" lIns="0" rIns="0" tIns="0" bIns="0" anchor="t">
            <a:noAutofit/>
          </a:bodyPr>
          <a:lstStyle/>
          <a:p>
            <a:pPr algn="ctr">
              <a:lnSpc>
                <a:spcPts val="2540"/>
              </a:lnSpc>
              <a:spcBef>
                <a:spcPts val="0"/>
              </a:spcBef>
              <a:spcAft>
                <a:spcPts val="0"/>
              </a:spcAft>
            </a:pPr>
            <a:r>
              <a:rPr sz="2000" b="0">
                <a:solidFill>
                  <a:srgbClr val="293E46"/>
                </a:solidFill>
                <a:latin typeface="Trebuchet MS"/>
              </a:rPr>
              <a:t>One architecture, seven principles</a:t>
            </a:r>
          </a:p>
        </p:txBody>
      </p:sp>
      <p:sp>
        <p:nvSpPr>
          <p:cNvPr id="54" name="Rounded Rectangle 53"/>
          <p:cNvSpPr/>
          <p:nvPr/>
        </p:nvSpPr>
        <p:spPr>
          <a:xfrm>
            <a:off x="7479792" y="3721608"/>
            <a:ext cx="6510528" cy="1645920"/>
          </a:xfrm>
          <a:prstGeom prst="roundRect">
            <a:avLst>
              <a:gd name="adj" fmla="val 18000"/>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7486741" y="3724808"/>
            <a:ext cx="6502573" cy="1636776"/>
          </a:xfrm>
          <a:custGeom>
            <a:avLst/>
            <a:gdLst/>
            <a:ahLst/>
            <a:cxnLst/>
            <a:rect l="l" t="t" r="r" b="b"/>
            <a:pathLst>
              <a:path w="71113" h="17900">
                <a:moveTo>
                  <a:pt x="71113" y="9009"/>
                </a:moveTo>
                <a:lnTo>
                  <a:pt x="70902" y="11629"/>
                </a:lnTo>
                <a:lnTo>
                  <a:pt x="70930" y="12643"/>
                </a:lnTo>
                <a:lnTo>
                  <a:pt x="70926" y="13212"/>
                </a:lnTo>
                <a:lnTo>
                  <a:pt x="70809" y="13654"/>
                </a:lnTo>
                <a:lnTo>
                  <a:pt x="70631" y="14084"/>
                </a:lnTo>
                <a:lnTo>
                  <a:pt x="70394" y="14537"/>
                </a:lnTo>
                <a:lnTo>
                  <a:pt x="69974" y="14819"/>
                </a:lnTo>
                <a:lnTo>
                  <a:pt x="69727" y="15075"/>
                </a:lnTo>
                <a:lnTo>
                  <a:pt x="69388" y="15509"/>
                </a:lnTo>
                <a:lnTo>
                  <a:pt x="68897" y="15696"/>
                </a:lnTo>
                <a:lnTo>
                  <a:pt x="68649" y="15935"/>
                </a:lnTo>
                <a:lnTo>
                  <a:pt x="68137" y="16189"/>
                </a:lnTo>
                <a:lnTo>
                  <a:pt x="67638" y="16287"/>
                </a:lnTo>
                <a:lnTo>
                  <a:pt x="66962" y="16518"/>
                </a:lnTo>
                <a:lnTo>
                  <a:pt x="66375" y="16773"/>
                </a:lnTo>
                <a:lnTo>
                  <a:pt x="65773" y="16920"/>
                </a:lnTo>
                <a:lnTo>
                  <a:pt x="64929" y="16887"/>
                </a:lnTo>
                <a:lnTo>
                  <a:pt x="64196" y="17040"/>
                </a:lnTo>
                <a:lnTo>
                  <a:pt x="63463" y="17206"/>
                </a:lnTo>
                <a:lnTo>
                  <a:pt x="62462" y="17276"/>
                </a:lnTo>
                <a:lnTo>
                  <a:pt x="61273" y="17337"/>
                </a:lnTo>
                <a:lnTo>
                  <a:pt x="60297" y="17511"/>
                </a:lnTo>
                <a:lnTo>
                  <a:pt x="58935" y="17608"/>
                </a:lnTo>
                <a:lnTo>
                  <a:pt x="57755" y="17727"/>
                </a:lnTo>
                <a:lnTo>
                  <a:pt x="56114" y="17631"/>
                </a:lnTo>
                <a:lnTo>
                  <a:pt x="54491" y="17777"/>
                </a:lnTo>
                <a:lnTo>
                  <a:pt x="52489" y="17867"/>
                </a:lnTo>
                <a:lnTo>
                  <a:pt x="49893" y="17900"/>
                </a:lnTo>
                <a:lnTo>
                  <a:pt x="46431" y="17789"/>
                </a:lnTo>
                <a:lnTo>
                  <a:pt x="35551" y="17844"/>
                </a:lnTo>
                <a:lnTo>
                  <a:pt x="24584" y="17742"/>
                </a:lnTo>
                <a:lnTo>
                  <a:pt x="21075" y="17740"/>
                </a:lnTo>
                <a:lnTo>
                  <a:pt x="18567" y="17845"/>
                </a:lnTo>
                <a:lnTo>
                  <a:pt x="16505" y="17764"/>
                </a:lnTo>
                <a:lnTo>
                  <a:pt x="14825" y="17707"/>
                </a:lnTo>
                <a:lnTo>
                  <a:pt x="13467" y="17738"/>
                </a:lnTo>
                <a:lnTo>
                  <a:pt x="12055" y="17563"/>
                </a:lnTo>
                <a:lnTo>
                  <a:pt x="10712" y="17419"/>
                </a:lnTo>
                <a:lnTo>
                  <a:pt x="9775" y="17428"/>
                </a:lnTo>
                <a:lnTo>
                  <a:pt x="8703" y="17389"/>
                </a:lnTo>
                <a:lnTo>
                  <a:pt x="7611" y="17333"/>
                </a:lnTo>
                <a:lnTo>
                  <a:pt x="6752" y="17109"/>
                </a:lnTo>
                <a:lnTo>
                  <a:pt x="6106" y="16959"/>
                </a:lnTo>
                <a:lnTo>
                  <a:pt x="5217" y="16773"/>
                </a:lnTo>
                <a:lnTo>
                  <a:pt x="4607" y="16768"/>
                </a:lnTo>
                <a:lnTo>
                  <a:pt x="4140" y="16610"/>
                </a:lnTo>
                <a:lnTo>
                  <a:pt x="3458" y="16409"/>
                </a:lnTo>
                <a:lnTo>
                  <a:pt x="3036" y="16179"/>
                </a:lnTo>
                <a:lnTo>
                  <a:pt x="2366" y="15926"/>
                </a:lnTo>
                <a:lnTo>
                  <a:pt x="2144" y="15776"/>
                </a:lnTo>
                <a:lnTo>
                  <a:pt x="1692" y="15421"/>
                </a:lnTo>
                <a:lnTo>
                  <a:pt x="1276" y="15049"/>
                </a:lnTo>
                <a:lnTo>
                  <a:pt x="1000" y="14909"/>
                </a:lnTo>
                <a:lnTo>
                  <a:pt x="698" y="14538"/>
                </a:lnTo>
                <a:lnTo>
                  <a:pt x="587" y="14193"/>
                </a:lnTo>
                <a:lnTo>
                  <a:pt x="401" y="13732"/>
                </a:lnTo>
                <a:lnTo>
                  <a:pt x="140" y="13302"/>
                </a:lnTo>
                <a:lnTo>
                  <a:pt x="218" y="12535"/>
                </a:lnTo>
                <a:lnTo>
                  <a:pt x="2" y="11604"/>
                </a:lnTo>
                <a:lnTo>
                  <a:pt x="143" y="8998"/>
                </a:lnTo>
                <a:lnTo>
                  <a:pt x="49" y="6152"/>
                </a:lnTo>
                <a:lnTo>
                  <a:pt x="0" y="5383"/>
                </a:lnTo>
                <a:lnTo>
                  <a:pt x="154" y="4690"/>
                </a:lnTo>
                <a:lnTo>
                  <a:pt x="485" y="4117"/>
                </a:lnTo>
                <a:lnTo>
                  <a:pt x="505" y="3906"/>
                </a:lnTo>
                <a:lnTo>
                  <a:pt x="666" y="3308"/>
                </a:lnTo>
                <a:lnTo>
                  <a:pt x="937" y="3106"/>
                </a:lnTo>
                <a:lnTo>
                  <a:pt x="1323" y="2724"/>
                </a:lnTo>
                <a:lnTo>
                  <a:pt x="1673" y="2507"/>
                </a:lnTo>
                <a:lnTo>
                  <a:pt x="1987" y="2130"/>
                </a:lnTo>
                <a:lnTo>
                  <a:pt x="2548" y="2062"/>
                </a:lnTo>
                <a:lnTo>
                  <a:pt x="2858" y="1887"/>
                </a:lnTo>
                <a:lnTo>
                  <a:pt x="3354" y="1701"/>
                </a:lnTo>
                <a:lnTo>
                  <a:pt x="3944" y="1351"/>
                </a:lnTo>
                <a:lnTo>
                  <a:pt x="4738" y="1290"/>
                </a:lnTo>
                <a:lnTo>
                  <a:pt x="5373" y="1163"/>
                </a:lnTo>
                <a:lnTo>
                  <a:pt x="6159" y="823"/>
                </a:lnTo>
                <a:lnTo>
                  <a:pt x="6931" y="867"/>
                </a:lnTo>
                <a:lnTo>
                  <a:pt x="7740" y="610"/>
                </a:lnTo>
                <a:lnTo>
                  <a:pt x="8546" y="588"/>
                </a:lnTo>
                <a:lnTo>
                  <a:pt x="9653" y="490"/>
                </a:lnTo>
                <a:lnTo>
                  <a:pt x="10830" y="516"/>
                </a:lnTo>
                <a:lnTo>
                  <a:pt x="11876" y="425"/>
                </a:lnTo>
                <a:lnTo>
                  <a:pt x="13439" y="264"/>
                </a:lnTo>
                <a:lnTo>
                  <a:pt x="14952" y="164"/>
                </a:lnTo>
                <a:lnTo>
                  <a:pt x="16617" y="127"/>
                </a:lnTo>
                <a:lnTo>
                  <a:pt x="18521" y="160"/>
                </a:lnTo>
                <a:lnTo>
                  <a:pt x="21129" y="170"/>
                </a:lnTo>
                <a:lnTo>
                  <a:pt x="24736" y="44"/>
                </a:lnTo>
                <a:lnTo>
                  <a:pt x="35630" y="0"/>
                </a:lnTo>
                <a:lnTo>
                  <a:pt x="46334" y="150"/>
                </a:lnTo>
                <a:lnTo>
                  <a:pt x="50013" y="166"/>
                </a:lnTo>
                <a:lnTo>
                  <a:pt x="52352" y="179"/>
                </a:lnTo>
                <a:lnTo>
                  <a:pt x="54462" y="66"/>
                </a:lnTo>
                <a:lnTo>
                  <a:pt x="56308" y="175"/>
                </a:lnTo>
                <a:lnTo>
                  <a:pt x="57640" y="312"/>
                </a:lnTo>
                <a:lnTo>
                  <a:pt x="59188" y="369"/>
                </a:lnTo>
                <a:lnTo>
                  <a:pt x="60294" y="514"/>
                </a:lnTo>
                <a:lnTo>
                  <a:pt x="61423" y="517"/>
                </a:lnTo>
                <a:lnTo>
                  <a:pt x="62352" y="684"/>
                </a:lnTo>
                <a:lnTo>
                  <a:pt x="63323" y="637"/>
                </a:lnTo>
                <a:lnTo>
                  <a:pt x="64118" y="744"/>
                </a:lnTo>
                <a:lnTo>
                  <a:pt x="64988" y="828"/>
                </a:lnTo>
                <a:lnTo>
                  <a:pt x="65733" y="1086"/>
                </a:lnTo>
                <a:lnTo>
                  <a:pt x="66390" y="1185"/>
                </a:lnTo>
                <a:lnTo>
                  <a:pt x="66906" y="1370"/>
                </a:lnTo>
                <a:lnTo>
                  <a:pt x="67506" y="1701"/>
                </a:lnTo>
                <a:lnTo>
                  <a:pt x="68110" y="1847"/>
                </a:lnTo>
                <a:lnTo>
                  <a:pt x="68489" y="1884"/>
                </a:lnTo>
                <a:lnTo>
                  <a:pt x="68923" y="2303"/>
                </a:lnTo>
                <a:lnTo>
                  <a:pt x="69495" y="2557"/>
                </a:lnTo>
                <a:lnTo>
                  <a:pt x="69798" y="2715"/>
                </a:lnTo>
                <a:lnTo>
                  <a:pt x="70041" y="3116"/>
                </a:lnTo>
                <a:lnTo>
                  <a:pt x="70321" y="3525"/>
                </a:lnTo>
                <a:lnTo>
                  <a:pt x="70430" y="3729"/>
                </a:lnTo>
                <a:lnTo>
                  <a:pt x="70789" y="4262"/>
                </a:lnTo>
                <a:lnTo>
                  <a:pt x="70805" y="4820"/>
                </a:lnTo>
                <a:lnTo>
                  <a:pt x="70899" y="5460"/>
                </a:lnTo>
                <a:lnTo>
                  <a:pt x="70881" y="6248"/>
                </a:lnTo>
                <a:lnTo>
                  <a:pt x="70925" y="8878"/>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7482627" y="3724077"/>
            <a:ext cx="6501567" cy="1639428"/>
          </a:xfrm>
          <a:custGeom>
            <a:avLst/>
            <a:gdLst/>
            <a:ahLst/>
            <a:cxnLst/>
            <a:rect l="l" t="t" r="r" b="b"/>
            <a:pathLst>
              <a:path w="71102" h="17929">
                <a:moveTo>
                  <a:pt x="70983" y="9077"/>
                </a:moveTo>
                <a:lnTo>
                  <a:pt x="71020" y="11677"/>
                </a:lnTo>
                <a:lnTo>
                  <a:pt x="71041" y="12458"/>
                </a:lnTo>
                <a:lnTo>
                  <a:pt x="70984" y="13205"/>
                </a:lnTo>
                <a:lnTo>
                  <a:pt x="70612" y="13804"/>
                </a:lnTo>
                <a:lnTo>
                  <a:pt x="70631" y="14060"/>
                </a:lnTo>
                <a:lnTo>
                  <a:pt x="70247" y="14487"/>
                </a:lnTo>
                <a:lnTo>
                  <a:pt x="70094" y="14937"/>
                </a:lnTo>
                <a:lnTo>
                  <a:pt x="69674" y="15123"/>
                </a:lnTo>
                <a:lnTo>
                  <a:pt x="69494" y="15405"/>
                </a:lnTo>
                <a:lnTo>
                  <a:pt x="69195" y="15628"/>
                </a:lnTo>
                <a:lnTo>
                  <a:pt x="68597" y="16007"/>
                </a:lnTo>
                <a:lnTo>
                  <a:pt x="68091" y="16166"/>
                </a:lnTo>
                <a:lnTo>
                  <a:pt x="67692" y="16253"/>
                </a:lnTo>
                <a:lnTo>
                  <a:pt x="66987" y="16487"/>
                </a:lnTo>
                <a:lnTo>
                  <a:pt x="66467" y="16705"/>
                </a:lnTo>
                <a:lnTo>
                  <a:pt x="65818" y="16807"/>
                </a:lnTo>
                <a:lnTo>
                  <a:pt x="64994" y="16990"/>
                </a:lnTo>
                <a:lnTo>
                  <a:pt x="64237" y="17231"/>
                </a:lnTo>
                <a:lnTo>
                  <a:pt x="63311" y="17174"/>
                </a:lnTo>
                <a:lnTo>
                  <a:pt x="62582" y="17317"/>
                </a:lnTo>
                <a:lnTo>
                  <a:pt x="61358" y="17361"/>
                </a:lnTo>
                <a:lnTo>
                  <a:pt x="60431" y="17460"/>
                </a:lnTo>
                <a:lnTo>
                  <a:pt x="59039" y="17516"/>
                </a:lnTo>
                <a:lnTo>
                  <a:pt x="57644" y="17638"/>
                </a:lnTo>
                <a:lnTo>
                  <a:pt x="56346" y="17643"/>
                </a:lnTo>
                <a:lnTo>
                  <a:pt x="54432" y="17818"/>
                </a:lnTo>
                <a:lnTo>
                  <a:pt x="52577" y="17845"/>
                </a:lnTo>
                <a:lnTo>
                  <a:pt x="49825" y="17741"/>
                </a:lnTo>
                <a:lnTo>
                  <a:pt x="46509" y="17927"/>
                </a:lnTo>
                <a:lnTo>
                  <a:pt x="35563" y="17872"/>
                </a:lnTo>
                <a:lnTo>
                  <a:pt x="24647" y="17904"/>
                </a:lnTo>
                <a:lnTo>
                  <a:pt x="21215" y="17714"/>
                </a:lnTo>
                <a:lnTo>
                  <a:pt x="18586" y="17929"/>
                </a:lnTo>
                <a:lnTo>
                  <a:pt x="16625" y="17752"/>
                </a:lnTo>
                <a:lnTo>
                  <a:pt x="14937" y="17716"/>
                </a:lnTo>
                <a:lnTo>
                  <a:pt x="13504" y="17670"/>
                </a:lnTo>
                <a:lnTo>
                  <a:pt x="11987" y="17524"/>
                </a:lnTo>
                <a:lnTo>
                  <a:pt x="10798" y="17639"/>
                </a:lnTo>
                <a:lnTo>
                  <a:pt x="9617" y="17472"/>
                </a:lnTo>
                <a:lnTo>
                  <a:pt x="8751" y="17268"/>
                </a:lnTo>
                <a:lnTo>
                  <a:pt x="7873" y="17317"/>
                </a:lnTo>
                <a:lnTo>
                  <a:pt x="6808" y="17198"/>
                </a:lnTo>
                <a:lnTo>
                  <a:pt x="6018" y="16994"/>
                </a:lnTo>
                <a:lnTo>
                  <a:pt x="5366" y="16791"/>
                </a:lnTo>
                <a:lnTo>
                  <a:pt x="4657" y="16780"/>
                </a:lnTo>
                <a:lnTo>
                  <a:pt x="4189" y="16473"/>
                </a:lnTo>
                <a:lnTo>
                  <a:pt x="3417" y="16273"/>
                </a:lnTo>
                <a:lnTo>
                  <a:pt x="2935" y="16122"/>
                </a:lnTo>
                <a:lnTo>
                  <a:pt x="2417" y="15997"/>
                </a:lnTo>
                <a:lnTo>
                  <a:pt x="2048" y="15816"/>
                </a:lnTo>
                <a:lnTo>
                  <a:pt x="1576" y="15456"/>
                </a:lnTo>
                <a:lnTo>
                  <a:pt x="1314" y="15071"/>
                </a:lnTo>
                <a:lnTo>
                  <a:pt x="1059" y="14893"/>
                </a:lnTo>
                <a:lnTo>
                  <a:pt x="890" y="14506"/>
                </a:lnTo>
                <a:lnTo>
                  <a:pt x="635" y="14209"/>
                </a:lnTo>
                <a:lnTo>
                  <a:pt x="456" y="13760"/>
                </a:lnTo>
                <a:lnTo>
                  <a:pt x="231" y="13261"/>
                </a:lnTo>
                <a:lnTo>
                  <a:pt x="241" y="12480"/>
                </a:lnTo>
                <a:lnTo>
                  <a:pt x="234" y="11786"/>
                </a:lnTo>
                <a:lnTo>
                  <a:pt x="0" y="9085"/>
                </a:lnTo>
                <a:lnTo>
                  <a:pt x="183" y="6182"/>
                </a:lnTo>
                <a:lnTo>
                  <a:pt x="262" y="5314"/>
                </a:lnTo>
                <a:lnTo>
                  <a:pt x="255" y="4695"/>
                </a:lnTo>
                <a:lnTo>
                  <a:pt x="472" y="4291"/>
                </a:lnTo>
                <a:lnTo>
                  <a:pt x="503" y="3804"/>
                </a:lnTo>
                <a:lnTo>
                  <a:pt x="805" y="3362"/>
                </a:lnTo>
                <a:lnTo>
                  <a:pt x="1174" y="3026"/>
                </a:lnTo>
                <a:lnTo>
                  <a:pt x="1261" y="2703"/>
                </a:lnTo>
                <a:lnTo>
                  <a:pt x="1598" y="2431"/>
                </a:lnTo>
                <a:lnTo>
                  <a:pt x="2195" y="2263"/>
                </a:lnTo>
                <a:lnTo>
                  <a:pt x="2489" y="1979"/>
                </a:lnTo>
                <a:lnTo>
                  <a:pt x="3013" y="1876"/>
                </a:lnTo>
                <a:lnTo>
                  <a:pt x="3611" y="1517"/>
                </a:lnTo>
                <a:lnTo>
                  <a:pt x="3968" y="1504"/>
                </a:lnTo>
                <a:lnTo>
                  <a:pt x="4776" y="1149"/>
                </a:lnTo>
                <a:lnTo>
                  <a:pt x="5463" y="1207"/>
                </a:lnTo>
                <a:lnTo>
                  <a:pt x="5983" y="889"/>
                </a:lnTo>
                <a:lnTo>
                  <a:pt x="6870" y="829"/>
                </a:lnTo>
                <a:lnTo>
                  <a:pt x="7661" y="700"/>
                </a:lnTo>
                <a:lnTo>
                  <a:pt x="8605" y="499"/>
                </a:lnTo>
                <a:lnTo>
                  <a:pt x="9707" y="507"/>
                </a:lnTo>
                <a:lnTo>
                  <a:pt x="10840" y="501"/>
                </a:lnTo>
                <a:lnTo>
                  <a:pt x="12067" y="337"/>
                </a:lnTo>
                <a:lnTo>
                  <a:pt x="13449" y="310"/>
                </a:lnTo>
                <a:lnTo>
                  <a:pt x="14858" y="219"/>
                </a:lnTo>
                <a:lnTo>
                  <a:pt x="16633" y="149"/>
                </a:lnTo>
                <a:lnTo>
                  <a:pt x="18782" y="70"/>
                </a:lnTo>
                <a:lnTo>
                  <a:pt x="21246" y="190"/>
                </a:lnTo>
                <a:lnTo>
                  <a:pt x="24758" y="208"/>
                </a:lnTo>
                <a:lnTo>
                  <a:pt x="35613" y="34"/>
                </a:lnTo>
                <a:lnTo>
                  <a:pt x="46481" y="0"/>
                </a:lnTo>
                <a:lnTo>
                  <a:pt x="49960" y="67"/>
                </a:lnTo>
                <a:lnTo>
                  <a:pt x="52379" y="251"/>
                </a:lnTo>
                <a:lnTo>
                  <a:pt x="54564" y="284"/>
                </a:lnTo>
                <a:lnTo>
                  <a:pt x="56321" y="136"/>
                </a:lnTo>
                <a:lnTo>
                  <a:pt x="57653" y="185"/>
                </a:lnTo>
                <a:lnTo>
                  <a:pt x="59142" y="223"/>
                </a:lnTo>
                <a:lnTo>
                  <a:pt x="60238" y="497"/>
                </a:lnTo>
                <a:lnTo>
                  <a:pt x="61368" y="497"/>
                </a:lnTo>
                <a:lnTo>
                  <a:pt x="62526" y="682"/>
                </a:lnTo>
                <a:lnTo>
                  <a:pt x="63465" y="644"/>
                </a:lnTo>
                <a:lnTo>
                  <a:pt x="64155" y="858"/>
                </a:lnTo>
                <a:lnTo>
                  <a:pt x="65172" y="827"/>
                </a:lnTo>
                <a:lnTo>
                  <a:pt x="65755" y="1167"/>
                </a:lnTo>
                <a:lnTo>
                  <a:pt x="66387" y="1199"/>
                </a:lnTo>
                <a:lnTo>
                  <a:pt x="66949" y="1377"/>
                </a:lnTo>
                <a:lnTo>
                  <a:pt x="67624" y="1623"/>
                </a:lnTo>
                <a:lnTo>
                  <a:pt x="68281" y="1858"/>
                </a:lnTo>
                <a:lnTo>
                  <a:pt x="68752" y="2060"/>
                </a:lnTo>
                <a:lnTo>
                  <a:pt x="68939" y="2356"/>
                </a:lnTo>
                <a:lnTo>
                  <a:pt x="69551" y="2502"/>
                </a:lnTo>
                <a:lnTo>
                  <a:pt x="69882" y="2731"/>
                </a:lnTo>
                <a:lnTo>
                  <a:pt x="69991" y="3178"/>
                </a:lnTo>
                <a:lnTo>
                  <a:pt x="70239" y="3325"/>
                </a:lnTo>
                <a:lnTo>
                  <a:pt x="70517" y="3723"/>
                </a:lnTo>
                <a:lnTo>
                  <a:pt x="70788" y="4218"/>
                </a:lnTo>
                <a:lnTo>
                  <a:pt x="70842" y="4756"/>
                </a:lnTo>
                <a:lnTo>
                  <a:pt x="70846" y="5326"/>
                </a:lnTo>
                <a:lnTo>
                  <a:pt x="71102" y="6216"/>
                </a:lnTo>
                <a:lnTo>
                  <a:pt x="71053" y="8943"/>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13864133" y="4977811"/>
            <a:ext cx="86685" cy="133320"/>
          </a:xfrm>
          <a:custGeom>
            <a:avLst/>
            <a:gdLst/>
            <a:ahLst/>
            <a:cxnLst/>
            <a:rect l="l" t="t" r="r" b="b"/>
            <a:pathLst>
              <a:path w="948" h="1458">
                <a:moveTo>
                  <a:pt x="948" y="0"/>
                </a:moveTo>
                <a:lnTo>
                  <a:pt x="771" y="433"/>
                </a:lnTo>
                <a:lnTo>
                  <a:pt x="555" y="813"/>
                </a:lnTo>
                <a:lnTo>
                  <a:pt x="298" y="1152"/>
                </a:lnTo>
                <a:lnTo>
                  <a:pt x="0" y="1458"/>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12887096" y="5301417"/>
            <a:ext cx="392186" cy="33101"/>
          </a:xfrm>
          <a:custGeom>
            <a:avLst/>
            <a:gdLst/>
            <a:ahLst/>
            <a:cxnLst/>
            <a:rect l="l" t="t" r="r" b="b"/>
            <a:pathLst>
              <a:path w="4289" h="362">
                <a:moveTo>
                  <a:pt x="4289" y="0"/>
                </a:moveTo>
                <a:lnTo>
                  <a:pt x="3354" y="106"/>
                </a:lnTo>
                <a:lnTo>
                  <a:pt x="2335" y="202"/>
                </a:lnTo>
                <a:lnTo>
                  <a:pt x="1223" y="288"/>
                </a:lnTo>
                <a:lnTo>
                  <a:pt x="0" y="362"/>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8471184" y="5327752"/>
            <a:ext cx="533004" cy="21671"/>
          </a:xfrm>
          <a:custGeom>
            <a:avLst/>
            <a:gdLst/>
            <a:ahLst/>
            <a:cxnLst/>
            <a:rect l="l" t="t" r="r" b="b"/>
            <a:pathLst>
              <a:path w="5829" h="237">
                <a:moveTo>
                  <a:pt x="5829" y="237"/>
                </a:moveTo>
                <a:lnTo>
                  <a:pt x="4096" y="193"/>
                </a:lnTo>
                <a:lnTo>
                  <a:pt x="2577" y="139"/>
                </a:lnTo>
                <a:lnTo>
                  <a:pt x="1223" y="74"/>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7578730" y="5083150"/>
            <a:ext cx="132497" cy="98207"/>
          </a:xfrm>
          <a:custGeom>
            <a:avLst/>
            <a:gdLst/>
            <a:ahLst/>
            <a:cxnLst/>
            <a:rect l="l" t="t" r="r" b="b"/>
            <a:pathLst>
              <a:path w="1449" h="1074">
                <a:moveTo>
                  <a:pt x="1449" y="1074"/>
                </a:moveTo>
                <a:lnTo>
                  <a:pt x="1022" y="840"/>
                </a:lnTo>
                <a:lnTo>
                  <a:pt x="639" y="585"/>
                </a:lnTo>
                <a:lnTo>
                  <a:pt x="298" y="306"/>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7519294" y="3978006"/>
            <a:ext cx="86685" cy="133320"/>
          </a:xfrm>
          <a:custGeom>
            <a:avLst/>
            <a:gdLst/>
            <a:ahLst/>
            <a:cxnLst/>
            <a:rect l="l" t="t" r="r" b="b"/>
            <a:pathLst>
              <a:path w="948" h="1458">
                <a:moveTo>
                  <a:pt x="0" y="1458"/>
                </a:moveTo>
                <a:lnTo>
                  <a:pt x="177" y="1025"/>
                </a:lnTo>
                <a:lnTo>
                  <a:pt x="393" y="645"/>
                </a:lnTo>
                <a:lnTo>
                  <a:pt x="650" y="306"/>
                </a:lnTo>
                <a:lnTo>
                  <a:pt x="948"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8190829" y="3754618"/>
            <a:ext cx="392186" cy="33101"/>
          </a:xfrm>
          <a:custGeom>
            <a:avLst/>
            <a:gdLst/>
            <a:ahLst/>
            <a:cxnLst/>
            <a:rect l="l" t="t" r="r" b="b"/>
            <a:pathLst>
              <a:path w="4289" h="362">
                <a:moveTo>
                  <a:pt x="0" y="362"/>
                </a:moveTo>
                <a:lnTo>
                  <a:pt x="935" y="256"/>
                </a:lnTo>
                <a:lnTo>
                  <a:pt x="1954" y="160"/>
                </a:lnTo>
                <a:lnTo>
                  <a:pt x="3066" y="74"/>
                </a:lnTo>
                <a:lnTo>
                  <a:pt x="4289"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12465924" y="3739713"/>
            <a:ext cx="533004" cy="21671"/>
          </a:xfrm>
          <a:custGeom>
            <a:avLst/>
            <a:gdLst/>
            <a:ahLst/>
            <a:cxnLst/>
            <a:rect l="l" t="t" r="r" b="b"/>
            <a:pathLst>
              <a:path w="5829" h="237">
                <a:moveTo>
                  <a:pt x="0" y="0"/>
                </a:moveTo>
                <a:lnTo>
                  <a:pt x="1733" y="44"/>
                </a:lnTo>
                <a:lnTo>
                  <a:pt x="3252" y="98"/>
                </a:lnTo>
                <a:lnTo>
                  <a:pt x="4606" y="163"/>
                </a:lnTo>
                <a:lnTo>
                  <a:pt x="5829" y="237"/>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13758885" y="3907780"/>
            <a:ext cx="132497" cy="98207"/>
          </a:xfrm>
          <a:custGeom>
            <a:avLst/>
            <a:gdLst/>
            <a:ahLst/>
            <a:cxnLst/>
            <a:rect l="l" t="t" r="r" b="b"/>
            <a:pathLst>
              <a:path w="1449" h="1074">
                <a:moveTo>
                  <a:pt x="0" y="0"/>
                </a:moveTo>
                <a:lnTo>
                  <a:pt x="427" y="234"/>
                </a:lnTo>
                <a:lnTo>
                  <a:pt x="810" y="489"/>
                </a:lnTo>
                <a:lnTo>
                  <a:pt x="1151" y="768"/>
                </a:lnTo>
                <a:lnTo>
                  <a:pt x="1449" y="1074"/>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ody: 4"/>
          <p:cNvSpPr txBox="1"/>
          <p:nvPr/>
        </p:nvSpPr>
        <p:spPr>
          <a:xfrm>
            <a:off x="7754112" y="4014295"/>
            <a:ext cx="420624" cy="411321"/>
          </a:xfrm>
          <a:prstGeom prst="rect">
            <a:avLst/>
          </a:prstGeom>
          <a:noFill/>
        </p:spPr>
        <p:txBody>
          <a:bodyPr wrap="none" lIns="0" rIns="0" tIns="0" bIns="0" anchor="t">
            <a:noAutofit/>
          </a:bodyPr>
          <a:lstStyle/>
          <a:p>
            <a:pPr algn="ctr">
              <a:lnSpc>
                <a:spcPts val="2698"/>
              </a:lnSpc>
              <a:spcBef>
                <a:spcPts val="0"/>
              </a:spcBef>
              <a:spcAft>
                <a:spcPts val="0"/>
              </a:spcAft>
            </a:pPr>
            <a:r>
              <a:rPr sz="2125" b="1">
                <a:solidFill>
                  <a:srgbClr val="AE6B55"/>
                </a:solidFill>
                <a:latin typeface="Trebuchet MS"/>
              </a:rPr>
              <a:t>4</a:t>
            </a:r>
          </a:p>
        </p:txBody>
      </p:sp>
      <p:sp>
        <p:nvSpPr>
          <p:cNvPr id="66" name="body: Components"/>
          <p:cNvSpPr txBox="1"/>
          <p:nvPr/>
        </p:nvSpPr>
        <p:spPr>
          <a:xfrm>
            <a:off x="8394192" y="3886454"/>
            <a:ext cx="5266944" cy="465836"/>
          </a:xfrm>
          <a:prstGeom prst="rect">
            <a:avLst/>
          </a:prstGeom>
          <a:noFill/>
        </p:spPr>
        <p:txBody>
          <a:bodyPr wrap="none" lIns="0" rIns="0" tIns="0" bIns="0" anchor="t">
            <a:noAutofit/>
          </a:bodyPr>
          <a:lstStyle/>
          <a:p>
            <a:pPr algn="ctr">
              <a:lnSpc>
                <a:spcPts val="3128"/>
              </a:lnSpc>
              <a:spcBef>
                <a:spcPts val="0"/>
              </a:spcBef>
              <a:spcAft>
                <a:spcPts val="0"/>
              </a:spcAft>
            </a:pPr>
            <a:r>
              <a:rPr sz="2300" b="1">
                <a:solidFill>
                  <a:srgbClr val="AE6B55"/>
                </a:solidFill>
                <a:latin typeface="Chalkboard SE"/>
              </a:rPr>
              <a:t>Components</a:t>
            </a:r>
          </a:p>
        </p:txBody>
      </p:sp>
      <p:sp>
        <p:nvSpPr>
          <p:cNvPr id="67" name="body: Intake, library, synthesis, replay, optimizer, monitor, release"/>
          <p:cNvSpPr txBox="1"/>
          <p:nvPr/>
        </p:nvSpPr>
        <p:spPr>
          <a:xfrm>
            <a:off x="8348471" y="4507738"/>
            <a:ext cx="5321808" cy="713739"/>
          </a:xfrm>
          <a:prstGeom prst="rect">
            <a:avLst/>
          </a:prstGeom>
          <a:noFill/>
        </p:spPr>
        <p:txBody>
          <a:bodyPr wrap="none" lIns="0" rIns="0" tIns="0" bIns="0" anchor="t">
            <a:noAutofit/>
          </a:bodyPr>
          <a:lstStyle/>
          <a:p>
            <a:pPr algn="ctr">
              <a:lnSpc>
                <a:spcPts val="2540"/>
              </a:lnSpc>
              <a:spcBef>
                <a:spcPts val="0"/>
              </a:spcBef>
              <a:spcAft>
                <a:spcPts val="0"/>
              </a:spcAft>
            </a:pPr>
            <a:r>
              <a:rPr sz="2000" b="0">
                <a:solidFill>
                  <a:srgbClr val="293E46"/>
                </a:solidFill>
                <a:latin typeface="Trebuchet MS"/>
              </a:rPr>
              <a:t>Intake, library, synthesis, replay, optimizer,</a:t>
            </a:r>
            <a:br/>
            <a:r>
              <a:rPr sz="2000" b="0">
                <a:solidFill>
                  <a:srgbClr val="293E46"/>
                </a:solidFill>
                <a:latin typeface="Trebuchet MS"/>
              </a:rPr>
              <a:t>monitor, release</a:t>
            </a:r>
          </a:p>
        </p:txBody>
      </p:sp>
      <p:sp>
        <p:nvSpPr>
          <p:cNvPr id="68" name="Rounded Rectangle 67"/>
          <p:cNvSpPr/>
          <p:nvPr/>
        </p:nvSpPr>
        <p:spPr>
          <a:xfrm>
            <a:off x="640080" y="5641848"/>
            <a:ext cx="6510528" cy="1645920"/>
          </a:xfrm>
          <a:prstGeom prst="roundRect">
            <a:avLst>
              <a:gd name="adj" fmla="val 18000"/>
            </a:avLst>
          </a:prstGeom>
          <a:solidFill>
            <a:srgbClr val="F0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649681" y="5643860"/>
            <a:ext cx="6495166" cy="1637508"/>
          </a:xfrm>
          <a:custGeom>
            <a:avLst/>
            <a:gdLst/>
            <a:ahLst/>
            <a:cxnLst/>
            <a:rect l="l" t="t" r="r" b="b"/>
            <a:pathLst>
              <a:path w="71032" h="17908">
                <a:moveTo>
                  <a:pt x="70936" y="9049"/>
                </a:moveTo>
                <a:lnTo>
                  <a:pt x="70977" y="11821"/>
                </a:lnTo>
                <a:lnTo>
                  <a:pt x="70793" y="12495"/>
                </a:lnTo>
                <a:lnTo>
                  <a:pt x="70794" y="13200"/>
                </a:lnTo>
                <a:lnTo>
                  <a:pt x="70733" y="13651"/>
                </a:lnTo>
                <a:lnTo>
                  <a:pt x="70583" y="14162"/>
                </a:lnTo>
                <a:lnTo>
                  <a:pt x="70195" y="14555"/>
                </a:lnTo>
                <a:lnTo>
                  <a:pt x="70133" y="14941"/>
                </a:lnTo>
                <a:lnTo>
                  <a:pt x="69778" y="15169"/>
                </a:lnTo>
                <a:lnTo>
                  <a:pt x="69299" y="15549"/>
                </a:lnTo>
                <a:lnTo>
                  <a:pt x="69097" y="15668"/>
                </a:lnTo>
                <a:lnTo>
                  <a:pt x="68671" y="15919"/>
                </a:lnTo>
                <a:lnTo>
                  <a:pt x="68052" y="16105"/>
                </a:lnTo>
                <a:lnTo>
                  <a:pt x="67444" y="16404"/>
                </a:lnTo>
                <a:lnTo>
                  <a:pt x="67020" y="16485"/>
                </a:lnTo>
                <a:lnTo>
                  <a:pt x="66331" y="16681"/>
                </a:lnTo>
                <a:lnTo>
                  <a:pt x="65603" y="16962"/>
                </a:lnTo>
                <a:lnTo>
                  <a:pt x="65021" y="17076"/>
                </a:lnTo>
                <a:lnTo>
                  <a:pt x="64086" y="17100"/>
                </a:lnTo>
                <a:lnTo>
                  <a:pt x="63278" y="17168"/>
                </a:lnTo>
                <a:lnTo>
                  <a:pt x="62379" y="17442"/>
                </a:lnTo>
                <a:lnTo>
                  <a:pt x="61325" y="17395"/>
                </a:lnTo>
                <a:lnTo>
                  <a:pt x="60289" y="17596"/>
                </a:lnTo>
                <a:lnTo>
                  <a:pt x="58956" y="17584"/>
                </a:lnTo>
                <a:lnTo>
                  <a:pt x="57750" y="17622"/>
                </a:lnTo>
                <a:lnTo>
                  <a:pt x="56206" y="17839"/>
                </a:lnTo>
                <a:lnTo>
                  <a:pt x="54446" y="17666"/>
                </a:lnTo>
                <a:lnTo>
                  <a:pt x="52350" y="17710"/>
                </a:lnTo>
                <a:lnTo>
                  <a:pt x="49827" y="17824"/>
                </a:lnTo>
                <a:lnTo>
                  <a:pt x="46349" y="17805"/>
                </a:lnTo>
                <a:lnTo>
                  <a:pt x="35404" y="17899"/>
                </a:lnTo>
                <a:lnTo>
                  <a:pt x="24627" y="17764"/>
                </a:lnTo>
                <a:lnTo>
                  <a:pt x="21125" y="17908"/>
                </a:lnTo>
                <a:lnTo>
                  <a:pt x="18538" y="17808"/>
                </a:lnTo>
                <a:lnTo>
                  <a:pt x="16451" y="17756"/>
                </a:lnTo>
                <a:lnTo>
                  <a:pt x="14792" y="17796"/>
                </a:lnTo>
                <a:lnTo>
                  <a:pt x="13283" y="17615"/>
                </a:lnTo>
                <a:lnTo>
                  <a:pt x="11861" y="17529"/>
                </a:lnTo>
                <a:lnTo>
                  <a:pt x="10671" y="17432"/>
                </a:lnTo>
                <a:lnTo>
                  <a:pt x="9583" y="17485"/>
                </a:lnTo>
                <a:lnTo>
                  <a:pt x="8595" y="17472"/>
                </a:lnTo>
                <a:lnTo>
                  <a:pt x="7800" y="17228"/>
                </a:lnTo>
                <a:lnTo>
                  <a:pt x="6824" y="17127"/>
                </a:lnTo>
                <a:lnTo>
                  <a:pt x="5994" y="17063"/>
                </a:lnTo>
                <a:lnTo>
                  <a:pt x="5319" y="16934"/>
                </a:lnTo>
                <a:lnTo>
                  <a:pt x="4710" y="16688"/>
                </a:lnTo>
                <a:lnTo>
                  <a:pt x="4087" y="16464"/>
                </a:lnTo>
                <a:lnTo>
                  <a:pt x="3453" y="16289"/>
                </a:lnTo>
                <a:lnTo>
                  <a:pt x="2990" y="16159"/>
                </a:lnTo>
                <a:lnTo>
                  <a:pt x="2519" y="16034"/>
                </a:lnTo>
                <a:lnTo>
                  <a:pt x="2075" y="15621"/>
                </a:lnTo>
                <a:lnTo>
                  <a:pt x="1599" y="15428"/>
                </a:lnTo>
                <a:lnTo>
                  <a:pt x="1391" y="15081"/>
                </a:lnTo>
                <a:lnTo>
                  <a:pt x="856" y="14927"/>
                </a:lnTo>
                <a:lnTo>
                  <a:pt x="678" y="14581"/>
                </a:lnTo>
                <a:lnTo>
                  <a:pt x="626" y="14041"/>
                </a:lnTo>
                <a:lnTo>
                  <a:pt x="326" y="13749"/>
                </a:lnTo>
                <a:lnTo>
                  <a:pt x="219" y="13178"/>
                </a:lnTo>
                <a:lnTo>
                  <a:pt x="183" y="12463"/>
                </a:lnTo>
                <a:lnTo>
                  <a:pt x="0" y="11792"/>
                </a:lnTo>
                <a:lnTo>
                  <a:pt x="99" y="8956"/>
                </a:lnTo>
                <a:lnTo>
                  <a:pt x="155" y="6344"/>
                </a:lnTo>
                <a:lnTo>
                  <a:pt x="121" y="5368"/>
                </a:lnTo>
                <a:lnTo>
                  <a:pt x="281" y="4760"/>
                </a:lnTo>
                <a:lnTo>
                  <a:pt x="384" y="4232"/>
                </a:lnTo>
                <a:lnTo>
                  <a:pt x="396" y="3878"/>
                </a:lnTo>
                <a:lnTo>
                  <a:pt x="826" y="3374"/>
                </a:lnTo>
                <a:lnTo>
                  <a:pt x="952" y="3200"/>
                </a:lnTo>
                <a:lnTo>
                  <a:pt x="1187" y="2812"/>
                </a:lnTo>
                <a:lnTo>
                  <a:pt x="1583" y="2450"/>
                </a:lnTo>
                <a:lnTo>
                  <a:pt x="2074" y="2184"/>
                </a:lnTo>
                <a:lnTo>
                  <a:pt x="2342" y="2017"/>
                </a:lnTo>
                <a:lnTo>
                  <a:pt x="2992" y="1753"/>
                </a:lnTo>
                <a:lnTo>
                  <a:pt x="3402" y="1503"/>
                </a:lnTo>
                <a:lnTo>
                  <a:pt x="4009" y="1506"/>
                </a:lnTo>
                <a:lnTo>
                  <a:pt x="4510" y="1339"/>
                </a:lnTo>
                <a:lnTo>
                  <a:pt x="5173" y="1009"/>
                </a:lnTo>
                <a:lnTo>
                  <a:pt x="6012" y="833"/>
                </a:lnTo>
                <a:lnTo>
                  <a:pt x="6804" y="901"/>
                </a:lnTo>
                <a:lnTo>
                  <a:pt x="7632" y="789"/>
                </a:lnTo>
                <a:lnTo>
                  <a:pt x="8559" y="656"/>
                </a:lnTo>
                <a:lnTo>
                  <a:pt x="9572" y="379"/>
                </a:lnTo>
                <a:lnTo>
                  <a:pt x="10691" y="426"/>
                </a:lnTo>
                <a:lnTo>
                  <a:pt x="11924" y="365"/>
                </a:lnTo>
                <a:lnTo>
                  <a:pt x="13430" y="290"/>
                </a:lnTo>
                <a:lnTo>
                  <a:pt x="14752" y="243"/>
                </a:lnTo>
                <a:lnTo>
                  <a:pt x="16582" y="293"/>
                </a:lnTo>
                <a:lnTo>
                  <a:pt x="18601" y="188"/>
                </a:lnTo>
                <a:lnTo>
                  <a:pt x="21174" y="138"/>
                </a:lnTo>
                <a:lnTo>
                  <a:pt x="24688" y="206"/>
                </a:lnTo>
                <a:lnTo>
                  <a:pt x="35452" y="0"/>
                </a:lnTo>
                <a:lnTo>
                  <a:pt x="46341" y="209"/>
                </a:lnTo>
                <a:lnTo>
                  <a:pt x="49885" y="76"/>
                </a:lnTo>
                <a:lnTo>
                  <a:pt x="52406" y="209"/>
                </a:lnTo>
                <a:lnTo>
                  <a:pt x="54305" y="185"/>
                </a:lnTo>
                <a:lnTo>
                  <a:pt x="56176" y="123"/>
                </a:lnTo>
                <a:lnTo>
                  <a:pt x="57691" y="311"/>
                </a:lnTo>
                <a:lnTo>
                  <a:pt x="59006" y="350"/>
                </a:lnTo>
                <a:lnTo>
                  <a:pt x="60167" y="380"/>
                </a:lnTo>
                <a:lnTo>
                  <a:pt x="61311" y="406"/>
                </a:lnTo>
                <a:lnTo>
                  <a:pt x="62369" y="580"/>
                </a:lnTo>
                <a:lnTo>
                  <a:pt x="63447" y="762"/>
                </a:lnTo>
                <a:lnTo>
                  <a:pt x="64262" y="787"/>
                </a:lnTo>
                <a:lnTo>
                  <a:pt x="64963" y="926"/>
                </a:lnTo>
                <a:lnTo>
                  <a:pt x="65646" y="1010"/>
                </a:lnTo>
                <a:lnTo>
                  <a:pt x="66455" y="1302"/>
                </a:lnTo>
                <a:lnTo>
                  <a:pt x="67034" y="1410"/>
                </a:lnTo>
                <a:lnTo>
                  <a:pt x="67699" y="1497"/>
                </a:lnTo>
                <a:lnTo>
                  <a:pt x="68154" y="1800"/>
                </a:lnTo>
                <a:lnTo>
                  <a:pt x="68544" y="2049"/>
                </a:lnTo>
                <a:lnTo>
                  <a:pt x="68929" y="2267"/>
                </a:lnTo>
                <a:lnTo>
                  <a:pt x="69424" y="2383"/>
                </a:lnTo>
                <a:lnTo>
                  <a:pt x="69730" y="2771"/>
                </a:lnTo>
                <a:lnTo>
                  <a:pt x="69896" y="3081"/>
                </a:lnTo>
                <a:lnTo>
                  <a:pt x="70141" y="3413"/>
                </a:lnTo>
                <a:lnTo>
                  <a:pt x="70373" y="3759"/>
                </a:lnTo>
                <a:lnTo>
                  <a:pt x="70625" y="4164"/>
                </a:lnTo>
                <a:lnTo>
                  <a:pt x="70715" y="4705"/>
                </a:lnTo>
                <a:lnTo>
                  <a:pt x="70843" y="5356"/>
                </a:lnTo>
                <a:lnTo>
                  <a:pt x="71032" y="6212"/>
                </a:lnTo>
                <a:lnTo>
                  <a:pt x="70997" y="8943"/>
                </a:lnTo>
                <a:close/>
              </a:path>
            </a:pathLst>
          </a:custGeom>
          <a:noFill/>
          <a:ln w="19685" cap="rnd">
            <a:solidFill>
              <a:srgbClr val="7C7196">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647212" y="5644500"/>
            <a:ext cx="6495989" cy="1642354"/>
          </a:xfrm>
          <a:custGeom>
            <a:avLst/>
            <a:gdLst/>
            <a:ahLst/>
            <a:cxnLst/>
            <a:rect l="l" t="t" r="r" b="b"/>
            <a:pathLst>
              <a:path w="71041" h="17961">
                <a:moveTo>
                  <a:pt x="70983" y="8895"/>
                </a:moveTo>
                <a:lnTo>
                  <a:pt x="70933" y="11589"/>
                </a:lnTo>
                <a:lnTo>
                  <a:pt x="70977" y="12547"/>
                </a:lnTo>
                <a:lnTo>
                  <a:pt x="70867" y="13200"/>
                </a:lnTo>
                <a:lnTo>
                  <a:pt x="70706" y="13731"/>
                </a:lnTo>
                <a:lnTo>
                  <a:pt x="70538" y="14222"/>
                </a:lnTo>
                <a:lnTo>
                  <a:pt x="70295" y="14489"/>
                </a:lnTo>
                <a:lnTo>
                  <a:pt x="70050" y="14872"/>
                </a:lnTo>
                <a:lnTo>
                  <a:pt x="69707" y="15131"/>
                </a:lnTo>
                <a:lnTo>
                  <a:pt x="69498" y="15482"/>
                </a:lnTo>
                <a:lnTo>
                  <a:pt x="68925" y="15688"/>
                </a:lnTo>
                <a:lnTo>
                  <a:pt x="68670" y="15904"/>
                </a:lnTo>
                <a:lnTo>
                  <a:pt x="68054" y="16160"/>
                </a:lnTo>
                <a:lnTo>
                  <a:pt x="67650" y="16362"/>
                </a:lnTo>
                <a:lnTo>
                  <a:pt x="66921" y="16547"/>
                </a:lnTo>
                <a:lnTo>
                  <a:pt x="66380" y="16780"/>
                </a:lnTo>
                <a:lnTo>
                  <a:pt x="65645" y="16904"/>
                </a:lnTo>
                <a:lnTo>
                  <a:pt x="65027" y="17112"/>
                </a:lnTo>
                <a:lnTo>
                  <a:pt x="64266" y="17227"/>
                </a:lnTo>
                <a:lnTo>
                  <a:pt x="63357" y="17216"/>
                </a:lnTo>
                <a:lnTo>
                  <a:pt x="62307" y="17235"/>
                </a:lnTo>
                <a:lnTo>
                  <a:pt x="61401" y="17508"/>
                </a:lnTo>
                <a:lnTo>
                  <a:pt x="60406" y="17485"/>
                </a:lnTo>
                <a:lnTo>
                  <a:pt x="59094" y="17639"/>
                </a:lnTo>
                <a:lnTo>
                  <a:pt x="57633" y="17719"/>
                </a:lnTo>
                <a:lnTo>
                  <a:pt x="56122" y="17675"/>
                </a:lnTo>
                <a:lnTo>
                  <a:pt x="54523" y="17743"/>
                </a:lnTo>
                <a:lnTo>
                  <a:pt x="52473" y="17710"/>
                </a:lnTo>
                <a:lnTo>
                  <a:pt x="49979" y="17779"/>
                </a:lnTo>
                <a:lnTo>
                  <a:pt x="46371" y="17919"/>
                </a:lnTo>
                <a:lnTo>
                  <a:pt x="35430" y="17842"/>
                </a:lnTo>
                <a:lnTo>
                  <a:pt x="24529" y="17961"/>
                </a:lnTo>
                <a:lnTo>
                  <a:pt x="21111" y="17762"/>
                </a:lnTo>
                <a:lnTo>
                  <a:pt x="18617" y="17701"/>
                </a:lnTo>
                <a:lnTo>
                  <a:pt x="16568" y="17775"/>
                </a:lnTo>
                <a:lnTo>
                  <a:pt x="14890" y="17836"/>
                </a:lnTo>
                <a:lnTo>
                  <a:pt x="13406" y="17593"/>
                </a:lnTo>
                <a:lnTo>
                  <a:pt x="12089" y="17631"/>
                </a:lnTo>
                <a:lnTo>
                  <a:pt x="10648" y="17497"/>
                </a:lnTo>
                <a:lnTo>
                  <a:pt x="9768" y="17390"/>
                </a:lnTo>
                <a:lnTo>
                  <a:pt x="8762" y="17365"/>
                </a:lnTo>
                <a:lnTo>
                  <a:pt x="7683" y="17251"/>
                </a:lnTo>
                <a:lnTo>
                  <a:pt x="6737" y="17166"/>
                </a:lnTo>
                <a:lnTo>
                  <a:pt x="6117" y="16957"/>
                </a:lnTo>
                <a:lnTo>
                  <a:pt x="5414" y="16909"/>
                </a:lnTo>
                <a:lnTo>
                  <a:pt x="4589" y="16585"/>
                </a:lnTo>
                <a:lnTo>
                  <a:pt x="3959" y="16590"/>
                </a:lnTo>
                <a:lnTo>
                  <a:pt x="3463" y="16291"/>
                </a:lnTo>
                <a:lnTo>
                  <a:pt x="2881" y="16182"/>
                </a:lnTo>
                <a:lnTo>
                  <a:pt x="2382" y="15968"/>
                </a:lnTo>
                <a:lnTo>
                  <a:pt x="2005" y="15595"/>
                </a:lnTo>
                <a:lnTo>
                  <a:pt x="1768" y="15360"/>
                </a:lnTo>
                <a:lnTo>
                  <a:pt x="1348" y="15112"/>
                </a:lnTo>
                <a:lnTo>
                  <a:pt x="1022" y="14859"/>
                </a:lnTo>
                <a:lnTo>
                  <a:pt x="869" y="14629"/>
                </a:lnTo>
                <a:lnTo>
                  <a:pt x="497" y="14217"/>
                </a:lnTo>
                <a:lnTo>
                  <a:pt x="316" y="13649"/>
                </a:lnTo>
                <a:lnTo>
                  <a:pt x="227" y="13245"/>
                </a:lnTo>
                <a:lnTo>
                  <a:pt x="182" y="12456"/>
                </a:lnTo>
                <a:lnTo>
                  <a:pt x="191" y="11624"/>
                </a:lnTo>
                <a:lnTo>
                  <a:pt x="0" y="8917"/>
                </a:lnTo>
                <a:lnTo>
                  <a:pt x="58" y="6349"/>
                </a:lnTo>
                <a:lnTo>
                  <a:pt x="207" y="5383"/>
                </a:lnTo>
                <a:lnTo>
                  <a:pt x="250" y="4822"/>
                </a:lnTo>
                <a:lnTo>
                  <a:pt x="483" y="4164"/>
                </a:lnTo>
                <a:lnTo>
                  <a:pt x="404" y="3912"/>
                </a:lnTo>
                <a:lnTo>
                  <a:pt x="735" y="3412"/>
                </a:lnTo>
                <a:lnTo>
                  <a:pt x="1071" y="3021"/>
                </a:lnTo>
                <a:lnTo>
                  <a:pt x="1327" y="2810"/>
                </a:lnTo>
                <a:lnTo>
                  <a:pt x="1539" y="2436"/>
                </a:lnTo>
                <a:lnTo>
                  <a:pt x="1984" y="2306"/>
                </a:lnTo>
                <a:lnTo>
                  <a:pt x="2467" y="1964"/>
                </a:lnTo>
                <a:lnTo>
                  <a:pt x="2897" y="1726"/>
                </a:lnTo>
                <a:lnTo>
                  <a:pt x="3506" y="1699"/>
                </a:lnTo>
                <a:lnTo>
                  <a:pt x="4040" y="1505"/>
                </a:lnTo>
                <a:lnTo>
                  <a:pt x="4656" y="1166"/>
                </a:lnTo>
                <a:lnTo>
                  <a:pt x="5179" y="1176"/>
                </a:lnTo>
                <a:lnTo>
                  <a:pt x="6090" y="835"/>
                </a:lnTo>
                <a:lnTo>
                  <a:pt x="6725" y="800"/>
                </a:lnTo>
                <a:lnTo>
                  <a:pt x="7765" y="729"/>
                </a:lnTo>
                <a:lnTo>
                  <a:pt x="8544" y="598"/>
                </a:lnTo>
                <a:lnTo>
                  <a:pt x="9540" y="557"/>
                </a:lnTo>
                <a:lnTo>
                  <a:pt x="10682" y="512"/>
                </a:lnTo>
                <a:lnTo>
                  <a:pt x="11911" y="363"/>
                </a:lnTo>
                <a:lnTo>
                  <a:pt x="13454" y="317"/>
                </a:lnTo>
                <a:lnTo>
                  <a:pt x="14899" y="300"/>
                </a:lnTo>
                <a:lnTo>
                  <a:pt x="16698" y="257"/>
                </a:lnTo>
                <a:lnTo>
                  <a:pt x="18714" y="148"/>
                </a:lnTo>
                <a:lnTo>
                  <a:pt x="21024" y="114"/>
                </a:lnTo>
                <a:lnTo>
                  <a:pt x="24611" y="198"/>
                </a:lnTo>
                <a:lnTo>
                  <a:pt x="35438" y="151"/>
                </a:lnTo>
                <a:lnTo>
                  <a:pt x="46423" y="0"/>
                </a:lnTo>
                <a:lnTo>
                  <a:pt x="49894" y="132"/>
                </a:lnTo>
                <a:lnTo>
                  <a:pt x="52463" y="105"/>
                </a:lnTo>
                <a:lnTo>
                  <a:pt x="54445" y="137"/>
                </a:lnTo>
                <a:lnTo>
                  <a:pt x="56140" y="118"/>
                </a:lnTo>
                <a:lnTo>
                  <a:pt x="57787" y="276"/>
                </a:lnTo>
                <a:lnTo>
                  <a:pt x="59169" y="219"/>
                </a:lnTo>
                <a:lnTo>
                  <a:pt x="60224" y="350"/>
                </a:lnTo>
                <a:lnTo>
                  <a:pt x="61285" y="460"/>
                </a:lnTo>
                <a:lnTo>
                  <a:pt x="62414" y="665"/>
                </a:lnTo>
                <a:lnTo>
                  <a:pt x="63273" y="766"/>
                </a:lnTo>
                <a:lnTo>
                  <a:pt x="64208" y="736"/>
                </a:lnTo>
                <a:lnTo>
                  <a:pt x="64903" y="1004"/>
                </a:lnTo>
                <a:lnTo>
                  <a:pt x="65829" y="978"/>
                </a:lnTo>
                <a:lnTo>
                  <a:pt x="66514" y="1266"/>
                </a:lnTo>
                <a:lnTo>
                  <a:pt x="67006" y="1364"/>
                </a:lnTo>
                <a:lnTo>
                  <a:pt x="67642" y="1672"/>
                </a:lnTo>
                <a:lnTo>
                  <a:pt x="68212" y="1785"/>
                </a:lnTo>
                <a:lnTo>
                  <a:pt x="68560" y="1977"/>
                </a:lnTo>
                <a:lnTo>
                  <a:pt x="69110" y="2253"/>
                </a:lnTo>
                <a:lnTo>
                  <a:pt x="69455" y="2582"/>
                </a:lnTo>
                <a:lnTo>
                  <a:pt x="69754" y="2729"/>
                </a:lnTo>
                <a:lnTo>
                  <a:pt x="70117" y="2990"/>
                </a:lnTo>
                <a:lnTo>
                  <a:pt x="70418" y="3502"/>
                </a:lnTo>
                <a:lnTo>
                  <a:pt x="70539" y="3696"/>
                </a:lnTo>
                <a:lnTo>
                  <a:pt x="70626" y="4289"/>
                </a:lnTo>
                <a:lnTo>
                  <a:pt x="70753" y="4792"/>
                </a:lnTo>
                <a:lnTo>
                  <a:pt x="71033" y="5302"/>
                </a:lnTo>
                <a:lnTo>
                  <a:pt x="70855" y="6182"/>
                </a:lnTo>
                <a:lnTo>
                  <a:pt x="71041" y="9021"/>
                </a:lnTo>
                <a:close/>
              </a:path>
            </a:pathLst>
          </a:custGeom>
          <a:noFill/>
          <a:ln w="7620" cap="rnd">
            <a:solidFill>
              <a:srgbClr val="7C7196">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7024421" y="6898051"/>
            <a:ext cx="86685" cy="133320"/>
          </a:xfrm>
          <a:custGeom>
            <a:avLst/>
            <a:gdLst/>
            <a:ahLst/>
            <a:cxnLst/>
            <a:rect l="l" t="t" r="r" b="b"/>
            <a:pathLst>
              <a:path w="948" h="1458">
                <a:moveTo>
                  <a:pt x="948" y="0"/>
                </a:moveTo>
                <a:lnTo>
                  <a:pt x="771" y="433"/>
                </a:lnTo>
                <a:lnTo>
                  <a:pt x="555" y="813"/>
                </a:lnTo>
                <a:lnTo>
                  <a:pt x="298" y="1152"/>
                </a:lnTo>
                <a:lnTo>
                  <a:pt x="0" y="1458"/>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6047384" y="7221657"/>
            <a:ext cx="392186" cy="33101"/>
          </a:xfrm>
          <a:custGeom>
            <a:avLst/>
            <a:gdLst/>
            <a:ahLst/>
            <a:cxnLst/>
            <a:rect l="l" t="t" r="r" b="b"/>
            <a:pathLst>
              <a:path w="4289" h="362">
                <a:moveTo>
                  <a:pt x="4289" y="0"/>
                </a:moveTo>
                <a:lnTo>
                  <a:pt x="3354" y="106"/>
                </a:lnTo>
                <a:lnTo>
                  <a:pt x="2335" y="202"/>
                </a:lnTo>
                <a:lnTo>
                  <a:pt x="1223" y="288"/>
                </a:lnTo>
                <a:lnTo>
                  <a:pt x="0" y="362"/>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1631472" y="7247992"/>
            <a:ext cx="533004" cy="21671"/>
          </a:xfrm>
          <a:custGeom>
            <a:avLst/>
            <a:gdLst/>
            <a:ahLst/>
            <a:cxnLst/>
            <a:rect l="l" t="t" r="r" b="b"/>
            <a:pathLst>
              <a:path w="5829" h="237">
                <a:moveTo>
                  <a:pt x="5829" y="237"/>
                </a:moveTo>
                <a:lnTo>
                  <a:pt x="4096" y="193"/>
                </a:lnTo>
                <a:lnTo>
                  <a:pt x="2577" y="139"/>
                </a:lnTo>
                <a:lnTo>
                  <a:pt x="1223" y="74"/>
                </a:lnTo>
                <a:lnTo>
                  <a:pt x="0"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739018" y="7003390"/>
            <a:ext cx="132497" cy="98207"/>
          </a:xfrm>
          <a:custGeom>
            <a:avLst/>
            <a:gdLst/>
            <a:ahLst/>
            <a:cxnLst/>
            <a:rect l="l" t="t" r="r" b="b"/>
            <a:pathLst>
              <a:path w="1449" h="1074">
                <a:moveTo>
                  <a:pt x="1449" y="1074"/>
                </a:moveTo>
                <a:lnTo>
                  <a:pt x="1022" y="840"/>
                </a:lnTo>
                <a:lnTo>
                  <a:pt x="639" y="585"/>
                </a:lnTo>
                <a:lnTo>
                  <a:pt x="298" y="306"/>
                </a:lnTo>
                <a:lnTo>
                  <a:pt x="0"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679582" y="5898246"/>
            <a:ext cx="86685" cy="133320"/>
          </a:xfrm>
          <a:custGeom>
            <a:avLst/>
            <a:gdLst/>
            <a:ahLst/>
            <a:cxnLst/>
            <a:rect l="l" t="t" r="r" b="b"/>
            <a:pathLst>
              <a:path w="948" h="1458">
                <a:moveTo>
                  <a:pt x="0" y="1458"/>
                </a:moveTo>
                <a:lnTo>
                  <a:pt x="177" y="1025"/>
                </a:lnTo>
                <a:lnTo>
                  <a:pt x="393" y="645"/>
                </a:lnTo>
                <a:lnTo>
                  <a:pt x="650" y="306"/>
                </a:lnTo>
                <a:lnTo>
                  <a:pt x="948"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1351117" y="5674858"/>
            <a:ext cx="392186" cy="33101"/>
          </a:xfrm>
          <a:custGeom>
            <a:avLst/>
            <a:gdLst/>
            <a:ahLst/>
            <a:cxnLst/>
            <a:rect l="l" t="t" r="r" b="b"/>
            <a:pathLst>
              <a:path w="4289" h="362">
                <a:moveTo>
                  <a:pt x="0" y="362"/>
                </a:moveTo>
                <a:lnTo>
                  <a:pt x="935" y="256"/>
                </a:lnTo>
                <a:lnTo>
                  <a:pt x="1954" y="160"/>
                </a:lnTo>
                <a:lnTo>
                  <a:pt x="3066" y="74"/>
                </a:lnTo>
                <a:lnTo>
                  <a:pt x="4289"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5626212" y="5659953"/>
            <a:ext cx="533004" cy="21671"/>
          </a:xfrm>
          <a:custGeom>
            <a:avLst/>
            <a:gdLst/>
            <a:ahLst/>
            <a:cxnLst/>
            <a:rect l="l" t="t" r="r" b="b"/>
            <a:pathLst>
              <a:path w="5829" h="237">
                <a:moveTo>
                  <a:pt x="0" y="0"/>
                </a:moveTo>
                <a:lnTo>
                  <a:pt x="1733" y="44"/>
                </a:lnTo>
                <a:lnTo>
                  <a:pt x="3252" y="98"/>
                </a:lnTo>
                <a:lnTo>
                  <a:pt x="4606" y="163"/>
                </a:lnTo>
                <a:lnTo>
                  <a:pt x="5829" y="237"/>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6919173" y="5828020"/>
            <a:ext cx="132497" cy="98207"/>
          </a:xfrm>
          <a:custGeom>
            <a:avLst/>
            <a:gdLst/>
            <a:ahLst/>
            <a:cxnLst/>
            <a:rect l="l" t="t" r="r" b="b"/>
            <a:pathLst>
              <a:path w="1449" h="1074">
                <a:moveTo>
                  <a:pt x="0" y="0"/>
                </a:moveTo>
                <a:lnTo>
                  <a:pt x="427" y="234"/>
                </a:lnTo>
                <a:lnTo>
                  <a:pt x="810" y="489"/>
                </a:lnTo>
                <a:lnTo>
                  <a:pt x="1151" y="768"/>
                </a:lnTo>
                <a:lnTo>
                  <a:pt x="1449" y="1074"/>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ody: 5"/>
          <p:cNvSpPr txBox="1"/>
          <p:nvPr/>
        </p:nvSpPr>
        <p:spPr>
          <a:xfrm>
            <a:off x="914400" y="5934535"/>
            <a:ext cx="420624" cy="411321"/>
          </a:xfrm>
          <a:prstGeom prst="rect">
            <a:avLst/>
          </a:prstGeom>
          <a:noFill/>
        </p:spPr>
        <p:txBody>
          <a:bodyPr wrap="none" lIns="0" rIns="0" tIns="0" bIns="0" anchor="t">
            <a:noAutofit/>
          </a:bodyPr>
          <a:lstStyle/>
          <a:p>
            <a:pPr algn="ctr">
              <a:lnSpc>
                <a:spcPts val="2698"/>
              </a:lnSpc>
              <a:spcBef>
                <a:spcPts val="0"/>
              </a:spcBef>
              <a:spcAft>
                <a:spcPts val="0"/>
              </a:spcAft>
            </a:pPr>
            <a:r>
              <a:rPr sz="2125" b="1">
                <a:solidFill>
                  <a:srgbClr val="7C7196"/>
                </a:solidFill>
                <a:latin typeface="Trebuchet MS"/>
              </a:rPr>
              <a:t>5</a:t>
            </a:r>
          </a:p>
        </p:txBody>
      </p:sp>
      <p:sp>
        <p:nvSpPr>
          <p:cNvPr id="80" name="body: Standout features"/>
          <p:cNvSpPr txBox="1"/>
          <p:nvPr/>
        </p:nvSpPr>
        <p:spPr>
          <a:xfrm>
            <a:off x="1554480" y="5806694"/>
            <a:ext cx="5266944" cy="465836"/>
          </a:xfrm>
          <a:prstGeom prst="rect">
            <a:avLst/>
          </a:prstGeom>
          <a:noFill/>
        </p:spPr>
        <p:txBody>
          <a:bodyPr wrap="none" lIns="0" rIns="0" tIns="0" bIns="0" anchor="t">
            <a:noAutofit/>
          </a:bodyPr>
          <a:lstStyle/>
          <a:p>
            <a:pPr algn="ctr">
              <a:lnSpc>
                <a:spcPts val="3128"/>
              </a:lnSpc>
              <a:spcBef>
                <a:spcPts val="0"/>
              </a:spcBef>
              <a:spcAft>
                <a:spcPts val="0"/>
              </a:spcAft>
            </a:pPr>
            <a:r>
              <a:rPr sz="2300" b="1">
                <a:solidFill>
                  <a:srgbClr val="7C7196"/>
                </a:solidFill>
                <a:latin typeface="Chalkboard SE"/>
              </a:rPr>
              <a:t>Standout features</a:t>
            </a:r>
          </a:p>
        </p:txBody>
      </p:sp>
      <p:sp>
        <p:nvSpPr>
          <p:cNvPr id="81" name="body: Time split, benign twins, poisoning defence, blame"/>
          <p:cNvSpPr txBox="1"/>
          <p:nvPr/>
        </p:nvSpPr>
        <p:spPr>
          <a:xfrm>
            <a:off x="1508760" y="6427978"/>
            <a:ext cx="5321808" cy="713739"/>
          </a:xfrm>
          <a:prstGeom prst="rect">
            <a:avLst/>
          </a:prstGeom>
          <a:noFill/>
        </p:spPr>
        <p:txBody>
          <a:bodyPr wrap="none" lIns="0" rIns="0" tIns="0" bIns="0" anchor="t">
            <a:noAutofit/>
          </a:bodyPr>
          <a:lstStyle/>
          <a:p>
            <a:pPr algn="ctr">
              <a:lnSpc>
                <a:spcPts val="2540"/>
              </a:lnSpc>
              <a:spcBef>
                <a:spcPts val="0"/>
              </a:spcBef>
              <a:spcAft>
                <a:spcPts val="0"/>
              </a:spcAft>
            </a:pPr>
            <a:r>
              <a:rPr sz="2000" b="0">
                <a:solidFill>
                  <a:srgbClr val="293E46"/>
                </a:solidFill>
                <a:latin typeface="Trebuchet MS"/>
              </a:rPr>
              <a:t>Time split, benign twins, poisoning defence,</a:t>
            </a:r>
            <a:br/>
            <a:r>
              <a:rPr sz="2000" b="0">
                <a:solidFill>
                  <a:srgbClr val="293E46"/>
                </a:solidFill>
                <a:latin typeface="Trebuchet MS"/>
              </a:rPr>
              <a:t>blame</a:t>
            </a:r>
          </a:p>
        </p:txBody>
      </p:sp>
      <p:sp>
        <p:nvSpPr>
          <p:cNvPr id="82" name="Rounded Rectangle 81"/>
          <p:cNvSpPr/>
          <p:nvPr/>
        </p:nvSpPr>
        <p:spPr>
          <a:xfrm>
            <a:off x="7479792" y="5641848"/>
            <a:ext cx="6510528" cy="1645920"/>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7483907" y="5647883"/>
            <a:ext cx="6500470" cy="1637233"/>
          </a:xfrm>
          <a:custGeom>
            <a:avLst/>
            <a:gdLst/>
            <a:ahLst/>
            <a:cxnLst/>
            <a:rect l="l" t="t" r="r" b="b"/>
            <a:pathLst>
              <a:path w="71090" h="17905">
                <a:moveTo>
                  <a:pt x="70947" y="8987"/>
                </a:moveTo>
                <a:lnTo>
                  <a:pt x="71072" y="11749"/>
                </a:lnTo>
                <a:lnTo>
                  <a:pt x="70851" y="12506"/>
                </a:lnTo>
                <a:lnTo>
                  <a:pt x="70901" y="13222"/>
                </a:lnTo>
                <a:lnTo>
                  <a:pt x="70829" y="13563"/>
                </a:lnTo>
                <a:lnTo>
                  <a:pt x="70494" y="13992"/>
                </a:lnTo>
                <a:lnTo>
                  <a:pt x="70313" y="14434"/>
                </a:lnTo>
                <a:lnTo>
                  <a:pt x="70140" y="14802"/>
                </a:lnTo>
                <a:lnTo>
                  <a:pt x="69896" y="15024"/>
                </a:lnTo>
                <a:lnTo>
                  <a:pt x="69431" y="15502"/>
                </a:lnTo>
                <a:lnTo>
                  <a:pt x="69178" y="15585"/>
                </a:lnTo>
                <a:lnTo>
                  <a:pt x="68740" y="15952"/>
                </a:lnTo>
                <a:lnTo>
                  <a:pt x="68039" y="16227"/>
                </a:lnTo>
                <a:lnTo>
                  <a:pt x="67660" y="16422"/>
                </a:lnTo>
                <a:lnTo>
                  <a:pt x="66937" y="16472"/>
                </a:lnTo>
                <a:lnTo>
                  <a:pt x="66433" y="16634"/>
                </a:lnTo>
                <a:lnTo>
                  <a:pt x="65741" y="16775"/>
                </a:lnTo>
                <a:lnTo>
                  <a:pt x="65024" y="16843"/>
                </a:lnTo>
                <a:lnTo>
                  <a:pt x="64240" y="17073"/>
                </a:lnTo>
                <a:lnTo>
                  <a:pt x="63312" y="17298"/>
                </a:lnTo>
                <a:lnTo>
                  <a:pt x="62484" y="17227"/>
                </a:lnTo>
                <a:lnTo>
                  <a:pt x="61298" y="17372"/>
                </a:lnTo>
                <a:lnTo>
                  <a:pt x="60401" y="17586"/>
                </a:lnTo>
                <a:lnTo>
                  <a:pt x="59032" y="17669"/>
                </a:lnTo>
                <a:lnTo>
                  <a:pt x="57700" y="17747"/>
                </a:lnTo>
                <a:lnTo>
                  <a:pt x="56124" y="17657"/>
                </a:lnTo>
                <a:lnTo>
                  <a:pt x="54451" y="17733"/>
                </a:lnTo>
                <a:lnTo>
                  <a:pt x="52552" y="17783"/>
                </a:lnTo>
                <a:lnTo>
                  <a:pt x="49893" y="17823"/>
                </a:lnTo>
                <a:lnTo>
                  <a:pt x="46479" y="17905"/>
                </a:lnTo>
                <a:lnTo>
                  <a:pt x="35659" y="17845"/>
                </a:lnTo>
                <a:lnTo>
                  <a:pt x="24678" y="17877"/>
                </a:lnTo>
                <a:lnTo>
                  <a:pt x="21075" y="17882"/>
                </a:lnTo>
                <a:lnTo>
                  <a:pt x="18572" y="17809"/>
                </a:lnTo>
                <a:lnTo>
                  <a:pt x="16515" y="17633"/>
                </a:lnTo>
                <a:lnTo>
                  <a:pt x="14997" y="17598"/>
                </a:lnTo>
                <a:lnTo>
                  <a:pt x="13360" y="17752"/>
                </a:lnTo>
                <a:lnTo>
                  <a:pt x="11932" y="17583"/>
                </a:lnTo>
                <a:lnTo>
                  <a:pt x="10841" y="17536"/>
                </a:lnTo>
                <a:lnTo>
                  <a:pt x="9635" y="17294"/>
                </a:lnTo>
                <a:lnTo>
                  <a:pt x="8681" y="17362"/>
                </a:lnTo>
                <a:lnTo>
                  <a:pt x="7741" y="17241"/>
                </a:lnTo>
                <a:lnTo>
                  <a:pt x="6808" y="16986"/>
                </a:lnTo>
                <a:lnTo>
                  <a:pt x="6097" y="17075"/>
                </a:lnTo>
                <a:lnTo>
                  <a:pt x="5459" y="16894"/>
                </a:lnTo>
                <a:lnTo>
                  <a:pt x="4605" y="16624"/>
                </a:lnTo>
                <a:lnTo>
                  <a:pt x="4097" y="16422"/>
                </a:lnTo>
                <a:lnTo>
                  <a:pt x="3490" y="16263"/>
                </a:lnTo>
                <a:lnTo>
                  <a:pt x="2957" y="16062"/>
                </a:lnTo>
                <a:lnTo>
                  <a:pt x="2567" y="15908"/>
                </a:lnTo>
                <a:lnTo>
                  <a:pt x="1983" y="15549"/>
                </a:lnTo>
                <a:lnTo>
                  <a:pt x="1640" y="15362"/>
                </a:lnTo>
                <a:lnTo>
                  <a:pt x="1257" y="15215"/>
                </a:lnTo>
                <a:lnTo>
                  <a:pt x="969" y="14929"/>
                </a:lnTo>
                <a:lnTo>
                  <a:pt x="866" y="14571"/>
                </a:lnTo>
                <a:lnTo>
                  <a:pt x="469" y="14033"/>
                </a:lnTo>
                <a:lnTo>
                  <a:pt x="388" y="13720"/>
                </a:lnTo>
                <a:lnTo>
                  <a:pt x="257" y="13060"/>
                </a:lnTo>
                <a:lnTo>
                  <a:pt x="206" y="12631"/>
                </a:lnTo>
                <a:lnTo>
                  <a:pt x="156" y="11548"/>
                </a:lnTo>
                <a:lnTo>
                  <a:pt x="0" y="9002"/>
                </a:lnTo>
                <a:lnTo>
                  <a:pt x="74" y="6295"/>
                </a:lnTo>
                <a:lnTo>
                  <a:pt x="50" y="5305"/>
                </a:lnTo>
                <a:lnTo>
                  <a:pt x="291" y="4626"/>
                </a:lnTo>
                <a:lnTo>
                  <a:pt x="294" y="4089"/>
                </a:lnTo>
                <a:lnTo>
                  <a:pt x="524" y="3715"/>
                </a:lnTo>
                <a:lnTo>
                  <a:pt x="787" y="3322"/>
                </a:lnTo>
                <a:lnTo>
                  <a:pt x="1125" y="2970"/>
                </a:lnTo>
                <a:lnTo>
                  <a:pt x="1389" y="2782"/>
                </a:lnTo>
                <a:lnTo>
                  <a:pt x="1618" y="2495"/>
                </a:lnTo>
                <a:lnTo>
                  <a:pt x="1944" y="2253"/>
                </a:lnTo>
                <a:lnTo>
                  <a:pt x="2549" y="1867"/>
                </a:lnTo>
                <a:lnTo>
                  <a:pt x="2894" y="1698"/>
                </a:lnTo>
                <a:lnTo>
                  <a:pt x="3512" y="1601"/>
                </a:lnTo>
                <a:lnTo>
                  <a:pt x="3932" y="1382"/>
                </a:lnTo>
                <a:lnTo>
                  <a:pt x="4639" y="1228"/>
                </a:lnTo>
                <a:lnTo>
                  <a:pt x="5293" y="944"/>
                </a:lnTo>
                <a:lnTo>
                  <a:pt x="6195" y="1012"/>
                </a:lnTo>
                <a:lnTo>
                  <a:pt x="6859" y="762"/>
                </a:lnTo>
                <a:lnTo>
                  <a:pt x="7682" y="692"/>
                </a:lnTo>
                <a:lnTo>
                  <a:pt x="8743" y="547"/>
                </a:lnTo>
                <a:lnTo>
                  <a:pt x="9706" y="434"/>
                </a:lnTo>
                <a:lnTo>
                  <a:pt x="10888" y="473"/>
                </a:lnTo>
                <a:lnTo>
                  <a:pt x="11931" y="239"/>
                </a:lnTo>
                <a:lnTo>
                  <a:pt x="13353" y="207"/>
                </a:lnTo>
                <a:lnTo>
                  <a:pt x="14922" y="244"/>
                </a:lnTo>
                <a:lnTo>
                  <a:pt x="16725" y="191"/>
                </a:lnTo>
                <a:lnTo>
                  <a:pt x="18715" y="148"/>
                </a:lnTo>
                <a:lnTo>
                  <a:pt x="21226" y="87"/>
                </a:lnTo>
                <a:lnTo>
                  <a:pt x="24636" y="47"/>
                </a:lnTo>
                <a:lnTo>
                  <a:pt x="35484" y="171"/>
                </a:lnTo>
                <a:lnTo>
                  <a:pt x="46371" y="0"/>
                </a:lnTo>
                <a:lnTo>
                  <a:pt x="49933" y="173"/>
                </a:lnTo>
                <a:lnTo>
                  <a:pt x="52342" y="52"/>
                </a:lnTo>
                <a:lnTo>
                  <a:pt x="54501" y="176"/>
                </a:lnTo>
                <a:lnTo>
                  <a:pt x="56171" y="288"/>
                </a:lnTo>
                <a:lnTo>
                  <a:pt x="57730" y="218"/>
                </a:lnTo>
                <a:lnTo>
                  <a:pt x="59129" y="332"/>
                </a:lnTo>
                <a:lnTo>
                  <a:pt x="60231" y="276"/>
                </a:lnTo>
                <a:lnTo>
                  <a:pt x="61296" y="369"/>
                </a:lnTo>
                <a:lnTo>
                  <a:pt x="62377" y="565"/>
                </a:lnTo>
                <a:lnTo>
                  <a:pt x="63409" y="578"/>
                </a:lnTo>
                <a:lnTo>
                  <a:pt x="64196" y="665"/>
                </a:lnTo>
                <a:lnTo>
                  <a:pt x="64925" y="943"/>
                </a:lnTo>
                <a:lnTo>
                  <a:pt x="65871" y="1023"/>
                </a:lnTo>
                <a:lnTo>
                  <a:pt x="66466" y="1126"/>
                </a:lnTo>
                <a:lnTo>
                  <a:pt x="66945" y="1280"/>
                </a:lnTo>
                <a:lnTo>
                  <a:pt x="67505" y="1515"/>
                </a:lnTo>
                <a:lnTo>
                  <a:pt x="68051" y="1860"/>
                </a:lnTo>
                <a:lnTo>
                  <a:pt x="68581" y="2078"/>
                </a:lnTo>
                <a:lnTo>
                  <a:pt x="69169" y="2199"/>
                </a:lnTo>
                <a:lnTo>
                  <a:pt x="69489" y="2351"/>
                </a:lnTo>
                <a:lnTo>
                  <a:pt x="69833" y="2653"/>
                </a:lnTo>
                <a:lnTo>
                  <a:pt x="70168" y="2973"/>
                </a:lnTo>
                <a:lnTo>
                  <a:pt x="70221" y="3475"/>
                </a:lnTo>
                <a:lnTo>
                  <a:pt x="70445" y="3800"/>
                </a:lnTo>
                <a:lnTo>
                  <a:pt x="70827" y="4246"/>
                </a:lnTo>
                <a:lnTo>
                  <a:pt x="70849" y="4783"/>
                </a:lnTo>
                <a:lnTo>
                  <a:pt x="71055" y="5261"/>
                </a:lnTo>
                <a:lnTo>
                  <a:pt x="70999" y="6257"/>
                </a:lnTo>
                <a:lnTo>
                  <a:pt x="71090" y="8995"/>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7490856" y="5645597"/>
            <a:ext cx="6493612" cy="1638879"/>
          </a:xfrm>
          <a:custGeom>
            <a:avLst/>
            <a:gdLst/>
            <a:ahLst/>
            <a:cxnLst/>
            <a:rect l="l" t="t" r="r" b="b"/>
            <a:pathLst>
              <a:path w="71015" h="17923">
                <a:moveTo>
                  <a:pt x="70981" y="9000"/>
                </a:moveTo>
                <a:lnTo>
                  <a:pt x="70995" y="11645"/>
                </a:lnTo>
                <a:lnTo>
                  <a:pt x="70910" y="12552"/>
                </a:lnTo>
                <a:lnTo>
                  <a:pt x="70839" y="13154"/>
                </a:lnTo>
                <a:lnTo>
                  <a:pt x="70576" y="13677"/>
                </a:lnTo>
                <a:lnTo>
                  <a:pt x="70516" y="14130"/>
                </a:lnTo>
                <a:lnTo>
                  <a:pt x="70196" y="14506"/>
                </a:lnTo>
                <a:lnTo>
                  <a:pt x="69871" y="14834"/>
                </a:lnTo>
                <a:lnTo>
                  <a:pt x="69651" y="15134"/>
                </a:lnTo>
                <a:lnTo>
                  <a:pt x="69467" y="15413"/>
                </a:lnTo>
                <a:lnTo>
                  <a:pt x="69096" y="15671"/>
                </a:lnTo>
                <a:lnTo>
                  <a:pt x="68660" y="16023"/>
                </a:lnTo>
                <a:lnTo>
                  <a:pt x="67994" y="16199"/>
                </a:lnTo>
                <a:lnTo>
                  <a:pt x="67500" y="16247"/>
                </a:lnTo>
                <a:lnTo>
                  <a:pt x="66918" y="16451"/>
                </a:lnTo>
                <a:lnTo>
                  <a:pt x="66403" y="16635"/>
                </a:lnTo>
                <a:lnTo>
                  <a:pt x="65664" y="16806"/>
                </a:lnTo>
                <a:lnTo>
                  <a:pt x="65069" y="17002"/>
                </a:lnTo>
                <a:lnTo>
                  <a:pt x="64098" y="17151"/>
                </a:lnTo>
                <a:lnTo>
                  <a:pt x="63271" y="17267"/>
                </a:lnTo>
                <a:lnTo>
                  <a:pt x="62254" y="17260"/>
                </a:lnTo>
                <a:lnTo>
                  <a:pt x="61478" y="17512"/>
                </a:lnTo>
                <a:lnTo>
                  <a:pt x="60205" y="17516"/>
                </a:lnTo>
                <a:lnTo>
                  <a:pt x="58975" y="17522"/>
                </a:lnTo>
                <a:lnTo>
                  <a:pt x="57703" y="17657"/>
                </a:lnTo>
                <a:lnTo>
                  <a:pt x="56194" y="17630"/>
                </a:lnTo>
                <a:lnTo>
                  <a:pt x="54357" y="17704"/>
                </a:lnTo>
                <a:lnTo>
                  <a:pt x="52367" y="17808"/>
                </a:lnTo>
                <a:lnTo>
                  <a:pt x="49798" y="17777"/>
                </a:lnTo>
                <a:lnTo>
                  <a:pt x="46418" y="17758"/>
                </a:lnTo>
                <a:lnTo>
                  <a:pt x="35393" y="17898"/>
                </a:lnTo>
                <a:lnTo>
                  <a:pt x="24549" y="17923"/>
                </a:lnTo>
                <a:lnTo>
                  <a:pt x="21054" y="17746"/>
                </a:lnTo>
                <a:lnTo>
                  <a:pt x="18652" y="17744"/>
                </a:lnTo>
                <a:lnTo>
                  <a:pt x="16477" y="17792"/>
                </a:lnTo>
                <a:lnTo>
                  <a:pt x="14701" y="17645"/>
                </a:lnTo>
                <a:lnTo>
                  <a:pt x="13404" y="17744"/>
                </a:lnTo>
                <a:lnTo>
                  <a:pt x="12017" y="17511"/>
                </a:lnTo>
                <a:lnTo>
                  <a:pt x="10778" y="17638"/>
                </a:lnTo>
                <a:lnTo>
                  <a:pt x="9503" y="17487"/>
                </a:lnTo>
                <a:lnTo>
                  <a:pt x="8465" y="17358"/>
                </a:lnTo>
                <a:lnTo>
                  <a:pt x="7784" y="17201"/>
                </a:lnTo>
                <a:lnTo>
                  <a:pt x="6761" y="17128"/>
                </a:lnTo>
                <a:lnTo>
                  <a:pt x="6112" y="16946"/>
                </a:lnTo>
                <a:lnTo>
                  <a:pt x="5391" y="16935"/>
                </a:lnTo>
                <a:lnTo>
                  <a:pt x="4587" y="16646"/>
                </a:lnTo>
                <a:lnTo>
                  <a:pt x="4058" y="16609"/>
                </a:lnTo>
                <a:lnTo>
                  <a:pt x="3355" y="16270"/>
                </a:lnTo>
                <a:lnTo>
                  <a:pt x="2887" y="16051"/>
                </a:lnTo>
                <a:lnTo>
                  <a:pt x="2454" y="15844"/>
                </a:lnTo>
                <a:lnTo>
                  <a:pt x="2014" y="15738"/>
                </a:lnTo>
                <a:lnTo>
                  <a:pt x="1555" y="15377"/>
                </a:lnTo>
                <a:lnTo>
                  <a:pt x="1289" y="15270"/>
                </a:lnTo>
                <a:lnTo>
                  <a:pt x="881" y="14848"/>
                </a:lnTo>
                <a:lnTo>
                  <a:pt x="576" y="14547"/>
                </a:lnTo>
                <a:lnTo>
                  <a:pt x="489" y="14192"/>
                </a:lnTo>
                <a:lnTo>
                  <a:pt x="268" y="13627"/>
                </a:lnTo>
                <a:lnTo>
                  <a:pt x="118" y="13173"/>
                </a:lnTo>
                <a:lnTo>
                  <a:pt x="181" y="12585"/>
                </a:lnTo>
                <a:lnTo>
                  <a:pt x="0" y="11627"/>
                </a:lnTo>
                <a:lnTo>
                  <a:pt x="113" y="8988"/>
                </a:lnTo>
                <a:lnTo>
                  <a:pt x="145" y="6207"/>
                </a:lnTo>
                <a:lnTo>
                  <a:pt x="194" y="5244"/>
                </a:lnTo>
                <a:lnTo>
                  <a:pt x="187" y="4809"/>
                </a:lnTo>
                <a:lnTo>
                  <a:pt x="344" y="4262"/>
                </a:lnTo>
                <a:lnTo>
                  <a:pt x="564" y="3857"/>
                </a:lnTo>
                <a:lnTo>
                  <a:pt x="752" y="3302"/>
                </a:lnTo>
                <a:lnTo>
                  <a:pt x="1005" y="3109"/>
                </a:lnTo>
                <a:lnTo>
                  <a:pt x="1235" y="2755"/>
                </a:lnTo>
                <a:lnTo>
                  <a:pt x="1520" y="2367"/>
                </a:lnTo>
                <a:lnTo>
                  <a:pt x="1998" y="2315"/>
                </a:lnTo>
                <a:lnTo>
                  <a:pt x="2290" y="1917"/>
                </a:lnTo>
                <a:lnTo>
                  <a:pt x="2755" y="1860"/>
                </a:lnTo>
                <a:lnTo>
                  <a:pt x="3490" y="1683"/>
                </a:lnTo>
                <a:lnTo>
                  <a:pt x="4008" y="1492"/>
                </a:lnTo>
                <a:lnTo>
                  <a:pt x="4571" y="1110"/>
                </a:lnTo>
                <a:lnTo>
                  <a:pt x="5357" y="1190"/>
                </a:lnTo>
                <a:lnTo>
                  <a:pt x="6036" y="984"/>
                </a:lnTo>
                <a:lnTo>
                  <a:pt x="6869" y="683"/>
                </a:lnTo>
                <a:lnTo>
                  <a:pt x="7723" y="747"/>
                </a:lnTo>
                <a:lnTo>
                  <a:pt x="8629" y="572"/>
                </a:lnTo>
                <a:lnTo>
                  <a:pt x="9629" y="553"/>
                </a:lnTo>
                <a:lnTo>
                  <a:pt x="10723" y="366"/>
                </a:lnTo>
                <a:lnTo>
                  <a:pt x="11935" y="383"/>
                </a:lnTo>
                <a:lnTo>
                  <a:pt x="13375" y="141"/>
                </a:lnTo>
                <a:lnTo>
                  <a:pt x="14712" y="96"/>
                </a:lnTo>
                <a:lnTo>
                  <a:pt x="16574" y="93"/>
                </a:lnTo>
                <a:lnTo>
                  <a:pt x="18460" y="194"/>
                </a:lnTo>
                <a:lnTo>
                  <a:pt x="21182" y="94"/>
                </a:lnTo>
                <a:lnTo>
                  <a:pt x="24655" y="0"/>
                </a:lnTo>
                <a:lnTo>
                  <a:pt x="35495" y="157"/>
                </a:lnTo>
                <a:lnTo>
                  <a:pt x="46295" y="16"/>
                </a:lnTo>
                <a:lnTo>
                  <a:pt x="49803" y="109"/>
                </a:lnTo>
                <a:lnTo>
                  <a:pt x="52461" y="215"/>
                </a:lnTo>
                <a:lnTo>
                  <a:pt x="54528" y="226"/>
                </a:lnTo>
                <a:lnTo>
                  <a:pt x="56151" y="123"/>
                </a:lnTo>
                <a:lnTo>
                  <a:pt x="57557" y="338"/>
                </a:lnTo>
                <a:lnTo>
                  <a:pt x="58979" y="301"/>
                </a:lnTo>
                <a:lnTo>
                  <a:pt x="60259" y="487"/>
                </a:lnTo>
                <a:lnTo>
                  <a:pt x="61474" y="512"/>
                </a:lnTo>
                <a:lnTo>
                  <a:pt x="62483" y="513"/>
                </a:lnTo>
                <a:lnTo>
                  <a:pt x="63209" y="750"/>
                </a:lnTo>
                <a:lnTo>
                  <a:pt x="64036" y="728"/>
                </a:lnTo>
                <a:lnTo>
                  <a:pt x="64994" y="958"/>
                </a:lnTo>
                <a:lnTo>
                  <a:pt x="65580" y="958"/>
                </a:lnTo>
                <a:lnTo>
                  <a:pt x="66395" y="1109"/>
                </a:lnTo>
                <a:lnTo>
                  <a:pt x="67109" y="1328"/>
                </a:lnTo>
                <a:lnTo>
                  <a:pt x="67563" y="1636"/>
                </a:lnTo>
                <a:lnTo>
                  <a:pt x="68065" y="1802"/>
                </a:lnTo>
                <a:lnTo>
                  <a:pt x="68442" y="1976"/>
                </a:lnTo>
                <a:lnTo>
                  <a:pt x="69074" y="2234"/>
                </a:lnTo>
                <a:lnTo>
                  <a:pt x="69407" y="2364"/>
                </a:lnTo>
                <a:lnTo>
                  <a:pt x="69747" y="2813"/>
                </a:lnTo>
                <a:lnTo>
                  <a:pt x="70051" y="2984"/>
                </a:lnTo>
                <a:lnTo>
                  <a:pt x="70223" y="3373"/>
                </a:lnTo>
                <a:lnTo>
                  <a:pt x="70577" y="3752"/>
                </a:lnTo>
                <a:lnTo>
                  <a:pt x="70661" y="4259"/>
                </a:lnTo>
                <a:lnTo>
                  <a:pt x="70681" y="4703"/>
                </a:lnTo>
                <a:lnTo>
                  <a:pt x="70865" y="5360"/>
                </a:lnTo>
                <a:lnTo>
                  <a:pt x="70989" y="6151"/>
                </a:lnTo>
                <a:lnTo>
                  <a:pt x="71015" y="9043"/>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3864133" y="6898051"/>
            <a:ext cx="86685" cy="133320"/>
          </a:xfrm>
          <a:custGeom>
            <a:avLst/>
            <a:gdLst/>
            <a:ahLst/>
            <a:cxnLst/>
            <a:rect l="l" t="t" r="r" b="b"/>
            <a:pathLst>
              <a:path w="948" h="1458">
                <a:moveTo>
                  <a:pt x="948" y="0"/>
                </a:moveTo>
                <a:lnTo>
                  <a:pt x="771" y="433"/>
                </a:lnTo>
                <a:lnTo>
                  <a:pt x="555" y="813"/>
                </a:lnTo>
                <a:lnTo>
                  <a:pt x="298" y="1152"/>
                </a:lnTo>
                <a:lnTo>
                  <a:pt x="0" y="1458"/>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12887096" y="7221657"/>
            <a:ext cx="392186" cy="33101"/>
          </a:xfrm>
          <a:custGeom>
            <a:avLst/>
            <a:gdLst/>
            <a:ahLst/>
            <a:cxnLst/>
            <a:rect l="l" t="t" r="r" b="b"/>
            <a:pathLst>
              <a:path w="4289" h="362">
                <a:moveTo>
                  <a:pt x="4289" y="0"/>
                </a:moveTo>
                <a:lnTo>
                  <a:pt x="3354" y="106"/>
                </a:lnTo>
                <a:lnTo>
                  <a:pt x="2335" y="202"/>
                </a:lnTo>
                <a:lnTo>
                  <a:pt x="1223" y="288"/>
                </a:lnTo>
                <a:lnTo>
                  <a:pt x="0" y="36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8471184" y="7247992"/>
            <a:ext cx="533004" cy="21671"/>
          </a:xfrm>
          <a:custGeom>
            <a:avLst/>
            <a:gdLst/>
            <a:ahLst/>
            <a:cxnLst/>
            <a:rect l="l" t="t" r="r" b="b"/>
            <a:pathLst>
              <a:path w="5829" h="237">
                <a:moveTo>
                  <a:pt x="5829" y="237"/>
                </a:moveTo>
                <a:lnTo>
                  <a:pt x="4096" y="193"/>
                </a:lnTo>
                <a:lnTo>
                  <a:pt x="2577" y="139"/>
                </a:lnTo>
                <a:lnTo>
                  <a:pt x="1223" y="74"/>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7578730" y="7003390"/>
            <a:ext cx="132497" cy="98207"/>
          </a:xfrm>
          <a:custGeom>
            <a:avLst/>
            <a:gdLst/>
            <a:ahLst/>
            <a:cxnLst/>
            <a:rect l="l" t="t" r="r" b="b"/>
            <a:pathLst>
              <a:path w="1449" h="1074">
                <a:moveTo>
                  <a:pt x="1449" y="1074"/>
                </a:moveTo>
                <a:lnTo>
                  <a:pt x="1022" y="840"/>
                </a:lnTo>
                <a:lnTo>
                  <a:pt x="639" y="585"/>
                </a:lnTo>
                <a:lnTo>
                  <a:pt x="298" y="306"/>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7519294" y="5898246"/>
            <a:ext cx="86685" cy="133320"/>
          </a:xfrm>
          <a:custGeom>
            <a:avLst/>
            <a:gdLst/>
            <a:ahLst/>
            <a:cxnLst/>
            <a:rect l="l" t="t" r="r" b="b"/>
            <a:pathLst>
              <a:path w="948" h="1458">
                <a:moveTo>
                  <a:pt x="0" y="1458"/>
                </a:moveTo>
                <a:lnTo>
                  <a:pt x="177" y="1025"/>
                </a:lnTo>
                <a:lnTo>
                  <a:pt x="393" y="645"/>
                </a:lnTo>
                <a:lnTo>
                  <a:pt x="650" y="306"/>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8190829" y="5674858"/>
            <a:ext cx="392186" cy="33101"/>
          </a:xfrm>
          <a:custGeom>
            <a:avLst/>
            <a:gdLst/>
            <a:ahLst/>
            <a:cxnLst/>
            <a:rect l="l" t="t" r="r" b="b"/>
            <a:pathLst>
              <a:path w="4289" h="362">
                <a:moveTo>
                  <a:pt x="0" y="362"/>
                </a:moveTo>
                <a:lnTo>
                  <a:pt x="935" y="256"/>
                </a:lnTo>
                <a:lnTo>
                  <a:pt x="1954" y="160"/>
                </a:lnTo>
                <a:lnTo>
                  <a:pt x="3066" y="74"/>
                </a:lnTo>
                <a:lnTo>
                  <a:pt x="428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12465924" y="5659953"/>
            <a:ext cx="533004" cy="21671"/>
          </a:xfrm>
          <a:custGeom>
            <a:avLst/>
            <a:gdLst/>
            <a:ahLst/>
            <a:cxnLst/>
            <a:rect l="l" t="t" r="r" b="b"/>
            <a:pathLst>
              <a:path w="5829" h="237">
                <a:moveTo>
                  <a:pt x="0" y="0"/>
                </a:moveTo>
                <a:lnTo>
                  <a:pt x="1733" y="44"/>
                </a:lnTo>
                <a:lnTo>
                  <a:pt x="3252" y="98"/>
                </a:lnTo>
                <a:lnTo>
                  <a:pt x="4606" y="163"/>
                </a:lnTo>
                <a:lnTo>
                  <a:pt x="5829" y="23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13758885" y="5828020"/>
            <a:ext cx="132497" cy="98207"/>
          </a:xfrm>
          <a:custGeom>
            <a:avLst/>
            <a:gdLst/>
            <a:ahLst/>
            <a:cxnLst/>
            <a:rect l="l" t="t" r="r" b="b"/>
            <a:pathLst>
              <a:path w="1449" h="1074">
                <a:moveTo>
                  <a:pt x="0" y="0"/>
                </a:moveTo>
                <a:lnTo>
                  <a:pt x="427" y="234"/>
                </a:lnTo>
                <a:lnTo>
                  <a:pt x="810" y="489"/>
                </a:lnTo>
                <a:lnTo>
                  <a:pt x="1151" y="768"/>
                </a:lnTo>
                <a:lnTo>
                  <a:pt x="1449" y="107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ody: 6"/>
          <p:cNvSpPr txBox="1"/>
          <p:nvPr/>
        </p:nvSpPr>
        <p:spPr>
          <a:xfrm>
            <a:off x="7754112" y="5934535"/>
            <a:ext cx="420624" cy="411321"/>
          </a:xfrm>
          <a:prstGeom prst="rect">
            <a:avLst/>
          </a:prstGeom>
          <a:noFill/>
        </p:spPr>
        <p:txBody>
          <a:bodyPr wrap="none" lIns="0" rIns="0" tIns="0" bIns="0" anchor="t">
            <a:noAutofit/>
          </a:bodyPr>
          <a:lstStyle/>
          <a:p>
            <a:pPr algn="ctr">
              <a:lnSpc>
                <a:spcPts val="2698"/>
              </a:lnSpc>
              <a:spcBef>
                <a:spcPts val="0"/>
              </a:spcBef>
              <a:spcAft>
                <a:spcPts val="0"/>
              </a:spcAft>
            </a:pPr>
            <a:r>
              <a:rPr sz="2125" b="1">
                <a:solidFill>
                  <a:srgbClr val="4E7892"/>
                </a:solidFill>
                <a:latin typeface="Trebuchet MS"/>
              </a:rPr>
              <a:t>6</a:t>
            </a:r>
          </a:p>
        </p:txBody>
      </p:sp>
      <p:sp>
        <p:nvSpPr>
          <p:cNvPr id="94" name="body: Risks, evaluation, status"/>
          <p:cNvSpPr txBox="1"/>
          <p:nvPr/>
        </p:nvSpPr>
        <p:spPr>
          <a:xfrm>
            <a:off x="8394192" y="5806694"/>
            <a:ext cx="5266944" cy="465836"/>
          </a:xfrm>
          <a:prstGeom prst="rect">
            <a:avLst/>
          </a:prstGeom>
          <a:noFill/>
        </p:spPr>
        <p:txBody>
          <a:bodyPr wrap="none" lIns="0" rIns="0" tIns="0" bIns="0" anchor="t">
            <a:noAutofit/>
          </a:bodyPr>
          <a:lstStyle/>
          <a:p>
            <a:pPr algn="ctr">
              <a:lnSpc>
                <a:spcPts val="3128"/>
              </a:lnSpc>
              <a:spcBef>
                <a:spcPts val="0"/>
              </a:spcBef>
              <a:spcAft>
                <a:spcPts val="0"/>
              </a:spcAft>
            </a:pPr>
            <a:r>
              <a:rPr sz="2300" b="1">
                <a:solidFill>
                  <a:srgbClr val="4E7892"/>
                </a:solidFill>
                <a:latin typeface="Chalkboard SE"/>
              </a:rPr>
              <a:t>Risks, evaluation, status</a:t>
            </a:r>
          </a:p>
        </p:txBody>
      </p:sp>
      <p:sp>
        <p:nvSpPr>
          <p:cNvPr id="95" name="body: What could fool us, how we would know, what exists"/>
          <p:cNvSpPr txBox="1"/>
          <p:nvPr/>
        </p:nvSpPr>
        <p:spPr>
          <a:xfrm>
            <a:off x="8348471" y="6427978"/>
            <a:ext cx="5321808" cy="713739"/>
          </a:xfrm>
          <a:prstGeom prst="rect">
            <a:avLst/>
          </a:prstGeom>
          <a:noFill/>
        </p:spPr>
        <p:txBody>
          <a:bodyPr wrap="none" lIns="0" rIns="0" tIns="0" bIns="0" anchor="t">
            <a:noAutofit/>
          </a:bodyPr>
          <a:lstStyle/>
          <a:p>
            <a:pPr algn="ctr">
              <a:lnSpc>
                <a:spcPts val="2540"/>
              </a:lnSpc>
              <a:spcBef>
                <a:spcPts val="0"/>
              </a:spcBef>
              <a:spcAft>
                <a:spcPts val="0"/>
              </a:spcAft>
            </a:pPr>
            <a:r>
              <a:rPr sz="2000" b="0">
                <a:solidFill>
                  <a:srgbClr val="293E46"/>
                </a:solidFill>
                <a:latin typeface="Trebuchet MS"/>
              </a:rPr>
              <a:t>What could fool us, how we would know,</a:t>
            </a:r>
            <a:br/>
            <a:r>
              <a:rPr sz="2000" b="0">
                <a:solidFill>
                  <a:srgbClr val="293E46"/>
                </a:solidFill>
                <a:latin typeface="Trebuchet MS"/>
              </a:rPr>
              <a:t>what exists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1 · MOTIVATIO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1 · MOTIVATION</a:t>
            </a:r>
          </a:p>
        </p:txBody>
      </p:sp>
      <p:sp>
        <p:nvSpPr>
          <p:cNvPr id="3" name="title: Incidents are a property of complex system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Incidents are a property of complex systems</a:t>
            </a:r>
          </a:p>
        </p:txBody>
      </p:sp>
      <p:sp>
        <p:nvSpPr>
          <p:cNvPr id="4" name="subtitle: Four views that agree on the premise"/>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Four views that agree on the premise</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3"/>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3</a:t>
            </a:r>
          </a:p>
        </p:txBody>
      </p:sp>
      <p:sp>
        <p:nvSpPr>
          <p:cNvPr id="12" name="Rounded Rectangle 11"/>
          <p:cNvSpPr/>
          <p:nvPr/>
        </p:nvSpPr>
        <p:spPr>
          <a:xfrm>
            <a:off x="640080" y="1737360"/>
            <a:ext cx="7132320" cy="1280160"/>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8218" y="1740743"/>
            <a:ext cx="7123085" cy="1272296"/>
          </a:xfrm>
          <a:custGeom>
            <a:avLst/>
            <a:gdLst/>
            <a:ahLst/>
            <a:cxnLst/>
            <a:rect l="l" t="t" r="r" b="b"/>
            <a:pathLst>
              <a:path w="77899" h="13914">
                <a:moveTo>
                  <a:pt x="77899" y="7018"/>
                </a:moveTo>
                <a:lnTo>
                  <a:pt x="77805" y="9032"/>
                </a:lnTo>
                <a:lnTo>
                  <a:pt x="77781" y="9692"/>
                </a:lnTo>
                <a:lnTo>
                  <a:pt x="77713" y="10287"/>
                </a:lnTo>
                <a:lnTo>
                  <a:pt x="77326" y="10676"/>
                </a:lnTo>
                <a:lnTo>
                  <a:pt x="77220" y="11079"/>
                </a:lnTo>
                <a:lnTo>
                  <a:pt x="76899" y="11304"/>
                </a:lnTo>
                <a:lnTo>
                  <a:pt x="76734" y="11604"/>
                </a:lnTo>
                <a:lnTo>
                  <a:pt x="76331" y="11763"/>
                </a:lnTo>
                <a:lnTo>
                  <a:pt x="76048" y="12054"/>
                </a:lnTo>
                <a:lnTo>
                  <a:pt x="75672" y="12060"/>
                </a:lnTo>
                <a:lnTo>
                  <a:pt x="75232" y="12361"/>
                </a:lnTo>
                <a:lnTo>
                  <a:pt x="74506" y="12454"/>
                </a:lnTo>
                <a:lnTo>
                  <a:pt x="74183" y="12676"/>
                </a:lnTo>
                <a:lnTo>
                  <a:pt x="73412" y="12789"/>
                </a:lnTo>
                <a:lnTo>
                  <a:pt x="72677" y="12834"/>
                </a:lnTo>
                <a:lnTo>
                  <a:pt x="72096" y="13139"/>
                </a:lnTo>
                <a:lnTo>
                  <a:pt x="71160" y="13087"/>
                </a:lnTo>
                <a:lnTo>
                  <a:pt x="70391" y="13306"/>
                </a:lnTo>
                <a:lnTo>
                  <a:pt x="69273" y="13495"/>
                </a:lnTo>
                <a:lnTo>
                  <a:pt x="68452" y="13502"/>
                </a:lnTo>
                <a:lnTo>
                  <a:pt x="67225" y="13554"/>
                </a:lnTo>
                <a:lnTo>
                  <a:pt x="65976" y="13547"/>
                </a:lnTo>
                <a:lnTo>
                  <a:pt x="64763" y="13592"/>
                </a:lnTo>
                <a:lnTo>
                  <a:pt x="63111" y="13800"/>
                </a:lnTo>
                <a:lnTo>
                  <a:pt x="61669" y="13669"/>
                </a:lnTo>
                <a:lnTo>
                  <a:pt x="59664" y="13708"/>
                </a:lnTo>
                <a:lnTo>
                  <a:pt x="57503" y="13914"/>
                </a:lnTo>
                <a:lnTo>
                  <a:pt x="54583" y="13869"/>
                </a:lnTo>
                <a:lnTo>
                  <a:pt x="50952" y="13723"/>
                </a:lnTo>
                <a:lnTo>
                  <a:pt x="39039" y="13784"/>
                </a:lnTo>
                <a:lnTo>
                  <a:pt x="27084" y="13883"/>
                </a:lnTo>
                <a:lnTo>
                  <a:pt x="23122" y="13811"/>
                </a:lnTo>
                <a:lnTo>
                  <a:pt x="20354" y="13716"/>
                </a:lnTo>
                <a:lnTo>
                  <a:pt x="18289" y="13735"/>
                </a:lnTo>
                <a:lnTo>
                  <a:pt x="16153" y="13780"/>
                </a:lnTo>
                <a:lnTo>
                  <a:pt x="14612" y="13628"/>
                </a:lnTo>
                <a:lnTo>
                  <a:pt x="13226" y="13660"/>
                </a:lnTo>
                <a:lnTo>
                  <a:pt x="11703" y="13603"/>
                </a:lnTo>
                <a:lnTo>
                  <a:pt x="10658" y="13545"/>
                </a:lnTo>
                <a:lnTo>
                  <a:pt x="9482" y="13455"/>
                </a:lnTo>
                <a:lnTo>
                  <a:pt x="8350" y="13256"/>
                </a:lnTo>
                <a:lnTo>
                  <a:pt x="7587" y="13314"/>
                </a:lnTo>
                <a:lnTo>
                  <a:pt x="6657" y="13246"/>
                </a:lnTo>
                <a:lnTo>
                  <a:pt x="5760" y="13059"/>
                </a:lnTo>
                <a:lnTo>
                  <a:pt x="5121" y="12921"/>
                </a:lnTo>
                <a:lnTo>
                  <a:pt x="4371" y="12741"/>
                </a:lnTo>
                <a:lnTo>
                  <a:pt x="3633" y="12644"/>
                </a:lnTo>
                <a:lnTo>
                  <a:pt x="3088" y="12466"/>
                </a:lnTo>
                <a:lnTo>
                  <a:pt x="2650" y="12367"/>
                </a:lnTo>
                <a:lnTo>
                  <a:pt x="2308" y="12271"/>
                </a:lnTo>
                <a:lnTo>
                  <a:pt x="1691" y="12064"/>
                </a:lnTo>
                <a:lnTo>
                  <a:pt x="1397" y="11816"/>
                </a:lnTo>
                <a:lnTo>
                  <a:pt x="1073" y="11431"/>
                </a:lnTo>
                <a:lnTo>
                  <a:pt x="812" y="11382"/>
                </a:lnTo>
                <a:lnTo>
                  <a:pt x="636" y="10907"/>
                </a:lnTo>
                <a:lnTo>
                  <a:pt x="407" y="10521"/>
                </a:lnTo>
                <a:lnTo>
                  <a:pt x="332" y="10260"/>
                </a:lnTo>
                <a:lnTo>
                  <a:pt x="107" y="9811"/>
                </a:lnTo>
                <a:lnTo>
                  <a:pt x="32" y="9033"/>
                </a:lnTo>
                <a:lnTo>
                  <a:pt x="102" y="7047"/>
                </a:lnTo>
                <a:lnTo>
                  <a:pt x="0" y="4820"/>
                </a:lnTo>
                <a:lnTo>
                  <a:pt x="231" y="4228"/>
                </a:lnTo>
                <a:lnTo>
                  <a:pt x="305" y="3733"/>
                </a:lnTo>
                <a:lnTo>
                  <a:pt x="471" y="3175"/>
                </a:lnTo>
                <a:lnTo>
                  <a:pt x="597" y="3053"/>
                </a:lnTo>
                <a:lnTo>
                  <a:pt x="906" y="2627"/>
                </a:lnTo>
                <a:lnTo>
                  <a:pt x="1059" y="2321"/>
                </a:lnTo>
                <a:lnTo>
                  <a:pt x="1426" y="2275"/>
                </a:lnTo>
                <a:lnTo>
                  <a:pt x="1712" y="1892"/>
                </a:lnTo>
                <a:lnTo>
                  <a:pt x="2199" y="1657"/>
                </a:lnTo>
                <a:lnTo>
                  <a:pt x="2696" y="1491"/>
                </a:lnTo>
                <a:lnTo>
                  <a:pt x="3282" y="1348"/>
                </a:lnTo>
                <a:lnTo>
                  <a:pt x="3674" y="1142"/>
                </a:lnTo>
                <a:lnTo>
                  <a:pt x="4377" y="1164"/>
                </a:lnTo>
                <a:lnTo>
                  <a:pt x="5088" y="1014"/>
                </a:lnTo>
                <a:lnTo>
                  <a:pt x="5813" y="889"/>
                </a:lnTo>
                <a:lnTo>
                  <a:pt x="6493" y="649"/>
                </a:lnTo>
                <a:lnTo>
                  <a:pt x="7445" y="659"/>
                </a:lnTo>
                <a:lnTo>
                  <a:pt x="8527" y="651"/>
                </a:lnTo>
                <a:lnTo>
                  <a:pt x="9341" y="395"/>
                </a:lnTo>
                <a:lnTo>
                  <a:pt x="10535" y="323"/>
                </a:lnTo>
                <a:lnTo>
                  <a:pt x="11732" y="383"/>
                </a:lnTo>
                <a:lnTo>
                  <a:pt x="13014" y="368"/>
                </a:lnTo>
                <a:lnTo>
                  <a:pt x="14615" y="319"/>
                </a:lnTo>
                <a:lnTo>
                  <a:pt x="16141" y="165"/>
                </a:lnTo>
                <a:lnTo>
                  <a:pt x="18153" y="72"/>
                </a:lnTo>
                <a:lnTo>
                  <a:pt x="20420" y="198"/>
                </a:lnTo>
                <a:lnTo>
                  <a:pt x="23081" y="183"/>
                </a:lnTo>
                <a:lnTo>
                  <a:pt x="27002" y="67"/>
                </a:lnTo>
                <a:lnTo>
                  <a:pt x="38822" y="7"/>
                </a:lnTo>
                <a:lnTo>
                  <a:pt x="50903" y="109"/>
                </a:lnTo>
                <a:lnTo>
                  <a:pt x="54743" y="188"/>
                </a:lnTo>
                <a:lnTo>
                  <a:pt x="57515" y="0"/>
                </a:lnTo>
                <a:lnTo>
                  <a:pt x="59776" y="41"/>
                </a:lnTo>
                <a:lnTo>
                  <a:pt x="61664" y="159"/>
                </a:lnTo>
                <a:lnTo>
                  <a:pt x="63196" y="182"/>
                </a:lnTo>
                <a:lnTo>
                  <a:pt x="64815" y="342"/>
                </a:lnTo>
                <a:lnTo>
                  <a:pt x="66060" y="378"/>
                </a:lnTo>
                <a:lnTo>
                  <a:pt x="67247" y="489"/>
                </a:lnTo>
                <a:lnTo>
                  <a:pt x="68478" y="483"/>
                </a:lnTo>
                <a:lnTo>
                  <a:pt x="69367" y="569"/>
                </a:lnTo>
                <a:lnTo>
                  <a:pt x="70277" y="754"/>
                </a:lnTo>
                <a:lnTo>
                  <a:pt x="71161" y="769"/>
                </a:lnTo>
                <a:lnTo>
                  <a:pt x="72042" y="784"/>
                </a:lnTo>
                <a:lnTo>
                  <a:pt x="72852" y="909"/>
                </a:lnTo>
                <a:lnTo>
                  <a:pt x="73562" y="986"/>
                </a:lnTo>
                <a:lnTo>
                  <a:pt x="74083" y="1342"/>
                </a:lnTo>
                <a:lnTo>
                  <a:pt x="74571" y="1351"/>
                </a:lnTo>
                <a:lnTo>
                  <a:pt x="75063" y="1628"/>
                </a:lnTo>
                <a:lnTo>
                  <a:pt x="75566" y="1643"/>
                </a:lnTo>
                <a:lnTo>
                  <a:pt x="76152" y="1960"/>
                </a:lnTo>
                <a:lnTo>
                  <a:pt x="76367" y="2110"/>
                </a:lnTo>
                <a:lnTo>
                  <a:pt x="76763" y="2468"/>
                </a:lnTo>
                <a:lnTo>
                  <a:pt x="76923" y="2630"/>
                </a:lnTo>
                <a:lnTo>
                  <a:pt x="77261" y="3002"/>
                </a:lnTo>
                <a:lnTo>
                  <a:pt x="77487" y="3209"/>
                </a:lnTo>
                <a:lnTo>
                  <a:pt x="77469" y="3659"/>
                </a:lnTo>
                <a:lnTo>
                  <a:pt x="77806" y="4059"/>
                </a:lnTo>
                <a:lnTo>
                  <a:pt x="77896" y="4835"/>
                </a:lnTo>
                <a:lnTo>
                  <a:pt x="77875" y="6914"/>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46024" y="1739372"/>
            <a:ext cx="7126742" cy="1277691"/>
          </a:xfrm>
          <a:custGeom>
            <a:avLst/>
            <a:gdLst/>
            <a:ahLst/>
            <a:cxnLst/>
            <a:rect l="l" t="t" r="r" b="b"/>
            <a:pathLst>
              <a:path w="77939" h="13973">
                <a:moveTo>
                  <a:pt x="77939" y="7084"/>
                </a:moveTo>
                <a:lnTo>
                  <a:pt x="77745" y="9073"/>
                </a:lnTo>
                <a:lnTo>
                  <a:pt x="77735" y="9721"/>
                </a:lnTo>
                <a:lnTo>
                  <a:pt x="77663" y="10267"/>
                </a:lnTo>
                <a:lnTo>
                  <a:pt x="77544" y="10746"/>
                </a:lnTo>
                <a:lnTo>
                  <a:pt x="77328" y="10952"/>
                </a:lnTo>
                <a:lnTo>
                  <a:pt x="77164" y="11256"/>
                </a:lnTo>
                <a:lnTo>
                  <a:pt x="76791" y="11483"/>
                </a:lnTo>
                <a:lnTo>
                  <a:pt x="76321" y="11784"/>
                </a:lnTo>
                <a:lnTo>
                  <a:pt x="76172" y="11899"/>
                </a:lnTo>
                <a:lnTo>
                  <a:pt x="75604" y="12129"/>
                </a:lnTo>
                <a:lnTo>
                  <a:pt x="75141" y="12286"/>
                </a:lnTo>
                <a:lnTo>
                  <a:pt x="74711" y="12529"/>
                </a:lnTo>
                <a:lnTo>
                  <a:pt x="74035" y="12793"/>
                </a:lnTo>
                <a:lnTo>
                  <a:pt x="73505" y="12859"/>
                </a:lnTo>
                <a:lnTo>
                  <a:pt x="72749" y="12921"/>
                </a:lnTo>
                <a:lnTo>
                  <a:pt x="72143" y="13100"/>
                </a:lnTo>
                <a:lnTo>
                  <a:pt x="71333" y="13101"/>
                </a:lnTo>
                <a:lnTo>
                  <a:pt x="70469" y="13284"/>
                </a:lnTo>
                <a:lnTo>
                  <a:pt x="69359" y="13282"/>
                </a:lnTo>
                <a:lnTo>
                  <a:pt x="68289" y="13510"/>
                </a:lnTo>
                <a:lnTo>
                  <a:pt x="67206" y="13493"/>
                </a:lnTo>
                <a:lnTo>
                  <a:pt x="66045" y="13729"/>
                </a:lnTo>
                <a:lnTo>
                  <a:pt x="64819" y="13675"/>
                </a:lnTo>
                <a:lnTo>
                  <a:pt x="63247" y="13788"/>
                </a:lnTo>
                <a:lnTo>
                  <a:pt x="61599" y="13821"/>
                </a:lnTo>
                <a:lnTo>
                  <a:pt x="59579" y="13743"/>
                </a:lnTo>
                <a:lnTo>
                  <a:pt x="57427" y="13919"/>
                </a:lnTo>
                <a:lnTo>
                  <a:pt x="54748" y="13844"/>
                </a:lnTo>
                <a:lnTo>
                  <a:pt x="50871" y="13800"/>
                </a:lnTo>
                <a:lnTo>
                  <a:pt x="38991" y="13775"/>
                </a:lnTo>
                <a:lnTo>
                  <a:pt x="27100" y="13973"/>
                </a:lnTo>
                <a:lnTo>
                  <a:pt x="23177" y="13880"/>
                </a:lnTo>
                <a:lnTo>
                  <a:pt x="20426" y="13912"/>
                </a:lnTo>
                <a:lnTo>
                  <a:pt x="18309" y="13678"/>
                </a:lnTo>
                <a:lnTo>
                  <a:pt x="16277" y="13795"/>
                </a:lnTo>
                <a:lnTo>
                  <a:pt x="14636" y="13674"/>
                </a:lnTo>
                <a:lnTo>
                  <a:pt x="13097" y="13726"/>
                </a:lnTo>
                <a:lnTo>
                  <a:pt x="11725" y="13724"/>
                </a:lnTo>
                <a:lnTo>
                  <a:pt x="10492" y="13578"/>
                </a:lnTo>
                <a:lnTo>
                  <a:pt x="9584" y="13373"/>
                </a:lnTo>
                <a:lnTo>
                  <a:pt x="8497" y="13290"/>
                </a:lnTo>
                <a:lnTo>
                  <a:pt x="7380" y="13292"/>
                </a:lnTo>
                <a:lnTo>
                  <a:pt x="6501" y="13299"/>
                </a:lnTo>
                <a:lnTo>
                  <a:pt x="5758" y="13143"/>
                </a:lnTo>
                <a:lnTo>
                  <a:pt x="4973" y="13071"/>
                </a:lnTo>
                <a:lnTo>
                  <a:pt x="4409" y="12810"/>
                </a:lnTo>
                <a:lnTo>
                  <a:pt x="3780" y="12811"/>
                </a:lnTo>
                <a:lnTo>
                  <a:pt x="3186" y="12621"/>
                </a:lnTo>
                <a:lnTo>
                  <a:pt x="2774" y="12486"/>
                </a:lnTo>
                <a:lnTo>
                  <a:pt x="2211" y="12103"/>
                </a:lnTo>
                <a:lnTo>
                  <a:pt x="1844" y="12070"/>
                </a:lnTo>
                <a:lnTo>
                  <a:pt x="1503" y="11737"/>
                </a:lnTo>
                <a:lnTo>
                  <a:pt x="1212" y="11618"/>
                </a:lnTo>
                <a:lnTo>
                  <a:pt x="856" y="11196"/>
                </a:lnTo>
                <a:lnTo>
                  <a:pt x="655" y="10992"/>
                </a:lnTo>
                <a:lnTo>
                  <a:pt x="314" y="10652"/>
                </a:lnTo>
                <a:lnTo>
                  <a:pt x="139" y="10340"/>
                </a:lnTo>
                <a:lnTo>
                  <a:pt x="137" y="9646"/>
                </a:lnTo>
                <a:lnTo>
                  <a:pt x="162" y="9054"/>
                </a:lnTo>
                <a:lnTo>
                  <a:pt x="0" y="6899"/>
                </a:lnTo>
                <a:lnTo>
                  <a:pt x="132" y="4938"/>
                </a:lnTo>
                <a:lnTo>
                  <a:pt x="99" y="4260"/>
                </a:lnTo>
                <a:lnTo>
                  <a:pt x="301" y="3592"/>
                </a:lnTo>
                <a:lnTo>
                  <a:pt x="420" y="3295"/>
                </a:lnTo>
                <a:lnTo>
                  <a:pt x="494" y="3034"/>
                </a:lnTo>
                <a:lnTo>
                  <a:pt x="855" y="2773"/>
                </a:lnTo>
                <a:lnTo>
                  <a:pt x="1056" y="2509"/>
                </a:lnTo>
                <a:lnTo>
                  <a:pt x="1472" y="2265"/>
                </a:lnTo>
                <a:lnTo>
                  <a:pt x="1851" y="2080"/>
                </a:lnTo>
                <a:lnTo>
                  <a:pt x="2310" y="1680"/>
                </a:lnTo>
                <a:lnTo>
                  <a:pt x="2702" y="1562"/>
                </a:lnTo>
                <a:lnTo>
                  <a:pt x="3126" y="1383"/>
                </a:lnTo>
                <a:lnTo>
                  <a:pt x="3824" y="1230"/>
                </a:lnTo>
                <a:lnTo>
                  <a:pt x="4335" y="1016"/>
                </a:lnTo>
                <a:lnTo>
                  <a:pt x="5053" y="1085"/>
                </a:lnTo>
                <a:lnTo>
                  <a:pt x="5935" y="844"/>
                </a:lnTo>
                <a:lnTo>
                  <a:pt x="6740" y="685"/>
                </a:lnTo>
                <a:lnTo>
                  <a:pt x="7444" y="594"/>
                </a:lnTo>
                <a:lnTo>
                  <a:pt x="8395" y="484"/>
                </a:lnTo>
                <a:lnTo>
                  <a:pt x="9467" y="538"/>
                </a:lnTo>
                <a:lnTo>
                  <a:pt x="10642" y="452"/>
                </a:lnTo>
                <a:lnTo>
                  <a:pt x="11679" y="261"/>
                </a:lnTo>
                <a:lnTo>
                  <a:pt x="13245" y="217"/>
                </a:lnTo>
                <a:lnTo>
                  <a:pt x="14640" y="135"/>
                </a:lnTo>
                <a:lnTo>
                  <a:pt x="16209" y="109"/>
                </a:lnTo>
                <a:lnTo>
                  <a:pt x="18114" y="159"/>
                </a:lnTo>
                <a:lnTo>
                  <a:pt x="20385" y="147"/>
                </a:lnTo>
                <a:lnTo>
                  <a:pt x="23287" y="191"/>
                </a:lnTo>
                <a:lnTo>
                  <a:pt x="26900" y="0"/>
                </a:lnTo>
                <a:lnTo>
                  <a:pt x="39005" y="36"/>
                </a:lnTo>
                <a:lnTo>
                  <a:pt x="50978" y="79"/>
                </a:lnTo>
                <a:lnTo>
                  <a:pt x="54789" y="96"/>
                </a:lnTo>
                <a:lnTo>
                  <a:pt x="57379" y="36"/>
                </a:lnTo>
                <a:lnTo>
                  <a:pt x="59740" y="238"/>
                </a:lnTo>
                <a:lnTo>
                  <a:pt x="61586" y="198"/>
                </a:lnTo>
                <a:lnTo>
                  <a:pt x="63324" y="270"/>
                </a:lnTo>
                <a:lnTo>
                  <a:pt x="64671" y="397"/>
                </a:lnTo>
                <a:lnTo>
                  <a:pt x="66042" y="227"/>
                </a:lnTo>
                <a:lnTo>
                  <a:pt x="67297" y="383"/>
                </a:lnTo>
                <a:lnTo>
                  <a:pt x="68525" y="518"/>
                </a:lnTo>
                <a:lnTo>
                  <a:pt x="69473" y="576"/>
                </a:lnTo>
                <a:lnTo>
                  <a:pt x="70266" y="581"/>
                </a:lnTo>
                <a:lnTo>
                  <a:pt x="71256" y="836"/>
                </a:lnTo>
                <a:lnTo>
                  <a:pt x="72141" y="910"/>
                </a:lnTo>
                <a:lnTo>
                  <a:pt x="72745" y="900"/>
                </a:lnTo>
                <a:lnTo>
                  <a:pt x="73495" y="1044"/>
                </a:lnTo>
                <a:lnTo>
                  <a:pt x="74210" y="1196"/>
                </a:lnTo>
                <a:lnTo>
                  <a:pt x="74724" y="1486"/>
                </a:lnTo>
                <a:lnTo>
                  <a:pt x="75152" y="1665"/>
                </a:lnTo>
                <a:lnTo>
                  <a:pt x="75629" y="1810"/>
                </a:lnTo>
                <a:lnTo>
                  <a:pt x="76077" y="1872"/>
                </a:lnTo>
                <a:lnTo>
                  <a:pt x="76454" y="2150"/>
                </a:lnTo>
                <a:lnTo>
                  <a:pt x="76655" y="2444"/>
                </a:lnTo>
                <a:lnTo>
                  <a:pt x="77154" y="2784"/>
                </a:lnTo>
                <a:lnTo>
                  <a:pt x="77351" y="3089"/>
                </a:lnTo>
                <a:lnTo>
                  <a:pt x="77401" y="3426"/>
                </a:lnTo>
                <a:lnTo>
                  <a:pt x="77541" y="3734"/>
                </a:lnTo>
                <a:lnTo>
                  <a:pt x="77691" y="4300"/>
                </a:lnTo>
                <a:lnTo>
                  <a:pt x="77909" y="4785"/>
                </a:lnTo>
                <a:lnTo>
                  <a:pt x="77716" y="6903"/>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7635149" y="2713116"/>
            <a:ext cx="95006" cy="103327"/>
          </a:xfrm>
          <a:custGeom>
            <a:avLst/>
            <a:gdLst/>
            <a:ahLst/>
            <a:cxnLst/>
            <a:rect l="l" t="t" r="r" b="b"/>
            <a:pathLst>
              <a:path w="1039" h="1130">
                <a:moveTo>
                  <a:pt x="1039" y="0"/>
                </a:moveTo>
                <a:lnTo>
                  <a:pt x="846" y="336"/>
                </a:lnTo>
                <a:lnTo>
                  <a:pt x="608" y="630"/>
                </a:lnTo>
                <a:lnTo>
                  <a:pt x="327" y="893"/>
                </a:lnTo>
                <a:lnTo>
                  <a:pt x="0" y="113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6564478" y="2963753"/>
            <a:ext cx="429859" cy="25695"/>
          </a:xfrm>
          <a:custGeom>
            <a:avLst/>
            <a:gdLst/>
            <a:ahLst/>
            <a:cxnLst/>
            <a:rect l="l" t="t" r="r" b="b"/>
            <a:pathLst>
              <a:path w="4701" h="281">
                <a:moveTo>
                  <a:pt x="4701" y="0"/>
                </a:moveTo>
                <a:lnTo>
                  <a:pt x="3676" y="83"/>
                </a:lnTo>
                <a:lnTo>
                  <a:pt x="2559" y="158"/>
                </a:lnTo>
                <a:lnTo>
                  <a:pt x="1340" y="224"/>
                </a:lnTo>
                <a:lnTo>
                  <a:pt x="0" y="281"/>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725473" y="2984236"/>
            <a:ext cx="584027" cy="16734"/>
          </a:xfrm>
          <a:custGeom>
            <a:avLst/>
            <a:gdLst/>
            <a:ahLst/>
            <a:cxnLst/>
            <a:rect l="l" t="t" r="r" b="b"/>
            <a:pathLst>
              <a:path w="6387" h="183">
                <a:moveTo>
                  <a:pt x="6387" y="183"/>
                </a:moveTo>
                <a:lnTo>
                  <a:pt x="4487" y="149"/>
                </a:lnTo>
                <a:lnTo>
                  <a:pt x="2824" y="107"/>
                </a:lnTo>
                <a:lnTo>
                  <a:pt x="1340" y="57"/>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47431" y="2794772"/>
            <a:ext cx="145207" cy="76078"/>
          </a:xfrm>
          <a:custGeom>
            <a:avLst/>
            <a:gdLst/>
            <a:ahLst/>
            <a:cxnLst/>
            <a:rect l="l" t="t" r="r" b="b"/>
            <a:pathLst>
              <a:path w="1588" h="832">
                <a:moveTo>
                  <a:pt x="1588" y="832"/>
                </a:moveTo>
                <a:lnTo>
                  <a:pt x="1120" y="650"/>
                </a:lnTo>
                <a:lnTo>
                  <a:pt x="700" y="453"/>
                </a:lnTo>
                <a:lnTo>
                  <a:pt x="327" y="237"/>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82325" y="1938437"/>
            <a:ext cx="95006" cy="103327"/>
          </a:xfrm>
          <a:custGeom>
            <a:avLst/>
            <a:gdLst/>
            <a:ahLst/>
            <a:cxnLst/>
            <a:rect l="l" t="t" r="r" b="b"/>
            <a:pathLst>
              <a:path w="1039" h="1130">
                <a:moveTo>
                  <a:pt x="0" y="1130"/>
                </a:moveTo>
                <a:lnTo>
                  <a:pt x="193" y="794"/>
                </a:lnTo>
                <a:lnTo>
                  <a:pt x="431" y="500"/>
                </a:lnTo>
                <a:lnTo>
                  <a:pt x="712" y="237"/>
                </a:lnTo>
                <a:lnTo>
                  <a:pt x="103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418143" y="1765432"/>
            <a:ext cx="429859" cy="25695"/>
          </a:xfrm>
          <a:custGeom>
            <a:avLst/>
            <a:gdLst/>
            <a:ahLst/>
            <a:cxnLst/>
            <a:rect l="l" t="t" r="r" b="b"/>
            <a:pathLst>
              <a:path w="4701" h="281">
                <a:moveTo>
                  <a:pt x="0" y="281"/>
                </a:moveTo>
                <a:lnTo>
                  <a:pt x="1025" y="198"/>
                </a:lnTo>
                <a:lnTo>
                  <a:pt x="2142" y="123"/>
                </a:lnTo>
                <a:lnTo>
                  <a:pt x="3361" y="57"/>
                </a:lnTo>
                <a:lnTo>
                  <a:pt x="4701"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6102980" y="1753911"/>
            <a:ext cx="584027" cy="16734"/>
          </a:xfrm>
          <a:custGeom>
            <a:avLst/>
            <a:gdLst/>
            <a:ahLst/>
            <a:cxnLst/>
            <a:rect l="l" t="t" r="r" b="b"/>
            <a:pathLst>
              <a:path w="6387" h="183">
                <a:moveTo>
                  <a:pt x="0" y="0"/>
                </a:moveTo>
                <a:lnTo>
                  <a:pt x="1900" y="34"/>
                </a:lnTo>
                <a:lnTo>
                  <a:pt x="3563" y="76"/>
                </a:lnTo>
                <a:lnTo>
                  <a:pt x="5047" y="126"/>
                </a:lnTo>
                <a:lnTo>
                  <a:pt x="6387" y="183"/>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7519843" y="1884030"/>
            <a:ext cx="145207" cy="76078"/>
          </a:xfrm>
          <a:custGeom>
            <a:avLst/>
            <a:gdLst/>
            <a:ahLst/>
            <a:cxnLst/>
            <a:rect l="l" t="t" r="r" b="b"/>
            <a:pathLst>
              <a:path w="1588" h="832">
                <a:moveTo>
                  <a:pt x="0" y="0"/>
                </a:moveTo>
                <a:lnTo>
                  <a:pt x="468" y="182"/>
                </a:lnTo>
                <a:lnTo>
                  <a:pt x="888" y="379"/>
                </a:lnTo>
                <a:lnTo>
                  <a:pt x="1261" y="595"/>
                </a:lnTo>
                <a:lnTo>
                  <a:pt x="1588" y="83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Perrow, Normal Accidents (1984)"/>
          <p:cNvSpPr txBox="1"/>
          <p:nvPr/>
        </p:nvSpPr>
        <p:spPr>
          <a:xfrm>
            <a:off x="850392" y="1854454"/>
            <a:ext cx="6711696" cy="396748"/>
          </a:xfrm>
          <a:prstGeom prst="rect">
            <a:avLst/>
          </a:prstGeom>
          <a:noFill/>
        </p:spPr>
        <p:txBody>
          <a:bodyPr wrap="none" lIns="0" rIns="0" tIns="0" bIns="0" anchor="t">
            <a:noAutofit/>
          </a:bodyPr>
          <a:lstStyle/>
          <a:p>
            <a:pPr algn="ctr">
              <a:lnSpc>
                <a:spcPts val="2584"/>
              </a:lnSpc>
              <a:spcBef>
                <a:spcPts val="0"/>
              </a:spcBef>
              <a:spcAft>
                <a:spcPts val="0"/>
              </a:spcAft>
            </a:pPr>
            <a:r>
              <a:rPr sz="1900" b="1">
                <a:solidFill>
                  <a:srgbClr val="4E7892"/>
                </a:solidFill>
                <a:latin typeface="Chalkboard SE"/>
              </a:rPr>
              <a:t>Perrow, Normal Accidents (1984)</a:t>
            </a:r>
          </a:p>
        </p:txBody>
      </p:sp>
      <p:sp>
        <p:nvSpPr>
          <p:cNvPr id="24" name="body: Tightly coupled, complex systems make some accidents inevitable."/>
          <p:cNvSpPr txBox="1"/>
          <p:nvPr/>
        </p:nvSpPr>
        <p:spPr>
          <a:xfrm>
            <a:off x="914400" y="2296223"/>
            <a:ext cx="6583680" cy="665353"/>
          </a:xfrm>
          <a:prstGeom prst="rect">
            <a:avLst/>
          </a:prstGeom>
          <a:noFill/>
        </p:spPr>
        <p:txBody>
          <a:bodyPr wrap="none" lIns="0" rIns="0" tIns="0" bIns="0" anchor="t">
            <a:noAutofit/>
          </a:bodyPr>
          <a:lstStyle/>
          <a:p>
            <a:pPr algn="ctr">
              <a:lnSpc>
                <a:spcPts val="2349"/>
              </a:lnSpc>
              <a:spcBef>
                <a:spcPts val="0"/>
              </a:spcBef>
              <a:spcAft>
                <a:spcPts val="0"/>
              </a:spcAft>
            </a:pPr>
            <a:r>
              <a:rPr sz="1850" b="0">
                <a:solidFill>
                  <a:srgbClr val="293E46"/>
                </a:solidFill>
                <a:latin typeface="Trebuchet MS"/>
              </a:rPr>
              <a:t>Tightly coupled, complex systems make some accidents</a:t>
            </a:r>
            <a:br/>
            <a:r>
              <a:rPr sz="1850" b="0">
                <a:solidFill>
                  <a:srgbClr val="293E46"/>
                </a:solidFill>
                <a:latin typeface="Trebuchet MS"/>
              </a:rPr>
              <a:t>inevitable.</a:t>
            </a:r>
          </a:p>
        </p:txBody>
      </p:sp>
      <p:sp>
        <p:nvSpPr>
          <p:cNvPr id="25" name="Rounded Rectangle 24"/>
          <p:cNvSpPr/>
          <p:nvPr/>
        </p:nvSpPr>
        <p:spPr>
          <a:xfrm>
            <a:off x="640080" y="3200400"/>
            <a:ext cx="7132320" cy="1280160"/>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650321" y="3208355"/>
            <a:ext cx="7120890" cy="1271839"/>
          </a:xfrm>
          <a:custGeom>
            <a:avLst/>
            <a:gdLst/>
            <a:ahLst/>
            <a:cxnLst/>
            <a:rect l="l" t="t" r="r" b="b"/>
            <a:pathLst>
              <a:path w="77875" h="13909">
                <a:moveTo>
                  <a:pt x="77875" y="6855"/>
                </a:moveTo>
                <a:lnTo>
                  <a:pt x="77706" y="9099"/>
                </a:lnTo>
                <a:lnTo>
                  <a:pt x="77794" y="9774"/>
                </a:lnTo>
                <a:lnTo>
                  <a:pt x="77477" y="10075"/>
                </a:lnTo>
                <a:lnTo>
                  <a:pt x="77379" y="10526"/>
                </a:lnTo>
                <a:lnTo>
                  <a:pt x="77278" y="10972"/>
                </a:lnTo>
                <a:lnTo>
                  <a:pt x="77106" y="11222"/>
                </a:lnTo>
                <a:lnTo>
                  <a:pt x="76628" y="11401"/>
                </a:lnTo>
                <a:lnTo>
                  <a:pt x="76466" y="11777"/>
                </a:lnTo>
                <a:lnTo>
                  <a:pt x="76126" y="11834"/>
                </a:lnTo>
                <a:lnTo>
                  <a:pt x="75645" y="12237"/>
                </a:lnTo>
                <a:lnTo>
                  <a:pt x="75045" y="12243"/>
                </a:lnTo>
                <a:lnTo>
                  <a:pt x="74558" y="12490"/>
                </a:lnTo>
                <a:lnTo>
                  <a:pt x="74100" y="12597"/>
                </a:lnTo>
                <a:lnTo>
                  <a:pt x="73415" y="12662"/>
                </a:lnTo>
                <a:lnTo>
                  <a:pt x="72863" y="13001"/>
                </a:lnTo>
                <a:lnTo>
                  <a:pt x="71949" y="13093"/>
                </a:lnTo>
                <a:lnTo>
                  <a:pt x="71136" y="13036"/>
                </a:lnTo>
                <a:lnTo>
                  <a:pt x="70245" y="13125"/>
                </a:lnTo>
                <a:lnTo>
                  <a:pt x="69257" y="13438"/>
                </a:lnTo>
                <a:lnTo>
                  <a:pt x="68412" y="13316"/>
                </a:lnTo>
                <a:lnTo>
                  <a:pt x="67164" y="13602"/>
                </a:lnTo>
                <a:lnTo>
                  <a:pt x="66110" y="13464"/>
                </a:lnTo>
                <a:lnTo>
                  <a:pt x="64700" y="13659"/>
                </a:lnTo>
                <a:lnTo>
                  <a:pt x="63231" y="13697"/>
                </a:lnTo>
                <a:lnTo>
                  <a:pt x="61537" y="13703"/>
                </a:lnTo>
                <a:lnTo>
                  <a:pt x="59624" y="13820"/>
                </a:lnTo>
                <a:lnTo>
                  <a:pt x="57277" y="13830"/>
                </a:lnTo>
                <a:lnTo>
                  <a:pt x="54752" y="13879"/>
                </a:lnTo>
                <a:lnTo>
                  <a:pt x="50934" y="13908"/>
                </a:lnTo>
                <a:lnTo>
                  <a:pt x="38978" y="13909"/>
                </a:lnTo>
                <a:lnTo>
                  <a:pt x="27009" y="13827"/>
                </a:lnTo>
                <a:lnTo>
                  <a:pt x="23232" y="13725"/>
                </a:lnTo>
                <a:lnTo>
                  <a:pt x="20269" y="13710"/>
                </a:lnTo>
                <a:lnTo>
                  <a:pt x="18030" y="13680"/>
                </a:lnTo>
                <a:lnTo>
                  <a:pt x="16145" y="13745"/>
                </a:lnTo>
                <a:lnTo>
                  <a:pt x="14585" y="13677"/>
                </a:lnTo>
                <a:lnTo>
                  <a:pt x="13041" y="13626"/>
                </a:lnTo>
                <a:lnTo>
                  <a:pt x="11724" y="13660"/>
                </a:lnTo>
                <a:lnTo>
                  <a:pt x="10665" y="13561"/>
                </a:lnTo>
                <a:lnTo>
                  <a:pt x="9465" y="13434"/>
                </a:lnTo>
                <a:lnTo>
                  <a:pt x="8423" y="13347"/>
                </a:lnTo>
                <a:lnTo>
                  <a:pt x="7470" y="13118"/>
                </a:lnTo>
                <a:lnTo>
                  <a:pt x="6584" y="13128"/>
                </a:lnTo>
                <a:lnTo>
                  <a:pt x="5825" y="13021"/>
                </a:lnTo>
                <a:lnTo>
                  <a:pt x="5121" y="12914"/>
                </a:lnTo>
                <a:lnTo>
                  <a:pt x="4287" y="12694"/>
                </a:lnTo>
                <a:lnTo>
                  <a:pt x="3741" y="12546"/>
                </a:lnTo>
                <a:lnTo>
                  <a:pt x="3275" y="12434"/>
                </a:lnTo>
                <a:lnTo>
                  <a:pt x="2665" y="12230"/>
                </a:lnTo>
                <a:lnTo>
                  <a:pt x="2266" y="12127"/>
                </a:lnTo>
                <a:lnTo>
                  <a:pt x="1743" y="11829"/>
                </a:lnTo>
                <a:lnTo>
                  <a:pt x="1306" y="11597"/>
                </a:lnTo>
                <a:lnTo>
                  <a:pt x="954" y="11592"/>
                </a:lnTo>
                <a:lnTo>
                  <a:pt x="803" y="11182"/>
                </a:lnTo>
                <a:lnTo>
                  <a:pt x="668" y="10820"/>
                </a:lnTo>
                <a:lnTo>
                  <a:pt x="301" y="10521"/>
                </a:lnTo>
                <a:lnTo>
                  <a:pt x="260" y="10106"/>
                </a:lnTo>
                <a:lnTo>
                  <a:pt x="132" y="9749"/>
                </a:lnTo>
                <a:lnTo>
                  <a:pt x="143" y="8977"/>
                </a:lnTo>
                <a:lnTo>
                  <a:pt x="0" y="6956"/>
                </a:lnTo>
                <a:lnTo>
                  <a:pt x="146" y="4719"/>
                </a:lnTo>
                <a:lnTo>
                  <a:pt x="93" y="4052"/>
                </a:lnTo>
                <a:lnTo>
                  <a:pt x="93" y="3717"/>
                </a:lnTo>
                <a:lnTo>
                  <a:pt x="418" y="3311"/>
                </a:lnTo>
                <a:lnTo>
                  <a:pt x="585" y="2803"/>
                </a:lnTo>
                <a:lnTo>
                  <a:pt x="777" y="2522"/>
                </a:lnTo>
                <a:lnTo>
                  <a:pt x="1137" y="2378"/>
                </a:lnTo>
                <a:lnTo>
                  <a:pt x="1425" y="2150"/>
                </a:lnTo>
                <a:lnTo>
                  <a:pt x="1829" y="1977"/>
                </a:lnTo>
                <a:lnTo>
                  <a:pt x="2210" y="1651"/>
                </a:lnTo>
                <a:lnTo>
                  <a:pt x="2670" y="1605"/>
                </a:lnTo>
                <a:lnTo>
                  <a:pt x="3042" y="1391"/>
                </a:lnTo>
                <a:lnTo>
                  <a:pt x="3792" y="1081"/>
                </a:lnTo>
                <a:lnTo>
                  <a:pt x="4424" y="1161"/>
                </a:lnTo>
                <a:lnTo>
                  <a:pt x="5062" y="1032"/>
                </a:lnTo>
                <a:lnTo>
                  <a:pt x="5876" y="900"/>
                </a:lnTo>
                <a:lnTo>
                  <a:pt x="6622" y="751"/>
                </a:lnTo>
                <a:lnTo>
                  <a:pt x="7326" y="564"/>
                </a:lnTo>
                <a:lnTo>
                  <a:pt x="8510" y="590"/>
                </a:lnTo>
                <a:lnTo>
                  <a:pt x="9329" y="403"/>
                </a:lnTo>
                <a:lnTo>
                  <a:pt x="10470" y="350"/>
                </a:lnTo>
                <a:lnTo>
                  <a:pt x="11868" y="360"/>
                </a:lnTo>
                <a:lnTo>
                  <a:pt x="13102" y="283"/>
                </a:lnTo>
                <a:lnTo>
                  <a:pt x="14690" y="103"/>
                </a:lnTo>
                <a:lnTo>
                  <a:pt x="16130" y="159"/>
                </a:lnTo>
                <a:lnTo>
                  <a:pt x="18050" y="13"/>
                </a:lnTo>
                <a:lnTo>
                  <a:pt x="20432" y="18"/>
                </a:lnTo>
                <a:lnTo>
                  <a:pt x="23174" y="120"/>
                </a:lnTo>
                <a:lnTo>
                  <a:pt x="26857" y="133"/>
                </a:lnTo>
                <a:lnTo>
                  <a:pt x="38941" y="0"/>
                </a:lnTo>
                <a:lnTo>
                  <a:pt x="50794" y="143"/>
                </a:lnTo>
                <a:lnTo>
                  <a:pt x="54630" y="157"/>
                </a:lnTo>
                <a:lnTo>
                  <a:pt x="57278" y="112"/>
                </a:lnTo>
                <a:lnTo>
                  <a:pt x="59508" y="18"/>
                </a:lnTo>
                <a:lnTo>
                  <a:pt x="61550" y="188"/>
                </a:lnTo>
                <a:lnTo>
                  <a:pt x="63150" y="251"/>
                </a:lnTo>
                <a:lnTo>
                  <a:pt x="64767" y="289"/>
                </a:lnTo>
                <a:lnTo>
                  <a:pt x="66033" y="200"/>
                </a:lnTo>
                <a:lnTo>
                  <a:pt x="67119" y="419"/>
                </a:lnTo>
                <a:lnTo>
                  <a:pt x="68372" y="341"/>
                </a:lnTo>
                <a:lnTo>
                  <a:pt x="69338" y="578"/>
                </a:lnTo>
                <a:lnTo>
                  <a:pt x="70366" y="554"/>
                </a:lnTo>
                <a:lnTo>
                  <a:pt x="71072" y="725"/>
                </a:lnTo>
                <a:lnTo>
                  <a:pt x="72058" y="717"/>
                </a:lnTo>
                <a:lnTo>
                  <a:pt x="72831" y="806"/>
                </a:lnTo>
                <a:lnTo>
                  <a:pt x="73540" y="1149"/>
                </a:lnTo>
                <a:lnTo>
                  <a:pt x="74008" y="1085"/>
                </a:lnTo>
                <a:lnTo>
                  <a:pt x="74615" y="1469"/>
                </a:lnTo>
                <a:lnTo>
                  <a:pt x="75041" y="1630"/>
                </a:lnTo>
                <a:lnTo>
                  <a:pt x="75625" y="1583"/>
                </a:lnTo>
                <a:lnTo>
                  <a:pt x="76122" y="1903"/>
                </a:lnTo>
                <a:lnTo>
                  <a:pt x="76462" y="2097"/>
                </a:lnTo>
                <a:lnTo>
                  <a:pt x="76695" y="2431"/>
                </a:lnTo>
                <a:lnTo>
                  <a:pt x="76886" y="2542"/>
                </a:lnTo>
                <a:lnTo>
                  <a:pt x="77357" y="2912"/>
                </a:lnTo>
                <a:lnTo>
                  <a:pt x="77432" y="3243"/>
                </a:lnTo>
                <a:lnTo>
                  <a:pt x="77555" y="3523"/>
                </a:lnTo>
                <a:lnTo>
                  <a:pt x="77670" y="4231"/>
                </a:lnTo>
                <a:lnTo>
                  <a:pt x="77664" y="4878"/>
                </a:lnTo>
                <a:lnTo>
                  <a:pt x="77735" y="6891"/>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647121" y="3204058"/>
            <a:ext cx="7123542" cy="1276045"/>
          </a:xfrm>
          <a:custGeom>
            <a:avLst/>
            <a:gdLst/>
            <a:ahLst/>
            <a:cxnLst/>
            <a:rect l="l" t="t" r="r" b="b"/>
            <a:pathLst>
              <a:path w="77904" h="13955">
                <a:moveTo>
                  <a:pt x="77710" y="6960"/>
                </a:moveTo>
                <a:lnTo>
                  <a:pt x="77904" y="8960"/>
                </a:lnTo>
                <a:lnTo>
                  <a:pt x="77616" y="9775"/>
                </a:lnTo>
                <a:lnTo>
                  <a:pt x="77618" y="10184"/>
                </a:lnTo>
                <a:lnTo>
                  <a:pt x="77499" y="10670"/>
                </a:lnTo>
                <a:lnTo>
                  <a:pt x="77366" y="10992"/>
                </a:lnTo>
                <a:lnTo>
                  <a:pt x="77003" y="11221"/>
                </a:lnTo>
                <a:lnTo>
                  <a:pt x="76704" y="11544"/>
                </a:lnTo>
                <a:lnTo>
                  <a:pt x="76521" y="11827"/>
                </a:lnTo>
                <a:lnTo>
                  <a:pt x="75975" y="11895"/>
                </a:lnTo>
                <a:lnTo>
                  <a:pt x="75632" y="12086"/>
                </a:lnTo>
                <a:lnTo>
                  <a:pt x="75163" y="12345"/>
                </a:lnTo>
                <a:lnTo>
                  <a:pt x="74668" y="12490"/>
                </a:lnTo>
                <a:lnTo>
                  <a:pt x="74023" y="12629"/>
                </a:lnTo>
                <a:lnTo>
                  <a:pt x="73355" y="12934"/>
                </a:lnTo>
                <a:lnTo>
                  <a:pt x="72750" y="13051"/>
                </a:lnTo>
                <a:lnTo>
                  <a:pt x="72065" y="13179"/>
                </a:lnTo>
                <a:lnTo>
                  <a:pt x="71344" y="13135"/>
                </a:lnTo>
                <a:lnTo>
                  <a:pt x="70484" y="13335"/>
                </a:lnTo>
                <a:lnTo>
                  <a:pt x="69286" y="13442"/>
                </a:lnTo>
                <a:lnTo>
                  <a:pt x="68510" y="13395"/>
                </a:lnTo>
                <a:lnTo>
                  <a:pt x="67327" y="13427"/>
                </a:lnTo>
                <a:lnTo>
                  <a:pt x="66146" y="13620"/>
                </a:lnTo>
                <a:lnTo>
                  <a:pt x="64793" y="13636"/>
                </a:lnTo>
                <a:lnTo>
                  <a:pt x="63332" y="13756"/>
                </a:lnTo>
                <a:lnTo>
                  <a:pt x="61543" y="13816"/>
                </a:lnTo>
                <a:lnTo>
                  <a:pt x="59592" y="13781"/>
                </a:lnTo>
                <a:lnTo>
                  <a:pt x="57495" y="13853"/>
                </a:lnTo>
                <a:lnTo>
                  <a:pt x="54639" y="13924"/>
                </a:lnTo>
                <a:lnTo>
                  <a:pt x="50909" y="13955"/>
                </a:lnTo>
                <a:lnTo>
                  <a:pt x="38851" y="13865"/>
                </a:lnTo>
                <a:lnTo>
                  <a:pt x="26898" y="13955"/>
                </a:lnTo>
                <a:lnTo>
                  <a:pt x="23075" y="13907"/>
                </a:lnTo>
                <a:lnTo>
                  <a:pt x="20432" y="13810"/>
                </a:lnTo>
                <a:lnTo>
                  <a:pt x="18061" y="13686"/>
                </a:lnTo>
                <a:lnTo>
                  <a:pt x="16223" y="13747"/>
                </a:lnTo>
                <a:lnTo>
                  <a:pt x="14733" y="13633"/>
                </a:lnTo>
                <a:lnTo>
                  <a:pt x="13143" y="13578"/>
                </a:lnTo>
                <a:lnTo>
                  <a:pt x="11805" y="13645"/>
                </a:lnTo>
                <a:lnTo>
                  <a:pt x="10545" y="13470"/>
                </a:lnTo>
                <a:lnTo>
                  <a:pt x="9413" y="13539"/>
                </a:lnTo>
                <a:lnTo>
                  <a:pt x="8546" y="13438"/>
                </a:lnTo>
                <a:lnTo>
                  <a:pt x="7611" y="13231"/>
                </a:lnTo>
                <a:lnTo>
                  <a:pt x="6686" y="13148"/>
                </a:lnTo>
                <a:lnTo>
                  <a:pt x="5800" y="12985"/>
                </a:lnTo>
                <a:lnTo>
                  <a:pt x="4946" y="13055"/>
                </a:lnTo>
                <a:lnTo>
                  <a:pt x="4344" y="12859"/>
                </a:lnTo>
                <a:lnTo>
                  <a:pt x="3718" y="12777"/>
                </a:lnTo>
                <a:lnTo>
                  <a:pt x="3162" y="12490"/>
                </a:lnTo>
                <a:lnTo>
                  <a:pt x="2779" y="12445"/>
                </a:lnTo>
                <a:lnTo>
                  <a:pt x="2236" y="12279"/>
                </a:lnTo>
                <a:lnTo>
                  <a:pt x="1743" y="12049"/>
                </a:lnTo>
                <a:lnTo>
                  <a:pt x="1447" y="11792"/>
                </a:lnTo>
                <a:lnTo>
                  <a:pt x="1062" y="11591"/>
                </a:lnTo>
                <a:lnTo>
                  <a:pt x="833" y="11261"/>
                </a:lnTo>
                <a:lnTo>
                  <a:pt x="458" y="10933"/>
                </a:lnTo>
                <a:lnTo>
                  <a:pt x="431" y="10533"/>
                </a:lnTo>
                <a:lnTo>
                  <a:pt x="294" y="10314"/>
                </a:lnTo>
                <a:lnTo>
                  <a:pt x="239" y="9772"/>
                </a:lnTo>
                <a:lnTo>
                  <a:pt x="0" y="9009"/>
                </a:lnTo>
                <a:lnTo>
                  <a:pt x="164" y="6847"/>
                </a:lnTo>
                <a:lnTo>
                  <a:pt x="131" y="4925"/>
                </a:lnTo>
                <a:lnTo>
                  <a:pt x="196" y="4084"/>
                </a:lnTo>
                <a:lnTo>
                  <a:pt x="360" y="3665"/>
                </a:lnTo>
                <a:lnTo>
                  <a:pt x="457" y="3192"/>
                </a:lnTo>
                <a:lnTo>
                  <a:pt x="463" y="2980"/>
                </a:lnTo>
                <a:lnTo>
                  <a:pt x="932" y="2684"/>
                </a:lnTo>
                <a:lnTo>
                  <a:pt x="1089" y="2421"/>
                </a:lnTo>
                <a:lnTo>
                  <a:pt x="1446" y="2139"/>
                </a:lnTo>
                <a:lnTo>
                  <a:pt x="1919" y="1953"/>
                </a:lnTo>
                <a:lnTo>
                  <a:pt x="2117" y="1774"/>
                </a:lnTo>
                <a:lnTo>
                  <a:pt x="2675" y="1514"/>
                </a:lnTo>
                <a:lnTo>
                  <a:pt x="3230" y="1485"/>
                </a:lnTo>
                <a:lnTo>
                  <a:pt x="3859" y="1132"/>
                </a:lnTo>
                <a:lnTo>
                  <a:pt x="4380" y="1080"/>
                </a:lnTo>
                <a:lnTo>
                  <a:pt x="5066" y="989"/>
                </a:lnTo>
                <a:lnTo>
                  <a:pt x="5748" y="862"/>
                </a:lnTo>
                <a:lnTo>
                  <a:pt x="6540" y="701"/>
                </a:lnTo>
                <a:lnTo>
                  <a:pt x="7493" y="697"/>
                </a:lnTo>
                <a:lnTo>
                  <a:pt x="8492" y="445"/>
                </a:lnTo>
                <a:lnTo>
                  <a:pt x="9434" y="458"/>
                </a:lnTo>
                <a:lnTo>
                  <a:pt x="10498" y="388"/>
                </a:lnTo>
                <a:lnTo>
                  <a:pt x="11819" y="376"/>
                </a:lnTo>
                <a:lnTo>
                  <a:pt x="13186" y="306"/>
                </a:lnTo>
                <a:lnTo>
                  <a:pt x="14719" y="158"/>
                </a:lnTo>
                <a:lnTo>
                  <a:pt x="16271" y="244"/>
                </a:lnTo>
                <a:lnTo>
                  <a:pt x="18265" y="38"/>
                </a:lnTo>
                <a:lnTo>
                  <a:pt x="20411" y="134"/>
                </a:lnTo>
                <a:lnTo>
                  <a:pt x="23170" y="182"/>
                </a:lnTo>
                <a:lnTo>
                  <a:pt x="27025" y="57"/>
                </a:lnTo>
                <a:lnTo>
                  <a:pt x="39006" y="0"/>
                </a:lnTo>
                <a:lnTo>
                  <a:pt x="50869" y="99"/>
                </a:lnTo>
                <a:lnTo>
                  <a:pt x="54616" y="160"/>
                </a:lnTo>
                <a:lnTo>
                  <a:pt x="57519" y="31"/>
                </a:lnTo>
                <a:lnTo>
                  <a:pt x="59785" y="39"/>
                </a:lnTo>
                <a:lnTo>
                  <a:pt x="61639" y="82"/>
                </a:lnTo>
                <a:lnTo>
                  <a:pt x="63276" y="176"/>
                </a:lnTo>
                <a:lnTo>
                  <a:pt x="64777" y="328"/>
                </a:lnTo>
                <a:lnTo>
                  <a:pt x="66083" y="266"/>
                </a:lnTo>
                <a:lnTo>
                  <a:pt x="67180" y="435"/>
                </a:lnTo>
                <a:lnTo>
                  <a:pt x="68334" y="547"/>
                </a:lnTo>
                <a:lnTo>
                  <a:pt x="69326" y="530"/>
                </a:lnTo>
                <a:lnTo>
                  <a:pt x="70336" y="730"/>
                </a:lnTo>
                <a:lnTo>
                  <a:pt x="71153" y="804"/>
                </a:lnTo>
                <a:lnTo>
                  <a:pt x="72072" y="770"/>
                </a:lnTo>
                <a:lnTo>
                  <a:pt x="72883" y="1018"/>
                </a:lnTo>
                <a:lnTo>
                  <a:pt x="73556" y="990"/>
                </a:lnTo>
                <a:lnTo>
                  <a:pt x="74137" y="1337"/>
                </a:lnTo>
                <a:lnTo>
                  <a:pt x="74658" y="1300"/>
                </a:lnTo>
                <a:lnTo>
                  <a:pt x="75038" y="1574"/>
                </a:lnTo>
                <a:lnTo>
                  <a:pt x="75625" y="1832"/>
                </a:lnTo>
                <a:lnTo>
                  <a:pt x="76009" y="1984"/>
                </a:lnTo>
                <a:lnTo>
                  <a:pt x="76527" y="2129"/>
                </a:lnTo>
                <a:lnTo>
                  <a:pt x="76720" y="2488"/>
                </a:lnTo>
                <a:lnTo>
                  <a:pt x="77141" y="2756"/>
                </a:lnTo>
                <a:lnTo>
                  <a:pt x="77296" y="3031"/>
                </a:lnTo>
                <a:lnTo>
                  <a:pt x="77352" y="3229"/>
                </a:lnTo>
                <a:lnTo>
                  <a:pt x="77688" y="3565"/>
                </a:lnTo>
                <a:lnTo>
                  <a:pt x="77805" y="4054"/>
                </a:lnTo>
                <a:lnTo>
                  <a:pt x="77834" y="4732"/>
                </a:lnTo>
                <a:lnTo>
                  <a:pt x="77802" y="7013"/>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7635149" y="4176156"/>
            <a:ext cx="95006" cy="103327"/>
          </a:xfrm>
          <a:custGeom>
            <a:avLst/>
            <a:gdLst/>
            <a:ahLst/>
            <a:cxnLst/>
            <a:rect l="l" t="t" r="r" b="b"/>
            <a:pathLst>
              <a:path w="1039" h="1130">
                <a:moveTo>
                  <a:pt x="1039" y="0"/>
                </a:moveTo>
                <a:lnTo>
                  <a:pt x="846" y="336"/>
                </a:lnTo>
                <a:lnTo>
                  <a:pt x="608" y="630"/>
                </a:lnTo>
                <a:lnTo>
                  <a:pt x="327" y="893"/>
                </a:lnTo>
                <a:lnTo>
                  <a:pt x="0" y="113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564478" y="4426793"/>
            <a:ext cx="429859" cy="25695"/>
          </a:xfrm>
          <a:custGeom>
            <a:avLst/>
            <a:gdLst/>
            <a:ahLst/>
            <a:cxnLst/>
            <a:rect l="l" t="t" r="r" b="b"/>
            <a:pathLst>
              <a:path w="4701" h="281">
                <a:moveTo>
                  <a:pt x="4701" y="0"/>
                </a:moveTo>
                <a:lnTo>
                  <a:pt x="3676" y="83"/>
                </a:lnTo>
                <a:lnTo>
                  <a:pt x="2559" y="158"/>
                </a:lnTo>
                <a:lnTo>
                  <a:pt x="1340" y="224"/>
                </a:lnTo>
                <a:lnTo>
                  <a:pt x="0" y="281"/>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1725473" y="4447276"/>
            <a:ext cx="584027" cy="16734"/>
          </a:xfrm>
          <a:custGeom>
            <a:avLst/>
            <a:gdLst/>
            <a:ahLst/>
            <a:cxnLst/>
            <a:rect l="l" t="t" r="r" b="b"/>
            <a:pathLst>
              <a:path w="6387" h="183">
                <a:moveTo>
                  <a:pt x="6387" y="183"/>
                </a:moveTo>
                <a:lnTo>
                  <a:pt x="4487" y="149"/>
                </a:lnTo>
                <a:lnTo>
                  <a:pt x="2824" y="107"/>
                </a:lnTo>
                <a:lnTo>
                  <a:pt x="1340" y="57"/>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747431" y="4257812"/>
            <a:ext cx="145207" cy="76078"/>
          </a:xfrm>
          <a:custGeom>
            <a:avLst/>
            <a:gdLst/>
            <a:ahLst/>
            <a:cxnLst/>
            <a:rect l="l" t="t" r="r" b="b"/>
            <a:pathLst>
              <a:path w="1588" h="832">
                <a:moveTo>
                  <a:pt x="1588" y="832"/>
                </a:moveTo>
                <a:lnTo>
                  <a:pt x="1120" y="650"/>
                </a:lnTo>
                <a:lnTo>
                  <a:pt x="700" y="453"/>
                </a:lnTo>
                <a:lnTo>
                  <a:pt x="327" y="237"/>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82325" y="3401477"/>
            <a:ext cx="95006" cy="103327"/>
          </a:xfrm>
          <a:custGeom>
            <a:avLst/>
            <a:gdLst/>
            <a:ahLst/>
            <a:cxnLst/>
            <a:rect l="l" t="t" r="r" b="b"/>
            <a:pathLst>
              <a:path w="1039" h="1130">
                <a:moveTo>
                  <a:pt x="0" y="1130"/>
                </a:moveTo>
                <a:lnTo>
                  <a:pt x="193" y="794"/>
                </a:lnTo>
                <a:lnTo>
                  <a:pt x="431" y="500"/>
                </a:lnTo>
                <a:lnTo>
                  <a:pt x="712" y="237"/>
                </a:lnTo>
                <a:lnTo>
                  <a:pt x="1039"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1418143" y="3228472"/>
            <a:ext cx="429859" cy="25695"/>
          </a:xfrm>
          <a:custGeom>
            <a:avLst/>
            <a:gdLst/>
            <a:ahLst/>
            <a:cxnLst/>
            <a:rect l="l" t="t" r="r" b="b"/>
            <a:pathLst>
              <a:path w="4701" h="281">
                <a:moveTo>
                  <a:pt x="0" y="281"/>
                </a:moveTo>
                <a:lnTo>
                  <a:pt x="1025" y="198"/>
                </a:lnTo>
                <a:lnTo>
                  <a:pt x="2142" y="123"/>
                </a:lnTo>
                <a:lnTo>
                  <a:pt x="3361" y="57"/>
                </a:lnTo>
                <a:lnTo>
                  <a:pt x="4701"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6102980" y="3216951"/>
            <a:ext cx="584027" cy="16734"/>
          </a:xfrm>
          <a:custGeom>
            <a:avLst/>
            <a:gdLst/>
            <a:ahLst/>
            <a:cxnLst/>
            <a:rect l="l" t="t" r="r" b="b"/>
            <a:pathLst>
              <a:path w="6387" h="183">
                <a:moveTo>
                  <a:pt x="0" y="0"/>
                </a:moveTo>
                <a:lnTo>
                  <a:pt x="1900" y="34"/>
                </a:lnTo>
                <a:lnTo>
                  <a:pt x="3563" y="76"/>
                </a:lnTo>
                <a:lnTo>
                  <a:pt x="5047" y="126"/>
                </a:lnTo>
                <a:lnTo>
                  <a:pt x="6387" y="183"/>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7519843" y="3347070"/>
            <a:ext cx="145207" cy="76078"/>
          </a:xfrm>
          <a:custGeom>
            <a:avLst/>
            <a:gdLst/>
            <a:ahLst/>
            <a:cxnLst/>
            <a:rect l="l" t="t" r="r" b="b"/>
            <a:pathLst>
              <a:path w="1588" h="832">
                <a:moveTo>
                  <a:pt x="0" y="0"/>
                </a:moveTo>
                <a:lnTo>
                  <a:pt x="468" y="182"/>
                </a:lnTo>
                <a:lnTo>
                  <a:pt x="888" y="379"/>
                </a:lnTo>
                <a:lnTo>
                  <a:pt x="1261" y="595"/>
                </a:lnTo>
                <a:lnTo>
                  <a:pt x="1588" y="832"/>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ody: Taleb, The Black Swan (2007)"/>
          <p:cNvSpPr txBox="1"/>
          <p:nvPr/>
        </p:nvSpPr>
        <p:spPr>
          <a:xfrm>
            <a:off x="850392" y="3317494"/>
            <a:ext cx="6711696" cy="396748"/>
          </a:xfrm>
          <a:prstGeom prst="rect">
            <a:avLst/>
          </a:prstGeom>
          <a:noFill/>
        </p:spPr>
        <p:txBody>
          <a:bodyPr wrap="none" lIns="0" rIns="0" tIns="0" bIns="0" anchor="t">
            <a:noAutofit/>
          </a:bodyPr>
          <a:lstStyle/>
          <a:p>
            <a:pPr algn="ctr">
              <a:lnSpc>
                <a:spcPts val="2584"/>
              </a:lnSpc>
              <a:spcBef>
                <a:spcPts val="0"/>
              </a:spcBef>
              <a:spcAft>
                <a:spcPts val="0"/>
              </a:spcAft>
            </a:pPr>
            <a:r>
              <a:rPr sz="1900" b="1">
                <a:solidFill>
                  <a:srgbClr val="557B65"/>
                </a:solidFill>
                <a:latin typeface="Chalkboard SE"/>
              </a:rPr>
              <a:t>Taleb, The Black Swan (2007)</a:t>
            </a:r>
          </a:p>
        </p:txBody>
      </p:sp>
      <p:sp>
        <p:nvSpPr>
          <p:cNvPr id="37" name="body: Rare events cannot be predicted in detail. Build systems that ga"/>
          <p:cNvSpPr txBox="1"/>
          <p:nvPr/>
        </p:nvSpPr>
        <p:spPr>
          <a:xfrm>
            <a:off x="914400" y="3759263"/>
            <a:ext cx="6583680" cy="665353"/>
          </a:xfrm>
          <a:prstGeom prst="rect">
            <a:avLst/>
          </a:prstGeom>
          <a:noFill/>
        </p:spPr>
        <p:txBody>
          <a:bodyPr wrap="none" lIns="0" rIns="0" tIns="0" bIns="0" anchor="t">
            <a:noAutofit/>
          </a:bodyPr>
          <a:lstStyle/>
          <a:p>
            <a:pPr algn="ctr">
              <a:lnSpc>
                <a:spcPts val="2349"/>
              </a:lnSpc>
              <a:spcBef>
                <a:spcPts val="0"/>
              </a:spcBef>
              <a:spcAft>
                <a:spcPts val="0"/>
              </a:spcAft>
            </a:pPr>
            <a:r>
              <a:rPr sz="1850" b="0">
                <a:solidFill>
                  <a:srgbClr val="293E46"/>
                </a:solidFill>
                <a:latin typeface="Trebuchet MS"/>
              </a:rPr>
              <a:t>Rare events cannot be predicted in detail. Build systems</a:t>
            </a:r>
            <a:br/>
            <a:r>
              <a:rPr sz="1850" b="0">
                <a:solidFill>
                  <a:srgbClr val="293E46"/>
                </a:solidFill>
                <a:latin typeface="Trebuchet MS"/>
              </a:rPr>
              <a:t>that gain from them.</a:t>
            </a:r>
          </a:p>
        </p:txBody>
      </p:sp>
      <p:sp>
        <p:nvSpPr>
          <p:cNvPr id="38" name="Rounded Rectangle 37"/>
          <p:cNvSpPr/>
          <p:nvPr/>
        </p:nvSpPr>
        <p:spPr>
          <a:xfrm>
            <a:off x="640080" y="4663440"/>
            <a:ext cx="7132320" cy="1280160"/>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645749" y="4666000"/>
            <a:ext cx="7119244" cy="1272845"/>
          </a:xfrm>
          <a:custGeom>
            <a:avLst/>
            <a:gdLst/>
            <a:ahLst/>
            <a:cxnLst/>
            <a:rect l="l" t="t" r="r" b="b"/>
            <a:pathLst>
              <a:path w="77857" h="13920">
                <a:moveTo>
                  <a:pt x="77822" y="7090"/>
                </a:moveTo>
                <a:lnTo>
                  <a:pt x="77741" y="9150"/>
                </a:lnTo>
                <a:lnTo>
                  <a:pt x="77857" y="9758"/>
                </a:lnTo>
                <a:lnTo>
                  <a:pt x="77559" y="10154"/>
                </a:lnTo>
                <a:lnTo>
                  <a:pt x="77387" y="10658"/>
                </a:lnTo>
                <a:lnTo>
                  <a:pt x="77282" y="10901"/>
                </a:lnTo>
                <a:lnTo>
                  <a:pt x="77074" y="11316"/>
                </a:lnTo>
                <a:lnTo>
                  <a:pt x="76880" y="11643"/>
                </a:lnTo>
                <a:lnTo>
                  <a:pt x="76513" y="11850"/>
                </a:lnTo>
                <a:lnTo>
                  <a:pt x="76148" y="12083"/>
                </a:lnTo>
                <a:lnTo>
                  <a:pt x="75516" y="12189"/>
                </a:lnTo>
                <a:lnTo>
                  <a:pt x="75276" y="12261"/>
                </a:lnTo>
                <a:lnTo>
                  <a:pt x="74552" y="12654"/>
                </a:lnTo>
                <a:lnTo>
                  <a:pt x="74126" y="12656"/>
                </a:lnTo>
                <a:lnTo>
                  <a:pt x="73455" y="12800"/>
                </a:lnTo>
                <a:lnTo>
                  <a:pt x="72766" y="13071"/>
                </a:lnTo>
                <a:lnTo>
                  <a:pt x="72118" y="13104"/>
                </a:lnTo>
                <a:lnTo>
                  <a:pt x="71173" y="13159"/>
                </a:lnTo>
                <a:lnTo>
                  <a:pt x="70390" y="13255"/>
                </a:lnTo>
                <a:lnTo>
                  <a:pt x="69380" y="13337"/>
                </a:lnTo>
                <a:lnTo>
                  <a:pt x="68438" y="13478"/>
                </a:lnTo>
                <a:lnTo>
                  <a:pt x="67384" y="13553"/>
                </a:lnTo>
                <a:lnTo>
                  <a:pt x="66041" y="13643"/>
                </a:lnTo>
                <a:lnTo>
                  <a:pt x="64735" y="13707"/>
                </a:lnTo>
                <a:lnTo>
                  <a:pt x="63239" y="13706"/>
                </a:lnTo>
                <a:lnTo>
                  <a:pt x="61496" y="13700"/>
                </a:lnTo>
                <a:lnTo>
                  <a:pt x="59787" y="13889"/>
                </a:lnTo>
                <a:lnTo>
                  <a:pt x="57539" y="13863"/>
                </a:lnTo>
                <a:lnTo>
                  <a:pt x="54652" y="13884"/>
                </a:lnTo>
                <a:lnTo>
                  <a:pt x="50803" y="13920"/>
                </a:lnTo>
                <a:lnTo>
                  <a:pt x="38971" y="13762"/>
                </a:lnTo>
                <a:lnTo>
                  <a:pt x="27026" y="13831"/>
                </a:lnTo>
                <a:lnTo>
                  <a:pt x="23230" y="13822"/>
                </a:lnTo>
                <a:lnTo>
                  <a:pt x="20389" y="13874"/>
                </a:lnTo>
                <a:lnTo>
                  <a:pt x="18297" y="13719"/>
                </a:lnTo>
                <a:lnTo>
                  <a:pt x="16197" y="13691"/>
                </a:lnTo>
                <a:lnTo>
                  <a:pt x="14566" y="13718"/>
                </a:lnTo>
                <a:lnTo>
                  <a:pt x="13074" y="13758"/>
                </a:lnTo>
                <a:lnTo>
                  <a:pt x="11846" y="13669"/>
                </a:lnTo>
                <a:lnTo>
                  <a:pt x="10515" y="13627"/>
                </a:lnTo>
                <a:lnTo>
                  <a:pt x="9474" y="13442"/>
                </a:lnTo>
                <a:lnTo>
                  <a:pt x="8540" y="13467"/>
                </a:lnTo>
                <a:lnTo>
                  <a:pt x="7622" y="13256"/>
                </a:lnTo>
                <a:lnTo>
                  <a:pt x="6737" y="13090"/>
                </a:lnTo>
                <a:lnTo>
                  <a:pt x="5787" y="13141"/>
                </a:lnTo>
                <a:lnTo>
                  <a:pt x="5049" y="12944"/>
                </a:lnTo>
                <a:lnTo>
                  <a:pt x="4293" y="12793"/>
                </a:lnTo>
                <a:lnTo>
                  <a:pt x="3728" y="12740"/>
                </a:lnTo>
                <a:lnTo>
                  <a:pt x="3093" y="12492"/>
                </a:lnTo>
                <a:lnTo>
                  <a:pt x="2753" y="12452"/>
                </a:lnTo>
                <a:lnTo>
                  <a:pt x="2162" y="12249"/>
                </a:lnTo>
                <a:lnTo>
                  <a:pt x="1806" y="11927"/>
                </a:lnTo>
                <a:lnTo>
                  <a:pt x="1331" y="11736"/>
                </a:lnTo>
                <a:lnTo>
                  <a:pt x="1054" y="11621"/>
                </a:lnTo>
                <a:lnTo>
                  <a:pt x="896" y="11353"/>
                </a:lnTo>
                <a:lnTo>
                  <a:pt x="561" y="11023"/>
                </a:lnTo>
                <a:lnTo>
                  <a:pt x="291" y="10555"/>
                </a:lnTo>
                <a:lnTo>
                  <a:pt x="286" y="10231"/>
                </a:lnTo>
                <a:lnTo>
                  <a:pt x="25" y="9830"/>
                </a:lnTo>
                <a:lnTo>
                  <a:pt x="28" y="9080"/>
                </a:lnTo>
                <a:lnTo>
                  <a:pt x="115" y="6965"/>
                </a:lnTo>
                <a:lnTo>
                  <a:pt x="0" y="4888"/>
                </a:lnTo>
                <a:lnTo>
                  <a:pt x="179" y="4133"/>
                </a:lnTo>
                <a:lnTo>
                  <a:pt x="312" y="3748"/>
                </a:lnTo>
                <a:lnTo>
                  <a:pt x="340" y="3235"/>
                </a:lnTo>
                <a:lnTo>
                  <a:pt x="624" y="3004"/>
                </a:lnTo>
                <a:lnTo>
                  <a:pt x="894" y="2786"/>
                </a:lnTo>
                <a:lnTo>
                  <a:pt x="1221" y="2384"/>
                </a:lnTo>
                <a:lnTo>
                  <a:pt x="1518" y="2074"/>
                </a:lnTo>
                <a:lnTo>
                  <a:pt x="1890" y="2066"/>
                </a:lnTo>
                <a:lnTo>
                  <a:pt x="2126" y="1662"/>
                </a:lnTo>
                <a:lnTo>
                  <a:pt x="2794" y="1580"/>
                </a:lnTo>
                <a:lnTo>
                  <a:pt x="3218" y="1451"/>
                </a:lnTo>
                <a:lnTo>
                  <a:pt x="3683" y="1211"/>
                </a:lnTo>
                <a:lnTo>
                  <a:pt x="4447" y="1201"/>
                </a:lnTo>
                <a:lnTo>
                  <a:pt x="4983" y="966"/>
                </a:lnTo>
                <a:lnTo>
                  <a:pt x="5851" y="766"/>
                </a:lnTo>
                <a:lnTo>
                  <a:pt x="6513" y="703"/>
                </a:lnTo>
                <a:lnTo>
                  <a:pt x="7472" y="540"/>
                </a:lnTo>
                <a:lnTo>
                  <a:pt x="8342" y="661"/>
                </a:lnTo>
                <a:lnTo>
                  <a:pt x="9562" y="540"/>
                </a:lnTo>
                <a:lnTo>
                  <a:pt x="10654" y="423"/>
                </a:lnTo>
                <a:lnTo>
                  <a:pt x="11905" y="320"/>
                </a:lnTo>
                <a:lnTo>
                  <a:pt x="13055" y="384"/>
                </a:lnTo>
                <a:lnTo>
                  <a:pt x="14684" y="150"/>
                </a:lnTo>
                <a:lnTo>
                  <a:pt x="16360" y="252"/>
                </a:lnTo>
                <a:lnTo>
                  <a:pt x="18163" y="159"/>
                </a:lnTo>
                <a:lnTo>
                  <a:pt x="20529" y="28"/>
                </a:lnTo>
                <a:lnTo>
                  <a:pt x="23121" y="0"/>
                </a:lnTo>
                <a:lnTo>
                  <a:pt x="27089" y="173"/>
                </a:lnTo>
                <a:lnTo>
                  <a:pt x="38885" y="179"/>
                </a:lnTo>
                <a:lnTo>
                  <a:pt x="50944" y="5"/>
                </a:lnTo>
                <a:lnTo>
                  <a:pt x="54809" y="38"/>
                </a:lnTo>
                <a:lnTo>
                  <a:pt x="57550" y="36"/>
                </a:lnTo>
                <a:lnTo>
                  <a:pt x="59805" y="35"/>
                </a:lnTo>
                <a:lnTo>
                  <a:pt x="61478" y="244"/>
                </a:lnTo>
                <a:lnTo>
                  <a:pt x="63327" y="235"/>
                </a:lnTo>
                <a:lnTo>
                  <a:pt x="64692" y="330"/>
                </a:lnTo>
                <a:lnTo>
                  <a:pt x="65983" y="300"/>
                </a:lnTo>
                <a:lnTo>
                  <a:pt x="67403" y="515"/>
                </a:lnTo>
                <a:lnTo>
                  <a:pt x="68490" y="375"/>
                </a:lnTo>
                <a:lnTo>
                  <a:pt x="69547" y="573"/>
                </a:lnTo>
                <a:lnTo>
                  <a:pt x="70339" y="639"/>
                </a:lnTo>
                <a:lnTo>
                  <a:pt x="71334" y="770"/>
                </a:lnTo>
                <a:lnTo>
                  <a:pt x="71960" y="834"/>
                </a:lnTo>
                <a:lnTo>
                  <a:pt x="72686" y="1082"/>
                </a:lnTo>
                <a:lnTo>
                  <a:pt x="73509" y="1195"/>
                </a:lnTo>
                <a:lnTo>
                  <a:pt x="74111" y="1140"/>
                </a:lnTo>
                <a:lnTo>
                  <a:pt x="74556" y="1364"/>
                </a:lnTo>
                <a:lnTo>
                  <a:pt x="75060" y="1606"/>
                </a:lnTo>
                <a:lnTo>
                  <a:pt x="75673" y="1848"/>
                </a:lnTo>
                <a:lnTo>
                  <a:pt x="76033" y="1881"/>
                </a:lnTo>
                <a:lnTo>
                  <a:pt x="76451" y="2274"/>
                </a:lnTo>
                <a:lnTo>
                  <a:pt x="76849" y="2296"/>
                </a:lnTo>
                <a:lnTo>
                  <a:pt x="77160" y="2571"/>
                </a:lnTo>
                <a:lnTo>
                  <a:pt x="77267" y="2902"/>
                </a:lnTo>
                <a:lnTo>
                  <a:pt x="77514" y="3348"/>
                </a:lnTo>
                <a:lnTo>
                  <a:pt x="77715" y="3696"/>
                </a:lnTo>
                <a:lnTo>
                  <a:pt x="77855" y="4182"/>
                </a:lnTo>
                <a:lnTo>
                  <a:pt x="77669" y="4770"/>
                </a:lnTo>
                <a:lnTo>
                  <a:pt x="77798" y="7063"/>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648492" y="4665177"/>
            <a:ext cx="7116775" cy="1276868"/>
          </a:xfrm>
          <a:custGeom>
            <a:avLst/>
            <a:gdLst/>
            <a:ahLst/>
            <a:cxnLst/>
            <a:rect l="l" t="t" r="r" b="b"/>
            <a:pathLst>
              <a:path w="77830" h="13964">
                <a:moveTo>
                  <a:pt x="77774" y="6939"/>
                </a:moveTo>
                <a:lnTo>
                  <a:pt x="77830" y="9073"/>
                </a:lnTo>
                <a:lnTo>
                  <a:pt x="77673" y="9735"/>
                </a:lnTo>
                <a:lnTo>
                  <a:pt x="77630" y="10280"/>
                </a:lnTo>
                <a:lnTo>
                  <a:pt x="77366" y="10715"/>
                </a:lnTo>
                <a:lnTo>
                  <a:pt x="77331" y="11098"/>
                </a:lnTo>
                <a:lnTo>
                  <a:pt x="77068" y="11389"/>
                </a:lnTo>
                <a:lnTo>
                  <a:pt x="76734" y="11459"/>
                </a:lnTo>
                <a:lnTo>
                  <a:pt x="76358" y="11738"/>
                </a:lnTo>
                <a:lnTo>
                  <a:pt x="76048" y="11952"/>
                </a:lnTo>
                <a:lnTo>
                  <a:pt x="75640" y="12236"/>
                </a:lnTo>
                <a:lnTo>
                  <a:pt x="75144" y="12263"/>
                </a:lnTo>
                <a:lnTo>
                  <a:pt x="74637" y="12457"/>
                </a:lnTo>
                <a:lnTo>
                  <a:pt x="73943" y="12736"/>
                </a:lnTo>
                <a:lnTo>
                  <a:pt x="73554" y="12947"/>
                </a:lnTo>
                <a:lnTo>
                  <a:pt x="72766" y="13047"/>
                </a:lnTo>
                <a:lnTo>
                  <a:pt x="71989" y="13009"/>
                </a:lnTo>
                <a:lnTo>
                  <a:pt x="71336" y="13298"/>
                </a:lnTo>
                <a:lnTo>
                  <a:pt x="70220" y="13342"/>
                </a:lnTo>
                <a:lnTo>
                  <a:pt x="69521" y="13421"/>
                </a:lnTo>
                <a:lnTo>
                  <a:pt x="68293" y="13594"/>
                </a:lnTo>
                <a:lnTo>
                  <a:pt x="67151" y="13506"/>
                </a:lnTo>
                <a:lnTo>
                  <a:pt x="65939" y="13702"/>
                </a:lnTo>
                <a:lnTo>
                  <a:pt x="64578" y="13653"/>
                </a:lnTo>
                <a:lnTo>
                  <a:pt x="63141" y="13727"/>
                </a:lnTo>
                <a:lnTo>
                  <a:pt x="61642" y="13714"/>
                </a:lnTo>
                <a:lnTo>
                  <a:pt x="59659" y="13694"/>
                </a:lnTo>
                <a:lnTo>
                  <a:pt x="57415" y="13858"/>
                </a:lnTo>
                <a:lnTo>
                  <a:pt x="54759" y="13742"/>
                </a:lnTo>
                <a:lnTo>
                  <a:pt x="50905" y="13762"/>
                </a:lnTo>
                <a:lnTo>
                  <a:pt x="38820" y="13787"/>
                </a:lnTo>
                <a:lnTo>
                  <a:pt x="27002" y="13771"/>
                </a:lnTo>
                <a:lnTo>
                  <a:pt x="23087" y="13964"/>
                </a:lnTo>
                <a:lnTo>
                  <a:pt x="20495" y="13805"/>
                </a:lnTo>
                <a:lnTo>
                  <a:pt x="18039" y="13881"/>
                </a:lnTo>
                <a:lnTo>
                  <a:pt x="16219" y="13730"/>
                </a:lnTo>
                <a:lnTo>
                  <a:pt x="14673" y="13840"/>
                </a:lnTo>
                <a:lnTo>
                  <a:pt x="13184" y="13725"/>
                </a:lnTo>
                <a:lnTo>
                  <a:pt x="11875" y="13625"/>
                </a:lnTo>
                <a:lnTo>
                  <a:pt x="10637" y="13500"/>
                </a:lnTo>
                <a:lnTo>
                  <a:pt x="9356" y="13517"/>
                </a:lnTo>
                <a:lnTo>
                  <a:pt x="8521" y="13462"/>
                </a:lnTo>
                <a:lnTo>
                  <a:pt x="7519" y="13329"/>
                </a:lnTo>
                <a:lnTo>
                  <a:pt x="6599" y="13320"/>
                </a:lnTo>
                <a:lnTo>
                  <a:pt x="5831" y="13022"/>
                </a:lnTo>
                <a:lnTo>
                  <a:pt x="4988" y="12879"/>
                </a:lnTo>
                <a:lnTo>
                  <a:pt x="4291" y="12839"/>
                </a:lnTo>
                <a:lnTo>
                  <a:pt x="3692" y="12640"/>
                </a:lnTo>
                <a:lnTo>
                  <a:pt x="3105" y="12659"/>
                </a:lnTo>
                <a:lnTo>
                  <a:pt x="2611" y="12383"/>
                </a:lnTo>
                <a:lnTo>
                  <a:pt x="2300" y="12094"/>
                </a:lnTo>
                <a:lnTo>
                  <a:pt x="1877" y="12090"/>
                </a:lnTo>
                <a:lnTo>
                  <a:pt x="1329" y="11763"/>
                </a:lnTo>
                <a:lnTo>
                  <a:pt x="1183" y="11622"/>
                </a:lnTo>
                <a:lnTo>
                  <a:pt x="819" y="11332"/>
                </a:lnTo>
                <a:lnTo>
                  <a:pt x="629" y="11023"/>
                </a:lnTo>
                <a:lnTo>
                  <a:pt x="467" y="10589"/>
                </a:lnTo>
                <a:lnTo>
                  <a:pt x="127" y="10349"/>
                </a:lnTo>
                <a:lnTo>
                  <a:pt x="195" y="9700"/>
                </a:lnTo>
                <a:lnTo>
                  <a:pt x="112" y="9148"/>
                </a:lnTo>
                <a:lnTo>
                  <a:pt x="0" y="6938"/>
                </a:lnTo>
                <a:lnTo>
                  <a:pt x="117" y="4793"/>
                </a:lnTo>
                <a:lnTo>
                  <a:pt x="152" y="4167"/>
                </a:lnTo>
                <a:lnTo>
                  <a:pt x="189" y="3813"/>
                </a:lnTo>
                <a:lnTo>
                  <a:pt x="425" y="3205"/>
                </a:lnTo>
                <a:lnTo>
                  <a:pt x="681" y="3032"/>
                </a:lnTo>
                <a:lnTo>
                  <a:pt x="921" y="2726"/>
                </a:lnTo>
                <a:lnTo>
                  <a:pt x="1107" y="2526"/>
                </a:lnTo>
                <a:lnTo>
                  <a:pt x="1297" y="2185"/>
                </a:lnTo>
                <a:lnTo>
                  <a:pt x="1685" y="1890"/>
                </a:lnTo>
                <a:lnTo>
                  <a:pt x="2193" y="1675"/>
                </a:lnTo>
                <a:lnTo>
                  <a:pt x="2764" y="1488"/>
                </a:lnTo>
                <a:lnTo>
                  <a:pt x="3276" y="1335"/>
                </a:lnTo>
                <a:lnTo>
                  <a:pt x="3826" y="1216"/>
                </a:lnTo>
                <a:lnTo>
                  <a:pt x="4324" y="1106"/>
                </a:lnTo>
                <a:lnTo>
                  <a:pt x="4972" y="1047"/>
                </a:lnTo>
                <a:lnTo>
                  <a:pt x="5906" y="845"/>
                </a:lnTo>
                <a:lnTo>
                  <a:pt x="6723" y="761"/>
                </a:lnTo>
                <a:lnTo>
                  <a:pt x="7428" y="721"/>
                </a:lnTo>
                <a:lnTo>
                  <a:pt x="8441" y="501"/>
                </a:lnTo>
                <a:lnTo>
                  <a:pt x="9412" y="462"/>
                </a:lnTo>
                <a:lnTo>
                  <a:pt x="10570" y="450"/>
                </a:lnTo>
                <a:lnTo>
                  <a:pt x="11808" y="287"/>
                </a:lnTo>
                <a:lnTo>
                  <a:pt x="13013" y="270"/>
                </a:lnTo>
                <a:lnTo>
                  <a:pt x="14627" y="226"/>
                </a:lnTo>
                <a:lnTo>
                  <a:pt x="16213" y="281"/>
                </a:lnTo>
                <a:lnTo>
                  <a:pt x="18119" y="237"/>
                </a:lnTo>
                <a:lnTo>
                  <a:pt x="20463" y="59"/>
                </a:lnTo>
                <a:lnTo>
                  <a:pt x="23111" y="186"/>
                </a:lnTo>
                <a:lnTo>
                  <a:pt x="26877" y="0"/>
                </a:lnTo>
                <a:lnTo>
                  <a:pt x="39007" y="148"/>
                </a:lnTo>
                <a:lnTo>
                  <a:pt x="50911" y="115"/>
                </a:lnTo>
                <a:lnTo>
                  <a:pt x="54700" y="159"/>
                </a:lnTo>
                <a:lnTo>
                  <a:pt x="57445" y="176"/>
                </a:lnTo>
                <a:lnTo>
                  <a:pt x="59769" y="189"/>
                </a:lnTo>
                <a:lnTo>
                  <a:pt x="61601" y="238"/>
                </a:lnTo>
                <a:lnTo>
                  <a:pt x="63091" y="253"/>
                </a:lnTo>
                <a:lnTo>
                  <a:pt x="64717" y="218"/>
                </a:lnTo>
                <a:lnTo>
                  <a:pt x="65951" y="396"/>
                </a:lnTo>
                <a:lnTo>
                  <a:pt x="67267" y="427"/>
                </a:lnTo>
                <a:lnTo>
                  <a:pt x="68326" y="378"/>
                </a:lnTo>
                <a:lnTo>
                  <a:pt x="69330" y="480"/>
                </a:lnTo>
                <a:lnTo>
                  <a:pt x="70234" y="625"/>
                </a:lnTo>
                <a:lnTo>
                  <a:pt x="71103" y="758"/>
                </a:lnTo>
                <a:lnTo>
                  <a:pt x="72038" y="962"/>
                </a:lnTo>
                <a:lnTo>
                  <a:pt x="72853" y="1017"/>
                </a:lnTo>
                <a:lnTo>
                  <a:pt x="73478" y="1118"/>
                </a:lnTo>
                <a:lnTo>
                  <a:pt x="73935" y="1270"/>
                </a:lnTo>
                <a:lnTo>
                  <a:pt x="74635" y="1498"/>
                </a:lnTo>
                <a:lnTo>
                  <a:pt x="75128" y="1670"/>
                </a:lnTo>
                <a:lnTo>
                  <a:pt x="75548" y="1823"/>
                </a:lnTo>
                <a:lnTo>
                  <a:pt x="76127" y="1964"/>
                </a:lnTo>
                <a:lnTo>
                  <a:pt x="76286" y="2263"/>
                </a:lnTo>
                <a:lnTo>
                  <a:pt x="76809" y="2516"/>
                </a:lnTo>
                <a:lnTo>
                  <a:pt x="76970" y="2675"/>
                </a:lnTo>
                <a:lnTo>
                  <a:pt x="77140" y="2873"/>
                </a:lnTo>
                <a:lnTo>
                  <a:pt x="77354" y="3268"/>
                </a:lnTo>
                <a:lnTo>
                  <a:pt x="77487" y="3627"/>
                </a:lnTo>
                <a:lnTo>
                  <a:pt x="77742" y="4270"/>
                </a:lnTo>
                <a:lnTo>
                  <a:pt x="77688" y="4978"/>
                </a:lnTo>
                <a:lnTo>
                  <a:pt x="77672" y="7006"/>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7635149" y="5639196"/>
            <a:ext cx="95006" cy="103327"/>
          </a:xfrm>
          <a:custGeom>
            <a:avLst/>
            <a:gdLst/>
            <a:ahLst/>
            <a:cxnLst/>
            <a:rect l="l" t="t" r="r" b="b"/>
            <a:pathLst>
              <a:path w="1039" h="1130">
                <a:moveTo>
                  <a:pt x="1039" y="0"/>
                </a:moveTo>
                <a:lnTo>
                  <a:pt x="846" y="336"/>
                </a:lnTo>
                <a:lnTo>
                  <a:pt x="608" y="630"/>
                </a:lnTo>
                <a:lnTo>
                  <a:pt x="327" y="893"/>
                </a:lnTo>
                <a:lnTo>
                  <a:pt x="0" y="113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6564478" y="5889833"/>
            <a:ext cx="429859" cy="25695"/>
          </a:xfrm>
          <a:custGeom>
            <a:avLst/>
            <a:gdLst/>
            <a:ahLst/>
            <a:cxnLst/>
            <a:rect l="l" t="t" r="r" b="b"/>
            <a:pathLst>
              <a:path w="4701" h="281">
                <a:moveTo>
                  <a:pt x="4701" y="0"/>
                </a:moveTo>
                <a:lnTo>
                  <a:pt x="3676" y="83"/>
                </a:lnTo>
                <a:lnTo>
                  <a:pt x="2559" y="158"/>
                </a:lnTo>
                <a:lnTo>
                  <a:pt x="1340" y="224"/>
                </a:lnTo>
                <a:lnTo>
                  <a:pt x="0" y="281"/>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1725473" y="5910316"/>
            <a:ext cx="584027" cy="16734"/>
          </a:xfrm>
          <a:custGeom>
            <a:avLst/>
            <a:gdLst/>
            <a:ahLst/>
            <a:cxnLst/>
            <a:rect l="l" t="t" r="r" b="b"/>
            <a:pathLst>
              <a:path w="6387" h="183">
                <a:moveTo>
                  <a:pt x="6387" y="183"/>
                </a:moveTo>
                <a:lnTo>
                  <a:pt x="4487" y="149"/>
                </a:lnTo>
                <a:lnTo>
                  <a:pt x="2824" y="107"/>
                </a:lnTo>
                <a:lnTo>
                  <a:pt x="1340" y="57"/>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47431" y="5720852"/>
            <a:ext cx="145207" cy="76078"/>
          </a:xfrm>
          <a:custGeom>
            <a:avLst/>
            <a:gdLst/>
            <a:ahLst/>
            <a:cxnLst/>
            <a:rect l="l" t="t" r="r" b="b"/>
            <a:pathLst>
              <a:path w="1588" h="832">
                <a:moveTo>
                  <a:pt x="1588" y="832"/>
                </a:moveTo>
                <a:lnTo>
                  <a:pt x="1120" y="650"/>
                </a:lnTo>
                <a:lnTo>
                  <a:pt x="700" y="453"/>
                </a:lnTo>
                <a:lnTo>
                  <a:pt x="327" y="237"/>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682325" y="4864517"/>
            <a:ext cx="95006" cy="103327"/>
          </a:xfrm>
          <a:custGeom>
            <a:avLst/>
            <a:gdLst/>
            <a:ahLst/>
            <a:cxnLst/>
            <a:rect l="l" t="t" r="r" b="b"/>
            <a:pathLst>
              <a:path w="1039" h="1130">
                <a:moveTo>
                  <a:pt x="0" y="1130"/>
                </a:moveTo>
                <a:lnTo>
                  <a:pt x="193" y="794"/>
                </a:lnTo>
                <a:lnTo>
                  <a:pt x="431" y="500"/>
                </a:lnTo>
                <a:lnTo>
                  <a:pt x="712" y="237"/>
                </a:lnTo>
                <a:lnTo>
                  <a:pt x="1039"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1418143" y="4691512"/>
            <a:ext cx="429859" cy="25695"/>
          </a:xfrm>
          <a:custGeom>
            <a:avLst/>
            <a:gdLst/>
            <a:ahLst/>
            <a:cxnLst/>
            <a:rect l="l" t="t" r="r" b="b"/>
            <a:pathLst>
              <a:path w="4701" h="281">
                <a:moveTo>
                  <a:pt x="0" y="281"/>
                </a:moveTo>
                <a:lnTo>
                  <a:pt x="1025" y="198"/>
                </a:lnTo>
                <a:lnTo>
                  <a:pt x="2142" y="123"/>
                </a:lnTo>
                <a:lnTo>
                  <a:pt x="3361" y="57"/>
                </a:lnTo>
                <a:lnTo>
                  <a:pt x="4701"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6102980" y="4679991"/>
            <a:ext cx="584027" cy="16734"/>
          </a:xfrm>
          <a:custGeom>
            <a:avLst/>
            <a:gdLst/>
            <a:ahLst/>
            <a:cxnLst/>
            <a:rect l="l" t="t" r="r" b="b"/>
            <a:pathLst>
              <a:path w="6387" h="183">
                <a:moveTo>
                  <a:pt x="0" y="0"/>
                </a:moveTo>
                <a:lnTo>
                  <a:pt x="1900" y="34"/>
                </a:lnTo>
                <a:lnTo>
                  <a:pt x="3563" y="76"/>
                </a:lnTo>
                <a:lnTo>
                  <a:pt x="5047" y="126"/>
                </a:lnTo>
                <a:lnTo>
                  <a:pt x="6387" y="183"/>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7519843" y="4810110"/>
            <a:ext cx="145207" cy="76078"/>
          </a:xfrm>
          <a:custGeom>
            <a:avLst/>
            <a:gdLst/>
            <a:ahLst/>
            <a:cxnLst/>
            <a:rect l="l" t="t" r="r" b="b"/>
            <a:pathLst>
              <a:path w="1588" h="832">
                <a:moveTo>
                  <a:pt x="0" y="0"/>
                </a:moveTo>
                <a:lnTo>
                  <a:pt x="468" y="182"/>
                </a:lnTo>
                <a:lnTo>
                  <a:pt x="888" y="379"/>
                </a:lnTo>
                <a:lnTo>
                  <a:pt x="1261" y="595"/>
                </a:lnTo>
                <a:lnTo>
                  <a:pt x="1588" y="832"/>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ody: Popper (1963)"/>
          <p:cNvSpPr txBox="1"/>
          <p:nvPr/>
        </p:nvSpPr>
        <p:spPr>
          <a:xfrm>
            <a:off x="850392" y="4780534"/>
            <a:ext cx="6711696" cy="396748"/>
          </a:xfrm>
          <a:prstGeom prst="rect">
            <a:avLst/>
          </a:prstGeom>
          <a:noFill/>
        </p:spPr>
        <p:txBody>
          <a:bodyPr wrap="none" lIns="0" rIns="0" tIns="0" bIns="0" anchor="t">
            <a:noAutofit/>
          </a:bodyPr>
          <a:lstStyle/>
          <a:p>
            <a:pPr algn="ctr">
              <a:lnSpc>
                <a:spcPts val="2584"/>
              </a:lnSpc>
              <a:spcBef>
                <a:spcPts val="0"/>
              </a:spcBef>
              <a:spcAft>
                <a:spcPts val="0"/>
              </a:spcAft>
            </a:pPr>
            <a:r>
              <a:rPr sz="1900" b="1">
                <a:solidFill>
                  <a:srgbClr val="9D7B35"/>
                </a:solidFill>
                <a:latin typeface="Chalkboard SE"/>
              </a:rPr>
              <a:t>Popper (1963)</a:t>
            </a:r>
          </a:p>
        </p:txBody>
      </p:sp>
      <p:sp>
        <p:nvSpPr>
          <p:cNvPr id="50" name="body: Knowledge grows by correcting errors."/>
          <p:cNvSpPr txBox="1"/>
          <p:nvPr/>
        </p:nvSpPr>
        <p:spPr>
          <a:xfrm>
            <a:off x="914400" y="5371496"/>
            <a:ext cx="6583680" cy="366966"/>
          </a:xfrm>
          <a:prstGeom prst="rect">
            <a:avLst/>
          </a:prstGeom>
          <a:noFill/>
        </p:spPr>
        <p:txBody>
          <a:bodyPr wrap="none" lIns="0" rIns="0" tIns="0" bIns="0" anchor="t">
            <a:noAutofit/>
          </a:bodyPr>
          <a:lstStyle/>
          <a:p>
            <a:pPr algn="ctr">
              <a:lnSpc>
                <a:spcPts val="2349"/>
              </a:lnSpc>
              <a:spcBef>
                <a:spcPts val="0"/>
              </a:spcBef>
              <a:spcAft>
                <a:spcPts val="0"/>
              </a:spcAft>
            </a:pPr>
            <a:r>
              <a:rPr sz="1850" b="0">
                <a:solidFill>
                  <a:srgbClr val="293E46"/>
                </a:solidFill>
                <a:latin typeface="Trebuchet MS"/>
              </a:rPr>
              <a:t>Knowledge grows by correcting errors.</a:t>
            </a:r>
          </a:p>
        </p:txBody>
      </p:sp>
      <p:sp>
        <p:nvSpPr>
          <p:cNvPr id="51" name="Rounded Rectangle 50"/>
          <p:cNvSpPr/>
          <p:nvPr/>
        </p:nvSpPr>
        <p:spPr>
          <a:xfrm>
            <a:off x="640080" y="6126480"/>
            <a:ext cx="7132320" cy="1280160"/>
          </a:xfrm>
          <a:prstGeom prst="roundRect">
            <a:avLst>
              <a:gd name="adj" fmla="val 18000"/>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642823" y="6129772"/>
            <a:ext cx="7125279" cy="1274765"/>
          </a:xfrm>
          <a:custGeom>
            <a:avLst/>
            <a:gdLst/>
            <a:ahLst/>
            <a:cxnLst/>
            <a:rect l="l" t="t" r="r" b="b"/>
            <a:pathLst>
              <a:path w="77923" h="13941">
                <a:moveTo>
                  <a:pt x="77770" y="6950"/>
                </a:moveTo>
                <a:lnTo>
                  <a:pt x="77882" y="9114"/>
                </a:lnTo>
                <a:lnTo>
                  <a:pt x="77837" y="9837"/>
                </a:lnTo>
                <a:lnTo>
                  <a:pt x="77568" y="10236"/>
                </a:lnTo>
                <a:lnTo>
                  <a:pt x="77507" y="10724"/>
                </a:lnTo>
                <a:lnTo>
                  <a:pt x="77283" y="11076"/>
                </a:lnTo>
                <a:lnTo>
                  <a:pt x="77124" y="11214"/>
                </a:lnTo>
                <a:lnTo>
                  <a:pt x="76722" y="11541"/>
                </a:lnTo>
                <a:lnTo>
                  <a:pt x="76531" y="11780"/>
                </a:lnTo>
                <a:lnTo>
                  <a:pt x="76012" y="11884"/>
                </a:lnTo>
                <a:lnTo>
                  <a:pt x="75685" y="12155"/>
                </a:lnTo>
                <a:lnTo>
                  <a:pt x="75313" y="12369"/>
                </a:lnTo>
                <a:lnTo>
                  <a:pt x="74791" y="12566"/>
                </a:lnTo>
                <a:lnTo>
                  <a:pt x="74150" y="12574"/>
                </a:lnTo>
                <a:lnTo>
                  <a:pt x="73527" y="12830"/>
                </a:lnTo>
                <a:lnTo>
                  <a:pt x="72888" y="12902"/>
                </a:lnTo>
                <a:lnTo>
                  <a:pt x="71962" y="13170"/>
                </a:lnTo>
                <a:lnTo>
                  <a:pt x="71280" y="13126"/>
                </a:lnTo>
                <a:lnTo>
                  <a:pt x="70313" y="13302"/>
                </a:lnTo>
                <a:lnTo>
                  <a:pt x="69335" y="13339"/>
                </a:lnTo>
                <a:lnTo>
                  <a:pt x="68395" y="13396"/>
                </a:lnTo>
                <a:lnTo>
                  <a:pt x="67433" y="13512"/>
                </a:lnTo>
                <a:lnTo>
                  <a:pt x="66207" y="13637"/>
                </a:lnTo>
                <a:lnTo>
                  <a:pt x="64716" y="13620"/>
                </a:lnTo>
                <a:lnTo>
                  <a:pt x="63313" y="13708"/>
                </a:lnTo>
                <a:lnTo>
                  <a:pt x="61715" y="13785"/>
                </a:lnTo>
                <a:lnTo>
                  <a:pt x="59684" y="13810"/>
                </a:lnTo>
                <a:lnTo>
                  <a:pt x="57389" y="13725"/>
                </a:lnTo>
                <a:lnTo>
                  <a:pt x="54818" y="13767"/>
                </a:lnTo>
                <a:lnTo>
                  <a:pt x="50973" y="13913"/>
                </a:lnTo>
                <a:lnTo>
                  <a:pt x="39017" y="13910"/>
                </a:lnTo>
                <a:lnTo>
                  <a:pt x="27002" y="13941"/>
                </a:lnTo>
                <a:lnTo>
                  <a:pt x="23116" y="13808"/>
                </a:lnTo>
                <a:lnTo>
                  <a:pt x="20529" y="13882"/>
                </a:lnTo>
                <a:lnTo>
                  <a:pt x="18334" y="13832"/>
                </a:lnTo>
                <a:lnTo>
                  <a:pt x="16281" y="13722"/>
                </a:lnTo>
                <a:lnTo>
                  <a:pt x="14763" y="13759"/>
                </a:lnTo>
                <a:lnTo>
                  <a:pt x="13200" y="13760"/>
                </a:lnTo>
                <a:lnTo>
                  <a:pt x="11768" y="13553"/>
                </a:lnTo>
                <a:lnTo>
                  <a:pt x="10673" y="13555"/>
                </a:lnTo>
                <a:lnTo>
                  <a:pt x="9465" y="13389"/>
                </a:lnTo>
                <a:lnTo>
                  <a:pt x="8419" y="13415"/>
                </a:lnTo>
                <a:lnTo>
                  <a:pt x="7428" y="13192"/>
                </a:lnTo>
                <a:lnTo>
                  <a:pt x="6576" y="13210"/>
                </a:lnTo>
                <a:lnTo>
                  <a:pt x="5963" y="13137"/>
                </a:lnTo>
                <a:lnTo>
                  <a:pt x="5134" y="12843"/>
                </a:lnTo>
                <a:lnTo>
                  <a:pt x="4362" y="12727"/>
                </a:lnTo>
                <a:lnTo>
                  <a:pt x="3813" y="12751"/>
                </a:lnTo>
                <a:lnTo>
                  <a:pt x="3133" y="12602"/>
                </a:lnTo>
                <a:lnTo>
                  <a:pt x="2817" y="12358"/>
                </a:lnTo>
                <a:lnTo>
                  <a:pt x="2296" y="12150"/>
                </a:lnTo>
                <a:lnTo>
                  <a:pt x="1852" y="12047"/>
                </a:lnTo>
                <a:lnTo>
                  <a:pt x="1510" y="11772"/>
                </a:lnTo>
                <a:lnTo>
                  <a:pt x="1148" y="11447"/>
                </a:lnTo>
                <a:lnTo>
                  <a:pt x="842" y="11309"/>
                </a:lnTo>
                <a:lnTo>
                  <a:pt x="716" y="10851"/>
                </a:lnTo>
                <a:lnTo>
                  <a:pt x="361" y="10642"/>
                </a:lnTo>
                <a:lnTo>
                  <a:pt x="303" y="10169"/>
                </a:lnTo>
                <a:lnTo>
                  <a:pt x="252" y="9837"/>
                </a:lnTo>
                <a:lnTo>
                  <a:pt x="0" y="8968"/>
                </a:lnTo>
                <a:lnTo>
                  <a:pt x="40" y="6861"/>
                </a:lnTo>
                <a:lnTo>
                  <a:pt x="227" y="4942"/>
                </a:lnTo>
                <a:lnTo>
                  <a:pt x="105" y="4177"/>
                </a:lnTo>
                <a:lnTo>
                  <a:pt x="356" y="3728"/>
                </a:lnTo>
                <a:lnTo>
                  <a:pt x="312" y="3331"/>
                </a:lnTo>
                <a:lnTo>
                  <a:pt x="651" y="3022"/>
                </a:lnTo>
                <a:lnTo>
                  <a:pt x="861" y="2586"/>
                </a:lnTo>
                <a:lnTo>
                  <a:pt x="1024" y="2296"/>
                </a:lnTo>
                <a:lnTo>
                  <a:pt x="1367" y="2086"/>
                </a:lnTo>
                <a:lnTo>
                  <a:pt x="1786" y="1941"/>
                </a:lnTo>
                <a:lnTo>
                  <a:pt x="2251" y="1778"/>
                </a:lnTo>
                <a:lnTo>
                  <a:pt x="2654" y="1454"/>
                </a:lnTo>
                <a:lnTo>
                  <a:pt x="3149" y="1307"/>
                </a:lnTo>
                <a:lnTo>
                  <a:pt x="3893" y="1274"/>
                </a:lnTo>
                <a:lnTo>
                  <a:pt x="4360" y="1007"/>
                </a:lnTo>
                <a:lnTo>
                  <a:pt x="5141" y="1005"/>
                </a:lnTo>
                <a:lnTo>
                  <a:pt x="5771" y="894"/>
                </a:lnTo>
                <a:lnTo>
                  <a:pt x="6735" y="670"/>
                </a:lnTo>
                <a:lnTo>
                  <a:pt x="7520" y="561"/>
                </a:lnTo>
                <a:lnTo>
                  <a:pt x="8375" y="666"/>
                </a:lnTo>
                <a:lnTo>
                  <a:pt x="9570" y="558"/>
                </a:lnTo>
                <a:lnTo>
                  <a:pt x="10665" y="397"/>
                </a:lnTo>
                <a:lnTo>
                  <a:pt x="11832" y="420"/>
                </a:lnTo>
                <a:lnTo>
                  <a:pt x="13305" y="173"/>
                </a:lnTo>
                <a:lnTo>
                  <a:pt x="14689" y="271"/>
                </a:lnTo>
                <a:lnTo>
                  <a:pt x="16214" y="207"/>
                </a:lnTo>
                <a:lnTo>
                  <a:pt x="18196" y="216"/>
                </a:lnTo>
                <a:lnTo>
                  <a:pt x="20341" y="198"/>
                </a:lnTo>
                <a:lnTo>
                  <a:pt x="23265" y="0"/>
                </a:lnTo>
                <a:lnTo>
                  <a:pt x="27141" y="55"/>
                </a:lnTo>
                <a:lnTo>
                  <a:pt x="39036" y="187"/>
                </a:lnTo>
                <a:lnTo>
                  <a:pt x="51041" y="144"/>
                </a:lnTo>
                <a:lnTo>
                  <a:pt x="54718" y="152"/>
                </a:lnTo>
                <a:lnTo>
                  <a:pt x="57432" y="233"/>
                </a:lnTo>
                <a:lnTo>
                  <a:pt x="59807" y="257"/>
                </a:lnTo>
                <a:lnTo>
                  <a:pt x="61589" y="250"/>
                </a:lnTo>
                <a:lnTo>
                  <a:pt x="63162" y="306"/>
                </a:lnTo>
                <a:lnTo>
                  <a:pt x="64709" y="175"/>
                </a:lnTo>
                <a:lnTo>
                  <a:pt x="66225" y="365"/>
                </a:lnTo>
                <a:lnTo>
                  <a:pt x="67238" y="488"/>
                </a:lnTo>
                <a:lnTo>
                  <a:pt x="68513" y="389"/>
                </a:lnTo>
                <a:lnTo>
                  <a:pt x="69472" y="467"/>
                </a:lnTo>
                <a:lnTo>
                  <a:pt x="70351" y="532"/>
                </a:lnTo>
                <a:lnTo>
                  <a:pt x="71334" y="631"/>
                </a:lnTo>
                <a:lnTo>
                  <a:pt x="72034" y="814"/>
                </a:lnTo>
                <a:lnTo>
                  <a:pt x="72866" y="1004"/>
                </a:lnTo>
                <a:lnTo>
                  <a:pt x="73566" y="1165"/>
                </a:lnTo>
                <a:lnTo>
                  <a:pt x="74075" y="1235"/>
                </a:lnTo>
                <a:lnTo>
                  <a:pt x="74803" y="1409"/>
                </a:lnTo>
                <a:lnTo>
                  <a:pt x="75168" y="1495"/>
                </a:lnTo>
                <a:lnTo>
                  <a:pt x="75716" y="1757"/>
                </a:lnTo>
                <a:lnTo>
                  <a:pt x="75968" y="1934"/>
                </a:lnTo>
                <a:lnTo>
                  <a:pt x="76537" y="2169"/>
                </a:lnTo>
                <a:lnTo>
                  <a:pt x="76741" y="2346"/>
                </a:lnTo>
                <a:lnTo>
                  <a:pt x="76958" y="2652"/>
                </a:lnTo>
                <a:lnTo>
                  <a:pt x="77275" y="3053"/>
                </a:lnTo>
                <a:lnTo>
                  <a:pt x="77486" y="3223"/>
                </a:lnTo>
                <a:lnTo>
                  <a:pt x="77679" y="3716"/>
                </a:lnTo>
                <a:lnTo>
                  <a:pt x="77768" y="4091"/>
                </a:lnTo>
                <a:lnTo>
                  <a:pt x="77923" y="4799"/>
                </a:lnTo>
                <a:lnTo>
                  <a:pt x="77747" y="7063"/>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643555" y="6131601"/>
            <a:ext cx="7127565" cy="1271565"/>
          </a:xfrm>
          <a:custGeom>
            <a:avLst/>
            <a:gdLst/>
            <a:ahLst/>
            <a:cxnLst/>
            <a:rect l="l" t="t" r="r" b="b"/>
            <a:pathLst>
              <a:path w="77948" h="13906">
                <a:moveTo>
                  <a:pt x="77943" y="6849"/>
                </a:moveTo>
                <a:lnTo>
                  <a:pt x="77948" y="9055"/>
                </a:lnTo>
                <a:lnTo>
                  <a:pt x="77734" y="9821"/>
                </a:lnTo>
                <a:lnTo>
                  <a:pt x="77588" y="10121"/>
                </a:lnTo>
                <a:lnTo>
                  <a:pt x="77478" y="10689"/>
                </a:lnTo>
                <a:lnTo>
                  <a:pt x="77314" y="11013"/>
                </a:lnTo>
                <a:lnTo>
                  <a:pt x="76997" y="11150"/>
                </a:lnTo>
                <a:lnTo>
                  <a:pt x="76913" y="11461"/>
                </a:lnTo>
                <a:lnTo>
                  <a:pt x="76403" y="11776"/>
                </a:lnTo>
                <a:lnTo>
                  <a:pt x="76132" y="12000"/>
                </a:lnTo>
                <a:lnTo>
                  <a:pt x="75552" y="12241"/>
                </a:lnTo>
                <a:lnTo>
                  <a:pt x="75285" y="12277"/>
                </a:lnTo>
                <a:lnTo>
                  <a:pt x="74670" y="12558"/>
                </a:lnTo>
                <a:lnTo>
                  <a:pt x="74160" y="12580"/>
                </a:lnTo>
                <a:lnTo>
                  <a:pt x="73368" y="12880"/>
                </a:lnTo>
                <a:lnTo>
                  <a:pt x="72718" y="12944"/>
                </a:lnTo>
                <a:lnTo>
                  <a:pt x="72020" y="13051"/>
                </a:lnTo>
                <a:lnTo>
                  <a:pt x="71291" y="13128"/>
                </a:lnTo>
                <a:lnTo>
                  <a:pt x="70373" y="13274"/>
                </a:lnTo>
                <a:lnTo>
                  <a:pt x="69575" y="13449"/>
                </a:lnTo>
                <a:lnTo>
                  <a:pt x="68550" y="13528"/>
                </a:lnTo>
                <a:lnTo>
                  <a:pt x="67270" y="13472"/>
                </a:lnTo>
                <a:lnTo>
                  <a:pt x="65965" y="13484"/>
                </a:lnTo>
                <a:lnTo>
                  <a:pt x="64879" y="13713"/>
                </a:lnTo>
                <a:lnTo>
                  <a:pt x="63184" y="13649"/>
                </a:lnTo>
                <a:lnTo>
                  <a:pt x="61542" y="13631"/>
                </a:lnTo>
                <a:lnTo>
                  <a:pt x="59774" y="13728"/>
                </a:lnTo>
                <a:lnTo>
                  <a:pt x="57473" y="13692"/>
                </a:lnTo>
                <a:lnTo>
                  <a:pt x="54679" y="13855"/>
                </a:lnTo>
                <a:lnTo>
                  <a:pt x="50856" y="13906"/>
                </a:lnTo>
                <a:lnTo>
                  <a:pt x="38952" y="13788"/>
                </a:lnTo>
                <a:lnTo>
                  <a:pt x="27085" y="13777"/>
                </a:lnTo>
                <a:lnTo>
                  <a:pt x="23277" y="13876"/>
                </a:lnTo>
                <a:lnTo>
                  <a:pt x="20453" y="13875"/>
                </a:lnTo>
                <a:lnTo>
                  <a:pt x="18168" y="13783"/>
                </a:lnTo>
                <a:lnTo>
                  <a:pt x="16266" y="13652"/>
                </a:lnTo>
                <a:lnTo>
                  <a:pt x="14691" y="13712"/>
                </a:lnTo>
                <a:lnTo>
                  <a:pt x="13063" y="13577"/>
                </a:lnTo>
                <a:lnTo>
                  <a:pt x="11781" y="13690"/>
                </a:lnTo>
                <a:lnTo>
                  <a:pt x="10520" y="13408"/>
                </a:lnTo>
                <a:lnTo>
                  <a:pt x="9387" y="13477"/>
                </a:lnTo>
                <a:lnTo>
                  <a:pt x="8482" y="13324"/>
                </a:lnTo>
                <a:lnTo>
                  <a:pt x="7585" y="13267"/>
                </a:lnTo>
                <a:lnTo>
                  <a:pt x="6530" y="13123"/>
                </a:lnTo>
                <a:lnTo>
                  <a:pt x="5908" y="13137"/>
                </a:lnTo>
                <a:lnTo>
                  <a:pt x="5147" y="12899"/>
                </a:lnTo>
                <a:lnTo>
                  <a:pt x="4506" y="12746"/>
                </a:lnTo>
                <a:lnTo>
                  <a:pt x="3912" y="12660"/>
                </a:lnTo>
                <a:lnTo>
                  <a:pt x="3179" y="12537"/>
                </a:lnTo>
                <a:lnTo>
                  <a:pt x="2843" y="12444"/>
                </a:lnTo>
                <a:lnTo>
                  <a:pt x="2253" y="12122"/>
                </a:lnTo>
                <a:lnTo>
                  <a:pt x="1947" y="11948"/>
                </a:lnTo>
                <a:lnTo>
                  <a:pt x="1584" y="11794"/>
                </a:lnTo>
                <a:lnTo>
                  <a:pt x="1149" y="11539"/>
                </a:lnTo>
                <a:lnTo>
                  <a:pt x="971" y="11183"/>
                </a:lnTo>
                <a:lnTo>
                  <a:pt x="490" y="10859"/>
                </a:lnTo>
                <a:lnTo>
                  <a:pt x="431" y="10600"/>
                </a:lnTo>
                <a:lnTo>
                  <a:pt x="270" y="10249"/>
                </a:lnTo>
                <a:lnTo>
                  <a:pt x="38" y="9626"/>
                </a:lnTo>
                <a:lnTo>
                  <a:pt x="34" y="9042"/>
                </a:lnTo>
                <a:lnTo>
                  <a:pt x="0" y="6921"/>
                </a:lnTo>
                <a:lnTo>
                  <a:pt x="120" y="4735"/>
                </a:lnTo>
                <a:lnTo>
                  <a:pt x="113" y="4242"/>
                </a:lnTo>
                <a:lnTo>
                  <a:pt x="384" y="3760"/>
                </a:lnTo>
                <a:lnTo>
                  <a:pt x="507" y="3286"/>
                </a:lnTo>
                <a:lnTo>
                  <a:pt x="512" y="2956"/>
                </a:lnTo>
                <a:lnTo>
                  <a:pt x="900" y="2651"/>
                </a:lnTo>
                <a:lnTo>
                  <a:pt x="1124" y="2380"/>
                </a:lnTo>
                <a:lnTo>
                  <a:pt x="1436" y="2023"/>
                </a:lnTo>
                <a:lnTo>
                  <a:pt x="1847" y="1957"/>
                </a:lnTo>
                <a:lnTo>
                  <a:pt x="2195" y="1841"/>
                </a:lnTo>
                <a:lnTo>
                  <a:pt x="2629" y="1620"/>
                </a:lnTo>
                <a:lnTo>
                  <a:pt x="3292" y="1496"/>
                </a:lnTo>
                <a:lnTo>
                  <a:pt x="3719" y="1162"/>
                </a:lnTo>
                <a:lnTo>
                  <a:pt x="4481" y="991"/>
                </a:lnTo>
                <a:lnTo>
                  <a:pt x="5025" y="906"/>
                </a:lnTo>
                <a:lnTo>
                  <a:pt x="5971" y="939"/>
                </a:lnTo>
                <a:lnTo>
                  <a:pt x="6540" y="839"/>
                </a:lnTo>
                <a:lnTo>
                  <a:pt x="7520" y="512"/>
                </a:lnTo>
                <a:lnTo>
                  <a:pt x="8411" y="625"/>
                </a:lnTo>
                <a:lnTo>
                  <a:pt x="9379" y="445"/>
                </a:lnTo>
                <a:lnTo>
                  <a:pt x="10597" y="480"/>
                </a:lnTo>
                <a:lnTo>
                  <a:pt x="11865" y="413"/>
                </a:lnTo>
                <a:lnTo>
                  <a:pt x="13078" y="185"/>
                </a:lnTo>
                <a:lnTo>
                  <a:pt x="14549" y="247"/>
                </a:lnTo>
                <a:lnTo>
                  <a:pt x="16200" y="124"/>
                </a:lnTo>
                <a:lnTo>
                  <a:pt x="18264" y="167"/>
                </a:lnTo>
                <a:lnTo>
                  <a:pt x="20489" y="159"/>
                </a:lnTo>
                <a:lnTo>
                  <a:pt x="23233" y="0"/>
                </a:lnTo>
                <a:lnTo>
                  <a:pt x="26969" y="129"/>
                </a:lnTo>
                <a:lnTo>
                  <a:pt x="38883" y="180"/>
                </a:lnTo>
                <a:lnTo>
                  <a:pt x="50848" y="187"/>
                </a:lnTo>
                <a:lnTo>
                  <a:pt x="54604" y="140"/>
                </a:lnTo>
                <a:lnTo>
                  <a:pt x="57589" y="55"/>
                </a:lnTo>
                <a:lnTo>
                  <a:pt x="59653" y="50"/>
                </a:lnTo>
                <a:lnTo>
                  <a:pt x="61487" y="83"/>
                </a:lnTo>
                <a:lnTo>
                  <a:pt x="63261" y="239"/>
                </a:lnTo>
                <a:lnTo>
                  <a:pt x="64626" y="345"/>
                </a:lnTo>
                <a:lnTo>
                  <a:pt x="66084" y="208"/>
                </a:lnTo>
                <a:lnTo>
                  <a:pt x="67381" y="457"/>
                </a:lnTo>
                <a:lnTo>
                  <a:pt x="68487" y="408"/>
                </a:lnTo>
                <a:lnTo>
                  <a:pt x="69327" y="581"/>
                </a:lnTo>
                <a:lnTo>
                  <a:pt x="70432" y="527"/>
                </a:lnTo>
                <a:lnTo>
                  <a:pt x="71287" y="750"/>
                </a:lnTo>
                <a:lnTo>
                  <a:pt x="71988" y="715"/>
                </a:lnTo>
                <a:lnTo>
                  <a:pt x="72901" y="1034"/>
                </a:lnTo>
                <a:lnTo>
                  <a:pt x="73464" y="1018"/>
                </a:lnTo>
                <a:lnTo>
                  <a:pt x="74140" y="1265"/>
                </a:lnTo>
                <a:lnTo>
                  <a:pt x="74628" y="1483"/>
                </a:lnTo>
                <a:lnTo>
                  <a:pt x="75188" y="1461"/>
                </a:lnTo>
                <a:lnTo>
                  <a:pt x="75686" y="1843"/>
                </a:lnTo>
                <a:lnTo>
                  <a:pt x="76139" y="1871"/>
                </a:lnTo>
                <a:lnTo>
                  <a:pt x="76362" y="2220"/>
                </a:lnTo>
                <a:lnTo>
                  <a:pt x="76661" y="2455"/>
                </a:lnTo>
                <a:lnTo>
                  <a:pt x="77116" y="2729"/>
                </a:lnTo>
                <a:lnTo>
                  <a:pt x="77197" y="2952"/>
                </a:lnTo>
                <a:lnTo>
                  <a:pt x="77588" y="3195"/>
                </a:lnTo>
                <a:lnTo>
                  <a:pt x="77589" y="3611"/>
                </a:lnTo>
                <a:lnTo>
                  <a:pt x="77792" y="4247"/>
                </a:lnTo>
                <a:lnTo>
                  <a:pt x="77887" y="4925"/>
                </a:lnTo>
                <a:lnTo>
                  <a:pt x="77742" y="6960"/>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7635149" y="7102236"/>
            <a:ext cx="95006" cy="103327"/>
          </a:xfrm>
          <a:custGeom>
            <a:avLst/>
            <a:gdLst/>
            <a:ahLst/>
            <a:cxnLst/>
            <a:rect l="l" t="t" r="r" b="b"/>
            <a:pathLst>
              <a:path w="1039" h="1130">
                <a:moveTo>
                  <a:pt x="1039" y="0"/>
                </a:moveTo>
                <a:lnTo>
                  <a:pt x="846" y="336"/>
                </a:lnTo>
                <a:lnTo>
                  <a:pt x="608" y="630"/>
                </a:lnTo>
                <a:lnTo>
                  <a:pt x="327" y="893"/>
                </a:lnTo>
                <a:lnTo>
                  <a:pt x="0" y="113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6564478" y="7352873"/>
            <a:ext cx="429859" cy="25695"/>
          </a:xfrm>
          <a:custGeom>
            <a:avLst/>
            <a:gdLst/>
            <a:ahLst/>
            <a:cxnLst/>
            <a:rect l="l" t="t" r="r" b="b"/>
            <a:pathLst>
              <a:path w="4701" h="281">
                <a:moveTo>
                  <a:pt x="4701" y="0"/>
                </a:moveTo>
                <a:lnTo>
                  <a:pt x="3676" y="83"/>
                </a:lnTo>
                <a:lnTo>
                  <a:pt x="2559" y="158"/>
                </a:lnTo>
                <a:lnTo>
                  <a:pt x="1340" y="224"/>
                </a:lnTo>
                <a:lnTo>
                  <a:pt x="0" y="281"/>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1725473" y="7373356"/>
            <a:ext cx="584027" cy="16734"/>
          </a:xfrm>
          <a:custGeom>
            <a:avLst/>
            <a:gdLst/>
            <a:ahLst/>
            <a:cxnLst/>
            <a:rect l="l" t="t" r="r" b="b"/>
            <a:pathLst>
              <a:path w="6387" h="183">
                <a:moveTo>
                  <a:pt x="6387" y="183"/>
                </a:moveTo>
                <a:lnTo>
                  <a:pt x="4487" y="149"/>
                </a:lnTo>
                <a:lnTo>
                  <a:pt x="2824" y="107"/>
                </a:lnTo>
                <a:lnTo>
                  <a:pt x="1340" y="57"/>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747431" y="7183892"/>
            <a:ext cx="145207" cy="76078"/>
          </a:xfrm>
          <a:custGeom>
            <a:avLst/>
            <a:gdLst/>
            <a:ahLst/>
            <a:cxnLst/>
            <a:rect l="l" t="t" r="r" b="b"/>
            <a:pathLst>
              <a:path w="1588" h="832">
                <a:moveTo>
                  <a:pt x="1588" y="832"/>
                </a:moveTo>
                <a:lnTo>
                  <a:pt x="1120" y="650"/>
                </a:lnTo>
                <a:lnTo>
                  <a:pt x="700" y="453"/>
                </a:lnTo>
                <a:lnTo>
                  <a:pt x="327" y="237"/>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682325" y="6327557"/>
            <a:ext cx="95006" cy="103327"/>
          </a:xfrm>
          <a:custGeom>
            <a:avLst/>
            <a:gdLst/>
            <a:ahLst/>
            <a:cxnLst/>
            <a:rect l="l" t="t" r="r" b="b"/>
            <a:pathLst>
              <a:path w="1039" h="1130">
                <a:moveTo>
                  <a:pt x="0" y="1130"/>
                </a:moveTo>
                <a:lnTo>
                  <a:pt x="193" y="794"/>
                </a:lnTo>
                <a:lnTo>
                  <a:pt x="431" y="500"/>
                </a:lnTo>
                <a:lnTo>
                  <a:pt x="712" y="237"/>
                </a:lnTo>
                <a:lnTo>
                  <a:pt x="1039"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1418143" y="6154552"/>
            <a:ext cx="429859" cy="25695"/>
          </a:xfrm>
          <a:custGeom>
            <a:avLst/>
            <a:gdLst/>
            <a:ahLst/>
            <a:cxnLst/>
            <a:rect l="l" t="t" r="r" b="b"/>
            <a:pathLst>
              <a:path w="4701" h="281">
                <a:moveTo>
                  <a:pt x="0" y="281"/>
                </a:moveTo>
                <a:lnTo>
                  <a:pt x="1025" y="198"/>
                </a:lnTo>
                <a:lnTo>
                  <a:pt x="2142" y="123"/>
                </a:lnTo>
                <a:lnTo>
                  <a:pt x="3361" y="57"/>
                </a:lnTo>
                <a:lnTo>
                  <a:pt x="4701"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6102980" y="6143031"/>
            <a:ext cx="584027" cy="16734"/>
          </a:xfrm>
          <a:custGeom>
            <a:avLst/>
            <a:gdLst/>
            <a:ahLst/>
            <a:cxnLst/>
            <a:rect l="l" t="t" r="r" b="b"/>
            <a:pathLst>
              <a:path w="6387" h="183">
                <a:moveTo>
                  <a:pt x="0" y="0"/>
                </a:moveTo>
                <a:lnTo>
                  <a:pt x="1900" y="34"/>
                </a:lnTo>
                <a:lnTo>
                  <a:pt x="3563" y="76"/>
                </a:lnTo>
                <a:lnTo>
                  <a:pt x="5047" y="126"/>
                </a:lnTo>
                <a:lnTo>
                  <a:pt x="6387" y="183"/>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7519843" y="6273150"/>
            <a:ext cx="145207" cy="76078"/>
          </a:xfrm>
          <a:custGeom>
            <a:avLst/>
            <a:gdLst/>
            <a:ahLst/>
            <a:cxnLst/>
            <a:rect l="l" t="t" r="r" b="b"/>
            <a:pathLst>
              <a:path w="1588" h="832">
                <a:moveTo>
                  <a:pt x="0" y="0"/>
                </a:moveTo>
                <a:lnTo>
                  <a:pt x="468" y="182"/>
                </a:lnTo>
                <a:lnTo>
                  <a:pt x="888" y="379"/>
                </a:lnTo>
                <a:lnTo>
                  <a:pt x="1261" y="595"/>
                </a:lnTo>
                <a:lnTo>
                  <a:pt x="1588" y="832"/>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 Reason, Swiss cheese (1990)"/>
          <p:cNvSpPr txBox="1"/>
          <p:nvPr/>
        </p:nvSpPr>
        <p:spPr>
          <a:xfrm>
            <a:off x="850392" y="6243574"/>
            <a:ext cx="6711696" cy="396748"/>
          </a:xfrm>
          <a:prstGeom prst="rect">
            <a:avLst/>
          </a:prstGeom>
          <a:noFill/>
        </p:spPr>
        <p:txBody>
          <a:bodyPr wrap="none" lIns="0" rIns="0" tIns="0" bIns="0" anchor="t">
            <a:noAutofit/>
          </a:bodyPr>
          <a:lstStyle/>
          <a:p>
            <a:pPr algn="ctr">
              <a:lnSpc>
                <a:spcPts val="2584"/>
              </a:lnSpc>
              <a:spcBef>
                <a:spcPts val="0"/>
              </a:spcBef>
              <a:spcAft>
                <a:spcPts val="0"/>
              </a:spcAft>
            </a:pPr>
            <a:r>
              <a:rPr sz="1900" b="1">
                <a:solidFill>
                  <a:srgbClr val="AE6B55"/>
                </a:solidFill>
                <a:latin typeface="Chalkboard SE"/>
              </a:rPr>
              <a:t>Reason, Swiss cheese (1990)</a:t>
            </a:r>
          </a:p>
        </p:txBody>
      </p:sp>
      <p:sp>
        <p:nvSpPr>
          <p:cNvPr id="63" name="body: Holes in the defences move. Each incident shows where one is."/>
          <p:cNvSpPr txBox="1"/>
          <p:nvPr/>
        </p:nvSpPr>
        <p:spPr>
          <a:xfrm>
            <a:off x="914400" y="6685343"/>
            <a:ext cx="6583680" cy="665353"/>
          </a:xfrm>
          <a:prstGeom prst="rect">
            <a:avLst/>
          </a:prstGeom>
          <a:noFill/>
        </p:spPr>
        <p:txBody>
          <a:bodyPr wrap="none" lIns="0" rIns="0" tIns="0" bIns="0" anchor="t">
            <a:noAutofit/>
          </a:bodyPr>
          <a:lstStyle/>
          <a:p>
            <a:pPr algn="ctr">
              <a:lnSpc>
                <a:spcPts val="2349"/>
              </a:lnSpc>
              <a:spcBef>
                <a:spcPts val="0"/>
              </a:spcBef>
              <a:spcAft>
                <a:spcPts val="0"/>
              </a:spcAft>
            </a:pPr>
            <a:r>
              <a:rPr sz="1850" b="0">
                <a:solidFill>
                  <a:srgbClr val="293E46"/>
                </a:solidFill>
                <a:latin typeface="Trebuchet MS"/>
              </a:rPr>
              <a:t>Holes in the defences move. Each incident shows where</a:t>
            </a:r>
            <a:br/>
            <a:r>
              <a:rPr sz="1850" b="0">
                <a:solidFill>
                  <a:srgbClr val="293E46"/>
                </a:solidFill>
                <a:latin typeface="Trebuchet MS"/>
              </a:rPr>
              <a:t>one is.</a:t>
            </a:r>
          </a:p>
        </p:txBody>
      </p:sp>
      <p:sp>
        <p:nvSpPr>
          <p:cNvPr id="64" name="Rounded Rectangle 63"/>
          <p:cNvSpPr/>
          <p:nvPr/>
        </p:nvSpPr>
        <p:spPr>
          <a:xfrm>
            <a:off x="8174736" y="1737360"/>
            <a:ext cx="5815584" cy="493776"/>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ody: Year"/>
          <p:cNvSpPr txBox="1"/>
          <p:nvPr/>
        </p:nvSpPr>
        <p:spPr>
          <a:xfrm>
            <a:off x="8311896" y="1816893"/>
            <a:ext cx="679054" cy="334708"/>
          </a:xfrm>
          <a:prstGeom prst="rect">
            <a:avLst/>
          </a:prstGeom>
          <a:noFill/>
        </p:spPr>
        <p:txBody>
          <a:bodyPr wrap="none" lIns="0" rIns="0" tIns="0" bIns="0" anchor="t">
            <a:noAutofit/>
          </a:bodyPr>
          <a:lstStyle/>
          <a:p>
            <a:pPr algn="ctr">
              <a:lnSpc>
                <a:spcPts val="2095"/>
              </a:lnSpc>
              <a:spcBef>
                <a:spcPts val="0"/>
              </a:spcBef>
              <a:spcAft>
                <a:spcPts val="0"/>
              </a:spcAft>
            </a:pPr>
            <a:r>
              <a:rPr sz="1650" b="1">
                <a:solidFill>
                  <a:srgbClr val="4E7892"/>
                </a:solidFill>
                <a:latin typeface="Trebuchet MS"/>
              </a:rPr>
              <a:t>Year</a:t>
            </a:r>
          </a:p>
        </p:txBody>
      </p:sp>
      <p:sp>
        <p:nvSpPr>
          <p:cNvPr id="66" name="body: Nobody predicted it in detail"/>
          <p:cNvSpPr txBox="1"/>
          <p:nvPr/>
        </p:nvSpPr>
        <p:spPr>
          <a:xfrm>
            <a:off x="9265270" y="1816893"/>
            <a:ext cx="4587889" cy="334708"/>
          </a:xfrm>
          <a:prstGeom prst="rect">
            <a:avLst/>
          </a:prstGeom>
          <a:noFill/>
        </p:spPr>
        <p:txBody>
          <a:bodyPr wrap="none" lIns="0" rIns="0" tIns="0" bIns="0" anchor="t">
            <a:noAutofit/>
          </a:bodyPr>
          <a:lstStyle/>
          <a:p>
            <a:pPr algn="ctr">
              <a:lnSpc>
                <a:spcPts val="2095"/>
              </a:lnSpc>
              <a:spcBef>
                <a:spcPts val="0"/>
              </a:spcBef>
              <a:spcAft>
                <a:spcPts val="0"/>
              </a:spcAft>
            </a:pPr>
            <a:r>
              <a:rPr sz="1650" b="1">
                <a:solidFill>
                  <a:srgbClr val="4E7892"/>
                </a:solidFill>
                <a:latin typeface="Trebuchet MS"/>
              </a:rPr>
              <a:t>Nobody predicted it in detail</a:t>
            </a:r>
          </a:p>
        </p:txBody>
      </p:sp>
      <p:sp>
        <p:nvSpPr>
          <p:cNvPr id="67" name="Rounded Rectangle 66"/>
          <p:cNvSpPr/>
          <p:nvPr/>
        </p:nvSpPr>
        <p:spPr>
          <a:xfrm>
            <a:off x="8174736" y="2290572"/>
            <a:ext cx="5815584" cy="512064"/>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ody: 2008"/>
          <p:cNvSpPr txBox="1"/>
          <p:nvPr/>
        </p:nvSpPr>
        <p:spPr>
          <a:xfrm>
            <a:off x="8311896" y="2379249"/>
            <a:ext cx="679054" cy="334708"/>
          </a:xfrm>
          <a:prstGeom prst="rect">
            <a:avLst/>
          </a:prstGeom>
          <a:noFill/>
        </p:spPr>
        <p:txBody>
          <a:bodyPr wrap="none" lIns="0" rIns="0" tIns="0" bIns="0" anchor="t">
            <a:noAutofit/>
          </a:bodyPr>
          <a:lstStyle/>
          <a:p>
            <a:pPr algn="ctr">
              <a:lnSpc>
                <a:spcPts val="2095"/>
              </a:lnSpc>
              <a:spcBef>
                <a:spcPts val="0"/>
              </a:spcBef>
              <a:spcAft>
                <a:spcPts val="0"/>
              </a:spcAft>
            </a:pPr>
            <a:r>
              <a:rPr sz="1650" b="1">
                <a:solidFill>
                  <a:srgbClr val="4E7892"/>
                </a:solidFill>
                <a:latin typeface="Trebuchet MS"/>
              </a:rPr>
              <a:t>2008</a:t>
            </a:r>
          </a:p>
        </p:txBody>
      </p:sp>
      <p:sp>
        <p:nvSpPr>
          <p:cNvPr id="69" name="body: Global financial crisis"/>
          <p:cNvSpPr txBox="1"/>
          <p:nvPr/>
        </p:nvSpPr>
        <p:spPr>
          <a:xfrm>
            <a:off x="9265270" y="2379249"/>
            <a:ext cx="4587889" cy="334708"/>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Global financial crisis</a:t>
            </a:r>
          </a:p>
        </p:txBody>
      </p:sp>
      <p:sp>
        <p:nvSpPr>
          <p:cNvPr id="70" name="Rounded Rectangle 69"/>
          <p:cNvSpPr/>
          <p:nvPr/>
        </p:nvSpPr>
        <p:spPr>
          <a:xfrm>
            <a:off x="8174736" y="2862072"/>
            <a:ext cx="5815584" cy="512064"/>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ody: 2011"/>
          <p:cNvSpPr txBox="1"/>
          <p:nvPr/>
        </p:nvSpPr>
        <p:spPr>
          <a:xfrm>
            <a:off x="8311896" y="2950749"/>
            <a:ext cx="679054" cy="334708"/>
          </a:xfrm>
          <a:prstGeom prst="rect">
            <a:avLst/>
          </a:prstGeom>
          <a:noFill/>
        </p:spPr>
        <p:txBody>
          <a:bodyPr wrap="none" lIns="0" rIns="0" tIns="0" bIns="0" anchor="t">
            <a:noAutofit/>
          </a:bodyPr>
          <a:lstStyle/>
          <a:p>
            <a:pPr algn="ctr">
              <a:lnSpc>
                <a:spcPts val="2095"/>
              </a:lnSpc>
              <a:spcBef>
                <a:spcPts val="0"/>
              </a:spcBef>
              <a:spcAft>
                <a:spcPts val="0"/>
              </a:spcAft>
            </a:pPr>
            <a:r>
              <a:rPr sz="1650" b="1">
                <a:solidFill>
                  <a:srgbClr val="4E7892"/>
                </a:solidFill>
                <a:latin typeface="Trebuchet MS"/>
              </a:rPr>
              <a:t>2011</a:t>
            </a:r>
          </a:p>
        </p:txBody>
      </p:sp>
      <p:sp>
        <p:nvSpPr>
          <p:cNvPr id="72" name="body: Fukushima"/>
          <p:cNvSpPr txBox="1"/>
          <p:nvPr/>
        </p:nvSpPr>
        <p:spPr>
          <a:xfrm>
            <a:off x="9265270" y="2950749"/>
            <a:ext cx="4587889" cy="334708"/>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Fukushima</a:t>
            </a:r>
          </a:p>
        </p:txBody>
      </p:sp>
      <p:sp>
        <p:nvSpPr>
          <p:cNvPr id="73" name="Rounded Rectangle 72"/>
          <p:cNvSpPr/>
          <p:nvPr/>
        </p:nvSpPr>
        <p:spPr>
          <a:xfrm>
            <a:off x="8174736" y="3433572"/>
            <a:ext cx="5815584" cy="512064"/>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ody: 2019"/>
          <p:cNvSpPr txBox="1"/>
          <p:nvPr/>
        </p:nvSpPr>
        <p:spPr>
          <a:xfrm>
            <a:off x="8311896" y="3522249"/>
            <a:ext cx="679054" cy="334708"/>
          </a:xfrm>
          <a:prstGeom prst="rect">
            <a:avLst/>
          </a:prstGeom>
          <a:noFill/>
        </p:spPr>
        <p:txBody>
          <a:bodyPr wrap="none" lIns="0" rIns="0" tIns="0" bIns="0" anchor="t">
            <a:noAutofit/>
          </a:bodyPr>
          <a:lstStyle/>
          <a:p>
            <a:pPr algn="ctr">
              <a:lnSpc>
                <a:spcPts val="2095"/>
              </a:lnSpc>
              <a:spcBef>
                <a:spcPts val="0"/>
              </a:spcBef>
              <a:spcAft>
                <a:spcPts val="0"/>
              </a:spcAft>
            </a:pPr>
            <a:r>
              <a:rPr sz="1650" b="1">
                <a:solidFill>
                  <a:srgbClr val="4E7892"/>
                </a:solidFill>
                <a:latin typeface="Trebuchet MS"/>
              </a:rPr>
              <a:t>2019</a:t>
            </a:r>
          </a:p>
        </p:txBody>
      </p:sp>
      <p:sp>
        <p:nvSpPr>
          <p:cNvPr id="75" name="body: Boeing 737 MAX"/>
          <p:cNvSpPr txBox="1"/>
          <p:nvPr/>
        </p:nvSpPr>
        <p:spPr>
          <a:xfrm>
            <a:off x="9265270" y="3522249"/>
            <a:ext cx="4587889" cy="334708"/>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Boeing 737 MAX</a:t>
            </a:r>
          </a:p>
        </p:txBody>
      </p:sp>
      <p:sp>
        <p:nvSpPr>
          <p:cNvPr id="76" name="Rounded Rectangle 75"/>
          <p:cNvSpPr/>
          <p:nvPr/>
        </p:nvSpPr>
        <p:spPr>
          <a:xfrm>
            <a:off x="8174736" y="4005072"/>
            <a:ext cx="5815584" cy="512064"/>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ody: 2021"/>
          <p:cNvSpPr txBox="1"/>
          <p:nvPr/>
        </p:nvSpPr>
        <p:spPr>
          <a:xfrm>
            <a:off x="8311896" y="4093749"/>
            <a:ext cx="679054" cy="334708"/>
          </a:xfrm>
          <a:prstGeom prst="rect">
            <a:avLst/>
          </a:prstGeom>
          <a:noFill/>
        </p:spPr>
        <p:txBody>
          <a:bodyPr wrap="none" lIns="0" rIns="0" tIns="0" bIns="0" anchor="t">
            <a:noAutofit/>
          </a:bodyPr>
          <a:lstStyle/>
          <a:p>
            <a:pPr algn="ctr">
              <a:lnSpc>
                <a:spcPts val="2095"/>
              </a:lnSpc>
              <a:spcBef>
                <a:spcPts val="0"/>
              </a:spcBef>
              <a:spcAft>
                <a:spcPts val="0"/>
              </a:spcAft>
            </a:pPr>
            <a:r>
              <a:rPr sz="1650" b="1">
                <a:solidFill>
                  <a:srgbClr val="4E7892"/>
                </a:solidFill>
                <a:latin typeface="Trebuchet MS"/>
              </a:rPr>
              <a:t>2021</a:t>
            </a:r>
          </a:p>
        </p:txBody>
      </p:sp>
      <p:sp>
        <p:nvSpPr>
          <p:cNvPr id="78" name="body: Log4Shell"/>
          <p:cNvSpPr txBox="1"/>
          <p:nvPr/>
        </p:nvSpPr>
        <p:spPr>
          <a:xfrm>
            <a:off x="9265270" y="4093749"/>
            <a:ext cx="4587889" cy="334708"/>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Log4Shell</a:t>
            </a:r>
          </a:p>
        </p:txBody>
      </p:sp>
      <p:sp>
        <p:nvSpPr>
          <p:cNvPr id="79" name="Rounded Rectangle 78"/>
          <p:cNvSpPr/>
          <p:nvPr/>
        </p:nvSpPr>
        <p:spPr>
          <a:xfrm>
            <a:off x="8174736" y="4576572"/>
            <a:ext cx="5815584" cy="512064"/>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ody: 2024"/>
          <p:cNvSpPr txBox="1"/>
          <p:nvPr/>
        </p:nvSpPr>
        <p:spPr>
          <a:xfrm>
            <a:off x="8311896" y="4665249"/>
            <a:ext cx="679054" cy="334708"/>
          </a:xfrm>
          <a:prstGeom prst="rect">
            <a:avLst/>
          </a:prstGeom>
          <a:noFill/>
        </p:spPr>
        <p:txBody>
          <a:bodyPr wrap="none" lIns="0" rIns="0" tIns="0" bIns="0" anchor="t">
            <a:noAutofit/>
          </a:bodyPr>
          <a:lstStyle/>
          <a:p>
            <a:pPr algn="ctr">
              <a:lnSpc>
                <a:spcPts val="2095"/>
              </a:lnSpc>
              <a:spcBef>
                <a:spcPts val="0"/>
              </a:spcBef>
              <a:spcAft>
                <a:spcPts val="0"/>
              </a:spcAft>
            </a:pPr>
            <a:r>
              <a:rPr sz="1650" b="1">
                <a:solidFill>
                  <a:srgbClr val="4E7892"/>
                </a:solidFill>
                <a:latin typeface="Trebuchet MS"/>
              </a:rPr>
              <a:t>2024</a:t>
            </a:r>
          </a:p>
        </p:txBody>
      </p:sp>
      <p:sp>
        <p:nvSpPr>
          <p:cNvPr id="81" name="body: CrowdStrike outage"/>
          <p:cNvSpPr txBox="1"/>
          <p:nvPr/>
        </p:nvSpPr>
        <p:spPr>
          <a:xfrm>
            <a:off x="9265270" y="4665249"/>
            <a:ext cx="4587889" cy="334708"/>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CrowdStrike outage</a:t>
            </a:r>
          </a:p>
        </p:txBody>
      </p:sp>
      <p:sp>
        <p:nvSpPr>
          <p:cNvPr id="82" name="Rounded Rectangle 81"/>
          <p:cNvSpPr/>
          <p:nvPr/>
        </p:nvSpPr>
        <p:spPr>
          <a:xfrm>
            <a:off x="8174736" y="5148072"/>
            <a:ext cx="5815584" cy="512064"/>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ody: 2025"/>
          <p:cNvSpPr txBox="1"/>
          <p:nvPr/>
        </p:nvSpPr>
        <p:spPr>
          <a:xfrm>
            <a:off x="8311896" y="5236749"/>
            <a:ext cx="679054" cy="334708"/>
          </a:xfrm>
          <a:prstGeom prst="rect">
            <a:avLst/>
          </a:prstGeom>
          <a:noFill/>
        </p:spPr>
        <p:txBody>
          <a:bodyPr wrap="none" lIns="0" rIns="0" tIns="0" bIns="0" anchor="t">
            <a:noAutofit/>
          </a:bodyPr>
          <a:lstStyle/>
          <a:p>
            <a:pPr algn="ctr">
              <a:lnSpc>
                <a:spcPts val="2095"/>
              </a:lnSpc>
              <a:spcBef>
                <a:spcPts val="0"/>
              </a:spcBef>
              <a:spcAft>
                <a:spcPts val="0"/>
              </a:spcAft>
            </a:pPr>
            <a:r>
              <a:rPr sz="1650" b="1">
                <a:solidFill>
                  <a:srgbClr val="4E7892"/>
                </a:solidFill>
                <a:latin typeface="Trebuchet MS"/>
              </a:rPr>
              <a:t>2025</a:t>
            </a:r>
          </a:p>
        </p:txBody>
      </p:sp>
      <p:sp>
        <p:nvSpPr>
          <p:cNvPr id="84" name="body: Coding agent deletes a production database"/>
          <p:cNvSpPr txBox="1"/>
          <p:nvPr/>
        </p:nvSpPr>
        <p:spPr>
          <a:xfrm>
            <a:off x="9265270" y="5236749"/>
            <a:ext cx="4587889" cy="334708"/>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Coding agent deletes a production database</a:t>
            </a:r>
          </a:p>
        </p:txBody>
      </p:sp>
      <p:sp>
        <p:nvSpPr>
          <p:cNvPr id="85" name="Rounded Rectangle 84"/>
          <p:cNvSpPr/>
          <p:nvPr/>
        </p:nvSpPr>
        <p:spPr>
          <a:xfrm>
            <a:off x="8174736" y="5934456"/>
            <a:ext cx="5815584" cy="1444752"/>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8176473" y="5937748"/>
            <a:ext cx="5799673" cy="1435242"/>
          </a:xfrm>
          <a:custGeom>
            <a:avLst/>
            <a:gdLst/>
            <a:ahLst/>
            <a:cxnLst/>
            <a:rect l="l" t="t" r="r" b="b"/>
            <a:pathLst>
              <a:path w="63426" h="15696">
                <a:moveTo>
                  <a:pt x="63337" y="7894"/>
                </a:moveTo>
                <a:lnTo>
                  <a:pt x="63367" y="10249"/>
                </a:lnTo>
                <a:lnTo>
                  <a:pt x="63287" y="11125"/>
                </a:lnTo>
                <a:lnTo>
                  <a:pt x="63243" y="11605"/>
                </a:lnTo>
                <a:lnTo>
                  <a:pt x="63233" y="11905"/>
                </a:lnTo>
                <a:lnTo>
                  <a:pt x="63092" y="12370"/>
                </a:lnTo>
                <a:lnTo>
                  <a:pt x="62741" y="12710"/>
                </a:lnTo>
                <a:lnTo>
                  <a:pt x="62698" y="12951"/>
                </a:lnTo>
                <a:lnTo>
                  <a:pt x="62383" y="13372"/>
                </a:lnTo>
                <a:lnTo>
                  <a:pt x="61917" y="13600"/>
                </a:lnTo>
                <a:lnTo>
                  <a:pt x="61648" y="13764"/>
                </a:lnTo>
                <a:lnTo>
                  <a:pt x="61276" y="14067"/>
                </a:lnTo>
                <a:lnTo>
                  <a:pt x="60926" y="14155"/>
                </a:lnTo>
                <a:lnTo>
                  <a:pt x="60394" y="14319"/>
                </a:lnTo>
                <a:lnTo>
                  <a:pt x="59815" y="14527"/>
                </a:lnTo>
                <a:lnTo>
                  <a:pt x="59274" y="14605"/>
                </a:lnTo>
                <a:lnTo>
                  <a:pt x="58816" y="14710"/>
                </a:lnTo>
                <a:lnTo>
                  <a:pt x="58037" y="14946"/>
                </a:lnTo>
                <a:lnTo>
                  <a:pt x="57366" y="15061"/>
                </a:lnTo>
                <a:lnTo>
                  <a:pt x="56532" y="15210"/>
                </a:lnTo>
                <a:lnTo>
                  <a:pt x="55694" y="15180"/>
                </a:lnTo>
                <a:lnTo>
                  <a:pt x="54859" y="15255"/>
                </a:lnTo>
                <a:lnTo>
                  <a:pt x="53962" y="15421"/>
                </a:lnTo>
                <a:lnTo>
                  <a:pt x="52685" y="15538"/>
                </a:lnTo>
                <a:lnTo>
                  <a:pt x="51598" y="15579"/>
                </a:lnTo>
                <a:lnTo>
                  <a:pt x="50163" y="15631"/>
                </a:lnTo>
                <a:lnTo>
                  <a:pt x="48735" y="15458"/>
                </a:lnTo>
                <a:lnTo>
                  <a:pt x="46780" y="15696"/>
                </a:lnTo>
                <a:lnTo>
                  <a:pt x="44638" y="15589"/>
                </a:lnTo>
                <a:lnTo>
                  <a:pt x="41549" y="15566"/>
                </a:lnTo>
                <a:lnTo>
                  <a:pt x="31843" y="15569"/>
                </a:lnTo>
                <a:lnTo>
                  <a:pt x="21987" y="15641"/>
                </a:lnTo>
                <a:lnTo>
                  <a:pt x="18887" y="15573"/>
                </a:lnTo>
                <a:lnTo>
                  <a:pt x="16818" y="15524"/>
                </a:lnTo>
                <a:lnTo>
                  <a:pt x="14997" y="15580"/>
                </a:lnTo>
                <a:lnTo>
                  <a:pt x="13404" y="15565"/>
                </a:lnTo>
                <a:lnTo>
                  <a:pt x="11975" y="15587"/>
                </a:lnTo>
                <a:lnTo>
                  <a:pt x="10826" y="15445"/>
                </a:lnTo>
                <a:lnTo>
                  <a:pt x="9783" y="15288"/>
                </a:lnTo>
                <a:lnTo>
                  <a:pt x="8706" y="15372"/>
                </a:lnTo>
                <a:lnTo>
                  <a:pt x="7886" y="15098"/>
                </a:lnTo>
                <a:lnTo>
                  <a:pt x="6926" y="15041"/>
                </a:lnTo>
                <a:lnTo>
                  <a:pt x="6237" y="15099"/>
                </a:lnTo>
                <a:lnTo>
                  <a:pt x="5586" y="15009"/>
                </a:lnTo>
                <a:lnTo>
                  <a:pt x="4898" y="14772"/>
                </a:lnTo>
                <a:lnTo>
                  <a:pt x="4288" y="14638"/>
                </a:lnTo>
                <a:lnTo>
                  <a:pt x="3669" y="14587"/>
                </a:lnTo>
                <a:lnTo>
                  <a:pt x="3192" y="14308"/>
                </a:lnTo>
                <a:lnTo>
                  <a:pt x="2711" y="14039"/>
                </a:lnTo>
                <a:lnTo>
                  <a:pt x="2333" y="14026"/>
                </a:lnTo>
                <a:lnTo>
                  <a:pt x="1836" y="13793"/>
                </a:lnTo>
                <a:lnTo>
                  <a:pt x="1648" y="13622"/>
                </a:lnTo>
                <a:lnTo>
                  <a:pt x="1316" y="13390"/>
                </a:lnTo>
                <a:lnTo>
                  <a:pt x="839" y="13133"/>
                </a:lnTo>
                <a:lnTo>
                  <a:pt x="659" y="12747"/>
                </a:lnTo>
                <a:lnTo>
                  <a:pt x="581" y="12466"/>
                </a:lnTo>
                <a:lnTo>
                  <a:pt x="388" y="12047"/>
                </a:lnTo>
                <a:lnTo>
                  <a:pt x="255" y="11456"/>
                </a:lnTo>
                <a:lnTo>
                  <a:pt x="178" y="11039"/>
                </a:lnTo>
                <a:lnTo>
                  <a:pt x="189" y="10268"/>
                </a:lnTo>
                <a:lnTo>
                  <a:pt x="145" y="7844"/>
                </a:lnTo>
                <a:lnTo>
                  <a:pt x="0" y="5498"/>
                </a:lnTo>
                <a:lnTo>
                  <a:pt x="279" y="4600"/>
                </a:lnTo>
                <a:lnTo>
                  <a:pt x="273" y="4188"/>
                </a:lnTo>
                <a:lnTo>
                  <a:pt x="352" y="3807"/>
                </a:lnTo>
                <a:lnTo>
                  <a:pt x="410" y="3270"/>
                </a:lnTo>
                <a:lnTo>
                  <a:pt x="807" y="2906"/>
                </a:lnTo>
                <a:lnTo>
                  <a:pt x="1015" y="2817"/>
                </a:lnTo>
                <a:lnTo>
                  <a:pt x="1203" y="2493"/>
                </a:lnTo>
                <a:lnTo>
                  <a:pt x="1611" y="2084"/>
                </a:lnTo>
                <a:lnTo>
                  <a:pt x="1962" y="2026"/>
                </a:lnTo>
                <a:lnTo>
                  <a:pt x="2343" y="1705"/>
                </a:lnTo>
                <a:lnTo>
                  <a:pt x="2657" y="1588"/>
                </a:lnTo>
                <a:lnTo>
                  <a:pt x="3076" y="1465"/>
                </a:lnTo>
                <a:lnTo>
                  <a:pt x="3754" y="1272"/>
                </a:lnTo>
                <a:lnTo>
                  <a:pt x="4200" y="1082"/>
                </a:lnTo>
                <a:lnTo>
                  <a:pt x="4809" y="855"/>
                </a:lnTo>
                <a:lnTo>
                  <a:pt x="5418" y="840"/>
                </a:lnTo>
                <a:lnTo>
                  <a:pt x="6073" y="806"/>
                </a:lnTo>
                <a:lnTo>
                  <a:pt x="6948" y="623"/>
                </a:lnTo>
                <a:lnTo>
                  <a:pt x="7727" y="624"/>
                </a:lnTo>
                <a:lnTo>
                  <a:pt x="8723" y="398"/>
                </a:lnTo>
                <a:lnTo>
                  <a:pt x="9602" y="299"/>
                </a:lnTo>
                <a:lnTo>
                  <a:pt x="10730" y="296"/>
                </a:lnTo>
                <a:lnTo>
                  <a:pt x="11901" y="278"/>
                </a:lnTo>
                <a:lnTo>
                  <a:pt x="13361" y="224"/>
                </a:lnTo>
                <a:lnTo>
                  <a:pt x="14857" y="174"/>
                </a:lnTo>
                <a:lnTo>
                  <a:pt x="16780" y="24"/>
                </a:lnTo>
                <a:lnTo>
                  <a:pt x="19054" y="96"/>
                </a:lnTo>
                <a:lnTo>
                  <a:pt x="22175" y="30"/>
                </a:lnTo>
                <a:lnTo>
                  <a:pt x="31824" y="132"/>
                </a:lnTo>
                <a:lnTo>
                  <a:pt x="41403" y="0"/>
                </a:lnTo>
                <a:lnTo>
                  <a:pt x="44689" y="153"/>
                </a:lnTo>
                <a:lnTo>
                  <a:pt x="46975" y="31"/>
                </a:lnTo>
                <a:lnTo>
                  <a:pt x="48672" y="214"/>
                </a:lnTo>
                <a:lnTo>
                  <a:pt x="50289" y="210"/>
                </a:lnTo>
                <a:lnTo>
                  <a:pt x="51481" y="299"/>
                </a:lnTo>
                <a:lnTo>
                  <a:pt x="52805" y="410"/>
                </a:lnTo>
                <a:lnTo>
                  <a:pt x="53765" y="459"/>
                </a:lnTo>
                <a:lnTo>
                  <a:pt x="54771" y="340"/>
                </a:lnTo>
                <a:lnTo>
                  <a:pt x="55864" y="487"/>
                </a:lnTo>
                <a:lnTo>
                  <a:pt x="56508" y="722"/>
                </a:lnTo>
                <a:lnTo>
                  <a:pt x="57407" y="620"/>
                </a:lnTo>
                <a:lnTo>
                  <a:pt x="57979" y="716"/>
                </a:lnTo>
                <a:lnTo>
                  <a:pt x="58776" y="969"/>
                </a:lnTo>
                <a:lnTo>
                  <a:pt x="59460" y="983"/>
                </a:lnTo>
                <a:lnTo>
                  <a:pt x="59970" y="1163"/>
                </a:lnTo>
                <a:lnTo>
                  <a:pt x="60470" y="1484"/>
                </a:lnTo>
                <a:lnTo>
                  <a:pt x="60774" y="1513"/>
                </a:lnTo>
                <a:lnTo>
                  <a:pt x="61257" y="1655"/>
                </a:lnTo>
                <a:lnTo>
                  <a:pt x="61622" y="2061"/>
                </a:lnTo>
                <a:lnTo>
                  <a:pt x="61998" y="2088"/>
                </a:lnTo>
                <a:lnTo>
                  <a:pt x="62232" y="2434"/>
                </a:lnTo>
                <a:lnTo>
                  <a:pt x="62710" y="2777"/>
                </a:lnTo>
                <a:lnTo>
                  <a:pt x="62819" y="3064"/>
                </a:lnTo>
                <a:lnTo>
                  <a:pt x="63027" y="3238"/>
                </a:lnTo>
                <a:lnTo>
                  <a:pt x="63099" y="3672"/>
                </a:lnTo>
                <a:lnTo>
                  <a:pt x="63269" y="4241"/>
                </a:lnTo>
                <a:lnTo>
                  <a:pt x="63292" y="4702"/>
                </a:lnTo>
                <a:lnTo>
                  <a:pt x="63382" y="5524"/>
                </a:lnTo>
                <a:lnTo>
                  <a:pt x="63426" y="7779"/>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8176108" y="5936376"/>
            <a:ext cx="5814761" cy="1441094"/>
          </a:xfrm>
          <a:custGeom>
            <a:avLst/>
            <a:gdLst/>
            <a:ahLst/>
            <a:cxnLst/>
            <a:rect l="l" t="t" r="r" b="b"/>
            <a:pathLst>
              <a:path w="63591" h="15760">
                <a:moveTo>
                  <a:pt x="63380" y="7978"/>
                </a:moveTo>
                <a:lnTo>
                  <a:pt x="63484" y="10272"/>
                </a:lnTo>
                <a:lnTo>
                  <a:pt x="63508" y="10957"/>
                </a:lnTo>
                <a:lnTo>
                  <a:pt x="63288" y="11591"/>
                </a:lnTo>
                <a:lnTo>
                  <a:pt x="63236" y="12013"/>
                </a:lnTo>
                <a:lnTo>
                  <a:pt x="63123" y="12512"/>
                </a:lnTo>
                <a:lnTo>
                  <a:pt x="62808" y="12643"/>
                </a:lnTo>
                <a:lnTo>
                  <a:pt x="62614" y="12953"/>
                </a:lnTo>
                <a:lnTo>
                  <a:pt x="62326" y="13306"/>
                </a:lnTo>
                <a:lnTo>
                  <a:pt x="62147" y="13625"/>
                </a:lnTo>
                <a:lnTo>
                  <a:pt x="61769" y="13827"/>
                </a:lnTo>
                <a:lnTo>
                  <a:pt x="61209" y="13967"/>
                </a:lnTo>
                <a:lnTo>
                  <a:pt x="60905" y="14214"/>
                </a:lnTo>
                <a:lnTo>
                  <a:pt x="60346" y="14377"/>
                </a:lnTo>
                <a:lnTo>
                  <a:pt x="60006" y="14486"/>
                </a:lnTo>
                <a:lnTo>
                  <a:pt x="59337" y="14554"/>
                </a:lnTo>
                <a:lnTo>
                  <a:pt x="58888" y="14803"/>
                </a:lnTo>
                <a:lnTo>
                  <a:pt x="58102" y="14793"/>
                </a:lnTo>
                <a:lnTo>
                  <a:pt x="57523" y="15118"/>
                </a:lnTo>
                <a:lnTo>
                  <a:pt x="56630" y="15061"/>
                </a:lnTo>
                <a:lnTo>
                  <a:pt x="55820" y="15176"/>
                </a:lnTo>
                <a:lnTo>
                  <a:pt x="54912" y="15268"/>
                </a:lnTo>
                <a:lnTo>
                  <a:pt x="53823" y="15460"/>
                </a:lnTo>
                <a:lnTo>
                  <a:pt x="52791" y="15429"/>
                </a:lnTo>
                <a:lnTo>
                  <a:pt x="51706" y="15450"/>
                </a:lnTo>
                <a:lnTo>
                  <a:pt x="50253" y="15527"/>
                </a:lnTo>
                <a:lnTo>
                  <a:pt x="48699" y="15541"/>
                </a:lnTo>
                <a:lnTo>
                  <a:pt x="46954" y="15535"/>
                </a:lnTo>
                <a:lnTo>
                  <a:pt x="44540" y="15569"/>
                </a:lnTo>
                <a:lnTo>
                  <a:pt x="41513" y="15630"/>
                </a:lnTo>
                <a:lnTo>
                  <a:pt x="31789" y="15760"/>
                </a:lnTo>
                <a:lnTo>
                  <a:pt x="22081" y="15746"/>
                </a:lnTo>
                <a:lnTo>
                  <a:pt x="18828" y="15549"/>
                </a:lnTo>
                <a:lnTo>
                  <a:pt x="16682" y="15554"/>
                </a:lnTo>
                <a:lnTo>
                  <a:pt x="15001" y="15692"/>
                </a:lnTo>
                <a:lnTo>
                  <a:pt x="13424" y="15564"/>
                </a:lnTo>
                <a:lnTo>
                  <a:pt x="11857" y="15545"/>
                </a:lnTo>
                <a:lnTo>
                  <a:pt x="10669" y="15504"/>
                </a:lnTo>
                <a:lnTo>
                  <a:pt x="9619" y="15290"/>
                </a:lnTo>
                <a:lnTo>
                  <a:pt x="8696" y="15297"/>
                </a:lnTo>
                <a:lnTo>
                  <a:pt x="7791" y="15164"/>
                </a:lnTo>
                <a:lnTo>
                  <a:pt x="7020" y="15062"/>
                </a:lnTo>
                <a:lnTo>
                  <a:pt x="6111" y="15085"/>
                </a:lnTo>
                <a:lnTo>
                  <a:pt x="5529" y="14856"/>
                </a:lnTo>
                <a:lnTo>
                  <a:pt x="4735" y="14775"/>
                </a:lnTo>
                <a:lnTo>
                  <a:pt x="4230" y="14719"/>
                </a:lnTo>
                <a:lnTo>
                  <a:pt x="3546" y="14515"/>
                </a:lnTo>
                <a:lnTo>
                  <a:pt x="3049" y="14287"/>
                </a:lnTo>
                <a:lnTo>
                  <a:pt x="2742" y="14145"/>
                </a:lnTo>
                <a:lnTo>
                  <a:pt x="2366" y="13979"/>
                </a:lnTo>
                <a:lnTo>
                  <a:pt x="1816" y="13808"/>
                </a:lnTo>
                <a:lnTo>
                  <a:pt x="1443" y="13666"/>
                </a:lnTo>
                <a:lnTo>
                  <a:pt x="1323" y="13249"/>
                </a:lnTo>
                <a:lnTo>
                  <a:pt x="841" y="12964"/>
                </a:lnTo>
                <a:lnTo>
                  <a:pt x="808" y="12647"/>
                </a:lnTo>
                <a:lnTo>
                  <a:pt x="643" y="12316"/>
                </a:lnTo>
                <a:lnTo>
                  <a:pt x="491" y="11942"/>
                </a:lnTo>
                <a:lnTo>
                  <a:pt x="198" y="11657"/>
                </a:lnTo>
                <a:lnTo>
                  <a:pt x="109" y="11093"/>
                </a:lnTo>
                <a:lnTo>
                  <a:pt x="130" y="10368"/>
                </a:lnTo>
                <a:lnTo>
                  <a:pt x="156" y="7993"/>
                </a:lnTo>
                <a:lnTo>
                  <a:pt x="0" y="5383"/>
                </a:lnTo>
                <a:lnTo>
                  <a:pt x="87" y="4775"/>
                </a:lnTo>
                <a:lnTo>
                  <a:pt x="192" y="4077"/>
                </a:lnTo>
                <a:lnTo>
                  <a:pt x="374" y="3830"/>
                </a:lnTo>
                <a:lnTo>
                  <a:pt x="664" y="3332"/>
                </a:lnTo>
                <a:lnTo>
                  <a:pt x="841" y="3066"/>
                </a:lnTo>
                <a:lnTo>
                  <a:pt x="890" y="2689"/>
                </a:lnTo>
                <a:lnTo>
                  <a:pt x="1203" y="2549"/>
                </a:lnTo>
                <a:lnTo>
                  <a:pt x="1582" y="2298"/>
                </a:lnTo>
                <a:lnTo>
                  <a:pt x="1913" y="1966"/>
                </a:lnTo>
                <a:lnTo>
                  <a:pt x="2323" y="1799"/>
                </a:lnTo>
                <a:lnTo>
                  <a:pt x="2736" y="1685"/>
                </a:lnTo>
                <a:lnTo>
                  <a:pt x="3191" y="1468"/>
                </a:lnTo>
                <a:lnTo>
                  <a:pt x="3730" y="1162"/>
                </a:lnTo>
                <a:lnTo>
                  <a:pt x="4310" y="1051"/>
                </a:lnTo>
                <a:lnTo>
                  <a:pt x="4845" y="882"/>
                </a:lnTo>
                <a:lnTo>
                  <a:pt x="5566" y="935"/>
                </a:lnTo>
                <a:lnTo>
                  <a:pt x="6104" y="785"/>
                </a:lnTo>
                <a:lnTo>
                  <a:pt x="7023" y="596"/>
                </a:lnTo>
                <a:lnTo>
                  <a:pt x="7676" y="449"/>
                </a:lnTo>
                <a:lnTo>
                  <a:pt x="8725" y="566"/>
                </a:lnTo>
                <a:lnTo>
                  <a:pt x="9806" y="333"/>
                </a:lnTo>
                <a:lnTo>
                  <a:pt x="10802" y="218"/>
                </a:lnTo>
                <a:lnTo>
                  <a:pt x="12050" y="233"/>
                </a:lnTo>
                <a:lnTo>
                  <a:pt x="13413" y="215"/>
                </a:lnTo>
                <a:lnTo>
                  <a:pt x="14861" y="67"/>
                </a:lnTo>
                <a:lnTo>
                  <a:pt x="16728" y="49"/>
                </a:lnTo>
                <a:lnTo>
                  <a:pt x="18926" y="17"/>
                </a:lnTo>
                <a:lnTo>
                  <a:pt x="22075" y="33"/>
                </a:lnTo>
                <a:lnTo>
                  <a:pt x="31887" y="139"/>
                </a:lnTo>
                <a:lnTo>
                  <a:pt x="41481" y="81"/>
                </a:lnTo>
                <a:lnTo>
                  <a:pt x="44650" y="0"/>
                </a:lnTo>
                <a:lnTo>
                  <a:pt x="46794" y="18"/>
                </a:lnTo>
                <a:lnTo>
                  <a:pt x="48583" y="202"/>
                </a:lnTo>
                <a:lnTo>
                  <a:pt x="50358" y="209"/>
                </a:lnTo>
                <a:lnTo>
                  <a:pt x="51669" y="339"/>
                </a:lnTo>
                <a:lnTo>
                  <a:pt x="52828" y="381"/>
                </a:lnTo>
                <a:lnTo>
                  <a:pt x="53988" y="288"/>
                </a:lnTo>
                <a:lnTo>
                  <a:pt x="54877" y="524"/>
                </a:lnTo>
                <a:lnTo>
                  <a:pt x="55782" y="560"/>
                </a:lnTo>
                <a:lnTo>
                  <a:pt x="56520" y="605"/>
                </a:lnTo>
                <a:lnTo>
                  <a:pt x="57521" y="789"/>
                </a:lnTo>
                <a:lnTo>
                  <a:pt x="58048" y="840"/>
                </a:lnTo>
                <a:lnTo>
                  <a:pt x="58797" y="925"/>
                </a:lnTo>
                <a:lnTo>
                  <a:pt x="59294" y="1052"/>
                </a:lnTo>
                <a:lnTo>
                  <a:pt x="59968" y="1166"/>
                </a:lnTo>
                <a:lnTo>
                  <a:pt x="60440" y="1436"/>
                </a:lnTo>
                <a:lnTo>
                  <a:pt x="60777" y="1667"/>
                </a:lnTo>
                <a:lnTo>
                  <a:pt x="61432" y="1820"/>
                </a:lnTo>
                <a:lnTo>
                  <a:pt x="61667" y="1964"/>
                </a:lnTo>
                <a:lnTo>
                  <a:pt x="62097" y="2143"/>
                </a:lnTo>
                <a:lnTo>
                  <a:pt x="62416" y="2364"/>
                </a:lnTo>
                <a:lnTo>
                  <a:pt x="62618" y="2811"/>
                </a:lnTo>
                <a:lnTo>
                  <a:pt x="62934" y="3056"/>
                </a:lnTo>
                <a:lnTo>
                  <a:pt x="63050" y="3278"/>
                </a:lnTo>
                <a:lnTo>
                  <a:pt x="63074" y="3716"/>
                </a:lnTo>
                <a:lnTo>
                  <a:pt x="63337" y="4166"/>
                </a:lnTo>
                <a:lnTo>
                  <a:pt x="63509" y="4761"/>
                </a:lnTo>
                <a:lnTo>
                  <a:pt x="63525" y="5369"/>
                </a:lnTo>
                <a:lnTo>
                  <a:pt x="63591" y="7768"/>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13876477" y="7036399"/>
            <a:ext cx="77358" cy="116860"/>
          </a:xfrm>
          <a:custGeom>
            <a:avLst/>
            <a:gdLst/>
            <a:ahLst/>
            <a:cxnLst/>
            <a:rect l="l" t="t" r="r" b="b"/>
            <a:pathLst>
              <a:path w="846" h="1278">
                <a:moveTo>
                  <a:pt x="846" y="0"/>
                </a:moveTo>
                <a:lnTo>
                  <a:pt x="689" y="380"/>
                </a:lnTo>
                <a:lnTo>
                  <a:pt x="495" y="713"/>
                </a:lnTo>
                <a:lnTo>
                  <a:pt x="266" y="1010"/>
                </a:lnTo>
                <a:lnTo>
                  <a:pt x="0" y="1278"/>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13004048" y="7319863"/>
            <a:ext cx="350215" cy="29078"/>
          </a:xfrm>
          <a:custGeom>
            <a:avLst/>
            <a:gdLst/>
            <a:ahLst/>
            <a:cxnLst/>
            <a:rect l="l" t="t" r="r" b="b"/>
            <a:pathLst>
              <a:path w="3830" h="318">
                <a:moveTo>
                  <a:pt x="3830" y="0"/>
                </a:moveTo>
                <a:lnTo>
                  <a:pt x="2995" y="94"/>
                </a:lnTo>
                <a:lnTo>
                  <a:pt x="2086" y="178"/>
                </a:lnTo>
                <a:lnTo>
                  <a:pt x="1092" y="253"/>
                </a:lnTo>
                <a:lnTo>
                  <a:pt x="0" y="318"/>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9061155" y="7342998"/>
            <a:ext cx="475854" cy="19020"/>
          </a:xfrm>
          <a:custGeom>
            <a:avLst/>
            <a:gdLst/>
            <a:ahLst/>
            <a:cxnLst/>
            <a:rect l="l" t="t" r="r" b="b"/>
            <a:pathLst>
              <a:path w="5204" h="208">
                <a:moveTo>
                  <a:pt x="5204" y="208"/>
                </a:moveTo>
                <a:lnTo>
                  <a:pt x="3657" y="169"/>
                </a:lnTo>
                <a:lnTo>
                  <a:pt x="2301" y="121"/>
                </a:lnTo>
                <a:lnTo>
                  <a:pt x="1092" y="65"/>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8264256" y="7128754"/>
            <a:ext cx="118323" cy="85954"/>
          </a:xfrm>
          <a:custGeom>
            <a:avLst/>
            <a:gdLst/>
            <a:ahLst/>
            <a:cxnLst/>
            <a:rect l="l" t="t" r="r" b="b"/>
            <a:pathLst>
              <a:path w="1294" h="940">
                <a:moveTo>
                  <a:pt x="1294" y="940"/>
                </a:moveTo>
                <a:lnTo>
                  <a:pt x="912" y="735"/>
                </a:lnTo>
                <a:lnTo>
                  <a:pt x="570" y="512"/>
                </a:lnTo>
                <a:lnTo>
                  <a:pt x="266" y="268"/>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8211221" y="6160404"/>
            <a:ext cx="77358" cy="116860"/>
          </a:xfrm>
          <a:custGeom>
            <a:avLst/>
            <a:gdLst/>
            <a:ahLst/>
            <a:cxnLst/>
            <a:rect l="l" t="t" r="r" b="b"/>
            <a:pathLst>
              <a:path w="846" h="1278">
                <a:moveTo>
                  <a:pt x="0" y="1278"/>
                </a:moveTo>
                <a:lnTo>
                  <a:pt x="157" y="898"/>
                </a:lnTo>
                <a:lnTo>
                  <a:pt x="351" y="565"/>
                </a:lnTo>
                <a:lnTo>
                  <a:pt x="580" y="268"/>
                </a:lnTo>
                <a:lnTo>
                  <a:pt x="846"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8810793" y="5964723"/>
            <a:ext cx="350215" cy="29078"/>
          </a:xfrm>
          <a:custGeom>
            <a:avLst/>
            <a:gdLst/>
            <a:ahLst/>
            <a:cxnLst/>
            <a:rect l="l" t="t" r="r" b="b"/>
            <a:pathLst>
              <a:path w="3830" h="318">
                <a:moveTo>
                  <a:pt x="0" y="318"/>
                </a:moveTo>
                <a:lnTo>
                  <a:pt x="835" y="224"/>
                </a:lnTo>
                <a:lnTo>
                  <a:pt x="1744" y="140"/>
                </a:lnTo>
                <a:lnTo>
                  <a:pt x="2738" y="65"/>
                </a:lnTo>
                <a:lnTo>
                  <a:pt x="383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12628047" y="5951647"/>
            <a:ext cx="475854" cy="19020"/>
          </a:xfrm>
          <a:custGeom>
            <a:avLst/>
            <a:gdLst/>
            <a:ahLst/>
            <a:cxnLst/>
            <a:rect l="l" t="t" r="r" b="b"/>
            <a:pathLst>
              <a:path w="5204" h="208">
                <a:moveTo>
                  <a:pt x="0" y="0"/>
                </a:moveTo>
                <a:lnTo>
                  <a:pt x="1547" y="39"/>
                </a:lnTo>
                <a:lnTo>
                  <a:pt x="2903" y="87"/>
                </a:lnTo>
                <a:lnTo>
                  <a:pt x="4112" y="143"/>
                </a:lnTo>
                <a:lnTo>
                  <a:pt x="5204" y="208"/>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13782477" y="6098957"/>
            <a:ext cx="118323" cy="85954"/>
          </a:xfrm>
          <a:custGeom>
            <a:avLst/>
            <a:gdLst/>
            <a:ahLst/>
            <a:cxnLst/>
            <a:rect l="l" t="t" r="r" b="b"/>
            <a:pathLst>
              <a:path w="1294" h="940">
                <a:moveTo>
                  <a:pt x="0" y="0"/>
                </a:moveTo>
                <a:lnTo>
                  <a:pt x="382" y="205"/>
                </a:lnTo>
                <a:lnTo>
                  <a:pt x="724" y="428"/>
                </a:lnTo>
                <a:lnTo>
                  <a:pt x="1028" y="672"/>
                </a:lnTo>
                <a:lnTo>
                  <a:pt x="1294" y="94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ody: AI agents are the newest tightly coupled system. The question is"/>
          <p:cNvSpPr txBox="1"/>
          <p:nvPr/>
        </p:nvSpPr>
        <p:spPr>
          <a:xfrm>
            <a:off x="8449056" y="6187059"/>
            <a:ext cx="5266944" cy="939546"/>
          </a:xfrm>
          <a:prstGeom prst="rect">
            <a:avLst/>
          </a:prstGeom>
          <a:noFill/>
        </p:spPr>
        <p:txBody>
          <a:bodyPr wrap="none" lIns="0" rIns="0" tIns="0" bIns="0" anchor="t">
            <a:noAutofit/>
          </a:bodyPr>
          <a:lstStyle/>
          <a:p>
            <a:pPr algn="ctr">
              <a:lnSpc>
                <a:spcPts val="2286"/>
              </a:lnSpc>
              <a:spcBef>
                <a:spcPts val="0"/>
              </a:spcBef>
              <a:spcAft>
                <a:spcPts val="0"/>
              </a:spcAft>
            </a:pPr>
            <a:r>
              <a:rPr sz="1800" b="0">
                <a:solidFill>
                  <a:srgbClr val="293E46"/>
                </a:solidFill>
                <a:latin typeface="Trebuchet MS"/>
              </a:rPr>
              <a:t>AI agents are the newest tightly coupled system.</a:t>
            </a:r>
            <a:br/>
            <a:r>
              <a:rPr sz="1800" b="0">
                <a:solidFill>
                  <a:srgbClr val="293E46"/>
                </a:solidFill>
                <a:latin typeface="Trebuchet MS"/>
              </a:rPr>
              <a:t>The question is not whether incidents happen. It</a:t>
            </a:r>
            <a:br/>
            <a:r>
              <a:rPr sz="1800" b="0">
                <a:solidFill>
                  <a:srgbClr val="293E46"/>
                </a:solidFill>
                <a:latin typeface="Trebuchet MS"/>
              </a:rPr>
              <a:t>is what we do with each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1 · MOTIVATIO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1 · MOTIVATION</a:t>
            </a:r>
          </a:p>
        </p:txBody>
      </p:sp>
      <p:sp>
        <p:nvSpPr>
          <p:cNvPr id="3" name="title: What other fields built from their incident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What other fields built from their incidents</a:t>
            </a:r>
          </a:p>
        </p:txBody>
      </p:sp>
      <p:sp>
        <p:nvSpPr>
          <p:cNvPr id="4" name="subtitle: Every mature high-risk field runs a learning loop"/>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Every mature high-risk field runs a learning loop</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4"/>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4</a:t>
            </a:r>
          </a:p>
        </p:txBody>
      </p:sp>
      <p:sp>
        <p:nvSpPr>
          <p:cNvPr id="12" name="Rounded Rectangle 11"/>
          <p:cNvSpPr/>
          <p:nvPr/>
        </p:nvSpPr>
        <p:spPr>
          <a:xfrm>
            <a:off x="640080" y="1783080"/>
            <a:ext cx="13350240" cy="537035"/>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 Domain"/>
          <p:cNvSpPr txBox="1"/>
          <p:nvPr/>
        </p:nvSpPr>
        <p:spPr>
          <a:xfrm>
            <a:off x="777240" y="1864082"/>
            <a:ext cx="1691994"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Domain</a:t>
            </a:r>
          </a:p>
        </p:txBody>
      </p:sp>
      <p:sp>
        <p:nvSpPr>
          <p:cNvPr id="14" name="body: Institution"/>
          <p:cNvSpPr txBox="1"/>
          <p:nvPr/>
        </p:nvSpPr>
        <p:spPr>
          <a:xfrm>
            <a:off x="2743554" y="1864082"/>
            <a:ext cx="5314152"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Institution</a:t>
            </a:r>
          </a:p>
        </p:txBody>
      </p:sp>
      <p:sp>
        <p:nvSpPr>
          <p:cNvPr id="15" name="body: What gets updated"/>
          <p:cNvSpPr txBox="1"/>
          <p:nvPr/>
        </p:nvSpPr>
        <p:spPr>
          <a:xfrm>
            <a:off x="8332026" y="1864082"/>
            <a:ext cx="5521133"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What gets updated</a:t>
            </a:r>
          </a:p>
        </p:txBody>
      </p:sp>
      <p:sp>
        <p:nvSpPr>
          <p:cNvPr id="16" name="Rounded Rectangle 15"/>
          <p:cNvSpPr/>
          <p:nvPr/>
        </p:nvSpPr>
        <p:spPr>
          <a:xfrm>
            <a:off x="640080" y="2379551"/>
            <a:ext cx="13350240" cy="559355"/>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 Aviation"/>
          <p:cNvSpPr txBox="1"/>
          <p:nvPr/>
        </p:nvSpPr>
        <p:spPr>
          <a:xfrm>
            <a:off x="777240" y="2469697"/>
            <a:ext cx="1691994" cy="379063"/>
          </a:xfrm>
          <a:prstGeom prst="rect">
            <a:avLst/>
          </a:prstGeom>
          <a:noFill/>
        </p:spPr>
        <p:txBody>
          <a:bodyPr wrap="none" lIns="0" rIns="0" tIns="0" bIns="0" anchor="t">
            <a:noAutofit/>
          </a:bodyPr>
          <a:lstStyle/>
          <a:p>
            <a:pPr algn="l">
              <a:lnSpc>
                <a:spcPts val="2444"/>
              </a:lnSpc>
              <a:spcBef>
                <a:spcPts val="0"/>
              </a:spcBef>
              <a:spcAft>
                <a:spcPts val="0"/>
              </a:spcAft>
            </a:pPr>
            <a:r>
              <a:rPr sz="1925" b="1">
                <a:solidFill>
                  <a:srgbClr val="4E7892"/>
                </a:solidFill>
                <a:latin typeface="Trebuchet MS"/>
              </a:rPr>
              <a:t>Aviation</a:t>
            </a:r>
          </a:p>
        </p:txBody>
      </p:sp>
      <p:sp>
        <p:nvSpPr>
          <p:cNvPr id="18" name="body: NTSB investigations; confidential ASRS reports"/>
          <p:cNvSpPr txBox="1"/>
          <p:nvPr/>
        </p:nvSpPr>
        <p:spPr>
          <a:xfrm>
            <a:off x="2743554" y="2469697"/>
            <a:ext cx="5314152" cy="379063"/>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NTSB investigations; confidential ASRS reports</a:t>
            </a:r>
          </a:p>
        </p:txBody>
      </p:sp>
      <p:sp>
        <p:nvSpPr>
          <p:cNvPr id="19" name="body: Procedures, checklists, training"/>
          <p:cNvSpPr txBox="1"/>
          <p:nvPr/>
        </p:nvSpPr>
        <p:spPr>
          <a:xfrm>
            <a:off x="8332026" y="2469697"/>
            <a:ext cx="5521133" cy="379063"/>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Procedures, checklists, training</a:t>
            </a:r>
          </a:p>
        </p:txBody>
      </p:sp>
      <p:sp>
        <p:nvSpPr>
          <p:cNvPr id="20" name="Rounded Rectangle 19"/>
          <p:cNvSpPr/>
          <p:nvPr/>
        </p:nvSpPr>
        <p:spPr>
          <a:xfrm>
            <a:off x="640080" y="2998343"/>
            <a:ext cx="13350240" cy="559355"/>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dy: Nuclear"/>
          <p:cNvSpPr txBox="1"/>
          <p:nvPr/>
        </p:nvSpPr>
        <p:spPr>
          <a:xfrm>
            <a:off x="777240" y="3088489"/>
            <a:ext cx="1691994" cy="379063"/>
          </a:xfrm>
          <a:prstGeom prst="rect">
            <a:avLst/>
          </a:prstGeom>
          <a:noFill/>
        </p:spPr>
        <p:txBody>
          <a:bodyPr wrap="none" lIns="0" rIns="0" tIns="0" bIns="0" anchor="t">
            <a:noAutofit/>
          </a:bodyPr>
          <a:lstStyle/>
          <a:p>
            <a:pPr algn="l">
              <a:lnSpc>
                <a:spcPts val="2444"/>
              </a:lnSpc>
              <a:spcBef>
                <a:spcPts val="0"/>
              </a:spcBef>
              <a:spcAft>
                <a:spcPts val="0"/>
              </a:spcAft>
            </a:pPr>
            <a:r>
              <a:rPr sz="1925" b="1">
                <a:solidFill>
                  <a:srgbClr val="4E7892"/>
                </a:solidFill>
                <a:latin typeface="Trebuchet MS"/>
              </a:rPr>
              <a:t>Nuclear</a:t>
            </a:r>
          </a:p>
        </p:txBody>
      </p:sp>
      <p:sp>
        <p:nvSpPr>
          <p:cNvPr id="22" name="body: INPO peer review after Three Mile Island"/>
          <p:cNvSpPr txBox="1"/>
          <p:nvPr/>
        </p:nvSpPr>
        <p:spPr>
          <a:xfrm>
            <a:off x="2743554" y="3088489"/>
            <a:ext cx="5314152" cy="379063"/>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INPO peer review after Three Mile Island</a:t>
            </a:r>
          </a:p>
        </p:txBody>
      </p:sp>
      <p:sp>
        <p:nvSpPr>
          <p:cNvPr id="23" name="body: Fleet-wide lessons and inspections"/>
          <p:cNvSpPr txBox="1"/>
          <p:nvPr/>
        </p:nvSpPr>
        <p:spPr>
          <a:xfrm>
            <a:off x="8332026" y="3088489"/>
            <a:ext cx="5521133" cy="379063"/>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Fleet-wide lessons and inspections</a:t>
            </a:r>
          </a:p>
        </p:txBody>
      </p:sp>
      <p:sp>
        <p:nvSpPr>
          <p:cNvPr id="24" name="Rounded Rectangle 23"/>
          <p:cNvSpPr/>
          <p:nvPr/>
        </p:nvSpPr>
        <p:spPr>
          <a:xfrm>
            <a:off x="640080" y="3617134"/>
            <a:ext cx="13350240" cy="869838"/>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Finance"/>
          <p:cNvSpPr txBox="1"/>
          <p:nvPr/>
        </p:nvSpPr>
        <p:spPr>
          <a:xfrm>
            <a:off x="777240" y="3862522"/>
            <a:ext cx="1691994" cy="379063"/>
          </a:xfrm>
          <a:prstGeom prst="rect">
            <a:avLst/>
          </a:prstGeom>
          <a:noFill/>
        </p:spPr>
        <p:txBody>
          <a:bodyPr wrap="none" lIns="0" rIns="0" tIns="0" bIns="0" anchor="t">
            <a:noAutofit/>
          </a:bodyPr>
          <a:lstStyle/>
          <a:p>
            <a:pPr algn="l">
              <a:lnSpc>
                <a:spcPts val="2444"/>
              </a:lnSpc>
              <a:spcBef>
                <a:spcPts val="0"/>
              </a:spcBef>
              <a:spcAft>
                <a:spcPts val="0"/>
              </a:spcAft>
            </a:pPr>
            <a:r>
              <a:rPr sz="1925" b="1">
                <a:solidFill>
                  <a:srgbClr val="4E7892"/>
                </a:solidFill>
                <a:latin typeface="Trebuchet MS"/>
              </a:rPr>
              <a:t>Finance</a:t>
            </a:r>
          </a:p>
        </p:txBody>
      </p:sp>
      <p:sp>
        <p:nvSpPr>
          <p:cNvPr id="26" name="body: Stress tests after 2008 (Dodd-Frank, Basel III)"/>
          <p:cNvSpPr txBox="1"/>
          <p:nvPr/>
        </p:nvSpPr>
        <p:spPr>
          <a:xfrm>
            <a:off x="2743554" y="3862522"/>
            <a:ext cx="5314152" cy="379063"/>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Stress tests after 2008 (Dodd-Frank, Basel III)</a:t>
            </a:r>
          </a:p>
        </p:txBody>
      </p:sp>
      <p:sp>
        <p:nvSpPr>
          <p:cNvPr id="27" name="body: Historical crises rerun against every bank, yearly"/>
          <p:cNvSpPr txBox="1"/>
          <p:nvPr/>
        </p:nvSpPr>
        <p:spPr>
          <a:xfrm>
            <a:off x="8332026" y="3707280"/>
            <a:ext cx="5521133" cy="689546"/>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Historical crises rerun against every bank,</a:t>
            </a:r>
            <a:br/>
            <a:r>
              <a:rPr sz="1925" b="0">
                <a:solidFill>
                  <a:srgbClr val="293E46"/>
                </a:solidFill>
                <a:latin typeface="Trebuchet MS"/>
              </a:rPr>
              <a:t>yearly</a:t>
            </a:r>
          </a:p>
        </p:txBody>
      </p:sp>
      <p:sp>
        <p:nvSpPr>
          <p:cNvPr id="28" name="Rounded Rectangle 27"/>
          <p:cNvSpPr/>
          <p:nvPr/>
        </p:nvSpPr>
        <p:spPr>
          <a:xfrm>
            <a:off x="640080" y="4546409"/>
            <a:ext cx="13350240" cy="869838"/>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Cybersecurity"/>
          <p:cNvSpPr txBox="1"/>
          <p:nvPr/>
        </p:nvSpPr>
        <p:spPr>
          <a:xfrm>
            <a:off x="777240" y="4791797"/>
            <a:ext cx="1691994" cy="379063"/>
          </a:xfrm>
          <a:prstGeom prst="rect">
            <a:avLst/>
          </a:prstGeom>
          <a:noFill/>
        </p:spPr>
        <p:txBody>
          <a:bodyPr wrap="none" lIns="0" rIns="0" tIns="0" bIns="0" anchor="t">
            <a:noAutofit/>
          </a:bodyPr>
          <a:lstStyle/>
          <a:p>
            <a:pPr algn="l">
              <a:lnSpc>
                <a:spcPts val="2444"/>
              </a:lnSpc>
              <a:spcBef>
                <a:spcPts val="0"/>
              </a:spcBef>
              <a:spcAft>
                <a:spcPts val="0"/>
              </a:spcAft>
            </a:pPr>
            <a:r>
              <a:rPr sz="1925" b="1">
                <a:solidFill>
                  <a:srgbClr val="4E7892"/>
                </a:solidFill>
                <a:latin typeface="Trebuchet MS"/>
              </a:rPr>
              <a:t>Cybersecurity</a:t>
            </a:r>
          </a:p>
        </p:txBody>
      </p:sp>
      <p:sp>
        <p:nvSpPr>
          <p:cNvPr id="30" name="body: CVE, NVD, MITRE ATT&amp;CK"/>
          <p:cNvSpPr txBox="1"/>
          <p:nvPr/>
        </p:nvSpPr>
        <p:spPr>
          <a:xfrm>
            <a:off x="2743554" y="4791797"/>
            <a:ext cx="5314152" cy="379063"/>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CVE, NVD, MITRE ATT&amp;CK</a:t>
            </a:r>
          </a:p>
        </p:txBody>
      </p:sp>
      <p:sp>
        <p:nvSpPr>
          <p:cNvPr id="31" name="body: Proof of concept, patch, detection rule, regression test"/>
          <p:cNvSpPr txBox="1"/>
          <p:nvPr/>
        </p:nvSpPr>
        <p:spPr>
          <a:xfrm>
            <a:off x="8332026" y="4636555"/>
            <a:ext cx="5521133" cy="689546"/>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Proof of concept, patch, detection rule,</a:t>
            </a:r>
            <a:br/>
            <a:r>
              <a:rPr sz="1925" b="0">
                <a:solidFill>
                  <a:srgbClr val="293E46"/>
                </a:solidFill>
                <a:latin typeface="Trebuchet MS"/>
              </a:rPr>
              <a:t>regression test</a:t>
            </a:r>
          </a:p>
        </p:txBody>
      </p:sp>
      <p:sp>
        <p:nvSpPr>
          <p:cNvPr id="32" name="Rounded Rectangle 31"/>
          <p:cNvSpPr/>
          <p:nvPr/>
        </p:nvSpPr>
        <p:spPr>
          <a:xfrm>
            <a:off x="640080" y="5475684"/>
            <a:ext cx="13350240" cy="559355"/>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ody: Software ops"/>
          <p:cNvSpPr txBox="1"/>
          <p:nvPr/>
        </p:nvSpPr>
        <p:spPr>
          <a:xfrm>
            <a:off x="777240" y="5565830"/>
            <a:ext cx="1691994" cy="379063"/>
          </a:xfrm>
          <a:prstGeom prst="rect">
            <a:avLst/>
          </a:prstGeom>
          <a:noFill/>
        </p:spPr>
        <p:txBody>
          <a:bodyPr wrap="none" lIns="0" rIns="0" tIns="0" bIns="0" anchor="t">
            <a:noAutofit/>
          </a:bodyPr>
          <a:lstStyle/>
          <a:p>
            <a:pPr algn="l">
              <a:lnSpc>
                <a:spcPts val="2444"/>
              </a:lnSpc>
              <a:spcBef>
                <a:spcPts val="0"/>
              </a:spcBef>
              <a:spcAft>
                <a:spcPts val="0"/>
              </a:spcAft>
            </a:pPr>
            <a:r>
              <a:rPr sz="1925" b="1">
                <a:solidFill>
                  <a:srgbClr val="4E7892"/>
                </a:solidFill>
                <a:latin typeface="Trebuchet MS"/>
              </a:rPr>
              <a:t>Software ops</a:t>
            </a:r>
          </a:p>
        </p:txBody>
      </p:sp>
      <p:sp>
        <p:nvSpPr>
          <p:cNvPr id="34" name="body: Blameless postmortems"/>
          <p:cNvSpPr txBox="1"/>
          <p:nvPr/>
        </p:nvSpPr>
        <p:spPr>
          <a:xfrm>
            <a:off x="2743554" y="5565830"/>
            <a:ext cx="5314152" cy="379063"/>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Blameless postmortems</a:t>
            </a:r>
          </a:p>
        </p:txBody>
      </p:sp>
      <p:sp>
        <p:nvSpPr>
          <p:cNvPr id="35" name="body: Alerts, runbooks, CI gates"/>
          <p:cNvSpPr txBox="1"/>
          <p:nvPr/>
        </p:nvSpPr>
        <p:spPr>
          <a:xfrm>
            <a:off x="8332026" y="5565830"/>
            <a:ext cx="5521133" cy="379063"/>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Alerts, runbooks, CI gates</a:t>
            </a:r>
          </a:p>
        </p:txBody>
      </p:sp>
      <p:sp>
        <p:nvSpPr>
          <p:cNvPr id="36" name="Rounded Rectangle 35"/>
          <p:cNvSpPr/>
          <p:nvPr/>
        </p:nvSpPr>
        <p:spPr>
          <a:xfrm>
            <a:off x="640080" y="6345936"/>
            <a:ext cx="13350240" cy="1088136"/>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643280" y="6353251"/>
            <a:ext cx="13337987" cy="1078443"/>
          </a:xfrm>
          <a:custGeom>
            <a:avLst/>
            <a:gdLst/>
            <a:ahLst/>
            <a:cxnLst/>
            <a:rect l="l" t="t" r="r" b="b"/>
            <a:pathLst>
              <a:path w="145866" h="11794">
                <a:moveTo>
                  <a:pt x="145735" y="5881"/>
                </a:moveTo>
                <a:lnTo>
                  <a:pt x="145764" y="7734"/>
                </a:lnTo>
                <a:lnTo>
                  <a:pt x="145664" y="8174"/>
                </a:lnTo>
                <a:lnTo>
                  <a:pt x="145450" y="8662"/>
                </a:lnTo>
                <a:lnTo>
                  <a:pt x="145229" y="8980"/>
                </a:lnTo>
                <a:lnTo>
                  <a:pt x="144847" y="9165"/>
                </a:lnTo>
                <a:lnTo>
                  <a:pt x="144473" y="9614"/>
                </a:lnTo>
                <a:lnTo>
                  <a:pt x="143769" y="9849"/>
                </a:lnTo>
                <a:lnTo>
                  <a:pt x="143154" y="9980"/>
                </a:lnTo>
                <a:lnTo>
                  <a:pt x="142566" y="10008"/>
                </a:lnTo>
                <a:lnTo>
                  <a:pt x="141883" y="10394"/>
                </a:lnTo>
                <a:lnTo>
                  <a:pt x="140916" y="10362"/>
                </a:lnTo>
                <a:lnTo>
                  <a:pt x="139885" y="10642"/>
                </a:lnTo>
                <a:lnTo>
                  <a:pt x="138940" y="10793"/>
                </a:lnTo>
                <a:lnTo>
                  <a:pt x="137562" y="10949"/>
                </a:lnTo>
                <a:lnTo>
                  <a:pt x="136518" y="11031"/>
                </a:lnTo>
                <a:lnTo>
                  <a:pt x="134965" y="11005"/>
                </a:lnTo>
                <a:lnTo>
                  <a:pt x="133445" y="11207"/>
                </a:lnTo>
                <a:lnTo>
                  <a:pt x="131952" y="11153"/>
                </a:lnTo>
                <a:lnTo>
                  <a:pt x="130201" y="11247"/>
                </a:lnTo>
                <a:lnTo>
                  <a:pt x="128285" y="11489"/>
                </a:lnTo>
                <a:lnTo>
                  <a:pt x="126077" y="11512"/>
                </a:lnTo>
                <a:lnTo>
                  <a:pt x="123840" y="11565"/>
                </a:lnTo>
                <a:lnTo>
                  <a:pt x="121370" y="11434"/>
                </a:lnTo>
                <a:lnTo>
                  <a:pt x="118536" y="11612"/>
                </a:lnTo>
                <a:lnTo>
                  <a:pt x="115523" y="11672"/>
                </a:lnTo>
                <a:lnTo>
                  <a:pt x="111974" y="11751"/>
                </a:lnTo>
                <a:lnTo>
                  <a:pt x="107637" y="11564"/>
                </a:lnTo>
                <a:lnTo>
                  <a:pt x="102548" y="11689"/>
                </a:lnTo>
                <a:lnTo>
                  <a:pt x="95473" y="11794"/>
                </a:lnTo>
                <a:lnTo>
                  <a:pt x="73066" y="11740"/>
                </a:lnTo>
                <a:lnTo>
                  <a:pt x="50544" y="11699"/>
                </a:lnTo>
                <a:lnTo>
                  <a:pt x="43465" y="11596"/>
                </a:lnTo>
                <a:lnTo>
                  <a:pt x="38392" y="11595"/>
                </a:lnTo>
                <a:lnTo>
                  <a:pt x="34030" y="11677"/>
                </a:lnTo>
                <a:lnTo>
                  <a:pt x="30644" y="11601"/>
                </a:lnTo>
                <a:lnTo>
                  <a:pt x="27497" y="11467"/>
                </a:lnTo>
                <a:lnTo>
                  <a:pt x="24569" y="11617"/>
                </a:lnTo>
                <a:lnTo>
                  <a:pt x="22087" y="11566"/>
                </a:lnTo>
                <a:lnTo>
                  <a:pt x="19729" y="11542"/>
                </a:lnTo>
                <a:lnTo>
                  <a:pt x="17800" y="11374"/>
                </a:lnTo>
                <a:lnTo>
                  <a:pt x="15789" y="11372"/>
                </a:lnTo>
                <a:lnTo>
                  <a:pt x="13925" y="11317"/>
                </a:lnTo>
                <a:lnTo>
                  <a:pt x="12326" y="11144"/>
                </a:lnTo>
                <a:lnTo>
                  <a:pt x="10957" y="10939"/>
                </a:lnTo>
                <a:lnTo>
                  <a:pt x="9641" y="10899"/>
                </a:lnTo>
                <a:lnTo>
                  <a:pt x="8318" y="10737"/>
                </a:lnTo>
                <a:lnTo>
                  <a:pt x="7010" y="10643"/>
                </a:lnTo>
                <a:lnTo>
                  <a:pt x="6043" y="10486"/>
                </a:lnTo>
                <a:lnTo>
                  <a:pt x="5024" y="10522"/>
                </a:lnTo>
                <a:lnTo>
                  <a:pt x="4047" y="10231"/>
                </a:lnTo>
                <a:lnTo>
                  <a:pt x="3327" y="10020"/>
                </a:lnTo>
                <a:lnTo>
                  <a:pt x="2668" y="10033"/>
                </a:lnTo>
                <a:lnTo>
                  <a:pt x="2109" y="9724"/>
                </a:lnTo>
                <a:lnTo>
                  <a:pt x="1509" y="9602"/>
                </a:lnTo>
                <a:lnTo>
                  <a:pt x="1150" y="9350"/>
                </a:lnTo>
                <a:lnTo>
                  <a:pt x="720" y="8870"/>
                </a:lnTo>
                <a:lnTo>
                  <a:pt x="524" y="8630"/>
                </a:lnTo>
                <a:lnTo>
                  <a:pt x="366" y="8224"/>
                </a:lnTo>
                <a:lnTo>
                  <a:pt x="157" y="7575"/>
                </a:lnTo>
                <a:lnTo>
                  <a:pt x="0" y="5770"/>
                </a:lnTo>
                <a:lnTo>
                  <a:pt x="146" y="4053"/>
                </a:lnTo>
                <a:lnTo>
                  <a:pt x="305" y="3473"/>
                </a:lnTo>
                <a:lnTo>
                  <a:pt x="478" y="3058"/>
                </a:lnTo>
                <a:lnTo>
                  <a:pt x="678" y="2659"/>
                </a:lnTo>
                <a:lnTo>
                  <a:pt x="1004" y="2489"/>
                </a:lnTo>
                <a:lnTo>
                  <a:pt x="1486" y="2268"/>
                </a:lnTo>
                <a:lnTo>
                  <a:pt x="2005" y="1965"/>
                </a:lnTo>
                <a:lnTo>
                  <a:pt x="2683" y="1742"/>
                </a:lnTo>
                <a:lnTo>
                  <a:pt x="3405" y="1511"/>
                </a:lnTo>
                <a:lnTo>
                  <a:pt x="4217" y="1353"/>
                </a:lnTo>
                <a:lnTo>
                  <a:pt x="5119" y="1336"/>
                </a:lnTo>
                <a:lnTo>
                  <a:pt x="6019" y="1229"/>
                </a:lnTo>
                <a:lnTo>
                  <a:pt x="7110" y="984"/>
                </a:lnTo>
                <a:lnTo>
                  <a:pt x="8140" y="906"/>
                </a:lnTo>
                <a:lnTo>
                  <a:pt x="9609" y="723"/>
                </a:lnTo>
                <a:lnTo>
                  <a:pt x="10832" y="587"/>
                </a:lnTo>
                <a:lnTo>
                  <a:pt x="12346" y="707"/>
                </a:lnTo>
                <a:lnTo>
                  <a:pt x="14081" y="537"/>
                </a:lnTo>
                <a:lnTo>
                  <a:pt x="15777" y="549"/>
                </a:lnTo>
                <a:lnTo>
                  <a:pt x="17760" y="269"/>
                </a:lnTo>
                <a:lnTo>
                  <a:pt x="19807" y="280"/>
                </a:lnTo>
                <a:lnTo>
                  <a:pt x="22177" y="231"/>
                </a:lnTo>
                <a:lnTo>
                  <a:pt x="24496" y="287"/>
                </a:lnTo>
                <a:lnTo>
                  <a:pt x="27433" y="234"/>
                </a:lnTo>
                <a:lnTo>
                  <a:pt x="30456" y="26"/>
                </a:lnTo>
                <a:lnTo>
                  <a:pt x="34096" y="145"/>
                </a:lnTo>
                <a:lnTo>
                  <a:pt x="38326" y="0"/>
                </a:lnTo>
                <a:lnTo>
                  <a:pt x="43530" y="18"/>
                </a:lnTo>
                <a:lnTo>
                  <a:pt x="50688" y="36"/>
                </a:lnTo>
                <a:lnTo>
                  <a:pt x="72984" y="32"/>
                </a:lnTo>
                <a:lnTo>
                  <a:pt x="95381" y="134"/>
                </a:lnTo>
                <a:lnTo>
                  <a:pt x="102540" y="148"/>
                </a:lnTo>
                <a:lnTo>
                  <a:pt x="107704" y="66"/>
                </a:lnTo>
                <a:lnTo>
                  <a:pt x="111978" y="143"/>
                </a:lnTo>
                <a:lnTo>
                  <a:pt x="115314" y="38"/>
                </a:lnTo>
                <a:lnTo>
                  <a:pt x="118404" y="173"/>
                </a:lnTo>
                <a:lnTo>
                  <a:pt x="121292" y="182"/>
                </a:lnTo>
                <a:lnTo>
                  <a:pt x="123731" y="229"/>
                </a:lnTo>
                <a:lnTo>
                  <a:pt x="126061" y="283"/>
                </a:lnTo>
                <a:lnTo>
                  <a:pt x="128216" y="437"/>
                </a:lnTo>
                <a:lnTo>
                  <a:pt x="130210" y="331"/>
                </a:lnTo>
                <a:lnTo>
                  <a:pt x="131897" y="514"/>
                </a:lnTo>
                <a:lnTo>
                  <a:pt x="133630" y="637"/>
                </a:lnTo>
                <a:lnTo>
                  <a:pt x="134932" y="743"/>
                </a:lnTo>
                <a:lnTo>
                  <a:pt x="136454" y="699"/>
                </a:lnTo>
                <a:lnTo>
                  <a:pt x="137738" y="951"/>
                </a:lnTo>
                <a:lnTo>
                  <a:pt x="138948" y="999"/>
                </a:lnTo>
                <a:lnTo>
                  <a:pt x="139928" y="1152"/>
                </a:lnTo>
                <a:lnTo>
                  <a:pt x="140764" y="1380"/>
                </a:lnTo>
                <a:lnTo>
                  <a:pt x="141824" y="1363"/>
                </a:lnTo>
                <a:lnTo>
                  <a:pt x="142627" y="1528"/>
                </a:lnTo>
                <a:lnTo>
                  <a:pt x="143220" y="1744"/>
                </a:lnTo>
                <a:lnTo>
                  <a:pt x="143906" y="1886"/>
                </a:lnTo>
                <a:lnTo>
                  <a:pt x="144269" y="2189"/>
                </a:lnTo>
                <a:lnTo>
                  <a:pt x="144904" y="2593"/>
                </a:lnTo>
                <a:lnTo>
                  <a:pt x="145194" y="2779"/>
                </a:lnTo>
                <a:lnTo>
                  <a:pt x="145494" y="2992"/>
                </a:lnTo>
                <a:lnTo>
                  <a:pt x="145590" y="3618"/>
                </a:lnTo>
                <a:lnTo>
                  <a:pt x="145866" y="4040"/>
                </a:lnTo>
                <a:lnTo>
                  <a:pt x="145719" y="5895"/>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640812" y="6348862"/>
            <a:ext cx="13347954" cy="1082010"/>
          </a:xfrm>
          <a:custGeom>
            <a:avLst/>
            <a:gdLst/>
            <a:ahLst/>
            <a:cxnLst/>
            <a:rect l="l" t="t" r="r" b="b"/>
            <a:pathLst>
              <a:path w="145975" h="11833">
                <a:moveTo>
                  <a:pt x="145975" y="5894"/>
                </a:moveTo>
                <a:lnTo>
                  <a:pt x="145855" y="7759"/>
                </a:lnTo>
                <a:lnTo>
                  <a:pt x="145806" y="8216"/>
                </a:lnTo>
                <a:lnTo>
                  <a:pt x="145595" y="8666"/>
                </a:lnTo>
                <a:lnTo>
                  <a:pt x="145268" y="9025"/>
                </a:lnTo>
                <a:lnTo>
                  <a:pt x="144981" y="9215"/>
                </a:lnTo>
                <a:lnTo>
                  <a:pt x="144494" y="9487"/>
                </a:lnTo>
                <a:lnTo>
                  <a:pt x="143854" y="9895"/>
                </a:lnTo>
                <a:lnTo>
                  <a:pt x="143272" y="10096"/>
                </a:lnTo>
                <a:lnTo>
                  <a:pt x="142701" y="10110"/>
                </a:lnTo>
                <a:lnTo>
                  <a:pt x="141685" y="10361"/>
                </a:lnTo>
                <a:lnTo>
                  <a:pt x="140943" y="10450"/>
                </a:lnTo>
                <a:lnTo>
                  <a:pt x="139819" y="10527"/>
                </a:lnTo>
                <a:lnTo>
                  <a:pt x="138785" y="10795"/>
                </a:lnTo>
                <a:lnTo>
                  <a:pt x="137758" y="10788"/>
                </a:lnTo>
                <a:lnTo>
                  <a:pt x="136490" y="10973"/>
                </a:lnTo>
                <a:lnTo>
                  <a:pt x="135111" y="11196"/>
                </a:lnTo>
                <a:lnTo>
                  <a:pt x="133428" y="11236"/>
                </a:lnTo>
                <a:lnTo>
                  <a:pt x="131792" y="11231"/>
                </a:lnTo>
                <a:lnTo>
                  <a:pt x="130058" y="11344"/>
                </a:lnTo>
                <a:lnTo>
                  <a:pt x="128306" y="11428"/>
                </a:lnTo>
                <a:lnTo>
                  <a:pt x="126070" y="11567"/>
                </a:lnTo>
                <a:lnTo>
                  <a:pt x="123781" y="11502"/>
                </a:lnTo>
                <a:lnTo>
                  <a:pt x="121457" y="11596"/>
                </a:lnTo>
                <a:lnTo>
                  <a:pt x="118665" y="11728"/>
                </a:lnTo>
                <a:lnTo>
                  <a:pt x="115533" y="11594"/>
                </a:lnTo>
                <a:lnTo>
                  <a:pt x="111850" y="11725"/>
                </a:lnTo>
                <a:lnTo>
                  <a:pt x="107629" y="11693"/>
                </a:lnTo>
                <a:lnTo>
                  <a:pt x="102436" y="11705"/>
                </a:lnTo>
                <a:lnTo>
                  <a:pt x="95284" y="11708"/>
                </a:lnTo>
                <a:lnTo>
                  <a:pt x="73011" y="11754"/>
                </a:lnTo>
                <a:lnTo>
                  <a:pt x="50559" y="11706"/>
                </a:lnTo>
                <a:lnTo>
                  <a:pt x="43341" y="11833"/>
                </a:lnTo>
                <a:lnTo>
                  <a:pt x="38371" y="11646"/>
                </a:lnTo>
                <a:lnTo>
                  <a:pt x="34112" y="11787"/>
                </a:lnTo>
                <a:lnTo>
                  <a:pt x="30636" y="11784"/>
                </a:lnTo>
                <a:lnTo>
                  <a:pt x="27489" y="11547"/>
                </a:lnTo>
                <a:lnTo>
                  <a:pt x="24667" y="11527"/>
                </a:lnTo>
                <a:lnTo>
                  <a:pt x="22029" y="11443"/>
                </a:lnTo>
                <a:lnTo>
                  <a:pt x="19795" y="11526"/>
                </a:lnTo>
                <a:lnTo>
                  <a:pt x="17823" y="11399"/>
                </a:lnTo>
                <a:lnTo>
                  <a:pt x="15776" y="11252"/>
                </a:lnTo>
                <a:lnTo>
                  <a:pt x="14115" y="11197"/>
                </a:lnTo>
                <a:lnTo>
                  <a:pt x="12423" y="11245"/>
                </a:lnTo>
                <a:lnTo>
                  <a:pt x="11004" y="11062"/>
                </a:lnTo>
                <a:lnTo>
                  <a:pt x="9642" y="11059"/>
                </a:lnTo>
                <a:lnTo>
                  <a:pt x="8279" y="10972"/>
                </a:lnTo>
                <a:lnTo>
                  <a:pt x="7216" y="10710"/>
                </a:lnTo>
                <a:lnTo>
                  <a:pt x="5982" y="10666"/>
                </a:lnTo>
                <a:lnTo>
                  <a:pt x="5174" y="10608"/>
                </a:lnTo>
                <a:lnTo>
                  <a:pt x="4282" y="10245"/>
                </a:lnTo>
                <a:lnTo>
                  <a:pt x="3511" y="10102"/>
                </a:lnTo>
                <a:lnTo>
                  <a:pt x="2644" y="9957"/>
                </a:lnTo>
                <a:lnTo>
                  <a:pt x="2033" y="9867"/>
                </a:lnTo>
                <a:lnTo>
                  <a:pt x="1442" y="9573"/>
                </a:lnTo>
                <a:lnTo>
                  <a:pt x="1052" y="9400"/>
                </a:lnTo>
                <a:lnTo>
                  <a:pt x="841" y="9144"/>
                </a:lnTo>
                <a:lnTo>
                  <a:pt x="423" y="8783"/>
                </a:lnTo>
                <a:lnTo>
                  <a:pt x="394" y="8306"/>
                </a:lnTo>
                <a:lnTo>
                  <a:pt x="218" y="7781"/>
                </a:lnTo>
                <a:lnTo>
                  <a:pt x="0" y="5927"/>
                </a:lnTo>
                <a:lnTo>
                  <a:pt x="204" y="4026"/>
                </a:lnTo>
                <a:lnTo>
                  <a:pt x="401" y="3593"/>
                </a:lnTo>
                <a:lnTo>
                  <a:pt x="453" y="3150"/>
                </a:lnTo>
                <a:lnTo>
                  <a:pt x="827" y="2701"/>
                </a:lnTo>
                <a:lnTo>
                  <a:pt x="1178" y="2532"/>
                </a:lnTo>
                <a:lnTo>
                  <a:pt x="1499" y="2350"/>
                </a:lnTo>
                <a:lnTo>
                  <a:pt x="1973" y="1952"/>
                </a:lnTo>
                <a:lnTo>
                  <a:pt x="2574" y="1947"/>
                </a:lnTo>
                <a:lnTo>
                  <a:pt x="3384" y="1776"/>
                </a:lnTo>
                <a:lnTo>
                  <a:pt x="4314" y="1536"/>
                </a:lnTo>
                <a:lnTo>
                  <a:pt x="4943" y="1419"/>
                </a:lnTo>
                <a:lnTo>
                  <a:pt x="6082" y="1129"/>
                </a:lnTo>
                <a:lnTo>
                  <a:pt x="6989" y="1013"/>
                </a:lnTo>
                <a:lnTo>
                  <a:pt x="8162" y="872"/>
                </a:lnTo>
                <a:lnTo>
                  <a:pt x="9572" y="878"/>
                </a:lnTo>
                <a:lnTo>
                  <a:pt x="10822" y="702"/>
                </a:lnTo>
                <a:lnTo>
                  <a:pt x="12406" y="765"/>
                </a:lnTo>
                <a:lnTo>
                  <a:pt x="14010" y="526"/>
                </a:lnTo>
                <a:lnTo>
                  <a:pt x="15852" y="408"/>
                </a:lnTo>
                <a:lnTo>
                  <a:pt x="17715" y="424"/>
                </a:lnTo>
                <a:lnTo>
                  <a:pt x="19843" y="248"/>
                </a:lnTo>
                <a:lnTo>
                  <a:pt x="22202" y="365"/>
                </a:lnTo>
                <a:lnTo>
                  <a:pt x="24776" y="258"/>
                </a:lnTo>
                <a:lnTo>
                  <a:pt x="27374" y="170"/>
                </a:lnTo>
                <a:lnTo>
                  <a:pt x="30672" y="152"/>
                </a:lnTo>
                <a:lnTo>
                  <a:pt x="33997" y="36"/>
                </a:lnTo>
                <a:lnTo>
                  <a:pt x="38308" y="208"/>
                </a:lnTo>
                <a:lnTo>
                  <a:pt x="43548" y="211"/>
                </a:lnTo>
                <a:lnTo>
                  <a:pt x="50487" y="10"/>
                </a:lnTo>
                <a:lnTo>
                  <a:pt x="72982" y="124"/>
                </a:lnTo>
                <a:lnTo>
                  <a:pt x="95341" y="25"/>
                </a:lnTo>
                <a:lnTo>
                  <a:pt x="102486" y="202"/>
                </a:lnTo>
                <a:lnTo>
                  <a:pt x="107738" y="0"/>
                </a:lnTo>
                <a:lnTo>
                  <a:pt x="111907" y="234"/>
                </a:lnTo>
                <a:lnTo>
                  <a:pt x="115387" y="101"/>
                </a:lnTo>
                <a:lnTo>
                  <a:pt x="118488" y="160"/>
                </a:lnTo>
                <a:lnTo>
                  <a:pt x="121301" y="194"/>
                </a:lnTo>
                <a:lnTo>
                  <a:pt x="123857" y="248"/>
                </a:lnTo>
                <a:lnTo>
                  <a:pt x="126067" y="274"/>
                </a:lnTo>
                <a:lnTo>
                  <a:pt x="128117" y="330"/>
                </a:lnTo>
                <a:lnTo>
                  <a:pt x="130243" y="385"/>
                </a:lnTo>
                <a:lnTo>
                  <a:pt x="131852" y="642"/>
                </a:lnTo>
                <a:lnTo>
                  <a:pt x="133529" y="634"/>
                </a:lnTo>
                <a:lnTo>
                  <a:pt x="135064" y="673"/>
                </a:lnTo>
                <a:lnTo>
                  <a:pt x="136488" y="898"/>
                </a:lnTo>
                <a:lnTo>
                  <a:pt x="137634" y="886"/>
                </a:lnTo>
                <a:lnTo>
                  <a:pt x="139004" y="1189"/>
                </a:lnTo>
                <a:lnTo>
                  <a:pt x="140018" y="1261"/>
                </a:lnTo>
                <a:lnTo>
                  <a:pt x="140842" y="1265"/>
                </a:lnTo>
                <a:lnTo>
                  <a:pt x="141705" y="1614"/>
                </a:lnTo>
                <a:lnTo>
                  <a:pt x="142671" y="1589"/>
                </a:lnTo>
                <a:lnTo>
                  <a:pt x="143408" y="1763"/>
                </a:lnTo>
                <a:lnTo>
                  <a:pt x="143837" y="2003"/>
                </a:lnTo>
                <a:lnTo>
                  <a:pt x="144532" y="2340"/>
                </a:lnTo>
                <a:lnTo>
                  <a:pt x="144866" y="2602"/>
                </a:lnTo>
                <a:lnTo>
                  <a:pt x="145123" y="2907"/>
                </a:lnTo>
                <a:lnTo>
                  <a:pt x="145571" y="3176"/>
                </a:lnTo>
                <a:lnTo>
                  <a:pt x="145700" y="3565"/>
                </a:lnTo>
                <a:lnTo>
                  <a:pt x="145855" y="4076"/>
                </a:lnTo>
                <a:lnTo>
                  <a:pt x="145822" y="5852"/>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13742609" y="7174382"/>
            <a:ext cx="178125" cy="87600"/>
          </a:xfrm>
          <a:custGeom>
            <a:avLst/>
            <a:gdLst/>
            <a:ahLst/>
            <a:cxnLst/>
            <a:rect l="l" t="t" r="r" b="b"/>
            <a:pathLst>
              <a:path w="1948" h="958">
                <a:moveTo>
                  <a:pt x="1948" y="0"/>
                </a:moveTo>
                <a:lnTo>
                  <a:pt x="1585" y="285"/>
                </a:lnTo>
                <a:lnTo>
                  <a:pt x="1141" y="535"/>
                </a:lnTo>
                <a:lnTo>
                  <a:pt x="613" y="757"/>
                </a:lnTo>
                <a:lnTo>
                  <a:pt x="0" y="958"/>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11735775" y="7386889"/>
            <a:ext cx="805678" cy="21763"/>
          </a:xfrm>
          <a:custGeom>
            <a:avLst/>
            <a:gdLst/>
            <a:ahLst/>
            <a:cxnLst/>
            <a:rect l="l" t="t" r="r" b="b"/>
            <a:pathLst>
              <a:path w="8811" h="238">
                <a:moveTo>
                  <a:pt x="8811" y="0"/>
                </a:moveTo>
                <a:lnTo>
                  <a:pt x="6889" y="70"/>
                </a:lnTo>
                <a:lnTo>
                  <a:pt x="4797" y="133"/>
                </a:lnTo>
                <a:lnTo>
                  <a:pt x="2511" y="189"/>
                </a:lnTo>
                <a:lnTo>
                  <a:pt x="0" y="238"/>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665019" y="7404171"/>
            <a:ext cx="1094720" cy="14265"/>
          </a:xfrm>
          <a:custGeom>
            <a:avLst/>
            <a:gdLst/>
            <a:ahLst/>
            <a:cxnLst/>
            <a:rect l="l" t="t" r="r" b="b"/>
            <a:pathLst>
              <a:path w="11972" h="156">
                <a:moveTo>
                  <a:pt x="11972" y="156"/>
                </a:moveTo>
                <a:lnTo>
                  <a:pt x="8412" y="127"/>
                </a:lnTo>
                <a:lnTo>
                  <a:pt x="5293" y="91"/>
                </a:lnTo>
                <a:lnTo>
                  <a:pt x="2511" y="49"/>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831738" y="7243602"/>
            <a:ext cx="272217" cy="64465"/>
          </a:xfrm>
          <a:custGeom>
            <a:avLst/>
            <a:gdLst/>
            <a:ahLst/>
            <a:cxnLst/>
            <a:rect l="l" t="t" r="r" b="b"/>
            <a:pathLst>
              <a:path w="2977" h="705">
                <a:moveTo>
                  <a:pt x="2977" y="705"/>
                </a:moveTo>
                <a:lnTo>
                  <a:pt x="2099" y="551"/>
                </a:lnTo>
                <a:lnTo>
                  <a:pt x="1312" y="384"/>
                </a:lnTo>
                <a:lnTo>
                  <a:pt x="613" y="201"/>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709666" y="6518026"/>
            <a:ext cx="178125" cy="87600"/>
          </a:xfrm>
          <a:custGeom>
            <a:avLst/>
            <a:gdLst/>
            <a:ahLst/>
            <a:cxnLst/>
            <a:rect l="l" t="t" r="r" b="b"/>
            <a:pathLst>
              <a:path w="1948" h="958">
                <a:moveTo>
                  <a:pt x="0" y="958"/>
                </a:moveTo>
                <a:lnTo>
                  <a:pt x="363" y="673"/>
                </a:lnTo>
                <a:lnTo>
                  <a:pt x="807" y="423"/>
                </a:lnTo>
                <a:lnTo>
                  <a:pt x="1335" y="201"/>
                </a:lnTo>
                <a:lnTo>
                  <a:pt x="1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2088947" y="6371356"/>
            <a:ext cx="805678" cy="21763"/>
          </a:xfrm>
          <a:custGeom>
            <a:avLst/>
            <a:gdLst/>
            <a:ahLst/>
            <a:cxnLst/>
            <a:rect l="l" t="t" r="r" b="b"/>
            <a:pathLst>
              <a:path w="8811" h="238">
                <a:moveTo>
                  <a:pt x="0" y="238"/>
                </a:moveTo>
                <a:lnTo>
                  <a:pt x="1922" y="168"/>
                </a:lnTo>
                <a:lnTo>
                  <a:pt x="4014" y="105"/>
                </a:lnTo>
                <a:lnTo>
                  <a:pt x="6300" y="49"/>
                </a:lnTo>
                <a:lnTo>
                  <a:pt x="8811"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10870662" y="6361572"/>
            <a:ext cx="1094720" cy="14265"/>
          </a:xfrm>
          <a:custGeom>
            <a:avLst/>
            <a:gdLst/>
            <a:ahLst/>
            <a:cxnLst/>
            <a:rect l="l" t="t" r="r" b="b"/>
            <a:pathLst>
              <a:path w="11972" h="156">
                <a:moveTo>
                  <a:pt x="0" y="0"/>
                </a:moveTo>
                <a:lnTo>
                  <a:pt x="3560" y="29"/>
                </a:lnTo>
                <a:lnTo>
                  <a:pt x="6679" y="65"/>
                </a:lnTo>
                <a:lnTo>
                  <a:pt x="9461" y="107"/>
                </a:lnTo>
                <a:lnTo>
                  <a:pt x="11972" y="156"/>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13526445" y="6471940"/>
            <a:ext cx="272217" cy="64465"/>
          </a:xfrm>
          <a:custGeom>
            <a:avLst/>
            <a:gdLst/>
            <a:ahLst/>
            <a:cxnLst/>
            <a:rect l="l" t="t" r="r" b="b"/>
            <a:pathLst>
              <a:path w="2977" h="705">
                <a:moveTo>
                  <a:pt x="0" y="0"/>
                </a:moveTo>
                <a:lnTo>
                  <a:pt x="878" y="154"/>
                </a:lnTo>
                <a:lnTo>
                  <a:pt x="1665" y="321"/>
                </a:lnTo>
                <a:lnTo>
                  <a:pt x="2364" y="504"/>
                </a:lnTo>
                <a:lnTo>
                  <a:pt x="2977" y="70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 The pattern: investigate → record → test → update → check agains"/>
          <p:cNvSpPr txBox="1"/>
          <p:nvPr/>
        </p:nvSpPr>
        <p:spPr>
          <a:xfrm>
            <a:off x="914400" y="6517005"/>
            <a:ext cx="12801600" cy="745998"/>
          </a:xfrm>
          <a:prstGeom prst="rect">
            <a:avLst/>
          </a:prstGeom>
          <a:noFill/>
        </p:spPr>
        <p:txBody>
          <a:bodyPr wrap="none" lIns="0" rIns="0" tIns="0" bIns="0" anchor="t">
            <a:noAutofit/>
          </a:bodyPr>
          <a:lstStyle/>
          <a:p>
            <a:pPr algn="ctr">
              <a:lnSpc>
                <a:spcPts val="2667"/>
              </a:lnSpc>
              <a:spcBef>
                <a:spcPts val="0"/>
              </a:spcBef>
              <a:spcAft>
                <a:spcPts val="0"/>
              </a:spcAft>
            </a:pPr>
            <a:r>
              <a:rPr sz="2100" b="0">
                <a:solidFill>
                  <a:srgbClr val="293E46"/>
                </a:solidFill>
                <a:latin typeface="Trebuchet MS"/>
              </a:rPr>
              <a:t>The pattern: investigate → record → test → update → check against the next event.</a:t>
            </a:r>
            <a:br/>
            <a:r>
              <a:rPr sz="2100" b="0">
                <a:solidFill>
                  <a:srgbClr val="293E46"/>
                </a:solidFill>
                <a:latin typeface="Trebuchet MS"/>
              </a:rPr>
              <a:t>None promised zero incidents. They promised no incident would be wasted.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1 · MOTIVATIO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1 · MOTIVATION</a:t>
            </a:r>
          </a:p>
        </p:txBody>
      </p:sp>
      <p:sp>
        <p:nvSpPr>
          <p:cNvPr id="3" name="title: Agent incidents on the record, 2024–2025"/>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Agent incidents on the record, 2024–2025</a:t>
            </a:r>
          </a:p>
        </p:txBody>
      </p:sp>
      <p:sp>
        <p:nvSpPr>
          <p:cNvPr id="4" name="subtitle: Documented by the developers themselves, by evaluators, or by se"/>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Documented by the developers themselves, by evaluators, or by security researchers</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rt: 1 / 3"/>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1 / 3</a:t>
            </a: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5"/>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5</a:t>
            </a:r>
          </a:p>
        </p:txBody>
      </p:sp>
      <p:sp>
        <p:nvSpPr>
          <p:cNvPr id="13" name="Rounded Rectangle 12"/>
          <p:cNvSpPr/>
          <p:nvPr/>
        </p:nvSpPr>
        <p:spPr>
          <a:xfrm>
            <a:off x="640080" y="1801368"/>
            <a:ext cx="13350240" cy="619262"/>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ody: When"/>
          <p:cNvSpPr txBox="1"/>
          <p:nvPr/>
        </p:nvSpPr>
        <p:spPr>
          <a:xfrm>
            <a:off x="777240" y="1927516"/>
            <a:ext cx="91440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When</a:t>
            </a:r>
          </a:p>
        </p:txBody>
      </p:sp>
      <p:sp>
        <p:nvSpPr>
          <p:cNvPr id="15" name="body: System"/>
          <p:cNvSpPr txBox="1"/>
          <p:nvPr/>
        </p:nvSpPr>
        <p:spPr>
          <a:xfrm>
            <a:off x="1965960" y="1927516"/>
            <a:ext cx="224028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System</a:t>
            </a:r>
          </a:p>
        </p:txBody>
      </p:sp>
      <p:sp>
        <p:nvSpPr>
          <p:cNvPr id="16" name="body: What happened"/>
          <p:cNvSpPr txBox="1"/>
          <p:nvPr/>
        </p:nvSpPr>
        <p:spPr>
          <a:xfrm>
            <a:off x="4480560" y="1927516"/>
            <a:ext cx="580644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What happened</a:t>
            </a:r>
          </a:p>
        </p:txBody>
      </p:sp>
      <p:sp>
        <p:nvSpPr>
          <p:cNvPr id="17" name="body: Documented by"/>
          <p:cNvSpPr txBox="1"/>
          <p:nvPr/>
        </p:nvSpPr>
        <p:spPr>
          <a:xfrm>
            <a:off x="10561320" y="1927516"/>
            <a:ext cx="329184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Documented by</a:t>
            </a:r>
          </a:p>
        </p:txBody>
      </p:sp>
      <p:sp>
        <p:nvSpPr>
          <p:cNvPr id="18" name="Rounded Rectangle 17"/>
          <p:cNvSpPr/>
          <p:nvPr/>
        </p:nvSpPr>
        <p:spPr>
          <a:xfrm>
            <a:off x="640080" y="2480066"/>
            <a:ext cx="13350240" cy="935937"/>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ody: Aug 2024"/>
          <p:cNvSpPr txBox="1"/>
          <p:nvPr/>
        </p:nvSpPr>
        <p:spPr>
          <a:xfrm>
            <a:off x="777240" y="2615358"/>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Aug</a:t>
            </a:r>
            <a:br/>
            <a:r>
              <a:rPr sz="1850" b="1">
                <a:solidFill>
                  <a:srgbClr val="4E7892"/>
                </a:solidFill>
                <a:latin typeface="Trebuchet MS"/>
              </a:rPr>
              <a:t>2024</a:t>
            </a:r>
          </a:p>
        </p:txBody>
      </p:sp>
      <p:sp>
        <p:nvSpPr>
          <p:cNvPr id="20" name="body: Sakana AI Scientist"/>
          <p:cNvSpPr txBox="1"/>
          <p:nvPr/>
        </p:nvSpPr>
        <p:spPr>
          <a:xfrm>
            <a:off x="1965960" y="2764551"/>
            <a:ext cx="224028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Sakana AI Scientist</a:t>
            </a:r>
          </a:p>
        </p:txBody>
      </p:sp>
      <p:sp>
        <p:nvSpPr>
          <p:cNvPr id="21" name="body: Edited its own run script to lift the timeout instead of fixing "/>
          <p:cNvSpPr txBox="1"/>
          <p:nvPr/>
        </p:nvSpPr>
        <p:spPr>
          <a:xfrm>
            <a:off x="4480560" y="2615358"/>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Edited its own run script to lift the timeout instead</a:t>
            </a:r>
            <a:br/>
            <a:r>
              <a:rPr sz="1850" b="0">
                <a:solidFill>
                  <a:srgbClr val="293E46"/>
                </a:solidFill>
                <a:latin typeface="Trebuchet MS"/>
              </a:rPr>
              <a:t>of fixing the code</a:t>
            </a:r>
          </a:p>
        </p:txBody>
      </p:sp>
      <p:sp>
        <p:nvSpPr>
          <p:cNvPr id="22" name="body: Sakana AI"/>
          <p:cNvSpPr txBox="1"/>
          <p:nvPr/>
        </p:nvSpPr>
        <p:spPr>
          <a:xfrm>
            <a:off x="10561320" y="2764551"/>
            <a:ext cx="329184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Sakana AI</a:t>
            </a:r>
          </a:p>
        </p:txBody>
      </p:sp>
      <p:sp>
        <p:nvSpPr>
          <p:cNvPr id="23" name="Rounded Rectangle 22"/>
          <p:cNvSpPr/>
          <p:nvPr/>
        </p:nvSpPr>
        <p:spPr>
          <a:xfrm>
            <a:off x="640080" y="3475439"/>
            <a:ext cx="13350240" cy="935937"/>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Dec 2024"/>
          <p:cNvSpPr txBox="1"/>
          <p:nvPr/>
        </p:nvSpPr>
        <p:spPr>
          <a:xfrm>
            <a:off x="777240" y="3610731"/>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Dec</a:t>
            </a:r>
            <a:br/>
            <a:r>
              <a:rPr sz="1850" b="1">
                <a:solidFill>
                  <a:srgbClr val="4E7892"/>
                </a:solidFill>
                <a:latin typeface="Trebuchet MS"/>
              </a:rPr>
              <a:t>2024</a:t>
            </a:r>
          </a:p>
        </p:txBody>
      </p:sp>
      <p:sp>
        <p:nvSpPr>
          <p:cNvPr id="25" name="body: OpenAI o1"/>
          <p:cNvSpPr txBox="1"/>
          <p:nvPr/>
        </p:nvSpPr>
        <p:spPr>
          <a:xfrm>
            <a:off x="1965960" y="3759924"/>
            <a:ext cx="224028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OpenAI o1</a:t>
            </a:r>
          </a:p>
        </p:txBody>
      </p:sp>
      <p:sp>
        <p:nvSpPr>
          <p:cNvPr id="26" name="body: In tests: tried to disable oversight (5%), manipulated data (19%"/>
          <p:cNvSpPr txBox="1"/>
          <p:nvPr/>
        </p:nvSpPr>
        <p:spPr>
          <a:xfrm>
            <a:off x="4480560" y="3610731"/>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In tests: tried to disable oversight (5%), manipulated</a:t>
            </a:r>
            <a:br/>
            <a:r>
              <a:rPr sz="1850" b="0">
                <a:solidFill>
                  <a:srgbClr val="293E46"/>
                </a:solidFill>
                <a:latin typeface="Trebuchet MS"/>
              </a:rPr>
              <a:t>data (19%), denied it afterwards</a:t>
            </a:r>
          </a:p>
        </p:txBody>
      </p:sp>
      <p:sp>
        <p:nvSpPr>
          <p:cNvPr id="27" name="body: Apollo Research, o1 system card"/>
          <p:cNvSpPr txBox="1"/>
          <p:nvPr/>
        </p:nvSpPr>
        <p:spPr>
          <a:xfrm>
            <a:off x="10561320" y="3610731"/>
            <a:ext cx="32918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Apollo Research, o1 system</a:t>
            </a:r>
            <a:br/>
            <a:r>
              <a:rPr sz="1850" b="0">
                <a:solidFill>
                  <a:srgbClr val="293E46"/>
                </a:solidFill>
                <a:latin typeface="Trebuchet MS"/>
              </a:rPr>
              <a:t>card</a:t>
            </a:r>
          </a:p>
        </p:txBody>
      </p:sp>
      <p:sp>
        <p:nvSpPr>
          <p:cNvPr id="28" name="Rounded Rectangle 27"/>
          <p:cNvSpPr/>
          <p:nvPr/>
        </p:nvSpPr>
        <p:spPr>
          <a:xfrm>
            <a:off x="640080" y="4470812"/>
            <a:ext cx="13350240" cy="935937"/>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Dec 2024"/>
          <p:cNvSpPr txBox="1"/>
          <p:nvPr/>
        </p:nvSpPr>
        <p:spPr>
          <a:xfrm>
            <a:off x="777240" y="4606104"/>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Dec</a:t>
            </a:r>
            <a:br/>
            <a:r>
              <a:rPr sz="1850" b="1">
                <a:solidFill>
                  <a:srgbClr val="4E7892"/>
                </a:solidFill>
                <a:latin typeface="Trebuchet MS"/>
              </a:rPr>
              <a:t>2024</a:t>
            </a:r>
          </a:p>
        </p:txBody>
      </p:sp>
      <p:sp>
        <p:nvSpPr>
          <p:cNvPr id="30" name="body: OpenAI o1-preview"/>
          <p:cNvSpPr txBox="1"/>
          <p:nvPr/>
        </p:nvSpPr>
        <p:spPr>
          <a:xfrm>
            <a:off x="1965960" y="4755298"/>
            <a:ext cx="224028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OpenAI o1-preview</a:t>
            </a:r>
          </a:p>
        </p:txBody>
      </p:sp>
      <p:sp>
        <p:nvSpPr>
          <p:cNvPr id="31" name="body: Edited the game state to beat Stockfish; 45 hack attempts in 122"/>
          <p:cNvSpPr txBox="1"/>
          <p:nvPr/>
        </p:nvSpPr>
        <p:spPr>
          <a:xfrm>
            <a:off x="4480560" y="4606104"/>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Edited the game state to beat Stockfish; 45 hack</a:t>
            </a:r>
            <a:br/>
            <a:r>
              <a:rPr sz="1850" b="0">
                <a:solidFill>
                  <a:srgbClr val="293E46"/>
                </a:solidFill>
                <a:latin typeface="Trebuchet MS"/>
              </a:rPr>
              <a:t>attempts in 122 games, unprompted</a:t>
            </a:r>
          </a:p>
        </p:txBody>
      </p:sp>
      <p:sp>
        <p:nvSpPr>
          <p:cNvPr id="32" name="body: Palisade Research"/>
          <p:cNvSpPr txBox="1"/>
          <p:nvPr/>
        </p:nvSpPr>
        <p:spPr>
          <a:xfrm>
            <a:off x="10561320" y="4755298"/>
            <a:ext cx="329184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Palisade Research</a:t>
            </a:r>
          </a:p>
        </p:txBody>
      </p:sp>
      <p:sp>
        <p:nvSpPr>
          <p:cNvPr id="33" name="Rounded Rectangle 32"/>
          <p:cNvSpPr/>
          <p:nvPr/>
        </p:nvSpPr>
        <p:spPr>
          <a:xfrm>
            <a:off x="640080" y="5466185"/>
            <a:ext cx="13350240" cy="935937"/>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ody: Mar 2025"/>
          <p:cNvSpPr txBox="1"/>
          <p:nvPr/>
        </p:nvSpPr>
        <p:spPr>
          <a:xfrm>
            <a:off x="777240" y="5601477"/>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Mar</a:t>
            </a:r>
            <a:br/>
            <a:r>
              <a:rPr sz="1850" b="1">
                <a:solidFill>
                  <a:srgbClr val="4E7892"/>
                </a:solidFill>
                <a:latin typeface="Trebuchet MS"/>
              </a:rPr>
              <a:t>2025</a:t>
            </a:r>
          </a:p>
        </p:txBody>
      </p:sp>
      <p:sp>
        <p:nvSpPr>
          <p:cNvPr id="35" name="body: OpenAI reasoning agent"/>
          <p:cNvSpPr txBox="1"/>
          <p:nvPr/>
        </p:nvSpPr>
        <p:spPr>
          <a:xfrm>
            <a:off x="1965960" y="5601477"/>
            <a:ext cx="224028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OpenAI reasoning</a:t>
            </a:r>
            <a:br/>
            <a:r>
              <a:rPr sz="1850" b="0">
                <a:solidFill>
                  <a:srgbClr val="293E46"/>
                </a:solidFill>
                <a:latin typeface="Trebuchet MS"/>
              </a:rPr>
              <a:t>agent</a:t>
            </a:r>
          </a:p>
        </p:txBody>
      </p:sp>
      <p:sp>
        <p:nvSpPr>
          <p:cNvPr id="36" name="body: Reward hacking in coding tasks; penalising it taught the model t"/>
          <p:cNvSpPr txBox="1"/>
          <p:nvPr/>
        </p:nvSpPr>
        <p:spPr>
          <a:xfrm>
            <a:off x="4480560" y="5601477"/>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Reward hacking in coding tasks; penalising it taught</a:t>
            </a:r>
            <a:br/>
            <a:r>
              <a:rPr sz="1850" b="0">
                <a:solidFill>
                  <a:srgbClr val="293E46"/>
                </a:solidFill>
                <a:latin typeface="Trebuchet MS"/>
              </a:rPr>
              <a:t>the model to hide intent</a:t>
            </a:r>
          </a:p>
        </p:txBody>
      </p:sp>
      <p:sp>
        <p:nvSpPr>
          <p:cNvPr id="37" name="body: OpenAI (Baker et al.)"/>
          <p:cNvSpPr txBox="1"/>
          <p:nvPr/>
        </p:nvSpPr>
        <p:spPr>
          <a:xfrm>
            <a:off x="10561320" y="5750671"/>
            <a:ext cx="329184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OpenAI (Baker et al.)</a:t>
            </a:r>
          </a:p>
        </p:txBody>
      </p:sp>
      <p:sp>
        <p:nvSpPr>
          <p:cNvPr id="38" name="Rounded Rectangle 37"/>
          <p:cNvSpPr/>
          <p:nvPr/>
        </p:nvSpPr>
        <p:spPr>
          <a:xfrm>
            <a:off x="640080" y="6461558"/>
            <a:ext cx="13350240" cy="935937"/>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ody: May 2025"/>
          <p:cNvSpPr txBox="1"/>
          <p:nvPr/>
        </p:nvSpPr>
        <p:spPr>
          <a:xfrm>
            <a:off x="777240" y="6596850"/>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May</a:t>
            </a:r>
            <a:br/>
            <a:r>
              <a:rPr sz="1850" b="1">
                <a:solidFill>
                  <a:srgbClr val="4E7892"/>
                </a:solidFill>
                <a:latin typeface="Trebuchet MS"/>
              </a:rPr>
              <a:t>2025</a:t>
            </a:r>
          </a:p>
        </p:txBody>
      </p:sp>
      <p:sp>
        <p:nvSpPr>
          <p:cNvPr id="40" name="body: OpenAI o3"/>
          <p:cNvSpPr txBox="1"/>
          <p:nvPr/>
        </p:nvSpPr>
        <p:spPr>
          <a:xfrm>
            <a:off x="1965960" y="6746044"/>
            <a:ext cx="224028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OpenAI o3</a:t>
            </a:r>
          </a:p>
        </p:txBody>
      </p:sp>
      <p:sp>
        <p:nvSpPr>
          <p:cNvPr id="41" name="body: Sabotaged its shutdown script in 7 of 100 runs despite being tol"/>
          <p:cNvSpPr txBox="1"/>
          <p:nvPr/>
        </p:nvSpPr>
        <p:spPr>
          <a:xfrm>
            <a:off x="4480560" y="6596850"/>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Sabotaged its shutdown script in 7 of 100 runs</a:t>
            </a:r>
            <a:br/>
            <a:r>
              <a:rPr sz="1850" b="0">
                <a:solidFill>
                  <a:srgbClr val="293E46"/>
                </a:solidFill>
                <a:latin typeface="Trebuchet MS"/>
              </a:rPr>
              <a:t>despite being told to allow shutdown</a:t>
            </a:r>
          </a:p>
        </p:txBody>
      </p:sp>
      <p:sp>
        <p:nvSpPr>
          <p:cNvPr id="42" name="body: Palisade Research"/>
          <p:cNvSpPr txBox="1"/>
          <p:nvPr/>
        </p:nvSpPr>
        <p:spPr>
          <a:xfrm>
            <a:off x="10561320" y="6746044"/>
            <a:ext cx="329184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Palisade Research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1 · MOTIVATIO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1 · MOTIVATION</a:t>
            </a:r>
          </a:p>
        </p:txBody>
      </p:sp>
      <p:sp>
        <p:nvSpPr>
          <p:cNvPr id="3" name="title: Agent incidents on the record, 2024–2025"/>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Agent incidents on the record, 2024–2025</a:t>
            </a:r>
          </a:p>
        </p:txBody>
      </p:sp>
      <p:sp>
        <p:nvSpPr>
          <p:cNvPr id="4" name="subtitle: Documented by the developers themselves, by evaluators, or by se"/>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Documented by the developers themselves, by evaluators, or by security researchers</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rt: 2 / 3"/>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2 / 3</a:t>
            </a: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6"/>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6</a:t>
            </a:r>
          </a:p>
        </p:txBody>
      </p:sp>
      <p:sp>
        <p:nvSpPr>
          <p:cNvPr id="13" name="Rounded Rectangle 12"/>
          <p:cNvSpPr/>
          <p:nvPr/>
        </p:nvSpPr>
        <p:spPr>
          <a:xfrm>
            <a:off x="640080" y="1801368"/>
            <a:ext cx="13350240" cy="818337"/>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peated-table-header: When"/>
          <p:cNvSpPr txBox="1"/>
          <p:nvPr/>
        </p:nvSpPr>
        <p:spPr>
          <a:xfrm>
            <a:off x="777240" y="2027053"/>
            <a:ext cx="91440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When</a:t>
            </a:r>
          </a:p>
        </p:txBody>
      </p:sp>
      <p:sp>
        <p:nvSpPr>
          <p:cNvPr id="15" name="repeated-table-header: System"/>
          <p:cNvSpPr txBox="1"/>
          <p:nvPr/>
        </p:nvSpPr>
        <p:spPr>
          <a:xfrm>
            <a:off x="1965960" y="2027053"/>
            <a:ext cx="224028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System</a:t>
            </a:r>
          </a:p>
        </p:txBody>
      </p:sp>
      <p:sp>
        <p:nvSpPr>
          <p:cNvPr id="16" name="repeated-table-header: What happened"/>
          <p:cNvSpPr txBox="1"/>
          <p:nvPr/>
        </p:nvSpPr>
        <p:spPr>
          <a:xfrm>
            <a:off x="4480560" y="2027053"/>
            <a:ext cx="580644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What happened</a:t>
            </a:r>
          </a:p>
        </p:txBody>
      </p:sp>
      <p:sp>
        <p:nvSpPr>
          <p:cNvPr id="17" name="repeated-table-header: Documented by"/>
          <p:cNvSpPr txBox="1"/>
          <p:nvPr/>
        </p:nvSpPr>
        <p:spPr>
          <a:xfrm>
            <a:off x="10561320" y="2027053"/>
            <a:ext cx="329184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Documented by</a:t>
            </a:r>
          </a:p>
        </p:txBody>
      </p:sp>
      <p:sp>
        <p:nvSpPr>
          <p:cNvPr id="18" name="Rounded Rectangle 17"/>
          <p:cNvSpPr/>
          <p:nvPr/>
        </p:nvSpPr>
        <p:spPr>
          <a:xfrm>
            <a:off x="640080" y="2679141"/>
            <a:ext cx="13350240" cy="1135011"/>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ody: May 2025"/>
          <p:cNvSpPr txBox="1"/>
          <p:nvPr/>
        </p:nvSpPr>
        <p:spPr>
          <a:xfrm>
            <a:off x="777240" y="2913970"/>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May</a:t>
            </a:r>
            <a:br/>
            <a:r>
              <a:rPr sz="1850" b="1">
                <a:solidFill>
                  <a:srgbClr val="4E7892"/>
                </a:solidFill>
                <a:latin typeface="Trebuchet MS"/>
              </a:rPr>
              <a:t>2025</a:t>
            </a:r>
          </a:p>
        </p:txBody>
      </p:sp>
      <p:sp>
        <p:nvSpPr>
          <p:cNvPr id="20" name="body: Claude Opus 4"/>
          <p:cNvSpPr txBox="1"/>
          <p:nvPr/>
        </p:nvSpPr>
        <p:spPr>
          <a:xfrm>
            <a:off x="1965960" y="3063163"/>
            <a:ext cx="224028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Claude Opus 4</a:t>
            </a:r>
          </a:p>
        </p:txBody>
      </p:sp>
      <p:sp>
        <p:nvSpPr>
          <p:cNvPr id="21" name="body: Blackmail in 84% of a constructed replacement scenario; later 16"/>
          <p:cNvSpPr txBox="1"/>
          <p:nvPr/>
        </p:nvSpPr>
        <p:spPr>
          <a:xfrm>
            <a:off x="4480560" y="2913970"/>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Blackmail in 84% of a constructed replacement</a:t>
            </a:r>
            <a:br/>
            <a:r>
              <a:rPr sz="1850" b="0">
                <a:solidFill>
                  <a:srgbClr val="293E46"/>
                </a:solidFill>
                <a:latin typeface="Trebuchet MS"/>
              </a:rPr>
              <a:t>scenario; later 16-model study</a:t>
            </a:r>
          </a:p>
        </p:txBody>
      </p:sp>
      <p:sp>
        <p:nvSpPr>
          <p:cNvPr id="22" name="body: Anthropic system card; Agentic Misalignment"/>
          <p:cNvSpPr txBox="1"/>
          <p:nvPr/>
        </p:nvSpPr>
        <p:spPr>
          <a:xfrm>
            <a:off x="10561320" y="2913970"/>
            <a:ext cx="32918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Anthropic system card;</a:t>
            </a:r>
            <a:br/>
            <a:r>
              <a:rPr sz="1850" b="0">
                <a:solidFill>
                  <a:srgbClr val="293E46"/>
                </a:solidFill>
                <a:latin typeface="Trebuchet MS"/>
              </a:rPr>
              <a:t>Agentic Misalignment</a:t>
            </a:r>
          </a:p>
        </p:txBody>
      </p:sp>
      <p:sp>
        <p:nvSpPr>
          <p:cNvPr id="23" name="Rounded Rectangle 22"/>
          <p:cNvSpPr/>
          <p:nvPr/>
        </p:nvSpPr>
        <p:spPr>
          <a:xfrm>
            <a:off x="640080" y="3873588"/>
            <a:ext cx="13350240" cy="1135011"/>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May 2025"/>
          <p:cNvSpPr txBox="1"/>
          <p:nvPr/>
        </p:nvSpPr>
        <p:spPr>
          <a:xfrm>
            <a:off x="777240" y="4108418"/>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May</a:t>
            </a:r>
            <a:br/>
            <a:r>
              <a:rPr sz="1850" b="1">
                <a:solidFill>
                  <a:srgbClr val="4E7892"/>
                </a:solidFill>
                <a:latin typeface="Trebuchet MS"/>
              </a:rPr>
              <a:t>2025</a:t>
            </a:r>
          </a:p>
        </p:txBody>
      </p:sp>
      <p:sp>
        <p:nvSpPr>
          <p:cNvPr id="25" name="body: GitHub MCP server"/>
          <p:cNvSpPr txBox="1"/>
          <p:nvPr/>
        </p:nvSpPr>
        <p:spPr>
          <a:xfrm>
            <a:off x="1965960" y="4257611"/>
            <a:ext cx="224028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GitHub MCP server</a:t>
            </a:r>
          </a:p>
        </p:txBody>
      </p:sp>
      <p:sp>
        <p:nvSpPr>
          <p:cNvPr id="26" name="body: Prompt injection in a public issue made the agent leak private r"/>
          <p:cNvSpPr txBox="1"/>
          <p:nvPr/>
        </p:nvSpPr>
        <p:spPr>
          <a:xfrm>
            <a:off x="4480560" y="4108418"/>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Prompt injection in a public issue made the agent</a:t>
            </a:r>
            <a:br/>
            <a:r>
              <a:rPr sz="1850" b="0">
                <a:solidFill>
                  <a:srgbClr val="293E46"/>
                </a:solidFill>
                <a:latin typeface="Trebuchet MS"/>
              </a:rPr>
              <a:t>leak private repositories</a:t>
            </a:r>
          </a:p>
        </p:txBody>
      </p:sp>
      <p:sp>
        <p:nvSpPr>
          <p:cNvPr id="27" name="body: Invariant Labs"/>
          <p:cNvSpPr txBox="1"/>
          <p:nvPr/>
        </p:nvSpPr>
        <p:spPr>
          <a:xfrm>
            <a:off x="10561320" y="4257611"/>
            <a:ext cx="329184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Invariant Labs</a:t>
            </a:r>
          </a:p>
        </p:txBody>
      </p:sp>
      <p:sp>
        <p:nvSpPr>
          <p:cNvPr id="28" name="Rounded Rectangle 27"/>
          <p:cNvSpPr/>
          <p:nvPr/>
        </p:nvSpPr>
        <p:spPr>
          <a:xfrm>
            <a:off x="640080" y="5068036"/>
            <a:ext cx="13350240" cy="1135011"/>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Jul 2025"/>
          <p:cNvSpPr txBox="1"/>
          <p:nvPr/>
        </p:nvSpPr>
        <p:spPr>
          <a:xfrm>
            <a:off x="777240" y="5302865"/>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Jul</a:t>
            </a:r>
            <a:br/>
            <a:r>
              <a:rPr sz="1850" b="1">
                <a:solidFill>
                  <a:srgbClr val="4E7892"/>
                </a:solidFill>
                <a:latin typeface="Trebuchet MS"/>
              </a:rPr>
              <a:t>2025</a:t>
            </a:r>
          </a:p>
        </p:txBody>
      </p:sp>
      <p:sp>
        <p:nvSpPr>
          <p:cNvPr id="30" name="body: Replit agent"/>
          <p:cNvSpPr txBox="1"/>
          <p:nvPr/>
        </p:nvSpPr>
        <p:spPr>
          <a:xfrm>
            <a:off x="1965960" y="5452059"/>
            <a:ext cx="224028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Replit agent</a:t>
            </a:r>
          </a:p>
        </p:txBody>
      </p:sp>
      <p:sp>
        <p:nvSpPr>
          <p:cNvPr id="31" name="body: Deleted a production database during a code freeze, then misrepo"/>
          <p:cNvSpPr txBox="1"/>
          <p:nvPr/>
        </p:nvSpPr>
        <p:spPr>
          <a:xfrm>
            <a:off x="4480560" y="5302865"/>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Deleted a production database during a code freeze,</a:t>
            </a:r>
            <a:br/>
            <a:r>
              <a:rPr sz="1850" b="0">
                <a:solidFill>
                  <a:srgbClr val="293E46"/>
                </a:solidFill>
                <a:latin typeface="Trebuchet MS"/>
              </a:rPr>
              <a:t>then misreported it</a:t>
            </a:r>
          </a:p>
        </p:txBody>
      </p:sp>
      <p:sp>
        <p:nvSpPr>
          <p:cNvPr id="32" name="body: SaaStr founder; Replit"/>
          <p:cNvSpPr txBox="1"/>
          <p:nvPr/>
        </p:nvSpPr>
        <p:spPr>
          <a:xfrm>
            <a:off x="10561320" y="5452059"/>
            <a:ext cx="329184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SaaStr founder; Replit</a:t>
            </a:r>
          </a:p>
        </p:txBody>
      </p:sp>
      <p:sp>
        <p:nvSpPr>
          <p:cNvPr id="33" name="Rounded Rectangle 32"/>
          <p:cNvSpPr/>
          <p:nvPr/>
        </p:nvSpPr>
        <p:spPr>
          <a:xfrm>
            <a:off x="640080" y="6262484"/>
            <a:ext cx="13350240" cy="1135011"/>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ody: Jul 2025"/>
          <p:cNvSpPr txBox="1"/>
          <p:nvPr/>
        </p:nvSpPr>
        <p:spPr>
          <a:xfrm>
            <a:off x="777240" y="6497313"/>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Jul</a:t>
            </a:r>
            <a:br/>
            <a:r>
              <a:rPr sz="1850" b="1">
                <a:solidFill>
                  <a:srgbClr val="4E7892"/>
                </a:solidFill>
                <a:latin typeface="Trebuchet MS"/>
              </a:rPr>
              <a:t>2025</a:t>
            </a:r>
          </a:p>
        </p:txBody>
      </p:sp>
      <p:sp>
        <p:nvSpPr>
          <p:cNvPr id="35" name="body: Amazon Q extension"/>
          <p:cNvSpPr txBox="1"/>
          <p:nvPr/>
        </p:nvSpPr>
        <p:spPr>
          <a:xfrm>
            <a:off x="1965960" y="6497313"/>
            <a:ext cx="224028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Amazon Q</a:t>
            </a:r>
            <a:br/>
            <a:r>
              <a:rPr sz="1850" b="0">
                <a:solidFill>
                  <a:srgbClr val="293E46"/>
                </a:solidFill>
                <a:latin typeface="Trebuchet MS"/>
              </a:rPr>
              <a:t>extension</a:t>
            </a:r>
          </a:p>
        </p:txBody>
      </p:sp>
      <p:sp>
        <p:nvSpPr>
          <p:cNvPr id="36" name="body: A malicious pull request shipped a wiper prompt in release 1.84."/>
          <p:cNvSpPr txBox="1"/>
          <p:nvPr/>
        </p:nvSpPr>
        <p:spPr>
          <a:xfrm>
            <a:off x="4480560" y="6497313"/>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A malicious pull request shipped a wiper prompt in</a:t>
            </a:r>
            <a:br/>
            <a:r>
              <a:rPr sz="1850" b="0">
                <a:solidFill>
                  <a:srgbClr val="293E46"/>
                </a:solidFill>
                <a:latin typeface="Trebuchet MS"/>
              </a:rPr>
              <a:t>release 1.84.0</a:t>
            </a:r>
          </a:p>
        </p:txBody>
      </p:sp>
      <p:sp>
        <p:nvSpPr>
          <p:cNvPr id="37" name="body: AWS; 404 Media"/>
          <p:cNvSpPr txBox="1"/>
          <p:nvPr/>
        </p:nvSpPr>
        <p:spPr>
          <a:xfrm>
            <a:off x="10561320" y="6646506"/>
            <a:ext cx="329184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AWS; 404 Media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1 · MOTIVATIO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1 · MOTIVATION</a:t>
            </a:r>
          </a:p>
        </p:txBody>
      </p:sp>
      <p:sp>
        <p:nvSpPr>
          <p:cNvPr id="3" name="title: Agent incidents on the record, 2024–2025"/>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Agent incidents on the record, 2024–2025</a:t>
            </a:r>
          </a:p>
        </p:txBody>
      </p:sp>
      <p:sp>
        <p:nvSpPr>
          <p:cNvPr id="4" name="subtitle: Documented by the developers themselves, by evaluators, or by se"/>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Documented by the developers themselves, by evaluators, or by security researchers</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rt: 3 / 3"/>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3 / 3</a:t>
            </a: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7"/>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7</a:t>
            </a:r>
          </a:p>
        </p:txBody>
      </p:sp>
      <p:sp>
        <p:nvSpPr>
          <p:cNvPr id="13" name="Rounded Rectangle 12"/>
          <p:cNvSpPr/>
          <p:nvPr/>
        </p:nvSpPr>
        <p:spPr>
          <a:xfrm>
            <a:off x="640080" y="1801368"/>
            <a:ext cx="13350240" cy="818337"/>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peated-table-header: When"/>
          <p:cNvSpPr txBox="1"/>
          <p:nvPr/>
        </p:nvSpPr>
        <p:spPr>
          <a:xfrm>
            <a:off x="777240" y="2027053"/>
            <a:ext cx="91440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When</a:t>
            </a:r>
          </a:p>
        </p:txBody>
      </p:sp>
      <p:sp>
        <p:nvSpPr>
          <p:cNvPr id="15" name="repeated-table-header: System"/>
          <p:cNvSpPr txBox="1"/>
          <p:nvPr/>
        </p:nvSpPr>
        <p:spPr>
          <a:xfrm>
            <a:off x="1965960" y="2027053"/>
            <a:ext cx="224028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System</a:t>
            </a:r>
          </a:p>
        </p:txBody>
      </p:sp>
      <p:sp>
        <p:nvSpPr>
          <p:cNvPr id="16" name="repeated-table-header: What happened"/>
          <p:cNvSpPr txBox="1"/>
          <p:nvPr/>
        </p:nvSpPr>
        <p:spPr>
          <a:xfrm>
            <a:off x="4480560" y="2027053"/>
            <a:ext cx="580644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What happened</a:t>
            </a:r>
          </a:p>
        </p:txBody>
      </p:sp>
      <p:sp>
        <p:nvSpPr>
          <p:cNvPr id="17" name="repeated-table-header: Documented by"/>
          <p:cNvSpPr txBox="1"/>
          <p:nvPr/>
        </p:nvSpPr>
        <p:spPr>
          <a:xfrm>
            <a:off x="10561320" y="2027053"/>
            <a:ext cx="329184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Documented by</a:t>
            </a:r>
          </a:p>
        </p:txBody>
      </p:sp>
      <p:sp>
        <p:nvSpPr>
          <p:cNvPr id="18" name="Rounded Rectangle 17"/>
          <p:cNvSpPr/>
          <p:nvPr/>
        </p:nvSpPr>
        <p:spPr>
          <a:xfrm>
            <a:off x="640080" y="2679141"/>
            <a:ext cx="13350240" cy="1135011"/>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ody: Jul 2025"/>
          <p:cNvSpPr txBox="1"/>
          <p:nvPr/>
        </p:nvSpPr>
        <p:spPr>
          <a:xfrm>
            <a:off x="777240" y="2913970"/>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Jul</a:t>
            </a:r>
            <a:br/>
            <a:r>
              <a:rPr sz="1850" b="1">
                <a:solidFill>
                  <a:srgbClr val="4E7892"/>
                </a:solidFill>
                <a:latin typeface="Trebuchet MS"/>
              </a:rPr>
              <a:t>2025</a:t>
            </a:r>
          </a:p>
        </p:txBody>
      </p:sp>
      <p:sp>
        <p:nvSpPr>
          <p:cNvPr id="20" name="body: Gemini CLI"/>
          <p:cNvSpPr txBox="1"/>
          <p:nvPr/>
        </p:nvSpPr>
        <p:spPr>
          <a:xfrm>
            <a:off x="1965960" y="3063163"/>
            <a:ext cx="224028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Gemini CLI</a:t>
            </a:r>
          </a:p>
        </p:txBody>
      </p:sp>
      <p:sp>
        <p:nvSpPr>
          <p:cNvPr id="21" name="body: Moved files into a directory that did not exist, destroying a us"/>
          <p:cNvSpPr txBox="1"/>
          <p:nvPr/>
        </p:nvSpPr>
        <p:spPr>
          <a:xfrm>
            <a:off x="4480560" y="2913970"/>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Moved files into a directory that did not exist,</a:t>
            </a:r>
            <a:br/>
            <a:r>
              <a:rPr sz="1850" b="0">
                <a:solidFill>
                  <a:srgbClr val="293E46"/>
                </a:solidFill>
                <a:latin typeface="Trebuchet MS"/>
              </a:rPr>
              <a:t>destroying a user's project</a:t>
            </a:r>
          </a:p>
        </p:txBody>
      </p:sp>
      <p:sp>
        <p:nvSpPr>
          <p:cNvPr id="22" name="body: AI Incident Database #1178"/>
          <p:cNvSpPr txBox="1"/>
          <p:nvPr/>
        </p:nvSpPr>
        <p:spPr>
          <a:xfrm>
            <a:off x="10561320" y="3063163"/>
            <a:ext cx="329184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AI Incident Database #1178</a:t>
            </a:r>
          </a:p>
        </p:txBody>
      </p:sp>
      <p:sp>
        <p:nvSpPr>
          <p:cNvPr id="23" name="Rounded Rectangle 22"/>
          <p:cNvSpPr/>
          <p:nvPr/>
        </p:nvSpPr>
        <p:spPr>
          <a:xfrm>
            <a:off x="640080" y="3873588"/>
            <a:ext cx="13350240" cy="1135011"/>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Aug 2025"/>
          <p:cNvSpPr txBox="1"/>
          <p:nvPr/>
        </p:nvSpPr>
        <p:spPr>
          <a:xfrm>
            <a:off x="777240" y="4108418"/>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Aug</a:t>
            </a:r>
            <a:br/>
            <a:r>
              <a:rPr sz="1850" b="1">
                <a:solidFill>
                  <a:srgbClr val="4E7892"/>
                </a:solidFill>
                <a:latin typeface="Trebuchet MS"/>
              </a:rPr>
              <a:t>2025</a:t>
            </a:r>
          </a:p>
        </p:txBody>
      </p:sp>
      <p:sp>
        <p:nvSpPr>
          <p:cNvPr id="25" name="body: Perplexity Comet"/>
          <p:cNvSpPr txBox="1"/>
          <p:nvPr/>
        </p:nvSpPr>
        <p:spPr>
          <a:xfrm>
            <a:off x="1965960" y="4257611"/>
            <a:ext cx="224028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Perplexity Comet</a:t>
            </a:r>
          </a:p>
        </p:txBody>
      </p:sp>
      <p:sp>
        <p:nvSpPr>
          <p:cNvPr id="26" name="body: Hidden text on a web page made the browser agent exfiltrate a on"/>
          <p:cNvSpPr txBox="1"/>
          <p:nvPr/>
        </p:nvSpPr>
        <p:spPr>
          <a:xfrm>
            <a:off x="4480560" y="4108418"/>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Hidden text on a web page made the browser agent</a:t>
            </a:r>
            <a:br/>
            <a:r>
              <a:rPr sz="1850" b="0">
                <a:solidFill>
                  <a:srgbClr val="293E46"/>
                </a:solidFill>
                <a:latin typeface="Trebuchet MS"/>
              </a:rPr>
              <a:t>exfiltrate a one-time password</a:t>
            </a:r>
          </a:p>
        </p:txBody>
      </p:sp>
      <p:sp>
        <p:nvSpPr>
          <p:cNvPr id="27" name="body: Brave"/>
          <p:cNvSpPr txBox="1"/>
          <p:nvPr/>
        </p:nvSpPr>
        <p:spPr>
          <a:xfrm>
            <a:off x="10561320" y="4257611"/>
            <a:ext cx="329184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Brave</a:t>
            </a:r>
          </a:p>
        </p:txBody>
      </p:sp>
      <p:sp>
        <p:nvSpPr>
          <p:cNvPr id="28" name="Rounded Rectangle 27"/>
          <p:cNvSpPr/>
          <p:nvPr/>
        </p:nvSpPr>
        <p:spPr>
          <a:xfrm>
            <a:off x="640080" y="5068036"/>
            <a:ext cx="13350240" cy="1135011"/>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Oct 2025"/>
          <p:cNvSpPr txBox="1"/>
          <p:nvPr/>
        </p:nvSpPr>
        <p:spPr>
          <a:xfrm>
            <a:off x="777240" y="5302865"/>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Oct</a:t>
            </a:r>
            <a:br/>
            <a:r>
              <a:rPr sz="1850" b="1">
                <a:solidFill>
                  <a:srgbClr val="4E7892"/>
                </a:solidFill>
                <a:latin typeface="Trebuchet MS"/>
              </a:rPr>
              <a:t>2025</a:t>
            </a:r>
          </a:p>
        </p:txBody>
      </p:sp>
      <p:sp>
        <p:nvSpPr>
          <p:cNvPr id="30" name="body: ChatGPT Atlas"/>
          <p:cNvSpPr txBox="1"/>
          <p:nvPr/>
        </p:nvSpPr>
        <p:spPr>
          <a:xfrm>
            <a:off x="1965960" y="5452059"/>
            <a:ext cx="224028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ChatGPT Atlas</a:t>
            </a:r>
          </a:p>
        </p:txBody>
      </p:sp>
      <p:sp>
        <p:nvSpPr>
          <p:cNvPr id="31" name="body: New prompt-injection class found by red teaming; OpenAI: may nev"/>
          <p:cNvSpPr txBox="1"/>
          <p:nvPr/>
        </p:nvSpPr>
        <p:spPr>
          <a:xfrm>
            <a:off x="4480560" y="5302865"/>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New prompt-injection class found by red teaming;</a:t>
            </a:r>
            <a:br/>
            <a:r>
              <a:rPr sz="1850" b="0">
                <a:solidFill>
                  <a:srgbClr val="293E46"/>
                </a:solidFill>
                <a:latin typeface="Trebuchet MS"/>
              </a:rPr>
              <a:t>OpenAI: may never be fully solved</a:t>
            </a:r>
          </a:p>
        </p:txBody>
      </p:sp>
      <p:sp>
        <p:nvSpPr>
          <p:cNvPr id="32" name="body: OpenAI"/>
          <p:cNvSpPr txBox="1"/>
          <p:nvPr/>
        </p:nvSpPr>
        <p:spPr>
          <a:xfrm>
            <a:off x="10561320" y="5452059"/>
            <a:ext cx="3291840"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OpenAI</a:t>
            </a:r>
          </a:p>
        </p:txBody>
      </p:sp>
      <p:sp>
        <p:nvSpPr>
          <p:cNvPr id="33" name="Rounded Rectangle 32"/>
          <p:cNvSpPr/>
          <p:nvPr/>
        </p:nvSpPr>
        <p:spPr>
          <a:xfrm>
            <a:off x="640080" y="6262484"/>
            <a:ext cx="13350240" cy="1135011"/>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ody: Nov 2025"/>
          <p:cNvSpPr txBox="1"/>
          <p:nvPr/>
        </p:nvSpPr>
        <p:spPr>
          <a:xfrm>
            <a:off x="777240" y="6497313"/>
            <a:ext cx="9144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Nov</a:t>
            </a:r>
            <a:br/>
            <a:r>
              <a:rPr sz="1850" b="1">
                <a:solidFill>
                  <a:srgbClr val="4E7892"/>
                </a:solidFill>
                <a:latin typeface="Trebuchet MS"/>
              </a:rPr>
              <a:t>2025</a:t>
            </a:r>
          </a:p>
        </p:txBody>
      </p:sp>
      <p:sp>
        <p:nvSpPr>
          <p:cNvPr id="35" name="body: Claude Code (GTG-1002)"/>
          <p:cNvSpPr txBox="1"/>
          <p:nvPr/>
        </p:nvSpPr>
        <p:spPr>
          <a:xfrm>
            <a:off x="1965960" y="6497313"/>
            <a:ext cx="224028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Claude Code</a:t>
            </a:r>
            <a:br/>
            <a:r>
              <a:rPr sz="1850" b="0">
                <a:solidFill>
                  <a:srgbClr val="293E46"/>
                </a:solidFill>
                <a:latin typeface="Trebuchet MS"/>
              </a:rPr>
              <a:t>(GTG-1002)</a:t>
            </a:r>
          </a:p>
        </p:txBody>
      </p:sp>
      <p:sp>
        <p:nvSpPr>
          <p:cNvPr id="36" name="body: State-linked operator ran an espionage campaign on ~30 targets, "/>
          <p:cNvSpPr txBox="1"/>
          <p:nvPr/>
        </p:nvSpPr>
        <p:spPr>
          <a:xfrm>
            <a:off x="4480560" y="6497313"/>
            <a:ext cx="58064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State-linked operator ran an espionage campaign on</a:t>
            </a:r>
            <a:br/>
            <a:r>
              <a:rPr sz="1850" b="0">
                <a:solidFill>
                  <a:srgbClr val="293E46"/>
                </a:solidFill>
                <a:latin typeface="Trebuchet MS"/>
              </a:rPr>
              <a:t>~30 targets, 80–90% autonomous</a:t>
            </a:r>
          </a:p>
        </p:txBody>
      </p:sp>
      <p:sp>
        <p:nvSpPr>
          <p:cNvPr id="37" name="body: Anthropic; AI Incident Database #1263"/>
          <p:cNvSpPr txBox="1"/>
          <p:nvPr/>
        </p:nvSpPr>
        <p:spPr>
          <a:xfrm>
            <a:off x="10561320" y="6497313"/>
            <a:ext cx="329184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Anthropic; AI Incident</a:t>
            </a:r>
            <a:br/>
            <a:r>
              <a:rPr sz="1850" b="0">
                <a:solidFill>
                  <a:srgbClr val="293E46"/>
                </a:solidFill>
                <a:latin typeface="Trebuchet MS"/>
              </a:rPr>
              <a:t>Database #1263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1 · MOTIVATIO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1 · MOTIVATION</a:t>
            </a:r>
          </a:p>
        </p:txBody>
      </p:sp>
      <p:sp>
        <p:nvSpPr>
          <p:cNvPr id="3" name="title: AI agents, 2025–2026: incidents arrive, institutions form"/>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AI agents, 2025–2026: incidents arrive, institutions form</a:t>
            </a:r>
          </a:p>
        </p:txBody>
      </p:sp>
      <p:sp>
        <p:nvSpPr>
          <p:cNvPr id="4" name="Freeform 3"/>
          <p:cNvSpPr/>
          <p:nvPr/>
        </p:nvSpPr>
        <p:spPr>
          <a:xfrm>
            <a:off x="6263640" y="1360261"/>
            <a:ext cx="2103120" cy="40142"/>
          </a:xfrm>
          <a:custGeom>
            <a:avLst/>
            <a:gdLst/>
            <a:ahLst/>
            <a:cxnLst/>
            <a:rect l="l" t="t" r="r" b="b"/>
            <a:pathLst>
              <a:path w="23000" h="439">
                <a:moveTo>
                  <a:pt x="0" y="289"/>
                </a:moveTo>
                <a:lnTo>
                  <a:pt x="958" y="317"/>
                </a:lnTo>
                <a:lnTo>
                  <a:pt x="1917" y="353"/>
                </a:lnTo>
                <a:lnTo>
                  <a:pt x="2875" y="358"/>
                </a:lnTo>
                <a:lnTo>
                  <a:pt x="3833" y="204"/>
                </a:lnTo>
                <a:lnTo>
                  <a:pt x="4792" y="14"/>
                </a:lnTo>
                <a:lnTo>
                  <a:pt x="5750" y="0"/>
                </a:lnTo>
                <a:lnTo>
                  <a:pt x="6708" y="137"/>
                </a:lnTo>
                <a:lnTo>
                  <a:pt x="7667" y="317"/>
                </a:lnTo>
                <a:lnTo>
                  <a:pt x="8625" y="315"/>
                </a:lnTo>
                <a:lnTo>
                  <a:pt x="9583" y="439"/>
                </a:lnTo>
                <a:lnTo>
                  <a:pt x="10542" y="350"/>
                </a:lnTo>
                <a:lnTo>
                  <a:pt x="11500" y="123"/>
                </a:lnTo>
                <a:lnTo>
                  <a:pt x="12458" y="151"/>
                </a:lnTo>
                <a:lnTo>
                  <a:pt x="13417" y="23"/>
                </a:lnTo>
                <a:lnTo>
                  <a:pt x="14375" y="184"/>
                </a:lnTo>
                <a:lnTo>
                  <a:pt x="15333" y="332"/>
                </a:lnTo>
                <a:lnTo>
                  <a:pt x="16292" y="329"/>
                </a:lnTo>
                <a:lnTo>
                  <a:pt x="17250" y="358"/>
                </a:lnTo>
                <a:lnTo>
                  <a:pt x="18208" y="355"/>
                </a:lnTo>
                <a:lnTo>
                  <a:pt x="19167" y="99"/>
                </a:lnTo>
                <a:lnTo>
                  <a:pt x="20125" y="112"/>
                </a:lnTo>
                <a:lnTo>
                  <a:pt x="21083" y="45"/>
                </a:lnTo>
                <a:lnTo>
                  <a:pt x="22042" y="206"/>
                </a:lnTo>
                <a:lnTo>
                  <a:pt x="23000" y="214"/>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6721"/>
            <a:ext cx="2103120" cy="40142"/>
          </a:xfrm>
          <a:custGeom>
            <a:avLst/>
            <a:gdLst/>
            <a:ahLst/>
            <a:cxnLst/>
            <a:rect l="l" t="t" r="r" b="b"/>
            <a:pathLst>
              <a:path w="23000" h="439">
                <a:moveTo>
                  <a:pt x="0" y="289"/>
                </a:moveTo>
                <a:lnTo>
                  <a:pt x="958" y="317"/>
                </a:lnTo>
                <a:lnTo>
                  <a:pt x="1917" y="353"/>
                </a:lnTo>
                <a:lnTo>
                  <a:pt x="2875" y="358"/>
                </a:lnTo>
                <a:lnTo>
                  <a:pt x="3833" y="204"/>
                </a:lnTo>
                <a:lnTo>
                  <a:pt x="4792" y="14"/>
                </a:lnTo>
                <a:lnTo>
                  <a:pt x="5750" y="0"/>
                </a:lnTo>
                <a:lnTo>
                  <a:pt x="6708" y="137"/>
                </a:lnTo>
                <a:lnTo>
                  <a:pt x="7667" y="317"/>
                </a:lnTo>
                <a:lnTo>
                  <a:pt x="8625" y="315"/>
                </a:lnTo>
                <a:lnTo>
                  <a:pt x="9583" y="439"/>
                </a:lnTo>
                <a:lnTo>
                  <a:pt x="10542" y="350"/>
                </a:lnTo>
                <a:lnTo>
                  <a:pt x="11500" y="123"/>
                </a:lnTo>
                <a:lnTo>
                  <a:pt x="12458" y="151"/>
                </a:lnTo>
                <a:lnTo>
                  <a:pt x="13417" y="23"/>
                </a:lnTo>
                <a:lnTo>
                  <a:pt x="14375" y="184"/>
                </a:lnTo>
                <a:lnTo>
                  <a:pt x="15333" y="332"/>
                </a:lnTo>
                <a:lnTo>
                  <a:pt x="16292" y="329"/>
                </a:lnTo>
                <a:lnTo>
                  <a:pt x="17250" y="358"/>
                </a:lnTo>
                <a:lnTo>
                  <a:pt x="18208" y="355"/>
                </a:lnTo>
                <a:lnTo>
                  <a:pt x="19167" y="99"/>
                </a:lnTo>
                <a:lnTo>
                  <a:pt x="20125" y="112"/>
                </a:lnTo>
                <a:lnTo>
                  <a:pt x="21083" y="45"/>
                </a:lnTo>
                <a:lnTo>
                  <a:pt x="22042" y="206"/>
                </a:lnTo>
                <a:lnTo>
                  <a:pt x="23000" y="214"/>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8"/>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8</a:t>
            </a:r>
          </a:p>
        </p:txBody>
      </p:sp>
      <p:sp>
        <p:nvSpPr>
          <p:cNvPr id="13" name="Rounded Rectangle 12"/>
          <p:cNvSpPr/>
          <p:nvPr/>
        </p:nvSpPr>
        <p:spPr>
          <a:xfrm>
            <a:off x="640080" y="1764792"/>
            <a:ext cx="6510528" cy="4160520"/>
          </a:xfrm>
          <a:prstGeom prst="roundRect">
            <a:avLst>
              <a:gd name="adj" fmla="val 18000"/>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50870" y="1775216"/>
            <a:ext cx="6498549" cy="4144518"/>
          </a:xfrm>
          <a:custGeom>
            <a:avLst/>
            <a:gdLst/>
            <a:ahLst/>
            <a:cxnLst/>
            <a:rect l="l" t="t" r="r" b="b"/>
            <a:pathLst>
              <a:path w="71069" h="45325">
                <a:moveTo>
                  <a:pt x="70968" y="22587"/>
                </a:moveTo>
                <a:lnTo>
                  <a:pt x="70925" y="29673"/>
                </a:lnTo>
                <a:lnTo>
                  <a:pt x="70947" y="31752"/>
                </a:lnTo>
                <a:lnTo>
                  <a:pt x="70781" y="33442"/>
                </a:lnTo>
                <a:lnTo>
                  <a:pt x="70558" y="34677"/>
                </a:lnTo>
                <a:lnTo>
                  <a:pt x="70602" y="35891"/>
                </a:lnTo>
                <a:lnTo>
                  <a:pt x="70372" y="36875"/>
                </a:lnTo>
                <a:lnTo>
                  <a:pt x="69999" y="37559"/>
                </a:lnTo>
                <a:lnTo>
                  <a:pt x="69659" y="38430"/>
                </a:lnTo>
                <a:lnTo>
                  <a:pt x="69271" y="39131"/>
                </a:lnTo>
                <a:lnTo>
                  <a:pt x="69097" y="39781"/>
                </a:lnTo>
                <a:lnTo>
                  <a:pt x="68622" y="40318"/>
                </a:lnTo>
                <a:lnTo>
                  <a:pt x="68205" y="41037"/>
                </a:lnTo>
                <a:lnTo>
                  <a:pt x="67641" y="41475"/>
                </a:lnTo>
                <a:lnTo>
                  <a:pt x="67095" y="41935"/>
                </a:lnTo>
                <a:lnTo>
                  <a:pt x="66249" y="42447"/>
                </a:lnTo>
                <a:lnTo>
                  <a:pt x="65611" y="42823"/>
                </a:lnTo>
                <a:lnTo>
                  <a:pt x="65050" y="42983"/>
                </a:lnTo>
                <a:lnTo>
                  <a:pt x="64119" y="43544"/>
                </a:lnTo>
                <a:lnTo>
                  <a:pt x="63427" y="43673"/>
                </a:lnTo>
                <a:lnTo>
                  <a:pt x="62325" y="43883"/>
                </a:lnTo>
                <a:lnTo>
                  <a:pt x="61382" y="44355"/>
                </a:lnTo>
                <a:lnTo>
                  <a:pt x="60113" y="44424"/>
                </a:lnTo>
                <a:lnTo>
                  <a:pt x="59046" y="44596"/>
                </a:lnTo>
                <a:lnTo>
                  <a:pt x="57573" y="44733"/>
                </a:lnTo>
                <a:lnTo>
                  <a:pt x="56125" y="44864"/>
                </a:lnTo>
                <a:lnTo>
                  <a:pt x="54372" y="45070"/>
                </a:lnTo>
                <a:lnTo>
                  <a:pt x="52360" y="45069"/>
                </a:lnTo>
                <a:lnTo>
                  <a:pt x="49978" y="45137"/>
                </a:lnTo>
                <a:lnTo>
                  <a:pt x="46432" y="45325"/>
                </a:lnTo>
                <a:lnTo>
                  <a:pt x="35429" y="45227"/>
                </a:lnTo>
                <a:lnTo>
                  <a:pt x="24608" y="45190"/>
                </a:lnTo>
                <a:lnTo>
                  <a:pt x="21116" y="45151"/>
                </a:lnTo>
                <a:lnTo>
                  <a:pt x="18554" y="45193"/>
                </a:lnTo>
                <a:lnTo>
                  <a:pt x="16440" y="45180"/>
                </a:lnTo>
                <a:lnTo>
                  <a:pt x="14928" y="45031"/>
                </a:lnTo>
                <a:lnTo>
                  <a:pt x="13191" y="44827"/>
                </a:lnTo>
                <a:lnTo>
                  <a:pt x="11945" y="44742"/>
                </a:lnTo>
                <a:lnTo>
                  <a:pt x="10674" y="44498"/>
                </a:lnTo>
                <a:lnTo>
                  <a:pt x="9512" y="44294"/>
                </a:lnTo>
                <a:lnTo>
                  <a:pt x="8520" y="44056"/>
                </a:lnTo>
                <a:lnTo>
                  <a:pt x="7532" y="43816"/>
                </a:lnTo>
                <a:lnTo>
                  <a:pt x="6699" y="43515"/>
                </a:lnTo>
                <a:lnTo>
                  <a:pt x="5982" y="43157"/>
                </a:lnTo>
                <a:lnTo>
                  <a:pt x="5186" y="42753"/>
                </a:lnTo>
                <a:lnTo>
                  <a:pt x="4553" y="42453"/>
                </a:lnTo>
                <a:lnTo>
                  <a:pt x="3897" y="41921"/>
                </a:lnTo>
                <a:lnTo>
                  <a:pt x="3533" y="41468"/>
                </a:lnTo>
                <a:lnTo>
                  <a:pt x="2961" y="40871"/>
                </a:lnTo>
                <a:lnTo>
                  <a:pt x="2496" y="40487"/>
                </a:lnTo>
                <a:lnTo>
                  <a:pt x="2037" y="39863"/>
                </a:lnTo>
                <a:lnTo>
                  <a:pt x="1645" y="39067"/>
                </a:lnTo>
                <a:lnTo>
                  <a:pt x="1189" y="38411"/>
                </a:lnTo>
                <a:lnTo>
                  <a:pt x="848" y="37695"/>
                </a:lnTo>
                <a:lnTo>
                  <a:pt x="823" y="36778"/>
                </a:lnTo>
                <a:lnTo>
                  <a:pt x="461" y="35924"/>
                </a:lnTo>
                <a:lnTo>
                  <a:pt x="349" y="34803"/>
                </a:lnTo>
                <a:lnTo>
                  <a:pt x="147" y="33445"/>
                </a:lnTo>
                <a:lnTo>
                  <a:pt x="0" y="31794"/>
                </a:lnTo>
                <a:lnTo>
                  <a:pt x="121" y="29482"/>
                </a:lnTo>
                <a:lnTo>
                  <a:pt x="100" y="22727"/>
                </a:lnTo>
                <a:lnTo>
                  <a:pt x="34" y="15732"/>
                </a:lnTo>
                <a:lnTo>
                  <a:pt x="55" y="13387"/>
                </a:lnTo>
                <a:lnTo>
                  <a:pt x="89" y="11937"/>
                </a:lnTo>
                <a:lnTo>
                  <a:pt x="394" y="10527"/>
                </a:lnTo>
                <a:lnTo>
                  <a:pt x="544" y="9401"/>
                </a:lnTo>
                <a:lnTo>
                  <a:pt x="795" y="8588"/>
                </a:lnTo>
                <a:lnTo>
                  <a:pt x="1051" y="7668"/>
                </a:lnTo>
                <a:lnTo>
                  <a:pt x="1180" y="6813"/>
                </a:lnTo>
                <a:lnTo>
                  <a:pt x="1617" y="6208"/>
                </a:lnTo>
                <a:lnTo>
                  <a:pt x="1886" y="5505"/>
                </a:lnTo>
                <a:lnTo>
                  <a:pt x="2445" y="4916"/>
                </a:lnTo>
                <a:lnTo>
                  <a:pt x="2807" y="4307"/>
                </a:lnTo>
                <a:lnTo>
                  <a:pt x="3442" y="3854"/>
                </a:lnTo>
                <a:lnTo>
                  <a:pt x="3849" y="3253"/>
                </a:lnTo>
                <a:lnTo>
                  <a:pt x="4533" y="2844"/>
                </a:lnTo>
                <a:lnTo>
                  <a:pt x="5174" y="2518"/>
                </a:lnTo>
                <a:lnTo>
                  <a:pt x="5888" y="2188"/>
                </a:lnTo>
                <a:lnTo>
                  <a:pt x="6676" y="1786"/>
                </a:lnTo>
                <a:lnTo>
                  <a:pt x="7676" y="1522"/>
                </a:lnTo>
                <a:lnTo>
                  <a:pt x="8546" y="1324"/>
                </a:lnTo>
                <a:lnTo>
                  <a:pt x="9611" y="948"/>
                </a:lnTo>
                <a:lnTo>
                  <a:pt x="10842" y="812"/>
                </a:lnTo>
                <a:lnTo>
                  <a:pt x="11942" y="623"/>
                </a:lnTo>
                <a:lnTo>
                  <a:pt x="13205" y="471"/>
                </a:lnTo>
                <a:lnTo>
                  <a:pt x="14894" y="303"/>
                </a:lnTo>
                <a:lnTo>
                  <a:pt x="16524" y="272"/>
                </a:lnTo>
                <a:lnTo>
                  <a:pt x="18646" y="119"/>
                </a:lnTo>
                <a:lnTo>
                  <a:pt x="21184" y="0"/>
                </a:lnTo>
                <a:lnTo>
                  <a:pt x="24649" y="49"/>
                </a:lnTo>
                <a:lnTo>
                  <a:pt x="35507" y="45"/>
                </a:lnTo>
                <a:lnTo>
                  <a:pt x="46443" y="53"/>
                </a:lnTo>
                <a:lnTo>
                  <a:pt x="49945" y="172"/>
                </a:lnTo>
                <a:lnTo>
                  <a:pt x="52282" y="41"/>
                </a:lnTo>
                <a:lnTo>
                  <a:pt x="54455" y="306"/>
                </a:lnTo>
                <a:lnTo>
                  <a:pt x="56157" y="287"/>
                </a:lnTo>
                <a:lnTo>
                  <a:pt x="57590" y="513"/>
                </a:lnTo>
                <a:lnTo>
                  <a:pt x="59102" y="636"/>
                </a:lnTo>
                <a:lnTo>
                  <a:pt x="60193" y="864"/>
                </a:lnTo>
                <a:lnTo>
                  <a:pt x="61314" y="974"/>
                </a:lnTo>
                <a:lnTo>
                  <a:pt x="62455" y="1291"/>
                </a:lnTo>
                <a:lnTo>
                  <a:pt x="63417" y="1482"/>
                </a:lnTo>
                <a:lnTo>
                  <a:pt x="64059" y="1743"/>
                </a:lnTo>
                <a:lnTo>
                  <a:pt x="65088" y="2192"/>
                </a:lnTo>
                <a:lnTo>
                  <a:pt x="65730" y="2577"/>
                </a:lnTo>
                <a:lnTo>
                  <a:pt x="66453" y="2825"/>
                </a:lnTo>
                <a:lnTo>
                  <a:pt x="66889" y="3458"/>
                </a:lnTo>
                <a:lnTo>
                  <a:pt x="67605" y="3799"/>
                </a:lnTo>
                <a:lnTo>
                  <a:pt x="68141" y="4257"/>
                </a:lnTo>
                <a:lnTo>
                  <a:pt x="68423" y="4954"/>
                </a:lnTo>
                <a:lnTo>
                  <a:pt x="69046" y="5436"/>
                </a:lnTo>
                <a:lnTo>
                  <a:pt x="69283" y="6223"/>
                </a:lnTo>
                <a:lnTo>
                  <a:pt x="69621" y="6732"/>
                </a:lnTo>
                <a:lnTo>
                  <a:pt x="69938" y="7513"/>
                </a:lnTo>
                <a:lnTo>
                  <a:pt x="70296" y="8574"/>
                </a:lnTo>
                <a:lnTo>
                  <a:pt x="70416" y="9553"/>
                </a:lnTo>
                <a:lnTo>
                  <a:pt x="70660" y="10532"/>
                </a:lnTo>
                <a:lnTo>
                  <a:pt x="70701" y="11904"/>
                </a:lnTo>
                <a:lnTo>
                  <a:pt x="70969" y="13347"/>
                </a:lnTo>
                <a:lnTo>
                  <a:pt x="71069" y="15604"/>
                </a:lnTo>
                <a:lnTo>
                  <a:pt x="70962" y="22634"/>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642915" y="1767627"/>
            <a:ext cx="6503579" cy="4155582"/>
          </a:xfrm>
          <a:custGeom>
            <a:avLst/>
            <a:gdLst/>
            <a:ahLst/>
            <a:cxnLst/>
            <a:rect l="l" t="t" r="r" b="b"/>
            <a:pathLst>
              <a:path w="71124" h="45446">
                <a:moveTo>
                  <a:pt x="70948" y="22663"/>
                </a:moveTo>
                <a:lnTo>
                  <a:pt x="70922" y="29555"/>
                </a:lnTo>
                <a:lnTo>
                  <a:pt x="70944" y="31832"/>
                </a:lnTo>
                <a:lnTo>
                  <a:pt x="70846" y="33380"/>
                </a:lnTo>
                <a:lnTo>
                  <a:pt x="70773" y="34815"/>
                </a:lnTo>
                <a:lnTo>
                  <a:pt x="70611" y="35837"/>
                </a:lnTo>
                <a:lnTo>
                  <a:pt x="70215" y="36881"/>
                </a:lnTo>
                <a:lnTo>
                  <a:pt x="70176" y="37814"/>
                </a:lnTo>
                <a:lnTo>
                  <a:pt x="69710" y="38448"/>
                </a:lnTo>
                <a:lnTo>
                  <a:pt x="69479" y="39305"/>
                </a:lnTo>
                <a:lnTo>
                  <a:pt x="68961" y="39777"/>
                </a:lnTo>
                <a:lnTo>
                  <a:pt x="68694" y="40362"/>
                </a:lnTo>
                <a:lnTo>
                  <a:pt x="68053" y="40939"/>
                </a:lnTo>
                <a:lnTo>
                  <a:pt x="67746" y="41417"/>
                </a:lnTo>
                <a:lnTo>
                  <a:pt x="67086" y="42019"/>
                </a:lnTo>
                <a:lnTo>
                  <a:pt x="66411" y="42313"/>
                </a:lnTo>
                <a:lnTo>
                  <a:pt x="65855" y="42932"/>
                </a:lnTo>
                <a:lnTo>
                  <a:pt x="65026" y="43118"/>
                </a:lnTo>
                <a:lnTo>
                  <a:pt x="64295" y="43457"/>
                </a:lnTo>
                <a:lnTo>
                  <a:pt x="63448" y="43923"/>
                </a:lnTo>
                <a:lnTo>
                  <a:pt x="62470" y="44014"/>
                </a:lnTo>
                <a:lnTo>
                  <a:pt x="61541" y="44410"/>
                </a:lnTo>
                <a:lnTo>
                  <a:pt x="60360" y="44508"/>
                </a:lnTo>
                <a:lnTo>
                  <a:pt x="58976" y="44686"/>
                </a:lnTo>
                <a:lnTo>
                  <a:pt x="57817" y="44834"/>
                </a:lnTo>
                <a:lnTo>
                  <a:pt x="56360" y="45134"/>
                </a:lnTo>
                <a:lnTo>
                  <a:pt x="54539" y="45200"/>
                </a:lnTo>
                <a:lnTo>
                  <a:pt x="52560" y="45352"/>
                </a:lnTo>
                <a:lnTo>
                  <a:pt x="49960" y="45338"/>
                </a:lnTo>
                <a:lnTo>
                  <a:pt x="46376" y="45446"/>
                </a:lnTo>
                <a:lnTo>
                  <a:pt x="35523" y="45369"/>
                </a:lnTo>
                <a:lnTo>
                  <a:pt x="24628" y="45294"/>
                </a:lnTo>
                <a:lnTo>
                  <a:pt x="21100" y="45412"/>
                </a:lnTo>
                <a:lnTo>
                  <a:pt x="18733" y="45350"/>
                </a:lnTo>
                <a:lnTo>
                  <a:pt x="16573" y="45058"/>
                </a:lnTo>
                <a:lnTo>
                  <a:pt x="14990" y="45030"/>
                </a:lnTo>
                <a:lnTo>
                  <a:pt x="13364" y="44795"/>
                </a:lnTo>
                <a:lnTo>
                  <a:pt x="12007" y="44841"/>
                </a:lnTo>
                <a:lnTo>
                  <a:pt x="10851" y="44500"/>
                </a:lnTo>
                <a:lnTo>
                  <a:pt x="9660" y="44439"/>
                </a:lnTo>
                <a:lnTo>
                  <a:pt x="8703" y="44182"/>
                </a:lnTo>
                <a:lnTo>
                  <a:pt x="7859" y="43920"/>
                </a:lnTo>
                <a:lnTo>
                  <a:pt x="6997" y="43423"/>
                </a:lnTo>
                <a:lnTo>
                  <a:pt x="6178" y="43221"/>
                </a:lnTo>
                <a:lnTo>
                  <a:pt x="5471" y="42919"/>
                </a:lnTo>
                <a:lnTo>
                  <a:pt x="4795" y="42372"/>
                </a:lnTo>
                <a:lnTo>
                  <a:pt x="3972" y="42018"/>
                </a:lnTo>
                <a:lnTo>
                  <a:pt x="3519" y="41637"/>
                </a:lnTo>
                <a:lnTo>
                  <a:pt x="2867" y="40985"/>
                </a:lnTo>
                <a:lnTo>
                  <a:pt x="2615" y="40513"/>
                </a:lnTo>
                <a:lnTo>
                  <a:pt x="2108" y="39962"/>
                </a:lnTo>
                <a:lnTo>
                  <a:pt x="1575" y="39273"/>
                </a:lnTo>
                <a:lnTo>
                  <a:pt x="1226" y="38549"/>
                </a:lnTo>
                <a:lnTo>
                  <a:pt x="980" y="37769"/>
                </a:lnTo>
                <a:lnTo>
                  <a:pt x="913" y="36947"/>
                </a:lnTo>
                <a:lnTo>
                  <a:pt x="507" y="35843"/>
                </a:lnTo>
                <a:lnTo>
                  <a:pt x="351" y="34829"/>
                </a:lnTo>
                <a:lnTo>
                  <a:pt x="372" y="33378"/>
                </a:lnTo>
                <a:lnTo>
                  <a:pt x="64" y="31835"/>
                </a:lnTo>
                <a:lnTo>
                  <a:pt x="110" y="29773"/>
                </a:lnTo>
                <a:lnTo>
                  <a:pt x="78" y="22833"/>
                </a:lnTo>
                <a:lnTo>
                  <a:pt x="0" y="15841"/>
                </a:lnTo>
                <a:lnTo>
                  <a:pt x="39" y="13645"/>
                </a:lnTo>
                <a:lnTo>
                  <a:pt x="334" y="11932"/>
                </a:lnTo>
                <a:lnTo>
                  <a:pt x="381" y="10555"/>
                </a:lnTo>
                <a:lnTo>
                  <a:pt x="479" y="9540"/>
                </a:lnTo>
                <a:lnTo>
                  <a:pt x="875" y="8679"/>
                </a:lnTo>
                <a:lnTo>
                  <a:pt x="1129" y="7723"/>
                </a:lnTo>
                <a:lnTo>
                  <a:pt x="1252" y="6978"/>
                </a:lnTo>
                <a:lnTo>
                  <a:pt x="1661" y="6332"/>
                </a:lnTo>
                <a:lnTo>
                  <a:pt x="2018" y="5565"/>
                </a:lnTo>
                <a:lnTo>
                  <a:pt x="2540" y="4902"/>
                </a:lnTo>
                <a:lnTo>
                  <a:pt x="2925" y="4519"/>
                </a:lnTo>
                <a:lnTo>
                  <a:pt x="3456" y="3946"/>
                </a:lnTo>
                <a:lnTo>
                  <a:pt x="3933" y="3349"/>
                </a:lnTo>
                <a:lnTo>
                  <a:pt x="4789" y="3076"/>
                </a:lnTo>
                <a:lnTo>
                  <a:pt x="5241" y="2600"/>
                </a:lnTo>
                <a:lnTo>
                  <a:pt x="6027" y="2299"/>
                </a:lnTo>
                <a:lnTo>
                  <a:pt x="6892" y="1961"/>
                </a:lnTo>
                <a:lnTo>
                  <a:pt x="7672" y="1579"/>
                </a:lnTo>
                <a:lnTo>
                  <a:pt x="8689" y="1341"/>
                </a:lnTo>
                <a:lnTo>
                  <a:pt x="9640" y="1111"/>
                </a:lnTo>
                <a:lnTo>
                  <a:pt x="10681" y="979"/>
                </a:lnTo>
                <a:lnTo>
                  <a:pt x="12011" y="728"/>
                </a:lnTo>
                <a:lnTo>
                  <a:pt x="13465" y="551"/>
                </a:lnTo>
                <a:lnTo>
                  <a:pt x="15012" y="342"/>
                </a:lnTo>
                <a:lnTo>
                  <a:pt x="16710" y="277"/>
                </a:lnTo>
                <a:lnTo>
                  <a:pt x="18576" y="245"/>
                </a:lnTo>
                <a:lnTo>
                  <a:pt x="21114" y="221"/>
                </a:lnTo>
                <a:lnTo>
                  <a:pt x="24624" y="87"/>
                </a:lnTo>
                <a:lnTo>
                  <a:pt x="35581" y="191"/>
                </a:lnTo>
                <a:lnTo>
                  <a:pt x="46432" y="0"/>
                </a:lnTo>
                <a:lnTo>
                  <a:pt x="50074" y="66"/>
                </a:lnTo>
                <a:lnTo>
                  <a:pt x="52391" y="88"/>
                </a:lnTo>
                <a:lnTo>
                  <a:pt x="54622" y="292"/>
                </a:lnTo>
                <a:lnTo>
                  <a:pt x="56326" y="377"/>
                </a:lnTo>
                <a:lnTo>
                  <a:pt x="57790" y="597"/>
                </a:lnTo>
                <a:lnTo>
                  <a:pt x="59116" y="585"/>
                </a:lnTo>
                <a:lnTo>
                  <a:pt x="60322" y="863"/>
                </a:lnTo>
                <a:lnTo>
                  <a:pt x="61384" y="1223"/>
                </a:lnTo>
                <a:lnTo>
                  <a:pt x="62395" y="1294"/>
                </a:lnTo>
                <a:lnTo>
                  <a:pt x="63301" y="1596"/>
                </a:lnTo>
                <a:lnTo>
                  <a:pt x="64305" y="1972"/>
                </a:lnTo>
                <a:lnTo>
                  <a:pt x="65067" y="2168"/>
                </a:lnTo>
                <a:lnTo>
                  <a:pt x="65873" y="2708"/>
                </a:lnTo>
                <a:lnTo>
                  <a:pt x="66500" y="3064"/>
                </a:lnTo>
                <a:lnTo>
                  <a:pt x="67146" y="3563"/>
                </a:lnTo>
                <a:lnTo>
                  <a:pt x="67760" y="4013"/>
                </a:lnTo>
                <a:lnTo>
                  <a:pt x="68116" y="4327"/>
                </a:lnTo>
                <a:lnTo>
                  <a:pt x="68635" y="4990"/>
                </a:lnTo>
                <a:lnTo>
                  <a:pt x="68966" y="5533"/>
                </a:lnTo>
                <a:lnTo>
                  <a:pt x="69534" y="6162"/>
                </a:lnTo>
                <a:lnTo>
                  <a:pt x="69907" y="6826"/>
                </a:lnTo>
                <a:lnTo>
                  <a:pt x="70044" y="7626"/>
                </a:lnTo>
                <a:lnTo>
                  <a:pt x="70293" y="8594"/>
                </a:lnTo>
                <a:lnTo>
                  <a:pt x="70468" y="9581"/>
                </a:lnTo>
                <a:lnTo>
                  <a:pt x="70809" y="10687"/>
                </a:lnTo>
                <a:lnTo>
                  <a:pt x="70751" y="11882"/>
                </a:lnTo>
                <a:lnTo>
                  <a:pt x="70890" y="13649"/>
                </a:lnTo>
                <a:lnTo>
                  <a:pt x="70940" y="15863"/>
                </a:lnTo>
                <a:lnTo>
                  <a:pt x="71124" y="22714"/>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7024421" y="4949099"/>
            <a:ext cx="86685" cy="339882"/>
          </a:xfrm>
          <a:custGeom>
            <a:avLst/>
            <a:gdLst/>
            <a:ahLst/>
            <a:cxnLst/>
            <a:rect l="l" t="t" r="r" b="b"/>
            <a:pathLst>
              <a:path w="948" h="3717">
                <a:moveTo>
                  <a:pt x="948" y="0"/>
                </a:moveTo>
                <a:lnTo>
                  <a:pt x="771" y="1105"/>
                </a:lnTo>
                <a:lnTo>
                  <a:pt x="555" y="2073"/>
                </a:lnTo>
                <a:lnTo>
                  <a:pt x="298" y="2937"/>
                </a:lnTo>
                <a:lnTo>
                  <a:pt x="0" y="3717"/>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6047384" y="5773704"/>
            <a:ext cx="392186" cy="84491"/>
          </a:xfrm>
          <a:custGeom>
            <a:avLst/>
            <a:gdLst/>
            <a:ahLst/>
            <a:cxnLst/>
            <a:rect l="l" t="t" r="r" b="b"/>
            <a:pathLst>
              <a:path w="4289" h="924">
                <a:moveTo>
                  <a:pt x="4289" y="0"/>
                </a:moveTo>
                <a:lnTo>
                  <a:pt x="3354" y="273"/>
                </a:lnTo>
                <a:lnTo>
                  <a:pt x="2335" y="517"/>
                </a:lnTo>
                <a:lnTo>
                  <a:pt x="1223" y="734"/>
                </a:lnTo>
                <a:lnTo>
                  <a:pt x="0" y="924"/>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631472" y="5840821"/>
            <a:ext cx="533004" cy="55321"/>
          </a:xfrm>
          <a:custGeom>
            <a:avLst/>
            <a:gdLst/>
            <a:ahLst/>
            <a:cxnLst/>
            <a:rect l="l" t="t" r="r" b="b"/>
            <a:pathLst>
              <a:path w="5829" h="605">
                <a:moveTo>
                  <a:pt x="5829" y="605"/>
                </a:moveTo>
                <a:lnTo>
                  <a:pt x="4096" y="492"/>
                </a:lnTo>
                <a:lnTo>
                  <a:pt x="2577" y="354"/>
                </a:lnTo>
                <a:lnTo>
                  <a:pt x="1223" y="190"/>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739018" y="5217658"/>
            <a:ext cx="132497" cy="250180"/>
          </a:xfrm>
          <a:custGeom>
            <a:avLst/>
            <a:gdLst/>
            <a:ahLst/>
            <a:cxnLst/>
            <a:rect l="l" t="t" r="r" b="b"/>
            <a:pathLst>
              <a:path w="1449" h="2736">
                <a:moveTo>
                  <a:pt x="1449" y="2736"/>
                </a:moveTo>
                <a:lnTo>
                  <a:pt x="1022" y="2139"/>
                </a:lnTo>
                <a:lnTo>
                  <a:pt x="639" y="1490"/>
                </a:lnTo>
                <a:lnTo>
                  <a:pt x="298" y="780"/>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679582" y="2401123"/>
            <a:ext cx="86685" cy="339882"/>
          </a:xfrm>
          <a:custGeom>
            <a:avLst/>
            <a:gdLst/>
            <a:ahLst/>
            <a:cxnLst/>
            <a:rect l="l" t="t" r="r" b="b"/>
            <a:pathLst>
              <a:path w="948" h="3717">
                <a:moveTo>
                  <a:pt x="0" y="3717"/>
                </a:moveTo>
                <a:lnTo>
                  <a:pt x="177" y="2612"/>
                </a:lnTo>
                <a:lnTo>
                  <a:pt x="393" y="1644"/>
                </a:lnTo>
                <a:lnTo>
                  <a:pt x="650" y="780"/>
                </a:lnTo>
                <a:lnTo>
                  <a:pt x="948"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1351117" y="1831909"/>
            <a:ext cx="392186" cy="84491"/>
          </a:xfrm>
          <a:custGeom>
            <a:avLst/>
            <a:gdLst/>
            <a:ahLst/>
            <a:cxnLst/>
            <a:rect l="l" t="t" r="r" b="b"/>
            <a:pathLst>
              <a:path w="4289" h="924">
                <a:moveTo>
                  <a:pt x="0" y="924"/>
                </a:moveTo>
                <a:lnTo>
                  <a:pt x="935" y="651"/>
                </a:lnTo>
                <a:lnTo>
                  <a:pt x="1954" y="407"/>
                </a:lnTo>
                <a:lnTo>
                  <a:pt x="3066" y="190"/>
                </a:lnTo>
                <a:lnTo>
                  <a:pt x="4289"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626212" y="1793961"/>
            <a:ext cx="533004" cy="55321"/>
          </a:xfrm>
          <a:custGeom>
            <a:avLst/>
            <a:gdLst/>
            <a:ahLst/>
            <a:cxnLst/>
            <a:rect l="l" t="t" r="r" b="b"/>
            <a:pathLst>
              <a:path w="5829" h="605">
                <a:moveTo>
                  <a:pt x="0" y="0"/>
                </a:moveTo>
                <a:lnTo>
                  <a:pt x="1733" y="113"/>
                </a:lnTo>
                <a:lnTo>
                  <a:pt x="3252" y="251"/>
                </a:lnTo>
                <a:lnTo>
                  <a:pt x="4606" y="415"/>
                </a:lnTo>
                <a:lnTo>
                  <a:pt x="5829" y="605"/>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6919173" y="2222266"/>
            <a:ext cx="132497" cy="250180"/>
          </a:xfrm>
          <a:custGeom>
            <a:avLst/>
            <a:gdLst/>
            <a:ahLst/>
            <a:cxnLst/>
            <a:rect l="l" t="t" r="r" b="b"/>
            <a:pathLst>
              <a:path w="1449" h="2736">
                <a:moveTo>
                  <a:pt x="0" y="0"/>
                </a:moveTo>
                <a:lnTo>
                  <a:pt x="427" y="597"/>
                </a:lnTo>
                <a:lnTo>
                  <a:pt x="810" y="1246"/>
                </a:lnTo>
                <a:lnTo>
                  <a:pt x="1151" y="1956"/>
                </a:lnTo>
                <a:lnTo>
                  <a:pt x="1449" y="2736"/>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What those incidents share"/>
          <p:cNvSpPr txBox="1"/>
          <p:nvPr/>
        </p:nvSpPr>
        <p:spPr>
          <a:xfrm>
            <a:off x="996695" y="2042921"/>
            <a:ext cx="5797296"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AE6B55"/>
                </a:solidFill>
                <a:latin typeface="Chalkboard SE"/>
              </a:rPr>
              <a:t>What those incidents share</a:t>
            </a:r>
          </a:p>
        </p:txBody>
      </p:sp>
      <p:sp>
        <p:nvSpPr>
          <p:cNvPr id="25" name="Oval 24"/>
          <p:cNvSpPr/>
          <p:nvPr/>
        </p:nvSpPr>
        <p:spPr>
          <a:xfrm>
            <a:off x="909828" y="286511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ody: Exploiting the evaluation: test cases, timeouts, game state"/>
          <p:cNvSpPr txBox="1"/>
          <p:nvPr/>
        </p:nvSpPr>
        <p:spPr>
          <a:xfrm>
            <a:off x="1143000" y="2764535"/>
            <a:ext cx="5751576" cy="600837"/>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Exploiting the evaluation: test cases, timeouts, game</a:t>
            </a:r>
            <a:br/>
            <a:r>
              <a:rPr sz="1650" b="0">
                <a:solidFill>
                  <a:srgbClr val="293E46"/>
                </a:solidFill>
                <a:latin typeface="Trebuchet MS"/>
              </a:rPr>
              <a:t>state</a:t>
            </a:r>
          </a:p>
        </p:txBody>
      </p:sp>
      <p:sp>
        <p:nvSpPr>
          <p:cNvPr id="27" name="Oval 26"/>
          <p:cNvSpPr/>
          <p:nvPr/>
        </p:nvSpPr>
        <p:spPr>
          <a:xfrm>
            <a:off x="909828" y="358482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ody: Resisting oversight in tests: shutdown, replacement"/>
          <p:cNvSpPr txBox="1"/>
          <p:nvPr/>
        </p:nvSpPr>
        <p:spPr>
          <a:xfrm>
            <a:off x="1143000" y="3484244"/>
            <a:ext cx="5751576" cy="334708"/>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Resisting oversight in tests: shutdown, replacement</a:t>
            </a:r>
          </a:p>
        </p:txBody>
      </p:sp>
      <p:sp>
        <p:nvSpPr>
          <p:cNvPr id="29" name="Oval 28"/>
          <p:cNvSpPr/>
          <p:nvPr/>
        </p:nvSpPr>
        <p:spPr>
          <a:xfrm>
            <a:off x="909828" y="403840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ody: Following injected instructions: issues, web pages, extensions"/>
          <p:cNvSpPr txBox="1"/>
          <p:nvPr/>
        </p:nvSpPr>
        <p:spPr>
          <a:xfrm>
            <a:off x="1143000" y="3937825"/>
            <a:ext cx="5751576" cy="600837"/>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Following injected instructions: issues, web pages,</a:t>
            </a:r>
            <a:br/>
            <a:r>
              <a:rPr sz="1650" b="0">
                <a:solidFill>
                  <a:srgbClr val="293E46"/>
                </a:solidFill>
                <a:latin typeface="Trebuchet MS"/>
              </a:rPr>
              <a:t>extensions</a:t>
            </a:r>
          </a:p>
        </p:txBody>
      </p:sp>
      <p:sp>
        <p:nvSpPr>
          <p:cNvPr id="31" name="Oval 30"/>
          <p:cNvSpPr/>
          <p:nvPr/>
        </p:nvSpPr>
        <p:spPr>
          <a:xfrm>
            <a:off x="909828" y="475811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ody: Destructive actions despite explicit instructions: code freeze, "/>
          <p:cNvSpPr txBox="1"/>
          <p:nvPr/>
        </p:nvSpPr>
        <p:spPr>
          <a:xfrm>
            <a:off x="1143000" y="4657534"/>
            <a:ext cx="5751576" cy="600837"/>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Destructive actions despite explicit instructions: code</a:t>
            </a:r>
            <a:br/>
            <a:r>
              <a:rPr sz="1650" b="0">
                <a:solidFill>
                  <a:srgbClr val="293E46"/>
                </a:solidFill>
                <a:latin typeface="Trebuchet MS"/>
              </a:rPr>
              <a:t>freeze, file moves</a:t>
            </a:r>
          </a:p>
        </p:txBody>
      </p:sp>
      <p:sp>
        <p:nvSpPr>
          <p:cNvPr id="33" name="Oval 32"/>
          <p:cNvSpPr/>
          <p:nvPr/>
        </p:nvSpPr>
        <p:spPr>
          <a:xfrm>
            <a:off x="909828" y="5477827"/>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ody: Agents as attack tooling at scale"/>
          <p:cNvSpPr txBox="1"/>
          <p:nvPr/>
        </p:nvSpPr>
        <p:spPr>
          <a:xfrm>
            <a:off x="1143000" y="5377243"/>
            <a:ext cx="5751576" cy="334708"/>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Agents as attack tooling at scale</a:t>
            </a:r>
          </a:p>
        </p:txBody>
      </p:sp>
      <p:sp>
        <p:nvSpPr>
          <p:cNvPr id="35" name="Rounded Rectangle 34"/>
          <p:cNvSpPr/>
          <p:nvPr/>
        </p:nvSpPr>
        <p:spPr>
          <a:xfrm>
            <a:off x="7479792" y="1764792"/>
            <a:ext cx="6510528" cy="4160520"/>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7490856" y="1770278"/>
            <a:ext cx="6499738" cy="4147993"/>
          </a:xfrm>
          <a:custGeom>
            <a:avLst/>
            <a:gdLst/>
            <a:ahLst/>
            <a:cxnLst/>
            <a:rect l="l" t="t" r="r" b="b"/>
            <a:pathLst>
              <a:path w="71082" h="45363">
                <a:moveTo>
                  <a:pt x="71082" y="22724"/>
                </a:moveTo>
                <a:lnTo>
                  <a:pt x="70842" y="29684"/>
                </a:lnTo>
                <a:lnTo>
                  <a:pt x="70903" y="31975"/>
                </a:lnTo>
                <a:lnTo>
                  <a:pt x="70845" y="33536"/>
                </a:lnTo>
                <a:lnTo>
                  <a:pt x="70525" y="34762"/>
                </a:lnTo>
                <a:lnTo>
                  <a:pt x="70515" y="35916"/>
                </a:lnTo>
                <a:lnTo>
                  <a:pt x="70344" y="36850"/>
                </a:lnTo>
                <a:lnTo>
                  <a:pt x="70031" y="37821"/>
                </a:lnTo>
                <a:lnTo>
                  <a:pt x="69636" y="38382"/>
                </a:lnTo>
                <a:lnTo>
                  <a:pt x="69425" y="39091"/>
                </a:lnTo>
                <a:lnTo>
                  <a:pt x="69097" y="39823"/>
                </a:lnTo>
                <a:lnTo>
                  <a:pt x="68538" y="40320"/>
                </a:lnTo>
                <a:lnTo>
                  <a:pt x="68135" y="41050"/>
                </a:lnTo>
                <a:lnTo>
                  <a:pt x="67488" y="41478"/>
                </a:lnTo>
                <a:lnTo>
                  <a:pt x="67027" y="41993"/>
                </a:lnTo>
                <a:lnTo>
                  <a:pt x="66409" y="42330"/>
                </a:lnTo>
                <a:lnTo>
                  <a:pt x="65664" y="42862"/>
                </a:lnTo>
                <a:lnTo>
                  <a:pt x="65039" y="43229"/>
                </a:lnTo>
                <a:lnTo>
                  <a:pt x="64053" y="43553"/>
                </a:lnTo>
                <a:lnTo>
                  <a:pt x="63246" y="43786"/>
                </a:lnTo>
                <a:lnTo>
                  <a:pt x="62373" y="44110"/>
                </a:lnTo>
                <a:lnTo>
                  <a:pt x="61473" y="44230"/>
                </a:lnTo>
                <a:lnTo>
                  <a:pt x="60188" y="44629"/>
                </a:lnTo>
                <a:lnTo>
                  <a:pt x="58938" y="44705"/>
                </a:lnTo>
                <a:lnTo>
                  <a:pt x="57727" y="44944"/>
                </a:lnTo>
                <a:lnTo>
                  <a:pt x="56061" y="44932"/>
                </a:lnTo>
                <a:lnTo>
                  <a:pt x="54500" y="45023"/>
                </a:lnTo>
                <a:lnTo>
                  <a:pt x="52385" y="45307"/>
                </a:lnTo>
                <a:lnTo>
                  <a:pt x="49960" y="45180"/>
                </a:lnTo>
                <a:lnTo>
                  <a:pt x="46482" y="45363"/>
                </a:lnTo>
                <a:lnTo>
                  <a:pt x="35404" y="45264"/>
                </a:lnTo>
                <a:lnTo>
                  <a:pt x="24494" y="45348"/>
                </a:lnTo>
                <a:lnTo>
                  <a:pt x="21189" y="45359"/>
                </a:lnTo>
                <a:lnTo>
                  <a:pt x="18705" y="45253"/>
                </a:lnTo>
                <a:lnTo>
                  <a:pt x="16652" y="45197"/>
                </a:lnTo>
                <a:lnTo>
                  <a:pt x="14736" y="45068"/>
                </a:lnTo>
                <a:lnTo>
                  <a:pt x="13296" y="44855"/>
                </a:lnTo>
                <a:lnTo>
                  <a:pt x="12021" y="44777"/>
                </a:lnTo>
                <a:lnTo>
                  <a:pt x="10678" y="44557"/>
                </a:lnTo>
                <a:lnTo>
                  <a:pt x="9584" y="44295"/>
                </a:lnTo>
                <a:lnTo>
                  <a:pt x="8533" y="44018"/>
                </a:lnTo>
                <a:lnTo>
                  <a:pt x="7717" y="43824"/>
                </a:lnTo>
                <a:lnTo>
                  <a:pt x="6684" y="43502"/>
                </a:lnTo>
                <a:lnTo>
                  <a:pt x="5889" y="43161"/>
                </a:lnTo>
                <a:lnTo>
                  <a:pt x="5205" y="42754"/>
                </a:lnTo>
                <a:lnTo>
                  <a:pt x="4544" y="42489"/>
                </a:lnTo>
                <a:lnTo>
                  <a:pt x="4059" y="41892"/>
                </a:lnTo>
                <a:lnTo>
                  <a:pt x="3485" y="41476"/>
                </a:lnTo>
                <a:lnTo>
                  <a:pt x="2928" y="40888"/>
                </a:lnTo>
                <a:lnTo>
                  <a:pt x="2455" y="40550"/>
                </a:lnTo>
                <a:lnTo>
                  <a:pt x="2010" y="39872"/>
                </a:lnTo>
                <a:lnTo>
                  <a:pt x="1518" y="39077"/>
                </a:lnTo>
                <a:lnTo>
                  <a:pt x="1204" y="38523"/>
                </a:lnTo>
                <a:lnTo>
                  <a:pt x="990" y="37711"/>
                </a:lnTo>
                <a:lnTo>
                  <a:pt x="764" y="36734"/>
                </a:lnTo>
                <a:lnTo>
                  <a:pt x="535" y="35961"/>
                </a:lnTo>
                <a:lnTo>
                  <a:pt x="424" y="34870"/>
                </a:lnTo>
                <a:lnTo>
                  <a:pt x="254" y="33555"/>
                </a:lnTo>
                <a:lnTo>
                  <a:pt x="24" y="31769"/>
                </a:lnTo>
                <a:lnTo>
                  <a:pt x="115" y="29681"/>
                </a:lnTo>
                <a:lnTo>
                  <a:pt x="0" y="22648"/>
                </a:lnTo>
                <a:lnTo>
                  <a:pt x="42" y="15668"/>
                </a:lnTo>
                <a:lnTo>
                  <a:pt x="189" y="13564"/>
                </a:lnTo>
                <a:lnTo>
                  <a:pt x="165" y="11986"/>
                </a:lnTo>
                <a:lnTo>
                  <a:pt x="303" y="10695"/>
                </a:lnTo>
                <a:lnTo>
                  <a:pt x="595" y="9430"/>
                </a:lnTo>
                <a:lnTo>
                  <a:pt x="623" y="8594"/>
                </a:lnTo>
                <a:lnTo>
                  <a:pt x="900" y="7797"/>
                </a:lnTo>
                <a:lnTo>
                  <a:pt x="1314" y="6801"/>
                </a:lnTo>
                <a:lnTo>
                  <a:pt x="1486" y="6223"/>
                </a:lnTo>
                <a:lnTo>
                  <a:pt x="1948" y="5487"/>
                </a:lnTo>
                <a:lnTo>
                  <a:pt x="2284" y="4858"/>
                </a:lnTo>
                <a:lnTo>
                  <a:pt x="2856" y="4414"/>
                </a:lnTo>
                <a:lnTo>
                  <a:pt x="3368" y="3920"/>
                </a:lnTo>
                <a:lnTo>
                  <a:pt x="4012" y="3362"/>
                </a:lnTo>
                <a:lnTo>
                  <a:pt x="4669" y="2949"/>
                </a:lnTo>
                <a:lnTo>
                  <a:pt x="5257" y="2491"/>
                </a:lnTo>
                <a:lnTo>
                  <a:pt x="6108" y="2290"/>
                </a:lnTo>
                <a:lnTo>
                  <a:pt x="6777" y="1868"/>
                </a:lnTo>
                <a:lnTo>
                  <a:pt x="7631" y="1671"/>
                </a:lnTo>
                <a:lnTo>
                  <a:pt x="8707" y="1361"/>
                </a:lnTo>
                <a:lnTo>
                  <a:pt x="9661" y="1023"/>
                </a:lnTo>
                <a:lnTo>
                  <a:pt x="10830" y="797"/>
                </a:lnTo>
                <a:lnTo>
                  <a:pt x="11998" y="586"/>
                </a:lnTo>
                <a:lnTo>
                  <a:pt x="13343" y="456"/>
                </a:lnTo>
                <a:lnTo>
                  <a:pt x="14864" y="305"/>
                </a:lnTo>
                <a:lnTo>
                  <a:pt x="16490" y="304"/>
                </a:lnTo>
                <a:lnTo>
                  <a:pt x="18519" y="219"/>
                </a:lnTo>
                <a:lnTo>
                  <a:pt x="20977" y="29"/>
                </a:lnTo>
                <a:lnTo>
                  <a:pt x="24511" y="98"/>
                </a:lnTo>
                <a:lnTo>
                  <a:pt x="35607" y="0"/>
                </a:lnTo>
                <a:lnTo>
                  <a:pt x="46396" y="126"/>
                </a:lnTo>
                <a:lnTo>
                  <a:pt x="49759" y="114"/>
                </a:lnTo>
                <a:lnTo>
                  <a:pt x="52322" y="291"/>
                </a:lnTo>
                <a:lnTo>
                  <a:pt x="54494" y="354"/>
                </a:lnTo>
                <a:lnTo>
                  <a:pt x="56220" y="409"/>
                </a:lnTo>
                <a:lnTo>
                  <a:pt x="57766" y="504"/>
                </a:lnTo>
                <a:lnTo>
                  <a:pt x="59020" y="628"/>
                </a:lnTo>
                <a:lnTo>
                  <a:pt x="60190" y="984"/>
                </a:lnTo>
                <a:lnTo>
                  <a:pt x="61319" y="1038"/>
                </a:lnTo>
                <a:lnTo>
                  <a:pt x="62364" y="1247"/>
                </a:lnTo>
                <a:lnTo>
                  <a:pt x="63364" y="1549"/>
                </a:lnTo>
                <a:lnTo>
                  <a:pt x="64285" y="1801"/>
                </a:lnTo>
                <a:lnTo>
                  <a:pt x="65080" y="2211"/>
                </a:lnTo>
                <a:lnTo>
                  <a:pt x="65755" y="2685"/>
                </a:lnTo>
                <a:lnTo>
                  <a:pt x="66355" y="2970"/>
                </a:lnTo>
                <a:lnTo>
                  <a:pt x="67040" y="3415"/>
                </a:lnTo>
                <a:lnTo>
                  <a:pt x="67495" y="3792"/>
                </a:lnTo>
                <a:lnTo>
                  <a:pt x="68077" y="4490"/>
                </a:lnTo>
                <a:lnTo>
                  <a:pt x="68491" y="4901"/>
                </a:lnTo>
                <a:lnTo>
                  <a:pt x="68876" y="5448"/>
                </a:lnTo>
                <a:lnTo>
                  <a:pt x="69479" y="6307"/>
                </a:lnTo>
                <a:lnTo>
                  <a:pt x="69611" y="6803"/>
                </a:lnTo>
                <a:lnTo>
                  <a:pt x="69995" y="7680"/>
                </a:lnTo>
                <a:lnTo>
                  <a:pt x="70235" y="8440"/>
                </a:lnTo>
                <a:lnTo>
                  <a:pt x="70415" y="9530"/>
                </a:lnTo>
                <a:lnTo>
                  <a:pt x="70563" y="10677"/>
                </a:lnTo>
                <a:lnTo>
                  <a:pt x="70730" y="11818"/>
                </a:lnTo>
                <a:lnTo>
                  <a:pt x="70840" y="13634"/>
                </a:lnTo>
                <a:lnTo>
                  <a:pt x="70943" y="15638"/>
                </a:lnTo>
                <a:lnTo>
                  <a:pt x="70842" y="22601"/>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7490399" y="1767352"/>
            <a:ext cx="6490411" cy="4154485"/>
          </a:xfrm>
          <a:custGeom>
            <a:avLst/>
            <a:gdLst/>
            <a:ahLst/>
            <a:cxnLst/>
            <a:rect l="l" t="t" r="r" b="b"/>
            <a:pathLst>
              <a:path w="70980" h="45434">
                <a:moveTo>
                  <a:pt x="70884" y="22736"/>
                </a:moveTo>
                <a:lnTo>
                  <a:pt x="70867" y="29559"/>
                </a:lnTo>
                <a:lnTo>
                  <a:pt x="70938" y="31878"/>
                </a:lnTo>
                <a:lnTo>
                  <a:pt x="70852" y="33505"/>
                </a:lnTo>
                <a:lnTo>
                  <a:pt x="70645" y="34752"/>
                </a:lnTo>
                <a:lnTo>
                  <a:pt x="70521" y="35972"/>
                </a:lnTo>
                <a:lnTo>
                  <a:pt x="70239" y="36792"/>
                </a:lnTo>
                <a:lnTo>
                  <a:pt x="69919" y="37801"/>
                </a:lnTo>
                <a:lnTo>
                  <a:pt x="69724" y="38464"/>
                </a:lnTo>
                <a:lnTo>
                  <a:pt x="69334" y="39338"/>
                </a:lnTo>
                <a:lnTo>
                  <a:pt x="68944" y="39765"/>
                </a:lnTo>
                <a:lnTo>
                  <a:pt x="68587" y="40460"/>
                </a:lnTo>
                <a:lnTo>
                  <a:pt x="68050" y="41050"/>
                </a:lnTo>
                <a:lnTo>
                  <a:pt x="67588" y="41556"/>
                </a:lnTo>
                <a:lnTo>
                  <a:pt x="67090" y="42055"/>
                </a:lnTo>
                <a:lnTo>
                  <a:pt x="66422" y="42341"/>
                </a:lnTo>
                <a:lnTo>
                  <a:pt x="65814" y="42768"/>
                </a:lnTo>
                <a:lnTo>
                  <a:pt x="64915" y="43260"/>
                </a:lnTo>
                <a:lnTo>
                  <a:pt x="64204" y="43511"/>
                </a:lnTo>
                <a:lnTo>
                  <a:pt x="63214" y="43789"/>
                </a:lnTo>
                <a:lnTo>
                  <a:pt x="62444" y="44135"/>
                </a:lnTo>
                <a:lnTo>
                  <a:pt x="61403" y="44231"/>
                </a:lnTo>
                <a:lnTo>
                  <a:pt x="60185" y="44451"/>
                </a:lnTo>
                <a:lnTo>
                  <a:pt x="59049" y="44659"/>
                </a:lnTo>
                <a:lnTo>
                  <a:pt x="57695" y="44914"/>
                </a:lnTo>
                <a:lnTo>
                  <a:pt x="56085" y="45019"/>
                </a:lnTo>
                <a:lnTo>
                  <a:pt x="54469" y="45164"/>
                </a:lnTo>
                <a:lnTo>
                  <a:pt x="52329" y="45241"/>
                </a:lnTo>
                <a:lnTo>
                  <a:pt x="49944" y="45228"/>
                </a:lnTo>
                <a:lnTo>
                  <a:pt x="46353" y="45289"/>
                </a:lnTo>
                <a:lnTo>
                  <a:pt x="35480" y="45310"/>
                </a:lnTo>
                <a:lnTo>
                  <a:pt x="24522" y="45434"/>
                </a:lnTo>
                <a:lnTo>
                  <a:pt x="21014" y="45404"/>
                </a:lnTo>
                <a:lnTo>
                  <a:pt x="18657" y="45342"/>
                </a:lnTo>
                <a:lnTo>
                  <a:pt x="16495" y="45140"/>
                </a:lnTo>
                <a:lnTo>
                  <a:pt x="14713" y="45121"/>
                </a:lnTo>
                <a:lnTo>
                  <a:pt x="13368" y="45012"/>
                </a:lnTo>
                <a:lnTo>
                  <a:pt x="11822" y="44711"/>
                </a:lnTo>
                <a:lnTo>
                  <a:pt x="10834" y="44560"/>
                </a:lnTo>
                <a:lnTo>
                  <a:pt x="9509" y="44397"/>
                </a:lnTo>
                <a:lnTo>
                  <a:pt x="8678" y="44018"/>
                </a:lnTo>
                <a:lnTo>
                  <a:pt x="7577" y="43698"/>
                </a:lnTo>
                <a:lnTo>
                  <a:pt x="6724" y="43461"/>
                </a:lnTo>
                <a:lnTo>
                  <a:pt x="6126" y="43229"/>
                </a:lnTo>
                <a:lnTo>
                  <a:pt x="5285" y="42848"/>
                </a:lnTo>
                <a:lnTo>
                  <a:pt x="4671" y="42378"/>
                </a:lnTo>
                <a:lnTo>
                  <a:pt x="3853" y="42110"/>
                </a:lnTo>
                <a:lnTo>
                  <a:pt x="3490" y="41414"/>
                </a:lnTo>
                <a:lnTo>
                  <a:pt x="2997" y="40992"/>
                </a:lnTo>
                <a:lnTo>
                  <a:pt x="2486" y="40369"/>
                </a:lnTo>
                <a:lnTo>
                  <a:pt x="1900" y="39968"/>
                </a:lnTo>
                <a:lnTo>
                  <a:pt x="1654" y="39277"/>
                </a:lnTo>
                <a:lnTo>
                  <a:pt x="1161" y="38498"/>
                </a:lnTo>
                <a:lnTo>
                  <a:pt x="1058" y="37658"/>
                </a:lnTo>
                <a:lnTo>
                  <a:pt x="768" y="36781"/>
                </a:lnTo>
                <a:lnTo>
                  <a:pt x="510" y="36009"/>
                </a:lnTo>
                <a:lnTo>
                  <a:pt x="325" y="34905"/>
                </a:lnTo>
                <a:lnTo>
                  <a:pt x="258" y="33425"/>
                </a:lnTo>
                <a:lnTo>
                  <a:pt x="69" y="31934"/>
                </a:lnTo>
                <a:lnTo>
                  <a:pt x="24" y="29633"/>
                </a:lnTo>
                <a:lnTo>
                  <a:pt x="130" y="22694"/>
                </a:lnTo>
                <a:lnTo>
                  <a:pt x="0" y="15656"/>
                </a:lnTo>
                <a:lnTo>
                  <a:pt x="184" y="13594"/>
                </a:lnTo>
                <a:lnTo>
                  <a:pt x="261" y="11942"/>
                </a:lnTo>
                <a:lnTo>
                  <a:pt x="394" y="10572"/>
                </a:lnTo>
                <a:lnTo>
                  <a:pt x="448" y="9603"/>
                </a:lnTo>
                <a:lnTo>
                  <a:pt x="690" y="8675"/>
                </a:lnTo>
                <a:lnTo>
                  <a:pt x="923" y="7767"/>
                </a:lnTo>
                <a:lnTo>
                  <a:pt x="1196" y="6903"/>
                </a:lnTo>
                <a:lnTo>
                  <a:pt x="1571" y="6187"/>
                </a:lnTo>
                <a:lnTo>
                  <a:pt x="2102" y="5464"/>
                </a:lnTo>
                <a:lnTo>
                  <a:pt x="2530" y="4892"/>
                </a:lnTo>
                <a:lnTo>
                  <a:pt x="2850" y="4475"/>
                </a:lnTo>
                <a:lnTo>
                  <a:pt x="3344" y="3861"/>
                </a:lnTo>
                <a:lnTo>
                  <a:pt x="4028" y="3406"/>
                </a:lnTo>
                <a:lnTo>
                  <a:pt x="4636" y="2990"/>
                </a:lnTo>
                <a:lnTo>
                  <a:pt x="5345" y="2650"/>
                </a:lnTo>
                <a:lnTo>
                  <a:pt x="5894" y="2210"/>
                </a:lnTo>
                <a:lnTo>
                  <a:pt x="6915" y="1968"/>
                </a:lnTo>
                <a:lnTo>
                  <a:pt x="7667" y="1698"/>
                </a:lnTo>
                <a:lnTo>
                  <a:pt x="8622" y="1272"/>
                </a:lnTo>
                <a:lnTo>
                  <a:pt x="9730" y="1128"/>
                </a:lnTo>
                <a:lnTo>
                  <a:pt x="10791" y="946"/>
                </a:lnTo>
                <a:lnTo>
                  <a:pt x="11997" y="699"/>
                </a:lnTo>
                <a:lnTo>
                  <a:pt x="13365" y="527"/>
                </a:lnTo>
                <a:lnTo>
                  <a:pt x="14817" y="457"/>
                </a:lnTo>
                <a:lnTo>
                  <a:pt x="16658" y="411"/>
                </a:lnTo>
                <a:lnTo>
                  <a:pt x="18474" y="322"/>
                </a:lnTo>
                <a:lnTo>
                  <a:pt x="21075" y="92"/>
                </a:lnTo>
                <a:lnTo>
                  <a:pt x="24513" y="0"/>
                </a:lnTo>
                <a:lnTo>
                  <a:pt x="35515" y="149"/>
                </a:lnTo>
                <a:lnTo>
                  <a:pt x="46271" y="216"/>
                </a:lnTo>
                <a:lnTo>
                  <a:pt x="49764" y="251"/>
                </a:lnTo>
                <a:lnTo>
                  <a:pt x="52469" y="310"/>
                </a:lnTo>
                <a:lnTo>
                  <a:pt x="54408" y="387"/>
                </a:lnTo>
                <a:lnTo>
                  <a:pt x="56164" y="440"/>
                </a:lnTo>
                <a:lnTo>
                  <a:pt x="57761" y="629"/>
                </a:lnTo>
                <a:lnTo>
                  <a:pt x="59060" y="591"/>
                </a:lnTo>
                <a:lnTo>
                  <a:pt x="60146" y="999"/>
                </a:lnTo>
                <a:lnTo>
                  <a:pt x="61276" y="1223"/>
                </a:lnTo>
                <a:lnTo>
                  <a:pt x="62389" y="1464"/>
                </a:lnTo>
                <a:lnTo>
                  <a:pt x="63260" y="1640"/>
                </a:lnTo>
                <a:lnTo>
                  <a:pt x="64242" y="1980"/>
                </a:lnTo>
                <a:lnTo>
                  <a:pt x="65006" y="2324"/>
                </a:lnTo>
                <a:lnTo>
                  <a:pt x="65770" y="2686"/>
                </a:lnTo>
                <a:lnTo>
                  <a:pt x="66326" y="3120"/>
                </a:lnTo>
                <a:lnTo>
                  <a:pt x="67003" y="3465"/>
                </a:lnTo>
                <a:lnTo>
                  <a:pt x="67687" y="4000"/>
                </a:lnTo>
                <a:lnTo>
                  <a:pt x="67981" y="4520"/>
                </a:lnTo>
                <a:lnTo>
                  <a:pt x="68616" y="4940"/>
                </a:lnTo>
                <a:lnTo>
                  <a:pt x="68919" y="5482"/>
                </a:lnTo>
                <a:lnTo>
                  <a:pt x="69373" y="6248"/>
                </a:lnTo>
                <a:lnTo>
                  <a:pt x="69752" y="7007"/>
                </a:lnTo>
                <a:lnTo>
                  <a:pt x="70122" y="7604"/>
                </a:lnTo>
                <a:lnTo>
                  <a:pt x="70285" y="8658"/>
                </a:lnTo>
                <a:lnTo>
                  <a:pt x="70601" y="9426"/>
                </a:lnTo>
                <a:lnTo>
                  <a:pt x="70615" y="10659"/>
                </a:lnTo>
                <a:lnTo>
                  <a:pt x="70676" y="11983"/>
                </a:lnTo>
                <a:lnTo>
                  <a:pt x="70884" y="13600"/>
                </a:lnTo>
                <a:lnTo>
                  <a:pt x="70815" y="15850"/>
                </a:lnTo>
                <a:lnTo>
                  <a:pt x="70980" y="22627"/>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13864133" y="4949099"/>
            <a:ext cx="86685" cy="339882"/>
          </a:xfrm>
          <a:custGeom>
            <a:avLst/>
            <a:gdLst/>
            <a:ahLst/>
            <a:cxnLst/>
            <a:rect l="l" t="t" r="r" b="b"/>
            <a:pathLst>
              <a:path w="948" h="3717">
                <a:moveTo>
                  <a:pt x="948" y="0"/>
                </a:moveTo>
                <a:lnTo>
                  <a:pt x="771" y="1105"/>
                </a:lnTo>
                <a:lnTo>
                  <a:pt x="555" y="2073"/>
                </a:lnTo>
                <a:lnTo>
                  <a:pt x="298" y="2937"/>
                </a:lnTo>
                <a:lnTo>
                  <a:pt x="0" y="371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12887096" y="5773704"/>
            <a:ext cx="392186" cy="84491"/>
          </a:xfrm>
          <a:custGeom>
            <a:avLst/>
            <a:gdLst/>
            <a:ahLst/>
            <a:cxnLst/>
            <a:rect l="l" t="t" r="r" b="b"/>
            <a:pathLst>
              <a:path w="4289" h="924">
                <a:moveTo>
                  <a:pt x="4289" y="0"/>
                </a:moveTo>
                <a:lnTo>
                  <a:pt x="3354" y="273"/>
                </a:lnTo>
                <a:lnTo>
                  <a:pt x="2335" y="517"/>
                </a:lnTo>
                <a:lnTo>
                  <a:pt x="1223" y="734"/>
                </a:lnTo>
                <a:lnTo>
                  <a:pt x="0" y="92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8471184" y="5840821"/>
            <a:ext cx="533004" cy="55321"/>
          </a:xfrm>
          <a:custGeom>
            <a:avLst/>
            <a:gdLst/>
            <a:ahLst/>
            <a:cxnLst/>
            <a:rect l="l" t="t" r="r" b="b"/>
            <a:pathLst>
              <a:path w="5829" h="605">
                <a:moveTo>
                  <a:pt x="5829" y="605"/>
                </a:moveTo>
                <a:lnTo>
                  <a:pt x="4096" y="492"/>
                </a:lnTo>
                <a:lnTo>
                  <a:pt x="2577" y="354"/>
                </a:lnTo>
                <a:lnTo>
                  <a:pt x="1223" y="190"/>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7578730" y="5217658"/>
            <a:ext cx="132497" cy="250180"/>
          </a:xfrm>
          <a:custGeom>
            <a:avLst/>
            <a:gdLst/>
            <a:ahLst/>
            <a:cxnLst/>
            <a:rect l="l" t="t" r="r" b="b"/>
            <a:pathLst>
              <a:path w="1449" h="2736">
                <a:moveTo>
                  <a:pt x="1449" y="2736"/>
                </a:moveTo>
                <a:lnTo>
                  <a:pt x="1022" y="2139"/>
                </a:lnTo>
                <a:lnTo>
                  <a:pt x="639" y="1490"/>
                </a:lnTo>
                <a:lnTo>
                  <a:pt x="298" y="780"/>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7519294" y="2401123"/>
            <a:ext cx="86685" cy="339882"/>
          </a:xfrm>
          <a:custGeom>
            <a:avLst/>
            <a:gdLst/>
            <a:ahLst/>
            <a:cxnLst/>
            <a:rect l="l" t="t" r="r" b="b"/>
            <a:pathLst>
              <a:path w="948" h="3717">
                <a:moveTo>
                  <a:pt x="0" y="3717"/>
                </a:moveTo>
                <a:lnTo>
                  <a:pt x="177" y="2612"/>
                </a:lnTo>
                <a:lnTo>
                  <a:pt x="393" y="1644"/>
                </a:lnTo>
                <a:lnTo>
                  <a:pt x="650" y="780"/>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8190829" y="1831909"/>
            <a:ext cx="392186" cy="84491"/>
          </a:xfrm>
          <a:custGeom>
            <a:avLst/>
            <a:gdLst/>
            <a:ahLst/>
            <a:cxnLst/>
            <a:rect l="l" t="t" r="r" b="b"/>
            <a:pathLst>
              <a:path w="4289" h="924">
                <a:moveTo>
                  <a:pt x="0" y="924"/>
                </a:moveTo>
                <a:lnTo>
                  <a:pt x="935" y="651"/>
                </a:lnTo>
                <a:lnTo>
                  <a:pt x="1954" y="407"/>
                </a:lnTo>
                <a:lnTo>
                  <a:pt x="3066" y="190"/>
                </a:lnTo>
                <a:lnTo>
                  <a:pt x="428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12465924" y="1793961"/>
            <a:ext cx="533004" cy="55321"/>
          </a:xfrm>
          <a:custGeom>
            <a:avLst/>
            <a:gdLst/>
            <a:ahLst/>
            <a:cxnLst/>
            <a:rect l="l" t="t" r="r" b="b"/>
            <a:pathLst>
              <a:path w="5829" h="605">
                <a:moveTo>
                  <a:pt x="0" y="0"/>
                </a:moveTo>
                <a:lnTo>
                  <a:pt x="1733" y="113"/>
                </a:lnTo>
                <a:lnTo>
                  <a:pt x="3252" y="251"/>
                </a:lnTo>
                <a:lnTo>
                  <a:pt x="4606" y="415"/>
                </a:lnTo>
                <a:lnTo>
                  <a:pt x="5829" y="60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13758885" y="2222266"/>
            <a:ext cx="132497" cy="250180"/>
          </a:xfrm>
          <a:custGeom>
            <a:avLst/>
            <a:gdLst/>
            <a:ahLst/>
            <a:cxnLst/>
            <a:rect l="l" t="t" r="r" b="b"/>
            <a:pathLst>
              <a:path w="1449" h="2736">
                <a:moveTo>
                  <a:pt x="0" y="0"/>
                </a:moveTo>
                <a:lnTo>
                  <a:pt x="427" y="597"/>
                </a:lnTo>
                <a:lnTo>
                  <a:pt x="810" y="1246"/>
                </a:lnTo>
                <a:lnTo>
                  <a:pt x="1151" y="1956"/>
                </a:lnTo>
                <a:lnTo>
                  <a:pt x="1449" y="2736"/>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 In policy"/>
          <p:cNvSpPr txBox="1"/>
          <p:nvPr/>
        </p:nvSpPr>
        <p:spPr>
          <a:xfrm>
            <a:off x="7836408" y="2042921"/>
            <a:ext cx="5797296"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In policy</a:t>
            </a:r>
          </a:p>
        </p:txBody>
      </p:sp>
      <p:sp>
        <p:nvSpPr>
          <p:cNvPr id="47" name="Oval 46"/>
          <p:cNvSpPr/>
          <p:nvPr/>
        </p:nvSpPr>
        <p:spPr>
          <a:xfrm>
            <a:off x="7749540" y="289432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 EU AI Act, Art. 73: serious-incident reporting for high-risk sys"/>
          <p:cNvSpPr txBox="1"/>
          <p:nvPr/>
        </p:nvSpPr>
        <p:spPr>
          <a:xfrm>
            <a:off x="7982711" y="2793746"/>
            <a:ext cx="5751576"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EU AI Act, Art. 73: serious-incident reporting</a:t>
            </a:r>
            <a:br/>
            <a:r>
              <a:rPr sz="2000" b="0">
                <a:solidFill>
                  <a:srgbClr val="293E46"/>
                </a:solidFill>
                <a:latin typeface="Trebuchet MS"/>
              </a:rPr>
              <a:t>for high-risk systems</a:t>
            </a:r>
          </a:p>
        </p:txBody>
      </p:sp>
      <p:sp>
        <p:nvSpPr>
          <p:cNvPr id="49" name="Oval 48"/>
          <p:cNvSpPr/>
          <p:nvPr/>
        </p:nvSpPr>
        <p:spPr>
          <a:xfrm>
            <a:off x="7749540" y="3726941"/>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dy: California SB 53: critical-incident reporting by frontier develo"/>
          <p:cNvSpPr txBox="1"/>
          <p:nvPr/>
        </p:nvSpPr>
        <p:spPr>
          <a:xfrm>
            <a:off x="7982711" y="3626357"/>
            <a:ext cx="5751576"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California SB 53: critical-incident reporting by</a:t>
            </a:r>
            <a:br/>
            <a:r>
              <a:rPr sz="2000" b="0">
                <a:solidFill>
                  <a:srgbClr val="293E46"/>
                </a:solidFill>
                <a:latin typeface="Trebuchet MS"/>
              </a:rPr>
              <a:t>frontier developers</a:t>
            </a:r>
          </a:p>
        </p:txBody>
      </p:sp>
      <p:sp>
        <p:nvSpPr>
          <p:cNvPr id="51" name="Oval 50"/>
          <p:cNvSpPr/>
          <p:nvPr/>
        </p:nvSpPr>
        <p:spPr>
          <a:xfrm>
            <a:off x="7749540" y="455955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 OECD AI Incident Monitor, AI Incident Database"/>
          <p:cNvSpPr txBox="1"/>
          <p:nvPr/>
        </p:nvSpPr>
        <p:spPr>
          <a:xfrm>
            <a:off x="7982711" y="4458969"/>
            <a:ext cx="5751576"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OECD AI Incident Monitor, AI Incident Database</a:t>
            </a:r>
          </a:p>
        </p:txBody>
      </p:sp>
      <p:sp>
        <p:nvSpPr>
          <p:cNvPr id="53" name="Oval 52"/>
          <p:cNvSpPr/>
          <p:nvPr/>
        </p:nvSpPr>
        <p:spPr>
          <a:xfrm>
            <a:off x="7749540" y="506958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 All of it is narrative. Nobody turns a report into an executable"/>
          <p:cNvSpPr txBox="1"/>
          <p:nvPr/>
        </p:nvSpPr>
        <p:spPr>
          <a:xfrm>
            <a:off x="7982711" y="4969001"/>
            <a:ext cx="5751576"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All of it is narrative. Nobody turns a report into</a:t>
            </a:r>
            <a:br/>
            <a:r>
              <a:rPr sz="2000" b="0">
                <a:solidFill>
                  <a:srgbClr val="293E46"/>
                </a:solidFill>
                <a:latin typeface="Trebuchet MS"/>
              </a:rPr>
              <a:t>an executable test</a:t>
            </a:r>
          </a:p>
        </p:txBody>
      </p:sp>
      <p:sp>
        <p:nvSpPr>
          <p:cNvPr id="55" name="Rounded Rectangle 54"/>
          <p:cNvSpPr/>
          <p:nvPr/>
        </p:nvSpPr>
        <p:spPr>
          <a:xfrm>
            <a:off x="640080" y="6217920"/>
            <a:ext cx="13350240" cy="1207008"/>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646389" y="6223498"/>
            <a:ext cx="13341279" cy="1198413"/>
          </a:xfrm>
          <a:custGeom>
            <a:avLst/>
            <a:gdLst/>
            <a:ahLst/>
            <a:cxnLst/>
            <a:rect l="l" t="t" r="r" b="b"/>
            <a:pathLst>
              <a:path w="145902" h="13106">
                <a:moveTo>
                  <a:pt x="145902" y="6507"/>
                </a:moveTo>
                <a:lnTo>
                  <a:pt x="145735" y="8507"/>
                </a:lnTo>
                <a:lnTo>
                  <a:pt x="145706" y="9123"/>
                </a:lnTo>
                <a:lnTo>
                  <a:pt x="145487" y="9579"/>
                </a:lnTo>
                <a:lnTo>
                  <a:pt x="145074" y="9910"/>
                </a:lnTo>
                <a:lnTo>
                  <a:pt x="144853" y="10351"/>
                </a:lnTo>
                <a:lnTo>
                  <a:pt x="144406" y="10617"/>
                </a:lnTo>
                <a:lnTo>
                  <a:pt x="143798" y="10722"/>
                </a:lnTo>
                <a:lnTo>
                  <a:pt x="143278" y="10973"/>
                </a:lnTo>
                <a:lnTo>
                  <a:pt x="142473" y="11367"/>
                </a:lnTo>
                <a:lnTo>
                  <a:pt x="141647" y="11536"/>
                </a:lnTo>
                <a:lnTo>
                  <a:pt x="140970" y="11544"/>
                </a:lnTo>
                <a:lnTo>
                  <a:pt x="139759" y="11738"/>
                </a:lnTo>
                <a:lnTo>
                  <a:pt x="138892" y="11838"/>
                </a:lnTo>
                <a:lnTo>
                  <a:pt x="137633" y="11992"/>
                </a:lnTo>
                <a:lnTo>
                  <a:pt x="136302" y="12124"/>
                </a:lnTo>
                <a:lnTo>
                  <a:pt x="134973" y="12207"/>
                </a:lnTo>
                <a:lnTo>
                  <a:pt x="133539" y="12491"/>
                </a:lnTo>
                <a:lnTo>
                  <a:pt x="131821" y="12466"/>
                </a:lnTo>
                <a:lnTo>
                  <a:pt x="130198" y="12593"/>
                </a:lnTo>
                <a:lnTo>
                  <a:pt x="128137" y="12758"/>
                </a:lnTo>
                <a:lnTo>
                  <a:pt x="126155" y="12642"/>
                </a:lnTo>
                <a:lnTo>
                  <a:pt x="123668" y="12723"/>
                </a:lnTo>
                <a:lnTo>
                  <a:pt x="121387" y="12773"/>
                </a:lnTo>
                <a:lnTo>
                  <a:pt x="118474" y="12879"/>
                </a:lnTo>
                <a:lnTo>
                  <a:pt x="115421" y="12918"/>
                </a:lnTo>
                <a:lnTo>
                  <a:pt x="111901" y="13003"/>
                </a:lnTo>
                <a:lnTo>
                  <a:pt x="107749" y="12988"/>
                </a:lnTo>
                <a:lnTo>
                  <a:pt x="102495" y="13106"/>
                </a:lnTo>
                <a:lnTo>
                  <a:pt x="95229" y="13086"/>
                </a:lnTo>
                <a:lnTo>
                  <a:pt x="72806" y="12959"/>
                </a:lnTo>
                <a:lnTo>
                  <a:pt x="50543" y="12975"/>
                </a:lnTo>
                <a:lnTo>
                  <a:pt x="43507" y="13046"/>
                </a:lnTo>
                <a:lnTo>
                  <a:pt x="38327" y="12909"/>
                </a:lnTo>
                <a:lnTo>
                  <a:pt x="34000" y="12865"/>
                </a:lnTo>
                <a:lnTo>
                  <a:pt x="30460" y="12917"/>
                </a:lnTo>
                <a:lnTo>
                  <a:pt x="27404" y="12995"/>
                </a:lnTo>
                <a:lnTo>
                  <a:pt x="24673" y="12894"/>
                </a:lnTo>
                <a:lnTo>
                  <a:pt x="22051" y="12733"/>
                </a:lnTo>
                <a:lnTo>
                  <a:pt x="19914" y="12698"/>
                </a:lnTo>
                <a:lnTo>
                  <a:pt x="17601" y="12587"/>
                </a:lnTo>
                <a:lnTo>
                  <a:pt x="15837" y="12646"/>
                </a:lnTo>
                <a:lnTo>
                  <a:pt x="13904" y="12467"/>
                </a:lnTo>
                <a:lnTo>
                  <a:pt x="12290" y="12347"/>
                </a:lnTo>
                <a:lnTo>
                  <a:pt x="10885" y="12243"/>
                </a:lnTo>
                <a:lnTo>
                  <a:pt x="9572" y="12180"/>
                </a:lnTo>
                <a:lnTo>
                  <a:pt x="8228" y="12129"/>
                </a:lnTo>
                <a:lnTo>
                  <a:pt x="7046" y="11953"/>
                </a:lnTo>
                <a:lnTo>
                  <a:pt x="5981" y="11851"/>
                </a:lnTo>
                <a:lnTo>
                  <a:pt x="5030" y="11541"/>
                </a:lnTo>
                <a:lnTo>
                  <a:pt x="4198" y="11432"/>
                </a:lnTo>
                <a:lnTo>
                  <a:pt x="3432" y="11315"/>
                </a:lnTo>
                <a:lnTo>
                  <a:pt x="2521" y="11133"/>
                </a:lnTo>
                <a:lnTo>
                  <a:pt x="2052" y="10738"/>
                </a:lnTo>
                <a:lnTo>
                  <a:pt x="1419" y="10698"/>
                </a:lnTo>
                <a:lnTo>
                  <a:pt x="1147" y="10213"/>
                </a:lnTo>
                <a:lnTo>
                  <a:pt x="806" y="9969"/>
                </a:lnTo>
                <a:lnTo>
                  <a:pt x="428" y="9621"/>
                </a:lnTo>
                <a:lnTo>
                  <a:pt x="134" y="9219"/>
                </a:lnTo>
                <a:lnTo>
                  <a:pt x="91" y="8501"/>
                </a:lnTo>
                <a:lnTo>
                  <a:pt x="0" y="6492"/>
                </a:lnTo>
                <a:lnTo>
                  <a:pt x="209" y="4536"/>
                </a:lnTo>
                <a:lnTo>
                  <a:pt x="214" y="3850"/>
                </a:lnTo>
                <a:lnTo>
                  <a:pt x="404" y="3407"/>
                </a:lnTo>
                <a:lnTo>
                  <a:pt x="650" y="3126"/>
                </a:lnTo>
                <a:lnTo>
                  <a:pt x="1090" y="2877"/>
                </a:lnTo>
                <a:lnTo>
                  <a:pt x="1581" y="2521"/>
                </a:lnTo>
                <a:lnTo>
                  <a:pt x="1911" y="2278"/>
                </a:lnTo>
                <a:lnTo>
                  <a:pt x="2646" y="2108"/>
                </a:lnTo>
                <a:lnTo>
                  <a:pt x="3276" y="1768"/>
                </a:lnTo>
                <a:lnTo>
                  <a:pt x="4165" y="1655"/>
                </a:lnTo>
                <a:lnTo>
                  <a:pt x="4992" y="1348"/>
                </a:lnTo>
                <a:lnTo>
                  <a:pt x="5943" y="1212"/>
                </a:lnTo>
                <a:lnTo>
                  <a:pt x="7010" y="1124"/>
                </a:lnTo>
                <a:lnTo>
                  <a:pt x="8294" y="1137"/>
                </a:lnTo>
                <a:lnTo>
                  <a:pt x="9410" y="831"/>
                </a:lnTo>
                <a:lnTo>
                  <a:pt x="10922" y="765"/>
                </a:lnTo>
                <a:lnTo>
                  <a:pt x="12303" y="679"/>
                </a:lnTo>
                <a:lnTo>
                  <a:pt x="13991" y="569"/>
                </a:lnTo>
                <a:lnTo>
                  <a:pt x="15692" y="601"/>
                </a:lnTo>
                <a:lnTo>
                  <a:pt x="17590" y="346"/>
                </a:lnTo>
                <a:lnTo>
                  <a:pt x="19854" y="310"/>
                </a:lnTo>
                <a:lnTo>
                  <a:pt x="21976" y="256"/>
                </a:lnTo>
                <a:lnTo>
                  <a:pt x="24610" y="240"/>
                </a:lnTo>
                <a:lnTo>
                  <a:pt x="27342" y="224"/>
                </a:lnTo>
                <a:lnTo>
                  <a:pt x="30404" y="62"/>
                </a:lnTo>
                <a:lnTo>
                  <a:pt x="34164" y="0"/>
                </a:lnTo>
                <a:lnTo>
                  <a:pt x="38216" y="60"/>
                </a:lnTo>
                <a:lnTo>
                  <a:pt x="43287" y="34"/>
                </a:lnTo>
                <a:lnTo>
                  <a:pt x="50619" y="64"/>
                </a:lnTo>
                <a:lnTo>
                  <a:pt x="72825" y="159"/>
                </a:lnTo>
                <a:lnTo>
                  <a:pt x="95397" y="59"/>
                </a:lnTo>
                <a:lnTo>
                  <a:pt x="102453" y="38"/>
                </a:lnTo>
                <a:lnTo>
                  <a:pt x="107514" y="21"/>
                </a:lnTo>
                <a:lnTo>
                  <a:pt x="111880" y="88"/>
                </a:lnTo>
                <a:lnTo>
                  <a:pt x="115354" y="206"/>
                </a:lnTo>
                <a:lnTo>
                  <a:pt x="118440" y="249"/>
                </a:lnTo>
                <a:lnTo>
                  <a:pt x="121371" y="336"/>
                </a:lnTo>
                <a:lnTo>
                  <a:pt x="123878" y="178"/>
                </a:lnTo>
                <a:lnTo>
                  <a:pt x="125952" y="406"/>
                </a:lnTo>
                <a:lnTo>
                  <a:pt x="128160" y="409"/>
                </a:lnTo>
                <a:lnTo>
                  <a:pt x="129995" y="450"/>
                </a:lnTo>
                <a:lnTo>
                  <a:pt x="131883" y="523"/>
                </a:lnTo>
                <a:lnTo>
                  <a:pt x="133483" y="613"/>
                </a:lnTo>
                <a:lnTo>
                  <a:pt x="135120" y="872"/>
                </a:lnTo>
                <a:lnTo>
                  <a:pt x="136383" y="942"/>
                </a:lnTo>
                <a:lnTo>
                  <a:pt x="137615" y="1070"/>
                </a:lnTo>
                <a:lnTo>
                  <a:pt x="138861" y="1055"/>
                </a:lnTo>
                <a:lnTo>
                  <a:pt x="139981" y="1257"/>
                </a:lnTo>
                <a:lnTo>
                  <a:pt x="140883" y="1497"/>
                </a:lnTo>
                <a:lnTo>
                  <a:pt x="141773" y="1723"/>
                </a:lnTo>
                <a:lnTo>
                  <a:pt x="142546" y="1913"/>
                </a:lnTo>
                <a:lnTo>
                  <a:pt x="143322" y="2022"/>
                </a:lnTo>
                <a:lnTo>
                  <a:pt x="143898" y="2285"/>
                </a:lnTo>
                <a:lnTo>
                  <a:pt x="144267" y="2581"/>
                </a:lnTo>
                <a:lnTo>
                  <a:pt x="144793" y="2765"/>
                </a:lnTo>
                <a:lnTo>
                  <a:pt x="145250" y="3178"/>
                </a:lnTo>
                <a:lnTo>
                  <a:pt x="145463" y="3350"/>
                </a:lnTo>
                <a:lnTo>
                  <a:pt x="145659" y="3874"/>
                </a:lnTo>
                <a:lnTo>
                  <a:pt x="145793" y="4442"/>
                </a:lnTo>
                <a:lnTo>
                  <a:pt x="145751" y="6488"/>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643463" y="6222126"/>
            <a:ext cx="13342650" cy="1199601"/>
          </a:xfrm>
          <a:custGeom>
            <a:avLst/>
            <a:gdLst/>
            <a:ahLst/>
            <a:cxnLst/>
            <a:rect l="l" t="t" r="r" b="b"/>
            <a:pathLst>
              <a:path w="145917" h="13119">
                <a:moveTo>
                  <a:pt x="145760" y="6642"/>
                </a:moveTo>
                <a:lnTo>
                  <a:pt x="145917" y="8591"/>
                </a:lnTo>
                <a:lnTo>
                  <a:pt x="145806" y="9212"/>
                </a:lnTo>
                <a:lnTo>
                  <a:pt x="145481" y="9712"/>
                </a:lnTo>
                <a:lnTo>
                  <a:pt x="145305" y="10076"/>
                </a:lnTo>
                <a:lnTo>
                  <a:pt x="144967" y="10320"/>
                </a:lnTo>
                <a:lnTo>
                  <a:pt x="144458" y="10683"/>
                </a:lnTo>
                <a:lnTo>
                  <a:pt x="143849" y="10740"/>
                </a:lnTo>
                <a:lnTo>
                  <a:pt x="143281" y="11013"/>
                </a:lnTo>
                <a:lnTo>
                  <a:pt x="142442" y="11301"/>
                </a:lnTo>
                <a:lnTo>
                  <a:pt x="141859" y="11490"/>
                </a:lnTo>
                <a:lnTo>
                  <a:pt x="140882" y="11654"/>
                </a:lnTo>
                <a:lnTo>
                  <a:pt x="140041" y="11896"/>
                </a:lnTo>
                <a:lnTo>
                  <a:pt x="138837" y="11925"/>
                </a:lnTo>
                <a:lnTo>
                  <a:pt x="137608" y="11978"/>
                </a:lnTo>
                <a:lnTo>
                  <a:pt x="136348" y="12247"/>
                </a:lnTo>
                <a:lnTo>
                  <a:pt x="134913" y="12311"/>
                </a:lnTo>
                <a:lnTo>
                  <a:pt x="133450" y="12493"/>
                </a:lnTo>
                <a:lnTo>
                  <a:pt x="131928" y="12460"/>
                </a:lnTo>
                <a:lnTo>
                  <a:pt x="130074" y="12511"/>
                </a:lnTo>
                <a:lnTo>
                  <a:pt x="128106" y="12646"/>
                </a:lnTo>
                <a:lnTo>
                  <a:pt x="125979" y="12649"/>
                </a:lnTo>
                <a:lnTo>
                  <a:pt x="123937" y="12731"/>
                </a:lnTo>
                <a:lnTo>
                  <a:pt x="121336" y="12915"/>
                </a:lnTo>
                <a:lnTo>
                  <a:pt x="118433" y="12813"/>
                </a:lnTo>
                <a:lnTo>
                  <a:pt x="115404" y="13006"/>
                </a:lnTo>
                <a:lnTo>
                  <a:pt x="111904" y="12872"/>
                </a:lnTo>
                <a:lnTo>
                  <a:pt x="107680" y="12946"/>
                </a:lnTo>
                <a:lnTo>
                  <a:pt x="102497" y="13119"/>
                </a:lnTo>
                <a:lnTo>
                  <a:pt x="95281" y="13010"/>
                </a:lnTo>
                <a:lnTo>
                  <a:pt x="73079" y="13096"/>
                </a:lnTo>
                <a:lnTo>
                  <a:pt x="50690" y="13082"/>
                </a:lnTo>
                <a:lnTo>
                  <a:pt x="43393" y="12931"/>
                </a:lnTo>
                <a:lnTo>
                  <a:pt x="38342" y="13026"/>
                </a:lnTo>
                <a:lnTo>
                  <a:pt x="34057" y="13005"/>
                </a:lnTo>
                <a:lnTo>
                  <a:pt x="30450" y="12833"/>
                </a:lnTo>
                <a:lnTo>
                  <a:pt x="27517" y="12951"/>
                </a:lnTo>
                <a:lnTo>
                  <a:pt x="24501" y="12904"/>
                </a:lnTo>
                <a:lnTo>
                  <a:pt x="22148" y="12763"/>
                </a:lnTo>
                <a:lnTo>
                  <a:pt x="19706" y="12632"/>
                </a:lnTo>
                <a:lnTo>
                  <a:pt x="17656" y="12749"/>
                </a:lnTo>
                <a:lnTo>
                  <a:pt x="15772" y="12494"/>
                </a:lnTo>
                <a:lnTo>
                  <a:pt x="14131" y="12387"/>
                </a:lnTo>
                <a:lnTo>
                  <a:pt x="12532" y="12338"/>
                </a:lnTo>
                <a:lnTo>
                  <a:pt x="10795" y="12377"/>
                </a:lnTo>
                <a:lnTo>
                  <a:pt x="9391" y="12280"/>
                </a:lnTo>
                <a:lnTo>
                  <a:pt x="8266" y="11975"/>
                </a:lnTo>
                <a:lnTo>
                  <a:pt x="7099" y="12004"/>
                </a:lnTo>
                <a:lnTo>
                  <a:pt x="6090" y="11823"/>
                </a:lnTo>
                <a:lnTo>
                  <a:pt x="4966" y="11680"/>
                </a:lnTo>
                <a:lnTo>
                  <a:pt x="4250" y="11448"/>
                </a:lnTo>
                <a:lnTo>
                  <a:pt x="3397" y="11254"/>
                </a:lnTo>
                <a:lnTo>
                  <a:pt x="2659" y="11090"/>
                </a:lnTo>
                <a:lnTo>
                  <a:pt x="1965" y="10771"/>
                </a:lnTo>
                <a:lnTo>
                  <a:pt x="1430" y="10614"/>
                </a:lnTo>
                <a:lnTo>
                  <a:pt x="1139" y="10269"/>
                </a:lnTo>
                <a:lnTo>
                  <a:pt x="712" y="10123"/>
                </a:lnTo>
                <a:lnTo>
                  <a:pt x="348" y="9591"/>
                </a:lnTo>
                <a:lnTo>
                  <a:pt x="214" y="9096"/>
                </a:lnTo>
                <a:lnTo>
                  <a:pt x="19" y="8481"/>
                </a:lnTo>
                <a:lnTo>
                  <a:pt x="0" y="6483"/>
                </a:lnTo>
                <a:lnTo>
                  <a:pt x="156" y="4660"/>
                </a:lnTo>
                <a:lnTo>
                  <a:pt x="344" y="3950"/>
                </a:lnTo>
                <a:lnTo>
                  <a:pt x="425" y="3544"/>
                </a:lnTo>
                <a:lnTo>
                  <a:pt x="759" y="3035"/>
                </a:lnTo>
                <a:lnTo>
                  <a:pt x="1069" y="2860"/>
                </a:lnTo>
                <a:lnTo>
                  <a:pt x="1606" y="2592"/>
                </a:lnTo>
                <a:lnTo>
                  <a:pt x="2035" y="2294"/>
                </a:lnTo>
                <a:lnTo>
                  <a:pt x="2801" y="1946"/>
                </a:lnTo>
                <a:lnTo>
                  <a:pt x="3242" y="1797"/>
                </a:lnTo>
                <a:lnTo>
                  <a:pt x="4124" y="1595"/>
                </a:lnTo>
                <a:lnTo>
                  <a:pt x="5122" y="1556"/>
                </a:lnTo>
                <a:lnTo>
                  <a:pt x="6005" y="1281"/>
                </a:lnTo>
                <a:lnTo>
                  <a:pt x="7098" y="1111"/>
                </a:lnTo>
                <a:lnTo>
                  <a:pt x="8324" y="984"/>
                </a:lnTo>
                <a:lnTo>
                  <a:pt x="9475" y="795"/>
                </a:lnTo>
                <a:lnTo>
                  <a:pt x="10804" y="820"/>
                </a:lnTo>
                <a:lnTo>
                  <a:pt x="12425" y="716"/>
                </a:lnTo>
                <a:lnTo>
                  <a:pt x="13929" y="555"/>
                </a:lnTo>
                <a:lnTo>
                  <a:pt x="15877" y="600"/>
                </a:lnTo>
                <a:lnTo>
                  <a:pt x="17860" y="540"/>
                </a:lnTo>
                <a:lnTo>
                  <a:pt x="19741" y="292"/>
                </a:lnTo>
                <a:lnTo>
                  <a:pt x="22011" y="423"/>
                </a:lnTo>
                <a:lnTo>
                  <a:pt x="24700" y="196"/>
                </a:lnTo>
                <a:lnTo>
                  <a:pt x="27271" y="164"/>
                </a:lnTo>
                <a:lnTo>
                  <a:pt x="30455" y="191"/>
                </a:lnTo>
                <a:lnTo>
                  <a:pt x="34003" y="147"/>
                </a:lnTo>
                <a:lnTo>
                  <a:pt x="38207" y="190"/>
                </a:lnTo>
                <a:lnTo>
                  <a:pt x="43474" y="0"/>
                </a:lnTo>
                <a:lnTo>
                  <a:pt x="50467" y="38"/>
                </a:lnTo>
                <a:lnTo>
                  <a:pt x="73038" y="57"/>
                </a:lnTo>
                <a:lnTo>
                  <a:pt x="95308" y="97"/>
                </a:lnTo>
                <a:lnTo>
                  <a:pt x="102564" y="55"/>
                </a:lnTo>
                <a:lnTo>
                  <a:pt x="107657" y="191"/>
                </a:lnTo>
                <a:lnTo>
                  <a:pt x="111964" y="123"/>
                </a:lnTo>
                <a:lnTo>
                  <a:pt x="115500" y="80"/>
                </a:lnTo>
                <a:lnTo>
                  <a:pt x="118476" y="197"/>
                </a:lnTo>
                <a:lnTo>
                  <a:pt x="121383" y="345"/>
                </a:lnTo>
                <a:lnTo>
                  <a:pt x="123700" y="284"/>
                </a:lnTo>
                <a:lnTo>
                  <a:pt x="126221" y="333"/>
                </a:lnTo>
                <a:lnTo>
                  <a:pt x="128243" y="488"/>
                </a:lnTo>
                <a:lnTo>
                  <a:pt x="130026" y="580"/>
                </a:lnTo>
                <a:lnTo>
                  <a:pt x="131924" y="626"/>
                </a:lnTo>
                <a:lnTo>
                  <a:pt x="133507" y="750"/>
                </a:lnTo>
                <a:lnTo>
                  <a:pt x="134923" y="893"/>
                </a:lnTo>
                <a:lnTo>
                  <a:pt x="136444" y="870"/>
                </a:lnTo>
                <a:lnTo>
                  <a:pt x="137561" y="1012"/>
                </a:lnTo>
                <a:lnTo>
                  <a:pt x="138928" y="1168"/>
                </a:lnTo>
                <a:lnTo>
                  <a:pt x="139951" y="1294"/>
                </a:lnTo>
                <a:lnTo>
                  <a:pt x="140986" y="1462"/>
                </a:lnTo>
                <a:lnTo>
                  <a:pt x="141772" y="1641"/>
                </a:lnTo>
                <a:lnTo>
                  <a:pt x="142619" y="1864"/>
                </a:lnTo>
                <a:lnTo>
                  <a:pt x="143379" y="2108"/>
                </a:lnTo>
                <a:lnTo>
                  <a:pt x="143753" y="2241"/>
                </a:lnTo>
                <a:lnTo>
                  <a:pt x="144397" y="2581"/>
                </a:lnTo>
                <a:lnTo>
                  <a:pt x="144787" y="2838"/>
                </a:lnTo>
                <a:lnTo>
                  <a:pt x="145261" y="3076"/>
                </a:lnTo>
                <a:lnTo>
                  <a:pt x="145479" y="3556"/>
                </a:lnTo>
                <a:lnTo>
                  <a:pt x="145667" y="3903"/>
                </a:lnTo>
                <a:lnTo>
                  <a:pt x="145742" y="4449"/>
                </a:lnTo>
                <a:lnTo>
                  <a:pt x="145827" y="6532"/>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13742609" y="7137532"/>
            <a:ext cx="178125" cy="97384"/>
          </a:xfrm>
          <a:custGeom>
            <a:avLst/>
            <a:gdLst/>
            <a:ahLst/>
            <a:cxnLst/>
            <a:rect l="l" t="t" r="r" b="b"/>
            <a:pathLst>
              <a:path w="1948" h="1065">
                <a:moveTo>
                  <a:pt x="1948" y="0"/>
                </a:moveTo>
                <a:lnTo>
                  <a:pt x="1585" y="317"/>
                </a:lnTo>
                <a:lnTo>
                  <a:pt x="1141" y="594"/>
                </a:lnTo>
                <a:lnTo>
                  <a:pt x="613" y="841"/>
                </a:lnTo>
                <a:lnTo>
                  <a:pt x="0" y="1065"/>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11735775" y="7373722"/>
            <a:ext cx="805678" cy="24140"/>
          </a:xfrm>
          <a:custGeom>
            <a:avLst/>
            <a:gdLst/>
            <a:ahLst/>
            <a:cxnLst/>
            <a:rect l="l" t="t" r="r" b="b"/>
            <a:pathLst>
              <a:path w="8811" h="264">
                <a:moveTo>
                  <a:pt x="8811" y="0"/>
                </a:moveTo>
                <a:lnTo>
                  <a:pt x="6889" y="78"/>
                </a:lnTo>
                <a:lnTo>
                  <a:pt x="4797" y="148"/>
                </a:lnTo>
                <a:lnTo>
                  <a:pt x="2511" y="210"/>
                </a:lnTo>
                <a:lnTo>
                  <a:pt x="0" y="26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2665019" y="7392924"/>
            <a:ext cx="1094720" cy="15819"/>
          </a:xfrm>
          <a:custGeom>
            <a:avLst/>
            <a:gdLst/>
            <a:ahLst/>
            <a:cxnLst/>
            <a:rect l="l" t="t" r="r" b="b"/>
            <a:pathLst>
              <a:path w="11972" h="173">
                <a:moveTo>
                  <a:pt x="11972" y="173"/>
                </a:moveTo>
                <a:lnTo>
                  <a:pt x="8412" y="141"/>
                </a:lnTo>
                <a:lnTo>
                  <a:pt x="5293" y="101"/>
                </a:lnTo>
                <a:lnTo>
                  <a:pt x="2511" y="54"/>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831738" y="7214433"/>
            <a:ext cx="272217" cy="71689"/>
          </a:xfrm>
          <a:custGeom>
            <a:avLst/>
            <a:gdLst/>
            <a:ahLst/>
            <a:cxnLst/>
            <a:rect l="l" t="t" r="r" b="b"/>
            <a:pathLst>
              <a:path w="2977" h="784">
                <a:moveTo>
                  <a:pt x="2977" y="784"/>
                </a:moveTo>
                <a:lnTo>
                  <a:pt x="2099" y="613"/>
                </a:lnTo>
                <a:lnTo>
                  <a:pt x="1312" y="427"/>
                </a:lnTo>
                <a:lnTo>
                  <a:pt x="613" y="224"/>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709666" y="6407932"/>
            <a:ext cx="178125" cy="97384"/>
          </a:xfrm>
          <a:custGeom>
            <a:avLst/>
            <a:gdLst/>
            <a:ahLst/>
            <a:cxnLst/>
            <a:rect l="l" t="t" r="r" b="b"/>
            <a:pathLst>
              <a:path w="1948" h="1065">
                <a:moveTo>
                  <a:pt x="0" y="1065"/>
                </a:moveTo>
                <a:lnTo>
                  <a:pt x="363" y="748"/>
                </a:lnTo>
                <a:lnTo>
                  <a:pt x="807" y="471"/>
                </a:lnTo>
                <a:lnTo>
                  <a:pt x="1335" y="224"/>
                </a:lnTo>
                <a:lnTo>
                  <a:pt x="1948"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088947" y="6244986"/>
            <a:ext cx="805678" cy="24140"/>
          </a:xfrm>
          <a:custGeom>
            <a:avLst/>
            <a:gdLst/>
            <a:ahLst/>
            <a:cxnLst/>
            <a:rect l="l" t="t" r="r" b="b"/>
            <a:pathLst>
              <a:path w="8811" h="264">
                <a:moveTo>
                  <a:pt x="0" y="264"/>
                </a:moveTo>
                <a:lnTo>
                  <a:pt x="1922" y="186"/>
                </a:lnTo>
                <a:lnTo>
                  <a:pt x="4014" y="116"/>
                </a:lnTo>
                <a:lnTo>
                  <a:pt x="6300" y="54"/>
                </a:lnTo>
                <a:lnTo>
                  <a:pt x="8811"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10870662" y="6234105"/>
            <a:ext cx="1094720" cy="15819"/>
          </a:xfrm>
          <a:custGeom>
            <a:avLst/>
            <a:gdLst/>
            <a:ahLst/>
            <a:cxnLst/>
            <a:rect l="l" t="t" r="r" b="b"/>
            <a:pathLst>
              <a:path w="11972" h="173">
                <a:moveTo>
                  <a:pt x="0" y="0"/>
                </a:moveTo>
                <a:lnTo>
                  <a:pt x="3560" y="32"/>
                </a:lnTo>
                <a:lnTo>
                  <a:pt x="6679" y="72"/>
                </a:lnTo>
                <a:lnTo>
                  <a:pt x="9461" y="119"/>
                </a:lnTo>
                <a:lnTo>
                  <a:pt x="11972" y="173"/>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13526445" y="6356726"/>
            <a:ext cx="272217" cy="71689"/>
          </a:xfrm>
          <a:custGeom>
            <a:avLst/>
            <a:gdLst/>
            <a:ahLst/>
            <a:cxnLst/>
            <a:rect l="l" t="t" r="r" b="b"/>
            <a:pathLst>
              <a:path w="2977" h="784">
                <a:moveTo>
                  <a:pt x="0" y="0"/>
                </a:moveTo>
                <a:lnTo>
                  <a:pt x="878" y="171"/>
                </a:lnTo>
                <a:lnTo>
                  <a:pt x="1665" y="357"/>
                </a:lnTo>
                <a:lnTo>
                  <a:pt x="2364" y="560"/>
                </a:lnTo>
                <a:lnTo>
                  <a:pt x="2977" y="78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 Expected harm = incident rate × deployment volume. Patching a pr"/>
          <p:cNvSpPr txBox="1"/>
          <p:nvPr/>
        </p:nvSpPr>
        <p:spPr>
          <a:xfrm>
            <a:off x="914400" y="6500844"/>
            <a:ext cx="12801600" cy="641159"/>
          </a:xfrm>
          <a:prstGeom prst="rect">
            <a:avLst/>
          </a:prstGeom>
          <a:noFill/>
        </p:spPr>
        <p:txBody>
          <a:bodyPr wrap="none" lIns="0" rIns="0" tIns="0" bIns="0" anchor="t">
            <a:noAutofit/>
          </a:bodyPr>
          <a:lstStyle/>
          <a:p>
            <a:pPr algn="ctr">
              <a:lnSpc>
                <a:spcPts val="2254"/>
              </a:lnSpc>
              <a:spcBef>
                <a:spcPts val="0"/>
              </a:spcBef>
              <a:spcAft>
                <a:spcPts val="0"/>
              </a:spcAft>
            </a:pPr>
            <a:r>
              <a:rPr sz="1775" b="0">
                <a:solidFill>
                  <a:srgbClr val="293E46"/>
                </a:solidFill>
                <a:latin typeface="Trebuchet MS"/>
              </a:rPr>
              <a:t>Expected harm = incident rate × deployment volume.</a:t>
            </a:r>
            <a:br/>
            <a:r>
              <a:rPr sz="1775" b="0">
                <a:solidFill>
                  <a:srgbClr val="293E46"/>
                </a:solidFill>
                <a:latin typeface="Trebuchet MS"/>
              </a:rPr>
              <a:t>Patching a prompt has diminishing returns. A regression case is reused against every future policy. Learning compounds.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1 · MOTIVATIO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1 · MOTIVATION</a:t>
            </a:r>
          </a:p>
        </p:txBody>
      </p:sp>
      <p:sp>
        <p:nvSpPr>
          <p:cNvPr id="3" name="title: The thesi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The thesis</a:t>
            </a:r>
          </a:p>
        </p:txBody>
      </p:sp>
      <p:sp>
        <p:nvSpPr>
          <p:cNvPr id="4" name="Freeform 3"/>
          <p:cNvSpPr/>
          <p:nvPr/>
        </p:nvSpPr>
        <p:spPr>
          <a:xfrm>
            <a:off x="6263640" y="1365199"/>
            <a:ext cx="2103120" cy="38953"/>
          </a:xfrm>
          <a:custGeom>
            <a:avLst/>
            <a:gdLst/>
            <a:ahLst/>
            <a:cxnLst/>
            <a:rect l="l" t="t" r="r" b="b"/>
            <a:pathLst>
              <a:path w="23000" h="426">
                <a:moveTo>
                  <a:pt x="0" y="90"/>
                </a:moveTo>
                <a:lnTo>
                  <a:pt x="958" y="377"/>
                </a:lnTo>
                <a:lnTo>
                  <a:pt x="1917" y="426"/>
                </a:lnTo>
                <a:lnTo>
                  <a:pt x="2875" y="234"/>
                </a:lnTo>
                <a:lnTo>
                  <a:pt x="3833" y="207"/>
                </a:lnTo>
                <a:lnTo>
                  <a:pt x="4792" y="71"/>
                </a:lnTo>
                <a:lnTo>
                  <a:pt x="5750" y="50"/>
                </a:lnTo>
                <a:lnTo>
                  <a:pt x="6708" y="99"/>
                </a:lnTo>
                <a:lnTo>
                  <a:pt x="7667" y="144"/>
                </a:lnTo>
                <a:lnTo>
                  <a:pt x="8625" y="292"/>
                </a:lnTo>
                <a:lnTo>
                  <a:pt x="9583" y="340"/>
                </a:lnTo>
                <a:lnTo>
                  <a:pt x="10542" y="204"/>
                </a:lnTo>
                <a:lnTo>
                  <a:pt x="11500" y="118"/>
                </a:lnTo>
                <a:lnTo>
                  <a:pt x="12458" y="49"/>
                </a:lnTo>
                <a:lnTo>
                  <a:pt x="13417" y="0"/>
                </a:lnTo>
                <a:lnTo>
                  <a:pt x="14375" y="57"/>
                </a:lnTo>
                <a:lnTo>
                  <a:pt x="15333" y="286"/>
                </a:lnTo>
                <a:lnTo>
                  <a:pt x="16292" y="286"/>
                </a:lnTo>
                <a:lnTo>
                  <a:pt x="17250" y="398"/>
                </a:lnTo>
                <a:lnTo>
                  <a:pt x="18208" y="269"/>
                </a:lnTo>
                <a:lnTo>
                  <a:pt x="19167" y="147"/>
                </a:lnTo>
                <a:lnTo>
                  <a:pt x="20125" y="29"/>
                </a:lnTo>
                <a:lnTo>
                  <a:pt x="21083" y="57"/>
                </a:lnTo>
                <a:lnTo>
                  <a:pt x="22042" y="128"/>
                </a:lnTo>
                <a:lnTo>
                  <a:pt x="23000" y="168"/>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81658"/>
            <a:ext cx="2103120" cy="38953"/>
          </a:xfrm>
          <a:custGeom>
            <a:avLst/>
            <a:gdLst/>
            <a:ahLst/>
            <a:cxnLst/>
            <a:rect l="l" t="t" r="r" b="b"/>
            <a:pathLst>
              <a:path w="23000" h="426">
                <a:moveTo>
                  <a:pt x="0" y="90"/>
                </a:moveTo>
                <a:lnTo>
                  <a:pt x="958" y="377"/>
                </a:lnTo>
                <a:lnTo>
                  <a:pt x="1917" y="426"/>
                </a:lnTo>
                <a:lnTo>
                  <a:pt x="2875" y="234"/>
                </a:lnTo>
                <a:lnTo>
                  <a:pt x="3833" y="207"/>
                </a:lnTo>
                <a:lnTo>
                  <a:pt x="4792" y="71"/>
                </a:lnTo>
                <a:lnTo>
                  <a:pt x="5750" y="50"/>
                </a:lnTo>
                <a:lnTo>
                  <a:pt x="6708" y="99"/>
                </a:lnTo>
                <a:lnTo>
                  <a:pt x="7667" y="144"/>
                </a:lnTo>
                <a:lnTo>
                  <a:pt x="8625" y="292"/>
                </a:lnTo>
                <a:lnTo>
                  <a:pt x="9583" y="340"/>
                </a:lnTo>
                <a:lnTo>
                  <a:pt x="10542" y="204"/>
                </a:lnTo>
                <a:lnTo>
                  <a:pt x="11500" y="118"/>
                </a:lnTo>
                <a:lnTo>
                  <a:pt x="12458" y="49"/>
                </a:lnTo>
                <a:lnTo>
                  <a:pt x="13417" y="0"/>
                </a:lnTo>
                <a:lnTo>
                  <a:pt x="14375" y="57"/>
                </a:lnTo>
                <a:lnTo>
                  <a:pt x="15333" y="286"/>
                </a:lnTo>
                <a:lnTo>
                  <a:pt x="16292" y="286"/>
                </a:lnTo>
                <a:lnTo>
                  <a:pt x="17250" y="398"/>
                </a:lnTo>
                <a:lnTo>
                  <a:pt x="18208" y="269"/>
                </a:lnTo>
                <a:lnTo>
                  <a:pt x="19167" y="147"/>
                </a:lnTo>
                <a:lnTo>
                  <a:pt x="20125" y="29"/>
                </a:lnTo>
                <a:lnTo>
                  <a:pt x="21083" y="57"/>
                </a:lnTo>
                <a:lnTo>
                  <a:pt x="22042" y="128"/>
                </a:lnTo>
                <a:lnTo>
                  <a:pt x="23000" y="168"/>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9"/>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9</a:t>
            </a:r>
          </a:p>
        </p:txBody>
      </p:sp>
      <p:sp>
        <p:nvSpPr>
          <p:cNvPr id="13" name="Rounded Rectangle 12"/>
          <p:cNvSpPr/>
          <p:nvPr/>
        </p:nvSpPr>
        <p:spPr>
          <a:xfrm>
            <a:off x="777240" y="1728216"/>
            <a:ext cx="13075920" cy="1252728"/>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787573" y="1730228"/>
            <a:ext cx="13062936" cy="1248339"/>
          </a:xfrm>
          <a:custGeom>
            <a:avLst/>
            <a:gdLst/>
            <a:ahLst/>
            <a:cxnLst/>
            <a:rect l="l" t="t" r="r" b="b"/>
            <a:pathLst>
              <a:path w="142858" h="13652">
                <a:moveTo>
                  <a:pt x="142709" y="6922"/>
                </a:moveTo>
                <a:lnTo>
                  <a:pt x="142843" y="8895"/>
                </a:lnTo>
                <a:lnTo>
                  <a:pt x="142524" y="9546"/>
                </a:lnTo>
                <a:lnTo>
                  <a:pt x="142539" y="9979"/>
                </a:lnTo>
                <a:lnTo>
                  <a:pt x="142217" y="10392"/>
                </a:lnTo>
                <a:lnTo>
                  <a:pt x="141700" y="10803"/>
                </a:lnTo>
                <a:lnTo>
                  <a:pt x="141333" y="11154"/>
                </a:lnTo>
                <a:lnTo>
                  <a:pt x="140734" y="11372"/>
                </a:lnTo>
                <a:lnTo>
                  <a:pt x="140215" y="11585"/>
                </a:lnTo>
                <a:lnTo>
                  <a:pt x="139463" y="11749"/>
                </a:lnTo>
                <a:lnTo>
                  <a:pt x="138770" y="11854"/>
                </a:lnTo>
                <a:lnTo>
                  <a:pt x="137945" y="12174"/>
                </a:lnTo>
                <a:lnTo>
                  <a:pt x="137000" y="12274"/>
                </a:lnTo>
                <a:lnTo>
                  <a:pt x="136044" y="12428"/>
                </a:lnTo>
                <a:lnTo>
                  <a:pt x="134756" y="12541"/>
                </a:lnTo>
                <a:lnTo>
                  <a:pt x="133408" y="12721"/>
                </a:lnTo>
                <a:lnTo>
                  <a:pt x="132094" y="12766"/>
                </a:lnTo>
                <a:lnTo>
                  <a:pt x="130644" y="12831"/>
                </a:lnTo>
                <a:lnTo>
                  <a:pt x="129006" y="13059"/>
                </a:lnTo>
                <a:lnTo>
                  <a:pt x="127302" y="13096"/>
                </a:lnTo>
                <a:lnTo>
                  <a:pt x="125381" y="13071"/>
                </a:lnTo>
                <a:lnTo>
                  <a:pt x="123463" y="13200"/>
                </a:lnTo>
                <a:lnTo>
                  <a:pt x="121268" y="13245"/>
                </a:lnTo>
                <a:lnTo>
                  <a:pt x="118729" y="13445"/>
                </a:lnTo>
                <a:lnTo>
                  <a:pt x="116074" y="13385"/>
                </a:lnTo>
                <a:lnTo>
                  <a:pt x="113036" y="13395"/>
                </a:lnTo>
                <a:lnTo>
                  <a:pt x="109398" y="13410"/>
                </a:lnTo>
                <a:lnTo>
                  <a:pt x="105316" y="13459"/>
                </a:lnTo>
                <a:lnTo>
                  <a:pt x="100377" y="13522"/>
                </a:lnTo>
                <a:lnTo>
                  <a:pt x="93340" y="13495"/>
                </a:lnTo>
                <a:lnTo>
                  <a:pt x="71430" y="13652"/>
                </a:lnTo>
                <a:lnTo>
                  <a:pt x="49390" y="13596"/>
                </a:lnTo>
                <a:lnTo>
                  <a:pt x="42383" y="13544"/>
                </a:lnTo>
                <a:lnTo>
                  <a:pt x="37418" y="13424"/>
                </a:lnTo>
                <a:lnTo>
                  <a:pt x="33215" y="13564"/>
                </a:lnTo>
                <a:lnTo>
                  <a:pt x="29782" y="13490"/>
                </a:lnTo>
                <a:lnTo>
                  <a:pt x="26650" y="13348"/>
                </a:lnTo>
                <a:lnTo>
                  <a:pt x="24092" y="13387"/>
                </a:lnTo>
                <a:lnTo>
                  <a:pt x="21700" y="13342"/>
                </a:lnTo>
                <a:lnTo>
                  <a:pt x="19360" y="13369"/>
                </a:lnTo>
                <a:lnTo>
                  <a:pt x="17239" y="13161"/>
                </a:lnTo>
                <a:lnTo>
                  <a:pt x="15531" y="13164"/>
                </a:lnTo>
                <a:lnTo>
                  <a:pt x="13670" y="12935"/>
                </a:lnTo>
                <a:lnTo>
                  <a:pt x="12043" y="12920"/>
                </a:lnTo>
                <a:lnTo>
                  <a:pt x="10549" y="12786"/>
                </a:lnTo>
                <a:lnTo>
                  <a:pt x="9203" y="12593"/>
                </a:lnTo>
                <a:lnTo>
                  <a:pt x="8086" y="12622"/>
                </a:lnTo>
                <a:lnTo>
                  <a:pt x="6796" y="12420"/>
                </a:lnTo>
                <a:lnTo>
                  <a:pt x="5874" y="12386"/>
                </a:lnTo>
                <a:lnTo>
                  <a:pt x="4740" y="12103"/>
                </a:lnTo>
                <a:lnTo>
                  <a:pt x="4053" y="12040"/>
                </a:lnTo>
                <a:lnTo>
                  <a:pt x="3338" y="11755"/>
                </a:lnTo>
                <a:lnTo>
                  <a:pt x="2496" y="11572"/>
                </a:lnTo>
                <a:lnTo>
                  <a:pt x="1996" y="11293"/>
                </a:lnTo>
                <a:lnTo>
                  <a:pt x="1494" y="11066"/>
                </a:lnTo>
                <a:lnTo>
                  <a:pt x="1068" y="10663"/>
                </a:lnTo>
                <a:lnTo>
                  <a:pt x="585" y="10480"/>
                </a:lnTo>
                <a:lnTo>
                  <a:pt x="258" y="9948"/>
                </a:lnTo>
                <a:lnTo>
                  <a:pt x="76" y="9445"/>
                </a:lnTo>
                <a:lnTo>
                  <a:pt x="138" y="8933"/>
                </a:lnTo>
                <a:lnTo>
                  <a:pt x="0" y="6836"/>
                </a:lnTo>
                <a:lnTo>
                  <a:pt x="28" y="4669"/>
                </a:lnTo>
                <a:lnTo>
                  <a:pt x="150" y="3991"/>
                </a:lnTo>
                <a:lnTo>
                  <a:pt x="414" y="3521"/>
                </a:lnTo>
                <a:lnTo>
                  <a:pt x="744" y="3125"/>
                </a:lnTo>
                <a:lnTo>
                  <a:pt x="910" y="2988"/>
                </a:lnTo>
                <a:lnTo>
                  <a:pt x="1341" y="2730"/>
                </a:lnTo>
                <a:lnTo>
                  <a:pt x="1907" y="2271"/>
                </a:lnTo>
                <a:lnTo>
                  <a:pt x="2597" y="2233"/>
                </a:lnTo>
                <a:lnTo>
                  <a:pt x="3356" y="1847"/>
                </a:lnTo>
                <a:lnTo>
                  <a:pt x="3994" y="1710"/>
                </a:lnTo>
                <a:lnTo>
                  <a:pt x="4848" y="1470"/>
                </a:lnTo>
                <a:lnTo>
                  <a:pt x="5742" y="1372"/>
                </a:lnTo>
                <a:lnTo>
                  <a:pt x="6965" y="1294"/>
                </a:lnTo>
                <a:lnTo>
                  <a:pt x="7875" y="1165"/>
                </a:lnTo>
                <a:lnTo>
                  <a:pt x="9221" y="1035"/>
                </a:lnTo>
                <a:lnTo>
                  <a:pt x="10720" y="881"/>
                </a:lnTo>
                <a:lnTo>
                  <a:pt x="12123" y="779"/>
                </a:lnTo>
                <a:lnTo>
                  <a:pt x="13788" y="674"/>
                </a:lnTo>
                <a:lnTo>
                  <a:pt x="15492" y="453"/>
                </a:lnTo>
                <a:lnTo>
                  <a:pt x="17360" y="545"/>
                </a:lnTo>
                <a:lnTo>
                  <a:pt x="19405" y="410"/>
                </a:lnTo>
                <a:lnTo>
                  <a:pt x="21588" y="399"/>
                </a:lnTo>
                <a:lnTo>
                  <a:pt x="24054" y="283"/>
                </a:lnTo>
                <a:lnTo>
                  <a:pt x="26778" y="352"/>
                </a:lnTo>
                <a:lnTo>
                  <a:pt x="29815" y="161"/>
                </a:lnTo>
                <a:lnTo>
                  <a:pt x="33330" y="277"/>
                </a:lnTo>
                <a:lnTo>
                  <a:pt x="37285" y="203"/>
                </a:lnTo>
                <a:lnTo>
                  <a:pt x="42559" y="103"/>
                </a:lnTo>
                <a:lnTo>
                  <a:pt x="49356" y="132"/>
                </a:lnTo>
                <a:lnTo>
                  <a:pt x="71285" y="117"/>
                </a:lnTo>
                <a:lnTo>
                  <a:pt x="93315" y="0"/>
                </a:lnTo>
                <a:lnTo>
                  <a:pt x="100363" y="225"/>
                </a:lnTo>
                <a:lnTo>
                  <a:pt x="105434" y="214"/>
                </a:lnTo>
                <a:lnTo>
                  <a:pt x="109526" y="143"/>
                </a:lnTo>
                <a:lnTo>
                  <a:pt x="112983" y="71"/>
                </a:lnTo>
                <a:lnTo>
                  <a:pt x="115902" y="272"/>
                </a:lnTo>
                <a:lnTo>
                  <a:pt x="118784" y="256"/>
                </a:lnTo>
                <a:lnTo>
                  <a:pt x="121257" y="421"/>
                </a:lnTo>
                <a:lnTo>
                  <a:pt x="123314" y="490"/>
                </a:lnTo>
                <a:lnTo>
                  <a:pt x="125585" y="505"/>
                </a:lnTo>
                <a:lnTo>
                  <a:pt x="127320" y="485"/>
                </a:lnTo>
                <a:lnTo>
                  <a:pt x="129207" y="552"/>
                </a:lnTo>
                <a:lnTo>
                  <a:pt x="130571" y="719"/>
                </a:lnTo>
                <a:lnTo>
                  <a:pt x="132067" y="937"/>
                </a:lnTo>
                <a:lnTo>
                  <a:pt x="133592" y="1077"/>
                </a:lnTo>
                <a:lnTo>
                  <a:pt x="134877" y="1153"/>
                </a:lnTo>
                <a:lnTo>
                  <a:pt x="135988" y="1168"/>
                </a:lnTo>
                <a:lnTo>
                  <a:pt x="136849" y="1396"/>
                </a:lnTo>
                <a:lnTo>
                  <a:pt x="137938" y="1449"/>
                </a:lnTo>
                <a:lnTo>
                  <a:pt x="138905" y="1631"/>
                </a:lnTo>
                <a:lnTo>
                  <a:pt x="139585" y="1836"/>
                </a:lnTo>
                <a:lnTo>
                  <a:pt x="140119" y="2125"/>
                </a:lnTo>
                <a:lnTo>
                  <a:pt x="140873" y="2482"/>
                </a:lnTo>
                <a:lnTo>
                  <a:pt x="141419" y="2578"/>
                </a:lnTo>
                <a:lnTo>
                  <a:pt x="141816" y="2926"/>
                </a:lnTo>
                <a:lnTo>
                  <a:pt x="142106" y="3225"/>
                </a:lnTo>
                <a:lnTo>
                  <a:pt x="142362" y="3673"/>
                </a:lnTo>
                <a:lnTo>
                  <a:pt x="142517" y="4033"/>
                </a:lnTo>
                <a:lnTo>
                  <a:pt x="142644" y="4870"/>
                </a:lnTo>
                <a:lnTo>
                  <a:pt x="142858" y="6822"/>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781903" y="1730411"/>
            <a:ext cx="13065039" cy="1244956"/>
          </a:xfrm>
          <a:custGeom>
            <a:avLst/>
            <a:gdLst/>
            <a:ahLst/>
            <a:cxnLst/>
            <a:rect l="l" t="t" r="r" b="b"/>
            <a:pathLst>
              <a:path w="142881" h="13615">
                <a:moveTo>
                  <a:pt x="142801" y="6761"/>
                </a:moveTo>
                <a:lnTo>
                  <a:pt x="142881" y="8785"/>
                </a:lnTo>
                <a:lnTo>
                  <a:pt x="142613" y="9667"/>
                </a:lnTo>
                <a:lnTo>
                  <a:pt x="142500" y="10146"/>
                </a:lnTo>
                <a:lnTo>
                  <a:pt x="142256" y="10300"/>
                </a:lnTo>
                <a:lnTo>
                  <a:pt x="141765" y="10826"/>
                </a:lnTo>
                <a:lnTo>
                  <a:pt x="141479" y="11069"/>
                </a:lnTo>
                <a:lnTo>
                  <a:pt x="140790" y="11345"/>
                </a:lnTo>
                <a:lnTo>
                  <a:pt x="140196" y="11404"/>
                </a:lnTo>
                <a:lnTo>
                  <a:pt x="139509" y="11722"/>
                </a:lnTo>
                <a:lnTo>
                  <a:pt x="138713" y="11991"/>
                </a:lnTo>
                <a:lnTo>
                  <a:pt x="138025" y="12115"/>
                </a:lnTo>
                <a:lnTo>
                  <a:pt x="137095" y="12367"/>
                </a:lnTo>
                <a:lnTo>
                  <a:pt x="135948" y="12504"/>
                </a:lnTo>
                <a:lnTo>
                  <a:pt x="134809" y="12535"/>
                </a:lnTo>
                <a:lnTo>
                  <a:pt x="133479" y="12743"/>
                </a:lnTo>
                <a:lnTo>
                  <a:pt x="132191" y="12889"/>
                </a:lnTo>
                <a:lnTo>
                  <a:pt x="130876" y="12896"/>
                </a:lnTo>
                <a:lnTo>
                  <a:pt x="129185" y="12999"/>
                </a:lnTo>
                <a:lnTo>
                  <a:pt x="127447" y="13076"/>
                </a:lnTo>
                <a:lnTo>
                  <a:pt x="125632" y="13296"/>
                </a:lnTo>
                <a:lnTo>
                  <a:pt x="123430" y="13225"/>
                </a:lnTo>
                <a:lnTo>
                  <a:pt x="121218" y="13350"/>
                </a:lnTo>
                <a:lnTo>
                  <a:pt x="118806" y="13266"/>
                </a:lnTo>
                <a:lnTo>
                  <a:pt x="115960" y="13345"/>
                </a:lnTo>
                <a:lnTo>
                  <a:pt x="113073" y="13559"/>
                </a:lnTo>
                <a:lnTo>
                  <a:pt x="109440" y="13615"/>
                </a:lnTo>
                <a:lnTo>
                  <a:pt x="105348" y="13514"/>
                </a:lnTo>
                <a:lnTo>
                  <a:pt x="100414" y="13533"/>
                </a:lnTo>
                <a:lnTo>
                  <a:pt x="93299" y="13570"/>
                </a:lnTo>
                <a:lnTo>
                  <a:pt x="71505" y="13504"/>
                </a:lnTo>
                <a:lnTo>
                  <a:pt x="49554" y="13466"/>
                </a:lnTo>
                <a:lnTo>
                  <a:pt x="42537" y="13518"/>
                </a:lnTo>
                <a:lnTo>
                  <a:pt x="37398" y="13538"/>
                </a:lnTo>
                <a:lnTo>
                  <a:pt x="33467" y="13431"/>
                </a:lnTo>
                <a:lnTo>
                  <a:pt x="29874" y="13464"/>
                </a:lnTo>
                <a:lnTo>
                  <a:pt x="26835" y="13534"/>
                </a:lnTo>
                <a:lnTo>
                  <a:pt x="24120" y="13464"/>
                </a:lnTo>
                <a:lnTo>
                  <a:pt x="21621" y="13428"/>
                </a:lnTo>
                <a:lnTo>
                  <a:pt x="19346" y="13352"/>
                </a:lnTo>
                <a:lnTo>
                  <a:pt x="17253" y="13172"/>
                </a:lnTo>
                <a:lnTo>
                  <a:pt x="15593" y="13059"/>
                </a:lnTo>
                <a:lnTo>
                  <a:pt x="13743" y="13046"/>
                </a:lnTo>
                <a:lnTo>
                  <a:pt x="12141" y="12819"/>
                </a:lnTo>
                <a:lnTo>
                  <a:pt x="10553" y="12909"/>
                </a:lnTo>
                <a:lnTo>
                  <a:pt x="9210" y="12638"/>
                </a:lnTo>
                <a:lnTo>
                  <a:pt x="7945" y="12616"/>
                </a:lnTo>
                <a:lnTo>
                  <a:pt x="7010" y="12366"/>
                </a:lnTo>
                <a:lnTo>
                  <a:pt x="5866" y="12259"/>
                </a:lnTo>
                <a:lnTo>
                  <a:pt x="4872" y="12038"/>
                </a:lnTo>
                <a:lnTo>
                  <a:pt x="4028" y="11952"/>
                </a:lnTo>
                <a:lnTo>
                  <a:pt x="3207" y="11849"/>
                </a:lnTo>
                <a:lnTo>
                  <a:pt x="2619" y="11411"/>
                </a:lnTo>
                <a:lnTo>
                  <a:pt x="2050" y="11314"/>
                </a:lnTo>
                <a:lnTo>
                  <a:pt x="1393" y="11001"/>
                </a:lnTo>
                <a:lnTo>
                  <a:pt x="1173" y="10641"/>
                </a:lnTo>
                <a:lnTo>
                  <a:pt x="585" y="10321"/>
                </a:lnTo>
                <a:lnTo>
                  <a:pt x="362" y="9926"/>
                </a:lnTo>
                <a:lnTo>
                  <a:pt x="163" y="9455"/>
                </a:lnTo>
                <a:lnTo>
                  <a:pt x="0" y="8810"/>
                </a:lnTo>
                <a:lnTo>
                  <a:pt x="21" y="6764"/>
                </a:lnTo>
                <a:lnTo>
                  <a:pt x="45" y="4676"/>
                </a:lnTo>
                <a:lnTo>
                  <a:pt x="345" y="4151"/>
                </a:lnTo>
                <a:lnTo>
                  <a:pt x="493" y="3513"/>
                </a:lnTo>
                <a:lnTo>
                  <a:pt x="716" y="3144"/>
                </a:lnTo>
                <a:lnTo>
                  <a:pt x="1096" y="2897"/>
                </a:lnTo>
                <a:lnTo>
                  <a:pt x="1433" y="2539"/>
                </a:lnTo>
                <a:lnTo>
                  <a:pt x="2044" y="2416"/>
                </a:lnTo>
                <a:lnTo>
                  <a:pt x="2604" y="2090"/>
                </a:lnTo>
                <a:lnTo>
                  <a:pt x="3350" y="1896"/>
                </a:lnTo>
                <a:lnTo>
                  <a:pt x="4076" y="1756"/>
                </a:lnTo>
                <a:lnTo>
                  <a:pt x="4933" y="1557"/>
                </a:lnTo>
                <a:lnTo>
                  <a:pt x="5971" y="1437"/>
                </a:lnTo>
                <a:lnTo>
                  <a:pt x="6964" y="1301"/>
                </a:lnTo>
                <a:lnTo>
                  <a:pt x="8012" y="1116"/>
                </a:lnTo>
                <a:lnTo>
                  <a:pt x="9180" y="983"/>
                </a:lnTo>
                <a:lnTo>
                  <a:pt x="10739" y="942"/>
                </a:lnTo>
                <a:lnTo>
                  <a:pt x="12245" y="680"/>
                </a:lnTo>
                <a:lnTo>
                  <a:pt x="13810" y="587"/>
                </a:lnTo>
                <a:lnTo>
                  <a:pt x="15476" y="572"/>
                </a:lnTo>
                <a:lnTo>
                  <a:pt x="17425" y="408"/>
                </a:lnTo>
                <a:lnTo>
                  <a:pt x="19323" y="360"/>
                </a:lnTo>
                <a:lnTo>
                  <a:pt x="21681" y="437"/>
                </a:lnTo>
                <a:lnTo>
                  <a:pt x="24011" y="256"/>
                </a:lnTo>
                <a:lnTo>
                  <a:pt x="26854" y="291"/>
                </a:lnTo>
                <a:lnTo>
                  <a:pt x="29838" y="241"/>
                </a:lnTo>
                <a:lnTo>
                  <a:pt x="33404" y="47"/>
                </a:lnTo>
                <a:lnTo>
                  <a:pt x="37418" y="108"/>
                </a:lnTo>
                <a:lnTo>
                  <a:pt x="42467" y="0"/>
                </a:lnTo>
                <a:lnTo>
                  <a:pt x="49552" y="61"/>
                </a:lnTo>
                <a:lnTo>
                  <a:pt x="71570" y="81"/>
                </a:lnTo>
                <a:lnTo>
                  <a:pt x="93442" y="52"/>
                </a:lnTo>
                <a:lnTo>
                  <a:pt x="100486" y="26"/>
                </a:lnTo>
                <a:lnTo>
                  <a:pt x="105497" y="74"/>
                </a:lnTo>
                <a:lnTo>
                  <a:pt x="109452" y="53"/>
                </a:lnTo>
                <a:lnTo>
                  <a:pt x="113005" y="211"/>
                </a:lnTo>
                <a:lnTo>
                  <a:pt x="116107" y="197"/>
                </a:lnTo>
                <a:lnTo>
                  <a:pt x="118811" y="239"/>
                </a:lnTo>
                <a:lnTo>
                  <a:pt x="121370" y="238"/>
                </a:lnTo>
                <a:lnTo>
                  <a:pt x="123486" y="407"/>
                </a:lnTo>
                <a:lnTo>
                  <a:pt x="125557" y="393"/>
                </a:lnTo>
                <a:lnTo>
                  <a:pt x="127439" y="475"/>
                </a:lnTo>
                <a:lnTo>
                  <a:pt x="129161" y="540"/>
                </a:lnTo>
                <a:lnTo>
                  <a:pt x="130886" y="841"/>
                </a:lnTo>
                <a:lnTo>
                  <a:pt x="132135" y="918"/>
                </a:lnTo>
                <a:lnTo>
                  <a:pt x="133665" y="945"/>
                </a:lnTo>
                <a:lnTo>
                  <a:pt x="134878" y="1091"/>
                </a:lnTo>
                <a:lnTo>
                  <a:pt x="136012" y="1246"/>
                </a:lnTo>
                <a:lnTo>
                  <a:pt x="136936" y="1469"/>
                </a:lnTo>
                <a:lnTo>
                  <a:pt x="138064" y="1610"/>
                </a:lnTo>
                <a:lnTo>
                  <a:pt x="138780" y="1840"/>
                </a:lnTo>
                <a:lnTo>
                  <a:pt x="139529" y="1921"/>
                </a:lnTo>
                <a:lnTo>
                  <a:pt x="140202" y="2085"/>
                </a:lnTo>
                <a:lnTo>
                  <a:pt x="140969" y="2378"/>
                </a:lnTo>
                <a:lnTo>
                  <a:pt x="141537" y="2515"/>
                </a:lnTo>
                <a:lnTo>
                  <a:pt x="141856" y="2824"/>
                </a:lnTo>
                <a:lnTo>
                  <a:pt x="142280" y="3290"/>
                </a:lnTo>
                <a:lnTo>
                  <a:pt x="142386" y="3639"/>
                </a:lnTo>
                <a:lnTo>
                  <a:pt x="142565" y="4027"/>
                </a:lnTo>
                <a:lnTo>
                  <a:pt x="142761" y="4851"/>
                </a:lnTo>
                <a:lnTo>
                  <a:pt x="142718" y="6936"/>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3610295" y="2682941"/>
            <a:ext cx="174468" cy="101041"/>
          </a:xfrm>
          <a:custGeom>
            <a:avLst/>
            <a:gdLst/>
            <a:ahLst/>
            <a:cxnLst/>
            <a:rect l="l" t="t" r="r" b="b"/>
            <a:pathLst>
              <a:path w="1908" h="1105">
                <a:moveTo>
                  <a:pt x="1908" y="0"/>
                </a:moveTo>
                <a:lnTo>
                  <a:pt x="1553" y="328"/>
                </a:lnTo>
                <a:lnTo>
                  <a:pt x="1117" y="616"/>
                </a:lnTo>
                <a:lnTo>
                  <a:pt x="600" y="873"/>
                </a:lnTo>
                <a:lnTo>
                  <a:pt x="0" y="110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1644793" y="2928183"/>
            <a:ext cx="789036" cy="25146"/>
          </a:xfrm>
          <a:custGeom>
            <a:avLst/>
            <a:gdLst/>
            <a:ahLst/>
            <a:cxnLst/>
            <a:rect l="l" t="t" r="r" b="b"/>
            <a:pathLst>
              <a:path w="8629" h="275">
                <a:moveTo>
                  <a:pt x="8629" y="0"/>
                </a:moveTo>
                <a:lnTo>
                  <a:pt x="6747" y="81"/>
                </a:lnTo>
                <a:lnTo>
                  <a:pt x="4698" y="153"/>
                </a:lnTo>
                <a:lnTo>
                  <a:pt x="2459" y="218"/>
                </a:lnTo>
                <a:lnTo>
                  <a:pt x="0" y="27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760756" y="2948117"/>
            <a:ext cx="1072134" cy="16459"/>
          </a:xfrm>
          <a:custGeom>
            <a:avLst/>
            <a:gdLst/>
            <a:ahLst/>
            <a:cxnLst/>
            <a:rect l="l" t="t" r="r" b="b"/>
            <a:pathLst>
              <a:path w="11725" h="180">
                <a:moveTo>
                  <a:pt x="11725" y="180"/>
                </a:moveTo>
                <a:lnTo>
                  <a:pt x="8238" y="146"/>
                </a:lnTo>
                <a:lnTo>
                  <a:pt x="5184" y="105"/>
                </a:lnTo>
                <a:lnTo>
                  <a:pt x="2459" y="57"/>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965241" y="2762768"/>
            <a:ext cx="266548" cy="74432"/>
          </a:xfrm>
          <a:custGeom>
            <a:avLst/>
            <a:gdLst/>
            <a:ahLst/>
            <a:cxnLst/>
            <a:rect l="l" t="t" r="r" b="b"/>
            <a:pathLst>
              <a:path w="2915" h="814">
                <a:moveTo>
                  <a:pt x="2915" y="814"/>
                </a:moveTo>
                <a:lnTo>
                  <a:pt x="2055" y="636"/>
                </a:lnTo>
                <a:lnTo>
                  <a:pt x="1284" y="443"/>
                </a:lnTo>
                <a:lnTo>
                  <a:pt x="600" y="232"/>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845637" y="1925178"/>
            <a:ext cx="174468" cy="101041"/>
          </a:xfrm>
          <a:custGeom>
            <a:avLst/>
            <a:gdLst/>
            <a:ahLst/>
            <a:cxnLst/>
            <a:rect l="l" t="t" r="r" b="b"/>
            <a:pathLst>
              <a:path w="1908" h="1105">
                <a:moveTo>
                  <a:pt x="0" y="1105"/>
                </a:moveTo>
                <a:lnTo>
                  <a:pt x="355" y="777"/>
                </a:lnTo>
                <a:lnTo>
                  <a:pt x="791" y="489"/>
                </a:lnTo>
                <a:lnTo>
                  <a:pt x="1308" y="232"/>
                </a:lnTo>
                <a:lnTo>
                  <a:pt x="190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196572" y="1755831"/>
            <a:ext cx="789036" cy="25146"/>
          </a:xfrm>
          <a:custGeom>
            <a:avLst/>
            <a:gdLst/>
            <a:ahLst/>
            <a:cxnLst/>
            <a:rect l="l" t="t" r="r" b="b"/>
            <a:pathLst>
              <a:path w="8629" h="275">
                <a:moveTo>
                  <a:pt x="0" y="275"/>
                </a:moveTo>
                <a:lnTo>
                  <a:pt x="1882" y="194"/>
                </a:lnTo>
                <a:lnTo>
                  <a:pt x="3931" y="122"/>
                </a:lnTo>
                <a:lnTo>
                  <a:pt x="6170" y="57"/>
                </a:lnTo>
                <a:lnTo>
                  <a:pt x="862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10797510" y="1744584"/>
            <a:ext cx="1072134" cy="16459"/>
          </a:xfrm>
          <a:custGeom>
            <a:avLst/>
            <a:gdLst/>
            <a:ahLst/>
            <a:cxnLst/>
            <a:rect l="l" t="t" r="r" b="b"/>
            <a:pathLst>
              <a:path w="11725" h="180">
                <a:moveTo>
                  <a:pt x="0" y="0"/>
                </a:moveTo>
                <a:lnTo>
                  <a:pt x="3487" y="34"/>
                </a:lnTo>
                <a:lnTo>
                  <a:pt x="6541" y="75"/>
                </a:lnTo>
                <a:lnTo>
                  <a:pt x="9266" y="123"/>
                </a:lnTo>
                <a:lnTo>
                  <a:pt x="11725" y="18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13398612" y="1871960"/>
            <a:ext cx="266548" cy="74432"/>
          </a:xfrm>
          <a:custGeom>
            <a:avLst/>
            <a:gdLst/>
            <a:ahLst/>
            <a:cxnLst/>
            <a:rect l="l" t="t" r="r" b="b"/>
            <a:pathLst>
              <a:path w="2915" h="814">
                <a:moveTo>
                  <a:pt x="0" y="0"/>
                </a:moveTo>
                <a:lnTo>
                  <a:pt x="860" y="178"/>
                </a:lnTo>
                <a:lnTo>
                  <a:pt x="1631" y="371"/>
                </a:lnTo>
                <a:lnTo>
                  <a:pt x="2315" y="582"/>
                </a:lnTo>
                <a:lnTo>
                  <a:pt x="2915" y="81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We cannot remove every possibility of an agent incident. We can "/>
          <p:cNvSpPr txBox="1"/>
          <p:nvPr/>
        </p:nvSpPr>
        <p:spPr>
          <a:xfrm>
            <a:off x="1051560" y="1884807"/>
            <a:ext cx="12527280" cy="939546"/>
          </a:xfrm>
          <a:prstGeom prst="rect">
            <a:avLst/>
          </a:prstGeom>
          <a:noFill/>
        </p:spPr>
        <p:txBody>
          <a:bodyPr wrap="none" lIns="0" rIns="0" tIns="0" bIns="0" anchor="t">
            <a:noAutofit/>
          </a:bodyPr>
          <a:lstStyle/>
          <a:p>
            <a:pPr algn="ctr">
              <a:lnSpc>
                <a:spcPts val="3429"/>
              </a:lnSpc>
              <a:spcBef>
                <a:spcPts val="0"/>
              </a:spcBef>
              <a:spcAft>
                <a:spcPts val="0"/>
              </a:spcAft>
            </a:pPr>
            <a:r>
              <a:rPr sz="2700" b="1">
                <a:solidFill>
                  <a:srgbClr val="293E46"/>
                </a:solidFill>
                <a:latin typeface="Trebuchet MS"/>
              </a:rPr>
              <a:t>We cannot remove every possibility of an agent incident.</a:t>
            </a:r>
            <a:br/>
            <a:r>
              <a:rPr sz="2700" b="1">
                <a:solidFill>
                  <a:srgbClr val="293E46"/>
                </a:solidFill>
                <a:latin typeface="Trebuchet MS"/>
              </a:rPr>
              <a:t>We can make sure no incident that did happen is wasted.</a:t>
            </a:r>
          </a:p>
        </p:txBody>
      </p:sp>
      <p:sp>
        <p:nvSpPr>
          <p:cNvPr id="25" name="body: “Those who cannot remember the past are condemned to repeat it.”"/>
          <p:cNvSpPr txBox="1"/>
          <p:nvPr/>
        </p:nvSpPr>
        <p:spPr>
          <a:xfrm>
            <a:off x="960120" y="3156489"/>
            <a:ext cx="12710160" cy="334708"/>
          </a:xfrm>
          <a:prstGeom prst="rect">
            <a:avLst/>
          </a:prstGeom>
          <a:noFill/>
        </p:spPr>
        <p:txBody>
          <a:bodyPr wrap="none" lIns="0" rIns="0" tIns="0" bIns="0" anchor="t">
            <a:noAutofit/>
          </a:bodyPr>
          <a:lstStyle/>
          <a:p>
            <a:pPr algn="ctr">
              <a:lnSpc>
                <a:spcPts val="2095"/>
              </a:lnSpc>
              <a:spcBef>
                <a:spcPts val="0"/>
              </a:spcBef>
              <a:spcAft>
                <a:spcPts val="0"/>
              </a:spcAft>
            </a:pPr>
            <a:r>
              <a:rPr sz="1650" b="0">
                <a:solidFill>
                  <a:srgbClr val="68736E"/>
                </a:solidFill>
                <a:latin typeface="Trebuchet MS"/>
              </a:rPr>
              <a:t>“Those who cannot remember the past are condemned to repeat it.” Santayana</a:t>
            </a:r>
          </a:p>
        </p:txBody>
      </p:sp>
      <p:sp>
        <p:nvSpPr>
          <p:cNvPr id="26" name="Rounded Rectangle 25"/>
          <p:cNvSpPr/>
          <p:nvPr/>
        </p:nvSpPr>
        <p:spPr>
          <a:xfrm>
            <a:off x="640080" y="3749039"/>
            <a:ext cx="4242816" cy="3694176"/>
          </a:xfrm>
          <a:prstGeom prst="roundRect">
            <a:avLst>
              <a:gd name="adj" fmla="val 18000"/>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647395" y="3750137"/>
            <a:ext cx="4234495" cy="3689421"/>
          </a:xfrm>
          <a:custGeom>
            <a:avLst/>
            <a:gdLst/>
            <a:ahLst/>
            <a:cxnLst/>
            <a:rect l="l" t="t" r="r" b="b"/>
            <a:pathLst>
              <a:path w="46309" h="40348">
                <a:moveTo>
                  <a:pt x="46080" y="20208"/>
                </a:moveTo>
                <a:lnTo>
                  <a:pt x="46226" y="26449"/>
                </a:lnTo>
                <a:lnTo>
                  <a:pt x="46098" y="28355"/>
                </a:lnTo>
                <a:lnTo>
                  <a:pt x="46008" y="29787"/>
                </a:lnTo>
                <a:lnTo>
                  <a:pt x="45880" y="30964"/>
                </a:lnTo>
                <a:lnTo>
                  <a:pt x="45939" y="31823"/>
                </a:lnTo>
                <a:lnTo>
                  <a:pt x="45692" y="32812"/>
                </a:lnTo>
                <a:lnTo>
                  <a:pt x="45684" y="33499"/>
                </a:lnTo>
                <a:lnTo>
                  <a:pt x="45437" y="34175"/>
                </a:lnTo>
                <a:lnTo>
                  <a:pt x="45258" y="34816"/>
                </a:lnTo>
                <a:lnTo>
                  <a:pt x="45019" y="35377"/>
                </a:lnTo>
                <a:lnTo>
                  <a:pt x="44544" y="35820"/>
                </a:lnTo>
                <a:lnTo>
                  <a:pt x="44208" y="36422"/>
                </a:lnTo>
                <a:lnTo>
                  <a:pt x="44036" y="36829"/>
                </a:lnTo>
                <a:lnTo>
                  <a:pt x="43685" y="37274"/>
                </a:lnTo>
                <a:lnTo>
                  <a:pt x="43197" y="37780"/>
                </a:lnTo>
                <a:lnTo>
                  <a:pt x="42814" y="38008"/>
                </a:lnTo>
                <a:lnTo>
                  <a:pt x="42291" y="38448"/>
                </a:lnTo>
                <a:lnTo>
                  <a:pt x="41714" y="38522"/>
                </a:lnTo>
                <a:lnTo>
                  <a:pt x="41181" y="38823"/>
                </a:lnTo>
                <a:lnTo>
                  <a:pt x="40591" y="39196"/>
                </a:lnTo>
                <a:lnTo>
                  <a:pt x="39902" y="39292"/>
                </a:lnTo>
                <a:lnTo>
                  <a:pt x="39101" y="39576"/>
                </a:lnTo>
                <a:lnTo>
                  <a:pt x="38334" y="39746"/>
                </a:lnTo>
                <a:lnTo>
                  <a:pt x="37531" y="39917"/>
                </a:lnTo>
                <a:lnTo>
                  <a:pt x="36477" y="40028"/>
                </a:lnTo>
                <a:lnTo>
                  <a:pt x="35342" y="40018"/>
                </a:lnTo>
                <a:lnTo>
                  <a:pt x="34131" y="40142"/>
                </a:lnTo>
                <a:lnTo>
                  <a:pt x="32467" y="40341"/>
                </a:lnTo>
                <a:lnTo>
                  <a:pt x="30134" y="40298"/>
                </a:lnTo>
                <a:lnTo>
                  <a:pt x="23214" y="40164"/>
                </a:lnTo>
                <a:lnTo>
                  <a:pt x="16083" y="40348"/>
                </a:lnTo>
                <a:lnTo>
                  <a:pt x="13742" y="40257"/>
                </a:lnTo>
                <a:lnTo>
                  <a:pt x="12251" y="40147"/>
                </a:lnTo>
                <a:lnTo>
                  <a:pt x="10921" y="40021"/>
                </a:lnTo>
                <a:lnTo>
                  <a:pt x="9737" y="40003"/>
                </a:lnTo>
                <a:lnTo>
                  <a:pt x="8804" y="39839"/>
                </a:lnTo>
                <a:lnTo>
                  <a:pt x="7711" y="39622"/>
                </a:lnTo>
                <a:lnTo>
                  <a:pt x="7063" y="39523"/>
                </a:lnTo>
                <a:lnTo>
                  <a:pt x="6346" y="39246"/>
                </a:lnTo>
                <a:lnTo>
                  <a:pt x="5581" y="39227"/>
                </a:lnTo>
                <a:lnTo>
                  <a:pt x="5090" y="38800"/>
                </a:lnTo>
                <a:lnTo>
                  <a:pt x="4393" y="38518"/>
                </a:lnTo>
                <a:lnTo>
                  <a:pt x="3884" y="38282"/>
                </a:lnTo>
                <a:lnTo>
                  <a:pt x="3417" y="38040"/>
                </a:lnTo>
                <a:lnTo>
                  <a:pt x="3080" y="37690"/>
                </a:lnTo>
                <a:lnTo>
                  <a:pt x="2502" y="37301"/>
                </a:lnTo>
                <a:lnTo>
                  <a:pt x="2358" y="36852"/>
                </a:lnTo>
                <a:lnTo>
                  <a:pt x="1867" y="36465"/>
                </a:lnTo>
                <a:lnTo>
                  <a:pt x="1590" y="36026"/>
                </a:lnTo>
                <a:lnTo>
                  <a:pt x="1205" y="35382"/>
                </a:lnTo>
                <a:lnTo>
                  <a:pt x="1211" y="34870"/>
                </a:lnTo>
                <a:lnTo>
                  <a:pt x="735" y="34143"/>
                </a:lnTo>
                <a:lnTo>
                  <a:pt x="568" y="33549"/>
                </a:lnTo>
                <a:lnTo>
                  <a:pt x="536" y="32852"/>
                </a:lnTo>
                <a:lnTo>
                  <a:pt x="422" y="31990"/>
                </a:lnTo>
                <a:lnTo>
                  <a:pt x="323" y="30862"/>
                </a:lnTo>
                <a:lnTo>
                  <a:pt x="158" y="29688"/>
                </a:lnTo>
                <a:lnTo>
                  <a:pt x="96" y="28234"/>
                </a:lnTo>
                <a:lnTo>
                  <a:pt x="133" y="26406"/>
                </a:lnTo>
                <a:lnTo>
                  <a:pt x="0" y="20139"/>
                </a:lnTo>
                <a:lnTo>
                  <a:pt x="151" y="14007"/>
                </a:lnTo>
                <a:lnTo>
                  <a:pt x="80" y="12054"/>
                </a:lnTo>
                <a:lnTo>
                  <a:pt x="271" y="10620"/>
                </a:lnTo>
                <a:lnTo>
                  <a:pt x="337" y="9557"/>
                </a:lnTo>
                <a:lnTo>
                  <a:pt x="430" y="8417"/>
                </a:lnTo>
                <a:lnTo>
                  <a:pt x="548" y="7586"/>
                </a:lnTo>
                <a:lnTo>
                  <a:pt x="703" y="6769"/>
                </a:lnTo>
                <a:lnTo>
                  <a:pt x="979" y="6283"/>
                </a:lnTo>
                <a:lnTo>
                  <a:pt x="962" y="5573"/>
                </a:lnTo>
                <a:lnTo>
                  <a:pt x="1277" y="4903"/>
                </a:lnTo>
                <a:lnTo>
                  <a:pt x="1725" y="4327"/>
                </a:lnTo>
                <a:lnTo>
                  <a:pt x="2037" y="4032"/>
                </a:lnTo>
                <a:lnTo>
                  <a:pt x="2313" y="3424"/>
                </a:lnTo>
                <a:lnTo>
                  <a:pt x="2700" y="3123"/>
                </a:lnTo>
                <a:lnTo>
                  <a:pt x="3037" y="2791"/>
                </a:lnTo>
                <a:lnTo>
                  <a:pt x="3561" y="2333"/>
                </a:lnTo>
                <a:lnTo>
                  <a:pt x="3858" y="2061"/>
                </a:lnTo>
                <a:lnTo>
                  <a:pt x="4358" y="1628"/>
                </a:lnTo>
                <a:lnTo>
                  <a:pt x="5079" y="1436"/>
                </a:lnTo>
                <a:lnTo>
                  <a:pt x="5723" y="1116"/>
                </a:lnTo>
                <a:lnTo>
                  <a:pt x="6322" y="920"/>
                </a:lnTo>
                <a:lnTo>
                  <a:pt x="6922" y="742"/>
                </a:lnTo>
                <a:lnTo>
                  <a:pt x="7786" y="738"/>
                </a:lnTo>
                <a:lnTo>
                  <a:pt x="8754" y="557"/>
                </a:lnTo>
                <a:lnTo>
                  <a:pt x="9743" y="493"/>
                </a:lnTo>
                <a:lnTo>
                  <a:pt x="10905" y="338"/>
                </a:lnTo>
                <a:lnTo>
                  <a:pt x="12172" y="111"/>
                </a:lnTo>
                <a:lnTo>
                  <a:pt x="13810" y="109"/>
                </a:lnTo>
                <a:lnTo>
                  <a:pt x="16028" y="0"/>
                </a:lnTo>
                <a:lnTo>
                  <a:pt x="23096" y="178"/>
                </a:lnTo>
                <a:lnTo>
                  <a:pt x="30220" y="50"/>
                </a:lnTo>
                <a:lnTo>
                  <a:pt x="32537" y="60"/>
                </a:lnTo>
                <a:lnTo>
                  <a:pt x="34082" y="260"/>
                </a:lnTo>
                <a:lnTo>
                  <a:pt x="35454" y="354"/>
                </a:lnTo>
                <a:lnTo>
                  <a:pt x="36640" y="324"/>
                </a:lnTo>
                <a:lnTo>
                  <a:pt x="37546" y="459"/>
                </a:lnTo>
                <a:lnTo>
                  <a:pt x="38450" y="563"/>
                </a:lnTo>
                <a:lnTo>
                  <a:pt x="39194" y="878"/>
                </a:lnTo>
                <a:lnTo>
                  <a:pt x="40042" y="1041"/>
                </a:lnTo>
                <a:lnTo>
                  <a:pt x="40574" y="1247"/>
                </a:lnTo>
                <a:lnTo>
                  <a:pt x="41208" y="1513"/>
                </a:lnTo>
                <a:lnTo>
                  <a:pt x="41845" y="1803"/>
                </a:lnTo>
                <a:lnTo>
                  <a:pt x="42375" y="2038"/>
                </a:lnTo>
                <a:lnTo>
                  <a:pt x="42763" y="2256"/>
                </a:lnTo>
                <a:lnTo>
                  <a:pt x="43270" y="2589"/>
                </a:lnTo>
                <a:lnTo>
                  <a:pt x="43508" y="2982"/>
                </a:lnTo>
                <a:lnTo>
                  <a:pt x="43974" y="3609"/>
                </a:lnTo>
                <a:lnTo>
                  <a:pt x="44213" y="3972"/>
                </a:lnTo>
                <a:lnTo>
                  <a:pt x="44755" y="4439"/>
                </a:lnTo>
                <a:lnTo>
                  <a:pt x="44854" y="5076"/>
                </a:lnTo>
                <a:lnTo>
                  <a:pt x="45046" y="5516"/>
                </a:lnTo>
                <a:lnTo>
                  <a:pt x="45320" y="6078"/>
                </a:lnTo>
                <a:lnTo>
                  <a:pt x="45484" y="6964"/>
                </a:lnTo>
                <a:lnTo>
                  <a:pt x="45816" y="7654"/>
                </a:lnTo>
                <a:lnTo>
                  <a:pt x="45859" y="8464"/>
                </a:lnTo>
                <a:lnTo>
                  <a:pt x="46047" y="9448"/>
                </a:lnTo>
                <a:lnTo>
                  <a:pt x="45960" y="10670"/>
                </a:lnTo>
                <a:lnTo>
                  <a:pt x="46128" y="11971"/>
                </a:lnTo>
                <a:lnTo>
                  <a:pt x="46309" y="14091"/>
                </a:lnTo>
                <a:lnTo>
                  <a:pt x="46227" y="20088"/>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647304" y="3753338"/>
            <a:ext cx="4234678" cy="3676437"/>
          </a:xfrm>
          <a:custGeom>
            <a:avLst/>
            <a:gdLst/>
            <a:ahLst/>
            <a:cxnLst/>
            <a:rect l="l" t="t" r="r" b="b"/>
            <a:pathLst>
              <a:path w="46311" h="40206">
                <a:moveTo>
                  <a:pt x="46311" y="20074"/>
                </a:moveTo>
                <a:lnTo>
                  <a:pt x="46124" y="26425"/>
                </a:lnTo>
                <a:lnTo>
                  <a:pt x="46124" y="28395"/>
                </a:lnTo>
                <a:lnTo>
                  <a:pt x="46142" y="29795"/>
                </a:lnTo>
                <a:lnTo>
                  <a:pt x="45922" y="30947"/>
                </a:lnTo>
                <a:lnTo>
                  <a:pt x="45907" y="31834"/>
                </a:lnTo>
                <a:lnTo>
                  <a:pt x="45676" y="32779"/>
                </a:lnTo>
                <a:lnTo>
                  <a:pt x="45511" y="33472"/>
                </a:lnTo>
                <a:lnTo>
                  <a:pt x="45467" y="34079"/>
                </a:lnTo>
                <a:lnTo>
                  <a:pt x="45074" y="34887"/>
                </a:lnTo>
                <a:lnTo>
                  <a:pt x="44823" y="35354"/>
                </a:lnTo>
                <a:lnTo>
                  <a:pt x="44509" y="35887"/>
                </a:lnTo>
                <a:lnTo>
                  <a:pt x="44195" y="36334"/>
                </a:lnTo>
                <a:lnTo>
                  <a:pt x="44064" y="36945"/>
                </a:lnTo>
                <a:lnTo>
                  <a:pt x="43590" y="37360"/>
                </a:lnTo>
                <a:lnTo>
                  <a:pt x="43193" y="37673"/>
                </a:lnTo>
                <a:lnTo>
                  <a:pt x="42902" y="37958"/>
                </a:lnTo>
                <a:lnTo>
                  <a:pt x="42209" y="38316"/>
                </a:lnTo>
                <a:lnTo>
                  <a:pt x="41869" y="38715"/>
                </a:lnTo>
                <a:lnTo>
                  <a:pt x="41126" y="38869"/>
                </a:lnTo>
                <a:lnTo>
                  <a:pt x="40687" y="39223"/>
                </a:lnTo>
                <a:lnTo>
                  <a:pt x="40038" y="39320"/>
                </a:lnTo>
                <a:lnTo>
                  <a:pt x="39257" y="39507"/>
                </a:lnTo>
                <a:lnTo>
                  <a:pt x="38499" y="39688"/>
                </a:lnTo>
                <a:lnTo>
                  <a:pt x="37545" y="39948"/>
                </a:lnTo>
                <a:lnTo>
                  <a:pt x="36504" y="39932"/>
                </a:lnTo>
                <a:lnTo>
                  <a:pt x="35370" y="40047"/>
                </a:lnTo>
                <a:lnTo>
                  <a:pt x="34065" y="40076"/>
                </a:lnTo>
                <a:lnTo>
                  <a:pt x="32576" y="40136"/>
                </a:lnTo>
                <a:lnTo>
                  <a:pt x="30235" y="40146"/>
                </a:lnTo>
                <a:lnTo>
                  <a:pt x="23157" y="40149"/>
                </a:lnTo>
                <a:lnTo>
                  <a:pt x="16114" y="40206"/>
                </a:lnTo>
                <a:lnTo>
                  <a:pt x="13877" y="40178"/>
                </a:lnTo>
                <a:lnTo>
                  <a:pt x="12025" y="40043"/>
                </a:lnTo>
                <a:lnTo>
                  <a:pt x="10749" y="40011"/>
                </a:lnTo>
                <a:lnTo>
                  <a:pt x="9718" y="40007"/>
                </a:lnTo>
                <a:lnTo>
                  <a:pt x="8820" y="39744"/>
                </a:lnTo>
                <a:lnTo>
                  <a:pt x="7929" y="39618"/>
                </a:lnTo>
                <a:lnTo>
                  <a:pt x="7001" y="39417"/>
                </a:lnTo>
                <a:lnTo>
                  <a:pt x="6184" y="39243"/>
                </a:lnTo>
                <a:lnTo>
                  <a:pt x="5524" y="39089"/>
                </a:lnTo>
                <a:lnTo>
                  <a:pt x="5103" y="38904"/>
                </a:lnTo>
                <a:lnTo>
                  <a:pt x="4522" y="38506"/>
                </a:lnTo>
                <a:lnTo>
                  <a:pt x="4040" y="38385"/>
                </a:lnTo>
                <a:lnTo>
                  <a:pt x="3346" y="37917"/>
                </a:lnTo>
                <a:lnTo>
                  <a:pt x="3060" y="37749"/>
                </a:lnTo>
                <a:lnTo>
                  <a:pt x="2607" y="37228"/>
                </a:lnTo>
                <a:lnTo>
                  <a:pt x="2152" y="36754"/>
                </a:lnTo>
                <a:lnTo>
                  <a:pt x="1979" y="36443"/>
                </a:lnTo>
                <a:lnTo>
                  <a:pt x="1577" y="35813"/>
                </a:lnTo>
                <a:lnTo>
                  <a:pt x="1315" y="35329"/>
                </a:lnTo>
                <a:lnTo>
                  <a:pt x="1042" y="34772"/>
                </a:lnTo>
                <a:lnTo>
                  <a:pt x="803" y="34241"/>
                </a:lnTo>
                <a:lnTo>
                  <a:pt x="776" y="33405"/>
                </a:lnTo>
                <a:lnTo>
                  <a:pt x="582" y="32613"/>
                </a:lnTo>
                <a:lnTo>
                  <a:pt x="265" y="31955"/>
                </a:lnTo>
                <a:lnTo>
                  <a:pt x="120" y="30919"/>
                </a:lnTo>
                <a:lnTo>
                  <a:pt x="120" y="29792"/>
                </a:lnTo>
                <a:lnTo>
                  <a:pt x="161" y="28256"/>
                </a:lnTo>
                <a:lnTo>
                  <a:pt x="78" y="26349"/>
                </a:lnTo>
                <a:lnTo>
                  <a:pt x="0" y="20093"/>
                </a:lnTo>
                <a:lnTo>
                  <a:pt x="68" y="14060"/>
                </a:lnTo>
                <a:lnTo>
                  <a:pt x="160" y="11968"/>
                </a:lnTo>
                <a:lnTo>
                  <a:pt x="278" y="10535"/>
                </a:lnTo>
                <a:lnTo>
                  <a:pt x="154" y="9338"/>
                </a:lnTo>
                <a:lnTo>
                  <a:pt x="339" y="8551"/>
                </a:lnTo>
                <a:lnTo>
                  <a:pt x="494" y="7556"/>
                </a:lnTo>
                <a:lnTo>
                  <a:pt x="595" y="6863"/>
                </a:lnTo>
                <a:lnTo>
                  <a:pt x="889" y="6185"/>
                </a:lnTo>
                <a:lnTo>
                  <a:pt x="973" y="5407"/>
                </a:lnTo>
                <a:lnTo>
                  <a:pt x="1385" y="4984"/>
                </a:lnTo>
                <a:lnTo>
                  <a:pt x="1503" y="4497"/>
                </a:lnTo>
                <a:lnTo>
                  <a:pt x="1840" y="3972"/>
                </a:lnTo>
                <a:lnTo>
                  <a:pt x="2152" y="3350"/>
                </a:lnTo>
                <a:lnTo>
                  <a:pt x="2637" y="3052"/>
                </a:lnTo>
                <a:lnTo>
                  <a:pt x="2954" y="2759"/>
                </a:lnTo>
                <a:lnTo>
                  <a:pt x="3550" y="2273"/>
                </a:lnTo>
                <a:lnTo>
                  <a:pt x="3961" y="2055"/>
                </a:lnTo>
                <a:lnTo>
                  <a:pt x="4373" y="1605"/>
                </a:lnTo>
                <a:lnTo>
                  <a:pt x="5082" y="1402"/>
                </a:lnTo>
                <a:lnTo>
                  <a:pt x="5638" y="1107"/>
                </a:lnTo>
                <a:lnTo>
                  <a:pt x="6422" y="925"/>
                </a:lnTo>
                <a:lnTo>
                  <a:pt x="7062" y="728"/>
                </a:lnTo>
                <a:lnTo>
                  <a:pt x="7881" y="623"/>
                </a:lnTo>
                <a:lnTo>
                  <a:pt x="8756" y="369"/>
                </a:lnTo>
                <a:lnTo>
                  <a:pt x="9553" y="385"/>
                </a:lnTo>
                <a:lnTo>
                  <a:pt x="10732" y="309"/>
                </a:lnTo>
                <a:lnTo>
                  <a:pt x="12012" y="191"/>
                </a:lnTo>
                <a:lnTo>
                  <a:pt x="13717" y="229"/>
                </a:lnTo>
                <a:lnTo>
                  <a:pt x="16106" y="34"/>
                </a:lnTo>
                <a:lnTo>
                  <a:pt x="23014" y="37"/>
                </a:lnTo>
                <a:lnTo>
                  <a:pt x="30247" y="161"/>
                </a:lnTo>
                <a:lnTo>
                  <a:pt x="32484" y="0"/>
                </a:lnTo>
                <a:lnTo>
                  <a:pt x="34028" y="54"/>
                </a:lnTo>
                <a:lnTo>
                  <a:pt x="35359" y="367"/>
                </a:lnTo>
                <a:lnTo>
                  <a:pt x="36499" y="401"/>
                </a:lnTo>
                <a:lnTo>
                  <a:pt x="37484" y="458"/>
                </a:lnTo>
                <a:lnTo>
                  <a:pt x="38541" y="676"/>
                </a:lnTo>
                <a:lnTo>
                  <a:pt x="39296" y="864"/>
                </a:lnTo>
                <a:lnTo>
                  <a:pt x="39858" y="878"/>
                </a:lnTo>
                <a:lnTo>
                  <a:pt x="40564" y="1136"/>
                </a:lnTo>
                <a:lnTo>
                  <a:pt x="41219" y="1557"/>
                </a:lnTo>
                <a:lnTo>
                  <a:pt x="41717" y="1795"/>
                </a:lnTo>
                <a:lnTo>
                  <a:pt x="42181" y="2054"/>
                </a:lnTo>
                <a:lnTo>
                  <a:pt x="42711" y="2346"/>
                </a:lnTo>
                <a:lnTo>
                  <a:pt x="43278" y="2593"/>
                </a:lnTo>
                <a:lnTo>
                  <a:pt x="43547" y="2964"/>
                </a:lnTo>
                <a:lnTo>
                  <a:pt x="44113" y="3417"/>
                </a:lnTo>
                <a:lnTo>
                  <a:pt x="44249" y="3814"/>
                </a:lnTo>
                <a:lnTo>
                  <a:pt x="44518" y="4489"/>
                </a:lnTo>
                <a:lnTo>
                  <a:pt x="44914" y="5033"/>
                </a:lnTo>
                <a:lnTo>
                  <a:pt x="45245" y="5477"/>
                </a:lnTo>
                <a:lnTo>
                  <a:pt x="45360" y="6053"/>
                </a:lnTo>
                <a:lnTo>
                  <a:pt x="45485" y="6740"/>
                </a:lnTo>
                <a:lnTo>
                  <a:pt x="45644" y="7510"/>
                </a:lnTo>
                <a:lnTo>
                  <a:pt x="45781" y="8387"/>
                </a:lnTo>
                <a:lnTo>
                  <a:pt x="46091" y="9500"/>
                </a:lnTo>
                <a:lnTo>
                  <a:pt x="46013" y="10617"/>
                </a:lnTo>
                <a:lnTo>
                  <a:pt x="46180" y="11978"/>
                </a:lnTo>
                <a:lnTo>
                  <a:pt x="46154" y="13883"/>
                </a:lnTo>
                <a:lnTo>
                  <a:pt x="46310" y="20063"/>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4796942" y="6575725"/>
            <a:ext cx="56418" cy="301661"/>
          </a:xfrm>
          <a:custGeom>
            <a:avLst/>
            <a:gdLst/>
            <a:ahLst/>
            <a:cxnLst/>
            <a:rect l="l" t="t" r="r" b="b"/>
            <a:pathLst>
              <a:path w="617" h="3299">
                <a:moveTo>
                  <a:pt x="617" y="0"/>
                </a:moveTo>
                <a:lnTo>
                  <a:pt x="502" y="981"/>
                </a:lnTo>
                <a:lnTo>
                  <a:pt x="361" y="1840"/>
                </a:lnTo>
                <a:lnTo>
                  <a:pt x="194" y="2607"/>
                </a:lnTo>
                <a:lnTo>
                  <a:pt x="0" y="3299"/>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161434" y="7307428"/>
            <a:ext cx="255118" cy="74981"/>
          </a:xfrm>
          <a:custGeom>
            <a:avLst/>
            <a:gdLst/>
            <a:ahLst/>
            <a:cxnLst/>
            <a:rect l="l" t="t" r="r" b="b"/>
            <a:pathLst>
              <a:path w="2790" h="820">
                <a:moveTo>
                  <a:pt x="2790" y="0"/>
                </a:moveTo>
                <a:lnTo>
                  <a:pt x="2181" y="242"/>
                </a:lnTo>
                <a:lnTo>
                  <a:pt x="1519" y="459"/>
                </a:lnTo>
                <a:lnTo>
                  <a:pt x="795" y="652"/>
                </a:lnTo>
                <a:lnTo>
                  <a:pt x="0" y="82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1288847" y="7367046"/>
            <a:ext cx="346649" cy="49012"/>
          </a:xfrm>
          <a:custGeom>
            <a:avLst/>
            <a:gdLst/>
            <a:ahLst/>
            <a:cxnLst/>
            <a:rect l="l" t="t" r="r" b="b"/>
            <a:pathLst>
              <a:path w="3791" h="536">
                <a:moveTo>
                  <a:pt x="3791" y="536"/>
                </a:moveTo>
                <a:lnTo>
                  <a:pt x="2664" y="436"/>
                </a:lnTo>
                <a:lnTo>
                  <a:pt x="1676" y="314"/>
                </a:lnTo>
                <a:lnTo>
                  <a:pt x="795" y="168"/>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708294" y="6814109"/>
            <a:ext cx="86136" cy="221925"/>
          </a:xfrm>
          <a:custGeom>
            <a:avLst/>
            <a:gdLst/>
            <a:ahLst/>
            <a:cxnLst/>
            <a:rect l="l" t="t" r="r" b="b"/>
            <a:pathLst>
              <a:path w="942" h="2427">
                <a:moveTo>
                  <a:pt x="942" y="2427"/>
                </a:moveTo>
                <a:lnTo>
                  <a:pt x="664" y="1898"/>
                </a:lnTo>
                <a:lnTo>
                  <a:pt x="415" y="1321"/>
                </a:lnTo>
                <a:lnTo>
                  <a:pt x="194" y="692"/>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669615" y="4314871"/>
            <a:ext cx="56418" cy="301661"/>
          </a:xfrm>
          <a:custGeom>
            <a:avLst/>
            <a:gdLst/>
            <a:ahLst/>
            <a:cxnLst/>
            <a:rect l="l" t="t" r="r" b="b"/>
            <a:pathLst>
              <a:path w="617" h="3299">
                <a:moveTo>
                  <a:pt x="0" y="3299"/>
                </a:moveTo>
                <a:lnTo>
                  <a:pt x="115" y="2318"/>
                </a:lnTo>
                <a:lnTo>
                  <a:pt x="256" y="1459"/>
                </a:lnTo>
                <a:lnTo>
                  <a:pt x="423" y="692"/>
                </a:lnTo>
                <a:lnTo>
                  <a:pt x="617"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1106424" y="3809848"/>
            <a:ext cx="255118" cy="74981"/>
          </a:xfrm>
          <a:custGeom>
            <a:avLst/>
            <a:gdLst/>
            <a:ahLst/>
            <a:cxnLst/>
            <a:rect l="l" t="t" r="r" b="b"/>
            <a:pathLst>
              <a:path w="2790" h="820">
                <a:moveTo>
                  <a:pt x="0" y="820"/>
                </a:moveTo>
                <a:lnTo>
                  <a:pt x="609" y="578"/>
                </a:lnTo>
                <a:lnTo>
                  <a:pt x="1271" y="361"/>
                </a:lnTo>
                <a:lnTo>
                  <a:pt x="1995" y="168"/>
                </a:lnTo>
                <a:lnTo>
                  <a:pt x="279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3887480" y="3776198"/>
            <a:ext cx="346649" cy="49012"/>
          </a:xfrm>
          <a:custGeom>
            <a:avLst/>
            <a:gdLst/>
            <a:ahLst/>
            <a:cxnLst/>
            <a:rect l="l" t="t" r="r" b="b"/>
            <a:pathLst>
              <a:path w="3791" h="536">
                <a:moveTo>
                  <a:pt x="0" y="0"/>
                </a:moveTo>
                <a:lnTo>
                  <a:pt x="1127" y="100"/>
                </a:lnTo>
                <a:lnTo>
                  <a:pt x="2115" y="222"/>
                </a:lnTo>
                <a:lnTo>
                  <a:pt x="2996" y="368"/>
                </a:lnTo>
                <a:lnTo>
                  <a:pt x="3791" y="536"/>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4728545" y="4156222"/>
            <a:ext cx="86136" cy="221925"/>
          </a:xfrm>
          <a:custGeom>
            <a:avLst/>
            <a:gdLst/>
            <a:ahLst/>
            <a:cxnLst/>
            <a:rect l="l" t="t" r="r" b="b"/>
            <a:pathLst>
              <a:path w="942" h="2427">
                <a:moveTo>
                  <a:pt x="0" y="0"/>
                </a:moveTo>
                <a:lnTo>
                  <a:pt x="278" y="529"/>
                </a:lnTo>
                <a:lnTo>
                  <a:pt x="527" y="1106"/>
                </a:lnTo>
                <a:lnTo>
                  <a:pt x="748" y="1735"/>
                </a:lnTo>
                <a:lnTo>
                  <a:pt x="942" y="2427"/>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ody: What we cannot do"/>
          <p:cNvSpPr txBox="1"/>
          <p:nvPr/>
        </p:nvSpPr>
        <p:spPr>
          <a:xfrm>
            <a:off x="996695" y="4027170"/>
            <a:ext cx="352958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AE6B55"/>
                </a:solidFill>
                <a:latin typeface="Chalkboard SE"/>
              </a:rPr>
              <a:t>What we cannot do</a:t>
            </a:r>
          </a:p>
        </p:txBody>
      </p:sp>
      <p:sp>
        <p:nvSpPr>
          <p:cNvPr id="38" name="Oval 37"/>
          <p:cNvSpPr/>
          <p:nvPr/>
        </p:nvSpPr>
        <p:spPr>
          <a:xfrm>
            <a:off x="909828" y="494880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ody: Enumerate every route an agent might take"/>
          <p:cNvSpPr txBox="1"/>
          <p:nvPr/>
        </p:nvSpPr>
        <p:spPr>
          <a:xfrm>
            <a:off x="1143000" y="4848225"/>
            <a:ext cx="3483864"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Enumerate every route an</a:t>
            </a:r>
            <a:br/>
            <a:r>
              <a:rPr sz="1900" b="0">
                <a:solidFill>
                  <a:srgbClr val="293E46"/>
                </a:solidFill>
                <a:latin typeface="Trebuchet MS"/>
              </a:rPr>
              <a:t>agent might take</a:t>
            </a:r>
          </a:p>
        </p:txBody>
      </p:sp>
      <p:sp>
        <p:nvSpPr>
          <p:cNvPr id="40" name="Oval 39"/>
          <p:cNvSpPr/>
          <p:nvPr/>
        </p:nvSpPr>
        <p:spPr>
          <a:xfrm>
            <a:off x="909828" y="5749163"/>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dy: Prevent with instructions alone"/>
          <p:cNvSpPr txBox="1"/>
          <p:nvPr/>
        </p:nvSpPr>
        <p:spPr>
          <a:xfrm>
            <a:off x="1143000" y="5648579"/>
            <a:ext cx="3483864"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Prevent with instructions</a:t>
            </a:r>
            <a:br/>
            <a:r>
              <a:rPr sz="1900" b="0">
                <a:solidFill>
                  <a:srgbClr val="293E46"/>
                </a:solidFill>
                <a:latin typeface="Trebuchet MS"/>
              </a:rPr>
              <a:t>alone</a:t>
            </a:r>
          </a:p>
        </p:txBody>
      </p:sp>
      <p:sp>
        <p:nvSpPr>
          <p:cNvPr id="42" name="Oval 41"/>
          <p:cNvSpPr/>
          <p:nvPr/>
        </p:nvSpPr>
        <p:spPr>
          <a:xfrm>
            <a:off x="909828" y="6549517"/>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dy: Certify absence from a handful of clean runs"/>
          <p:cNvSpPr txBox="1"/>
          <p:nvPr/>
        </p:nvSpPr>
        <p:spPr>
          <a:xfrm>
            <a:off x="1143000" y="6448933"/>
            <a:ext cx="3483864"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Certify absence from a</a:t>
            </a:r>
            <a:br/>
            <a:r>
              <a:rPr sz="1900" b="0">
                <a:solidFill>
                  <a:srgbClr val="293E46"/>
                </a:solidFill>
                <a:latin typeface="Trebuchet MS"/>
              </a:rPr>
              <a:t>handful of clean runs</a:t>
            </a:r>
          </a:p>
        </p:txBody>
      </p:sp>
      <p:sp>
        <p:nvSpPr>
          <p:cNvPr id="44" name="Rounded Rectangle 43"/>
          <p:cNvSpPr/>
          <p:nvPr/>
        </p:nvSpPr>
        <p:spPr>
          <a:xfrm>
            <a:off x="5193792" y="3749039"/>
            <a:ext cx="4242816" cy="3694176"/>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5201564" y="3750960"/>
            <a:ext cx="4235775" cy="3690610"/>
          </a:xfrm>
          <a:custGeom>
            <a:avLst/>
            <a:gdLst/>
            <a:ahLst/>
            <a:cxnLst/>
            <a:rect l="l" t="t" r="r" b="b"/>
            <a:pathLst>
              <a:path w="46323" h="40361">
                <a:moveTo>
                  <a:pt x="46107" y="20265"/>
                </a:moveTo>
                <a:lnTo>
                  <a:pt x="46108" y="26369"/>
                </a:lnTo>
                <a:lnTo>
                  <a:pt x="46223" y="28361"/>
                </a:lnTo>
                <a:lnTo>
                  <a:pt x="46148" y="29854"/>
                </a:lnTo>
                <a:lnTo>
                  <a:pt x="46118" y="30892"/>
                </a:lnTo>
                <a:lnTo>
                  <a:pt x="45782" y="31926"/>
                </a:lnTo>
                <a:lnTo>
                  <a:pt x="45833" y="32811"/>
                </a:lnTo>
                <a:lnTo>
                  <a:pt x="45539" y="33417"/>
                </a:lnTo>
                <a:lnTo>
                  <a:pt x="45390" y="34185"/>
                </a:lnTo>
                <a:lnTo>
                  <a:pt x="45126" y="34726"/>
                </a:lnTo>
                <a:lnTo>
                  <a:pt x="45017" y="35516"/>
                </a:lnTo>
                <a:lnTo>
                  <a:pt x="44520" y="35845"/>
                </a:lnTo>
                <a:lnTo>
                  <a:pt x="44305" y="36454"/>
                </a:lnTo>
                <a:lnTo>
                  <a:pt x="43974" y="36949"/>
                </a:lnTo>
                <a:lnTo>
                  <a:pt x="43630" y="37165"/>
                </a:lnTo>
                <a:lnTo>
                  <a:pt x="43109" y="37767"/>
                </a:lnTo>
                <a:lnTo>
                  <a:pt x="42854" y="37914"/>
                </a:lnTo>
                <a:lnTo>
                  <a:pt x="42264" y="38304"/>
                </a:lnTo>
                <a:lnTo>
                  <a:pt x="41686" y="38673"/>
                </a:lnTo>
                <a:lnTo>
                  <a:pt x="41218" y="38866"/>
                </a:lnTo>
                <a:lnTo>
                  <a:pt x="40657" y="39219"/>
                </a:lnTo>
                <a:lnTo>
                  <a:pt x="39894" y="39335"/>
                </a:lnTo>
                <a:lnTo>
                  <a:pt x="39148" y="39477"/>
                </a:lnTo>
                <a:lnTo>
                  <a:pt x="38548" y="39617"/>
                </a:lnTo>
                <a:lnTo>
                  <a:pt x="37575" y="39859"/>
                </a:lnTo>
                <a:lnTo>
                  <a:pt x="36534" y="39884"/>
                </a:lnTo>
                <a:lnTo>
                  <a:pt x="35382" y="40108"/>
                </a:lnTo>
                <a:lnTo>
                  <a:pt x="34082" y="40133"/>
                </a:lnTo>
                <a:lnTo>
                  <a:pt x="32416" y="40128"/>
                </a:lnTo>
                <a:lnTo>
                  <a:pt x="30152" y="40189"/>
                </a:lnTo>
                <a:lnTo>
                  <a:pt x="23176" y="40280"/>
                </a:lnTo>
                <a:lnTo>
                  <a:pt x="16097" y="40361"/>
                </a:lnTo>
                <a:lnTo>
                  <a:pt x="13759" y="40252"/>
                </a:lnTo>
                <a:lnTo>
                  <a:pt x="12210" y="40216"/>
                </a:lnTo>
                <a:lnTo>
                  <a:pt x="10809" y="40076"/>
                </a:lnTo>
                <a:lnTo>
                  <a:pt x="9590" y="40020"/>
                </a:lnTo>
                <a:lnTo>
                  <a:pt x="8708" y="39814"/>
                </a:lnTo>
                <a:lnTo>
                  <a:pt x="7811" y="39832"/>
                </a:lnTo>
                <a:lnTo>
                  <a:pt x="7051" y="39472"/>
                </a:lnTo>
                <a:lnTo>
                  <a:pt x="6284" y="39325"/>
                </a:lnTo>
                <a:lnTo>
                  <a:pt x="5714" y="39079"/>
                </a:lnTo>
                <a:lnTo>
                  <a:pt x="4993" y="38840"/>
                </a:lnTo>
                <a:lnTo>
                  <a:pt x="4514" y="38602"/>
                </a:lnTo>
                <a:lnTo>
                  <a:pt x="4042" y="38347"/>
                </a:lnTo>
                <a:lnTo>
                  <a:pt x="3523" y="38117"/>
                </a:lnTo>
                <a:lnTo>
                  <a:pt x="3105" y="37622"/>
                </a:lnTo>
                <a:lnTo>
                  <a:pt x="2724" y="37193"/>
                </a:lnTo>
                <a:lnTo>
                  <a:pt x="2225" y="36968"/>
                </a:lnTo>
                <a:lnTo>
                  <a:pt x="1963" y="36519"/>
                </a:lnTo>
                <a:lnTo>
                  <a:pt x="1498" y="35911"/>
                </a:lnTo>
                <a:lnTo>
                  <a:pt x="1338" y="35512"/>
                </a:lnTo>
                <a:lnTo>
                  <a:pt x="1106" y="34780"/>
                </a:lnTo>
                <a:lnTo>
                  <a:pt x="760" y="34271"/>
                </a:lnTo>
                <a:lnTo>
                  <a:pt x="749" y="33614"/>
                </a:lnTo>
                <a:lnTo>
                  <a:pt x="546" y="32740"/>
                </a:lnTo>
                <a:lnTo>
                  <a:pt x="336" y="31923"/>
                </a:lnTo>
                <a:lnTo>
                  <a:pt x="225" y="30781"/>
                </a:lnTo>
                <a:lnTo>
                  <a:pt x="57" y="29814"/>
                </a:lnTo>
                <a:lnTo>
                  <a:pt x="176" y="28236"/>
                </a:lnTo>
                <a:lnTo>
                  <a:pt x="0" y="26465"/>
                </a:lnTo>
                <a:lnTo>
                  <a:pt x="90" y="20232"/>
                </a:lnTo>
                <a:lnTo>
                  <a:pt x="92" y="14015"/>
                </a:lnTo>
                <a:lnTo>
                  <a:pt x="63" y="12024"/>
                </a:lnTo>
                <a:lnTo>
                  <a:pt x="201" y="10523"/>
                </a:lnTo>
                <a:lnTo>
                  <a:pt x="124" y="9409"/>
                </a:lnTo>
                <a:lnTo>
                  <a:pt x="286" y="8433"/>
                </a:lnTo>
                <a:lnTo>
                  <a:pt x="397" y="7746"/>
                </a:lnTo>
                <a:lnTo>
                  <a:pt x="677" y="6827"/>
                </a:lnTo>
                <a:lnTo>
                  <a:pt x="968" y="6200"/>
                </a:lnTo>
                <a:lnTo>
                  <a:pt x="1035" y="5508"/>
                </a:lnTo>
                <a:lnTo>
                  <a:pt x="1310" y="4915"/>
                </a:lnTo>
                <a:lnTo>
                  <a:pt x="1667" y="4414"/>
                </a:lnTo>
                <a:lnTo>
                  <a:pt x="1819" y="3994"/>
                </a:lnTo>
                <a:lnTo>
                  <a:pt x="2332" y="3508"/>
                </a:lnTo>
                <a:lnTo>
                  <a:pt x="2729" y="3082"/>
                </a:lnTo>
                <a:lnTo>
                  <a:pt x="3059" y="2796"/>
                </a:lnTo>
                <a:lnTo>
                  <a:pt x="3380" y="2258"/>
                </a:lnTo>
                <a:lnTo>
                  <a:pt x="4053" y="1989"/>
                </a:lnTo>
                <a:lnTo>
                  <a:pt x="4482" y="1616"/>
                </a:lnTo>
                <a:lnTo>
                  <a:pt x="4971" y="1410"/>
                </a:lnTo>
                <a:lnTo>
                  <a:pt x="5612" y="1248"/>
                </a:lnTo>
                <a:lnTo>
                  <a:pt x="6170" y="892"/>
                </a:lnTo>
                <a:lnTo>
                  <a:pt x="6901" y="726"/>
                </a:lnTo>
                <a:lnTo>
                  <a:pt x="7819" y="610"/>
                </a:lnTo>
                <a:lnTo>
                  <a:pt x="8683" y="482"/>
                </a:lnTo>
                <a:lnTo>
                  <a:pt x="9795" y="472"/>
                </a:lnTo>
                <a:lnTo>
                  <a:pt x="10785" y="202"/>
                </a:lnTo>
                <a:lnTo>
                  <a:pt x="12129" y="238"/>
                </a:lnTo>
                <a:lnTo>
                  <a:pt x="13879" y="138"/>
                </a:lnTo>
                <a:lnTo>
                  <a:pt x="15894" y="19"/>
                </a:lnTo>
                <a:lnTo>
                  <a:pt x="23207" y="0"/>
                </a:lnTo>
                <a:lnTo>
                  <a:pt x="30113" y="21"/>
                </a:lnTo>
                <a:lnTo>
                  <a:pt x="32452" y="89"/>
                </a:lnTo>
                <a:lnTo>
                  <a:pt x="33994" y="237"/>
                </a:lnTo>
                <a:lnTo>
                  <a:pt x="35490" y="307"/>
                </a:lnTo>
                <a:lnTo>
                  <a:pt x="36553" y="343"/>
                </a:lnTo>
                <a:lnTo>
                  <a:pt x="37536" y="537"/>
                </a:lnTo>
                <a:lnTo>
                  <a:pt x="38407" y="694"/>
                </a:lnTo>
                <a:lnTo>
                  <a:pt x="39182" y="895"/>
                </a:lnTo>
                <a:lnTo>
                  <a:pt x="39925" y="910"/>
                </a:lnTo>
                <a:lnTo>
                  <a:pt x="40510" y="1277"/>
                </a:lnTo>
                <a:lnTo>
                  <a:pt x="41280" y="1479"/>
                </a:lnTo>
                <a:lnTo>
                  <a:pt x="41832" y="1642"/>
                </a:lnTo>
                <a:lnTo>
                  <a:pt x="42237" y="2134"/>
                </a:lnTo>
                <a:lnTo>
                  <a:pt x="42799" y="2304"/>
                </a:lnTo>
                <a:lnTo>
                  <a:pt x="43141" y="2778"/>
                </a:lnTo>
                <a:lnTo>
                  <a:pt x="43598" y="3083"/>
                </a:lnTo>
                <a:lnTo>
                  <a:pt x="43996" y="3600"/>
                </a:lnTo>
                <a:lnTo>
                  <a:pt x="44369" y="3898"/>
                </a:lnTo>
                <a:lnTo>
                  <a:pt x="44534" y="4538"/>
                </a:lnTo>
                <a:lnTo>
                  <a:pt x="44851" y="4900"/>
                </a:lnTo>
                <a:lnTo>
                  <a:pt x="45061" y="5616"/>
                </a:lnTo>
                <a:lnTo>
                  <a:pt x="45424" y="6156"/>
                </a:lnTo>
                <a:lnTo>
                  <a:pt x="45562" y="6912"/>
                </a:lnTo>
                <a:lnTo>
                  <a:pt x="45707" y="7583"/>
                </a:lnTo>
                <a:lnTo>
                  <a:pt x="45841" y="8505"/>
                </a:lnTo>
                <a:lnTo>
                  <a:pt x="46066" y="9585"/>
                </a:lnTo>
                <a:lnTo>
                  <a:pt x="46139" y="10660"/>
                </a:lnTo>
                <a:lnTo>
                  <a:pt x="46167" y="12154"/>
                </a:lnTo>
                <a:lnTo>
                  <a:pt x="46293" y="13896"/>
                </a:lnTo>
                <a:lnTo>
                  <a:pt x="46323" y="20195"/>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5205588" y="3753703"/>
            <a:ext cx="4229009" cy="3683478"/>
          </a:xfrm>
          <a:custGeom>
            <a:avLst/>
            <a:gdLst/>
            <a:ahLst/>
            <a:cxnLst/>
            <a:rect l="l" t="t" r="r" b="b"/>
            <a:pathLst>
              <a:path w="46249" h="40283">
                <a:moveTo>
                  <a:pt x="46070" y="20139"/>
                </a:moveTo>
                <a:lnTo>
                  <a:pt x="46249" y="26312"/>
                </a:lnTo>
                <a:lnTo>
                  <a:pt x="46195" y="28230"/>
                </a:lnTo>
                <a:lnTo>
                  <a:pt x="46011" y="29680"/>
                </a:lnTo>
                <a:lnTo>
                  <a:pt x="45842" y="30957"/>
                </a:lnTo>
                <a:lnTo>
                  <a:pt x="45884" y="31727"/>
                </a:lnTo>
                <a:lnTo>
                  <a:pt x="45753" y="32589"/>
                </a:lnTo>
                <a:lnTo>
                  <a:pt x="45485" y="33392"/>
                </a:lnTo>
                <a:lnTo>
                  <a:pt x="45293" y="34238"/>
                </a:lnTo>
                <a:lnTo>
                  <a:pt x="45183" y="34783"/>
                </a:lnTo>
                <a:lnTo>
                  <a:pt x="44908" y="35291"/>
                </a:lnTo>
                <a:lnTo>
                  <a:pt x="44665" y="35804"/>
                </a:lnTo>
                <a:lnTo>
                  <a:pt x="44205" y="36272"/>
                </a:lnTo>
                <a:lnTo>
                  <a:pt x="44043" y="36808"/>
                </a:lnTo>
                <a:lnTo>
                  <a:pt x="43491" y="37256"/>
                </a:lnTo>
                <a:lnTo>
                  <a:pt x="43222" y="37549"/>
                </a:lnTo>
                <a:lnTo>
                  <a:pt x="42748" y="37924"/>
                </a:lnTo>
                <a:lnTo>
                  <a:pt x="42182" y="38208"/>
                </a:lnTo>
                <a:lnTo>
                  <a:pt x="41757" y="38708"/>
                </a:lnTo>
                <a:lnTo>
                  <a:pt x="41159" y="38922"/>
                </a:lnTo>
                <a:lnTo>
                  <a:pt x="40660" y="39030"/>
                </a:lnTo>
                <a:lnTo>
                  <a:pt x="39801" y="39361"/>
                </a:lnTo>
                <a:lnTo>
                  <a:pt x="39163" y="39589"/>
                </a:lnTo>
                <a:lnTo>
                  <a:pt x="38430" y="39636"/>
                </a:lnTo>
                <a:lnTo>
                  <a:pt x="37450" y="39751"/>
                </a:lnTo>
                <a:lnTo>
                  <a:pt x="36411" y="40046"/>
                </a:lnTo>
                <a:lnTo>
                  <a:pt x="35265" y="40138"/>
                </a:lnTo>
                <a:lnTo>
                  <a:pt x="34155" y="40011"/>
                </a:lnTo>
                <a:lnTo>
                  <a:pt x="32399" y="40139"/>
                </a:lnTo>
                <a:lnTo>
                  <a:pt x="30141" y="40230"/>
                </a:lnTo>
                <a:lnTo>
                  <a:pt x="23031" y="40263"/>
                </a:lnTo>
                <a:lnTo>
                  <a:pt x="15915" y="40212"/>
                </a:lnTo>
                <a:lnTo>
                  <a:pt x="13717" y="40283"/>
                </a:lnTo>
                <a:lnTo>
                  <a:pt x="12076" y="40176"/>
                </a:lnTo>
                <a:lnTo>
                  <a:pt x="10706" y="40106"/>
                </a:lnTo>
                <a:lnTo>
                  <a:pt x="9538" y="39858"/>
                </a:lnTo>
                <a:lnTo>
                  <a:pt x="8694" y="39743"/>
                </a:lnTo>
                <a:lnTo>
                  <a:pt x="7791" y="39590"/>
                </a:lnTo>
                <a:lnTo>
                  <a:pt x="7056" y="39585"/>
                </a:lnTo>
                <a:lnTo>
                  <a:pt x="6333" y="39247"/>
                </a:lnTo>
                <a:lnTo>
                  <a:pt x="5578" y="38995"/>
                </a:lnTo>
                <a:lnTo>
                  <a:pt x="4863" y="38751"/>
                </a:lnTo>
                <a:lnTo>
                  <a:pt x="4394" y="38496"/>
                </a:lnTo>
                <a:lnTo>
                  <a:pt x="3865" y="38368"/>
                </a:lnTo>
                <a:lnTo>
                  <a:pt x="3336" y="37990"/>
                </a:lnTo>
                <a:lnTo>
                  <a:pt x="2916" y="37527"/>
                </a:lnTo>
                <a:lnTo>
                  <a:pt x="2556" y="37360"/>
                </a:lnTo>
                <a:lnTo>
                  <a:pt x="2144" y="36913"/>
                </a:lnTo>
                <a:lnTo>
                  <a:pt x="1945" y="36311"/>
                </a:lnTo>
                <a:lnTo>
                  <a:pt x="1587" y="35799"/>
                </a:lnTo>
                <a:lnTo>
                  <a:pt x="1398" y="35280"/>
                </a:lnTo>
                <a:lnTo>
                  <a:pt x="1094" y="34700"/>
                </a:lnTo>
                <a:lnTo>
                  <a:pt x="880" y="34239"/>
                </a:lnTo>
                <a:lnTo>
                  <a:pt x="488" y="33536"/>
                </a:lnTo>
                <a:lnTo>
                  <a:pt x="542" y="32813"/>
                </a:lnTo>
                <a:lnTo>
                  <a:pt x="396" y="31871"/>
                </a:lnTo>
                <a:lnTo>
                  <a:pt x="171" y="30773"/>
                </a:lnTo>
                <a:lnTo>
                  <a:pt x="87" y="29813"/>
                </a:lnTo>
                <a:lnTo>
                  <a:pt x="12" y="28355"/>
                </a:lnTo>
                <a:lnTo>
                  <a:pt x="0" y="26437"/>
                </a:lnTo>
                <a:lnTo>
                  <a:pt x="115" y="20198"/>
                </a:lnTo>
                <a:lnTo>
                  <a:pt x="96" y="14034"/>
                </a:lnTo>
                <a:lnTo>
                  <a:pt x="130" y="11981"/>
                </a:lnTo>
                <a:lnTo>
                  <a:pt x="235" y="10532"/>
                </a:lnTo>
                <a:lnTo>
                  <a:pt x="263" y="9478"/>
                </a:lnTo>
                <a:lnTo>
                  <a:pt x="341" y="8421"/>
                </a:lnTo>
                <a:lnTo>
                  <a:pt x="349" y="7525"/>
                </a:lnTo>
                <a:lnTo>
                  <a:pt x="717" y="6828"/>
                </a:lnTo>
                <a:lnTo>
                  <a:pt x="783" y="6059"/>
                </a:lnTo>
                <a:lnTo>
                  <a:pt x="1080" y="5478"/>
                </a:lnTo>
                <a:lnTo>
                  <a:pt x="1339" y="4857"/>
                </a:lnTo>
                <a:lnTo>
                  <a:pt x="1576" y="4326"/>
                </a:lnTo>
                <a:lnTo>
                  <a:pt x="1838" y="3962"/>
                </a:lnTo>
                <a:lnTo>
                  <a:pt x="2101" y="3535"/>
                </a:lnTo>
                <a:lnTo>
                  <a:pt x="2479" y="2952"/>
                </a:lnTo>
                <a:lnTo>
                  <a:pt x="2940" y="2679"/>
                </a:lnTo>
                <a:lnTo>
                  <a:pt x="3343" y="2326"/>
                </a:lnTo>
                <a:lnTo>
                  <a:pt x="3899" y="2078"/>
                </a:lnTo>
                <a:lnTo>
                  <a:pt x="4359" y="1678"/>
                </a:lnTo>
                <a:lnTo>
                  <a:pt x="4954" y="1375"/>
                </a:lnTo>
                <a:lnTo>
                  <a:pt x="5465" y="1198"/>
                </a:lnTo>
                <a:lnTo>
                  <a:pt x="6268" y="1048"/>
                </a:lnTo>
                <a:lnTo>
                  <a:pt x="6937" y="895"/>
                </a:lnTo>
                <a:lnTo>
                  <a:pt x="7665" y="515"/>
                </a:lnTo>
                <a:lnTo>
                  <a:pt x="8674" y="574"/>
                </a:lnTo>
                <a:lnTo>
                  <a:pt x="9613" y="247"/>
                </a:lnTo>
                <a:lnTo>
                  <a:pt x="10759" y="187"/>
                </a:lnTo>
                <a:lnTo>
                  <a:pt x="12064" y="215"/>
                </a:lnTo>
                <a:lnTo>
                  <a:pt x="13845" y="138"/>
                </a:lnTo>
                <a:lnTo>
                  <a:pt x="16074" y="0"/>
                </a:lnTo>
                <a:lnTo>
                  <a:pt x="23009" y="154"/>
                </a:lnTo>
                <a:lnTo>
                  <a:pt x="30141" y="142"/>
                </a:lnTo>
                <a:lnTo>
                  <a:pt x="32370" y="148"/>
                </a:lnTo>
                <a:lnTo>
                  <a:pt x="34022" y="77"/>
                </a:lnTo>
                <a:lnTo>
                  <a:pt x="35396" y="307"/>
                </a:lnTo>
                <a:lnTo>
                  <a:pt x="36497" y="343"/>
                </a:lnTo>
                <a:lnTo>
                  <a:pt x="37496" y="359"/>
                </a:lnTo>
                <a:lnTo>
                  <a:pt x="38387" y="655"/>
                </a:lnTo>
                <a:lnTo>
                  <a:pt x="39072" y="738"/>
                </a:lnTo>
                <a:lnTo>
                  <a:pt x="39944" y="943"/>
                </a:lnTo>
                <a:lnTo>
                  <a:pt x="40443" y="1262"/>
                </a:lnTo>
                <a:lnTo>
                  <a:pt x="41175" y="1378"/>
                </a:lnTo>
                <a:lnTo>
                  <a:pt x="41650" y="1782"/>
                </a:lnTo>
                <a:lnTo>
                  <a:pt x="42266" y="2107"/>
                </a:lnTo>
                <a:lnTo>
                  <a:pt x="42679" y="2395"/>
                </a:lnTo>
                <a:lnTo>
                  <a:pt x="43252" y="2702"/>
                </a:lnTo>
                <a:lnTo>
                  <a:pt x="43602" y="3000"/>
                </a:lnTo>
                <a:lnTo>
                  <a:pt x="43869" y="3535"/>
                </a:lnTo>
                <a:lnTo>
                  <a:pt x="44200" y="4018"/>
                </a:lnTo>
                <a:lnTo>
                  <a:pt x="44468" y="4422"/>
                </a:lnTo>
                <a:lnTo>
                  <a:pt x="44868" y="4836"/>
                </a:lnTo>
                <a:lnTo>
                  <a:pt x="45023" y="5446"/>
                </a:lnTo>
                <a:lnTo>
                  <a:pt x="45364" y="6166"/>
                </a:lnTo>
                <a:lnTo>
                  <a:pt x="45498" y="6918"/>
                </a:lnTo>
                <a:lnTo>
                  <a:pt x="45739" y="7662"/>
                </a:lnTo>
                <a:lnTo>
                  <a:pt x="45758" y="8496"/>
                </a:lnTo>
                <a:lnTo>
                  <a:pt x="46021" y="9426"/>
                </a:lnTo>
                <a:lnTo>
                  <a:pt x="46104" y="10653"/>
                </a:lnTo>
                <a:lnTo>
                  <a:pt x="46091" y="12080"/>
                </a:lnTo>
                <a:lnTo>
                  <a:pt x="46056" y="13965"/>
                </a:lnTo>
                <a:lnTo>
                  <a:pt x="46222" y="20219"/>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9350654" y="6575725"/>
            <a:ext cx="56418" cy="301661"/>
          </a:xfrm>
          <a:custGeom>
            <a:avLst/>
            <a:gdLst/>
            <a:ahLst/>
            <a:cxnLst/>
            <a:rect l="l" t="t" r="r" b="b"/>
            <a:pathLst>
              <a:path w="617" h="3299">
                <a:moveTo>
                  <a:pt x="617" y="0"/>
                </a:moveTo>
                <a:lnTo>
                  <a:pt x="502" y="981"/>
                </a:lnTo>
                <a:lnTo>
                  <a:pt x="361" y="1840"/>
                </a:lnTo>
                <a:lnTo>
                  <a:pt x="194" y="2607"/>
                </a:lnTo>
                <a:lnTo>
                  <a:pt x="0" y="3299"/>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8715146" y="7307428"/>
            <a:ext cx="255118" cy="74981"/>
          </a:xfrm>
          <a:custGeom>
            <a:avLst/>
            <a:gdLst/>
            <a:ahLst/>
            <a:cxnLst/>
            <a:rect l="l" t="t" r="r" b="b"/>
            <a:pathLst>
              <a:path w="2790" h="820">
                <a:moveTo>
                  <a:pt x="2790" y="0"/>
                </a:moveTo>
                <a:lnTo>
                  <a:pt x="2181" y="242"/>
                </a:lnTo>
                <a:lnTo>
                  <a:pt x="1519" y="459"/>
                </a:lnTo>
                <a:lnTo>
                  <a:pt x="795" y="652"/>
                </a:lnTo>
                <a:lnTo>
                  <a:pt x="0" y="82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5842559" y="7367046"/>
            <a:ext cx="346649" cy="49012"/>
          </a:xfrm>
          <a:custGeom>
            <a:avLst/>
            <a:gdLst/>
            <a:ahLst/>
            <a:cxnLst/>
            <a:rect l="l" t="t" r="r" b="b"/>
            <a:pathLst>
              <a:path w="3791" h="536">
                <a:moveTo>
                  <a:pt x="3791" y="536"/>
                </a:moveTo>
                <a:lnTo>
                  <a:pt x="2664" y="436"/>
                </a:lnTo>
                <a:lnTo>
                  <a:pt x="1676" y="314"/>
                </a:lnTo>
                <a:lnTo>
                  <a:pt x="795" y="168"/>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5262006" y="6814109"/>
            <a:ext cx="86136" cy="221925"/>
          </a:xfrm>
          <a:custGeom>
            <a:avLst/>
            <a:gdLst/>
            <a:ahLst/>
            <a:cxnLst/>
            <a:rect l="l" t="t" r="r" b="b"/>
            <a:pathLst>
              <a:path w="942" h="2427">
                <a:moveTo>
                  <a:pt x="942" y="2427"/>
                </a:moveTo>
                <a:lnTo>
                  <a:pt x="664" y="1898"/>
                </a:lnTo>
                <a:lnTo>
                  <a:pt x="415" y="1321"/>
                </a:lnTo>
                <a:lnTo>
                  <a:pt x="194" y="692"/>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5223327" y="4314871"/>
            <a:ext cx="56418" cy="301661"/>
          </a:xfrm>
          <a:custGeom>
            <a:avLst/>
            <a:gdLst/>
            <a:ahLst/>
            <a:cxnLst/>
            <a:rect l="l" t="t" r="r" b="b"/>
            <a:pathLst>
              <a:path w="617" h="3299">
                <a:moveTo>
                  <a:pt x="0" y="3299"/>
                </a:moveTo>
                <a:lnTo>
                  <a:pt x="115" y="2318"/>
                </a:lnTo>
                <a:lnTo>
                  <a:pt x="256" y="1459"/>
                </a:lnTo>
                <a:lnTo>
                  <a:pt x="423" y="692"/>
                </a:lnTo>
                <a:lnTo>
                  <a:pt x="617"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5660136" y="3809848"/>
            <a:ext cx="255118" cy="74981"/>
          </a:xfrm>
          <a:custGeom>
            <a:avLst/>
            <a:gdLst/>
            <a:ahLst/>
            <a:cxnLst/>
            <a:rect l="l" t="t" r="r" b="b"/>
            <a:pathLst>
              <a:path w="2790" h="820">
                <a:moveTo>
                  <a:pt x="0" y="820"/>
                </a:moveTo>
                <a:lnTo>
                  <a:pt x="609" y="578"/>
                </a:lnTo>
                <a:lnTo>
                  <a:pt x="1271" y="361"/>
                </a:lnTo>
                <a:lnTo>
                  <a:pt x="1995" y="168"/>
                </a:lnTo>
                <a:lnTo>
                  <a:pt x="279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8441192" y="3776198"/>
            <a:ext cx="346649" cy="49012"/>
          </a:xfrm>
          <a:custGeom>
            <a:avLst/>
            <a:gdLst/>
            <a:ahLst/>
            <a:cxnLst/>
            <a:rect l="l" t="t" r="r" b="b"/>
            <a:pathLst>
              <a:path w="3791" h="536">
                <a:moveTo>
                  <a:pt x="0" y="0"/>
                </a:moveTo>
                <a:lnTo>
                  <a:pt x="1127" y="100"/>
                </a:lnTo>
                <a:lnTo>
                  <a:pt x="2115" y="222"/>
                </a:lnTo>
                <a:lnTo>
                  <a:pt x="2996" y="368"/>
                </a:lnTo>
                <a:lnTo>
                  <a:pt x="3791" y="536"/>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9282257" y="4156222"/>
            <a:ext cx="86136" cy="221925"/>
          </a:xfrm>
          <a:custGeom>
            <a:avLst/>
            <a:gdLst/>
            <a:ahLst/>
            <a:cxnLst/>
            <a:rect l="l" t="t" r="r" b="b"/>
            <a:pathLst>
              <a:path w="942" h="2427">
                <a:moveTo>
                  <a:pt x="0" y="0"/>
                </a:moveTo>
                <a:lnTo>
                  <a:pt x="278" y="529"/>
                </a:lnTo>
                <a:lnTo>
                  <a:pt x="527" y="1106"/>
                </a:lnTo>
                <a:lnTo>
                  <a:pt x="748" y="1735"/>
                </a:lnTo>
                <a:lnTo>
                  <a:pt x="942" y="2427"/>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ody: What we can do"/>
          <p:cNvSpPr txBox="1"/>
          <p:nvPr/>
        </p:nvSpPr>
        <p:spPr>
          <a:xfrm>
            <a:off x="5550408" y="4027170"/>
            <a:ext cx="352958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557B65"/>
                </a:solidFill>
                <a:latin typeface="Chalkboard SE"/>
              </a:rPr>
              <a:t>What we can do</a:t>
            </a:r>
          </a:p>
        </p:txBody>
      </p:sp>
      <p:sp>
        <p:nvSpPr>
          <p:cNvPr id="56" name="Oval 55"/>
          <p:cNvSpPr/>
          <p:nvPr/>
        </p:nvSpPr>
        <p:spPr>
          <a:xfrm>
            <a:off x="5463540" y="490347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ody: Observe effects independently"/>
          <p:cNvSpPr txBox="1"/>
          <p:nvPr/>
        </p:nvSpPr>
        <p:spPr>
          <a:xfrm>
            <a:off x="5696712" y="4802886"/>
            <a:ext cx="3483864" cy="358902"/>
          </a:xfrm>
          <a:prstGeom prst="rect">
            <a:avLst/>
          </a:prstGeom>
          <a:noFill/>
        </p:spPr>
        <p:txBody>
          <a:bodyPr wrap="none" lIns="0" rIns="0" tIns="0" bIns="0" anchor="t">
            <a:noAutofit/>
          </a:bodyPr>
          <a:lstStyle/>
          <a:p>
            <a:pPr algn="l">
              <a:lnSpc>
                <a:spcPts val="2286"/>
              </a:lnSpc>
              <a:spcBef>
                <a:spcPts val="0"/>
              </a:spcBef>
              <a:spcAft>
                <a:spcPts val="0"/>
              </a:spcAft>
            </a:pPr>
            <a:r>
              <a:rPr sz="1800" b="0">
                <a:solidFill>
                  <a:srgbClr val="293E46"/>
                </a:solidFill>
                <a:latin typeface="Trebuchet MS"/>
              </a:rPr>
              <a:t>Observe effects independently</a:t>
            </a:r>
          </a:p>
        </p:txBody>
      </p:sp>
      <p:sp>
        <p:nvSpPr>
          <p:cNvPr id="58" name="Oval 57"/>
          <p:cNvSpPr/>
          <p:nvPr/>
        </p:nvSpPr>
        <p:spPr>
          <a:xfrm>
            <a:off x="5463540" y="538124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ody: Store each incident as an executable case"/>
          <p:cNvSpPr txBox="1"/>
          <p:nvPr/>
        </p:nvSpPr>
        <p:spPr>
          <a:xfrm>
            <a:off x="5696712" y="5280660"/>
            <a:ext cx="3483864" cy="649224"/>
          </a:xfrm>
          <a:prstGeom prst="rect">
            <a:avLst/>
          </a:prstGeom>
          <a:noFill/>
        </p:spPr>
        <p:txBody>
          <a:bodyPr wrap="none" lIns="0" rIns="0" tIns="0" bIns="0" anchor="t">
            <a:noAutofit/>
          </a:bodyPr>
          <a:lstStyle/>
          <a:p>
            <a:pPr algn="l">
              <a:lnSpc>
                <a:spcPts val="2286"/>
              </a:lnSpc>
              <a:spcBef>
                <a:spcPts val="0"/>
              </a:spcBef>
              <a:spcAft>
                <a:spcPts val="0"/>
              </a:spcAft>
            </a:pPr>
            <a:r>
              <a:rPr sz="1800" b="0">
                <a:solidFill>
                  <a:srgbClr val="293E46"/>
                </a:solidFill>
                <a:latin typeface="Trebuchet MS"/>
              </a:rPr>
              <a:t>Store each incident as an</a:t>
            </a:r>
            <a:br/>
            <a:r>
              <a:rPr sz="1800" b="0">
                <a:solidFill>
                  <a:srgbClr val="293E46"/>
                </a:solidFill>
                <a:latin typeface="Trebuchet MS"/>
              </a:rPr>
              <a:t>executable case</a:t>
            </a:r>
          </a:p>
        </p:txBody>
      </p:sp>
      <p:sp>
        <p:nvSpPr>
          <p:cNvPr id="60" name="Oval 59"/>
          <p:cNvSpPr/>
          <p:nvPr/>
        </p:nvSpPr>
        <p:spPr>
          <a:xfrm>
            <a:off x="5463540" y="614934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dy: Replay every case against every new policy"/>
          <p:cNvSpPr txBox="1"/>
          <p:nvPr/>
        </p:nvSpPr>
        <p:spPr>
          <a:xfrm>
            <a:off x="5696712" y="6048756"/>
            <a:ext cx="3483864" cy="649224"/>
          </a:xfrm>
          <a:prstGeom prst="rect">
            <a:avLst/>
          </a:prstGeom>
          <a:noFill/>
        </p:spPr>
        <p:txBody>
          <a:bodyPr wrap="none" lIns="0" rIns="0" tIns="0" bIns="0" anchor="t">
            <a:noAutofit/>
          </a:bodyPr>
          <a:lstStyle/>
          <a:p>
            <a:pPr algn="l">
              <a:lnSpc>
                <a:spcPts val="2286"/>
              </a:lnSpc>
              <a:spcBef>
                <a:spcPts val="0"/>
              </a:spcBef>
              <a:spcAft>
                <a:spcPts val="0"/>
              </a:spcAft>
            </a:pPr>
            <a:r>
              <a:rPr sz="1800" b="0">
                <a:solidFill>
                  <a:srgbClr val="293E46"/>
                </a:solidFill>
                <a:latin typeface="Trebuchet MS"/>
              </a:rPr>
              <a:t>Replay every case against every</a:t>
            </a:r>
            <a:br/>
            <a:r>
              <a:rPr sz="1800" b="0">
                <a:solidFill>
                  <a:srgbClr val="293E46"/>
                </a:solidFill>
                <a:latin typeface="Trebuchet MS"/>
              </a:rPr>
              <a:t>new policy</a:t>
            </a:r>
          </a:p>
        </p:txBody>
      </p:sp>
      <p:sp>
        <p:nvSpPr>
          <p:cNvPr id="62" name="Oval 61"/>
          <p:cNvSpPr/>
          <p:nvPr/>
        </p:nvSpPr>
        <p:spPr>
          <a:xfrm>
            <a:off x="5463540" y="691743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ody: Hold out by lineage and by date"/>
          <p:cNvSpPr txBox="1"/>
          <p:nvPr/>
        </p:nvSpPr>
        <p:spPr>
          <a:xfrm>
            <a:off x="5696712" y="6816852"/>
            <a:ext cx="3483864" cy="358902"/>
          </a:xfrm>
          <a:prstGeom prst="rect">
            <a:avLst/>
          </a:prstGeom>
          <a:noFill/>
        </p:spPr>
        <p:txBody>
          <a:bodyPr wrap="none" lIns="0" rIns="0" tIns="0" bIns="0" anchor="t">
            <a:noAutofit/>
          </a:bodyPr>
          <a:lstStyle/>
          <a:p>
            <a:pPr algn="l">
              <a:lnSpc>
                <a:spcPts val="2286"/>
              </a:lnSpc>
              <a:spcBef>
                <a:spcPts val="0"/>
              </a:spcBef>
              <a:spcAft>
                <a:spcPts val="0"/>
              </a:spcAft>
            </a:pPr>
            <a:r>
              <a:rPr sz="1800" b="0">
                <a:solidFill>
                  <a:srgbClr val="293E46"/>
                </a:solidFill>
                <a:latin typeface="Trebuchet MS"/>
              </a:rPr>
              <a:t>Hold out by lineage and by date</a:t>
            </a:r>
          </a:p>
        </p:txBody>
      </p:sp>
      <p:sp>
        <p:nvSpPr>
          <p:cNvPr id="64" name="Rounded Rectangle 63"/>
          <p:cNvSpPr/>
          <p:nvPr/>
        </p:nvSpPr>
        <p:spPr>
          <a:xfrm>
            <a:off x="9747504" y="3749039"/>
            <a:ext cx="4242816" cy="3694176"/>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9748510" y="3754069"/>
            <a:ext cx="4237055" cy="3687867"/>
          </a:xfrm>
          <a:custGeom>
            <a:avLst/>
            <a:gdLst/>
            <a:ahLst/>
            <a:cxnLst/>
            <a:rect l="l" t="t" r="r" b="b"/>
            <a:pathLst>
              <a:path w="46337" h="40331">
                <a:moveTo>
                  <a:pt x="46263" y="20066"/>
                </a:moveTo>
                <a:lnTo>
                  <a:pt x="46152" y="26402"/>
                </a:lnTo>
                <a:lnTo>
                  <a:pt x="46309" y="28265"/>
                </a:lnTo>
                <a:lnTo>
                  <a:pt x="46143" y="29709"/>
                </a:lnTo>
                <a:lnTo>
                  <a:pt x="45941" y="30834"/>
                </a:lnTo>
                <a:lnTo>
                  <a:pt x="45961" y="31914"/>
                </a:lnTo>
                <a:lnTo>
                  <a:pt x="45701" y="32639"/>
                </a:lnTo>
                <a:lnTo>
                  <a:pt x="45558" y="33512"/>
                </a:lnTo>
                <a:lnTo>
                  <a:pt x="45378" y="34101"/>
                </a:lnTo>
                <a:lnTo>
                  <a:pt x="45335" y="34697"/>
                </a:lnTo>
                <a:lnTo>
                  <a:pt x="44877" y="35267"/>
                </a:lnTo>
                <a:lnTo>
                  <a:pt x="44573" y="35810"/>
                </a:lnTo>
                <a:lnTo>
                  <a:pt x="44342" y="36374"/>
                </a:lnTo>
                <a:lnTo>
                  <a:pt x="44072" y="36912"/>
                </a:lnTo>
                <a:lnTo>
                  <a:pt x="43758" y="37284"/>
                </a:lnTo>
                <a:lnTo>
                  <a:pt x="43295" y="37695"/>
                </a:lnTo>
                <a:lnTo>
                  <a:pt x="42713" y="37919"/>
                </a:lnTo>
                <a:lnTo>
                  <a:pt x="42375" y="38259"/>
                </a:lnTo>
                <a:lnTo>
                  <a:pt x="41886" y="38632"/>
                </a:lnTo>
                <a:lnTo>
                  <a:pt x="41188" y="38864"/>
                </a:lnTo>
                <a:lnTo>
                  <a:pt x="40802" y="39072"/>
                </a:lnTo>
                <a:lnTo>
                  <a:pt x="39961" y="39373"/>
                </a:lnTo>
                <a:lnTo>
                  <a:pt x="39193" y="39624"/>
                </a:lnTo>
                <a:lnTo>
                  <a:pt x="38434" y="39659"/>
                </a:lnTo>
                <a:lnTo>
                  <a:pt x="37593" y="39887"/>
                </a:lnTo>
                <a:lnTo>
                  <a:pt x="36602" y="39981"/>
                </a:lnTo>
                <a:lnTo>
                  <a:pt x="35521" y="40064"/>
                </a:lnTo>
                <a:lnTo>
                  <a:pt x="34233" y="40020"/>
                </a:lnTo>
                <a:lnTo>
                  <a:pt x="32418" y="40256"/>
                </a:lnTo>
                <a:lnTo>
                  <a:pt x="30355" y="40215"/>
                </a:lnTo>
                <a:lnTo>
                  <a:pt x="23123" y="40160"/>
                </a:lnTo>
                <a:lnTo>
                  <a:pt x="16030" y="40331"/>
                </a:lnTo>
                <a:lnTo>
                  <a:pt x="13810" y="40074"/>
                </a:lnTo>
                <a:lnTo>
                  <a:pt x="12114" y="40151"/>
                </a:lnTo>
                <a:lnTo>
                  <a:pt x="10913" y="39936"/>
                </a:lnTo>
                <a:lnTo>
                  <a:pt x="9709" y="40014"/>
                </a:lnTo>
                <a:lnTo>
                  <a:pt x="8871" y="39717"/>
                </a:lnTo>
                <a:lnTo>
                  <a:pt x="7903" y="39672"/>
                </a:lnTo>
                <a:lnTo>
                  <a:pt x="6987" y="39528"/>
                </a:lnTo>
                <a:lnTo>
                  <a:pt x="6443" y="39406"/>
                </a:lnTo>
                <a:lnTo>
                  <a:pt x="5642" y="39091"/>
                </a:lnTo>
                <a:lnTo>
                  <a:pt x="5011" y="38861"/>
                </a:lnTo>
                <a:lnTo>
                  <a:pt x="4515" y="38524"/>
                </a:lnTo>
                <a:lnTo>
                  <a:pt x="3929" y="38278"/>
                </a:lnTo>
                <a:lnTo>
                  <a:pt x="3442" y="38012"/>
                </a:lnTo>
                <a:lnTo>
                  <a:pt x="3040" y="37705"/>
                </a:lnTo>
                <a:lnTo>
                  <a:pt x="2779" y="37360"/>
                </a:lnTo>
                <a:lnTo>
                  <a:pt x="2423" y="36747"/>
                </a:lnTo>
                <a:lnTo>
                  <a:pt x="2085" y="36398"/>
                </a:lnTo>
                <a:lnTo>
                  <a:pt x="1778" y="35893"/>
                </a:lnTo>
                <a:lnTo>
                  <a:pt x="1442" y="35340"/>
                </a:lnTo>
                <a:lnTo>
                  <a:pt x="1210" y="34748"/>
                </a:lnTo>
                <a:lnTo>
                  <a:pt x="866" y="34107"/>
                </a:lnTo>
                <a:lnTo>
                  <a:pt x="747" y="33532"/>
                </a:lnTo>
                <a:lnTo>
                  <a:pt x="605" y="32684"/>
                </a:lnTo>
                <a:lnTo>
                  <a:pt x="425" y="31752"/>
                </a:lnTo>
                <a:lnTo>
                  <a:pt x="251" y="30758"/>
                </a:lnTo>
                <a:lnTo>
                  <a:pt x="135" y="29664"/>
                </a:lnTo>
                <a:lnTo>
                  <a:pt x="227" y="28166"/>
                </a:lnTo>
                <a:lnTo>
                  <a:pt x="113" y="26391"/>
                </a:lnTo>
                <a:lnTo>
                  <a:pt x="0" y="20132"/>
                </a:lnTo>
                <a:lnTo>
                  <a:pt x="251" y="13920"/>
                </a:lnTo>
                <a:lnTo>
                  <a:pt x="228" y="11894"/>
                </a:lnTo>
                <a:lnTo>
                  <a:pt x="131" y="10602"/>
                </a:lnTo>
                <a:lnTo>
                  <a:pt x="254" y="9419"/>
                </a:lnTo>
                <a:lnTo>
                  <a:pt x="397" y="8422"/>
                </a:lnTo>
                <a:lnTo>
                  <a:pt x="494" y="7667"/>
                </a:lnTo>
                <a:lnTo>
                  <a:pt x="682" y="6822"/>
                </a:lnTo>
                <a:lnTo>
                  <a:pt x="1058" y="6227"/>
                </a:lnTo>
                <a:lnTo>
                  <a:pt x="1166" y="5512"/>
                </a:lnTo>
                <a:lnTo>
                  <a:pt x="1323" y="5007"/>
                </a:lnTo>
                <a:lnTo>
                  <a:pt x="1722" y="4328"/>
                </a:lnTo>
                <a:lnTo>
                  <a:pt x="1994" y="3911"/>
                </a:lnTo>
                <a:lnTo>
                  <a:pt x="2393" y="3546"/>
                </a:lnTo>
                <a:lnTo>
                  <a:pt x="2576" y="3097"/>
                </a:lnTo>
                <a:lnTo>
                  <a:pt x="3200" y="2622"/>
                </a:lnTo>
                <a:lnTo>
                  <a:pt x="3586" y="2417"/>
                </a:lnTo>
                <a:lnTo>
                  <a:pt x="4109" y="1916"/>
                </a:lnTo>
                <a:lnTo>
                  <a:pt x="4490" y="1784"/>
                </a:lnTo>
                <a:lnTo>
                  <a:pt x="4979" y="1337"/>
                </a:lnTo>
                <a:lnTo>
                  <a:pt x="5800" y="1070"/>
                </a:lnTo>
                <a:lnTo>
                  <a:pt x="6418" y="954"/>
                </a:lnTo>
                <a:lnTo>
                  <a:pt x="7058" y="794"/>
                </a:lnTo>
                <a:lnTo>
                  <a:pt x="7764" y="637"/>
                </a:lnTo>
                <a:lnTo>
                  <a:pt x="8735" y="382"/>
                </a:lnTo>
                <a:lnTo>
                  <a:pt x="9681" y="447"/>
                </a:lnTo>
                <a:lnTo>
                  <a:pt x="10944" y="160"/>
                </a:lnTo>
                <a:lnTo>
                  <a:pt x="12159" y="225"/>
                </a:lnTo>
                <a:lnTo>
                  <a:pt x="13787" y="31"/>
                </a:lnTo>
                <a:lnTo>
                  <a:pt x="16095" y="57"/>
                </a:lnTo>
                <a:lnTo>
                  <a:pt x="23126" y="83"/>
                </a:lnTo>
                <a:lnTo>
                  <a:pt x="30230" y="0"/>
                </a:lnTo>
                <a:lnTo>
                  <a:pt x="32437" y="195"/>
                </a:lnTo>
                <a:lnTo>
                  <a:pt x="34262" y="174"/>
                </a:lnTo>
                <a:lnTo>
                  <a:pt x="35522" y="196"/>
                </a:lnTo>
                <a:lnTo>
                  <a:pt x="36602" y="297"/>
                </a:lnTo>
                <a:lnTo>
                  <a:pt x="37530" y="367"/>
                </a:lnTo>
                <a:lnTo>
                  <a:pt x="38477" y="582"/>
                </a:lnTo>
                <a:lnTo>
                  <a:pt x="39419" y="746"/>
                </a:lnTo>
                <a:lnTo>
                  <a:pt x="39899" y="977"/>
                </a:lnTo>
                <a:lnTo>
                  <a:pt x="40635" y="1157"/>
                </a:lnTo>
                <a:lnTo>
                  <a:pt x="41306" y="1363"/>
                </a:lnTo>
                <a:lnTo>
                  <a:pt x="41833" y="1756"/>
                </a:lnTo>
                <a:lnTo>
                  <a:pt x="42389" y="2010"/>
                </a:lnTo>
                <a:lnTo>
                  <a:pt x="42816" y="2326"/>
                </a:lnTo>
                <a:lnTo>
                  <a:pt x="43158" y="2691"/>
                </a:lnTo>
                <a:lnTo>
                  <a:pt x="43726" y="2963"/>
                </a:lnTo>
                <a:lnTo>
                  <a:pt x="44066" y="3410"/>
                </a:lnTo>
                <a:lnTo>
                  <a:pt x="44383" y="3864"/>
                </a:lnTo>
                <a:lnTo>
                  <a:pt x="44795" y="4483"/>
                </a:lnTo>
                <a:lnTo>
                  <a:pt x="45056" y="4968"/>
                </a:lnTo>
                <a:lnTo>
                  <a:pt x="45333" y="5464"/>
                </a:lnTo>
                <a:lnTo>
                  <a:pt x="45522" y="6170"/>
                </a:lnTo>
                <a:lnTo>
                  <a:pt x="45772" y="6920"/>
                </a:lnTo>
                <a:lnTo>
                  <a:pt x="45933" y="7490"/>
                </a:lnTo>
                <a:lnTo>
                  <a:pt x="45901" y="8516"/>
                </a:lnTo>
                <a:lnTo>
                  <a:pt x="46163" y="9437"/>
                </a:lnTo>
                <a:lnTo>
                  <a:pt x="46115" y="10613"/>
                </a:lnTo>
                <a:lnTo>
                  <a:pt x="46189" y="12039"/>
                </a:lnTo>
                <a:lnTo>
                  <a:pt x="46197" y="14041"/>
                </a:lnTo>
                <a:lnTo>
                  <a:pt x="46337" y="20095"/>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9755368" y="3752789"/>
            <a:ext cx="4233215" cy="3688507"/>
          </a:xfrm>
          <a:custGeom>
            <a:avLst/>
            <a:gdLst/>
            <a:ahLst/>
            <a:cxnLst/>
            <a:rect l="l" t="t" r="r" b="b"/>
            <a:pathLst>
              <a:path w="46295" h="40338">
                <a:moveTo>
                  <a:pt x="46089" y="20063"/>
                </a:moveTo>
                <a:lnTo>
                  <a:pt x="46204" y="26335"/>
                </a:lnTo>
                <a:lnTo>
                  <a:pt x="46065" y="28389"/>
                </a:lnTo>
                <a:lnTo>
                  <a:pt x="46199" y="29680"/>
                </a:lnTo>
                <a:lnTo>
                  <a:pt x="45969" y="30884"/>
                </a:lnTo>
                <a:lnTo>
                  <a:pt x="45762" y="31850"/>
                </a:lnTo>
                <a:lnTo>
                  <a:pt x="45694" y="32739"/>
                </a:lnTo>
                <a:lnTo>
                  <a:pt x="45652" y="33373"/>
                </a:lnTo>
                <a:lnTo>
                  <a:pt x="45260" y="34289"/>
                </a:lnTo>
                <a:lnTo>
                  <a:pt x="45032" y="34853"/>
                </a:lnTo>
                <a:lnTo>
                  <a:pt x="44929" y="35453"/>
                </a:lnTo>
                <a:lnTo>
                  <a:pt x="44523" y="35970"/>
                </a:lnTo>
                <a:lnTo>
                  <a:pt x="44435" y="36505"/>
                </a:lnTo>
                <a:lnTo>
                  <a:pt x="44006" y="36882"/>
                </a:lnTo>
                <a:lnTo>
                  <a:pt x="43502" y="37221"/>
                </a:lnTo>
                <a:lnTo>
                  <a:pt x="43121" y="37735"/>
                </a:lnTo>
                <a:lnTo>
                  <a:pt x="42845" y="38054"/>
                </a:lnTo>
                <a:lnTo>
                  <a:pt x="42339" y="38361"/>
                </a:lnTo>
                <a:lnTo>
                  <a:pt x="41781" y="38616"/>
                </a:lnTo>
                <a:lnTo>
                  <a:pt x="41315" y="38903"/>
                </a:lnTo>
                <a:lnTo>
                  <a:pt x="40543" y="39113"/>
                </a:lnTo>
                <a:lnTo>
                  <a:pt x="39943" y="39356"/>
                </a:lnTo>
                <a:lnTo>
                  <a:pt x="39318" y="39484"/>
                </a:lnTo>
                <a:lnTo>
                  <a:pt x="38525" y="39632"/>
                </a:lnTo>
                <a:lnTo>
                  <a:pt x="37638" y="39855"/>
                </a:lnTo>
                <a:lnTo>
                  <a:pt x="36618" y="39939"/>
                </a:lnTo>
                <a:lnTo>
                  <a:pt x="35501" y="40032"/>
                </a:lnTo>
                <a:lnTo>
                  <a:pt x="34223" y="40241"/>
                </a:lnTo>
                <a:lnTo>
                  <a:pt x="32579" y="40140"/>
                </a:lnTo>
                <a:lnTo>
                  <a:pt x="30330" y="40161"/>
                </a:lnTo>
                <a:lnTo>
                  <a:pt x="23120" y="40338"/>
                </a:lnTo>
                <a:lnTo>
                  <a:pt x="16080" y="40322"/>
                </a:lnTo>
                <a:lnTo>
                  <a:pt x="13881" y="40243"/>
                </a:lnTo>
                <a:lnTo>
                  <a:pt x="12229" y="40022"/>
                </a:lnTo>
                <a:lnTo>
                  <a:pt x="10764" y="40005"/>
                </a:lnTo>
                <a:lnTo>
                  <a:pt x="9668" y="39970"/>
                </a:lnTo>
                <a:lnTo>
                  <a:pt x="8634" y="39813"/>
                </a:lnTo>
                <a:lnTo>
                  <a:pt x="7926" y="39743"/>
                </a:lnTo>
                <a:lnTo>
                  <a:pt x="6921" y="39414"/>
                </a:lnTo>
                <a:lnTo>
                  <a:pt x="6257" y="39396"/>
                </a:lnTo>
                <a:lnTo>
                  <a:pt x="5656" y="39177"/>
                </a:lnTo>
                <a:lnTo>
                  <a:pt x="5044" y="38920"/>
                </a:lnTo>
                <a:lnTo>
                  <a:pt x="4410" y="38506"/>
                </a:lnTo>
                <a:lnTo>
                  <a:pt x="3992" y="38369"/>
                </a:lnTo>
                <a:lnTo>
                  <a:pt x="3331" y="38021"/>
                </a:lnTo>
                <a:lnTo>
                  <a:pt x="2967" y="37713"/>
                </a:lnTo>
                <a:lnTo>
                  <a:pt x="2689" y="37225"/>
                </a:lnTo>
                <a:lnTo>
                  <a:pt x="2143" y="36920"/>
                </a:lnTo>
                <a:lnTo>
                  <a:pt x="1903" y="36448"/>
                </a:lnTo>
                <a:lnTo>
                  <a:pt x="1630" y="35844"/>
                </a:lnTo>
                <a:lnTo>
                  <a:pt x="1287" y="35323"/>
                </a:lnTo>
                <a:lnTo>
                  <a:pt x="967" y="34741"/>
                </a:lnTo>
                <a:lnTo>
                  <a:pt x="968" y="34271"/>
                </a:lnTo>
                <a:lnTo>
                  <a:pt x="676" y="33473"/>
                </a:lnTo>
                <a:lnTo>
                  <a:pt x="483" y="32801"/>
                </a:lnTo>
                <a:lnTo>
                  <a:pt x="236" y="31952"/>
                </a:lnTo>
                <a:lnTo>
                  <a:pt x="231" y="30766"/>
                </a:lnTo>
                <a:lnTo>
                  <a:pt x="25" y="29612"/>
                </a:lnTo>
                <a:lnTo>
                  <a:pt x="176" y="28365"/>
                </a:lnTo>
                <a:lnTo>
                  <a:pt x="71" y="26278"/>
                </a:lnTo>
                <a:lnTo>
                  <a:pt x="0" y="20255"/>
                </a:lnTo>
                <a:lnTo>
                  <a:pt x="90" y="13979"/>
                </a:lnTo>
                <a:lnTo>
                  <a:pt x="144" y="11942"/>
                </a:lnTo>
                <a:lnTo>
                  <a:pt x="32" y="10575"/>
                </a:lnTo>
                <a:lnTo>
                  <a:pt x="348" y="9394"/>
                </a:lnTo>
                <a:lnTo>
                  <a:pt x="263" y="8460"/>
                </a:lnTo>
                <a:lnTo>
                  <a:pt x="459" y="7710"/>
                </a:lnTo>
                <a:lnTo>
                  <a:pt x="662" y="6759"/>
                </a:lnTo>
                <a:lnTo>
                  <a:pt x="830" y="6032"/>
                </a:lnTo>
                <a:lnTo>
                  <a:pt x="1177" y="5542"/>
                </a:lnTo>
                <a:lnTo>
                  <a:pt x="1450" y="4838"/>
                </a:lnTo>
                <a:lnTo>
                  <a:pt x="1500" y="4442"/>
                </a:lnTo>
                <a:lnTo>
                  <a:pt x="1793" y="3945"/>
                </a:lnTo>
                <a:lnTo>
                  <a:pt x="2237" y="3537"/>
                </a:lnTo>
                <a:lnTo>
                  <a:pt x="2596" y="3154"/>
                </a:lnTo>
                <a:lnTo>
                  <a:pt x="3126" y="2602"/>
                </a:lnTo>
                <a:lnTo>
                  <a:pt x="3533" y="2441"/>
                </a:lnTo>
                <a:lnTo>
                  <a:pt x="3898" y="2057"/>
                </a:lnTo>
                <a:lnTo>
                  <a:pt x="4490" y="1665"/>
                </a:lnTo>
                <a:lnTo>
                  <a:pt x="5098" y="1427"/>
                </a:lnTo>
                <a:lnTo>
                  <a:pt x="5681" y="1318"/>
                </a:lnTo>
                <a:lnTo>
                  <a:pt x="6406" y="1017"/>
                </a:lnTo>
                <a:lnTo>
                  <a:pt x="7108" y="696"/>
                </a:lnTo>
                <a:lnTo>
                  <a:pt x="7846" y="532"/>
                </a:lnTo>
                <a:lnTo>
                  <a:pt x="8773" y="392"/>
                </a:lnTo>
                <a:lnTo>
                  <a:pt x="9740" y="361"/>
                </a:lnTo>
                <a:lnTo>
                  <a:pt x="10872" y="157"/>
                </a:lnTo>
                <a:lnTo>
                  <a:pt x="12172" y="59"/>
                </a:lnTo>
                <a:lnTo>
                  <a:pt x="13771" y="238"/>
                </a:lnTo>
                <a:lnTo>
                  <a:pt x="15909" y="0"/>
                </a:lnTo>
                <a:lnTo>
                  <a:pt x="23157" y="47"/>
                </a:lnTo>
                <a:lnTo>
                  <a:pt x="30204" y="44"/>
                </a:lnTo>
                <a:lnTo>
                  <a:pt x="32536" y="177"/>
                </a:lnTo>
                <a:lnTo>
                  <a:pt x="34215" y="268"/>
                </a:lnTo>
                <a:lnTo>
                  <a:pt x="35375" y="230"/>
                </a:lnTo>
                <a:lnTo>
                  <a:pt x="36637" y="277"/>
                </a:lnTo>
                <a:lnTo>
                  <a:pt x="37597" y="582"/>
                </a:lnTo>
                <a:lnTo>
                  <a:pt x="38381" y="738"/>
                </a:lnTo>
                <a:lnTo>
                  <a:pt x="39114" y="709"/>
                </a:lnTo>
                <a:lnTo>
                  <a:pt x="39891" y="980"/>
                </a:lnTo>
                <a:lnTo>
                  <a:pt x="40556" y="1123"/>
                </a:lnTo>
                <a:lnTo>
                  <a:pt x="41238" y="1533"/>
                </a:lnTo>
                <a:lnTo>
                  <a:pt x="41835" y="1821"/>
                </a:lnTo>
                <a:lnTo>
                  <a:pt x="42266" y="1949"/>
                </a:lnTo>
                <a:lnTo>
                  <a:pt x="42667" y="2390"/>
                </a:lnTo>
                <a:lnTo>
                  <a:pt x="43117" y="2567"/>
                </a:lnTo>
                <a:lnTo>
                  <a:pt x="43522" y="3175"/>
                </a:lnTo>
                <a:lnTo>
                  <a:pt x="43996" y="3370"/>
                </a:lnTo>
                <a:lnTo>
                  <a:pt x="44252" y="3828"/>
                </a:lnTo>
                <a:lnTo>
                  <a:pt x="44643" y="4408"/>
                </a:lnTo>
                <a:lnTo>
                  <a:pt x="44793" y="4952"/>
                </a:lnTo>
                <a:lnTo>
                  <a:pt x="45163" y="5515"/>
                </a:lnTo>
                <a:lnTo>
                  <a:pt x="45452" y="6185"/>
                </a:lnTo>
                <a:lnTo>
                  <a:pt x="45612" y="6755"/>
                </a:lnTo>
                <a:lnTo>
                  <a:pt x="45703" y="7611"/>
                </a:lnTo>
                <a:lnTo>
                  <a:pt x="45895" y="8381"/>
                </a:lnTo>
                <a:lnTo>
                  <a:pt x="45991" y="9532"/>
                </a:lnTo>
                <a:lnTo>
                  <a:pt x="46206" y="10675"/>
                </a:lnTo>
                <a:lnTo>
                  <a:pt x="46018" y="12015"/>
                </a:lnTo>
                <a:lnTo>
                  <a:pt x="46173" y="13870"/>
                </a:lnTo>
                <a:lnTo>
                  <a:pt x="46295" y="20277"/>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13904366" y="6575725"/>
            <a:ext cx="56418" cy="301661"/>
          </a:xfrm>
          <a:custGeom>
            <a:avLst/>
            <a:gdLst/>
            <a:ahLst/>
            <a:cxnLst/>
            <a:rect l="l" t="t" r="r" b="b"/>
            <a:pathLst>
              <a:path w="617" h="3299">
                <a:moveTo>
                  <a:pt x="617" y="0"/>
                </a:moveTo>
                <a:lnTo>
                  <a:pt x="502" y="981"/>
                </a:lnTo>
                <a:lnTo>
                  <a:pt x="361" y="1840"/>
                </a:lnTo>
                <a:lnTo>
                  <a:pt x="194" y="2607"/>
                </a:lnTo>
                <a:lnTo>
                  <a:pt x="0" y="329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13268858" y="7307428"/>
            <a:ext cx="255118" cy="74981"/>
          </a:xfrm>
          <a:custGeom>
            <a:avLst/>
            <a:gdLst/>
            <a:ahLst/>
            <a:cxnLst/>
            <a:rect l="l" t="t" r="r" b="b"/>
            <a:pathLst>
              <a:path w="2790" h="820">
                <a:moveTo>
                  <a:pt x="2790" y="0"/>
                </a:moveTo>
                <a:lnTo>
                  <a:pt x="2181" y="242"/>
                </a:lnTo>
                <a:lnTo>
                  <a:pt x="1519" y="459"/>
                </a:lnTo>
                <a:lnTo>
                  <a:pt x="795" y="652"/>
                </a:lnTo>
                <a:lnTo>
                  <a:pt x="0" y="82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0396271" y="7367046"/>
            <a:ext cx="346649" cy="49012"/>
          </a:xfrm>
          <a:custGeom>
            <a:avLst/>
            <a:gdLst/>
            <a:ahLst/>
            <a:cxnLst/>
            <a:rect l="l" t="t" r="r" b="b"/>
            <a:pathLst>
              <a:path w="3791" h="536">
                <a:moveTo>
                  <a:pt x="3791" y="536"/>
                </a:moveTo>
                <a:lnTo>
                  <a:pt x="2664" y="436"/>
                </a:lnTo>
                <a:lnTo>
                  <a:pt x="1676" y="314"/>
                </a:lnTo>
                <a:lnTo>
                  <a:pt x="795" y="168"/>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9815718" y="6814109"/>
            <a:ext cx="86136" cy="221925"/>
          </a:xfrm>
          <a:custGeom>
            <a:avLst/>
            <a:gdLst/>
            <a:ahLst/>
            <a:cxnLst/>
            <a:rect l="l" t="t" r="r" b="b"/>
            <a:pathLst>
              <a:path w="942" h="2427">
                <a:moveTo>
                  <a:pt x="942" y="2427"/>
                </a:moveTo>
                <a:lnTo>
                  <a:pt x="664" y="1898"/>
                </a:lnTo>
                <a:lnTo>
                  <a:pt x="415" y="1321"/>
                </a:lnTo>
                <a:lnTo>
                  <a:pt x="194" y="692"/>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9777039" y="4314871"/>
            <a:ext cx="56418" cy="301661"/>
          </a:xfrm>
          <a:custGeom>
            <a:avLst/>
            <a:gdLst/>
            <a:ahLst/>
            <a:cxnLst/>
            <a:rect l="l" t="t" r="r" b="b"/>
            <a:pathLst>
              <a:path w="617" h="3299">
                <a:moveTo>
                  <a:pt x="0" y="3299"/>
                </a:moveTo>
                <a:lnTo>
                  <a:pt x="115" y="2318"/>
                </a:lnTo>
                <a:lnTo>
                  <a:pt x="256" y="1459"/>
                </a:lnTo>
                <a:lnTo>
                  <a:pt x="423" y="692"/>
                </a:lnTo>
                <a:lnTo>
                  <a:pt x="617"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10213848" y="3809848"/>
            <a:ext cx="255118" cy="74981"/>
          </a:xfrm>
          <a:custGeom>
            <a:avLst/>
            <a:gdLst/>
            <a:ahLst/>
            <a:cxnLst/>
            <a:rect l="l" t="t" r="r" b="b"/>
            <a:pathLst>
              <a:path w="2790" h="820">
                <a:moveTo>
                  <a:pt x="0" y="820"/>
                </a:moveTo>
                <a:lnTo>
                  <a:pt x="609" y="578"/>
                </a:lnTo>
                <a:lnTo>
                  <a:pt x="1271" y="361"/>
                </a:lnTo>
                <a:lnTo>
                  <a:pt x="1995" y="168"/>
                </a:lnTo>
                <a:lnTo>
                  <a:pt x="279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12994904" y="3776198"/>
            <a:ext cx="346649" cy="49012"/>
          </a:xfrm>
          <a:custGeom>
            <a:avLst/>
            <a:gdLst/>
            <a:ahLst/>
            <a:cxnLst/>
            <a:rect l="l" t="t" r="r" b="b"/>
            <a:pathLst>
              <a:path w="3791" h="536">
                <a:moveTo>
                  <a:pt x="0" y="0"/>
                </a:moveTo>
                <a:lnTo>
                  <a:pt x="1127" y="100"/>
                </a:lnTo>
                <a:lnTo>
                  <a:pt x="2115" y="222"/>
                </a:lnTo>
                <a:lnTo>
                  <a:pt x="2996" y="368"/>
                </a:lnTo>
                <a:lnTo>
                  <a:pt x="3791" y="536"/>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3835969" y="4156222"/>
            <a:ext cx="86136" cy="221925"/>
          </a:xfrm>
          <a:custGeom>
            <a:avLst/>
            <a:gdLst/>
            <a:ahLst/>
            <a:cxnLst/>
            <a:rect l="l" t="t" r="r" b="b"/>
            <a:pathLst>
              <a:path w="942" h="2427">
                <a:moveTo>
                  <a:pt x="0" y="0"/>
                </a:moveTo>
                <a:lnTo>
                  <a:pt x="278" y="529"/>
                </a:lnTo>
                <a:lnTo>
                  <a:pt x="527" y="1106"/>
                </a:lnTo>
                <a:lnTo>
                  <a:pt x="748" y="1735"/>
                </a:lnTo>
                <a:lnTo>
                  <a:pt x="942" y="242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ody: What this proposal is"/>
          <p:cNvSpPr txBox="1"/>
          <p:nvPr/>
        </p:nvSpPr>
        <p:spPr>
          <a:xfrm>
            <a:off x="10104120" y="4027170"/>
            <a:ext cx="352958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What this proposal is</a:t>
            </a:r>
          </a:p>
        </p:txBody>
      </p:sp>
      <p:sp>
        <p:nvSpPr>
          <p:cNvPr id="76" name="Oval 75"/>
          <p:cNvSpPr/>
          <p:nvPr/>
        </p:nvSpPr>
        <p:spPr>
          <a:xfrm>
            <a:off x="10017252" y="483792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ody: An Inspect extension plus an incident library"/>
          <p:cNvSpPr txBox="1"/>
          <p:nvPr/>
        </p:nvSpPr>
        <p:spPr>
          <a:xfrm>
            <a:off x="10250424" y="4737338"/>
            <a:ext cx="3483864" cy="657288"/>
          </a:xfrm>
          <a:prstGeom prst="rect">
            <a:avLst/>
          </a:prstGeom>
          <a:noFill/>
        </p:spPr>
        <p:txBody>
          <a:bodyPr wrap="none" lIns="0" rIns="0" tIns="0" bIns="0" anchor="t">
            <a:noAutofit/>
          </a:bodyPr>
          <a:lstStyle/>
          <a:p>
            <a:pPr algn="l">
              <a:lnSpc>
                <a:spcPts val="2317"/>
              </a:lnSpc>
              <a:spcBef>
                <a:spcPts val="0"/>
              </a:spcBef>
              <a:spcAft>
                <a:spcPts val="0"/>
              </a:spcAft>
            </a:pPr>
            <a:r>
              <a:rPr sz="1825" b="0">
                <a:solidFill>
                  <a:srgbClr val="293E46"/>
                </a:solidFill>
                <a:latin typeface="Trebuchet MS"/>
              </a:rPr>
              <a:t>An Inspect extension plus an</a:t>
            </a:r>
            <a:br/>
            <a:r>
              <a:rPr sz="1825" b="0">
                <a:solidFill>
                  <a:srgbClr val="293E46"/>
                </a:solidFill>
                <a:latin typeface="Trebuchet MS"/>
              </a:rPr>
              <a:t>incident library</a:t>
            </a:r>
          </a:p>
        </p:txBody>
      </p:sp>
      <p:sp>
        <p:nvSpPr>
          <p:cNvPr id="78" name="Oval 77"/>
          <p:cNvSpPr/>
          <p:nvPr/>
        </p:nvSpPr>
        <p:spPr>
          <a:xfrm>
            <a:off x="10017252" y="561408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ody: A constrained optimiser: fewer incidents at the same utility and"/>
          <p:cNvSpPr txBox="1"/>
          <p:nvPr/>
        </p:nvSpPr>
        <p:spPr>
          <a:xfrm>
            <a:off x="10250424" y="5513498"/>
            <a:ext cx="3483864" cy="951642"/>
          </a:xfrm>
          <a:prstGeom prst="rect">
            <a:avLst/>
          </a:prstGeom>
          <a:noFill/>
        </p:spPr>
        <p:txBody>
          <a:bodyPr wrap="none" lIns="0" rIns="0" tIns="0" bIns="0" anchor="t">
            <a:noAutofit/>
          </a:bodyPr>
          <a:lstStyle/>
          <a:p>
            <a:pPr algn="l">
              <a:lnSpc>
                <a:spcPts val="2317"/>
              </a:lnSpc>
              <a:spcBef>
                <a:spcPts val="0"/>
              </a:spcBef>
              <a:spcAft>
                <a:spcPts val="0"/>
              </a:spcAft>
            </a:pPr>
            <a:r>
              <a:rPr sz="1825" b="0">
                <a:solidFill>
                  <a:srgbClr val="293E46"/>
                </a:solidFill>
                <a:latin typeface="Trebuchet MS"/>
              </a:rPr>
              <a:t>A constrained optimiser: fewer</a:t>
            </a:r>
            <a:br/>
            <a:r>
              <a:rPr sz="1825" b="0">
                <a:solidFill>
                  <a:srgbClr val="293E46"/>
                </a:solidFill>
                <a:latin typeface="Trebuchet MS"/>
              </a:rPr>
              <a:t>incidents at the same utility</a:t>
            </a:r>
            <a:br/>
            <a:r>
              <a:rPr sz="1825" b="0">
                <a:solidFill>
                  <a:srgbClr val="293E46"/>
                </a:solidFill>
                <a:latin typeface="Trebuchet MS"/>
              </a:rPr>
              <a:t>and cost</a:t>
            </a:r>
          </a:p>
        </p:txBody>
      </p:sp>
      <p:sp>
        <p:nvSpPr>
          <p:cNvPr id="80" name="Oval 79"/>
          <p:cNvSpPr/>
          <p:nvPr/>
        </p:nvSpPr>
        <p:spPr>
          <a:xfrm>
            <a:off x="10017252" y="6684597"/>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ody: A human-gated, versioned release pipeline"/>
          <p:cNvSpPr txBox="1"/>
          <p:nvPr/>
        </p:nvSpPr>
        <p:spPr>
          <a:xfrm>
            <a:off x="10250424" y="6584013"/>
            <a:ext cx="3483864" cy="657288"/>
          </a:xfrm>
          <a:prstGeom prst="rect">
            <a:avLst/>
          </a:prstGeom>
          <a:noFill/>
        </p:spPr>
        <p:txBody>
          <a:bodyPr wrap="none" lIns="0" rIns="0" tIns="0" bIns="0" anchor="t">
            <a:noAutofit/>
          </a:bodyPr>
          <a:lstStyle/>
          <a:p>
            <a:pPr algn="l">
              <a:lnSpc>
                <a:spcPts val="2317"/>
              </a:lnSpc>
              <a:spcBef>
                <a:spcPts val="0"/>
              </a:spcBef>
              <a:spcAft>
                <a:spcPts val="0"/>
              </a:spcAft>
            </a:pPr>
            <a:r>
              <a:rPr sz="1825" b="0">
                <a:solidFill>
                  <a:srgbClr val="293E46"/>
                </a:solidFill>
                <a:latin typeface="Trebuchet MS"/>
              </a:rPr>
              <a:t>A human-gated, versioned</a:t>
            </a:r>
            <a:br/>
            <a:r>
              <a:rPr sz="1825" b="0">
                <a:solidFill>
                  <a:srgbClr val="293E46"/>
                </a:solidFill>
                <a:latin typeface="Trebuchet MS"/>
              </a:rPr>
              <a:t>release pipeline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1 · MOTIVATIO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1 · MOTIVATION</a:t>
            </a:r>
          </a:p>
        </p:txBody>
      </p:sp>
      <p:sp>
        <p:nvSpPr>
          <p:cNvPr id="3" name="title: Same score, different risk"/>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Same score, different risk</a:t>
            </a:r>
          </a:p>
        </p:txBody>
      </p:sp>
      <p:sp>
        <p:nvSpPr>
          <p:cNvPr id="4" name="subtitle: Task scorers do not see incidents"/>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Task scorers do not see incidents</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10"/>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10</a:t>
            </a:r>
          </a:p>
        </p:txBody>
      </p:sp>
      <p:sp>
        <p:nvSpPr>
          <p:cNvPr id="12" name="Rounded Rectangle 11"/>
          <p:cNvSpPr/>
          <p:nvPr/>
        </p:nvSpPr>
        <p:spPr>
          <a:xfrm>
            <a:off x="676656" y="2093976"/>
            <a:ext cx="8970264" cy="5129784"/>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80954" y="2096353"/>
            <a:ext cx="8958651" cy="5118720"/>
          </a:xfrm>
          <a:custGeom>
            <a:avLst/>
            <a:gdLst/>
            <a:ahLst/>
            <a:cxnLst/>
            <a:rect l="l" t="t" r="r" b="b"/>
            <a:pathLst>
              <a:path w="97973" h="55979">
                <a:moveTo>
                  <a:pt x="97884" y="27931"/>
                </a:moveTo>
                <a:lnTo>
                  <a:pt x="97933" y="36535"/>
                </a:lnTo>
                <a:lnTo>
                  <a:pt x="97868" y="39317"/>
                </a:lnTo>
                <a:lnTo>
                  <a:pt x="97727" y="41430"/>
                </a:lnTo>
                <a:lnTo>
                  <a:pt x="97545" y="42965"/>
                </a:lnTo>
                <a:lnTo>
                  <a:pt x="97327" y="44254"/>
                </a:lnTo>
                <a:lnTo>
                  <a:pt x="96963" y="45491"/>
                </a:lnTo>
                <a:lnTo>
                  <a:pt x="96624" y="46604"/>
                </a:lnTo>
                <a:lnTo>
                  <a:pt x="96246" y="47520"/>
                </a:lnTo>
                <a:lnTo>
                  <a:pt x="95711" y="48302"/>
                </a:lnTo>
                <a:lnTo>
                  <a:pt x="95205" y="49281"/>
                </a:lnTo>
                <a:lnTo>
                  <a:pt x="94609" y="49952"/>
                </a:lnTo>
                <a:lnTo>
                  <a:pt x="93867" y="50714"/>
                </a:lnTo>
                <a:lnTo>
                  <a:pt x="93292" y="51180"/>
                </a:lnTo>
                <a:lnTo>
                  <a:pt x="92556" y="51752"/>
                </a:lnTo>
                <a:lnTo>
                  <a:pt x="91706" y="52402"/>
                </a:lnTo>
                <a:lnTo>
                  <a:pt x="90682" y="52750"/>
                </a:lnTo>
                <a:lnTo>
                  <a:pt x="89579" y="53198"/>
                </a:lnTo>
                <a:lnTo>
                  <a:pt x="88482" y="53571"/>
                </a:lnTo>
                <a:lnTo>
                  <a:pt x="87268" y="54021"/>
                </a:lnTo>
                <a:lnTo>
                  <a:pt x="85996" y="54360"/>
                </a:lnTo>
                <a:lnTo>
                  <a:pt x="84720" y="54632"/>
                </a:lnTo>
                <a:lnTo>
                  <a:pt x="83099" y="54965"/>
                </a:lnTo>
                <a:lnTo>
                  <a:pt x="81473" y="55141"/>
                </a:lnTo>
                <a:lnTo>
                  <a:pt x="79677" y="55286"/>
                </a:lnTo>
                <a:lnTo>
                  <a:pt x="77444" y="55574"/>
                </a:lnTo>
                <a:lnTo>
                  <a:pt x="75041" y="55827"/>
                </a:lnTo>
                <a:lnTo>
                  <a:pt x="72190" y="55812"/>
                </a:lnTo>
                <a:lnTo>
                  <a:pt x="68904" y="55973"/>
                </a:lnTo>
                <a:lnTo>
                  <a:pt x="64141" y="55972"/>
                </a:lnTo>
                <a:lnTo>
                  <a:pt x="48979" y="55930"/>
                </a:lnTo>
                <a:lnTo>
                  <a:pt x="33983" y="55979"/>
                </a:lnTo>
                <a:lnTo>
                  <a:pt x="29205" y="55862"/>
                </a:lnTo>
                <a:lnTo>
                  <a:pt x="25720" y="55766"/>
                </a:lnTo>
                <a:lnTo>
                  <a:pt x="22900" y="55782"/>
                </a:lnTo>
                <a:lnTo>
                  <a:pt x="20411" y="55557"/>
                </a:lnTo>
                <a:lnTo>
                  <a:pt x="18417" y="55466"/>
                </a:lnTo>
                <a:lnTo>
                  <a:pt x="16522" y="55239"/>
                </a:lnTo>
                <a:lnTo>
                  <a:pt x="14984" y="54900"/>
                </a:lnTo>
                <a:lnTo>
                  <a:pt x="13250" y="54600"/>
                </a:lnTo>
                <a:lnTo>
                  <a:pt x="11939" y="54307"/>
                </a:lnTo>
                <a:lnTo>
                  <a:pt x="10522" y="54039"/>
                </a:lnTo>
                <a:lnTo>
                  <a:pt x="9355" y="53793"/>
                </a:lnTo>
                <a:lnTo>
                  <a:pt x="8458" y="53163"/>
                </a:lnTo>
                <a:lnTo>
                  <a:pt x="7319" y="52932"/>
                </a:lnTo>
                <a:lnTo>
                  <a:pt x="6424" y="52259"/>
                </a:lnTo>
                <a:lnTo>
                  <a:pt x="5442" y="51890"/>
                </a:lnTo>
                <a:lnTo>
                  <a:pt x="4651" y="51222"/>
                </a:lnTo>
                <a:lnTo>
                  <a:pt x="3969" y="50604"/>
                </a:lnTo>
                <a:lnTo>
                  <a:pt x="3407" y="50022"/>
                </a:lnTo>
                <a:lnTo>
                  <a:pt x="2683" y="49293"/>
                </a:lnTo>
                <a:lnTo>
                  <a:pt x="2254" y="48275"/>
                </a:lnTo>
                <a:lnTo>
                  <a:pt x="1708" y="47523"/>
                </a:lnTo>
                <a:lnTo>
                  <a:pt x="1405" y="46553"/>
                </a:lnTo>
                <a:lnTo>
                  <a:pt x="1152" y="45574"/>
                </a:lnTo>
                <a:lnTo>
                  <a:pt x="828" y="44188"/>
                </a:lnTo>
                <a:lnTo>
                  <a:pt x="391" y="42834"/>
                </a:lnTo>
                <a:lnTo>
                  <a:pt x="365" y="41308"/>
                </a:lnTo>
                <a:lnTo>
                  <a:pt x="90" y="39340"/>
                </a:lnTo>
                <a:lnTo>
                  <a:pt x="33" y="36706"/>
                </a:lnTo>
                <a:lnTo>
                  <a:pt x="89" y="28056"/>
                </a:lnTo>
                <a:lnTo>
                  <a:pt x="0" y="19485"/>
                </a:lnTo>
                <a:lnTo>
                  <a:pt x="101" y="16704"/>
                </a:lnTo>
                <a:lnTo>
                  <a:pt x="309" y="14740"/>
                </a:lnTo>
                <a:lnTo>
                  <a:pt x="553" y="13223"/>
                </a:lnTo>
                <a:lnTo>
                  <a:pt x="669" y="11675"/>
                </a:lnTo>
                <a:lnTo>
                  <a:pt x="987" y="10640"/>
                </a:lnTo>
                <a:lnTo>
                  <a:pt x="1392" y="9504"/>
                </a:lnTo>
                <a:lnTo>
                  <a:pt x="1774" y="8435"/>
                </a:lnTo>
                <a:lnTo>
                  <a:pt x="2337" y="7657"/>
                </a:lnTo>
                <a:lnTo>
                  <a:pt x="2720" y="6819"/>
                </a:lnTo>
                <a:lnTo>
                  <a:pt x="3483" y="6016"/>
                </a:lnTo>
                <a:lnTo>
                  <a:pt x="4092" y="5532"/>
                </a:lnTo>
                <a:lnTo>
                  <a:pt x="4736" y="4781"/>
                </a:lnTo>
                <a:lnTo>
                  <a:pt x="5574" y="4147"/>
                </a:lnTo>
                <a:lnTo>
                  <a:pt x="6478" y="3647"/>
                </a:lnTo>
                <a:lnTo>
                  <a:pt x="7294" y="3148"/>
                </a:lnTo>
                <a:lnTo>
                  <a:pt x="8364" y="2821"/>
                </a:lnTo>
                <a:lnTo>
                  <a:pt x="9474" y="2467"/>
                </a:lnTo>
                <a:lnTo>
                  <a:pt x="10520" y="1970"/>
                </a:lnTo>
                <a:lnTo>
                  <a:pt x="12028" y="1693"/>
                </a:lnTo>
                <a:lnTo>
                  <a:pt x="13404" y="1237"/>
                </a:lnTo>
                <a:lnTo>
                  <a:pt x="14947" y="1060"/>
                </a:lnTo>
                <a:lnTo>
                  <a:pt x="16639" y="869"/>
                </a:lnTo>
                <a:lnTo>
                  <a:pt x="18442" y="655"/>
                </a:lnTo>
                <a:lnTo>
                  <a:pt x="20590" y="468"/>
                </a:lnTo>
                <a:lnTo>
                  <a:pt x="22880" y="242"/>
                </a:lnTo>
                <a:lnTo>
                  <a:pt x="25669" y="206"/>
                </a:lnTo>
                <a:lnTo>
                  <a:pt x="29087" y="73"/>
                </a:lnTo>
                <a:lnTo>
                  <a:pt x="33973" y="0"/>
                </a:lnTo>
                <a:lnTo>
                  <a:pt x="49085" y="62"/>
                </a:lnTo>
                <a:lnTo>
                  <a:pt x="63980" y="35"/>
                </a:lnTo>
                <a:lnTo>
                  <a:pt x="68888" y="189"/>
                </a:lnTo>
                <a:lnTo>
                  <a:pt x="72321" y="143"/>
                </a:lnTo>
                <a:lnTo>
                  <a:pt x="75124" y="315"/>
                </a:lnTo>
                <a:lnTo>
                  <a:pt x="77616" y="509"/>
                </a:lnTo>
                <a:lnTo>
                  <a:pt x="79576" y="687"/>
                </a:lnTo>
                <a:lnTo>
                  <a:pt x="81345" y="881"/>
                </a:lnTo>
                <a:lnTo>
                  <a:pt x="83240" y="1165"/>
                </a:lnTo>
                <a:lnTo>
                  <a:pt x="84740" y="1332"/>
                </a:lnTo>
                <a:lnTo>
                  <a:pt x="86026" y="1567"/>
                </a:lnTo>
                <a:lnTo>
                  <a:pt x="87269" y="1890"/>
                </a:lnTo>
                <a:lnTo>
                  <a:pt x="88666" y="2484"/>
                </a:lnTo>
                <a:lnTo>
                  <a:pt x="89530" y="2721"/>
                </a:lnTo>
                <a:lnTo>
                  <a:pt x="90739" y="3183"/>
                </a:lnTo>
                <a:lnTo>
                  <a:pt x="91587" y="3802"/>
                </a:lnTo>
                <a:lnTo>
                  <a:pt x="92506" y="4129"/>
                </a:lnTo>
                <a:lnTo>
                  <a:pt x="93232" y="4900"/>
                </a:lnTo>
                <a:lnTo>
                  <a:pt x="94003" y="5550"/>
                </a:lnTo>
                <a:lnTo>
                  <a:pt x="94731" y="6139"/>
                </a:lnTo>
                <a:lnTo>
                  <a:pt x="95148" y="6810"/>
                </a:lnTo>
                <a:lnTo>
                  <a:pt x="95691" y="7706"/>
                </a:lnTo>
                <a:lnTo>
                  <a:pt x="96164" y="8551"/>
                </a:lnTo>
                <a:lnTo>
                  <a:pt x="96486" y="9470"/>
                </a:lnTo>
                <a:lnTo>
                  <a:pt x="96920" y="10486"/>
                </a:lnTo>
                <a:lnTo>
                  <a:pt x="97345" y="11792"/>
                </a:lnTo>
                <a:lnTo>
                  <a:pt x="97447" y="13192"/>
                </a:lnTo>
                <a:lnTo>
                  <a:pt x="97617" y="14624"/>
                </a:lnTo>
                <a:lnTo>
                  <a:pt x="97829" y="16692"/>
                </a:lnTo>
                <a:lnTo>
                  <a:pt x="97878" y="19449"/>
                </a:lnTo>
                <a:lnTo>
                  <a:pt x="97973" y="27919"/>
                </a:lnTo>
                <a:close/>
              </a:path>
            </a:pathLst>
          </a:custGeom>
          <a:noFill/>
          <a:ln w="19685" cap="rnd">
            <a:solidFill>
              <a:srgbClr val="DDD8CA">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93847" y="2106412"/>
            <a:ext cx="8948684" cy="5111313"/>
          </a:xfrm>
          <a:custGeom>
            <a:avLst/>
            <a:gdLst/>
            <a:ahLst/>
            <a:cxnLst/>
            <a:rect l="l" t="t" r="r" b="b"/>
            <a:pathLst>
              <a:path w="97864" h="55898">
                <a:moveTo>
                  <a:pt x="97718" y="27925"/>
                </a:moveTo>
                <a:lnTo>
                  <a:pt x="97828" y="36613"/>
                </a:lnTo>
                <a:lnTo>
                  <a:pt x="97590" y="39255"/>
                </a:lnTo>
                <a:lnTo>
                  <a:pt x="97435" y="41223"/>
                </a:lnTo>
                <a:lnTo>
                  <a:pt x="97384" y="42820"/>
                </a:lnTo>
                <a:lnTo>
                  <a:pt x="97103" y="44202"/>
                </a:lnTo>
                <a:lnTo>
                  <a:pt x="96826" y="45396"/>
                </a:lnTo>
                <a:lnTo>
                  <a:pt x="96581" y="46487"/>
                </a:lnTo>
                <a:lnTo>
                  <a:pt x="96002" y="47497"/>
                </a:lnTo>
                <a:lnTo>
                  <a:pt x="95524" y="48253"/>
                </a:lnTo>
                <a:lnTo>
                  <a:pt x="95144" y="48979"/>
                </a:lnTo>
                <a:lnTo>
                  <a:pt x="94454" y="49871"/>
                </a:lnTo>
                <a:lnTo>
                  <a:pt x="93826" y="50487"/>
                </a:lnTo>
                <a:lnTo>
                  <a:pt x="93039" y="51072"/>
                </a:lnTo>
                <a:lnTo>
                  <a:pt x="92409" y="51627"/>
                </a:lnTo>
                <a:lnTo>
                  <a:pt x="91517" y="52155"/>
                </a:lnTo>
                <a:lnTo>
                  <a:pt x="90434" y="52713"/>
                </a:lnTo>
                <a:lnTo>
                  <a:pt x="89572" y="53054"/>
                </a:lnTo>
                <a:lnTo>
                  <a:pt x="88551" y="53623"/>
                </a:lnTo>
                <a:lnTo>
                  <a:pt x="87225" y="54013"/>
                </a:lnTo>
                <a:lnTo>
                  <a:pt x="85845" y="54369"/>
                </a:lnTo>
                <a:lnTo>
                  <a:pt x="84650" y="54665"/>
                </a:lnTo>
                <a:lnTo>
                  <a:pt x="83061" y="54865"/>
                </a:lnTo>
                <a:lnTo>
                  <a:pt x="81195" y="55196"/>
                </a:lnTo>
                <a:lnTo>
                  <a:pt x="79368" y="55239"/>
                </a:lnTo>
                <a:lnTo>
                  <a:pt x="77390" y="55459"/>
                </a:lnTo>
                <a:lnTo>
                  <a:pt x="74902" y="55506"/>
                </a:lnTo>
                <a:lnTo>
                  <a:pt x="72144" y="55763"/>
                </a:lnTo>
                <a:lnTo>
                  <a:pt x="68783" y="55833"/>
                </a:lnTo>
                <a:lnTo>
                  <a:pt x="63918" y="55842"/>
                </a:lnTo>
                <a:lnTo>
                  <a:pt x="48908" y="55812"/>
                </a:lnTo>
                <a:lnTo>
                  <a:pt x="33857" y="55898"/>
                </a:lnTo>
                <a:lnTo>
                  <a:pt x="29077" y="55762"/>
                </a:lnTo>
                <a:lnTo>
                  <a:pt x="25437" y="55640"/>
                </a:lnTo>
                <a:lnTo>
                  <a:pt x="22646" y="55488"/>
                </a:lnTo>
                <a:lnTo>
                  <a:pt x="20335" y="55479"/>
                </a:lnTo>
                <a:lnTo>
                  <a:pt x="18185" y="55203"/>
                </a:lnTo>
                <a:lnTo>
                  <a:pt x="16409" y="55023"/>
                </a:lnTo>
                <a:lnTo>
                  <a:pt x="14815" y="54814"/>
                </a:lnTo>
                <a:lnTo>
                  <a:pt x="13306" y="54616"/>
                </a:lnTo>
                <a:lnTo>
                  <a:pt x="11864" y="54188"/>
                </a:lnTo>
                <a:lnTo>
                  <a:pt x="10510" y="53878"/>
                </a:lnTo>
                <a:lnTo>
                  <a:pt x="9403" y="53595"/>
                </a:lnTo>
                <a:lnTo>
                  <a:pt x="8177" y="53115"/>
                </a:lnTo>
                <a:lnTo>
                  <a:pt x="7292" y="52756"/>
                </a:lnTo>
                <a:lnTo>
                  <a:pt x="6287" y="52266"/>
                </a:lnTo>
                <a:lnTo>
                  <a:pt x="5322" y="51757"/>
                </a:lnTo>
                <a:lnTo>
                  <a:pt x="4561" y="51064"/>
                </a:lnTo>
                <a:lnTo>
                  <a:pt x="3858" y="50575"/>
                </a:lnTo>
                <a:lnTo>
                  <a:pt x="3284" y="49727"/>
                </a:lnTo>
                <a:lnTo>
                  <a:pt x="2545" y="49101"/>
                </a:lnTo>
                <a:lnTo>
                  <a:pt x="2018" y="48290"/>
                </a:lnTo>
                <a:lnTo>
                  <a:pt x="1766" y="47385"/>
                </a:lnTo>
                <a:lnTo>
                  <a:pt x="1325" y="46362"/>
                </a:lnTo>
                <a:lnTo>
                  <a:pt x="900" y="45481"/>
                </a:lnTo>
                <a:lnTo>
                  <a:pt x="597" y="44139"/>
                </a:lnTo>
                <a:lnTo>
                  <a:pt x="366" y="42859"/>
                </a:lnTo>
                <a:lnTo>
                  <a:pt x="229" y="41093"/>
                </a:lnTo>
                <a:lnTo>
                  <a:pt x="168" y="39118"/>
                </a:lnTo>
                <a:lnTo>
                  <a:pt x="60" y="36465"/>
                </a:lnTo>
                <a:lnTo>
                  <a:pt x="0" y="28022"/>
                </a:lnTo>
                <a:lnTo>
                  <a:pt x="11" y="19345"/>
                </a:lnTo>
                <a:lnTo>
                  <a:pt x="148" y="16630"/>
                </a:lnTo>
                <a:lnTo>
                  <a:pt x="152" y="14620"/>
                </a:lnTo>
                <a:lnTo>
                  <a:pt x="451" y="12990"/>
                </a:lnTo>
                <a:lnTo>
                  <a:pt x="735" y="11687"/>
                </a:lnTo>
                <a:lnTo>
                  <a:pt x="839" y="10531"/>
                </a:lnTo>
                <a:lnTo>
                  <a:pt x="1194" y="9380"/>
                </a:lnTo>
                <a:lnTo>
                  <a:pt x="1718" y="8440"/>
                </a:lnTo>
                <a:lnTo>
                  <a:pt x="2139" y="7505"/>
                </a:lnTo>
                <a:lnTo>
                  <a:pt x="2543" y="6691"/>
                </a:lnTo>
                <a:lnTo>
                  <a:pt x="3180" y="6083"/>
                </a:lnTo>
                <a:lnTo>
                  <a:pt x="3923" y="5230"/>
                </a:lnTo>
                <a:lnTo>
                  <a:pt x="4727" y="4780"/>
                </a:lnTo>
                <a:lnTo>
                  <a:pt x="5506" y="4153"/>
                </a:lnTo>
                <a:lnTo>
                  <a:pt x="6293" y="3620"/>
                </a:lnTo>
                <a:lnTo>
                  <a:pt x="7182" y="3028"/>
                </a:lnTo>
                <a:lnTo>
                  <a:pt x="8285" y="2730"/>
                </a:lnTo>
                <a:lnTo>
                  <a:pt x="9284" y="2292"/>
                </a:lnTo>
                <a:lnTo>
                  <a:pt x="10495" y="1804"/>
                </a:lnTo>
                <a:lnTo>
                  <a:pt x="11873" y="1638"/>
                </a:lnTo>
                <a:lnTo>
                  <a:pt x="13255" y="1278"/>
                </a:lnTo>
                <a:lnTo>
                  <a:pt x="14743" y="1052"/>
                </a:lnTo>
                <a:lnTo>
                  <a:pt x="16341" y="784"/>
                </a:lnTo>
                <a:lnTo>
                  <a:pt x="18160" y="552"/>
                </a:lnTo>
                <a:lnTo>
                  <a:pt x="20479" y="488"/>
                </a:lnTo>
                <a:lnTo>
                  <a:pt x="22637" y="287"/>
                </a:lnTo>
                <a:lnTo>
                  <a:pt x="25536" y="193"/>
                </a:lnTo>
                <a:lnTo>
                  <a:pt x="29092" y="95"/>
                </a:lnTo>
                <a:lnTo>
                  <a:pt x="33924" y="0"/>
                </a:lnTo>
                <a:lnTo>
                  <a:pt x="48936" y="6"/>
                </a:lnTo>
                <a:lnTo>
                  <a:pt x="63851" y="18"/>
                </a:lnTo>
                <a:lnTo>
                  <a:pt x="68650" y="25"/>
                </a:lnTo>
                <a:lnTo>
                  <a:pt x="72209" y="79"/>
                </a:lnTo>
                <a:lnTo>
                  <a:pt x="74956" y="235"/>
                </a:lnTo>
                <a:lnTo>
                  <a:pt x="77310" y="307"/>
                </a:lnTo>
                <a:lnTo>
                  <a:pt x="79450" y="582"/>
                </a:lnTo>
                <a:lnTo>
                  <a:pt x="81265" y="837"/>
                </a:lnTo>
                <a:lnTo>
                  <a:pt x="82949" y="976"/>
                </a:lnTo>
                <a:lnTo>
                  <a:pt x="84523" y="1244"/>
                </a:lnTo>
                <a:lnTo>
                  <a:pt x="85918" y="1627"/>
                </a:lnTo>
                <a:lnTo>
                  <a:pt x="87115" y="1907"/>
                </a:lnTo>
                <a:lnTo>
                  <a:pt x="88496" y="2242"/>
                </a:lnTo>
                <a:lnTo>
                  <a:pt x="89581" y="2694"/>
                </a:lnTo>
                <a:lnTo>
                  <a:pt x="90485" y="3012"/>
                </a:lnTo>
                <a:lnTo>
                  <a:pt x="91514" y="3622"/>
                </a:lnTo>
                <a:lnTo>
                  <a:pt x="92309" y="4171"/>
                </a:lnTo>
                <a:lnTo>
                  <a:pt x="93088" y="4752"/>
                </a:lnTo>
                <a:lnTo>
                  <a:pt x="93863" y="5342"/>
                </a:lnTo>
                <a:lnTo>
                  <a:pt x="94465" y="6047"/>
                </a:lnTo>
                <a:lnTo>
                  <a:pt x="95049" y="6632"/>
                </a:lnTo>
                <a:lnTo>
                  <a:pt x="95478" y="7444"/>
                </a:lnTo>
                <a:lnTo>
                  <a:pt x="96080" y="8370"/>
                </a:lnTo>
                <a:lnTo>
                  <a:pt x="96389" y="9328"/>
                </a:lnTo>
                <a:lnTo>
                  <a:pt x="96887" y="10453"/>
                </a:lnTo>
                <a:lnTo>
                  <a:pt x="97121" y="11661"/>
                </a:lnTo>
                <a:lnTo>
                  <a:pt x="97344" y="12933"/>
                </a:lnTo>
                <a:lnTo>
                  <a:pt x="97643" y="14514"/>
                </a:lnTo>
                <a:lnTo>
                  <a:pt x="97573" y="16585"/>
                </a:lnTo>
                <a:lnTo>
                  <a:pt x="97864" y="19395"/>
                </a:lnTo>
                <a:lnTo>
                  <a:pt x="97864" y="27948"/>
                </a:lnTo>
                <a:close/>
              </a:path>
            </a:pathLst>
          </a:custGeom>
          <a:noFill/>
          <a:ln w="7620" cap="rnd">
            <a:solidFill>
              <a:srgbClr val="DDD8CA">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9477024" y="6021415"/>
            <a:ext cx="119512" cy="419527"/>
          </a:xfrm>
          <a:custGeom>
            <a:avLst/>
            <a:gdLst/>
            <a:ahLst/>
            <a:cxnLst/>
            <a:rect l="l" t="t" r="r" b="b"/>
            <a:pathLst>
              <a:path w="1307" h="4588">
                <a:moveTo>
                  <a:pt x="1307" y="0"/>
                </a:moveTo>
                <a:lnTo>
                  <a:pt x="1064" y="1365"/>
                </a:lnTo>
                <a:lnTo>
                  <a:pt x="766" y="2560"/>
                </a:lnTo>
                <a:lnTo>
                  <a:pt x="411" y="3626"/>
                </a:lnTo>
                <a:lnTo>
                  <a:pt x="0" y="4588"/>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8129656" y="7039234"/>
            <a:ext cx="540868" cy="104333"/>
          </a:xfrm>
          <a:custGeom>
            <a:avLst/>
            <a:gdLst/>
            <a:ahLst/>
            <a:cxnLst/>
            <a:rect l="l" t="t" r="r" b="b"/>
            <a:pathLst>
              <a:path w="5915" h="1141">
                <a:moveTo>
                  <a:pt x="5915" y="0"/>
                </a:moveTo>
                <a:lnTo>
                  <a:pt x="4625" y="336"/>
                </a:lnTo>
                <a:lnTo>
                  <a:pt x="3220" y="638"/>
                </a:lnTo>
                <a:lnTo>
                  <a:pt x="1686" y="906"/>
                </a:lnTo>
                <a:lnTo>
                  <a:pt x="0" y="1141"/>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39752" y="7122079"/>
            <a:ext cx="734995" cy="68214"/>
          </a:xfrm>
          <a:custGeom>
            <a:avLst/>
            <a:gdLst/>
            <a:ahLst/>
            <a:cxnLst/>
            <a:rect l="l" t="t" r="r" b="b"/>
            <a:pathLst>
              <a:path w="8038" h="746">
                <a:moveTo>
                  <a:pt x="8038" y="746"/>
                </a:moveTo>
                <a:lnTo>
                  <a:pt x="5648" y="607"/>
                </a:lnTo>
                <a:lnTo>
                  <a:pt x="3554" y="437"/>
                </a:lnTo>
                <a:lnTo>
                  <a:pt x="1686" y="235"/>
                </a:lnTo>
                <a:lnTo>
                  <a:pt x="0" y="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808970" y="6352977"/>
            <a:ext cx="182697" cy="308793"/>
          </a:xfrm>
          <a:custGeom>
            <a:avLst/>
            <a:gdLst/>
            <a:ahLst/>
            <a:cxnLst/>
            <a:rect l="l" t="t" r="r" b="b"/>
            <a:pathLst>
              <a:path w="1998" h="3377">
                <a:moveTo>
                  <a:pt x="1998" y="3377"/>
                </a:moveTo>
                <a:lnTo>
                  <a:pt x="1409" y="2640"/>
                </a:lnTo>
                <a:lnTo>
                  <a:pt x="880" y="1838"/>
                </a:lnTo>
                <a:lnTo>
                  <a:pt x="411" y="962"/>
                </a:lnTo>
                <a:lnTo>
                  <a:pt x="0" y="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727039" y="2876794"/>
            <a:ext cx="119512" cy="419527"/>
          </a:xfrm>
          <a:custGeom>
            <a:avLst/>
            <a:gdLst/>
            <a:ahLst/>
            <a:cxnLst/>
            <a:rect l="l" t="t" r="r" b="b"/>
            <a:pathLst>
              <a:path w="1307" h="4588">
                <a:moveTo>
                  <a:pt x="0" y="4588"/>
                </a:moveTo>
                <a:lnTo>
                  <a:pt x="243" y="3223"/>
                </a:lnTo>
                <a:lnTo>
                  <a:pt x="541" y="2028"/>
                </a:lnTo>
                <a:lnTo>
                  <a:pt x="896" y="962"/>
                </a:lnTo>
                <a:lnTo>
                  <a:pt x="1307" y="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653052" y="2174169"/>
            <a:ext cx="540868" cy="104333"/>
          </a:xfrm>
          <a:custGeom>
            <a:avLst/>
            <a:gdLst/>
            <a:ahLst/>
            <a:cxnLst/>
            <a:rect l="l" t="t" r="r" b="b"/>
            <a:pathLst>
              <a:path w="5915" h="1141">
                <a:moveTo>
                  <a:pt x="0" y="1141"/>
                </a:moveTo>
                <a:lnTo>
                  <a:pt x="1290" y="805"/>
                </a:lnTo>
                <a:lnTo>
                  <a:pt x="2695" y="503"/>
                </a:lnTo>
                <a:lnTo>
                  <a:pt x="4229" y="235"/>
                </a:lnTo>
                <a:lnTo>
                  <a:pt x="5915" y="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7548829" y="2127443"/>
            <a:ext cx="734995" cy="68214"/>
          </a:xfrm>
          <a:custGeom>
            <a:avLst/>
            <a:gdLst/>
            <a:ahLst/>
            <a:cxnLst/>
            <a:rect l="l" t="t" r="r" b="b"/>
            <a:pathLst>
              <a:path w="8038" h="746">
                <a:moveTo>
                  <a:pt x="0" y="0"/>
                </a:moveTo>
                <a:lnTo>
                  <a:pt x="2390" y="139"/>
                </a:lnTo>
                <a:lnTo>
                  <a:pt x="4484" y="309"/>
                </a:lnTo>
                <a:lnTo>
                  <a:pt x="6352" y="511"/>
                </a:lnTo>
                <a:lnTo>
                  <a:pt x="8038" y="746"/>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9331909" y="2655966"/>
            <a:ext cx="182697" cy="308793"/>
          </a:xfrm>
          <a:custGeom>
            <a:avLst/>
            <a:gdLst/>
            <a:ahLst/>
            <a:cxnLst/>
            <a:rect l="l" t="t" r="r" b="b"/>
            <a:pathLst>
              <a:path w="1998" h="3377">
                <a:moveTo>
                  <a:pt x="0" y="0"/>
                </a:moveTo>
                <a:lnTo>
                  <a:pt x="589" y="737"/>
                </a:lnTo>
                <a:lnTo>
                  <a:pt x="1118" y="1539"/>
                </a:lnTo>
                <a:lnTo>
                  <a:pt x="1587" y="2415"/>
                </a:lnTo>
                <a:lnTo>
                  <a:pt x="1998" y="3377"/>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cident-optimization-intuition.png"/>
          <p:cNvPicPr>
            <a:picLocks noChangeAspect="1"/>
          </p:cNvPicPr>
          <p:nvPr/>
        </p:nvPicPr>
        <p:blipFill>
          <a:blip r:embed="rId3"/>
          <a:stretch>
            <a:fillRect/>
          </a:stretch>
        </p:blipFill>
        <p:spPr>
          <a:xfrm>
            <a:off x="859972" y="2167128"/>
            <a:ext cx="8603631" cy="4983480"/>
          </a:xfrm>
          <a:prstGeom prst="rect">
            <a:avLst/>
          </a:prstGeom>
        </p:spPr>
      </p:pic>
      <p:sp>
        <p:nvSpPr>
          <p:cNvPr id="24" name="Oval 23"/>
          <p:cNvSpPr/>
          <p:nvPr/>
        </p:nvSpPr>
        <p:spPr>
          <a:xfrm>
            <a:off x="10044684" y="2348357"/>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Policy A solves the task. Policy B copies a prior run's answer. "/>
          <p:cNvSpPr txBox="1"/>
          <p:nvPr/>
        </p:nvSpPr>
        <p:spPr>
          <a:xfrm>
            <a:off x="10277856" y="2247773"/>
            <a:ext cx="3685031" cy="1133094"/>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Policy A solves the task.</a:t>
            </a:r>
            <a:br/>
            <a:r>
              <a:rPr sz="2200" b="0">
                <a:solidFill>
                  <a:srgbClr val="293E46"/>
                </a:solidFill>
                <a:latin typeface="Trebuchet MS"/>
              </a:rPr>
              <a:t>Policy B copies a prior run's</a:t>
            </a:r>
            <a:br/>
            <a:r>
              <a:rPr sz="2200" b="0">
                <a:solidFill>
                  <a:srgbClr val="293E46"/>
                </a:solidFill>
                <a:latin typeface="Trebuchet MS"/>
              </a:rPr>
              <a:t>answer. Both pass.</a:t>
            </a:r>
          </a:p>
        </p:txBody>
      </p:sp>
      <p:sp>
        <p:nvSpPr>
          <p:cNvPr id="26" name="Oval 25"/>
          <p:cNvSpPr/>
          <p:nvPr/>
        </p:nvSpPr>
        <p:spPr>
          <a:xfrm>
            <a:off x="10044684" y="3755771"/>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Only an independent observer of effects tells them apart."/>
          <p:cNvSpPr txBox="1"/>
          <p:nvPr/>
        </p:nvSpPr>
        <p:spPr>
          <a:xfrm>
            <a:off x="10277856" y="3655187"/>
            <a:ext cx="3685031" cy="1133094"/>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Only an independent</a:t>
            </a:r>
            <a:br/>
            <a:r>
              <a:rPr sz="2200" b="0">
                <a:solidFill>
                  <a:srgbClr val="293E46"/>
                </a:solidFill>
                <a:latin typeface="Trebuchet MS"/>
              </a:rPr>
              <a:t>observer of effects tells</a:t>
            </a:r>
            <a:br/>
            <a:r>
              <a:rPr sz="2200" b="0">
                <a:solidFill>
                  <a:srgbClr val="293E46"/>
                </a:solidFill>
                <a:latin typeface="Trebuchet MS"/>
              </a:rPr>
              <a:t>them apart.</a:t>
            </a:r>
          </a:p>
        </p:txBody>
      </p:sp>
      <p:sp>
        <p:nvSpPr>
          <p:cNvPr id="28" name="Oval 27"/>
          <p:cNvSpPr/>
          <p:nvPr/>
        </p:nvSpPr>
        <p:spPr>
          <a:xfrm>
            <a:off x="10044684" y="5163185"/>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Seen in our runs: 6/8 outside reads without enforcement, 0/8 wit"/>
          <p:cNvSpPr txBox="1"/>
          <p:nvPr/>
        </p:nvSpPr>
        <p:spPr>
          <a:xfrm>
            <a:off x="10277856" y="5062601"/>
            <a:ext cx="3685031" cy="1842769"/>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Seen in our runs: 6/8</a:t>
            </a:r>
            <a:br/>
            <a:r>
              <a:rPr sz="2200" b="0">
                <a:solidFill>
                  <a:srgbClr val="293E46"/>
                </a:solidFill>
                <a:latin typeface="Trebuchet MS"/>
              </a:rPr>
              <a:t>outside reads without</a:t>
            </a:r>
            <a:br/>
            <a:r>
              <a:rPr sz="2200" b="0">
                <a:solidFill>
                  <a:srgbClr val="293E46"/>
                </a:solidFill>
                <a:latin typeface="Trebuchet MS"/>
              </a:rPr>
              <a:t>enforcement, 0/8 with it; a</a:t>
            </a:r>
            <a:br/>
            <a:r>
              <a:rPr sz="2200" b="0">
                <a:solidFill>
                  <a:srgbClr val="293E46"/>
                </a:solidFill>
                <a:latin typeface="Trebuchet MS"/>
              </a:rPr>
              <a:t>cached flag accepted by</a:t>
            </a:r>
            <a:br/>
            <a:r>
              <a:rPr sz="2200" b="0">
                <a:solidFill>
                  <a:srgbClr val="293E46"/>
                </a:solidFill>
                <a:latin typeface="Trebuchet MS"/>
              </a:rPr>
              <a:t>the scorer.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1 · MOTIVATIO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1 · MOTIVATION</a:t>
            </a:r>
          </a:p>
        </p:txBody>
      </p:sp>
      <p:sp>
        <p:nvSpPr>
          <p:cNvPr id="3" name="title: The gap this proposal close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The gap this proposal closes</a:t>
            </a:r>
          </a:p>
        </p:txBody>
      </p:sp>
      <p:sp>
        <p:nvSpPr>
          <p:cNvPr id="4" name="Freeform 3"/>
          <p:cNvSpPr/>
          <p:nvPr/>
        </p:nvSpPr>
        <p:spPr>
          <a:xfrm>
            <a:off x="6263640" y="1358433"/>
            <a:ext cx="2103120" cy="41057"/>
          </a:xfrm>
          <a:custGeom>
            <a:avLst/>
            <a:gdLst/>
            <a:ahLst/>
            <a:cxnLst/>
            <a:rect l="l" t="t" r="r" b="b"/>
            <a:pathLst>
              <a:path w="23000" h="449">
                <a:moveTo>
                  <a:pt x="0" y="230"/>
                </a:moveTo>
                <a:lnTo>
                  <a:pt x="958" y="430"/>
                </a:lnTo>
                <a:lnTo>
                  <a:pt x="1917" y="395"/>
                </a:lnTo>
                <a:lnTo>
                  <a:pt x="2875" y="423"/>
                </a:lnTo>
                <a:lnTo>
                  <a:pt x="3833" y="280"/>
                </a:lnTo>
                <a:lnTo>
                  <a:pt x="4792" y="47"/>
                </a:lnTo>
                <a:lnTo>
                  <a:pt x="5750" y="21"/>
                </a:lnTo>
                <a:lnTo>
                  <a:pt x="6708" y="183"/>
                </a:lnTo>
                <a:lnTo>
                  <a:pt x="7667" y="239"/>
                </a:lnTo>
                <a:lnTo>
                  <a:pt x="8625" y="436"/>
                </a:lnTo>
                <a:lnTo>
                  <a:pt x="9583" y="446"/>
                </a:lnTo>
                <a:lnTo>
                  <a:pt x="10542" y="349"/>
                </a:lnTo>
                <a:lnTo>
                  <a:pt x="11500" y="249"/>
                </a:lnTo>
                <a:lnTo>
                  <a:pt x="12458" y="38"/>
                </a:lnTo>
                <a:lnTo>
                  <a:pt x="13417" y="74"/>
                </a:lnTo>
                <a:lnTo>
                  <a:pt x="14375" y="154"/>
                </a:lnTo>
                <a:lnTo>
                  <a:pt x="15333" y="303"/>
                </a:lnTo>
                <a:lnTo>
                  <a:pt x="16292" y="359"/>
                </a:lnTo>
                <a:lnTo>
                  <a:pt x="17250" y="449"/>
                </a:lnTo>
                <a:lnTo>
                  <a:pt x="18208" y="288"/>
                </a:lnTo>
                <a:lnTo>
                  <a:pt x="19167" y="223"/>
                </a:lnTo>
                <a:lnTo>
                  <a:pt x="20125" y="51"/>
                </a:lnTo>
                <a:lnTo>
                  <a:pt x="21083" y="0"/>
                </a:lnTo>
                <a:lnTo>
                  <a:pt x="22042" y="211"/>
                </a:lnTo>
                <a:lnTo>
                  <a:pt x="23000" y="318"/>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4892"/>
            <a:ext cx="2103120" cy="41057"/>
          </a:xfrm>
          <a:custGeom>
            <a:avLst/>
            <a:gdLst/>
            <a:ahLst/>
            <a:cxnLst/>
            <a:rect l="l" t="t" r="r" b="b"/>
            <a:pathLst>
              <a:path w="23000" h="449">
                <a:moveTo>
                  <a:pt x="0" y="230"/>
                </a:moveTo>
                <a:lnTo>
                  <a:pt x="958" y="430"/>
                </a:lnTo>
                <a:lnTo>
                  <a:pt x="1917" y="395"/>
                </a:lnTo>
                <a:lnTo>
                  <a:pt x="2875" y="423"/>
                </a:lnTo>
                <a:lnTo>
                  <a:pt x="3833" y="280"/>
                </a:lnTo>
                <a:lnTo>
                  <a:pt x="4792" y="47"/>
                </a:lnTo>
                <a:lnTo>
                  <a:pt x="5750" y="21"/>
                </a:lnTo>
                <a:lnTo>
                  <a:pt x="6708" y="183"/>
                </a:lnTo>
                <a:lnTo>
                  <a:pt x="7667" y="239"/>
                </a:lnTo>
                <a:lnTo>
                  <a:pt x="8625" y="436"/>
                </a:lnTo>
                <a:lnTo>
                  <a:pt x="9583" y="446"/>
                </a:lnTo>
                <a:lnTo>
                  <a:pt x="10542" y="349"/>
                </a:lnTo>
                <a:lnTo>
                  <a:pt x="11500" y="249"/>
                </a:lnTo>
                <a:lnTo>
                  <a:pt x="12458" y="38"/>
                </a:lnTo>
                <a:lnTo>
                  <a:pt x="13417" y="74"/>
                </a:lnTo>
                <a:lnTo>
                  <a:pt x="14375" y="154"/>
                </a:lnTo>
                <a:lnTo>
                  <a:pt x="15333" y="303"/>
                </a:lnTo>
                <a:lnTo>
                  <a:pt x="16292" y="359"/>
                </a:lnTo>
                <a:lnTo>
                  <a:pt x="17250" y="449"/>
                </a:lnTo>
                <a:lnTo>
                  <a:pt x="18208" y="288"/>
                </a:lnTo>
                <a:lnTo>
                  <a:pt x="19167" y="223"/>
                </a:lnTo>
                <a:lnTo>
                  <a:pt x="20125" y="51"/>
                </a:lnTo>
                <a:lnTo>
                  <a:pt x="21083" y="0"/>
                </a:lnTo>
                <a:lnTo>
                  <a:pt x="22042" y="211"/>
                </a:lnTo>
                <a:lnTo>
                  <a:pt x="23000" y="318"/>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11"/>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11</a:t>
            </a:r>
          </a:p>
        </p:txBody>
      </p:sp>
      <p:sp>
        <p:nvSpPr>
          <p:cNvPr id="13" name="Rounded Rectangle 12"/>
          <p:cNvSpPr/>
          <p:nvPr/>
        </p:nvSpPr>
        <p:spPr>
          <a:xfrm>
            <a:off x="640080" y="1874519"/>
            <a:ext cx="13350240" cy="590571"/>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ody: Missing today"/>
          <p:cNvSpPr txBox="1"/>
          <p:nvPr/>
        </p:nvSpPr>
        <p:spPr>
          <a:xfrm>
            <a:off x="777240" y="1982290"/>
            <a:ext cx="5261145"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Missing today</a:t>
            </a:r>
          </a:p>
        </p:txBody>
      </p:sp>
      <p:sp>
        <p:nvSpPr>
          <p:cNvPr id="15" name="body: This design"/>
          <p:cNvSpPr txBox="1"/>
          <p:nvPr/>
        </p:nvSpPr>
        <p:spPr>
          <a:xfrm>
            <a:off x="6312705" y="1982290"/>
            <a:ext cx="7540454"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This design</a:t>
            </a:r>
          </a:p>
        </p:txBody>
      </p:sp>
      <p:sp>
        <p:nvSpPr>
          <p:cNvPr id="16" name="Rounded Rectangle 15"/>
          <p:cNvSpPr/>
          <p:nvPr/>
        </p:nvSpPr>
        <p:spPr>
          <a:xfrm>
            <a:off x="640080" y="2524527"/>
            <a:ext cx="13350240" cy="673375"/>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 Scorers are blind to authorization"/>
          <p:cNvSpPr txBox="1"/>
          <p:nvPr/>
        </p:nvSpPr>
        <p:spPr>
          <a:xfrm>
            <a:off x="777240" y="2641441"/>
            <a:ext cx="5261145" cy="439547"/>
          </a:xfrm>
          <a:prstGeom prst="rect">
            <a:avLst/>
          </a:prstGeom>
          <a:noFill/>
        </p:spPr>
        <p:txBody>
          <a:bodyPr wrap="none" lIns="0" rIns="0" tIns="0" bIns="0" anchor="t">
            <a:noAutofit/>
          </a:bodyPr>
          <a:lstStyle/>
          <a:p>
            <a:pPr algn="l">
              <a:lnSpc>
                <a:spcPts val="2921"/>
              </a:lnSpc>
              <a:spcBef>
                <a:spcPts val="0"/>
              </a:spcBef>
              <a:spcAft>
                <a:spcPts val="0"/>
              </a:spcAft>
            </a:pPr>
            <a:r>
              <a:rPr sz="2300" b="1">
                <a:solidFill>
                  <a:srgbClr val="4E7892"/>
                </a:solidFill>
                <a:latin typeface="Trebuchet MS"/>
              </a:rPr>
              <a:t>Scorers are blind to authorization</a:t>
            </a:r>
          </a:p>
        </p:txBody>
      </p:sp>
      <p:sp>
        <p:nvSpPr>
          <p:cNvPr id="18" name="body: Independent incident observer"/>
          <p:cNvSpPr txBox="1"/>
          <p:nvPr/>
        </p:nvSpPr>
        <p:spPr>
          <a:xfrm>
            <a:off x="6312705" y="2641441"/>
            <a:ext cx="7540454"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Independent incident observer</a:t>
            </a:r>
          </a:p>
        </p:txBody>
      </p:sp>
      <p:sp>
        <p:nvSpPr>
          <p:cNvPr id="19" name="Rounded Rectangle 18"/>
          <p:cNvSpPr/>
          <p:nvPr/>
        </p:nvSpPr>
        <p:spPr>
          <a:xfrm>
            <a:off x="640080" y="3257338"/>
            <a:ext cx="13350240" cy="1044342"/>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dy: Incident knowledge is scattered prose"/>
          <p:cNvSpPr txBox="1"/>
          <p:nvPr/>
        </p:nvSpPr>
        <p:spPr>
          <a:xfrm>
            <a:off x="777240" y="3374252"/>
            <a:ext cx="5261145" cy="810514"/>
          </a:xfrm>
          <a:prstGeom prst="rect">
            <a:avLst/>
          </a:prstGeom>
          <a:noFill/>
        </p:spPr>
        <p:txBody>
          <a:bodyPr wrap="none" lIns="0" rIns="0" tIns="0" bIns="0" anchor="t">
            <a:noAutofit/>
          </a:bodyPr>
          <a:lstStyle/>
          <a:p>
            <a:pPr algn="l">
              <a:lnSpc>
                <a:spcPts val="2921"/>
              </a:lnSpc>
              <a:spcBef>
                <a:spcPts val="0"/>
              </a:spcBef>
              <a:spcAft>
                <a:spcPts val="0"/>
              </a:spcAft>
            </a:pPr>
            <a:r>
              <a:rPr sz="2300" b="1">
                <a:solidFill>
                  <a:srgbClr val="4E7892"/>
                </a:solidFill>
                <a:latin typeface="Trebuchet MS"/>
              </a:rPr>
              <a:t>Incident knowledge is scattered</a:t>
            </a:r>
            <a:br/>
            <a:r>
              <a:rPr sz="2300" b="1">
                <a:solidFill>
                  <a:srgbClr val="4E7892"/>
                </a:solidFill>
                <a:latin typeface="Trebuchet MS"/>
              </a:rPr>
              <a:t>prose</a:t>
            </a:r>
          </a:p>
        </p:txBody>
      </p:sp>
      <p:sp>
        <p:nvSpPr>
          <p:cNvPr id="21" name="body: One executable, versioned library"/>
          <p:cNvSpPr txBox="1"/>
          <p:nvPr/>
        </p:nvSpPr>
        <p:spPr>
          <a:xfrm>
            <a:off x="6312705" y="3559735"/>
            <a:ext cx="7540454"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One executable, versioned library</a:t>
            </a:r>
          </a:p>
        </p:txBody>
      </p:sp>
      <p:sp>
        <p:nvSpPr>
          <p:cNvPr id="22" name="Rounded Rectangle 21"/>
          <p:cNvSpPr/>
          <p:nvPr/>
        </p:nvSpPr>
        <p:spPr>
          <a:xfrm>
            <a:off x="640080" y="4361116"/>
            <a:ext cx="13350240" cy="673375"/>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Fixes are not regression-tested"/>
          <p:cNvSpPr txBox="1"/>
          <p:nvPr/>
        </p:nvSpPr>
        <p:spPr>
          <a:xfrm>
            <a:off x="777240" y="4478030"/>
            <a:ext cx="5261145" cy="439547"/>
          </a:xfrm>
          <a:prstGeom prst="rect">
            <a:avLst/>
          </a:prstGeom>
          <a:noFill/>
        </p:spPr>
        <p:txBody>
          <a:bodyPr wrap="none" lIns="0" rIns="0" tIns="0" bIns="0" anchor="t">
            <a:noAutofit/>
          </a:bodyPr>
          <a:lstStyle/>
          <a:p>
            <a:pPr algn="l">
              <a:lnSpc>
                <a:spcPts val="2921"/>
              </a:lnSpc>
              <a:spcBef>
                <a:spcPts val="0"/>
              </a:spcBef>
              <a:spcAft>
                <a:spcPts val="0"/>
              </a:spcAft>
            </a:pPr>
            <a:r>
              <a:rPr sz="2300" b="1">
                <a:solidFill>
                  <a:srgbClr val="4E7892"/>
                </a:solidFill>
                <a:latin typeface="Trebuchet MS"/>
              </a:rPr>
              <a:t>Fixes are not regression-tested</a:t>
            </a:r>
          </a:p>
        </p:txBody>
      </p:sp>
      <p:sp>
        <p:nvSpPr>
          <p:cNvPr id="24" name="body: Every library case replays before release"/>
          <p:cNvSpPr txBox="1"/>
          <p:nvPr/>
        </p:nvSpPr>
        <p:spPr>
          <a:xfrm>
            <a:off x="6312705" y="4478030"/>
            <a:ext cx="7540454"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Every library case replays before release</a:t>
            </a:r>
          </a:p>
        </p:txBody>
      </p:sp>
      <p:sp>
        <p:nvSpPr>
          <p:cNvPr id="25" name="Rounded Rectangle 24"/>
          <p:cNvSpPr/>
          <p:nvPr/>
        </p:nvSpPr>
        <p:spPr>
          <a:xfrm>
            <a:off x="640080" y="5093927"/>
            <a:ext cx="13350240" cy="1044342"/>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ody: Monitors lack calibration and provenance"/>
          <p:cNvSpPr txBox="1"/>
          <p:nvPr/>
        </p:nvSpPr>
        <p:spPr>
          <a:xfrm>
            <a:off x="777240" y="5210841"/>
            <a:ext cx="5261145" cy="810514"/>
          </a:xfrm>
          <a:prstGeom prst="rect">
            <a:avLst/>
          </a:prstGeom>
          <a:noFill/>
        </p:spPr>
        <p:txBody>
          <a:bodyPr wrap="none" lIns="0" rIns="0" tIns="0" bIns="0" anchor="t">
            <a:noAutofit/>
          </a:bodyPr>
          <a:lstStyle/>
          <a:p>
            <a:pPr algn="l">
              <a:lnSpc>
                <a:spcPts val="2921"/>
              </a:lnSpc>
              <a:spcBef>
                <a:spcPts val="0"/>
              </a:spcBef>
              <a:spcAft>
                <a:spcPts val="0"/>
              </a:spcAft>
            </a:pPr>
            <a:r>
              <a:rPr sz="2300" b="1">
                <a:solidFill>
                  <a:srgbClr val="4E7892"/>
                </a:solidFill>
                <a:latin typeface="Trebuchet MS"/>
              </a:rPr>
              <a:t>Monitors lack calibration and</a:t>
            </a:r>
            <a:br/>
            <a:r>
              <a:rPr sz="2300" b="1">
                <a:solidFill>
                  <a:srgbClr val="4E7892"/>
                </a:solidFill>
                <a:latin typeface="Trebuchet MS"/>
              </a:rPr>
              <a:t>provenance</a:t>
            </a:r>
          </a:p>
        </p:txBody>
      </p:sp>
      <p:sp>
        <p:nvSpPr>
          <p:cNvPr id="27" name="body: Calibrated thresholds; every rule cites its incident"/>
          <p:cNvSpPr txBox="1"/>
          <p:nvPr/>
        </p:nvSpPr>
        <p:spPr>
          <a:xfrm>
            <a:off x="6312705" y="5396325"/>
            <a:ext cx="7540454"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Calibrated thresholds; every rule cites its incident</a:t>
            </a:r>
          </a:p>
        </p:txBody>
      </p:sp>
      <p:sp>
        <p:nvSpPr>
          <p:cNvPr id="28" name="Rounded Rectangle 27"/>
          <p:cNvSpPr/>
          <p:nvPr/>
        </p:nvSpPr>
        <p:spPr>
          <a:xfrm>
            <a:off x="640080" y="6197705"/>
            <a:ext cx="13350240" cy="1044342"/>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No held-out protocol for learned policies"/>
          <p:cNvSpPr txBox="1"/>
          <p:nvPr/>
        </p:nvSpPr>
        <p:spPr>
          <a:xfrm>
            <a:off x="777240" y="6314619"/>
            <a:ext cx="5261145" cy="810514"/>
          </a:xfrm>
          <a:prstGeom prst="rect">
            <a:avLst/>
          </a:prstGeom>
          <a:noFill/>
        </p:spPr>
        <p:txBody>
          <a:bodyPr wrap="none" lIns="0" rIns="0" tIns="0" bIns="0" anchor="t">
            <a:noAutofit/>
          </a:bodyPr>
          <a:lstStyle/>
          <a:p>
            <a:pPr algn="l">
              <a:lnSpc>
                <a:spcPts val="2921"/>
              </a:lnSpc>
              <a:spcBef>
                <a:spcPts val="0"/>
              </a:spcBef>
              <a:spcAft>
                <a:spcPts val="0"/>
              </a:spcAft>
            </a:pPr>
            <a:r>
              <a:rPr sz="2300" b="1">
                <a:solidFill>
                  <a:srgbClr val="4E7892"/>
                </a:solidFill>
                <a:latin typeface="Trebuchet MS"/>
              </a:rPr>
              <a:t>No held-out protocol for learned</a:t>
            </a:r>
            <a:br/>
            <a:r>
              <a:rPr sz="2300" b="1">
                <a:solidFill>
                  <a:srgbClr val="4E7892"/>
                </a:solidFill>
                <a:latin typeface="Trebuchet MS"/>
              </a:rPr>
              <a:t>policies</a:t>
            </a:r>
          </a:p>
        </p:txBody>
      </p:sp>
      <p:sp>
        <p:nvSpPr>
          <p:cNvPr id="30" name="body: Hold out by lineage and by date"/>
          <p:cNvSpPr txBox="1"/>
          <p:nvPr/>
        </p:nvSpPr>
        <p:spPr>
          <a:xfrm>
            <a:off x="6312705" y="6500103"/>
            <a:ext cx="7540454"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Hold out by lineage and by date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2 · DELIVERY"/>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2 · DELIVERY</a:t>
            </a:r>
          </a:p>
        </p:txBody>
      </p:sp>
      <p:sp>
        <p:nvSpPr>
          <p:cNvPr id="3" name="title: What is delivered"/>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What is delivered</a:t>
            </a:r>
          </a:p>
        </p:txBody>
      </p:sp>
      <p:sp>
        <p:nvSpPr>
          <p:cNvPr id="4" name="subtitle: An Inspect extension plus an incident library; the model is neve"/>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An Inspect extension plus an incident library; the model is never modified</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12"/>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12</a:t>
            </a:r>
          </a:p>
        </p:txBody>
      </p:sp>
      <p:sp>
        <p:nvSpPr>
          <p:cNvPr id="12" name="Rounded Rectangle 11"/>
          <p:cNvSpPr/>
          <p:nvPr/>
        </p:nvSpPr>
        <p:spPr>
          <a:xfrm>
            <a:off x="640080" y="1828800"/>
            <a:ext cx="4242816" cy="4361688"/>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3006" y="1832732"/>
            <a:ext cx="4239341" cy="4354098"/>
          </a:xfrm>
          <a:custGeom>
            <a:avLst/>
            <a:gdLst/>
            <a:ahLst/>
            <a:cxnLst/>
            <a:rect l="l" t="t" r="r" b="b"/>
            <a:pathLst>
              <a:path w="46362" h="47617">
                <a:moveTo>
                  <a:pt x="46362" y="23762"/>
                </a:moveTo>
                <a:lnTo>
                  <a:pt x="46301" y="31200"/>
                </a:lnTo>
                <a:lnTo>
                  <a:pt x="46128" y="33404"/>
                </a:lnTo>
                <a:lnTo>
                  <a:pt x="46058" y="35141"/>
                </a:lnTo>
                <a:lnTo>
                  <a:pt x="46170" y="36503"/>
                </a:lnTo>
                <a:lnTo>
                  <a:pt x="45996" y="37571"/>
                </a:lnTo>
                <a:lnTo>
                  <a:pt x="45675" y="38661"/>
                </a:lnTo>
                <a:lnTo>
                  <a:pt x="45540" y="39550"/>
                </a:lnTo>
                <a:lnTo>
                  <a:pt x="45503" y="40335"/>
                </a:lnTo>
                <a:lnTo>
                  <a:pt x="45156" y="41129"/>
                </a:lnTo>
                <a:lnTo>
                  <a:pt x="44866" y="41868"/>
                </a:lnTo>
                <a:lnTo>
                  <a:pt x="44717" y="42392"/>
                </a:lnTo>
                <a:lnTo>
                  <a:pt x="44349" y="42898"/>
                </a:lnTo>
                <a:lnTo>
                  <a:pt x="43987" y="43517"/>
                </a:lnTo>
                <a:lnTo>
                  <a:pt x="43548" y="43905"/>
                </a:lnTo>
                <a:lnTo>
                  <a:pt x="43258" y="44430"/>
                </a:lnTo>
                <a:lnTo>
                  <a:pt x="42856" y="44970"/>
                </a:lnTo>
                <a:lnTo>
                  <a:pt x="42472" y="45316"/>
                </a:lnTo>
                <a:lnTo>
                  <a:pt x="41812" y="45519"/>
                </a:lnTo>
                <a:lnTo>
                  <a:pt x="41160" y="45910"/>
                </a:lnTo>
                <a:lnTo>
                  <a:pt x="40752" y="46223"/>
                </a:lnTo>
                <a:lnTo>
                  <a:pt x="40005" y="46541"/>
                </a:lnTo>
                <a:lnTo>
                  <a:pt x="39206" y="46646"/>
                </a:lnTo>
                <a:lnTo>
                  <a:pt x="38527" y="46794"/>
                </a:lnTo>
                <a:lnTo>
                  <a:pt x="37542" y="47092"/>
                </a:lnTo>
                <a:lnTo>
                  <a:pt x="36669" y="47226"/>
                </a:lnTo>
                <a:lnTo>
                  <a:pt x="35585" y="47283"/>
                </a:lnTo>
                <a:lnTo>
                  <a:pt x="34086" y="47327"/>
                </a:lnTo>
                <a:lnTo>
                  <a:pt x="32449" y="47556"/>
                </a:lnTo>
                <a:lnTo>
                  <a:pt x="30389" y="47617"/>
                </a:lnTo>
                <a:lnTo>
                  <a:pt x="23199" y="47599"/>
                </a:lnTo>
                <a:lnTo>
                  <a:pt x="15978" y="47509"/>
                </a:lnTo>
                <a:lnTo>
                  <a:pt x="13716" y="47467"/>
                </a:lnTo>
                <a:lnTo>
                  <a:pt x="12062" y="47530"/>
                </a:lnTo>
                <a:lnTo>
                  <a:pt x="10981" y="47324"/>
                </a:lnTo>
                <a:lnTo>
                  <a:pt x="9684" y="47181"/>
                </a:lnTo>
                <a:lnTo>
                  <a:pt x="8839" y="47044"/>
                </a:lnTo>
                <a:lnTo>
                  <a:pt x="7792" y="46893"/>
                </a:lnTo>
                <a:lnTo>
                  <a:pt x="7159" y="46583"/>
                </a:lnTo>
                <a:lnTo>
                  <a:pt x="6238" y="46366"/>
                </a:lnTo>
                <a:lnTo>
                  <a:pt x="5673" y="46108"/>
                </a:lnTo>
                <a:lnTo>
                  <a:pt x="4941" y="45976"/>
                </a:lnTo>
                <a:lnTo>
                  <a:pt x="4388" y="45564"/>
                </a:lnTo>
                <a:lnTo>
                  <a:pt x="3924" y="45346"/>
                </a:lnTo>
                <a:lnTo>
                  <a:pt x="3431" y="44986"/>
                </a:lnTo>
                <a:lnTo>
                  <a:pt x="3172" y="44510"/>
                </a:lnTo>
                <a:lnTo>
                  <a:pt x="2731" y="44094"/>
                </a:lnTo>
                <a:lnTo>
                  <a:pt x="2293" y="43633"/>
                </a:lnTo>
                <a:lnTo>
                  <a:pt x="1875" y="43055"/>
                </a:lnTo>
                <a:lnTo>
                  <a:pt x="1603" y="42374"/>
                </a:lnTo>
                <a:lnTo>
                  <a:pt x="1321" y="41699"/>
                </a:lnTo>
                <a:lnTo>
                  <a:pt x="1055" y="41017"/>
                </a:lnTo>
                <a:lnTo>
                  <a:pt x="994" y="40460"/>
                </a:lnTo>
                <a:lnTo>
                  <a:pt x="666" y="39451"/>
                </a:lnTo>
                <a:lnTo>
                  <a:pt x="580" y="38575"/>
                </a:lnTo>
                <a:lnTo>
                  <a:pt x="419" y="37511"/>
                </a:lnTo>
                <a:lnTo>
                  <a:pt x="398" y="36479"/>
                </a:lnTo>
                <a:lnTo>
                  <a:pt x="82" y="35171"/>
                </a:lnTo>
                <a:lnTo>
                  <a:pt x="248" y="33382"/>
                </a:lnTo>
                <a:lnTo>
                  <a:pt x="222" y="31115"/>
                </a:lnTo>
                <a:lnTo>
                  <a:pt x="80" y="23926"/>
                </a:lnTo>
                <a:lnTo>
                  <a:pt x="0" y="16572"/>
                </a:lnTo>
                <a:lnTo>
                  <a:pt x="195" y="14290"/>
                </a:lnTo>
                <a:lnTo>
                  <a:pt x="136" y="12533"/>
                </a:lnTo>
                <a:lnTo>
                  <a:pt x="206" y="11265"/>
                </a:lnTo>
                <a:lnTo>
                  <a:pt x="513" y="10047"/>
                </a:lnTo>
                <a:lnTo>
                  <a:pt x="498" y="8867"/>
                </a:lnTo>
                <a:lnTo>
                  <a:pt x="798" y="7960"/>
                </a:lnTo>
                <a:lnTo>
                  <a:pt x="824" y="7299"/>
                </a:lnTo>
                <a:lnTo>
                  <a:pt x="1058" y="6503"/>
                </a:lnTo>
                <a:lnTo>
                  <a:pt x="1290" y="5714"/>
                </a:lnTo>
                <a:lnTo>
                  <a:pt x="1567" y="5198"/>
                </a:lnTo>
                <a:lnTo>
                  <a:pt x="1980" y="4514"/>
                </a:lnTo>
                <a:lnTo>
                  <a:pt x="2395" y="4173"/>
                </a:lnTo>
                <a:lnTo>
                  <a:pt x="2744" y="3599"/>
                </a:lnTo>
                <a:lnTo>
                  <a:pt x="3039" y="3208"/>
                </a:lnTo>
                <a:lnTo>
                  <a:pt x="3564" y="2735"/>
                </a:lnTo>
                <a:lnTo>
                  <a:pt x="3885" y="2297"/>
                </a:lnTo>
                <a:lnTo>
                  <a:pt x="4435" y="1954"/>
                </a:lnTo>
                <a:lnTo>
                  <a:pt x="5101" y="1690"/>
                </a:lnTo>
                <a:lnTo>
                  <a:pt x="5583" y="1293"/>
                </a:lnTo>
                <a:lnTo>
                  <a:pt x="6375" y="1106"/>
                </a:lnTo>
                <a:lnTo>
                  <a:pt x="7086" y="1012"/>
                </a:lnTo>
                <a:lnTo>
                  <a:pt x="7822" y="719"/>
                </a:lnTo>
                <a:lnTo>
                  <a:pt x="8867" y="609"/>
                </a:lnTo>
                <a:lnTo>
                  <a:pt x="9735" y="464"/>
                </a:lnTo>
                <a:lnTo>
                  <a:pt x="10976" y="191"/>
                </a:lnTo>
                <a:lnTo>
                  <a:pt x="12233" y="140"/>
                </a:lnTo>
                <a:lnTo>
                  <a:pt x="13776" y="234"/>
                </a:lnTo>
                <a:lnTo>
                  <a:pt x="16149" y="0"/>
                </a:lnTo>
                <a:lnTo>
                  <a:pt x="23127" y="85"/>
                </a:lnTo>
                <a:lnTo>
                  <a:pt x="30310" y="73"/>
                </a:lnTo>
                <a:lnTo>
                  <a:pt x="32479" y="179"/>
                </a:lnTo>
                <a:lnTo>
                  <a:pt x="34234" y="136"/>
                </a:lnTo>
                <a:lnTo>
                  <a:pt x="35411" y="239"/>
                </a:lnTo>
                <a:lnTo>
                  <a:pt x="36505" y="377"/>
                </a:lnTo>
                <a:lnTo>
                  <a:pt x="37607" y="636"/>
                </a:lnTo>
                <a:lnTo>
                  <a:pt x="38421" y="832"/>
                </a:lnTo>
                <a:lnTo>
                  <a:pt x="39372" y="824"/>
                </a:lnTo>
                <a:lnTo>
                  <a:pt x="40111" y="1037"/>
                </a:lnTo>
                <a:lnTo>
                  <a:pt x="40756" y="1478"/>
                </a:lnTo>
                <a:lnTo>
                  <a:pt x="41378" y="1603"/>
                </a:lnTo>
                <a:lnTo>
                  <a:pt x="41812" y="2023"/>
                </a:lnTo>
                <a:lnTo>
                  <a:pt x="42338" y="2267"/>
                </a:lnTo>
                <a:lnTo>
                  <a:pt x="42935" y="2806"/>
                </a:lnTo>
                <a:lnTo>
                  <a:pt x="43387" y="3043"/>
                </a:lnTo>
                <a:lnTo>
                  <a:pt x="43549" y="3521"/>
                </a:lnTo>
                <a:lnTo>
                  <a:pt x="44080" y="4197"/>
                </a:lnTo>
                <a:lnTo>
                  <a:pt x="44375" y="4637"/>
                </a:lnTo>
                <a:lnTo>
                  <a:pt x="44693" y="5276"/>
                </a:lnTo>
                <a:lnTo>
                  <a:pt x="44941" y="5822"/>
                </a:lnTo>
                <a:lnTo>
                  <a:pt x="45207" y="6620"/>
                </a:lnTo>
                <a:lnTo>
                  <a:pt x="45499" y="7287"/>
                </a:lnTo>
                <a:lnTo>
                  <a:pt x="45693" y="8158"/>
                </a:lnTo>
                <a:lnTo>
                  <a:pt x="45705" y="9014"/>
                </a:lnTo>
                <a:lnTo>
                  <a:pt x="45966" y="10093"/>
                </a:lnTo>
                <a:lnTo>
                  <a:pt x="46011" y="11048"/>
                </a:lnTo>
                <a:lnTo>
                  <a:pt x="46131" y="12560"/>
                </a:lnTo>
                <a:lnTo>
                  <a:pt x="46104" y="14154"/>
                </a:lnTo>
                <a:lnTo>
                  <a:pt x="46271" y="16517"/>
                </a:lnTo>
                <a:lnTo>
                  <a:pt x="46140" y="23909"/>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52059" y="1836572"/>
            <a:ext cx="4225900" cy="4347698"/>
          </a:xfrm>
          <a:custGeom>
            <a:avLst/>
            <a:gdLst/>
            <a:ahLst/>
            <a:cxnLst/>
            <a:rect l="l" t="t" r="r" b="b"/>
            <a:pathLst>
              <a:path w="46215" h="47547">
                <a:moveTo>
                  <a:pt x="46055" y="23737"/>
                </a:moveTo>
                <a:lnTo>
                  <a:pt x="46215" y="30970"/>
                </a:lnTo>
                <a:lnTo>
                  <a:pt x="46043" y="33355"/>
                </a:lnTo>
                <a:lnTo>
                  <a:pt x="45924" y="35075"/>
                </a:lnTo>
                <a:lnTo>
                  <a:pt x="46072" y="36354"/>
                </a:lnTo>
                <a:lnTo>
                  <a:pt x="45754" y="37577"/>
                </a:lnTo>
                <a:lnTo>
                  <a:pt x="45667" y="38577"/>
                </a:lnTo>
                <a:lnTo>
                  <a:pt x="45468" y="39437"/>
                </a:lnTo>
                <a:lnTo>
                  <a:pt x="45327" y="40381"/>
                </a:lnTo>
                <a:lnTo>
                  <a:pt x="45119" y="40950"/>
                </a:lnTo>
                <a:lnTo>
                  <a:pt x="44840" y="41708"/>
                </a:lnTo>
                <a:lnTo>
                  <a:pt x="44699" y="42353"/>
                </a:lnTo>
                <a:lnTo>
                  <a:pt x="44154" y="42988"/>
                </a:lnTo>
                <a:lnTo>
                  <a:pt x="44056" y="43371"/>
                </a:lnTo>
                <a:lnTo>
                  <a:pt x="43503" y="43929"/>
                </a:lnTo>
                <a:lnTo>
                  <a:pt x="43218" y="44456"/>
                </a:lnTo>
                <a:lnTo>
                  <a:pt x="42752" y="44909"/>
                </a:lnTo>
                <a:lnTo>
                  <a:pt x="42304" y="45322"/>
                </a:lnTo>
                <a:lnTo>
                  <a:pt x="41831" y="45598"/>
                </a:lnTo>
                <a:lnTo>
                  <a:pt x="41182" y="45994"/>
                </a:lnTo>
                <a:lnTo>
                  <a:pt x="40566" y="46241"/>
                </a:lnTo>
                <a:lnTo>
                  <a:pt x="39815" y="46419"/>
                </a:lnTo>
                <a:lnTo>
                  <a:pt x="39286" y="46598"/>
                </a:lnTo>
                <a:lnTo>
                  <a:pt x="38278" y="46783"/>
                </a:lnTo>
                <a:lnTo>
                  <a:pt x="37416" y="47021"/>
                </a:lnTo>
                <a:lnTo>
                  <a:pt x="36385" y="47065"/>
                </a:lnTo>
                <a:lnTo>
                  <a:pt x="35253" y="47367"/>
                </a:lnTo>
                <a:lnTo>
                  <a:pt x="34031" y="47393"/>
                </a:lnTo>
                <a:lnTo>
                  <a:pt x="32448" y="47453"/>
                </a:lnTo>
                <a:lnTo>
                  <a:pt x="30040" y="47512"/>
                </a:lnTo>
                <a:lnTo>
                  <a:pt x="23146" y="47483"/>
                </a:lnTo>
                <a:lnTo>
                  <a:pt x="16038" y="47547"/>
                </a:lnTo>
                <a:lnTo>
                  <a:pt x="13840" y="47364"/>
                </a:lnTo>
                <a:lnTo>
                  <a:pt x="12180" y="47275"/>
                </a:lnTo>
                <a:lnTo>
                  <a:pt x="10877" y="47341"/>
                </a:lnTo>
                <a:lnTo>
                  <a:pt x="9554" y="47071"/>
                </a:lnTo>
                <a:lnTo>
                  <a:pt x="8579" y="46973"/>
                </a:lnTo>
                <a:lnTo>
                  <a:pt x="7633" y="46817"/>
                </a:lnTo>
                <a:lnTo>
                  <a:pt x="6905" y="46590"/>
                </a:lnTo>
                <a:lnTo>
                  <a:pt x="6361" y="46444"/>
                </a:lnTo>
                <a:lnTo>
                  <a:pt x="5523" y="46259"/>
                </a:lnTo>
                <a:lnTo>
                  <a:pt x="5035" y="45799"/>
                </a:lnTo>
                <a:lnTo>
                  <a:pt x="4364" y="45612"/>
                </a:lnTo>
                <a:lnTo>
                  <a:pt x="3835" y="45178"/>
                </a:lnTo>
                <a:lnTo>
                  <a:pt x="3346" y="44833"/>
                </a:lnTo>
                <a:lnTo>
                  <a:pt x="2868" y="44422"/>
                </a:lnTo>
                <a:lnTo>
                  <a:pt x="2493" y="43970"/>
                </a:lnTo>
                <a:lnTo>
                  <a:pt x="2084" y="43436"/>
                </a:lnTo>
                <a:lnTo>
                  <a:pt x="1766" y="42887"/>
                </a:lnTo>
                <a:lnTo>
                  <a:pt x="1450" y="42347"/>
                </a:lnTo>
                <a:lnTo>
                  <a:pt x="1357" y="41774"/>
                </a:lnTo>
                <a:lnTo>
                  <a:pt x="1086" y="41024"/>
                </a:lnTo>
                <a:lnTo>
                  <a:pt x="780" y="40343"/>
                </a:lnTo>
                <a:lnTo>
                  <a:pt x="559" y="39476"/>
                </a:lnTo>
                <a:lnTo>
                  <a:pt x="504" y="38678"/>
                </a:lnTo>
                <a:lnTo>
                  <a:pt x="291" y="37497"/>
                </a:lnTo>
                <a:lnTo>
                  <a:pt x="260" y="36408"/>
                </a:lnTo>
                <a:lnTo>
                  <a:pt x="174" y="35013"/>
                </a:lnTo>
                <a:lnTo>
                  <a:pt x="79" y="33323"/>
                </a:lnTo>
                <a:lnTo>
                  <a:pt x="58" y="31019"/>
                </a:lnTo>
                <a:lnTo>
                  <a:pt x="0" y="23840"/>
                </a:lnTo>
                <a:lnTo>
                  <a:pt x="53" y="16379"/>
                </a:lnTo>
                <a:lnTo>
                  <a:pt x="97" y="14187"/>
                </a:lnTo>
                <a:lnTo>
                  <a:pt x="167" y="12543"/>
                </a:lnTo>
                <a:lnTo>
                  <a:pt x="99" y="11026"/>
                </a:lnTo>
                <a:lnTo>
                  <a:pt x="420" y="10051"/>
                </a:lnTo>
                <a:lnTo>
                  <a:pt x="404" y="8963"/>
                </a:lnTo>
                <a:lnTo>
                  <a:pt x="576" y="8014"/>
                </a:lnTo>
                <a:lnTo>
                  <a:pt x="841" y="7220"/>
                </a:lnTo>
                <a:lnTo>
                  <a:pt x="1095" y="6580"/>
                </a:lnTo>
                <a:lnTo>
                  <a:pt x="1233" y="5864"/>
                </a:lnTo>
                <a:lnTo>
                  <a:pt x="1550" y="5100"/>
                </a:lnTo>
                <a:lnTo>
                  <a:pt x="1857" y="4477"/>
                </a:lnTo>
                <a:lnTo>
                  <a:pt x="2103" y="3952"/>
                </a:lnTo>
                <a:lnTo>
                  <a:pt x="2570" y="3656"/>
                </a:lnTo>
                <a:lnTo>
                  <a:pt x="3031" y="3215"/>
                </a:lnTo>
                <a:lnTo>
                  <a:pt x="3419" y="2651"/>
                </a:lnTo>
                <a:lnTo>
                  <a:pt x="3839" y="2330"/>
                </a:lnTo>
                <a:lnTo>
                  <a:pt x="4418" y="2019"/>
                </a:lnTo>
                <a:lnTo>
                  <a:pt x="5011" y="1733"/>
                </a:lnTo>
                <a:lnTo>
                  <a:pt x="5510" y="1307"/>
                </a:lnTo>
                <a:lnTo>
                  <a:pt x="6119" y="1060"/>
                </a:lnTo>
                <a:lnTo>
                  <a:pt x="6963" y="844"/>
                </a:lnTo>
                <a:lnTo>
                  <a:pt x="7644" y="767"/>
                </a:lnTo>
                <a:lnTo>
                  <a:pt x="8607" y="466"/>
                </a:lnTo>
                <a:lnTo>
                  <a:pt x="9731" y="364"/>
                </a:lnTo>
                <a:lnTo>
                  <a:pt x="10771" y="229"/>
                </a:lnTo>
                <a:lnTo>
                  <a:pt x="12147" y="90"/>
                </a:lnTo>
                <a:lnTo>
                  <a:pt x="13739" y="30"/>
                </a:lnTo>
                <a:lnTo>
                  <a:pt x="15966" y="28"/>
                </a:lnTo>
                <a:lnTo>
                  <a:pt x="23063" y="0"/>
                </a:lnTo>
                <a:lnTo>
                  <a:pt x="30092" y="69"/>
                </a:lnTo>
                <a:lnTo>
                  <a:pt x="32381" y="94"/>
                </a:lnTo>
                <a:lnTo>
                  <a:pt x="34039" y="253"/>
                </a:lnTo>
                <a:lnTo>
                  <a:pt x="35379" y="363"/>
                </a:lnTo>
                <a:lnTo>
                  <a:pt x="36615" y="253"/>
                </a:lnTo>
                <a:lnTo>
                  <a:pt x="37507" y="566"/>
                </a:lnTo>
                <a:lnTo>
                  <a:pt x="38318" y="685"/>
                </a:lnTo>
                <a:lnTo>
                  <a:pt x="39300" y="921"/>
                </a:lnTo>
                <a:lnTo>
                  <a:pt x="39912" y="1026"/>
                </a:lnTo>
                <a:lnTo>
                  <a:pt x="40556" y="1475"/>
                </a:lnTo>
                <a:lnTo>
                  <a:pt x="41122" y="1732"/>
                </a:lnTo>
                <a:lnTo>
                  <a:pt x="41600" y="2070"/>
                </a:lnTo>
                <a:lnTo>
                  <a:pt x="42373" y="2360"/>
                </a:lnTo>
                <a:lnTo>
                  <a:pt x="42722" y="2738"/>
                </a:lnTo>
                <a:lnTo>
                  <a:pt x="43097" y="2991"/>
                </a:lnTo>
                <a:lnTo>
                  <a:pt x="43556" y="3475"/>
                </a:lnTo>
                <a:lnTo>
                  <a:pt x="43847" y="4115"/>
                </a:lnTo>
                <a:lnTo>
                  <a:pt x="44341" y="4522"/>
                </a:lnTo>
                <a:lnTo>
                  <a:pt x="44464" y="5109"/>
                </a:lnTo>
                <a:lnTo>
                  <a:pt x="44826" y="5750"/>
                </a:lnTo>
                <a:lnTo>
                  <a:pt x="44991" y="6363"/>
                </a:lnTo>
                <a:lnTo>
                  <a:pt x="45346" y="7123"/>
                </a:lnTo>
                <a:lnTo>
                  <a:pt x="45474" y="7922"/>
                </a:lnTo>
                <a:lnTo>
                  <a:pt x="45778" y="8834"/>
                </a:lnTo>
                <a:lnTo>
                  <a:pt x="45865" y="10021"/>
                </a:lnTo>
                <a:lnTo>
                  <a:pt x="45897" y="11085"/>
                </a:lnTo>
                <a:lnTo>
                  <a:pt x="45972" y="12565"/>
                </a:lnTo>
                <a:lnTo>
                  <a:pt x="46036" y="14051"/>
                </a:lnTo>
                <a:lnTo>
                  <a:pt x="46174" y="16514"/>
                </a:lnTo>
                <a:lnTo>
                  <a:pt x="46167" y="23682"/>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4796942" y="5167274"/>
            <a:ext cx="56418" cy="356525"/>
          </a:xfrm>
          <a:custGeom>
            <a:avLst/>
            <a:gdLst/>
            <a:ahLst/>
            <a:cxnLst/>
            <a:rect l="l" t="t" r="r" b="b"/>
            <a:pathLst>
              <a:path w="617" h="3899">
                <a:moveTo>
                  <a:pt x="617" y="0"/>
                </a:moveTo>
                <a:lnTo>
                  <a:pt x="502" y="1160"/>
                </a:lnTo>
                <a:lnTo>
                  <a:pt x="361" y="2175"/>
                </a:lnTo>
                <a:lnTo>
                  <a:pt x="194" y="3081"/>
                </a:lnTo>
                <a:lnTo>
                  <a:pt x="0" y="389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61434" y="6032022"/>
            <a:ext cx="255118" cy="88697"/>
          </a:xfrm>
          <a:custGeom>
            <a:avLst/>
            <a:gdLst/>
            <a:ahLst/>
            <a:cxnLst/>
            <a:rect l="l" t="t" r="r" b="b"/>
            <a:pathLst>
              <a:path w="2790" h="970">
                <a:moveTo>
                  <a:pt x="2790" y="0"/>
                </a:moveTo>
                <a:lnTo>
                  <a:pt x="2181" y="286"/>
                </a:lnTo>
                <a:lnTo>
                  <a:pt x="1519" y="542"/>
                </a:lnTo>
                <a:lnTo>
                  <a:pt x="795" y="770"/>
                </a:lnTo>
                <a:lnTo>
                  <a:pt x="0" y="97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288847" y="6102431"/>
            <a:ext cx="346649" cy="57973"/>
          </a:xfrm>
          <a:custGeom>
            <a:avLst/>
            <a:gdLst/>
            <a:ahLst/>
            <a:cxnLst/>
            <a:rect l="l" t="t" r="r" b="b"/>
            <a:pathLst>
              <a:path w="3791" h="634">
                <a:moveTo>
                  <a:pt x="3791" y="634"/>
                </a:moveTo>
                <a:lnTo>
                  <a:pt x="2664" y="516"/>
                </a:lnTo>
                <a:lnTo>
                  <a:pt x="1676" y="371"/>
                </a:lnTo>
                <a:lnTo>
                  <a:pt x="795" y="200"/>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08294" y="5449001"/>
            <a:ext cx="86136" cy="262341"/>
          </a:xfrm>
          <a:custGeom>
            <a:avLst/>
            <a:gdLst/>
            <a:ahLst/>
            <a:cxnLst/>
            <a:rect l="l" t="t" r="r" b="b"/>
            <a:pathLst>
              <a:path w="942" h="2869">
                <a:moveTo>
                  <a:pt x="942" y="2869"/>
                </a:moveTo>
                <a:lnTo>
                  <a:pt x="664" y="2243"/>
                </a:lnTo>
                <a:lnTo>
                  <a:pt x="415" y="1562"/>
                </a:lnTo>
                <a:lnTo>
                  <a:pt x="194" y="818"/>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69615" y="2495489"/>
            <a:ext cx="56418" cy="356525"/>
          </a:xfrm>
          <a:custGeom>
            <a:avLst/>
            <a:gdLst/>
            <a:ahLst/>
            <a:cxnLst/>
            <a:rect l="l" t="t" r="r" b="b"/>
            <a:pathLst>
              <a:path w="617" h="3899">
                <a:moveTo>
                  <a:pt x="0" y="3899"/>
                </a:moveTo>
                <a:lnTo>
                  <a:pt x="115" y="2739"/>
                </a:lnTo>
                <a:lnTo>
                  <a:pt x="256" y="1724"/>
                </a:lnTo>
                <a:lnTo>
                  <a:pt x="423" y="818"/>
                </a:lnTo>
                <a:lnTo>
                  <a:pt x="617"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106424" y="1898569"/>
            <a:ext cx="255118" cy="88697"/>
          </a:xfrm>
          <a:custGeom>
            <a:avLst/>
            <a:gdLst/>
            <a:ahLst/>
            <a:cxnLst/>
            <a:rect l="l" t="t" r="r" b="b"/>
            <a:pathLst>
              <a:path w="2790" h="970">
                <a:moveTo>
                  <a:pt x="0" y="970"/>
                </a:moveTo>
                <a:lnTo>
                  <a:pt x="609" y="684"/>
                </a:lnTo>
                <a:lnTo>
                  <a:pt x="1271" y="428"/>
                </a:lnTo>
                <a:lnTo>
                  <a:pt x="1995" y="200"/>
                </a:lnTo>
                <a:lnTo>
                  <a:pt x="279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887480" y="1858884"/>
            <a:ext cx="346649" cy="57973"/>
          </a:xfrm>
          <a:custGeom>
            <a:avLst/>
            <a:gdLst/>
            <a:ahLst/>
            <a:cxnLst/>
            <a:rect l="l" t="t" r="r" b="b"/>
            <a:pathLst>
              <a:path w="3791" h="634">
                <a:moveTo>
                  <a:pt x="0" y="0"/>
                </a:moveTo>
                <a:lnTo>
                  <a:pt x="1127" y="118"/>
                </a:lnTo>
                <a:lnTo>
                  <a:pt x="2115" y="263"/>
                </a:lnTo>
                <a:lnTo>
                  <a:pt x="2996" y="434"/>
                </a:lnTo>
                <a:lnTo>
                  <a:pt x="3791" y="63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728545" y="2307946"/>
            <a:ext cx="86136" cy="262341"/>
          </a:xfrm>
          <a:custGeom>
            <a:avLst/>
            <a:gdLst/>
            <a:ahLst/>
            <a:cxnLst/>
            <a:rect l="l" t="t" r="r" b="b"/>
            <a:pathLst>
              <a:path w="942" h="2869">
                <a:moveTo>
                  <a:pt x="0" y="0"/>
                </a:moveTo>
                <a:lnTo>
                  <a:pt x="278" y="626"/>
                </a:lnTo>
                <a:lnTo>
                  <a:pt x="527" y="1307"/>
                </a:lnTo>
                <a:lnTo>
                  <a:pt x="748" y="2051"/>
                </a:lnTo>
                <a:lnTo>
                  <a:pt x="942" y="286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Python package"/>
          <p:cNvSpPr txBox="1"/>
          <p:nvPr/>
        </p:nvSpPr>
        <p:spPr>
          <a:xfrm>
            <a:off x="996695" y="2106930"/>
            <a:ext cx="352958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Python package</a:t>
            </a:r>
          </a:p>
        </p:txBody>
      </p:sp>
      <p:sp>
        <p:nvSpPr>
          <p:cNvPr id="24" name="Oval 23"/>
          <p:cNvSpPr/>
          <p:nvPr/>
        </p:nvSpPr>
        <p:spPr>
          <a:xfrm>
            <a:off x="909828" y="317182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Incident observer scorers"/>
          <p:cNvSpPr txBox="1"/>
          <p:nvPr/>
        </p:nvSpPr>
        <p:spPr>
          <a:xfrm>
            <a:off x="1143000" y="3071240"/>
            <a:ext cx="3483864" cy="407289"/>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Incident observer scorers</a:t>
            </a:r>
          </a:p>
        </p:txBody>
      </p:sp>
      <p:sp>
        <p:nvSpPr>
          <p:cNvPr id="26" name="Oval 25"/>
          <p:cNvSpPr/>
          <p:nvPr/>
        </p:nvSpPr>
        <p:spPr>
          <a:xfrm>
            <a:off x="909828" y="369798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Action monitor as a tool-call approver"/>
          <p:cNvSpPr txBox="1"/>
          <p:nvPr/>
        </p:nvSpPr>
        <p:spPr>
          <a:xfrm>
            <a:off x="1143000" y="3597401"/>
            <a:ext cx="3483864" cy="745998"/>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Action monitor as a</a:t>
            </a:r>
            <a:br/>
            <a:r>
              <a:rPr sz="2100" b="0">
                <a:solidFill>
                  <a:srgbClr val="293E46"/>
                </a:solidFill>
                <a:latin typeface="Trebuchet MS"/>
              </a:rPr>
              <a:t>tool-call approver</a:t>
            </a:r>
          </a:p>
        </p:txBody>
      </p:sp>
      <p:sp>
        <p:nvSpPr>
          <p:cNvPr id="28" name="Oval 27"/>
          <p:cNvSpPr/>
          <p:nvPr/>
        </p:nvSpPr>
        <p:spPr>
          <a:xfrm>
            <a:off x="909828" y="4562855"/>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Replay toolbox"/>
          <p:cNvSpPr txBox="1"/>
          <p:nvPr/>
        </p:nvSpPr>
        <p:spPr>
          <a:xfrm>
            <a:off x="1143000" y="4462271"/>
            <a:ext cx="3483864" cy="407289"/>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Replay toolbox</a:t>
            </a:r>
          </a:p>
        </p:txBody>
      </p:sp>
      <p:sp>
        <p:nvSpPr>
          <p:cNvPr id="30" name="Oval 29"/>
          <p:cNvSpPr/>
          <p:nvPr/>
        </p:nvSpPr>
        <p:spPr>
          <a:xfrm>
            <a:off x="909828" y="508901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ody: Optimizer CLI with regression gate"/>
          <p:cNvSpPr txBox="1"/>
          <p:nvPr/>
        </p:nvSpPr>
        <p:spPr>
          <a:xfrm>
            <a:off x="1143000" y="4988432"/>
            <a:ext cx="3483864" cy="745998"/>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Optimizer CLI with</a:t>
            </a:r>
            <a:br/>
            <a:r>
              <a:rPr sz="2100" b="0">
                <a:solidFill>
                  <a:srgbClr val="293E46"/>
                </a:solidFill>
                <a:latin typeface="Trebuchet MS"/>
              </a:rPr>
              <a:t>regression gate</a:t>
            </a:r>
          </a:p>
        </p:txBody>
      </p:sp>
      <p:sp>
        <p:nvSpPr>
          <p:cNvPr id="32" name="Rounded Rectangle 31"/>
          <p:cNvSpPr/>
          <p:nvPr/>
        </p:nvSpPr>
        <p:spPr>
          <a:xfrm>
            <a:off x="5193792" y="1828800"/>
            <a:ext cx="4242816" cy="4361688"/>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5197632" y="1835201"/>
            <a:ext cx="4233123" cy="4351081"/>
          </a:xfrm>
          <a:custGeom>
            <a:avLst/>
            <a:gdLst/>
            <a:ahLst/>
            <a:cxnLst/>
            <a:rect l="l" t="t" r="r" b="b"/>
            <a:pathLst>
              <a:path w="46294" h="47584">
                <a:moveTo>
                  <a:pt x="46115" y="23756"/>
                </a:moveTo>
                <a:lnTo>
                  <a:pt x="46253" y="31146"/>
                </a:lnTo>
                <a:lnTo>
                  <a:pt x="46294" y="33315"/>
                </a:lnTo>
                <a:lnTo>
                  <a:pt x="46208" y="35147"/>
                </a:lnTo>
                <a:lnTo>
                  <a:pt x="46023" y="36414"/>
                </a:lnTo>
                <a:lnTo>
                  <a:pt x="46003" y="37660"/>
                </a:lnTo>
                <a:lnTo>
                  <a:pt x="45835" y="38607"/>
                </a:lnTo>
                <a:lnTo>
                  <a:pt x="45634" y="39508"/>
                </a:lnTo>
                <a:lnTo>
                  <a:pt x="45373" y="40278"/>
                </a:lnTo>
                <a:lnTo>
                  <a:pt x="45191" y="41167"/>
                </a:lnTo>
                <a:lnTo>
                  <a:pt x="44955" y="41882"/>
                </a:lnTo>
                <a:lnTo>
                  <a:pt x="44623" y="42399"/>
                </a:lnTo>
                <a:lnTo>
                  <a:pt x="44406" y="42954"/>
                </a:lnTo>
                <a:lnTo>
                  <a:pt x="44105" y="43391"/>
                </a:lnTo>
                <a:lnTo>
                  <a:pt x="43629" y="44080"/>
                </a:lnTo>
                <a:lnTo>
                  <a:pt x="43129" y="44371"/>
                </a:lnTo>
                <a:lnTo>
                  <a:pt x="42940" y="44842"/>
                </a:lnTo>
                <a:lnTo>
                  <a:pt x="42211" y="45292"/>
                </a:lnTo>
                <a:lnTo>
                  <a:pt x="41782" y="45589"/>
                </a:lnTo>
                <a:lnTo>
                  <a:pt x="41275" y="45959"/>
                </a:lnTo>
                <a:lnTo>
                  <a:pt x="40755" y="46176"/>
                </a:lnTo>
                <a:lnTo>
                  <a:pt x="40106" y="46443"/>
                </a:lnTo>
                <a:lnTo>
                  <a:pt x="39268" y="46695"/>
                </a:lnTo>
                <a:lnTo>
                  <a:pt x="38402" y="46796"/>
                </a:lnTo>
                <a:lnTo>
                  <a:pt x="37716" y="47040"/>
                </a:lnTo>
                <a:lnTo>
                  <a:pt x="36559" y="47171"/>
                </a:lnTo>
                <a:lnTo>
                  <a:pt x="35568" y="47225"/>
                </a:lnTo>
                <a:lnTo>
                  <a:pt x="34163" y="47298"/>
                </a:lnTo>
                <a:lnTo>
                  <a:pt x="32427" y="47522"/>
                </a:lnTo>
                <a:lnTo>
                  <a:pt x="30184" y="47584"/>
                </a:lnTo>
                <a:lnTo>
                  <a:pt x="23244" y="47413"/>
                </a:lnTo>
                <a:lnTo>
                  <a:pt x="16159" y="47438"/>
                </a:lnTo>
                <a:lnTo>
                  <a:pt x="13711" y="47556"/>
                </a:lnTo>
                <a:lnTo>
                  <a:pt x="12225" y="47420"/>
                </a:lnTo>
                <a:lnTo>
                  <a:pt x="10969" y="47296"/>
                </a:lnTo>
                <a:lnTo>
                  <a:pt x="9842" y="47169"/>
                </a:lnTo>
                <a:lnTo>
                  <a:pt x="8797" y="47143"/>
                </a:lnTo>
                <a:lnTo>
                  <a:pt x="7963" y="46754"/>
                </a:lnTo>
                <a:lnTo>
                  <a:pt x="6974" y="46561"/>
                </a:lnTo>
                <a:lnTo>
                  <a:pt x="6412" y="46327"/>
                </a:lnTo>
                <a:lnTo>
                  <a:pt x="5640" y="46151"/>
                </a:lnTo>
                <a:lnTo>
                  <a:pt x="5125" y="46003"/>
                </a:lnTo>
                <a:lnTo>
                  <a:pt x="4474" y="45499"/>
                </a:lnTo>
                <a:lnTo>
                  <a:pt x="4040" y="45123"/>
                </a:lnTo>
                <a:lnTo>
                  <a:pt x="3625" y="44931"/>
                </a:lnTo>
                <a:lnTo>
                  <a:pt x="3124" y="44389"/>
                </a:lnTo>
                <a:lnTo>
                  <a:pt x="2582" y="44091"/>
                </a:lnTo>
                <a:lnTo>
                  <a:pt x="2165" y="43478"/>
                </a:lnTo>
                <a:lnTo>
                  <a:pt x="2063" y="42916"/>
                </a:lnTo>
                <a:lnTo>
                  <a:pt x="1687" y="42452"/>
                </a:lnTo>
                <a:lnTo>
                  <a:pt x="1476" y="41706"/>
                </a:lnTo>
                <a:lnTo>
                  <a:pt x="1203" y="41025"/>
                </a:lnTo>
                <a:lnTo>
                  <a:pt x="918" y="40452"/>
                </a:lnTo>
                <a:lnTo>
                  <a:pt x="789" y="39602"/>
                </a:lnTo>
                <a:lnTo>
                  <a:pt x="410" y="38730"/>
                </a:lnTo>
                <a:lnTo>
                  <a:pt x="364" y="37519"/>
                </a:lnTo>
                <a:lnTo>
                  <a:pt x="246" y="36437"/>
                </a:lnTo>
                <a:lnTo>
                  <a:pt x="137" y="35129"/>
                </a:lnTo>
                <a:lnTo>
                  <a:pt x="130" y="33453"/>
                </a:lnTo>
                <a:lnTo>
                  <a:pt x="66" y="31137"/>
                </a:lnTo>
                <a:lnTo>
                  <a:pt x="45" y="23835"/>
                </a:lnTo>
                <a:lnTo>
                  <a:pt x="24" y="16503"/>
                </a:lnTo>
                <a:lnTo>
                  <a:pt x="0" y="14076"/>
                </a:lnTo>
                <a:lnTo>
                  <a:pt x="105" y="12533"/>
                </a:lnTo>
                <a:lnTo>
                  <a:pt x="363" y="11060"/>
                </a:lnTo>
                <a:lnTo>
                  <a:pt x="454" y="9855"/>
                </a:lnTo>
                <a:lnTo>
                  <a:pt x="436" y="8956"/>
                </a:lnTo>
                <a:lnTo>
                  <a:pt x="634" y="8105"/>
                </a:lnTo>
                <a:lnTo>
                  <a:pt x="945" y="7286"/>
                </a:lnTo>
                <a:lnTo>
                  <a:pt x="1069" y="6372"/>
                </a:lnTo>
                <a:lnTo>
                  <a:pt x="1441" y="5889"/>
                </a:lnTo>
                <a:lnTo>
                  <a:pt x="1575" y="5061"/>
                </a:lnTo>
                <a:lnTo>
                  <a:pt x="1912" y="4685"/>
                </a:lnTo>
                <a:lnTo>
                  <a:pt x="2362" y="4147"/>
                </a:lnTo>
                <a:lnTo>
                  <a:pt x="2628" y="3673"/>
                </a:lnTo>
                <a:lnTo>
                  <a:pt x="2947" y="3236"/>
                </a:lnTo>
                <a:lnTo>
                  <a:pt x="3576" y="2678"/>
                </a:lnTo>
                <a:lnTo>
                  <a:pt x="3893" y="2263"/>
                </a:lnTo>
                <a:lnTo>
                  <a:pt x="4446" y="1983"/>
                </a:lnTo>
                <a:lnTo>
                  <a:pt x="5183" y="1592"/>
                </a:lnTo>
                <a:lnTo>
                  <a:pt x="5728" y="1434"/>
                </a:lnTo>
                <a:lnTo>
                  <a:pt x="6390" y="1093"/>
                </a:lnTo>
                <a:lnTo>
                  <a:pt x="7129" y="922"/>
                </a:lnTo>
                <a:lnTo>
                  <a:pt x="7755" y="810"/>
                </a:lnTo>
                <a:lnTo>
                  <a:pt x="8617" y="524"/>
                </a:lnTo>
                <a:lnTo>
                  <a:pt x="9804" y="285"/>
                </a:lnTo>
                <a:lnTo>
                  <a:pt x="10768" y="356"/>
                </a:lnTo>
                <a:lnTo>
                  <a:pt x="12151" y="191"/>
                </a:lnTo>
                <a:lnTo>
                  <a:pt x="13909" y="194"/>
                </a:lnTo>
                <a:lnTo>
                  <a:pt x="16116" y="56"/>
                </a:lnTo>
                <a:lnTo>
                  <a:pt x="23200" y="89"/>
                </a:lnTo>
                <a:lnTo>
                  <a:pt x="30315" y="0"/>
                </a:lnTo>
                <a:lnTo>
                  <a:pt x="32570" y="96"/>
                </a:lnTo>
                <a:lnTo>
                  <a:pt x="34175" y="58"/>
                </a:lnTo>
                <a:lnTo>
                  <a:pt x="35352" y="318"/>
                </a:lnTo>
                <a:lnTo>
                  <a:pt x="36704" y="338"/>
                </a:lnTo>
                <a:lnTo>
                  <a:pt x="37586" y="614"/>
                </a:lnTo>
                <a:lnTo>
                  <a:pt x="38348" y="763"/>
                </a:lnTo>
                <a:lnTo>
                  <a:pt x="39262" y="970"/>
                </a:lnTo>
                <a:lnTo>
                  <a:pt x="40099" y="1204"/>
                </a:lnTo>
                <a:lnTo>
                  <a:pt x="40748" y="1350"/>
                </a:lnTo>
                <a:lnTo>
                  <a:pt x="41386" y="1738"/>
                </a:lnTo>
                <a:lnTo>
                  <a:pt x="41910" y="1982"/>
                </a:lnTo>
                <a:lnTo>
                  <a:pt x="42418" y="2254"/>
                </a:lnTo>
                <a:lnTo>
                  <a:pt x="42734" y="2731"/>
                </a:lnTo>
                <a:lnTo>
                  <a:pt x="43375" y="3016"/>
                </a:lnTo>
                <a:lnTo>
                  <a:pt x="43686" y="3469"/>
                </a:lnTo>
                <a:lnTo>
                  <a:pt x="43897" y="4062"/>
                </a:lnTo>
                <a:lnTo>
                  <a:pt x="44487" y="4606"/>
                </a:lnTo>
                <a:lnTo>
                  <a:pt x="44704" y="5111"/>
                </a:lnTo>
                <a:lnTo>
                  <a:pt x="45049" y="5677"/>
                </a:lnTo>
                <a:lnTo>
                  <a:pt x="45314" y="6514"/>
                </a:lnTo>
                <a:lnTo>
                  <a:pt x="45509" y="7317"/>
                </a:lnTo>
                <a:lnTo>
                  <a:pt x="45678" y="8131"/>
                </a:lnTo>
                <a:lnTo>
                  <a:pt x="45688" y="9027"/>
                </a:lnTo>
                <a:lnTo>
                  <a:pt x="45864" y="10025"/>
                </a:lnTo>
                <a:lnTo>
                  <a:pt x="46127" y="11238"/>
                </a:lnTo>
                <a:lnTo>
                  <a:pt x="46055" y="12471"/>
                </a:lnTo>
                <a:lnTo>
                  <a:pt x="46086" y="14060"/>
                </a:lnTo>
                <a:lnTo>
                  <a:pt x="46199" y="16387"/>
                </a:lnTo>
                <a:lnTo>
                  <a:pt x="46260" y="23853"/>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5199096" y="1836572"/>
            <a:ext cx="4235867" cy="4350167"/>
          </a:xfrm>
          <a:custGeom>
            <a:avLst/>
            <a:gdLst/>
            <a:ahLst/>
            <a:cxnLst/>
            <a:rect l="l" t="t" r="r" b="b"/>
            <a:pathLst>
              <a:path w="46324" h="47574">
                <a:moveTo>
                  <a:pt x="46282" y="23741"/>
                </a:moveTo>
                <a:lnTo>
                  <a:pt x="46189" y="31170"/>
                </a:lnTo>
                <a:lnTo>
                  <a:pt x="46208" y="33478"/>
                </a:lnTo>
                <a:lnTo>
                  <a:pt x="46074" y="35093"/>
                </a:lnTo>
                <a:lnTo>
                  <a:pt x="46060" y="36496"/>
                </a:lnTo>
                <a:lnTo>
                  <a:pt x="45932" y="37576"/>
                </a:lnTo>
                <a:lnTo>
                  <a:pt x="45678" y="38533"/>
                </a:lnTo>
                <a:lnTo>
                  <a:pt x="45557" y="39489"/>
                </a:lnTo>
                <a:lnTo>
                  <a:pt x="45291" y="40253"/>
                </a:lnTo>
                <a:lnTo>
                  <a:pt x="45114" y="40951"/>
                </a:lnTo>
                <a:lnTo>
                  <a:pt x="44817" y="41655"/>
                </a:lnTo>
                <a:lnTo>
                  <a:pt x="44535" y="42403"/>
                </a:lnTo>
                <a:lnTo>
                  <a:pt x="44377" y="43008"/>
                </a:lnTo>
                <a:lnTo>
                  <a:pt x="44077" y="43458"/>
                </a:lnTo>
                <a:lnTo>
                  <a:pt x="43752" y="43974"/>
                </a:lnTo>
                <a:lnTo>
                  <a:pt x="43240" y="44456"/>
                </a:lnTo>
                <a:lnTo>
                  <a:pt x="42800" y="44948"/>
                </a:lnTo>
                <a:lnTo>
                  <a:pt x="42375" y="45157"/>
                </a:lnTo>
                <a:lnTo>
                  <a:pt x="41903" y="45660"/>
                </a:lnTo>
                <a:lnTo>
                  <a:pt x="41275" y="45819"/>
                </a:lnTo>
                <a:lnTo>
                  <a:pt x="40532" y="46248"/>
                </a:lnTo>
                <a:lnTo>
                  <a:pt x="40067" y="46439"/>
                </a:lnTo>
                <a:lnTo>
                  <a:pt x="39295" y="46732"/>
                </a:lnTo>
                <a:lnTo>
                  <a:pt x="38398" y="46801"/>
                </a:lnTo>
                <a:lnTo>
                  <a:pt x="37635" y="46928"/>
                </a:lnTo>
                <a:lnTo>
                  <a:pt x="36609" y="47172"/>
                </a:lnTo>
                <a:lnTo>
                  <a:pt x="35363" y="47263"/>
                </a:lnTo>
                <a:lnTo>
                  <a:pt x="34228" y="47320"/>
                </a:lnTo>
                <a:lnTo>
                  <a:pt x="32562" y="47519"/>
                </a:lnTo>
                <a:lnTo>
                  <a:pt x="30290" y="47574"/>
                </a:lnTo>
                <a:lnTo>
                  <a:pt x="23121" y="47415"/>
                </a:lnTo>
                <a:lnTo>
                  <a:pt x="16111" y="47451"/>
                </a:lnTo>
                <a:lnTo>
                  <a:pt x="13702" y="47366"/>
                </a:lnTo>
                <a:lnTo>
                  <a:pt x="12219" y="47483"/>
                </a:lnTo>
                <a:lnTo>
                  <a:pt x="10746" y="47294"/>
                </a:lnTo>
                <a:lnTo>
                  <a:pt x="9821" y="47267"/>
                </a:lnTo>
                <a:lnTo>
                  <a:pt x="8597" y="46974"/>
                </a:lnTo>
                <a:lnTo>
                  <a:pt x="7836" y="46778"/>
                </a:lnTo>
                <a:lnTo>
                  <a:pt x="7072" y="46583"/>
                </a:lnTo>
                <a:lnTo>
                  <a:pt x="6264" y="46424"/>
                </a:lnTo>
                <a:lnTo>
                  <a:pt x="5699" y="46137"/>
                </a:lnTo>
                <a:lnTo>
                  <a:pt x="5011" y="45878"/>
                </a:lnTo>
                <a:lnTo>
                  <a:pt x="4569" y="45506"/>
                </a:lnTo>
                <a:lnTo>
                  <a:pt x="4058" y="45274"/>
                </a:lnTo>
                <a:lnTo>
                  <a:pt x="3498" y="44905"/>
                </a:lnTo>
                <a:lnTo>
                  <a:pt x="2950" y="44516"/>
                </a:lnTo>
                <a:lnTo>
                  <a:pt x="2615" y="44011"/>
                </a:lnTo>
                <a:lnTo>
                  <a:pt x="2161" y="43416"/>
                </a:lnTo>
                <a:lnTo>
                  <a:pt x="1821" y="42904"/>
                </a:lnTo>
                <a:lnTo>
                  <a:pt x="1527" y="42256"/>
                </a:lnTo>
                <a:lnTo>
                  <a:pt x="1397" y="41788"/>
                </a:lnTo>
                <a:lnTo>
                  <a:pt x="1194" y="41086"/>
                </a:lnTo>
                <a:lnTo>
                  <a:pt x="868" y="40307"/>
                </a:lnTo>
                <a:lnTo>
                  <a:pt x="608" y="39608"/>
                </a:lnTo>
                <a:lnTo>
                  <a:pt x="526" y="38551"/>
                </a:lnTo>
                <a:lnTo>
                  <a:pt x="493" y="37559"/>
                </a:lnTo>
                <a:lnTo>
                  <a:pt x="151" y="36528"/>
                </a:lnTo>
                <a:lnTo>
                  <a:pt x="138" y="35015"/>
                </a:lnTo>
                <a:lnTo>
                  <a:pt x="240" y="33365"/>
                </a:lnTo>
                <a:lnTo>
                  <a:pt x="44" y="31058"/>
                </a:lnTo>
                <a:lnTo>
                  <a:pt x="161" y="23700"/>
                </a:lnTo>
                <a:lnTo>
                  <a:pt x="131" y="16504"/>
                </a:lnTo>
                <a:lnTo>
                  <a:pt x="0" y="14047"/>
                </a:lnTo>
                <a:lnTo>
                  <a:pt x="182" y="12396"/>
                </a:lnTo>
                <a:lnTo>
                  <a:pt x="186" y="11060"/>
                </a:lnTo>
                <a:lnTo>
                  <a:pt x="444" y="9937"/>
                </a:lnTo>
                <a:lnTo>
                  <a:pt x="431" y="8895"/>
                </a:lnTo>
                <a:lnTo>
                  <a:pt x="669" y="8135"/>
                </a:lnTo>
                <a:lnTo>
                  <a:pt x="998" y="7252"/>
                </a:lnTo>
                <a:lnTo>
                  <a:pt x="1175" y="6567"/>
                </a:lnTo>
                <a:lnTo>
                  <a:pt x="1314" y="5777"/>
                </a:lnTo>
                <a:lnTo>
                  <a:pt x="1543" y="5145"/>
                </a:lnTo>
                <a:lnTo>
                  <a:pt x="1866" y="4682"/>
                </a:lnTo>
                <a:lnTo>
                  <a:pt x="2243" y="4127"/>
                </a:lnTo>
                <a:lnTo>
                  <a:pt x="2672" y="3549"/>
                </a:lnTo>
                <a:lnTo>
                  <a:pt x="2937" y="3203"/>
                </a:lnTo>
                <a:lnTo>
                  <a:pt x="3504" y="2761"/>
                </a:lnTo>
                <a:lnTo>
                  <a:pt x="4069" y="2242"/>
                </a:lnTo>
                <a:lnTo>
                  <a:pt x="4353" y="1881"/>
                </a:lnTo>
                <a:lnTo>
                  <a:pt x="5118" y="1534"/>
                </a:lnTo>
                <a:lnTo>
                  <a:pt x="5769" y="1259"/>
                </a:lnTo>
                <a:lnTo>
                  <a:pt x="6418" y="1059"/>
                </a:lnTo>
                <a:lnTo>
                  <a:pt x="7035" y="884"/>
                </a:lnTo>
                <a:lnTo>
                  <a:pt x="7844" y="779"/>
                </a:lnTo>
                <a:lnTo>
                  <a:pt x="8828" y="423"/>
                </a:lnTo>
                <a:lnTo>
                  <a:pt x="9597" y="393"/>
                </a:lnTo>
                <a:lnTo>
                  <a:pt x="10902" y="240"/>
                </a:lnTo>
                <a:lnTo>
                  <a:pt x="12079" y="248"/>
                </a:lnTo>
                <a:lnTo>
                  <a:pt x="13762" y="106"/>
                </a:lnTo>
                <a:lnTo>
                  <a:pt x="16098" y="127"/>
                </a:lnTo>
                <a:lnTo>
                  <a:pt x="23103" y="0"/>
                </a:lnTo>
                <a:lnTo>
                  <a:pt x="30303" y="76"/>
                </a:lnTo>
                <a:lnTo>
                  <a:pt x="32555" y="13"/>
                </a:lnTo>
                <a:lnTo>
                  <a:pt x="34224" y="99"/>
                </a:lnTo>
                <a:lnTo>
                  <a:pt x="35443" y="291"/>
                </a:lnTo>
                <a:lnTo>
                  <a:pt x="36469" y="405"/>
                </a:lnTo>
                <a:lnTo>
                  <a:pt x="37647" y="489"/>
                </a:lnTo>
                <a:lnTo>
                  <a:pt x="38463" y="735"/>
                </a:lnTo>
                <a:lnTo>
                  <a:pt x="39179" y="950"/>
                </a:lnTo>
                <a:lnTo>
                  <a:pt x="39920" y="1081"/>
                </a:lnTo>
                <a:lnTo>
                  <a:pt x="40706" y="1259"/>
                </a:lnTo>
                <a:lnTo>
                  <a:pt x="41245" y="1722"/>
                </a:lnTo>
                <a:lnTo>
                  <a:pt x="41812" y="2075"/>
                </a:lnTo>
                <a:lnTo>
                  <a:pt x="42226" y="2364"/>
                </a:lnTo>
                <a:lnTo>
                  <a:pt x="42669" y="2587"/>
                </a:lnTo>
                <a:lnTo>
                  <a:pt x="43261" y="3068"/>
                </a:lnTo>
                <a:lnTo>
                  <a:pt x="43679" y="3472"/>
                </a:lnTo>
                <a:lnTo>
                  <a:pt x="44127" y="4041"/>
                </a:lnTo>
                <a:lnTo>
                  <a:pt x="44309" y="4650"/>
                </a:lnTo>
                <a:lnTo>
                  <a:pt x="44638" y="5136"/>
                </a:lnTo>
                <a:lnTo>
                  <a:pt x="44871" y="5857"/>
                </a:lnTo>
                <a:lnTo>
                  <a:pt x="45207" y="6544"/>
                </a:lnTo>
                <a:lnTo>
                  <a:pt x="45475" y="7150"/>
                </a:lnTo>
                <a:lnTo>
                  <a:pt x="45672" y="7986"/>
                </a:lnTo>
                <a:lnTo>
                  <a:pt x="45834" y="8859"/>
                </a:lnTo>
                <a:lnTo>
                  <a:pt x="45890" y="9910"/>
                </a:lnTo>
                <a:lnTo>
                  <a:pt x="45972" y="11206"/>
                </a:lnTo>
                <a:lnTo>
                  <a:pt x="46049" y="12515"/>
                </a:lnTo>
                <a:lnTo>
                  <a:pt x="46270" y="14151"/>
                </a:lnTo>
                <a:lnTo>
                  <a:pt x="46310" y="16593"/>
                </a:lnTo>
                <a:lnTo>
                  <a:pt x="46324" y="23663"/>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9350654" y="5167274"/>
            <a:ext cx="56418" cy="356525"/>
          </a:xfrm>
          <a:custGeom>
            <a:avLst/>
            <a:gdLst/>
            <a:ahLst/>
            <a:cxnLst/>
            <a:rect l="l" t="t" r="r" b="b"/>
            <a:pathLst>
              <a:path w="617" h="3899">
                <a:moveTo>
                  <a:pt x="617" y="0"/>
                </a:moveTo>
                <a:lnTo>
                  <a:pt x="502" y="1160"/>
                </a:lnTo>
                <a:lnTo>
                  <a:pt x="361" y="2175"/>
                </a:lnTo>
                <a:lnTo>
                  <a:pt x="194" y="3081"/>
                </a:lnTo>
                <a:lnTo>
                  <a:pt x="0" y="389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8715146" y="6032022"/>
            <a:ext cx="255118" cy="88697"/>
          </a:xfrm>
          <a:custGeom>
            <a:avLst/>
            <a:gdLst/>
            <a:ahLst/>
            <a:cxnLst/>
            <a:rect l="l" t="t" r="r" b="b"/>
            <a:pathLst>
              <a:path w="2790" h="970">
                <a:moveTo>
                  <a:pt x="2790" y="0"/>
                </a:moveTo>
                <a:lnTo>
                  <a:pt x="2181" y="286"/>
                </a:lnTo>
                <a:lnTo>
                  <a:pt x="1519" y="542"/>
                </a:lnTo>
                <a:lnTo>
                  <a:pt x="795" y="770"/>
                </a:lnTo>
                <a:lnTo>
                  <a:pt x="0" y="97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5842559" y="6102431"/>
            <a:ext cx="346649" cy="57973"/>
          </a:xfrm>
          <a:custGeom>
            <a:avLst/>
            <a:gdLst/>
            <a:ahLst/>
            <a:cxnLst/>
            <a:rect l="l" t="t" r="r" b="b"/>
            <a:pathLst>
              <a:path w="3791" h="634">
                <a:moveTo>
                  <a:pt x="3791" y="634"/>
                </a:moveTo>
                <a:lnTo>
                  <a:pt x="2664" y="516"/>
                </a:lnTo>
                <a:lnTo>
                  <a:pt x="1676" y="371"/>
                </a:lnTo>
                <a:lnTo>
                  <a:pt x="795" y="200"/>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5262006" y="5449001"/>
            <a:ext cx="86136" cy="262341"/>
          </a:xfrm>
          <a:custGeom>
            <a:avLst/>
            <a:gdLst/>
            <a:ahLst/>
            <a:cxnLst/>
            <a:rect l="l" t="t" r="r" b="b"/>
            <a:pathLst>
              <a:path w="942" h="2869">
                <a:moveTo>
                  <a:pt x="942" y="2869"/>
                </a:moveTo>
                <a:lnTo>
                  <a:pt x="664" y="2243"/>
                </a:lnTo>
                <a:lnTo>
                  <a:pt x="415" y="1562"/>
                </a:lnTo>
                <a:lnTo>
                  <a:pt x="194" y="818"/>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5223327" y="2495489"/>
            <a:ext cx="56418" cy="356525"/>
          </a:xfrm>
          <a:custGeom>
            <a:avLst/>
            <a:gdLst/>
            <a:ahLst/>
            <a:cxnLst/>
            <a:rect l="l" t="t" r="r" b="b"/>
            <a:pathLst>
              <a:path w="617" h="3899">
                <a:moveTo>
                  <a:pt x="0" y="3899"/>
                </a:moveTo>
                <a:lnTo>
                  <a:pt x="115" y="2739"/>
                </a:lnTo>
                <a:lnTo>
                  <a:pt x="256" y="1724"/>
                </a:lnTo>
                <a:lnTo>
                  <a:pt x="423" y="818"/>
                </a:lnTo>
                <a:lnTo>
                  <a:pt x="617"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5660136" y="1898569"/>
            <a:ext cx="255118" cy="88697"/>
          </a:xfrm>
          <a:custGeom>
            <a:avLst/>
            <a:gdLst/>
            <a:ahLst/>
            <a:cxnLst/>
            <a:rect l="l" t="t" r="r" b="b"/>
            <a:pathLst>
              <a:path w="2790" h="970">
                <a:moveTo>
                  <a:pt x="0" y="970"/>
                </a:moveTo>
                <a:lnTo>
                  <a:pt x="609" y="684"/>
                </a:lnTo>
                <a:lnTo>
                  <a:pt x="1271" y="428"/>
                </a:lnTo>
                <a:lnTo>
                  <a:pt x="1995" y="200"/>
                </a:lnTo>
                <a:lnTo>
                  <a:pt x="279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8441192" y="1858884"/>
            <a:ext cx="346649" cy="57973"/>
          </a:xfrm>
          <a:custGeom>
            <a:avLst/>
            <a:gdLst/>
            <a:ahLst/>
            <a:cxnLst/>
            <a:rect l="l" t="t" r="r" b="b"/>
            <a:pathLst>
              <a:path w="3791" h="634">
                <a:moveTo>
                  <a:pt x="0" y="0"/>
                </a:moveTo>
                <a:lnTo>
                  <a:pt x="1127" y="118"/>
                </a:lnTo>
                <a:lnTo>
                  <a:pt x="2115" y="263"/>
                </a:lnTo>
                <a:lnTo>
                  <a:pt x="2996" y="434"/>
                </a:lnTo>
                <a:lnTo>
                  <a:pt x="3791" y="63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9282257" y="2307946"/>
            <a:ext cx="86136" cy="262341"/>
          </a:xfrm>
          <a:custGeom>
            <a:avLst/>
            <a:gdLst/>
            <a:ahLst/>
            <a:cxnLst/>
            <a:rect l="l" t="t" r="r" b="b"/>
            <a:pathLst>
              <a:path w="942" h="2869">
                <a:moveTo>
                  <a:pt x="0" y="0"/>
                </a:moveTo>
                <a:lnTo>
                  <a:pt x="278" y="626"/>
                </a:lnTo>
                <a:lnTo>
                  <a:pt x="527" y="1307"/>
                </a:lnTo>
                <a:lnTo>
                  <a:pt x="748" y="2051"/>
                </a:lnTo>
                <a:lnTo>
                  <a:pt x="942" y="286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dy: Incident library"/>
          <p:cNvSpPr txBox="1"/>
          <p:nvPr/>
        </p:nvSpPr>
        <p:spPr>
          <a:xfrm>
            <a:off x="5550408" y="2106930"/>
            <a:ext cx="352958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9D7B35"/>
                </a:solidFill>
                <a:latin typeface="Chalkboard SE"/>
              </a:rPr>
              <a:t>Incident library</a:t>
            </a:r>
          </a:p>
        </p:txBody>
      </p:sp>
      <p:sp>
        <p:nvSpPr>
          <p:cNvPr id="44" name="Oval 43"/>
          <p:cNvSpPr/>
          <p:nvPr/>
        </p:nvSpPr>
        <p:spPr>
          <a:xfrm>
            <a:off x="5463540" y="3016583"/>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ody: Structured incident records"/>
          <p:cNvSpPr txBox="1"/>
          <p:nvPr/>
        </p:nvSpPr>
        <p:spPr>
          <a:xfrm>
            <a:off x="5696712" y="2915999"/>
            <a:ext cx="3483864" cy="403256"/>
          </a:xfrm>
          <a:prstGeom prst="rect">
            <a:avLst/>
          </a:prstGeom>
          <a:noFill/>
        </p:spPr>
        <p:txBody>
          <a:bodyPr wrap="none" lIns="0" rIns="0" tIns="0" bIns="0" anchor="t">
            <a:noAutofit/>
          </a:bodyPr>
          <a:lstStyle/>
          <a:p>
            <a:pPr algn="l">
              <a:lnSpc>
                <a:spcPts val="2635"/>
              </a:lnSpc>
              <a:spcBef>
                <a:spcPts val="0"/>
              </a:spcBef>
              <a:spcAft>
                <a:spcPts val="0"/>
              </a:spcAft>
            </a:pPr>
            <a:r>
              <a:rPr sz="2075" b="0">
                <a:solidFill>
                  <a:srgbClr val="293E46"/>
                </a:solidFill>
                <a:latin typeface="Trebuchet MS"/>
              </a:rPr>
              <a:t>Structured incident records</a:t>
            </a:r>
          </a:p>
        </p:txBody>
      </p:sp>
      <p:sp>
        <p:nvSpPr>
          <p:cNvPr id="46" name="Oval 45"/>
          <p:cNvSpPr/>
          <p:nvPr/>
        </p:nvSpPr>
        <p:spPr>
          <a:xfrm>
            <a:off x="5463540" y="353871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 Executable cases with benign twins"/>
          <p:cNvSpPr txBox="1"/>
          <p:nvPr/>
        </p:nvSpPr>
        <p:spPr>
          <a:xfrm>
            <a:off x="5696712" y="3438128"/>
            <a:ext cx="3483864" cy="737933"/>
          </a:xfrm>
          <a:prstGeom prst="rect">
            <a:avLst/>
          </a:prstGeom>
          <a:noFill/>
        </p:spPr>
        <p:txBody>
          <a:bodyPr wrap="none" lIns="0" rIns="0" tIns="0" bIns="0" anchor="t">
            <a:noAutofit/>
          </a:bodyPr>
          <a:lstStyle/>
          <a:p>
            <a:pPr algn="l">
              <a:lnSpc>
                <a:spcPts val="2635"/>
              </a:lnSpc>
              <a:spcBef>
                <a:spcPts val="0"/>
              </a:spcBef>
              <a:spcAft>
                <a:spcPts val="0"/>
              </a:spcAft>
            </a:pPr>
            <a:r>
              <a:rPr sz="2075" b="0">
                <a:solidFill>
                  <a:srgbClr val="293E46"/>
                </a:solidFill>
                <a:latin typeface="Trebuchet MS"/>
              </a:rPr>
              <a:t>Executable cases with</a:t>
            </a:r>
            <a:br/>
            <a:r>
              <a:rPr sz="2075" b="0">
                <a:solidFill>
                  <a:srgbClr val="293E46"/>
                </a:solidFill>
                <a:latin typeface="Trebuchet MS"/>
              </a:rPr>
              <a:t>benign twins</a:t>
            </a:r>
          </a:p>
        </p:txBody>
      </p:sp>
      <p:sp>
        <p:nvSpPr>
          <p:cNvPr id="48" name="Oval 47"/>
          <p:cNvSpPr/>
          <p:nvPr/>
        </p:nvSpPr>
        <p:spPr>
          <a:xfrm>
            <a:off x="5463540" y="4395517"/>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ody: Dev / calibration / held-out splits"/>
          <p:cNvSpPr txBox="1"/>
          <p:nvPr/>
        </p:nvSpPr>
        <p:spPr>
          <a:xfrm>
            <a:off x="5696712" y="4294933"/>
            <a:ext cx="3483864" cy="737933"/>
          </a:xfrm>
          <a:prstGeom prst="rect">
            <a:avLst/>
          </a:prstGeom>
          <a:noFill/>
        </p:spPr>
        <p:txBody>
          <a:bodyPr wrap="none" lIns="0" rIns="0" tIns="0" bIns="0" anchor="t">
            <a:noAutofit/>
          </a:bodyPr>
          <a:lstStyle/>
          <a:p>
            <a:pPr algn="l">
              <a:lnSpc>
                <a:spcPts val="2635"/>
              </a:lnSpc>
              <a:spcBef>
                <a:spcPts val="0"/>
              </a:spcBef>
              <a:spcAft>
                <a:spcPts val="0"/>
              </a:spcAft>
            </a:pPr>
            <a:r>
              <a:rPr sz="2075" b="0">
                <a:solidFill>
                  <a:srgbClr val="293E46"/>
                </a:solidFill>
                <a:latin typeface="Trebuchet MS"/>
              </a:rPr>
              <a:t>Dev / calibration / held-out</a:t>
            </a:r>
            <a:br/>
            <a:r>
              <a:rPr sz="2075" b="0">
                <a:solidFill>
                  <a:srgbClr val="293E46"/>
                </a:solidFill>
                <a:latin typeface="Trebuchet MS"/>
              </a:rPr>
              <a:t>splits</a:t>
            </a:r>
          </a:p>
        </p:txBody>
      </p:sp>
      <p:sp>
        <p:nvSpPr>
          <p:cNvPr id="50" name="Oval 49"/>
          <p:cNvSpPr/>
          <p:nvPr/>
        </p:nvSpPr>
        <p:spPr>
          <a:xfrm>
            <a:off x="5463540" y="5252323"/>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ody: Researcher-only; never in the agent's context"/>
          <p:cNvSpPr txBox="1"/>
          <p:nvPr/>
        </p:nvSpPr>
        <p:spPr>
          <a:xfrm>
            <a:off x="5696712" y="5151739"/>
            <a:ext cx="3483864" cy="737933"/>
          </a:xfrm>
          <a:prstGeom prst="rect">
            <a:avLst/>
          </a:prstGeom>
          <a:noFill/>
        </p:spPr>
        <p:txBody>
          <a:bodyPr wrap="none" lIns="0" rIns="0" tIns="0" bIns="0" anchor="t">
            <a:noAutofit/>
          </a:bodyPr>
          <a:lstStyle/>
          <a:p>
            <a:pPr algn="l">
              <a:lnSpc>
                <a:spcPts val="2635"/>
              </a:lnSpc>
              <a:spcBef>
                <a:spcPts val="0"/>
              </a:spcBef>
              <a:spcAft>
                <a:spcPts val="0"/>
              </a:spcAft>
            </a:pPr>
            <a:r>
              <a:rPr sz="2075" b="0">
                <a:solidFill>
                  <a:srgbClr val="293E46"/>
                </a:solidFill>
                <a:latin typeface="Trebuchet MS"/>
              </a:rPr>
              <a:t>Researcher-only; never in</a:t>
            </a:r>
            <a:br/>
            <a:r>
              <a:rPr sz="2075" b="0">
                <a:solidFill>
                  <a:srgbClr val="293E46"/>
                </a:solidFill>
                <a:latin typeface="Trebuchet MS"/>
              </a:rPr>
              <a:t>the agent's context</a:t>
            </a:r>
          </a:p>
        </p:txBody>
      </p:sp>
      <p:sp>
        <p:nvSpPr>
          <p:cNvPr id="52" name="Rounded Rectangle 51"/>
          <p:cNvSpPr/>
          <p:nvPr/>
        </p:nvSpPr>
        <p:spPr>
          <a:xfrm>
            <a:off x="9747504" y="1828800"/>
            <a:ext cx="4242816" cy="4361688"/>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9748327" y="1835018"/>
            <a:ext cx="4240530" cy="4345777"/>
          </a:xfrm>
          <a:custGeom>
            <a:avLst/>
            <a:gdLst/>
            <a:ahLst/>
            <a:cxnLst/>
            <a:rect l="l" t="t" r="r" b="b"/>
            <a:pathLst>
              <a:path w="46375" h="47526">
                <a:moveTo>
                  <a:pt x="46297" y="23852"/>
                </a:moveTo>
                <a:lnTo>
                  <a:pt x="46370" y="31114"/>
                </a:lnTo>
                <a:lnTo>
                  <a:pt x="46267" y="33436"/>
                </a:lnTo>
                <a:lnTo>
                  <a:pt x="46266" y="35037"/>
                </a:lnTo>
                <a:lnTo>
                  <a:pt x="45969" y="36341"/>
                </a:lnTo>
                <a:lnTo>
                  <a:pt x="45947" y="37588"/>
                </a:lnTo>
                <a:lnTo>
                  <a:pt x="45891" y="38507"/>
                </a:lnTo>
                <a:lnTo>
                  <a:pt x="45744" y="39470"/>
                </a:lnTo>
                <a:lnTo>
                  <a:pt x="45330" y="40323"/>
                </a:lnTo>
                <a:lnTo>
                  <a:pt x="45294" y="41061"/>
                </a:lnTo>
                <a:lnTo>
                  <a:pt x="44864" y="41660"/>
                </a:lnTo>
                <a:lnTo>
                  <a:pt x="44630" y="42487"/>
                </a:lnTo>
                <a:lnTo>
                  <a:pt x="44318" y="42985"/>
                </a:lnTo>
                <a:lnTo>
                  <a:pt x="44078" y="43413"/>
                </a:lnTo>
                <a:lnTo>
                  <a:pt x="43745" y="43956"/>
                </a:lnTo>
                <a:lnTo>
                  <a:pt x="43219" y="44383"/>
                </a:lnTo>
                <a:lnTo>
                  <a:pt x="42752" y="44971"/>
                </a:lnTo>
                <a:lnTo>
                  <a:pt x="42428" y="45156"/>
                </a:lnTo>
                <a:lnTo>
                  <a:pt x="41898" y="45687"/>
                </a:lnTo>
                <a:lnTo>
                  <a:pt x="41309" y="45824"/>
                </a:lnTo>
                <a:lnTo>
                  <a:pt x="40603" y="46171"/>
                </a:lnTo>
                <a:lnTo>
                  <a:pt x="39930" y="46434"/>
                </a:lnTo>
                <a:lnTo>
                  <a:pt x="39167" y="46743"/>
                </a:lnTo>
                <a:lnTo>
                  <a:pt x="38439" y="46975"/>
                </a:lnTo>
                <a:lnTo>
                  <a:pt x="37548" y="47025"/>
                </a:lnTo>
                <a:lnTo>
                  <a:pt x="36546" y="47075"/>
                </a:lnTo>
                <a:lnTo>
                  <a:pt x="35526" y="47201"/>
                </a:lnTo>
                <a:lnTo>
                  <a:pt x="34286" y="47449"/>
                </a:lnTo>
                <a:lnTo>
                  <a:pt x="32414" y="47427"/>
                </a:lnTo>
                <a:lnTo>
                  <a:pt x="30224" y="47523"/>
                </a:lnTo>
                <a:lnTo>
                  <a:pt x="23254" y="47526"/>
                </a:lnTo>
                <a:lnTo>
                  <a:pt x="16157" y="47495"/>
                </a:lnTo>
                <a:lnTo>
                  <a:pt x="13854" y="47467"/>
                </a:lnTo>
                <a:lnTo>
                  <a:pt x="12085" y="47295"/>
                </a:lnTo>
                <a:lnTo>
                  <a:pt x="10909" y="47256"/>
                </a:lnTo>
                <a:lnTo>
                  <a:pt x="9631" y="47101"/>
                </a:lnTo>
                <a:lnTo>
                  <a:pt x="8730" y="46978"/>
                </a:lnTo>
                <a:lnTo>
                  <a:pt x="7862" y="46983"/>
                </a:lnTo>
                <a:lnTo>
                  <a:pt x="7089" y="46788"/>
                </a:lnTo>
                <a:lnTo>
                  <a:pt x="6302" y="46500"/>
                </a:lnTo>
                <a:lnTo>
                  <a:pt x="5732" y="46070"/>
                </a:lnTo>
                <a:lnTo>
                  <a:pt x="5167" y="45928"/>
                </a:lnTo>
                <a:lnTo>
                  <a:pt x="4543" y="45638"/>
                </a:lnTo>
                <a:lnTo>
                  <a:pt x="4134" y="45228"/>
                </a:lnTo>
                <a:lnTo>
                  <a:pt x="3529" y="44885"/>
                </a:lnTo>
                <a:lnTo>
                  <a:pt x="3108" y="44530"/>
                </a:lnTo>
                <a:lnTo>
                  <a:pt x="2731" y="44100"/>
                </a:lnTo>
                <a:lnTo>
                  <a:pt x="2390" y="43504"/>
                </a:lnTo>
                <a:lnTo>
                  <a:pt x="2068" y="43034"/>
                </a:lnTo>
                <a:lnTo>
                  <a:pt x="1647" y="42365"/>
                </a:lnTo>
                <a:lnTo>
                  <a:pt x="1411" y="41825"/>
                </a:lnTo>
                <a:lnTo>
                  <a:pt x="1096" y="41122"/>
                </a:lnTo>
                <a:lnTo>
                  <a:pt x="862" y="40247"/>
                </a:lnTo>
                <a:lnTo>
                  <a:pt x="678" y="39524"/>
                </a:lnTo>
                <a:lnTo>
                  <a:pt x="591" y="38610"/>
                </a:lnTo>
                <a:lnTo>
                  <a:pt x="456" y="37689"/>
                </a:lnTo>
                <a:lnTo>
                  <a:pt x="373" y="36498"/>
                </a:lnTo>
                <a:lnTo>
                  <a:pt x="257" y="35198"/>
                </a:lnTo>
                <a:lnTo>
                  <a:pt x="249" y="33321"/>
                </a:lnTo>
                <a:lnTo>
                  <a:pt x="155" y="31166"/>
                </a:lnTo>
                <a:lnTo>
                  <a:pt x="0" y="23704"/>
                </a:lnTo>
                <a:lnTo>
                  <a:pt x="243" y="16394"/>
                </a:lnTo>
                <a:lnTo>
                  <a:pt x="226" y="14082"/>
                </a:lnTo>
                <a:lnTo>
                  <a:pt x="349" y="12598"/>
                </a:lnTo>
                <a:lnTo>
                  <a:pt x="300" y="11214"/>
                </a:lnTo>
                <a:lnTo>
                  <a:pt x="557" y="9921"/>
                </a:lnTo>
                <a:lnTo>
                  <a:pt x="566" y="8852"/>
                </a:lnTo>
                <a:lnTo>
                  <a:pt x="633" y="7922"/>
                </a:lnTo>
                <a:lnTo>
                  <a:pt x="896" y="7201"/>
                </a:lnTo>
                <a:lnTo>
                  <a:pt x="1084" y="6389"/>
                </a:lnTo>
                <a:lnTo>
                  <a:pt x="1504" y="5748"/>
                </a:lnTo>
                <a:lnTo>
                  <a:pt x="1558" y="5058"/>
                </a:lnTo>
                <a:lnTo>
                  <a:pt x="1897" y="4639"/>
                </a:lnTo>
                <a:lnTo>
                  <a:pt x="2211" y="4059"/>
                </a:lnTo>
                <a:lnTo>
                  <a:pt x="2626" y="3465"/>
                </a:lnTo>
                <a:lnTo>
                  <a:pt x="2972" y="3170"/>
                </a:lnTo>
                <a:lnTo>
                  <a:pt x="3427" y="2696"/>
                </a:lnTo>
                <a:lnTo>
                  <a:pt x="3927" y="2386"/>
                </a:lnTo>
                <a:lnTo>
                  <a:pt x="4437" y="1996"/>
                </a:lnTo>
                <a:lnTo>
                  <a:pt x="5063" y="1545"/>
                </a:lnTo>
                <a:lnTo>
                  <a:pt x="5690" y="1297"/>
                </a:lnTo>
                <a:lnTo>
                  <a:pt x="6239" y="1159"/>
                </a:lnTo>
                <a:lnTo>
                  <a:pt x="7143" y="1014"/>
                </a:lnTo>
                <a:lnTo>
                  <a:pt x="7962" y="705"/>
                </a:lnTo>
                <a:lnTo>
                  <a:pt x="8841" y="524"/>
                </a:lnTo>
                <a:lnTo>
                  <a:pt x="9700" y="355"/>
                </a:lnTo>
                <a:lnTo>
                  <a:pt x="10854" y="340"/>
                </a:lnTo>
                <a:lnTo>
                  <a:pt x="12172" y="285"/>
                </a:lnTo>
                <a:lnTo>
                  <a:pt x="13817" y="90"/>
                </a:lnTo>
                <a:lnTo>
                  <a:pt x="16026" y="0"/>
                </a:lnTo>
                <a:lnTo>
                  <a:pt x="23124" y="74"/>
                </a:lnTo>
                <a:lnTo>
                  <a:pt x="30223" y="107"/>
                </a:lnTo>
                <a:lnTo>
                  <a:pt x="32543" y="159"/>
                </a:lnTo>
                <a:lnTo>
                  <a:pt x="34309" y="282"/>
                </a:lnTo>
                <a:lnTo>
                  <a:pt x="35519" y="346"/>
                </a:lnTo>
                <a:lnTo>
                  <a:pt x="36622" y="436"/>
                </a:lnTo>
                <a:lnTo>
                  <a:pt x="37566" y="502"/>
                </a:lnTo>
                <a:lnTo>
                  <a:pt x="38438" y="595"/>
                </a:lnTo>
                <a:lnTo>
                  <a:pt x="39212" y="791"/>
                </a:lnTo>
                <a:lnTo>
                  <a:pt x="40143" y="1014"/>
                </a:lnTo>
                <a:lnTo>
                  <a:pt x="40784" y="1378"/>
                </a:lnTo>
                <a:lnTo>
                  <a:pt x="41199" y="1641"/>
                </a:lnTo>
                <a:lnTo>
                  <a:pt x="41821" y="1870"/>
                </a:lnTo>
                <a:lnTo>
                  <a:pt x="42441" y="2293"/>
                </a:lnTo>
                <a:lnTo>
                  <a:pt x="42740" y="2615"/>
                </a:lnTo>
                <a:lnTo>
                  <a:pt x="43385" y="3121"/>
                </a:lnTo>
                <a:lnTo>
                  <a:pt x="43766" y="3542"/>
                </a:lnTo>
                <a:lnTo>
                  <a:pt x="43969" y="4110"/>
                </a:lnTo>
                <a:lnTo>
                  <a:pt x="44376" y="4546"/>
                </a:lnTo>
                <a:lnTo>
                  <a:pt x="44766" y="5072"/>
                </a:lnTo>
                <a:lnTo>
                  <a:pt x="44950" y="5888"/>
                </a:lnTo>
                <a:lnTo>
                  <a:pt x="45278" y="6594"/>
                </a:lnTo>
                <a:lnTo>
                  <a:pt x="45454" y="7213"/>
                </a:lnTo>
                <a:lnTo>
                  <a:pt x="45659" y="8049"/>
                </a:lnTo>
                <a:lnTo>
                  <a:pt x="45814" y="8982"/>
                </a:lnTo>
                <a:lnTo>
                  <a:pt x="45912" y="9885"/>
                </a:lnTo>
                <a:lnTo>
                  <a:pt x="46121" y="11093"/>
                </a:lnTo>
                <a:lnTo>
                  <a:pt x="46277" y="12529"/>
                </a:lnTo>
                <a:lnTo>
                  <a:pt x="46207" y="14089"/>
                </a:lnTo>
                <a:lnTo>
                  <a:pt x="46375" y="16485"/>
                </a:lnTo>
                <a:lnTo>
                  <a:pt x="46144" y="23825"/>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9749607" y="1828891"/>
            <a:ext cx="4239890" cy="4355562"/>
          </a:xfrm>
          <a:custGeom>
            <a:avLst/>
            <a:gdLst/>
            <a:ahLst/>
            <a:cxnLst/>
            <a:rect l="l" t="t" r="r" b="b"/>
            <a:pathLst>
              <a:path w="46368" h="47633">
                <a:moveTo>
                  <a:pt x="46368" y="23885"/>
                </a:moveTo>
                <a:lnTo>
                  <a:pt x="46329" y="31095"/>
                </a:lnTo>
                <a:lnTo>
                  <a:pt x="46154" y="33496"/>
                </a:lnTo>
                <a:lnTo>
                  <a:pt x="46015" y="35135"/>
                </a:lnTo>
                <a:lnTo>
                  <a:pt x="46176" y="36503"/>
                </a:lnTo>
                <a:lnTo>
                  <a:pt x="45948" y="37600"/>
                </a:lnTo>
                <a:lnTo>
                  <a:pt x="45730" y="38768"/>
                </a:lnTo>
                <a:lnTo>
                  <a:pt x="45707" y="39508"/>
                </a:lnTo>
                <a:lnTo>
                  <a:pt x="45340" y="40519"/>
                </a:lnTo>
                <a:lnTo>
                  <a:pt x="45136" y="41210"/>
                </a:lnTo>
                <a:lnTo>
                  <a:pt x="45068" y="41864"/>
                </a:lnTo>
                <a:lnTo>
                  <a:pt x="44575" y="42573"/>
                </a:lnTo>
                <a:lnTo>
                  <a:pt x="44372" y="43114"/>
                </a:lnTo>
                <a:lnTo>
                  <a:pt x="44094" y="43542"/>
                </a:lnTo>
                <a:lnTo>
                  <a:pt x="43645" y="44004"/>
                </a:lnTo>
                <a:lnTo>
                  <a:pt x="43279" y="44620"/>
                </a:lnTo>
                <a:lnTo>
                  <a:pt x="42912" y="44942"/>
                </a:lnTo>
                <a:lnTo>
                  <a:pt x="42348" y="45268"/>
                </a:lnTo>
                <a:lnTo>
                  <a:pt x="41943" y="45701"/>
                </a:lnTo>
                <a:lnTo>
                  <a:pt x="41363" y="45974"/>
                </a:lnTo>
                <a:lnTo>
                  <a:pt x="40581" y="46269"/>
                </a:lnTo>
                <a:lnTo>
                  <a:pt x="39957" y="46575"/>
                </a:lnTo>
                <a:lnTo>
                  <a:pt x="39170" y="46836"/>
                </a:lnTo>
                <a:lnTo>
                  <a:pt x="38432" y="46857"/>
                </a:lnTo>
                <a:lnTo>
                  <a:pt x="37694" y="47188"/>
                </a:lnTo>
                <a:lnTo>
                  <a:pt x="36543" y="47296"/>
                </a:lnTo>
                <a:lnTo>
                  <a:pt x="35469" y="47303"/>
                </a:lnTo>
                <a:lnTo>
                  <a:pt x="34250" y="47529"/>
                </a:lnTo>
                <a:lnTo>
                  <a:pt x="32601" y="47633"/>
                </a:lnTo>
                <a:lnTo>
                  <a:pt x="30340" y="47450"/>
                </a:lnTo>
                <a:lnTo>
                  <a:pt x="23182" y="47594"/>
                </a:lnTo>
                <a:lnTo>
                  <a:pt x="16177" y="47589"/>
                </a:lnTo>
                <a:lnTo>
                  <a:pt x="13748" y="47541"/>
                </a:lnTo>
                <a:lnTo>
                  <a:pt x="12174" y="47352"/>
                </a:lnTo>
                <a:lnTo>
                  <a:pt x="10949" y="47320"/>
                </a:lnTo>
                <a:lnTo>
                  <a:pt x="9845" y="47220"/>
                </a:lnTo>
                <a:lnTo>
                  <a:pt x="8729" y="47187"/>
                </a:lnTo>
                <a:lnTo>
                  <a:pt x="7879" y="47005"/>
                </a:lnTo>
                <a:lnTo>
                  <a:pt x="7163" y="46785"/>
                </a:lnTo>
                <a:lnTo>
                  <a:pt x="6247" y="46616"/>
                </a:lnTo>
                <a:lnTo>
                  <a:pt x="5641" y="46141"/>
                </a:lnTo>
                <a:lnTo>
                  <a:pt x="4954" y="46048"/>
                </a:lnTo>
                <a:lnTo>
                  <a:pt x="4631" y="45743"/>
                </a:lnTo>
                <a:lnTo>
                  <a:pt x="3979" y="45267"/>
                </a:lnTo>
                <a:lnTo>
                  <a:pt x="3592" y="44864"/>
                </a:lnTo>
                <a:lnTo>
                  <a:pt x="3203" y="44462"/>
                </a:lnTo>
                <a:lnTo>
                  <a:pt x="2782" y="43993"/>
                </a:lnTo>
                <a:lnTo>
                  <a:pt x="2209" y="43588"/>
                </a:lnTo>
                <a:lnTo>
                  <a:pt x="2073" y="42965"/>
                </a:lnTo>
                <a:lnTo>
                  <a:pt x="1772" y="42413"/>
                </a:lnTo>
                <a:lnTo>
                  <a:pt x="1410" y="41829"/>
                </a:lnTo>
                <a:lnTo>
                  <a:pt x="1214" y="41076"/>
                </a:lnTo>
                <a:lnTo>
                  <a:pt x="801" y="40448"/>
                </a:lnTo>
                <a:lnTo>
                  <a:pt x="776" y="39656"/>
                </a:lnTo>
                <a:lnTo>
                  <a:pt x="430" y="38719"/>
                </a:lnTo>
                <a:lnTo>
                  <a:pt x="351" y="37553"/>
                </a:lnTo>
                <a:lnTo>
                  <a:pt x="295" y="36479"/>
                </a:lnTo>
                <a:lnTo>
                  <a:pt x="216" y="35208"/>
                </a:lnTo>
                <a:lnTo>
                  <a:pt x="103" y="33443"/>
                </a:lnTo>
                <a:lnTo>
                  <a:pt x="131" y="31058"/>
                </a:lnTo>
                <a:lnTo>
                  <a:pt x="188" y="23893"/>
                </a:lnTo>
                <a:lnTo>
                  <a:pt x="0" y="16519"/>
                </a:lnTo>
                <a:lnTo>
                  <a:pt x="37" y="14213"/>
                </a:lnTo>
                <a:lnTo>
                  <a:pt x="106" y="12637"/>
                </a:lnTo>
                <a:lnTo>
                  <a:pt x="259" y="11184"/>
                </a:lnTo>
                <a:lnTo>
                  <a:pt x="453" y="9954"/>
                </a:lnTo>
                <a:lnTo>
                  <a:pt x="572" y="9030"/>
                </a:lnTo>
                <a:lnTo>
                  <a:pt x="813" y="8016"/>
                </a:lnTo>
                <a:lnTo>
                  <a:pt x="789" y="7403"/>
                </a:lnTo>
                <a:lnTo>
                  <a:pt x="1029" y="6499"/>
                </a:lnTo>
                <a:lnTo>
                  <a:pt x="1436" y="5761"/>
                </a:lnTo>
                <a:lnTo>
                  <a:pt x="1731" y="5334"/>
                </a:lnTo>
                <a:lnTo>
                  <a:pt x="1999" y="4690"/>
                </a:lnTo>
                <a:lnTo>
                  <a:pt x="2325" y="4023"/>
                </a:lnTo>
                <a:lnTo>
                  <a:pt x="2672" y="3618"/>
                </a:lnTo>
                <a:lnTo>
                  <a:pt x="3115" y="3089"/>
                </a:lnTo>
                <a:lnTo>
                  <a:pt x="3569" y="2709"/>
                </a:lnTo>
                <a:lnTo>
                  <a:pt x="4026" y="2280"/>
                </a:lnTo>
                <a:lnTo>
                  <a:pt x="4489" y="1974"/>
                </a:lnTo>
                <a:lnTo>
                  <a:pt x="5171" y="1670"/>
                </a:lnTo>
                <a:lnTo>
                  <a:pt x="5656" y="1523"/>
                </a:lnTo>
                <a:lnTo>
                  <a:pt x="6289" y="1195"/>
                </a:lnTo>
                <a:lnTo>
                  <a:pt x="7028" y="923"/>
                </a:lnTo>
                <a:lnTo>
                  <a:pt x="7771" y="771"/>
                </a:lnTo>
                <a:lnTo>
                  <a:pt x="8651" y="478"/>
                </a:lnTo>
                <a:lnTo>
                  <a:pt x="9638" y="532"/>
                </a:lnTo>
                <a:lnTo>
                  <a:pt x="10978" y="417"/>
                </a:lnTo>
                <a:lnTo>
                  <a:pt x="12266" y="265"/>
                </a:lnTo>
                <a:lnTo>
                  <a:pt x="13806" y="202"/>
                </a:lnTo>
                <a:lnTo>
                  <a:pt x="15974" y="251"/>
                </a:lnTo>
                <a:lnTo>
                  <a:pt x="23203" y="0"/>
                </a:lnTo>
                <a:lnTo>
                  <a:pt x="30180" y="171"/>
                </a:lnTo>
                <a:lnTo>
                  <a:pt x="32647" y="135"/>
                </a:lnTo>
                <a:lnTo>
                  <a:pt x="34252" y="239"/>
                </a:lnTo>
                <a:lnTo>
                  <a:pt x="35456" y="225"/>
                </a:lnTo>
                <a:lnTo>
                  <a:pt x="36605" y="405"/>
                </a:lnTo>
                <a:lnTo>
                  <a:pt x="37672" y="529"/>
                </a:lnTo>
                <a:lnTo>
                  <a:pt x="38567" y="699"/>
                </a:lnTo>
                <a:lnTo>
                  <a:pt x="39255" y="1032"/>
                </a:lnTo>
                <a:lnTo>
                  <a:pt x="39890" y="1267"/>
                </a:lnTo>
                <a:lnTo>
                  <a:pt x="40785" y="1503"/>
                </a:lnTo>
                <a:lnTo>
                  <a:pt x="41272" y="1786"/>
                </a:lnTo>
                <a:lnTo>
                  <a:pt x="41780" y="2156"/>
                </a:lnTo>
                <a:lnTo>
                  <a:pt x="42241" y="2355"/>
                </a:lnTo>
                <a:lnTo>
                  <a:pt x="42758" y="2822"/>
                </a:lnTo>
                <a:lnTo>
                  <a:pt x="43366" y="3084"/>
                </a:lnTo>
                <a:lnTo>
                  <a:pt x="43705" y="3540"/>
                </a:lnTo>
                <a:lnTo>
                  <a:pt x="44162" y="4045"/>
                </a:lnTo>
                <a:lnTo>
                  <a:pt x="44280" y="4586"/>
                </a:lnTo>
                <a:lnTo>
                  <a:pt x="44708" y="5267"/>
                </a:lnTo>
                <a:lnTo>
                  <a:pt x="44962" y="5978"/>
                </a:lnTo>
                <a:lnTo>
                  <a:pt x="45333" y="6552"/>
                </a:lnTo>
                <a:lnTo>
                  <a:pt x="45461" y="7335"/>
                </a:lnTo>
                <a:lnTo>
                  <a:pt x="45757" y="8010"/>
                </a:lnTo>
                <a:lnTo>
                  <a:pt x="45835" y="8973"/>
                </a:lnTo>
                <a:lnTo>
                  <a:pt x="45858" y="10146"/>
                </a:lnTo>
                <a:lnTo>
                  <a:pt x="46113" y="11100"/>
                </a:lnTo>
                <a:lnTo>
                  <a:pt x="46221" y="12572"/>
                </a:lnTo>
                <a:lnTo>
                  <a:pt x="46288" y="14221"/>
                </a:lnTo>
                <a:lnTo>
                  <a:pt x="46275" y="16494"/>
                </a:lnTo>
                <a:lnTo>
                  <a:pt x="46363" y="23778"/>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13904366" y="5167274"/>
            <a:ext cx="56418" cy="356525"/>
          </a:xfrm>
          <a:custGeom>
            <a:avLst/>
            <a:gdLst/>
            <a:ahLst/>
            <a:cxnLst/>
            <a:rect l="l" t="t" r="r" b="b"/>
            <a:pathLst>
              <a:path w="617" h="3899">
                <a:moveTo>
                  <a:pt x="617" y="0"/>
                </a:moveTo>
                <a:lnTo>
                  <a:pt x="502" y="1160"/>
                </a:lnTo>
                <a:lnTo>
                  <a:pt x="361" y="2175"/>
                </a:lnTo>
                <a:lnTo>
                  <a:pt x="194" y="3081"/>
                </a:lnTo>
                <a:lnTo>
                  <a:pt x="0" y="3899"/>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13268858" y="6032022"/>
            <a:ext cx="255118" cy="88697"/>
          </a:xfrm>
          <a:custGeom>
            <a:avLst/>
            <a:gdLst/>
            <a:ahLst/>
            <a:cxnLst/>
            <a:rect l="l" t="t" r="r" b="b"/>
            <a:pathLst>
              <a:path w="2790" h="970">
                <a:moveTo>
                  <a:pt x="2790" y="0"/>
                </a:moveTo>
                <a:lnTo>
                  <a:pt x="2181" y="286"/>
                </a:lnTo>
                <a:lnTo>
                  <a:pt x="1519" y="542"/>
                </a:lnTo>
                <a:lnTo>
                  <a:pt x="795" y="770"/>
                </a:lnTo>
                <a:lnTo>
                  <a:pt x="0" y="97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10396271" y="6102431"/>
            <a:ext cx="346649" cy="57973"/>
          </a:xfrm>
          <a:custGeom>
            <a:avLst/>
            <a:gdLst/>
            <a:ahLst/>
            <a:cxnLst/>
            <a:rect l="l" t="t" r="r" b="b"/>
            <a:pathLst>
              <a:path w="3791" h="634">
                <a:moveTo>
                  <a:pt x="3791" y="634"/>
                </a:moveTo>
                <a:lnTo>
                  <a:pt x="2664" y="516"/>
                </a:lnTo>
                <a:lnTo>
                  <a:pt x="1676" y="371"/>
                </a:lnTo>
                <a:lnTo>
                  <a:pt x="795" y="200"/>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9815718" y="5449001"/>
            <a:ext cx="86136" cy="262341"/>
          </a:xfrm>
          <a:custGeom>
            <a:avLst/>
            <a:gdLst/>
            <a:ahLst/>
            <a:cxnLst/>
            <a:rect l="l" t="t" r="r" b="b"/>
            <a:pathLst>
              <a:path w="942" h="2869">
                <a:moveTo>
                  <a:pt x="942" y="2869"/>
                </a:moveTo>
                <a:lnTo>
                  <a:pt x="664" y="2243"/>
                </a:lnTo>
                <a:lnTo>
                  <a:pt x="415" y="1562"/>
                </a:lnTo>
                <a:lnTo>
                  <a:pt x="194" y="818"/>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9777039" y="2495489"/>
            <a:ext cx="56418" cy="356525"/>
          </a:xfrm>
          <a:custGeom>
            <a:avLst/>
            <a:gdLst/>
            <a:ahLst/>
            <a:cxnLst/>
            <a:rect l="l" t="t" r="r" b="b"/>
            <a:pathLst>
              <a:path w="617" h="3899">
                <a:moveTo>
                  <a:pt x="0" y="3899"/>
                </a:moveTo>
                <a:lnTo>
                  <a:pt x="115" y="2739"/>
                </a:lnTo>
                <a:lnTo>
                  <a:pt x="256" y="1724"/>
                </a:lnTo>
                <a:lnTo>
                  <a:pt x="423" y="818"/>
                </a:lnTo>
                <a:lnTo>
                  <a:pt x="617"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10213848" y="1898569"/>
            <a:ext cx="255118" cy="88697"/>
          </a:xfrm>
          <a:custGeom>
            <a:avLst/>
            <a:gdLst/>
            <a:ahLst/>
            <a:cxnLst/>
            <a:rect l="l" t="t" r="r" b="b"/>
            <a:pathLst>
              <a:path w="2790" h="970">
                <a:moveTo>
                  <a:pt x="0" y="970"/>
                </a:moveTo>
                <a:lnTo>
                  <a:pt x="609" y="684"/>
                </a:lnTo>
                <a:lnTo>
                  <a:pt x="1271" y="428"/>
                </a:lnTo>
                <a:lnTo>
                  <a:pt x="1995" y="200"/>
                </a:lnTo>
                <a:lnTo>
                  <a:pt x="279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12994904" y="1858884"/>
            <a:ext cx="346649" cy="57973"/>
          </a:xfrm>
          <a:custGeom>
            <a:avLst/>
            <a:gdLst/>
            <a:ahLst/>
            <a:cxnLst/>
            <a:rect l="l" t="t" r="r" b="b"/>
            <a:pathLst>
              <a:path w="3791" h="634">
                <a:moveTo>
                  <a:pt x="0" y="0"/>
                </a:moveTo>
                <a:lnTo>
                  <a:pt x="1127" y="118"/>
                </a:lnTo>
                <a:lnTo>
                  <a:pt x="2115" y="263"/>
                </a:lnTo>
                <a:lnTo>
                  <a:pt x="2996" y="434"/>
                </a:lnTo>
                <a:lnTo>
                  <a:pt x="3791" y="634"/>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13835969" y="2307946"/>
            <a:ext cx="86136" cy="262341"/>
          </a:xfrm>
          <a:custGeom>
            <a:avLst/>
            <a:gdLst/>
            <a:ahLst/>
            <a:cxnLst/>
            <a:rect l="l" t="t" r="r" b="b"/>
            <a:pathLst>
              <a:path w="942" h="2869">
                <a:moveTo>
                  <a:pt x="0" y="0"/>
                </a:moveTo>
                <a:lnTo>
                  <a:pt x="278" y="626"/>
                </a:lnTo>
                <a:lnTo>
                  <a:pt x="527" y="1307"/>
                </a:lnTo>
                <a:lnTo>
                  <a:pt x="748" y="2051"/>
                </a:lnTo>
                <a:lnTo>
                  <a:pt x="942" y="2869"/>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ody: Releases"/>
          <p:cNvSpPr txBox="1"/>
          <p:nvPr/>
        </p:nvSpPr>
        <p:spPr>
          <a:xfrm>
            <a:off x="10104120" y="2106930"/>
            <a:ext cx="352958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557B65"/>
                </a:solidFill>
                <a:latin typeface="Chalkboard SE"/>
              </a:rPr>
              <a:t>Releases</a:t>
            </a:r>
          </a:p>
        </p:txBody>
      </p:sp>
      <p:sp>
        <p:nvSpPr>
          <p:cNvPr id="64" name="Oval 63"/>
          <p:cNvSpPr/>
          <p:nvPr/>
        </p:nvSpPr>
        <p:spPr>
          <a:xfrm>
            <a:off x="10017252" y="326555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ody: Eval pack vN: qualified tasks"/>
          <p:cNvSpPr txBox="1"/>
          <p:nvPr/>
        </p:nvSpPr>
        <p:spPr>
          <a:xfrm>
            <a:off x="10250424" y="3164966"/>
            <a:ext cx="3483864" cy="745998"/>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Eval pack vN: qualified</a:t>
            </a:r>
            <a:br/>
            <a:r>
              <a:rPr sz="2100" b="0">
                <a:solidFill>
                  <a:srgbClr val="293E46"/>
                </a:solidFill>
                <a:latin typeface="Trebuchet MS"/>
              </a:rPr>
              <a:t>tasks</a:t>
            </a:r>
          </a:p>
        </p:txBody>
      </p:sp>
      <p:sp>
        <p:nvSpPr>
          <p:cNvPr id="66" name="Oval 65"/>
          <p:cNvSpPr/>
          <p:nvPr/>
        </p:nvSpPr>
        <p:spPr>
          <a:xfrm>
            <a:off x="10017252" y="413042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ody: Policy vN: clauses + monitor rules"/>
          <p:cNvSpPr txBox="1"/>
          <p:nvPr/>
        </p:nvSpPr>
        <p:spPr>
          <a:xfrm>
            <a:off x="10250424" y="4029836"/>
            <a:ext cx="3483864" cy="745998"/>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Policy vN: clauses +</a:t>
            </a:r>
            <a:br/>
            <a:r>
              <a:rPr sz="2100" b="0">
                <a:solidFill>
                  <a:srgbClr val="293E46"/>
                </a:solidFill>
                <a:latin typeface="Trebuchet MS"/>
              </a:rPr>
              <a:t>monitor rules</a:t>
            </a:r>
          </a:p>
        </p:txBody>
      </p:sp>
      <p:sp>
        <p:nvSpPr>
          <p:cNvPr id="68" name="Oval 67"/>
          <p:cNvSpPr/>
          <p:nvPr/>
        </p:nvSpPr>
        <p:spPr>
          <a:xfrm>
            <a:off x="10017252" y="499529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ody: Evidence per change, changelog, rollback"/>
          <p:cNvSpPr txBox="1"/>
          <p:nvPr/>
        </p:nvSpPr>
        <p:spPr>
          <a:xfrm>
            <a:off x="10250424" y="4894706"/>
            <a:ext cx="3483864" cy="745998"/>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Evidence per change,</a:t>
            </a:r>
            <a:br/>
            <a:r>
              <a:rPr sz="2100" b="0">
                <a:solidFill>
                  <a:srgbClr val="293E46"/>
                </a:solidFill>
                <a:latin typeface="Trebuchet MS"/>
              </a:rPr>
              <a:t>changelog, rollback</a:t>
            </a:r>
          </a:p>
        </p:txBody>
      </p:sp>
      <p:sp>
        <p:nvSpPr>
          <p:cNvPr id="70" name="Rounded Rectangle 69"/>
          <p:cNvSpPr/>
          <p:nvPr/>
        </p:nvSpPr>
        <p:spPr>
          <a:xfrm>
            <a:off x="640080" y="6492240"/>
            <a:ext cx="13350240" cy="941832"/>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652516" y="6498366"/>
            <a:ext cx="13332501" cy="931682"/>
          </a:xfrm>
          <a:custGeom>
            <a:avLst/>
            <a:gdLst/>
            <a:ahLst/>
            <a:cxnLst/>
            <a:rect l="l" t="t" r="r" b="b"/>
            <a:pathLst>
              <a:path w="145806" h="10189">
                <a:moveTo>
                  <a:pt x="145621" y="5108"/>
                </a:moveTo>
                <a:lnTo>
                  <a:pt x="145806" y="6635"/>
                </a:lnTo>
                <a:lnTo>
                  <a:pt x="145701" y="7106"/>
                </a:lnTo>
                <a:lnTo>
                  <a:pt x="145405" y="7479"/>
                </a:lnTo>
                <a:lnTo>
                  <a:pt x="145020" y="7849"/>
                </a:lnTo>
                <a:lnTo>
                  <a:pt x="144626" y="8080"/>
                </a:lnTo>
                <a:lnTo>
                  <a:pt x="144386" y="8114"/>
                </a:lnTo>
                <a:lnTo>
                  <a:pt x="143819" y="8416"/>
                </a:lnTo>
                <a:lnTo>
                  <a:pt x="143222" y="8590"/>
                </a:lnTo>
                <a:lnTo>
                  <a:pt x="142536" y="8690"/>
                </a:lnTo>
                <a:lnTo>
                  <a:pt x="141739" y="8902"/>
                </a:lnTo>
                <a:lnTo>
                  <a:pt x="140707" y="8916"/>
                </a:lnTo>
                <a:lnTo>
                  <a:pt x="139837" y="9135"/>
                </a:lnTo>
                <a:lnTo>
                  <a:pt x="138816" y="9178"/>
                </a:lnTo>
                <a:lnTo>
                  <a:pt x="137700" y="9434"/>
                </a:lnTo>
                <a:lnTo>
                  <a:pt x="136419" y="9497"/>
                </a:lnTo>
                <a:lnTo>
                  <a:pt x="134805" y="9632"/>
                </a:lnTo>
                <a:lnTo>
                  <a:pt x="133455" y="9648"/>
                </a:lnTo>
                <a:lnTo>
                  <a:pt x="131710" y="9775"/>
                </a:lnTo>
                <a:lnTo>
                  <a:pt x="130071" y="9848"/>
                </a:lnTo>
                <a:lnTo>
                  <a:pt x="128079" y="9793"/>
                </a:lnTo>
                <a:lnTo>
                  <a:pt x="126088" y="9987"/>
                </a:lnTo>
                <a:lnTo>
                  <a:pt x="123847" y="9960"/>
                </a:lnTo>
                <a:lnTo>
                  <a:pt x="121089" y="9992"/>
                </a:lnTo>
                <a:lnTo>
                  <a:pt x="118480" y="9928"/>
                </a:lnTo>
                <a:lnTo>
                  <a:pt x="115327" y="9926"/>
                </a:lnTo>
                <a:lnTo>
                  <a:pt x="111706" y="9999"/>
                </a:lnTo>
                <a:lnTo>
                  <a:pt x="107667" y="10007"/>
                </a:lnTo>
                <a:lnTo>
                  <a:pt x="102512" y="10133"/>
                </a:lnTo>
                <a:lnTo>
                  <a:pt x="95140" y="10042"/>
                </a:lnTo>
                <a:lnTo>
                  <a:pt x="72746" y="10052"/>
                </a:lnTo>
                <a:lnTo>
                  <a:pt x="50364" y="10189"/>
                </a:lnTo>
                <a:lnTo>
                  <a:pt x="43249" y="9990"/>
                </a:lnTo>
                <a:lnTo>
                  <a:pt x="38055" y="10163"/>
                </a:lnTo>
                <a:lnTo>
                  <a:pt x="34050" y="9966"/>
                </a:lnTo>
                <a:lnTo>
                  <a:pt x="30319" y="10132"/>
                </a:lnTo>
                <a:lnTo>
                  <a:pt x="27310" y="9991"/>
                </a:lnTo>
                <a:lnTo>
                  <a:pt x="24650" y="10056"/>
                </a:lnTo>
                <a:lnTo>
                  <a:pt x="22109" y="9964"/>
                </a:lnTo>
                <a:lnTo>
                  <a:pt x="19826" y="9891"/>
                </a:lnTo>
                <a:lnTo>
                  <a:pt x="17722" y="9792"/>
                </a:lnTo>
                <a:lnTo>
                  <a:pt x="15794" y="9677"/>
                </a:lnTo>
                <a:lnTo>
                  <a:pt x="13831" y="9739"/>
                </a:lnTo>
                <a:lnTo>
                  <a:pt x="12327" y="9684"/>
                </a:lnTo>
                <a:lnTo>
                  <a:pt x="10858" y="9457"/>
                </a:lnTo>
                <a:lnTo>
                  <a:pt x="9427" y="9499"/>
                </a:lnTo>
                <a:lnTo>
                  <a:pt x="8161" y="9328"/>
                </a:lnTo>
                <a:lnTo>
                  <a:pt x="7057" y="9225"/>
                </a:lnTo>
                <a:lnTo>
                  <a:pt x="5818" y="9218"/>
                </a:lnTo>
                <a:lnTo>
                  <a:pt x="4877" y="9023"/>
                </a:lnTo>
                <a:lnTo>
                  <a:pt x="4063" y="8950"/>
                </a:lnTo>
                <a:lnTo>
                  <a:pt x="3345" y="8814"/>
                </a:lnTo>
                <a:lnTo>
                  <a:pt x="2537" y="8696"/>
                </a:lnTo>
                <a:lnTo>
                  <a:pt x="2021" y="8419"/>
                </a:lnTo>
                <a:lnTo>
                  <a:pt x="1392" y="8185"/>
                </a:lnTo>
                <a:lnTo>
                  <a:pt x="1087" y="7909"/>
                </a:lnTo>
                <a:lnTo>
                  <a:pt x="670" y="7713"/>
                </a:lnTo>
                <a:lnTo>
                  <a:pt x="461" y="7408"/>
                </a:lnTo>
                <a:lnTo>
                  <a:pt x="66" y="7191"/>
                </a:lnTo>
                <a:lnTo>
                  <a:pt x="0" y="6693"/>
                </a:lnTo>
                <a:lnTo>
                  <a:pt x="58" y="5166"/>
                </a:lnTo>
                <a:lnTo>
                  <a:pt x="137" y="3606"/>
                </a:lnTo>
                <a:lnTo>
                  <a:pt x="27" y="3145"/>
                </a:lnTo>
                <a:lnTo>
                  <a:pt x="435" y="2763"/>
                </a:lnTo>
                <a:lnTo>
                  <a:pt x="536" y="2510"/>
                </a:lnTo>
                <a:lnTo>
                  <a:pt x="886" y="2074"/>
                </a:lnTo>
                <a:lnTo>
                  <a:pt x="1368" y="1960"/>
                </a:lnTo>
                <a:lnTo>
                  <a:pt x="2005" y="1664"/>
                </a:lnTo>
                <a:lnTo>
                  <a:pt x="2562" y="1675"/>
                </a:lnTo>
                <a:lnTo>
                  <a:pt x="3371" y="1358"/>
                </a:lnTo>
                <a:lnTo>
                  <a:pt x="3955" y="1168"/>
                </a:lnTo>
                <a:lnTo>
                  <a:pt x="4850" y="1099"/>
                </a:lnTo>
                <a:lnTo>
                  <a:pt x="5809" y="1040"/>
                </a:lnTo>
                <a:lnTo>
                  <a:pt x="6873" y="847"/>
                </a:lnTo>
                <a:lnTo>
                  <a:pt x="8213" y="905"/>
                </a:lnTo>
                <a:lnTo>
                  <a:pt x="9297" y="589"/>
                </a:lnTo>
                <a:lnTo>
                  <a:pt x="10821" y="704"/>
                </a:lnTo>
                <a:lnTo>
                  <a:pt x="12265" y="574"/>
                </a:lnTo>
                <a:lnTo>
                  <a:pt x="14014" y="496"/>
                </a:lnTo>
                <a:lnTo>
                  <a:pt x="15672" y="276"/>
                </a:lnTo>
                <a:lnTo>
                  <a:pt x="17514" y="345"/>
                </a:lnTo>
                <a:lnTo>
                  <a:pt x="19701" y="294"/>
                </a:lnTo>
                <a:lnTo>
                  <a:pt x="21969" y="170"/>
                </a:lnTo>
                <a:lnTo>
                  <a:pt x="24420" y="85"/>
                </a:lnTo>
                <a:lnTo>
                  <a:pt x="27299" y="44"/>
                </a:lnTo>
                <a:lnTo>
                  <a:pt x="30353" y="6"/>
                </a:lnTo>
                <a:lnTo>
                  <a:pt x="33960" y="126"/>
                </a:lnTo>
                <a:lnTo>
                  <a:pt x="38146" y="0"/>
                </a:lnTo>
                <a:lnTo>
                  <a:pt x="43221" y="151"/>
                </a:lnTo>
                <a:lnTo>
                  <a:pt x="50435" y="98"/>
                </a:lnTo>
                <a:lnTo>
                  <a:pt x="72923" y="17"/>
                </a:lnTo>
                <a:lnTo>
                  <a:pt x="95249" y="13"/>
                </a:lnTo>
                <a:lnTo>
                  <a:pt x="102468" y="29"/>
                </a:lnTo>
                <a:lnTo>
                  <a:pt x="107486" y="185"/>
                </a:lnTo>
                <a:lnTo>
                  <a:pt x="111833" y="128"/>
                </a:lnTo>
                <a:lnTo>
                  <a:pt x="115387" y="171"/>
                </a:lnTo>
                <a:lnTo>
                  <a:pt x="118319" y="207"/>
                </a:lnTo>
                <a:lnTo>
                  <a:pt x="121228" y="290"/>
                </a:lnTo>
                <a:lnTo>
                  <a:pt x="123788" y="280"/>
                </a:lnTo>
                <a:lnTo>
                  <a:pt x="125876" y="334"/>
                </a:lnTo>
                <a:lnTo>
                  <a:pt x="128095" y="245"/>
                </a:lnTo>
                <a:lnTo>
                  <a:pt x="129968" y="356"/>
                </a:lnTo>
                <a:lnTo>
                  <a:pt x="131678" y="415"/>
                </a:lnTo>
                <a:lnTo>
                  <a:pt x="133407" y="569"/>
                </a:lnTo>
                <a:lnTo>
                  <a:pt x="134859" y="592"/>
                </a:lnTo>
                <a:lnTo>
                  <a:pt x="136348" y="730"/>
                </a:lnTo>
                <a:lnTo>
                  <a:pt x="137620" y="698"/>
                </a:lnTo>
                <a:lnTo>
                  <a:pt x="138806" y="878"/>
                </a:lnTo>
                <a:lnTo>
                  <a:pt x="139714" y="1126"/>
                </a:lnTo>
                <a:lnTo>
                  <a:pt x="140671" y="1093"/>
                </a:lnTo>
                <a:lnTo>
                  <a:pt x="141782" y="1166"/>
                </a:lnTo>
                <a:lnTo>
                  <a:pt x="142425" y="1302"/>
                </a:lnTo>
                <a:lnTo>
                  <a:pt x="143180" y="1546"/>
                </a:lnTo>
                <a:lnTo>
                  <a:pt x="143867" y="1689"/>
                </a:lnTo>
                <a:lnTo>
                  <a:pt x="144267" y="1935"/>
                </a:lnTo>
                <a:lnTo>
                  <a:pt x="144835" y="2046"/>
                </a:lnTo>
                <a:lnTo>
                  <a:pt x="145009" y="2417"/>
                </a:lnTo>
                <a:lnTo>
                  <a:pt x="145274" y="2665"/>
                </a:lnTo>
                <a:lnTo>
                  <a:pt x="145702" y="3003"/>
                </a:lnTo>
                <a:lnTo>
                  <a:pt x="145754" y="3581"/>
                </a:lnTo>
                <a:lnTo>
                  <a:pt x="145728" y="5141"/>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650321" y="6495989"/>
            <a:ext cx="13332318" cy="935065"/>
          </a:xfrm>
          <a:custGeom>
            <a:avLst/>
            <a:gdLst/>
            <a:ahLst/>
            <a:cxnLst/>
            <a:rect l="l" t="t" r="r" b="b"/>
            <a:pathLst>
              <a:path w="145804" h="10226">
                <a:moveTo>
                  <a:pt x="145804" y="5123"/>
                </a:moveTo>
                <a:lnTo>
                  <a:pt x="145685" y="6562"/>
                </a:lnTo>
                <a:lnTo>
                  <a:pt x="145653" y="7051"/>
                </a:lnTo>
                <a:lnTo>
                  <a:pt x="145352" y="7432"/>
                </a:lnTo>
                <a:lnTo>
                  <a:pt x="145250" y="7806"/>
                </a:lnTo>
                <a:lnTo>
                  <a:pt x="144873" y="7953"/>
                </a:lnTo>
                <a:lnTo>
                  <a:pt x="144439" y="8308"/>
                </a:lnTo>
                <a:lnTo>
                  <a:pt x="143907" y="8548"/>
                </a:lnTo>
                <a:lnTo>
                  <a:pt x="143286" y="8720"/>
                </a:lnTo>
                <a:lnTo>
                  <a:pt x="142353" y="8795"/>
                </a:lnTo>
                <a:lnTo>
                  <a:pt x="141719" y="8979"/>
                </a:lnTo>
                <a:lnTo>
                  <a:pt x="140917" y="9134"/>
                </a:lnTo>
                <a:lnTo>
                  <a:pt x="139967" y="9263"/>
                </a:lnTo>
                <a:lnTo>
                  <a:pt x="138728" y="9300"/>
                </a:lnTo>
                <a:lnTo>
                  <a:pt x="137565" y="9334"/>
                </a:lnTo>
                <a:lnTo>
                  <a:pt x="136310" y="9487"/>
                </a:lnTo>
                <a:lnTo>
                  <a:pt x="134834" y="9467"/>
                </a:lnTo>
                <a:lnTo>
                  <a:pt x="133563" y="9737"/>
                </a:lnTo>
                <a:lnTo>
                  <a:pt x="131771" y="9814"/>
                </a:lnTo>
                <a:lnTo>
                  <a:pt x="130016" y="9854"/>
                </a:lnTo>
                <a:lnTo>
                  <a:pt x="128121" y="9893"/>
                </a:lnTo>
                <a:lnTo>
                  <a:pt x="125968" y="9818"/>
                </a:lnTo>
                <a:lnTo>
                  <a:pt x="123854" y="9975"/>
                </a:lnTo>
                <a:lnTo>
                  <a:pt x="121265" y="10022"/>
                </a:lnTo>
                <a:lnTo>
                  <a:pt x="118337" y="9926"/>
                </a:lnTo>
                <a:lnTo>
                  <a:pt x="115298" y="10031"/>
                </a:lnTo>
                <a:lnTo>
                  <a:pt x="111710" y="10061"/>
                </a:lnTo>
                <a:lnTo>
                  <a:pt x="107517" y="10082"/>
                </a:lnTo>
                <a:lnTo>
                  <a:pt x="102353" y="10226"/>
                </a:lnTo>
                <a:lnTo>
                  <a:pt x="95326" y="10183"/>
                </a:lnTo>
                <a:lnTo>
                  <a:pt x="72962" y="10206"/>
                </a:lnTo>
                <a:lnTo>
                  <a:pt x="50396" y="10161"/>
                </a:lnTo>
                <a:lnTo>
                  <a:pt x="43251" y="10207"/>
                </a:lnTo>
                <a:lnTo>
                  <a:pt x="38203" y="10224"/>
                </a:lnTo>
                <a:lnTo>
                  <a:pt x="33939" y="10058"/>
                </a:lnTo>
                <a:lnTo>
                  <a:pt x="30501" y="10186"/>
                </a:lnTo>
                <a:lnTo>
                  <a:pt x="27247" y="10072"/>
                </a:lnTo>
                <a:lnTo>
                  <a:pt x="24455" y="10118"/>
                </a:lnTo>
                <a:lnTo>
                  <a:pt x="22155" y="9890"/>
                </a:lnTo>
                <a:lnTo>
                  <a:pt x="19781" y="9871"/>
                </a:lnTo>
                <a:lnTo>
                  <a:pt x="17590" y="9903"/>
                </a:lnTo>
                <a:lnTo>
                  <a:pt x="15853" y="9824"/>
                </a:lnTo>
                <a:lnTo>
                  <a:pt x="13944" y="9658"/>
                </a:lnTo>
                <a:lnTo>
                  <a:pt x="12415" y="9714"/>
                </a:lnTo>
                <a:lnTo>
                  <a:pt x="10772" y="9677"/>
                </a:lnTo>
                <a:lnTo>
                  <a:pt x="9443" y="9526"/>
                </a:lnTo>
                <a:lnTo>
                  <a:pt x="8211" y="9394"/>
                </a:lnTo>
                <a:lnTo>
                  <a:pt x="7021" y="9264"/>
                </a:lnTo>
                <a:lnTo>
                  <a:pt x="5940" y="9219"/>
                </a:lnTo>
                <a:lnTo>
                  <a:pt x="4936" y="9154"/>
                </a:lnTo>
                <a:lnTo>
                  <a:pt x="4180" y="8923"/>
                </a:lnTo>
                <a:lnTo>
                  <a:pt x="3198" y="8797"/>
                </a:lnTo>
                <a:lnTo>
                  <a:pt x="2513" y="8594"/>
                </a:lnTo>
                <a:lnTo>
                  <a:pt x="2073" y="8554"/>
                </a:lnTo>
                <a:lnTo>
                  <a:pt x="1436" y="8274"/>
                </a:lnTo>
                <a:lnTo>
                  <a:pt x="1017" y="7994"/>
                </a:lnTo>
                <a:lnTo>
                  <a:pt x="712" y="7761"/>
                </a:lnTo>
                <a:lnTo>
                  <a:pt x="274" y="7558"/>
                </a:lnTo>
                <a:lnTo>
                  <a:pt x="86" y="7181"/>
                </a:lnTo>
                <a:lnTo>
                  <a:pt x="158" y="6564"/>
                </a:lnTo>
                <a:lnTo>
                  <a:pt x="0" y="5160"/>
                </a:lnTo>
                <a:lnTo>
                  <a:pt x="127" y="3590"/>
                </a:lnTo>
                <a:lnTo>
                  <a:pt x="77" y="3160"/>
                </a:lnTo>
                <a:lnTo>
                  <a:pt x="286" y="2673"/>
                </a:lnTo>
                <a:lnTo>
                  <a:pt x="576" y="2315"/>
                </a:lnTo>
                <a:lnTo>
                  <a:pt x="908" y="2138"/>
                </a:lnTo>
                <a:lnTo>
                  <a:pt x="1333" y="2025"/>
                </a:lnTo>
                <a:lnTo>
                  <a:pt x="1941" y="1665"/>
                </a:lnTo>
                <a:lnTo>
                  <a:pt x="2514" y="1583"/>
                </a:lnTo>
                <a:lnTo>
                  <a:pt x="3362" y="1355"/>
                </a:lnTo>
                <a:lnTo>
                  <a:pt x="4088" y="1189"/>
                </a:lnTo>
                <a:lnTo>
                  <a:pt x="5017" y="1215"/>
                </a:lnTo>
                <a:lnTo>
                  <a:pt x="6011" y="1073"/>
                </a:lnTo>
                <a:lnTo>
                  <a:pt x="6884" y="852"/>
                </a:lnTo>
                <a:lnTo>
                  <a:pt x="8043" y="774"/>
                </a:lnTo>
                <a:lnTo>
                  <a:pt x="9469" y="675"/>
                </a:lnTo>
                <a:lnTo>
                  <a:pt x="10860" y="640"/>
                </a:lnTo>
                <a:lnTo>
                  <a:pt x="12209" y="638"/>
                </a:lnTo>
                <a:lnTo>
                  <a:pt x="13880" y="572"/>
                </a:lnTo>
                <a:lnTo>
                  <a:pt x="15788" y="442"/>
                </a:lnTo>
                <a:lnTo>
                  <a:pt x="17617" y="478"/>
                </a:lnTo>
                <a:lnTo>
                  <a:pt x="19774" y="263"/>
                </a:lnTo>
                <a:lnTo>
                  <a:pt x="22019" y="264"/>
                </a:lnTo>
                <a:lnTo>
                  <a:pt x="24589" y="335"/>
                </a:lnTo>
                <a:lnTo>
                  <a:pt x="27358" y="109"/>
                </a:lnTo>
                <a:lnTo>
                  <a:pt x="30406" y="81"/>
                </a:lnTo>
                <a:lnTo>
                  <a:pt x="33925" y="177"/>
                </a:lnTo>
                <a:lnTo>
                  <a:pt x="38256" y="143"/>
                </a:lnTo>
                <a:lnTo>
                  <a:pt x="43287" y="155"/>
                </a:lnTo>
                <a:lnTo>
                  <a:pt x="50494" y="0"/>
                </a:lnTo>
                <a:lnTo>
                  <a:pt x="72865" y="169"/>
                </a:lnTo>
                <a:lnTo>
                  <a:pt x="95164" y="35"/>
                </a:lnTo>
                <a:lnTo>
                  <a:pt x="102499" y="167"/>
                </a:lnTo>
                <a:lnTo>
                  <a:pt x="107670" y="129"/>
                </a:lnTo>
                <a:lnTo>
                  <a:pt x="111728" y="110"/>
                </a:lnTo>
                <a:lnTo>
                  <a:pt x="115249" y="176"/>
                </a:lnTo>
                <a:lnTo>
                  <a:pt x="118533" y="273"/>
                </a:lnTo>
                <a:lnTo>
                  <a:pt x="121327" y="274"/>
                </a:lnTo>
                <a:lnTo>
                  <a:pt x="123629" y="204"/>
                </a:lnTo>
                <a:lnTo>
                  <a:pt x="125903" y="347"/>
                </a:lnTo>
                <a:lnTo>
                  <a:pt x="128131" y="302"/>
                </a:lnTo>
                <a:lnTo>
                  <a:pt x="129991" y="415"/>
                </a:lnTo>
                <a:lnTo>
                  <a:pt x="131772" y="554"/>
                </a:lnTo>
                <a:lnTo>
                  <a:pt x="133325" y="597"/>
                </a:lnTo>
                <a:lnTo>
                  <a:pt x="134944" y="719"/>
                </a:lnTo>
                <a:lnTo>
                  <a:pt x="136315" y="818"/>
                </a:lnTo>
                <a:lnTo>
                  <a:pt x="137728" y="714"/>
                </a:lnTo>
                <a:lnTo>
                  <a:pt x="138661" y="1044"/>
                </a:lnTo>
                <a:lnTo>
                  <a:pt x="139947" y="1152"/>
                </a:lnTo>
                <a:lnTo>
                  <a:pt x="140742" y="1049"/>
                </a:lnTo>
                <a:lnTo>
                  <a:pt x="141661" y="1223"/>
                </a:lnTo>
                <a:lnTo>
                  <a:pt x="142565" y="1491"/>
                </a:lnTo>
                <a:lnTo>
                  <a:pt x="143171" y="1485"/>
                </a:lnTo>
                <a:lnTo>
                  <a:pt x="143848" y="1752"/>
                </a:lnTo>
                <a:lnTo>
                  <a:pt x="144387" y="1954"/>
                </a:lnTo>
                <a:lnTo>
                  <a:pt x="144790" y="2179"/>
                </a:lnTo>
                <a:lnTo>
                  <a:pt x="145036" y="2380"/>
                </a:lnTo>
                <a:lnTo>
                  <a:pt x="145298" y="2794"/>
                </a:lnTo>
                <a:lnTo>
                  <a:pt x="145736" y="3096"/>
                </a:lnTo>
                <a:lnTo>
                  <a:pt x="145649" y="3618"/>
                </a:lnTo>
                <a:lnTo>
                  <a:pt x="145675" y="4994"/>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13742609" y="7208581"/>
            <a:ext cx="178125" cy="75529"/>
          </a:xfrm>
          <a:custGeom>
            <a:avLst/>
            <a:gdLst/>
            <a:ahLst/>
            <a:cxnLst/>
            <a:rect l="l" t="t" r="r" b="b"/>
            <a:pathLst>
              <a:path w="1948" h="826">
                <a:moveTo>
                  <a:pt x="1948" y="0"/>
                </a:moveTo>
                <a:lnTo>
                  <a:pt x="1585" y="245"/>
                </a:lnTo>
                <a:lnTo>
                  <a:pt x="1141" y="461"/>
                </a:lnTo>
                <a:lnTo>
                  <a:pt x="613" y="653"/>
                </a:lnTo>
                <a:lnTo>
                  <a:pt x="0" y="826"/>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735775" y="7391827"/>
            <a:ext cx="805678" cy="18837"/>
          </a:xfrm>
          <a:custGeom>
            <a:avLst/>
            <a:gdLst/>
            <a:ahLst/>
            <a:cxnLst/>
            <a:rect l="l" t="t" r="r" b="b"/>
            <a:pathLst>
              <a:path w="8811" h="206">
                <a:moveTo>
                  <a:pt x="8811" y="0"/>
                </a:moveTo>
                <a:lnTo>
                  <a:pt x="6889" y="61"/>
                </a:lnTo>
                <a:lnTo>
                  <a:pt x="4797" y="115"/>
                </a:lnTo>
                <a:lnTo>
                  <a:pt x="2511" y="163"/>
                </a:lnTo>
                <a:lnTo>
                  <a:pt x="0" y="206"/>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2665019" y="7406731"/>
            <a:ext cx="1094720" cy="12344"/>
          </a:xfrm>
          <a:custGeom>
            <a:avLst/>
            <a:gdLst/>
            <a:ahLst/>
            <a:cxnLst/>
            <a:rect l="l" t="t" r="r" b="b"/>
            <a:pathLst>
              <a:path w="11972" h="135">
                <a:moveTo>
                  <a:pt x="11972" y="135"/>
                </a:moveTo>
                <a:lnTo>
                  <a:pt x="8412" y="110"/>
                </a:lnTo>
                <a:lnTo>
                  <a:pt x="5293" y="79"/>
                </a:lnTo>
                <a:lnTo>
                  <a:pt x="2511" y="43"/>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831738" y="7268291"/>
            <a:ext cx="272217" cy="55596"/>
          </a:xfrm>
          <a:custGeom>
            <a:avLst/>
            <a:gdLst/>
            <a:ahLst/>
            <a:cxnLst/>
            <a:rect l="l" t="t" r="r" b="b"/>
            <a:pathLst>
              <a:path w="2977" h="608">
                <a:moveTo>
                  <a:pt x="2977" y="608"/>
                </a:moveTo>
                <a:lnTo>
                  <a:pt x="2099" y="475"/>
                </a:lnTo>
                <a:lnTo>
                  <a:pt x="1312" y="331"/>
                </a:lnTo>
                <a:lnTo>
                  <a:pt x="613" y="173"/>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709666" y="6642202"/>
            <a:ext cx="178125" cy="75529"/>
          </a:xfrm>
          <a:custGeom>
            <a:avLst/>
            <a:gdLst/>
            <a:ahLst/>
            <a:cxnLst/>
            <a:rect l="l" t="t" r="r" b="b"/>
            <a:pathLst>
              <a:path w="1948" h="826">
                <a:moveTo>
                  <a:pt x="0" y="826"/>
                </a:moveTo>
                <a:lnTo>
                  <a:pt x="363" y="581"/>
                </a:lnTo>
                <a:lnTo>
                  <a:pt x="807" y="365"/>
                </a:lnTo>
                <a:lnTo>
                  <a:pt x="1335" y="173"/>
                </a:lnTo>
                <a:lnTo>
                  <a:pt x="1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2088947" y="6515649"/>
            <a:ext cx="805678" cy="18837"/>
          </a:xfrm>
          <a:custGeom>
            <a:avLst/>
            <a:gdLst/>
            <a:ahLst/>
            <a:cxnLst/>
            <a:rect l="l" t="t" r="r" b="b"/>
            <a:pathLst>
              <a:path w="8811" h="206">
                <a:moveTo>
                  <a:pt x="0" y="206"/>
                </a:moveTo>
                <a:lnTo>
                  <a:pt x="1922" y="145"/>
                </a:lnTo>
                <a:lnTo>
                  <a:pt x="4014" y="91"/>
                </a:lnTo>
                <a:lnTo>
                  <a:pt x="6300" y="43"/>
                </a:lnTo>
                <a:lnTo>
                  <a:pt x="8811"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10870662" y="6507236"/>
            <a:ext cx="1094720" cy="12344"/>
          </a:xfrm>
          <a:custGeom>
            <a:avLst/>
            <a:gdLst/>
            <a:ahLst/>
            <a:cxnLst/>
            <a:rect l="l" t="t" r="r" b="b"/>
            <a:pathLst>
              <a:path w="11972" h="135">
                <a:moveTo>
                  <a:pt x="0" y="0"/>
                </a:moveTo>
                <a:lnTo>
                  <a:pt x="3560" y="25"/>
                </a:lnTo>
                <a:lnTo>
                  <a:pt x="6679" y="56"/>
                </a:lnTo>
                <a:lnTo>
                  <a:pt x="9461" y="92"/>
                </a:lnTo>
                <a:lnTo>
                  <a:pt x="11972" y="13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13526445" y="6602425"/>
            <a:ext cx="272217" cy="55596"/>
          </a:xfrm>
          <a:custGeom>
            <a:avLst/>
            <a:gdLst/>
            <a:ahLst/>
            <a:cxnLst/>
            <a:rect l="l" t="t" r="r" b="b"/>
            <a:pathLst>
              <a:path w="2977" h="608">
                <a:moveTo>
                  <a:pt x="0" y="0"/>
                </a:moveTo>
                <a:lnTo>
                  <a:pt x="878" y="133"/>
                </a:lnTo>
                <a:lnTo>
                  <a:pt x="1665" y="277"/>
                </a:lnTo>
                <a:lnTo>
                  <a:pt x="2364" y="435"/>
                </a:lnTo>
                <a:lnTo>
                  <a:pt x="2977" y="608"/>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ody: Built on Inspect (approvers, scorers, eval logs), Inspect Scout "/>
          <p:cNvSpPr txBox="1"/>
          <p:nvPr/>
        </p:nvSpPr>
        <p:spPr>
          <a:xfrm>
            <a:off x="914400" y="6630479"/>
            <a:ext cx="12801600" cy="665353"/>
          </a:xfrm>
          <a:prstGeom prst="rect">
            <a:avLst/>
          </a:prstGeom>
          <a:noFill/>
        </p:spPr>
        <p:txBody>
          <a:bodyPr wrap="none" lIns="0" rIns="0" tIns="0" bIns="0" anchor="t">
            <a:noAutofit/>
          </a:bodyPr>
          <a:lstStyle/>
          <a:p>
            <a:pPr algn="ctr">
              <a:lnSpc>
                <a:spcPts val="2349"/>
              </a:lnSpc>
              <a:spcBef>
                <a:spcPts val="0"/>
              </a:spcBef>
              <a:spcAft>
                <a:spcPts val="0"/>
              </a:spcAft>
            </a:pPr>
            <a:r>
              <a:rPr sz="1850" b="0">
                <a:solidFill>
                  <a:srgbClr val="293E46"/>
                </a:solidFill>
                <a:latin typeface="Trebuchet MS"/>
              </a:rPr>
              <a:t>Built on Inspect (approvers, scorers, eval logs), Inspect Scout (scanners), ControlArena (monitors, micro-protocols)</a:t>
            </a:r>
            <a:br/>
            <a:r>
              <a:rPr sz="1850" b="0">
                <a:solidFill>
                  <a:srgbClr val="293E46"/>
                </a:solidFill>
                <a:latin typeface="Trebuchet MS"/>
              </a:rPr>
              <a:t>and Hawk (runs at scale).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2 · DELIVERY"/>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2 · DELIVERY</a:t>
            </a:r>
          </a:p>
        </p:txBody>
      </p:sp>
      <p:sp>
        <p:nvSpPr>
          <p:cNvPr id="3" name="title: Who uses it: optional or mandated?"/>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Who uses it: optional or mandated?</a:t>
            </a:r>
          </a:p>
        </p:txBody>
      </p:sp>
      <p:sp>
        <p:nvSpPr>
          <p:cNvPr id="4" name="Freeform 3"/>
          <p:cNvSpPr/>
          <p:nvPr/>
        </p:nvSpPr>
        <p:spPr>
          <a:xfrm>
            <a:off x="6263640" y="1358707"/>
            <a:ext cx="2103120" cy="37948"/>
          </a:xfrm>
          <a:custGeom>
            <a:avLst/>
            <a:gdLst/>
            <a:ahLst/>
            <a:cxnLst/>
            <a:rect l="l" t="t" r="r" b="b"/>
            <a:pathLst>
              <a:path w="23000" h="415">
                <a:moveTo>
                  <a:pt x="0" y="278"/>
                </a:moveTo>
                <a:lnTo>
                  <a:pt x="958" y="348"/>
                </a:lnTo>
                <a:lnTo>
                  <a:pt x="1917" y="378"/>
                </a:lnTo>
                <a:lnTo>
                  <a:pt x="2875" y="347"/>
                </a:lnTo>
                <a:lnTo>
                  <a:pt x="3833" y="194"/>
                </a:lnTo>
                <a:lnTo>
                  <a:pt x="4792" y="32"/>
                </a:lnTo>
                <a:lnTo>
                  <a:pt x="5750" y="0"/>
                </a:lnTo>
                <a:lnTo>
                  <a:pt x="6708" y="59"/>
                </a:lnTo>
                <a:lnTo>
                  <a:pt x="7667" y="202"/>
                </a:lnTo>
                <a:lnTo>
                  <a:pt x="8625" y="369"/>
                </a:lnTo>
                <a:lnTo>
                  <a:pt x="9583" y="361"/>
                </a:lnTo>
                <a:lnTo>
                  <a:pt x="10542" y="415"/>
                </a:lnTo>
                <a:lnTo>
                  <a:pt x="11500" y="216"/>
                </a:lnTo>
                <a:lnTo>
                  <a:pt x="12458" y="152"/>
                </a:lnTo>
                <a:lnTo>
                  <a:pt x="13417" y="84"/>
                </a:lnTo>
                <a:lnTo>
                  <a:pt x="14375" y="174"/>
                </a:lnTo>
                <a:lnTo>
                  <a:pt x="15333" y="214"/>
                </a:lnTo>
                <a:lnTo>
                  <a:pt x="16292" y="400"/>
                </a:lnTo>
                <a:lnTo>
                  <a:pt x="17250" y="372"/>
                </a:lnTo>
                <a:lnTo>
                  <a:pt x="18208" y="376"/>
                </a:lnTo>
                <a:lnTo>
                  <a:pt x="19167" y="268"/>
                </a:lnTo>
                <a:lnTo>
                  <a:pt x="20125" y="146"/>
                </a:lnTo>
                <a:lnTo>
                  <a:pt x="21083" y="33"/>
                </a:lnTo>
                <a:lnTo>
                  <a:pt x="22042" y="212"/>
                </a:lnTo>
                <a:lnTo>
                  <a:pt x="23000" y="236"/>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5166"/>
            <a:ext cx="2103120" cy="37948"/>
          </a:xfrm>
          <a:custGeom>
            <a:avLst/>
            <a:gdLst/>
            <a:ahLst/>
            <a:cxnLst/>
            <a:rect l="l" t="t" r="r" b="b"/>
            <a:pathLst>
              <a:path w="23000" h="415">
                <a:moveTo>
                  <a:pt x="0" y="278"/>
                </a:moveTo>
                <a:lnTo>
                  <a:pt x="958" y="348"/>
                </a:lnTo>
                <a:lnTo>
                  <a:pt x="1917" y="378"/>
                </a:lnTo>
                <a:lnTo>
                  <a:pt x="2875" y="347"/>
                </a:lnTo>
                <a:lnTo>
                  <a:pt x="3833" y="194"/>
                </a:lnTo>
                <a:lnTo>
                  <a:pt x="4792" y="32"/>
                </a:lnTo>
                <a:lnTo>
                  <a:pt x="5750" y="0"/>
                </a:lnTo>
                <a:lnTo>
                  <a:pt x="6708" y="59"/>
                </a:lnTo>
                <a:lnTo>
                  <a:pt x="7667" y="202"/>
                </a:lnTo>
                <a:lnTo>
                  <a:pt x="8625" y="369"/>
                </a:lnTo>
                <a:lnTo>
                  <a:pt x="9583" y="361"/>
                </a:lnTo>
                <a:lnTo>
                  <a:pt x="10542" y="415"/>
                </a:lnTo>
                <a:lnTo>
                  <a:pt x="11500" y="216"/>
                </a:lnTo>
                <a:lnTo>
                  <a:pt x="12458" y="152"/>
                </a:lnTo>
                <a:lnTo>
                  <a:pt x="13417" y="84"/>
                </a:lnTo>
                <a:lnTo>
                  <a:pt x="14375" y="174"/>
                </a:lnTo>
                <a:lnTo>
                  <a:pt x="15333" y="214"/>
                </a:lnTo>
                <a:lnTo>
                  <a:pt x="16292" y="400"/>
                </a:lnTo>
                <a:lnTo>
                  <a:pt x="17250" y="372"/>
                </a:lnTo>
                <a:lnTo>
                  <a:pt x="18208" y="376"/>
                </a:lnTo>
                <a:lnTo>
                  <a:pt x="19167" y="268"/>
                </a:lnTo>
                <a:lnTo>
                  <a:pt x="20125" y="146"/>
                </a:lnTo>
                <a:lnTo>
                  <a:pt x="21083" y="33"/>
                </a:lnTo>
                <a:lnTo>
                  <a:pt x="22042" y="212"/>
                </a:lnTo>
                <a:lnTo>
                  <a:pt x="23000" y="236"/>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13"/>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13</a:t>
            </a:r>
          </a:p>
        </p:txBody>
      </p:sp>
      <p:sp>
        <p:nvSpPr>
          <p:cNvPr id="13" name="Rounded Rectangle 12"/>
          <p:cNvSpPr/>
          <p:nvPr/>
        </p:nvSpPr>
        <p:spPr>
          <a:xfrm>
            <a:off x="640080" y="1773936"/>
            <a:ext cx="13350240" cy="605456"/>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ody: Mode"/>
          <p:cNvSpPr txBox="1"/>
          <p:nvPr/>
        </p:nvSpPr>
        <p:spPr>
          <a:xfrm>
            <a:off x="777240" y="1889148"/>
            <a:ext cx="2415653"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Mode</a:t>
            </a:r>
          </a:p>
        </p:txBody>
      </p:sp>
      <p:sp>
        <p:nvSpPr>
          <p:cNvPr id="15" name="body: Who"/>
          <p:cNvSpPr txBox="1"/>
          <p:nvPr/>
        </p:nvSpPr>
        <p:spPr>
          <a:xfrm>
            <a:off x="3467213" y="1889148"/>
            <a:ext cx="4009712"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Who</a:t>
            </a:r>
          </a:p>
        </p:txBody>
      </p:sp>
      <p:sp>
        <p:nvSpPr>
          <p:cNvPr id="16" name="body: What they do"/>
          <p:cNvSpPr txBox="1"/>
          <p:nvPr/>
        </p:nvSpPr>
        <p:spPr>
          <a:xfrm>
            <a:off x="7751245" y="1889148"/>
            <a:ext cx="6101914"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What they do</a:t>
            </a:r>
          </a:p>
        </p:txBody>
      </p:sp>
      <p:sp>
        <p:nvSpPr>
          <p:cNvPr id="17" name="Rounded Rectangle 16"/>
          <p:cNvSpPr/>
          <p:nvPr/>
        </p:nvSpPr>
        <p:spPr>
          <a:xfrm>
            <a:off x="640080" y="2438828"/>
            <a:ext cx="13350240" cy="631809"/>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 A · Opt-in plugin"/>
          <p:cNvSpPr txBox="1"/>
          <p:nvPr/>
        </p:nvSpPr>
        <p:spPr>
          <a:xfrm>
            <a:off x="777240" y="2563185"/>
            <a:ext cx="2415653" cy="383095"/>
          </a:xfrm>
          <a:prstGeom prst="rect">
            <a:avLst/>
          </a:prstGeom>
          <a:noFill/>
        </p:spPr>
        <p:txBody>
          <a:bodyPr wrap="none" lIns="0" rIns="0" tIns="0" bIns="0" anchor="t">
            <a:noAutofit/>
          </a:bodyPr>
          <a:lstStyle/>
          <a:p>
            <a:pPr algn="l">
              <a:lnSpc>
                <a:spcPts val="2476"/>
              </a:lnSpc>
              <a:spcBef>
                <a:spcPts val="0"/>
              </a:spcBef>
              <a:spcAft>
                <a:spcPts val="0"/>
              </a:spcAft>
            </a:pPr>
            <a:r>
              <a:rPr sz="1950" b="1">
                <a:solidFill>
                  <a:srgbClr val="4E7892"/>
                </a:solidFill>
                <a:latin typeface="Trebuchet MS"/>
              </a:rPr>
              <a:t>A · Opt-in plugin</a:t>
            </a:r>
          </a:p>
        </p:txBody>
      </p:sp>
      <p:sp>
        <p:nvSpPr>
          <p:cNvPr id="19" name="body: Agent developers, eval teams"/>
          <p:cNvSpPr txBox="1"/>
          <p:nvPr/>
        </p:nvSpPr>
        <p:spPr>
          <a:xfrm>
            <a:off x="3467213" y="2563185"/>
            <a:ext cx="4009712"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Agent developers, eval teams</a:t>
            </a:r>
          </a:p>
        </p:txBody>
      </p:sp>
      <p:sp>
        <p:nvSpPr>
          <p:cNvPr id="20" name="body: Run on their own tasks; private library"/>
          <p:cNvSpPr txBox="1"/>
          <p:nvPr/>
        </p:nvSpPr>
        <p:spPr>
          <a:xfrm>
            <a:off x="7751245" y="2563185"/>
            <a:ext cx="6101914"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Run on their own tasks; private library</a:t>
            </a:r>
          </a:p>
        </p:txBody>
      </p:sp>
      <p:sp>
        <p:nvSpPr>
          <p:cNvPr id="21" name="Rounded Rectangle 20"/>
          <p:cNvSpPr/>
          <p:nvPr/>
        </p:nvSpPr>
        <p:spPr>
          <a:xfrm>
            <a:off x="640080" y="3130073"/>
            <a:ext cx="13350240" cy="631809"/>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ody: B · Shared library"/>
          <p:cNvSpPr txBox="1"/>
          <p:nvPr/>
        </p:nvSpPr>
        <p:spPr>
          <a:xfrm>
            <a:off x="777240" y="3254430"/>
            <a:ext cx="2415653" cy="383095"/>
          </a:xfrm>
          <a:prstGeom prst="rect">
            <a:avLst/>
          </a:prstGeom>
          <a:noFill/>
        </p:spPr>
        <p:txBody>
          <a:bodyPr wrap="none" lIns="0" rIns="0" tIns="0" bIns="0" anchor="t">
            <a:noAutofit/>
          </a:bodyPr>
          <a:lstStyle/>
          <a:p>
            <a:pPr algn="l">
              <a:lnSpc>
                <a:spcPts val="2476"/>
              </a:lnSpc>
              <a:spcBef>
                <a:spcPts val="0"/>
              </a:spcBef>
              <a:spcAft>
                <a:spcPts val="0"/>
              </a:spcAft>
            </a:pPr>
            <a:r>
              <a:rPr sz="1950" b="1">
                <a:solidFill>
                  <a:srgbClr val="4E7892"/>
                </a:solidFill>
                <a:latin typeface="Trebuchet MS"/>
              </a:rPr>
              <a:t>B · Shared library</a:t>
            </a:r>
          </a:p>
        </p:txBody>
      </p:sp>
      <p:sp>
        <p:nvSpPr>
          <p:cNvPr id="23" name="body: Labs, AISIs, academic groups"/>
          <p:cNvSpPr txBox="1"/>
          <p:nvPr/>
        </p:nvSpPr>
        <p:spPr>
          <a:xfrm>
            <a:off x="3467213" y="3254430"/>
            <a:ext cx="4009712"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Labs, AISIs, academic groups</a:t>
            </a:r>
          </a:p>
        </p:txBody>
      </p:sp>
      <p:sp>
        <p:nvSpPr>
          <p:cNvPr id="24" name="body: Contribute redacted cases; pull eval packs"/>
          <p:cNvSpPr txBox="1"/>
          <p:nvPr/>
        </p:nvSpPr>
        <p:spPr>
          <a:xfrm>
            <a:off x="7751245" y="3254430"/>
            <a:ext cx="6101914"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Contribute redacted cases; pull eval packs</a:t>
            </a:r>
          </a:p>
        </p:txBody>
      </p:sp>
      <p:sp>
        <p:nvSpPr>
          <p:cNvPr id="25" name="Rounded Rectangle 24"/>
          <p:cNvSpPr/>
          <p:nvPr/>
        </p:nvSpPr>
        <p:spPr>
          <a:xfrm>
            <a:off x="640080" y="3821318"/>
            <a:ext cx="13350240" cy="631809"/>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ody: C · Reference suite"/>
          <p:cNvSpPr txBox="1"/>
          <p:nvPr/>
        </p:nvSpPr>
        <p:spPr>
          <a:xfrm>
            <a:off x="777240" y="3945675"/>
            <a:ext cx="2415653" cy="383095"/>
          </a:xfrm>
          <a:prstGeom prst="rect">
            <a:avLst/>
          </a:prstGeom>
          <a:noFill/>
        </p:spPr>
        <p:txBody>
          <a:bodyPr wrap="none" lIns="0" rIns="0" tIns="0" bIns="0" anchor="t">
            <a:noAutofit/>
          </a:bodyPr>
          <a:lstStyle/>
          <a:p>
            <a:pPr algn="l">
              <a:lnSpc>
                <a:spcPts val="2476"/>
              </a:lnSpc>
              <a:spcBef>
                <a:spcPts val="0"/>
              </a:spcBef>
              <a:spcAft>
                <a:spcPts val="0"/>
              </a:spcAft>
            </a:pPr>
            <a:r>
              <a:rPr sz="1950" b="1">
                <a:solidFill>
                  <a:srgbClr val="4E7892"/>
                </a:solidFill>
                <a:latin typeface="Trebuchet MS"/>
              </a:rPr>
              <a:t>C · Reference suite</a:t>
            </a:r>
          </a:p>
        </p:txBody>
      </p:sp>
      <p:sp>
        <p:nvSpPr>
          <p:cNvPr id="27" name="body: Third-party evaluators, regulators"/>
          <p:cNvSpPr txBox="1"/>
          <p:nvPr/>
        </p:nvSpPr>
        <p:spPr>
          <a:xfrm>
            <a:off x="3467213" y="3945675"/>
            <a:ext cx="4009712"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Third-party evaluators, regulators</a:t>
            </a:r>
          </a:p>
        </p:txBody>
      </p:sp>
      <p:sp>
        <p:nvSpPr>
          <p:cNvPr id="28" name="body: Require passing the held-out incident pack"/>
          <p:cNvSpPr txBox="1"/>
          <p:nvPr/>
        </p:nvSpPr>
        <p:spPr>
          <a:xfrm>
            <a:off x="7751245" y="3945675"/>
            <a:ext cx="6101914"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Require passing the held-out incident pack</a:t>
            </a:r>
          </a:p>
        </p:txBody>
      </p:sp>
      <p:sp>
        <p:nvSpPr>
          <p:cNvPr id="29" name="Rounded Rectangle 28"/>
          <p:cNvSpPr/>
          <p:nvPr/>
        </p:nvSpPr>
        <p:spPr>
          <a:xfrm>
            <a:off x="640080" y="4764024"/>
            <a:ext cx="6510528" cy="2679192"/>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40994" y="4773168"/>
            <a:ext cx="6501658" cy="2666939"/>
          </a:xfrm>
          <a:custGeom>
            <a:avLst/>
            <a:gdLst/>
            <a:ahLst/>
            <a:cxnLst/>
            <a:rect l="l" t="t" r="r" b="b"/>
            <a:pathLst>
              <a:path w="71103" h="29166">
                <a:moveTo>
                  <a:pt x="71029" y="14652"/>
                </a:moveTo>
                <a:lnTo>
                  <a:pt x="71058" y="18974"/>
                </a:lnTo>
                <a:lnTo>
                  <a:pt x="70863" y="20359"/>
                </a:lnTo>
                <a:lnTo>
                  <a:pt x="71003" y="21419"/>
                </a:lnTo>
                <a:lnTo>
                  <a:pt x="70851" y="22361"/>
                </a:lnTo>
                <a:lnTo>
                  <a:pt x="70495" y="23053"/>
                </a:lnTo>
                <a:lnTo>
                  <a:pt x="70484" y="23595"/>
                </a:lnTo>
                <a:lnTo>
                  <a:pt x="70030" y="24231"/>
                </a:lnTo>
                <a:lnTo>
                  <a:pt x="69906" y="24651"/>
                </a:lnTo>
                <a:lnTo>
                  <a:pt x="69468" y="25098"/>
                </a:lnTo>
                <a:lnTo>
                  <a:pt x="69083" y="25631"/>
                </a:lnTo>
                <a:lnTo>
                  <a:pt x="68632" y="26011"/>
                </a:lnTo>
                <a:lnTo>
                  <a:pt x="68221" y="26322"/>
                </a:lnTo>
                <a:lnTo>
                  <a:pt x="67580" y="26521"/>
                </a:lnTo>
                <a:lnTo>
                  <a:pt x="67026" y="27031"/>
                </a:lnTo>
                <a:lnTo>
                  <a:pt x="66481" y="27115"/>
                </a:lnTo>
                <a:lnTo>
                  <a:pt x="65712" y="27350"/>
                </a:lnTo>
                <a:lnTo>
                  <a:pt x="65040" y="27727"/>
                </a:lnTo>
                <a:lnTo>
                  <a:pt x="64321" y="27849"/>
                </a:lnTo>
                <a:lnTo>
                  <a:pt x="63293" y="28053"/>
                </a:lnTo>
                <a:lnTo>
                  <a:pt x="62407" y="28279"/>
                </a:lnTo>
                <a:lnTo>
                  <a:pt x="61540" y="28541"/>
                </a:lnTo>
                <a:lnTo>
                  <a:pt x="60301" y="28650"/>
                </a:lnTo>
                <a:lnTo>
                  <a:pt x="59233" y="28683"/>
                </a:lnTo>
                <a:lnTo>
                  <a:pt x="57705" y="28736"/>
                </a:lnTo>
                <a:lnTo>
                  <a:pt x="56290" y="28940"/>
                </a:lnTo>
                <a:lnTo>
                  <a:pt x="54565" y="29044"/>
                </a:lnTo>
                <a:lnTo>
                  <a:pt x="52438" y="29024"/>
                </a:lnTo>
                <a:lnTo>
                  <a:pt x="49980" y="29166"/>
                </a:lnTo>
                <a:lnTo>
                  <a:pt x="46476" y="29077"/>
                </a:lnTo>
                <a:lnTo>
                  <a:pt x="35711" y="28971"/>
                </a:lnTo>
                <a:lnTo>
                  <a:pt x="24593" y="28982"/>
                </a:lnTo>
                <a:lnTo>
                  <a:pt x="21206" y="28993"/>
                </a:lnTo>
                <a:lnTo>
                  <a:pt x="18651" y="29032"/>
                </a:lnTo>
                <a:lnTo>
                  <a:pt x="16734" y="29026"/>
                </a:lnTo>
                <a:lnTo>
                  <a:pt x="14993" y="28790"/>
                </a:lnTo>
                <a:lnTo>
                  <a:pt x="13295" y="28705"/>
                </a:lnTo>
                <a:lnTo>
                  <a:pt x="11945" y="28660"/>
                </a:lnTo>
                <a:lnTo>
                  <a:pt x="10799" y="28610"/>
                </a:lnTo>
                <a:lnTo>
                  <a:pt x="9684" y="28391"/>
                </a:lnTo>
                <a:lnTo>
                  <a:pt x="8616" y="28287"/>
                </a:lnTo>
                <a:lnTo>
                  <a:pt x="7704" y="28140"/>
                </a:lnTo>
                <a:lnTo>
                  <a:pt x="6862" y="27879"/>
                </a:lnTo>
                <a:lnTo>
                  <a:pt x="6013" y="27614"/>
                </a:lnTo>
                <a:lnTo>
                  <a:pt x="5249" y="27368"/>
                </a:lnTo>
                <a:lnTo>
                  <a:pt x="4796" y="27109"/>
                </a:lnTo>
                <a:lnTo>
                  <a:pt x="4182" y="26987"/>
                </a:lnTo>
                <a:lnTo>
                  <a:pt x="3478" y="26613"/>
                </a:lnTo>
                <a:lnTo>
                  <a:pt x="3063" y="26418"/>
                </a:lnTo>
                <a:lnTo>
                  <a:pt x="2603" y="25866"/>
                </a:lnTo>
                <a:lnTo>
                  <a:pt x="2014" y="25598"/>
                </a:lnTo>
                <a:lnTo>
                  <a:pt x="1805" y="25182"/>
                </a:lnTo>
                <a:lnTo>
                  <a:pt x="1297" y="24792"/>
                </a:lnTo>
                <a:lnTo>
                  <a:pt x="1131" y="24096"/>
                </a:lnTo>
                <a:lnTo>
                  <a:pt x="781" y="23640"/>
                </a:lnTo>
                <a:lnTo>
                  <a:pt x="619" y="23048"/>
                </a:lnTo>
                <a:lnTo>
                  <a:pt x="526" y="22364"/>
                </a:lnTo>
                <a:lnTo>
                  <a:pt x="236" y="21569"/>
                </a:lnTo>
                <a:lnTo>
                  <a:pt x="198" y="20496"/>
                </a:lnTo>
                <a:lnTo>
                  <a:pt x="0" y="18932"/>
                </a:lnTo>
                <a:lnTo>
                  <a:pt x="40" y="14663"/>
                </a:lnTo>
                <a:lnTo>
                  <a:pt x="88" y="10096"/>
                </a:lnTo>
                <a:lnTo>
                  <a:pt x="124" y="8546"/>
                </a:lnTo>
                <a:lnTo>
                  <a:pt x="330" y="7599"/>
                </a:lnTo>
                <a:lnTo>
                  <a:pt x="440" y="6917"/>
                </a:lnTo>
                <a:lnTo>
                  <a:pt x="683" y="6005"/>
                </a:lnTo>
                <a:lnTo>
                  <a:pt x="807" y="5351"/>
                </a:lnTo>
                <a:lnTo>
                  <a:pt x="962" y="4818"/>
                </a:lnTo>
                <a:lnTo>
                  <a:pt x="1422" y="4531"/>
                </a:lnTo>
                <a:lnTo>
                  <a:pt x="1824" y="3935"/>
                </a:lnTo>
                <a:lnTo>
                  <a:pt x="2057" y="3448"/>
                </a:lnTo>
                <a:lnTo>
                  <a:pt x="2446" y="3206"/>
                </a:lnTo>
                <a:lnTo>
                  <a:pt x="3105" y="2858"/>
                </a:lnTo>
                <a:lnTo>
                  <a:pt x="3412" y="2362"/>
                </a:lnTo>
                <a:lnTo>
                  <a:pt x="4162" y="2214"/>
                </a:lnTo>
                <a:lnTo>
                  <a:pt x="4705" y="1782"/>
                </a:lnTo>
                <a:lnTo>
                  <a:pt x="5296" y="1589"/>
                </a:lnTo>
                <a:lnTo>
                  <a:pt x="6072" y="1427"/>
                </a:lnTo>
                <a:lnTo>
                  <a:pt x="6823" y="1087"/>
                </a:lnTo>
                <a:lnTo>
                  <a:pt x="7808" y="1045"/>
                </a:lnTo>
                <a:lnTo>
                  <a:pt x="8663" y="860"/>
                </a:lnTo>
                <a:lnTo>
                  <a:pt x="9606" y="682"/>
                </a:lnTo>
                <a:lnTo>
                  <a:pt x="10878" y="605"/>
                </a:lnTo>
                <a:lnTo>
                  <a:pt x="12088" y="359"/>
                </a:lnTo>
                <a:lnTo>
                  <a:pt x="13332" y="327"/>
                </a:lnTo>
                <a:lnTo>
                  <a:pt x="14811" y="219"/>
                </a:lnTo>
                <a:lnTo>
                  <a:pt x="16686" y="242"/>
                </a:lnTo>
                <a:lnTo>
                  <a:pt x="18770" y="191"/>
                </a:lnTo>
                <a:lnTo>
                  <a:pt x="21258" y="6"/>
                </a:lnTo>
                <a:lnTo>
                  <a:pt x="24699" y="142"/>
                </a:lnTo>
                <a:lnTo>
                  <a:pt x="35699" y="2"/>
                </a:lnTo>
                <a:lnTo>
                  <a:pt x="46517" y="133"/>
                </a:lnTo>
                <a:lnTo>
                  <a:pt x="49987" y="0"/>
                </a:lnTo>
                <a:lnTo>
                  <a:pt x="52414" y="60"/>
                </a:lnTo>
                <a:lnTo>
                  <a:pt x="54389" y="243"/>
                </a:lnTo>
                <a:lnTo>
                  <a:pt x="56245" y="323"/>
                </a:lnTo>
                <a:lnTo>
                  <a:pt x="57839" y="378"/>
                </a:lnTo>
                <a:lnTo>
                  <a:pt x="59003" y="415"/>
                </a:lnTo>
                <a:lnTo>
                  <a:pt x="60421" y="520"/>
                </a:lnTo>
                <a:lnTo>
                  <a:pt x="61582" y="562"/>
                </a:lnTo>
                <a:lnTo>
                  <a:pt x="62551" y="770"/>
                </a:lnTo>
                <a:lnTo>
                  <a:pt x="63485" y="910"/>
                </a:lnTo>
                <a:lnTo>
                  <a:pt x="64363" y="1231"/>
                </a:lnTo>
                <a:lnTo>
                  <a:pt x="65187" y="1344"/>
                </a:lnTo>
                <a:lnTo>
                  <a:pt x="65719" y="1585"/>
                </a:lnTo>
                <a:lnTo>
                  <a:pt x="66605" y="1815"/>
                </a:lnTo>
                <a:lnTo>
                  <a:pt x="67024" y="2243"/>
                </a:lnTo>
                <a:lnTo>
                  <a:pt x="67698" y="2439"/>
                </a:lnTo>
                <a:lnTo>
                  <a:pt x="68299" y="2813"/>
                </a:lnTo>
                <a:lnTo>
                  <a:pt x="68532" y="3058"/>
                </a:lnTo>
                <a:lnTo>
                  <a:pt x="69208" y="3610"/>
                </a:lnTo>
                <a:lnTo>
                  <a:pt x="69348" y="4073"/>
                </a:lnTo>
                <a:lnTo>
                  <a:pt x="69907" y="4449"/>
                </a:lnTo>
                <a:lnTo>
                  <a:pt x="70206" y="4915"/>
                </a:lnTo>
                <a:lnTo>
                  <a:pt x="70386" y="5557"/>
                </a:lnTo>
                <a:lnTo>
                  <a:pt x="70665" y="6147"/>
                </a:lnTo>
                <a:lnTo>
                  <a:pt x="70643" y="6854"/>
                </a:lnTo>
                <a:lnTo>
                  <a:pt x="70807" y="7629"/>
                </a:lnTo>
                <a:lnTo>
                  <a:pt x="70947" y="8756"/>
                </a:lnTo>
                <a:lnTo>
                  <a:pt x="71103" y="10064"/>
                </a:lnTo>
                <a:lnTo>
                  <a:pt x="70958" y="14664"/>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643280" y="4764938"/>
            <a:ext cx="6504493" cy="2672425"/>
          </a:xfrm>
          <a:custGeom>
            <a:avLst/>
            <a:gdLst/>
            <a:ahLst/>
            <a:cxnLst/>
            <a:rect l="l" t="t" r="r" b="b"/>
            <a:pathLst>
              <a:path w="71134" h="29226">
                <a:moveTo>
                  <a:pt x="70962" y="14609"/>
                </a:moveTo>
                <a:lnTo>
                  <a:pt x="71067" y="19000"/>
                </a:lnTo>
                <a:lnTo>
                  <a:pt x="71091" y="20545"/>
                </a:lnTo>
                <a:lnTo>
                  <a:pt x="70772" y="21660"/>
                </a:lnTo>
                <a:lnTo>
                  <a:pt x="70697" y="22308"/>
                </a:lnTo>
                <a:lnTo>
                  <a:pt x="70650" y="23136"/>
                </a:lnTo>
                <a:lnTo>
                  <a:pt x="70321" y="23754"/>
                </a:lnTo>
                <a:lnTo>
                  <a:pt x="70147" y="24273"/>
                </a:lnTo>
                <a:lnTo>
                  <a:pt x="69827" y="24745"/>
                </a:lnTo>
                <a:lnTo>
                  <a:pt x="69506" y="25251"/>
                </a:lnTo>
                <a:lnTo>
                  <a:pt x="69097" y="25561"/>
                </a:lnTo>
                <a:lnTo>
                  <a:pt x="68578" y="26031"/>
                </a:lnTo>
                <a:lnTo>
                  <a:pt x="68244" y="26492"/>
                </a:lnTo>
                <a:lnTo>
                  <a:pt x="67605" y="26720"/>
                </a:lnTo>
                <a:lnTo>
                  <a:pt x="67009" y="27043"/>
                </a:lnTo>
                <a:lnTo>
                  <a:pt x="66550" y="27366"/>
                </a:lnTo>
                <a:lnTo>
                  <a:pt x="65753" y="27661"/>
                </a:lnTo>
                <a:lnTo>
                  <a:pt x="65005" y="27832"/>
                </a:lnTo>
                <a:lnTo>
                  <a:pt x="64306" y="27895"/>
                </a:lnTo>
                <a:lnTo>
                  <a:pt x="63489" y="28073"/>
                </a:lnTo>
                <a:lnTo>
                  <a:pt x="62523" y="28463"/>
                </a:lnTo>
                <a:lnTo>
                  <a:pt x="61456" y="28603"/>
                </a:lnTo>
                <a:lnTo>
                  <a:pt x="60310" y="28675"/>
                </a:lnTo>
                <a:lnTo>
                  <a:pt x="59153" y="28829"/>
                </a:lnTo>
                <a:lnTo>
                  <a:pt x="57633" y="28848"/>
                </a:lnTo>
                <a:lnTo>
                  <a:pt x="56162" y="28911"/>
                </a:lnTo>
                <a:lnTo>
                  <a:pt x="54482" y="28999"/>
                </a:lnTo>
                <a:lnTo>
                  <a:pt x="52423" y="29019"/>
                </a:lnTo>
                <a:lnTo>
                  <a:pt x="49990" y="29033"/>
                </a:lnTo>
                <a:lnTo>
                  <a:pt x="46353" y="29043"/>
                </a:lnTo>
                <a:lnTo>
                  <a:pt x="35687" y="29187"/>
                </a:lnTo>
                <a:lnTo>
                  <a:pt x="24611" y="29223"/>
                </a:lnTo>
                <a:lnTo>
                  <a:pt x="21146" y="29226"/>
                </a:lnTo>
                <a:lnTo>
                  <a:pt x="18550" y="29083"/>
                </a:lnTo>
                <a:lnTo>
                  <a:pt x="16663" y="29134"/>
                </a:lnTo>
                <a:lnTo>
                  <a:pt x="14921" y="29052"/>
                </a:lnTo>
                <a:lnTo>
                  <a:pt x="13481" y="28763"/>
                </a:lnTo>
                <a:lnTo>
                  <a:pt x="12159" y="28783"/>
                </a:lnTo>
                <a:lnTo>
                  <a:pt x="10930" y="28702"/>
                </a:lnTo>
                <a:lnTo>
                  <a:pt x="9670" y="28579"/>
                </a:lnTo>
                <a:lnTo>
                  <a:pt x="8683" y="28248"/>
                </a:lnTo>
                <a:lnTo>
                  <a:pt x="7795" y="28297"/>
                </a:lnTo>
                <a:lnTo>
                  <a:pt x="6767" y="27941"/>
                </a:lnTo>
                <a:lnTo>
                  <a:pt x="6032" y="27719"/>
                </a:lnTo>
                <a:lnTo>
                  <a:pt x="5276" y="27649"/>
                </a:lnTo>
                <a:lnTo>
                  <a:pt x="4756" y="27173"/>
                </a:lnTo>
                <a:lnTo>
                  <a:pt x="4168" y="27119"/>
                </a:lnTo>
                <a:lnTo>
                  <a:pt x="3492" y="26713"/>
                </a:lnTo>
                <a:lnTo>
                  <a:pt x="3030" y="26322"/>
                </a:lnTo>
                <a:lnTo>
                  <a:pt x="2501" y="26133"/>
                </a:lnTo>
                <a:lnTo>
                  <a:pt x="2146" y="25661"/>
                </a:lnTo>
                <a:lnTo>
                  <a:pt x="1718" y="25228"/>
                </a:lnTo>
                <a:lnTo>
                  <a:pt x="1394" y="24834"/>
                </a:lnTo>
                <a:lnTo>
                  <a:pt x="1132" y="24165"/>
                </a:lnTo>
                <a:lnTo>
                  <a:pt x="792" y="23649"/>
                </a:lnTo>
                <a:lnTo>
                  <a:pt x="555" y="23021"/>
                </a:lnTo>
                <a:lnTo>
                  <a:pt x="411" y="22397"/>
                </a:lnTo>
                <a:lnTo>
                  <a:pt x="172" y="21587"/>
                </a:lnTo>
                <a:lnTo>
                  <a:pt x="197" y="20594"/>
                </a:lnTo>
                <a:lnTo>
                  <a:pt x="0" y="19150"/>
                </a:lnTo>
                <a:lnTo>
                  <a:pt x="34" y="14631"/>
                </a:lnTo>
                <a:lnTo>
                  <a:pt x="191" y="10084"/>
                </a:lnTo>
                <a:lnTo>
                  <a:pt x="165" y="8719"/>
                </a:lnTo>
                <a:lnTo>
                  <a:pt x="311" y="7693"/>
                </a:lnTo>
                <a:lnTo>
                  <a:pt x="338" y="6985"/>
                </a:lnTo>
                <a:lnTo>
                  <a:pt x="476" y="6166"/>
                </a:lnTo>
                <a:lnTo>
                  <a:pt x="801" y="5654"/>
                </a:lnTo>
                <a:lnTo>
                  <a:pt x="995" y="4890"/>
                </a:lnTo>
                <a:lnTo>
                  <a:pt x="1401" y="4522"/>
                </a:lnTo>
                <a:lnTo>
                  <a:pt x="1618" y="4035"/>
                </a:lnTo>
                <a:lnTo>
                  <a:pt x="2052" y="3747"/>
                </a:lnTo>
                <a:lnTo>
                  <a:pt x="2400" y="3314"/>
                </a:lnTo>
                <a:lnTo>
                  <a:pt x="2972" y="2995"/>
                </a:lnTo>
                <a:lnTo>
                  <a:pt x="3559" y="2615"/>
                </a:lnTo>
                <a:lnTo>
                  <a:pt x="4165" y="2345"/>
                </a:lnTo>
                <a:lnTo>
                  <a:pt x="4780" y="2057"/>
                </a:lnTo>
                <a:lnTo>
                  <a:pt x="5384" y="1770"/>
                </a:lnTo>
                <a:lnTo>
                  <a:pt x="6211" y="1622"/>
                </a:lnTo>
                <a:lnTo>
                  <a:pt x="6865" y="1257"/>
                </a:lnTo>
                <a:lnTo>
                  <a:pt x="7679" y="1190"/>
                </a:lnTo>
                <a:lnTo>
                  <a:pt x="8603" y="1007"/>
                </a:lnTo>
                <a:lnTo>
                  <a:pt x="9639" y="877"/>
                </a:lnTo>
                <a:lnTo>
                  <a:pt x="10920" y="642"/>
                </a:lnTo>
                <a:lnTo>
                  <a:pt x="12044" y="622"/>
                </a:lnTo>
                <a:lnTo>
                  <a:pt x="13348" y="444"/>
                </a:lnTo>
                <a:lnTo>
                  <a:pt x="15010" y="198"/>
                </a:lnTo>
                <a:lnTo>
                  <a:pt x="16583" y="238"/>
                </a:lnTo>
                <a:lnTo>
                  <a:pt x="18645" y="83"/>
                </a:lnTo>
                <a:lnTo>
                  <a:pt x="21219" y="111"/>
                </a:lnTo>
                <a:lnTo>
                  <a:pt x="24634" y="31"/>
                </a:lnTo>
                <a:lnTo>
                  <a:pt x="35496" y="0"/>
                </a:lnTo>
                <a:lnTo>
                  <a:pt x="46470" y="104"/>
                </a:lnTo>
                <a:lnTo>
                  <a:pt x="49995" y="163"/>
                </a:lnTo>
                <a:lnTo>
                  <a:pt x="52580" y="121"/>
                </a:lnTo>
                <a:lnTo>
                  <a:pt x="54618" y="272"/>
                </a:lnTo>
                <a:lnTo>
                  <a:pt x="56349" y="412"/>
                </a:lnTo>
                <a:lnTo>
                  <a:pt x="57752" y="345"/>
                </a:lnTo>
                <a:lnTo>
                  <a:pt x="59128" y="410"/>
                </a:lnTo>
                <a:lnTo>
                  <a:pt x="60436" y="685"/>
                </a:lnTo>
                <a:lnTo>
                  <a:pt x="61397" y="873"/>
                </a:lnTo>
                <a:lnTo>
                  <a:pt x="62478" y="814"/>
                </a:lnTo>
                <a:lnTo>
                  <a:pt x="63455" y="1138"/>
                </a:lnTo>
                <a:lnTo>
                  <a:pt x="64178" y="1362"/>
                </a:lnTo>
                <a:lnTo>
                  <a:pt x="65002" y="1456"/>
                </a:lnTo>
                <a:lnTo>
                  <a:pt x="65658" y="1753"/>
                </a:lnTo>
                <a:lnTo>
                  <a:pt x="66460" y="1879"/>
                </a:lnTo>
                <a:lnTo>
                  <a:pt x="66962" y="2385"/>
                </a:lnTo>
                <a:lnTo>
                  <a:pt x="67630" y="2535"/>
                </a:lnTo>
                <a:lnTo>
                  <a:pt x="68094" y="2834"/>
                </a:lnTo>
                <a:lnTo>
                  <a:pt x="68590" y="3307"/>
                </a:lnTo>
                <a:lnTo>
                  <a:pt x="69141" y="3605"/>
                </a:lnTo>
                <a:lnTo>
                  <a:pt x="69558" y="4129"/>
                </a:lnTo>
                <a:lnTo>
                  <a:pt x="69874" y="4457"/>
                </a:lnTo>
                <a:lnTo>
                  <a:pt x="69990" y="4969"/>
                </a:lnTo>
                <a:lnTo>
                  <a:pt x="70361" y="5523"/>
                </a:lnTo>
                <a:lnTo>
                  <a:pt x="70581" y="6186"/>
                </a:lnTo>
                <a:lnTo>
                  <a:pt x="70859" y="6783"/>
                </a:lnTo>
                <a:lnTo>
                  <a:pt x="70867" y="7773"/>
                </a:lnTo>
                <a:lnTo>
                  <a:pt x="70938" y="8871"/>
                </a:lnTo>
                <a:lnTo>
                  <a:pt x="71134" y="10130"/>
                </a:lnTo>
                <a:lnTo>
                  <a:pt x="71024" y="14742"/>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7024421" y="6812463"/>
            <a:ext cx="86685" cy="218267"/>
          </a:xfrm>
          <a:custGeom>
            <a:avLst/>
            <a:gdLst/>
            <a:ahLst/>
            <a:cxnLst/>
            <a:rect l="l" t="t" r="r" b="b"/>
            <a:pathLst>
              <a:path w="948" h="2387">
                <a:moveTo>
                  <a:pt x="948" y="0"/>
                </a:moveTo>
                <a:lnTo>
                  <a:pt x="771" y="710"/>
                </a:lnTo>
                <a:lnTo>
                  <a:pt x="555" y="1332"/>
                </a:lnTo>
                <a:lnTo>
                  <a:pt x="298" y="1886"/>
                </a:lnTo>
                <a:lnTo>
                  <a:pt x="0" y="238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6047384" y="7341992"/>
            <a:ext cx="392186" cy="54224"/>
          </a:xfrm>
          <a:custGeom>
            <a:avLst/>
            <a:gdLst/>
            <a:ahLst/>
            <a:cxnLst/>
            <a:rect l="l" t="t" r="r" b="b"/>
            <a:pathLst>
              <a:path w="4289" h="593">
                <a:moveTo>
                  <a:pt x="4289" y="0"/>
                </a:moveTo>
                <a:lnTo>
                  <a:pt x="3354" y="175"/>
                </a:lnTo>
                <a:lnTo>
                  <a:pt x="2335" y="332"/>
                </a:lnTo>
                <a:lnTo>
                  <a:pt x="1223" y="471"/>
                </a:lnTo>
                <a:lnTo>
                  <a:pt x="0" y="593"/>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1631472" y="7385060"/>
            <a:ext cx="533004" cy="35479"/>
          </a:xfrm>
          <a:custGeom>
            <a:avLst/>
            <a:gdLst/>
            <a:ahLst/>
            <a:cxnLst/>
            <a:rect l="l" t="t" r="r" b="b"/>
            <a:pathLst>
              <a:path w="5829" h="388">
                <a:moveTo>
                  <a:pt x="5829" y="388"/>
                </a:moveTo>
                <a:lnTo>
                  <a:pt x="4096" y="316"/>
                </a:lnTo>
                <a:lnTo>
                  <a:pt x="2577" y="227"/>
                </a:lnTo>
                <a:lnTo>
                  <a:pt x="1223" y="122"/>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739018" y="6984919"/>
            <a:ext cx="132497" cy="160660"/>
          </a:xfrm>
          <a:custGeom>
            <a:avLst/>
            <a:gdLst/>
            <a:ahLst/>
            <a:cxnLst/>
            <a:rect l="l" t="t" r="r" b="b"/>
            <a:pathLst>
              <a:path w="1449" h="1757">
                <a:moveTo>
                  <a:pt x="1449" y="1757"/>
                </a:moveTo>
                <a:lnTo>
                  <a:pt x="1022" y="1374"/>
                </a:lnTo>
                <a:lnTo>
                  <a:pt x="639" y="957"/>
                </a:lnTo>
                <a:lnTo>
                  <a:pt x="298" y="501"/>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679582" y="5176510"/>
            <a:ext cx="86685" cy="218267"/>
          </a:xfrm>
          <a:custGeom>
            <a:avLst/>
            <a:gdLst/>
            <a:ahLst/>
            <a:cxnLst/>
            <a:rect l="l" t="t" r="r" b="b"/>
            <a:pathLst>
              <a:path w="948" h="2387">
                <a:moveTo>
                  <a:pt x="0" y="2387"/>
                </a:moveTo>
                <a:lnTo>
                  <a:pt x="177" y="1677"/>
                </a:lnTo>
                <a:lnTo>
                  <a:pt x="393" y="1055"/>
                </a:lnTo>
                <a:lnTo>
                  <a:pt x="650" y="501"/>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1351117" y="4811024"/>
            <a:ext cx="392186" cy="54224"/>
          </a:xfrm>
          <a:custGeom>
            <a:avLst/>
            <a:gdLst/>
            <a:ahLst/>
            <a:cxnLst/>
            <a:rect l="l" t="t" r="r" b="b"/>
            <a:pathLst>
              <a:path w="4289" h="593">
                <a:moveTo>
                  <a:pt x="0" y="593"/>
                </a:moveTo>
                <a:lnTo>
                  <a:pt x="935" y="418"/>
                </a:lnTo>
                <a:lnTo>
                  <a:pt x="1954" y="261"/>
                </a:lnTo>
                <a:lnTo>
                  <a:pt x="3066" y="122"/>
                </a:lnTo>
                <a:lnTo>
                  <a:pt x="428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5626212" y="4786701"/>
            <a:ext cx="533004" cy="35479"/>
          </a:xfrm>
          <a:custGeom>
            <a:avLst/>
            <a:gdLst/>
            <a:ahLst/>
            <a:cxnLst/>
            <a:rect l="l" t="t" r="r" b="b"/>
            <a:pathLst>
              <a:path w="5829" h="388">
                <a:moveTo>
                  <a:pt x="0" y="0"/>
                </a:moveTo>
                <a:lnTo>
                  <a:pt x="1733" y="72"/>
                </a:lnTo>
                <a:lnTo>
                  <a:pt x="3252" y="161"/>
                </a:lnTo>
                <a:lnTo>
                  <a:pt x="4606" y="266"/>
                </a:lnTo>
                <a:lnTo>
                  <a:pt x="5829" y="388"/>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6919173" y="5061661"/>
            <a:ext cx="132497" cy="160660"/>
          </a:xfrm>
          <a:custGeom>
            <a:avLst/>
            <a:gdLst/>
            <a:ahLst/>
            <a:cxnLst/>
            <a:rect l="l" t="t" r="r" b="b"/>
            <a:pathLst>
              <a:path w="1449" h="1757">
                <a:moveTo>
                  <a:pt x="0" y="0"/>
                </a:moveTo>
                <a:lnTo>
                  <a:pt x="427" y="383"/>
                </a:lnTo>
                <a:lnTo>
                  <a:pt x="810" y="800"/>
                </a:lnTo>
                <a:lnTo>
                  <a:pt x="1151" y="1256"/>
                </a:lnTo>
                <a:lnTo>
                  <a:pt x="1449" y="175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ody: Recommendation"/>
          <p:cNvSpPr txBox="1"/>
          <p:nvPr/>
        </p:nvSpPr>
        <p:spPr>
          <a:xfrm>
            <a:off x="996695" y="4899152"/>
            <a:ext cx="5797296"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4E7892"/>
                </a:solidFill>
                <a:latin typeface="Chalkboard SE"/>
              </a:rPr>
              <a:t>Recommendation</a:t>
            </a:r>
          </a:p>
        </p:txBody>
      </p:sp>
      <p:sp>
        <p:nvSpPr>
          <p:cNvPr id="41" name="Oval 40"/>
          <p:cNvSpPr/>
          <p:nvPr/>
        </p:nvSpPr>
        <p:spPr>
          <a:xfrm>
            <a:off x="909828" y="566648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dy: Ship A first and make it good"/>
          <p:cNvSpPr txBox="1"/>
          <p:nvPr/>
        </p:nvSpPr>
        <p:spPr>
          <a:xfrm>
            <a:off x="1143000" y="5565902"/>
            <a:ext cx="5751576"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Ship A first and make it good</a:t>
            </a:r>
          </a:p>
        </p:txBody>
      </p:sp>
      <p:sp>
        <p:nvSpPr>
          <p:cNvPr id="43" name="Oval 42"/>
          <p:cNvSpPr/>
          <p:nvPr/>
        </p:nvSpPr>
        <p:spPr>
          <a:xfrm>
            <a:off x="909828" y="613079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ody: Design the shared schema for B from day one"/>
          <p:cNvSpPr txBox="1"/>
          <p:nvPr/>
        </p:nvSpPr>
        <p:spPr>
          <a:xfrm>
            <a:off x="1143000" y="6030214"/>
            <a:ext cx="5751576"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Design the shared schema for B from day one</a:t>
            </a:r>
          </a:p>
        </p:txBody>
      </p:sp>
      <p:sp>
        <p:nvSpPr>
          <p:cNvPr id="45" name="Oval 44"/>
          <p:cNvSpPr/>
          <p:nvPr/>
        </p:nvSpPr>
        <p:spPr>
          <a:xfrm>
            <a:off x="909828" y="659511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 Do not design around C; a mandate needs a reproducible library f"/>
          <p:cNvSpPr txBox="1"/>
          <p:nvPr/>
        </p:nvSpPr>
        <p:spPr>
          <a:xfrm>
            <a:off x="1143000" y="6494526"/>
            <a:ext cx="5751576"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Do not design around C; a mandate needs a</a:t>
            </a:r>
            <a:br/>
            <a:r>
              <a:rPr sz="2000" b="0">
                <a:solidFill>
                  <a:srgbClr val="293E46"/>
                </a:solidFill>
                <a:latin typeface="Trebuchet MS"/>
              </a:rPr>
              <a:t>reproducible library first</a:t>
            </a:r>
          </a:p>
        </p:txBody>
      </p:sp>
      <p:sp>
        <p:nvSpPr>
          <p:cNvPr id="47" name="Rounded Rectangle 46"/>
          <p:cNvSpPr/>
          <p:nvPr/>
        </p:nvSpPr>
        <p:spPr>
          <a:xfrm>
            <a:off x="7479792" y="4764024"/>
            <a:ext cx="6510528" cy="2679192"/>
          </a:xfrm>
          <a:prstGeom prst="roundRect">
            <a:avLst>
              <a:gd name="adj" fmla="val 18000"/>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7482992" y="4767682"/>
            <a:ext cx="6502664" cy="2669316"/>
          </a:xfrm>
          <a:custGeom>
            <a:avLst/>
            <a:gdLst/>
            <a:ahLst/>
            <a:cxnLst/>
            <a:rect l="l" t="t" r="r" b="b"/>
            <a:pathLst>
              <a:path w="71114" h="29192">
                <a:moveTo>
                  <a:pt x="70974" y="14595"/>
                </a:moveTo>
                <a:lnTo>
                  <a:pt x="70955" y="19048"/>
                </a:lnTo>
                <a:lnTo>
                  <a:pt x="71013" y="20566"/>
                </a:lnTo>
                <a:lnTo>
                  <a:pt x="70971" y="21419"/>
                </a:lnTo>
                <a:lnTo>
                  <a:pt x="70760" y="22384"/>
                </a:lnTo>
                <a:lnTo>
                  <a:pt x="70516" y="23154"/>
                </a:lnTo>
                <a:lnTo>
                  <a:pt x="70214" y="23775"/>
                </a:lnTo>
                <a:lnTo>
                  <a:pt x="70027" y="24271"/>
                </a:lnTo>
                <a:lnTo>
                  <a:pt x="69757" y="24825"/>
                </a:lnTo>
                <a:lnTo>
                  <a:pt x="69548" y="25213"/>
                </a:lnTo>
                <a:lnTo>
                  <a:pt x="69142" y="25718"/>
                </a:lnTo>
                <a:lnTo>
                  <a:pt x="68597" y="26021"/>
                </a:lnTo>
                <a:lnTo>
                  <a:pt x="68284" y="26292"/>
                </a:lnTo>
                <a:lnTo>
                  <a:pt x="67608" y="26686"/>
                </a:lnTo>
                <a:lnTo>
                  <a:pt x="67049" y="26973"/>
                </a:lnTo>
                <a:lnTo>
                  <a:pt x="66538" y="27364"/>
                </a:lnTo>
                <a:lnTo>
                  <a:pt x="65788" y="27429"/>
                </a:lnTo>
                <a:lnTo>
                  <a:pt x="65160" y="27847"/>
                </a:lnTo>
                <a:lnTo>
                  <a:pt x="64124" y="28025"/>
                </a:lnTo>
                <a:lnTo>
                  <a:pt x="63311" y="28217"/>
                </a:lnTo>
                <a:lnTo>
                  <a:pt x="62393" y="28389"/>
                </a:lnTo>
                <a:lnTo>
                  <a:pt x="61381" y="28444"/>
                </a:lnTo>
                <a:lnTo>
                  <a:pt x="60272" y="28705"/>
                </a:lnTo>
                <a:lnTo>
                  <a:pt x="59122" y="28644"/>
                </a:lnTo>
                <a:lnTo>
                  <a:pt x="57726" y="28763"/>
                </a:lnTo>
                <a:lnTo>
                  <a:pt x="56249" y="28830"/>
                </a:lnTo>
                <a:lnTo>
                  <a:pt x="54549" y="29025"/>
                </a:lnTo>
                <a:lnTo>
                  <a:pt x="52437" y="28992"/>
                </a:lnTo>
                <a:lnTo>
                  <a:pt x="49944" y="29192"/>
                </a:lnTo>
                <a:lnTo>
                  <a:pt x="46514" y="29058"/>
                </a:lnTo>
                <a:lnTo>
                  <a:pt x="35575" y="29037"/>
                </a:lnTo>
                <a:lnTo>
                  <a:pt x="24727" y="29160"/>
                </a:lnTo>
                <a:lnTo>
                  <a:pt x="21120" y="29118"/>
                </a:lnTo>
                <a:lnTo>
                  <a:pt x="18572" y="28968"/>
                </a:lnTo>
                <a:lnTo>
                  <a:pt x="16727" y="28944"/>
                </a:lnTo>
                <a:lnTo>
                  <a:pt x="14822" y="28918"/>
                </a:lnTo>
                <a:lnTo>
                  <a:pt x="13346" y="28912"/>
                </a:lnTo>
                <a:lnTo>
                  <a:pt x="11984" y="28845"/>
                </a:lnTo>
                <a:lnTo>
                  <a:pt x="10726" y="28703"/>
                </a:lnTo>
                <a:lnTo>
                  <a:pt x="9677" y="28412"/>
                </a:lnTo>
                <a:lnTo>
                  <a:pt x="8569" y="28426"/>
                </a:lnTo>
                <a:lnTo>
                  <a:pt x="7664" y="28127"/>
                </a:lnTo>
                <a:lnTo>
                  <a:pt x="6972" y="27966"/>
                </a:lnTo>
                <a:lnTo>
                  <a:pt x="6019" y="27776"/>
                </a:lnTo>
                <a:lnTo>
                  <a:pt x="5391" y="27537"/>
                </a:lnTo>
                <a:lnTo>
                  <a:pt x="4555" y="27169"/>
                </a:lnTo>
                <a:lnTo>
                  <a:pt x="3985" y="26963"/>
                </a:lnTo>
                <a:lnTo>
                  <a:pt x="3377" y="26694"/>
                </a:lnTo>
                <a:lnTo>
                  <a:pt x="2935" y="26321"/>
                </a:lnTo>
                <a:lnTo>
                  <a:pt x="2393" y="25933"/>
                </a:lnTo>
                <a:lnTo>
                  <a:pt x="2010" y="25621"/>
                </a:lnTo>
                <a:lnTo>
                  <a:pt x="1760" y="25233"/>
                </a:lnTo>
                <a:lnTo>
                  <a:pt x="1224" y="24813"/>
                </a:lnTo>
                <a:lnTo>
                  <a:pt x="1097" y="24169"/>
                </a:lnTo>
                <a:lnTo>
                  <a:pt x="828" y="23580"/>
                </a:lnTo>
                <a:lnTo>
                  <a:pt x="460" y="23043"/>
                </a:lnTo>
                <a:lnTo>
                  <a:pt x="484" y="22272"/>
                </a:lnTo>
                <a:lnTo>
                  <a:pt x="223" y="21496"/>
                </a:lnTo>
                <a:lnTo>
                  <a:pt x="216" y="20603"/>
                </a:lnTo>
                <a:lnTo>
                  <a:pt x="134" y="19075"/>
                </a:lnTo>
                <a:lnTo>
                  <a:pt x="0" y="14508"/>
                </a:lnTo>
                <a:lnTo>
                  <a:pt x="124" y="10079"/>
                </a:lnTo>
                <a:lnTo>
                  <a:pt x="114" y="8605"/>
                </a:lnTo>
                <a:lnTo>
                  <a:pt x="208" y="7617"/>
                </a:lnTo>
                <a:lnTo>
                  <a:pt x="329" y="6941"/>
                </a:lnTo>
                <a:lnTo>
                  <a:pt x="569" y="6213"/>
                </a:lnTo>
                <a:lnTo>
                  <a:pt x="881" y="5520"/>
                </a:lnTo>
                <a:lnTo>
                  <a:pt x="958" y="5063"/>
                </a:lnTo>
                <a:lnTo>
                  <a:pt x="1233" y="4413"/>
                </a:lnTo>
                <a:lnTo>
                  <a:pt x="1591" y="3954"/>
                </a:lnTo>
                <a:lnTo>
                  <a:pt x="1982" y="3511"/>
                </a:lnTo>
                <a:lnTo>
                  <a:pt x="2599" y="3277"/>
                </a:lnTo>
                <a:lnTo>
                  <a:pt x="2941" y="2882"/>
                </a:lnTo>
                <a:lnTo>
                  <a:pt x="3547" y="2542"/>
                </a:lnTo>
                <a:lnTo>
                  <a:pt x="4012" y="2308"/>
                </a:lnTo>
                <a:lnTo>
                  <a:pt x="4667" y="2049"/>
                </a:lnTo>
                <a:lnTo>
                  <a:pt x="5441" y="1750"/>
                </a:lnTo>
                <a:lnTo>
                  <a:pt x="5973" y="1555"/>
                </a:lnTo>
                <a:lnTo>
                  <a:pt x="6836" y="1328"/>
                </a:lnTo>
                <a:lnTo>
                  <a:pt x="7676" y="1082"/>
                </a:lnTo>
                <a:lnTo>
                  <a:pt x="8708" y="1000"/>
                </a:lnTo>
                <a:lnTo>
                  <a:pt x="9743" y="681"/>
                </a:lnTo>
                <a:lnTo>
                  <a:pt x="10937" y="581"/>
                </a:lnTo>
                <a:lnTo>
                  <a:pt x="12138" y="397"/>
                </a:lnTo>
                <a:lnTo>
                  <a:pt x="13478" y="483"/>
                </a:lnTo>
                <a:lnTo>
                  <a:pt x="14981" y="322"/>
                </a:lnTo>
                <a:lnTo>
                  <a:pt x="16752" y="314"/>
                </a:lnTo>
                <a:lnTo>
                  <a:pt x="18716" y="230"/>
                </a:lnTo>
                <a:lnTo>
                  <a:pt x="21080" y="62"/>
                </a:lnTo>
                <a:lnTo>
                  <a:pt x="24565" y="75"/>
                </a:lnTo>
                <a:lnTo>
                  <a:pt x="35474" y="133"/>
                </a:lnTo>
                <a:lnTo>
                  <a:pt x="46462" y="14"/>
                </a:lnTo>
                <a:lnTo>
                  <a:pt x="49908" y="0"/>
                </a:lnTo>
                <a:lnTo>
                  <a:pt x="52352" y="162"/>
                </a:lnTo>
                <a:lnTo>
                  <a:pt x="54420" y="219"/>
                </a:lnTo>
                <a:lnTo>
                  <a:pt x="56309" y="187"/>
                </a:lnTo>
                <a:lnTo>
                  <a:pt x="57696" y="360"/>
                </a:lnTo>
                <a:lnTo>
                  <a:pt x="59087" y="413"/>
                </a:lnTo>
                <a:lnTo>
                  <a:pt x="60319" y="619"/>
                </a:lnTo>
                <a:lnTo>
                  <a:pt x="61563" y="630"/>
                </a:lnTo>
                <a:lnTo>
                  <a:pt x="62378" y="775"/>
                </a:lnTo>
                <a:lnTo>
                  <a:pt x="63438" y="1105"/>
                </a:lnTo>
                <a:lnTo>
                  <a:pt x="64333" y="1183"/>
                </a:lnTo>
                <a:lnTo>
                  <a:pt x="64960" y="1509"/>
                </a:lnTo>
                <a:lnTo>
                  <a:pt x="65818" y="1680"/>
                </a:lnTo>
                <a:lnTo>
                  <a:pt x="66475" y="1893"/>
                </a:lnTo>
                <a:lnTo>
                  <a:pt x="67071" y="2268"/>
                </a:lnTo>
                <a:lnTo>
                  <a:pt x="67712" y="2503"/>
                </a:lnTo>
                <a:lnTo>
                  <a:pt x="68103" y="2934"/>
                </a:lnTo>
                <a:lnTo>
                  <a:pt x="68611" y="3329"/>
                </a:lnTo>
                <a:lnTo>
                  <a:pt x="68943" y="3525"/>
                </a:lnTo>
                <a:lnTo>
                  <a:pt x="69363" y="4005"/>
                </a:lnTo>
                <a:lnTo>
                  <a:pt x="69720" y="4422"/>
                </a:lnTo>
                <a:lnTo>
                  <a:pt x="70073" y="4947"/>
                </a:lnTo>
                <a:lnTo>
                  <a:pt x="70375" y="5423"/>
                </a:lnTo>
                <a:lnTo>
                  <a:pt x="70454" y="6109"/>
                </a:lnTo>
                <a:lnTo>
                  <a:pt x="70677" y="6751"/>
                </a:lnTo>
                <a:lnTo>
                  <a:pt x="70775" y="7756"/>
                </a:lnTo>
                <a:lnTo>
                  <a:pt x="71077" y="8733"/>
                </a:lnTo>
                <a:lnTo>
                  <a:pt x="71114" y="10137"/>
                </a:lnTo>
                <a:lnTo>
                  <a:pt x="71075" y="14601"/>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7487199" y="4770608"/>
            <a:ext cx="6500835" cy="2667579"/>
          </a:xfrm>
          <a:custGeom>
            <a:avLst/>
            <a:gdLst/>
            <a:ahLst/>
            <a:cxnLst/>
            <a:rect l="l" t="t" r="r" b="b"/>
            <a:pathLst>
              <a:path w="71094" h="29173">
                <a:moveTo>
                  <a:pt x="70982" y="14492"/>
                </a:moveTo>
                <a:lnTo>
                  <a:pt x="71094" y="19083"/>
                </a:lnTo>
                <a:lnTo>
                  <a:pt x="70897" y="20555"/>
                </a:lnTo>
                <a:lnTo>
                  <a:pt x="70936" y="21449"/>
                </a:lnTo>
                <a:lnTo>
                  <a:pt x="70627" y="22386"/>
                </a:lnTo>
                <a:lnTo>
                  <a:pt x="70530" y="22984"/>
                </a:lnTo>
                <a:lnTo>
                  <a:pt x="70362" y="23703"/>
                </a:lnTo>
                <a:lnTo>
                  <a:pt x="70087" y="24127"/>
                </a:lnTo>
                <a:lnTo>
                  <a:pt x="69821" y="24820"/>
                </a:lnTo>
                <a:lnTo>
                  <a:pt x="69349" y="25192"/>
                </a:lnTo>
                <a:lnTo>
                  <a:pt x="68936" y="25601"/>
                </a:lnTo>
                <a:lnTo>
                  <a:pt x="68714" y="25875"/>
                </a:lnTo>
                <a:lnTo>
                  <a:pt x="68188" y="26297"/>
                </a:lnTo>
                <a:lnTo>
                  <a:pt x="67567" y="26625"/>
                </a:lnTo>
                <a:lnTo>
                  <a:pt x="67042" y="27005"/>
                </a:lnTo>
                <a:lnTo>
                  <a:pt x="66454" y="27308"/>
                </a:lnTo>
                <a:lnTo>
                  <a:pt x="65656" y="27582"/>
                </a:lnTo>
                <a:lnTo>
                  <a:pt x="64899" y="27693"/>
                </a:lnTo>
                <a:lnTo>
                  <a:pt x="64199" y="27937"/>
                </a:lnTo>
                <a:lnTo>
                  <a:pt x="63333" y="28212"/>
                </a:lnTo>
                <a:lnTo>
                  <a:pt x="62427" y="28357"/>
                </a:lnTo>
                <a:lnTo>
                  <a:pt x="61328" y="28361"/>
                </a:lnTo>
                <a:lnTo>
                  <a:pt x="60344" y="28540"/>
                </a:lnTo>
                <a:lnTo>
                  <a:pt x="58997" y="28716"/>
                </a:lnTo>
                <a:lnTo>
                  <a:pt x="57637" y="28730"/>
                </a:lnTo>
                <a:lnTo>
                  <a:pt x="56067" y="28818"/>
                </a:lnTo>
                <a:lnTo>
                  <a:pt x="54356" y="28943"/>
                </a:lnTo>
                <a:lnTo>
                  <a:pt x="52390" y="28985"/>
                </a:lnTo>
                <a:lnTo>
                  <a:pt x="50002" y="29135"/>
                </a:lnTo>
                <a:lnTo>
                  <a:pt x="46320" y="29014"/>
                </a:lnTo>
                <a:lnTo>
                  <a:pt x="35561" y="29153"/>
                </a:lnTo>
                <a:lnTo>
                  <a:pt x="24607" y="29009"/>
                </a:lnTo>
                <a:lnTo>
                  <a:pt x="21263" y="29173"/>
                </a:lnTo>
                <a:lnTo>
                  <a:pt x="18576" y="28950"/>
                </a:lnTo>
                <a:lnTo>
                  <a:pt x="16569" y="29069"/>
                </a:lnTo>
                <a:lnTo>
                  <a:pt x="14937" y="29007"/>
                </a:lnTo>
                <a:lnTo>
                  <a:pt x="13297" y="28859"/>
                </a:lnTo>
                <a:lnTo>
                  <a:pt x="12090" y="28601"/>
                </a:lnTo>
                <a:lnTo>
                  <a:pt x="10811" y="28625"/>
                </a:lnTo>
                <a:lnTo>
                  <a:pt x="9688" y="28565"/>
                </a:lnTo>
                <a:lnTo>
                  <a:pt x="8533" y="28224"/>
                </a:lnTo>
                <a:lnTo>
                  <a:pt x="7684" y="28181"/>
                </a:lnTo>
                <a:lnTo>
                  <a:pt x="6709" y="27851"/>
                </a:lnTo>
                <a:lnTo>
                  <a:pt x="6089" y="27768"/>
                </a:lnTo>
                <a:lnTo>
                  <a:pt x="5253" y="27527"/>
                </a:lnTo>
                <a:lnTo>
                  <a:pt x="4609" y="27257"/>
                </a:lnTo>
                <a:lnTo>
                  <a:pt x="4070" y="26897"/>
                </a:lnTo>
                <a:lnTo>
                  <a:pt x="3448" y="26544"/>
                </a:lnTo>
                <a:lnTo>
                  <a:pt x="2932" y="26284"/>
                </a:lnTo>
                <a:lnTo>
                  <a:pt x="2462" y="25957"/>
                </a:lnTo>
                <a:lnTo>
                  <a:pt x="2151" y="25699"/>
                </a:lnTo>
                <a:lnTo>
                  <a:pt x="1579" y="25082"/>
                </a:lnTo>
                <a:lnTo>
                  <a:pt x="1173" y="24655"/>
                </a:lnTo>
                <a:lnTo>
                  <a:pt x="927" y="24113"/>
                </a:lnTo>
                <a:lnTo>
                  <a:pt x="776" y="23676"/>
                </a:lnTo>
                <a:lnTo>
                  <a:pt x="569" y="23079"/>
                </a:lnTo>
                <a:lnTo>
                  <a:pt x="390" y="22360"/>
                </a:lnTo>
                <a:lnTo>
                  <a:pt x="307" y="21439"/>
                </a:lnTo>
                <a:lnTo>
                  <a:pt x="92" y="20559"/>
                </a:lnTo>
                <a:lnTo>
                  <a:pt x="40" y="19008"/>
                </a:lnTo>
                <a:lnTo>
                  <a:pt x="78" y="14461"/>
                </a:lnTo>
                <a:lnTo>
                  <a:pt x="154" y="10117"/>
                </a:lnTo>
                <a:lnTo>
                  <a:pt x="0" y="8756"/>
                </a:lnTo>
                <a:lnTo>
                  <a:pt x="270" y="7618"/>
                </a:lnTo>
                <a:lnTo>
                  <a:pt x="401" y="6732"/>
                </a:lnTo>
                <a:lnTo>
                  <a:pt x="401" y="6102"/>
                </a:lnTo>
                <a:lnTo>
                  <a:pt x="715" y="5517"/>
                </a:lnTo>
                <a:lnTo>
                  <a:pt x="907" y="4943"/>
                </a:lnTo>
                <a:lnTo>
                  <a:pt x="1317" y="4553"/>
                </a:lnTo>
                <a:lnTo>
                  <a:pt x="1521" y="4062"/>
                </a:lnTo>
                <a:lnTo>
                  <a:pt x="1969" y="3643"/>
                </a:lnTo>
                <a:lnTo>
                  <a:pt x="2326" y="3130"/>
                </a:lnTo>
                <a:lnTo>
                  <a:pt x="2898" y="2759"/>
                </a:lnTo>
                <a:lnTo>
                  <a:pt x="3425" y="2606"/>
                </a:lnTo>
                <a:lnTo>
                  <a:pt x="4105" y="2116"/>
                </a:lnTo>
                <a:lnTo>
                  <a:pt x="4668" y="1876"/>
                </a:lnTo>
                <a:lnTo>
                  <a:pt x="5327" y="1727"/>
                </a:lnTo>
                <a:lnTo>
                  <a:pt x="6102" y="1512"/>
                </a:lnTo>
                <a:lnTo>
                  <a:pt x="6873" y="1118"/>
                </a:lnTo>
                <a:lnTo>
                  <a:pt x="7715" y="935"/>
                </a:lnTo>
                <a:lnTo>
                  <a:pt x="8740" y="929"/>
                </a:lnTo>
                <a:lnTo>
                  <a:pt x="9671" y="627"/>
                </a:lnTo>
                <a:lnTo>
                  <a:pt x="10680" y="624"/>
                </a:lnTo>
                <a:lnTo>
                  <a:pt x="11922" y="341"/>
                </a:lnTo>
                <a:lnTo>
                  <a:pt x="13409" y="325"/>
                </a:lnTo>
                <a:lnTo>
                  <a:pt x="14847" y="235"/>
                </a:lnTo>
                <a:lnTo>
                  <a:pt x="16584" y="221"/>
                </a:lnTo>
                <a:lnTo>
                  <a:pt x="18683" y="223"/>
                </a:lnTo>
                <a:lnTo>
                  <a:pt x="21121" y="0"/>
                </a:lnTo>
                <a:lnTo>
                  <a:pt x="24562" y="15"/>
                </a:lnTo>
                <a:lnTo>
                  <a:pt x="35598" y="11"/>
                </a:lnTo>
                <a:lnTo>
                  <a:pt x="46544" y="90"/>
                </a:lnTo>
                <a:lnTo>
                  <a:pt x="49986" y="58"/>
                </a:lnTo>
                <a:lnTo>
                  <a:pt x="52366" y="9"/>
                </a:lnTo>
                <a:lnTo>
                  <a:pt x="54503" y="71"/>
                </a:lnTo>
                <a:lnTo>
                  <a:pt x="56228" y="349"/>
                </a:lnTo>
                <a:lnTo>
                  <a:pt x="57771" y="332"/>
                </a:lnTo>
                <a:lnTo>
                  <a:pt x="59011" y="334"/>
                </a:lnTo>
                <a:lnTo>
                  <a:pt x="60387" y="456"/>
                </a:lnTo>
                <a:lnTo>
                  <a:pt x="61468" y="775"/>
                </a:lnTo>
                <a:lnTo>
                  <a:pt x="62417" y="898"/>
                </a:lnTo>
                <a:lnTo>
                  <a:pt x="63369" y="1126"/>
                </a:lnTo>
                <a:lnTo>
                  <a:pt x="64185" y="1134"/>
                </a:lnTo>
                <a:lnTo>
                  <a:pt x="64923" y="1323"/>
                </a:lnTo>
                <a:lnTo>
                  <a:pt x="65823" y="1623"/>
                </a:lnTo>
                <a:lnTo>
                  <a:pt x="66463" y="1980"/>
                </a:lnTo>
                <a:lnTo>
                  <a:pt x="67090" y="2258"/>
                </a:lnTo>
                <a:lnTo>
                  <a:pt x="67510" y="2583"/>
                </a:lnTo>
                <a:lnTo>
                  <a:pt x="68143" y="2711"/>
                </a:lnTo>
                <a:lnTo>
                  <a:pt x="68602" y="3117"/>
                </a:lnTo>
                <a:lnTo>
                  <a:pt x="69087" y="3527"/>
                </a:lnTo>
                <a:lnTo>
                  <a:pt x="69476" y="4095"/>
                </a:lnTo>
                <a:lnTo>
                  <a:pt x="69728" y="4366"/>
                </a:lnTo>
                <a:lnTo>
                  <a:pt x="70096" y="4909"/>
                </a:lnTo>
                <a:lnTo>
                  <a:pt x="70183" y="5438"/>
                </a:lnTo>
                <a:lnTo>
                  <a:pt x="70525" y="6155"/>
                </a:lnTo>
                <a:lnTo>
                  <a:pt x="70569" y="6815"/>
                </a:lnTo>
                <a:lnTo>
                  <a:pt x="70921" y="7597"/>
                </a:lnTo>
                <a:lnTo>
                  <a:pt x="70861" y="8650"/>
                </a:lnTo>
                <a:lnTo>
                  <a:pt x="71011" y="10014"/>
                </a:lnTo>
                <a:lnTo>
                  <a:pt x="70987" y="14617"/>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3864133" y="6812463"/>
            <a:ext cx="86685" cy="218267"/>
          </a:xfrm>
          <a:custGeom>
            <a:avLst/>
            <a:gdLst/>
            <a:ahLst/>
            <a:cxnLst/>
            <a:rect l="l" t="t" r="r" b="b"/>
            <a:pathLst>
              <a:path w="948" h="2387">
                <a:moveTo>
                  <a:pt x="948" y="0"/>
                </a:moveTo>
                <a:lnTo>
                  <a:pt x="771" y="710"/>
                </a:lnTo>
                <a:lnTo>
                  <a:pt x="555" y="1332"/>
                </a:lnTo>
                <a:lnTo>
                  <a:pt x="298" y="1886"/>
                </a:lnTo>
                <a:lnTo>
                  <a:pt x="0" y="2387"/>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2887096" y="7341992"/>
            <a:ext cx="392186" cy="54224"/>
          </a:xfrm>
          <a:custGeom>
            <a:avLst/>
            <a:gdLst/>
            <a:ahLst/>
            <a:cxnLst/>
            <a:rect l="l" t="t" r="r" b="b"/>
            <a:pathLst>
              <a:path w="4289" h="593">
                <a:moveTo>
                  <a:pt x="4289" y="0"/>
                </a:moveTo>
                <a:lnTo>
                  <a:pt x="3354" y="175"/>
                </a:lnTo>
                <a:lnTo>
                  <a:pt x="2335" y="332"/>
                </a:lnTo>
                <a:lnTo>
                  <a:pt x="1223" y="471"/>
                </a:lnTo>
                <a:lnTo>
                  <a:pt x="0" y="593"/>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8471184" y="7385060"/>
            <a:ext cx="533004" cy="35479"/>
          </a:xfrm>
          <a:custGeom>
            <a:avLst/>
            <a:gdLst/>
            <a:ahLst/>
            <a:cxnLst/>
            <a:rect l="l" t="t" r="r" b="b"/>
            <a:pathLst>
              <a:path w="5829" h="388">
                <a:moveTo>
                  <a:pt x="5829" y="388"/>
                </a:moveTo>
                <a:lnTo>
                  <a:pt x="4096" y="316"/>
                </a:lnTo>
                <a:lnTo>
                  <a:pt x="2577" y="227"/>
                </a:lnTo>
                <a:lnTo>
                  <a:pt x="1223" y="122"/>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7578730" y="6984919"/>
            <a:ext cx="132497" cy="160660"/>
          </a:xfrm>
          <a:custGeom>
            <a:avLst/>
            <a:gdLst/>
            <a:ahLst/>
            <a:cxnLst/>
            <a:rect l="l" t="t" r="r" b="b"/>
            <a:pathLst>
              <a:path w="1449" h="1757">
                <a:moveTo>
                  <a:pt x="1449" y="1757"/>
                </a:moveTo>
                <a:lnTo>
                  <a:pt x="1022" y="1374"/>
                </a:lnTo>
                <a:lnTo>
                  <a:pt x="639" y="957"/>
                </a:lnTo>
                <a:lnTo>
                  <a:pt x="298" y="501"/>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7519294" y="5176510"/>
            <a:ext cx="86685" cy="218267"/>
          </a:xfrm>
          <a:custGeom>
            <a:avLst/>
            <a:gdLst/>
            <a:ahLst/>
            <a:cxnLst/>
            <a:rect l="l" t="t" r="r" b="b"/>
            <a:pathLst>
              <a:path w="948" h="2387">
                <a:moveTo>
                  <a:pt x="0" y="2387"/>
                </a:moveTo>
                <a:lnTo>
                  <a:pt x="177" y="1677"/>
                </a:lnTo>
                <a:lnTo>
                  <a:pt x="393" y="1055"/>
                </a:lnTo>
                <a:lnTo>
                  <a:pt x="650" y="501"/>
                </a:lnTo>
                <a:lnTo>
                  <a:pt x="948"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8190829" y="4811024"/>
            <a:ext cx="392186" cy="54224"/>
          </a:xfrm>
          <a:custGeom>
            <a:avLst/>
            <a:gdLst/>
            <a:ahLst/>
            <a:cxnLst/>
            <a:rect l="l" t="t" r="r" b="b"/>
            <a:pathLst>
              <a:path w="4289" h="593">
                <a:moveTo>
                  <a:pt x="0" y="593"/>
                </a:moveTo>
                <a:lnTo>
                  <a:pt x="935" y="418"/>
                </a:lnTo>
                <a:lnTo>
                  <a:pt x="1954" y="261"/>
                </a:lnTo>
                <a:lnTo>
                  <a:pt x="3066" y="122"/>
                </a:lnTo>
                <a:lnTo>
                  <a:pt x="4289"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12465924" y="4786701"/>
            <a:ext cx="533004" cy="35479"/>
          </a:xfrm>
          <a:custGeom>
            <a:avLst/>
            <a:gdLst/>
            <a:ahLst/>
            <a:cxnLst/>
            <a:rect l="l" t="t" r="r" b="b"/>
            <a:pathLst>
              <a:path w="5829" h="388">
                <a:moveTo>
                  <a:pt x="0" y="0"/>
                </a:moveTo>
                <a:lnTo>
                  <a:pt x="1733" y="72"/>
                </a:lnTo>
                <a:lnTo>
                  <a:pt x="3252" y="161"/>
                </a:lnTo>
                <a:lnTo>
                  <a:pt x="4606" y="266"/>
                </a:lnTo>
                <a:lnTo>
                  <a:pt x="5829" y="388"/>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13758885" y="5061661"/>
            <a:ext cx="132497" cy="160660"/>
          </a:xfrm>
          <a:custGeom>
            <a:avLst/>
            <a:gdLst/>
            <a:ahLst/>
            <a:cxnLst/>
            <a:rect l="l" t="t" r="r" b="b"/>
            <a:pathLst>
              <a:path w="1449" h="1757">
                <a:moveTo>
                  <a:pt x="0" y="0"/>
                </a:moveTo>
                <a:lnTo>
                  <a:pt x="427" y="383"/>
                </a:lnTo>
                <a:lnTo>
                  <a:pt x="810" y="800"/>
                </a:lnTo>
                <a:lnTo>
                  <a:pt x="1151" y="1256"/>
                </a:lnTo>
                <a:lnTo>
                  <a:pt x="1449" y="1757"/>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 Governance in every mode"/>
          <p:cNvSpPr txBox="1"/>
          <p:nvPr/>
        </p:nvSpPr>
        <p:spPr>
          <a:xfrm>
            <a:off x="7836408" y="4899152"/>
            <a:ext cx="5797296"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AE6B55"/>
                </a:solidFill>
                <a:latin typeface="Chalkboard SE"/>
              </a:rPr>
              <a:t>Governance in every mode</a:t>
            </a:r>
          </a:p>
        </p:txBody>
      </p:sp>
      <p:sp>
        <p:nvSpPr>
          <p:cNvPr id="59" name="Oval 58"/>
          <p:cNvSpPr/>
          <p:nvPr/>
        </p:nvSpPr>
        <p:spPr>
          <a:xfrm>
            <a:off x="7749540" y="582777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ody: Humans approve cases in and policies out"/>
          <p:cNvSpPr txBox="1"/>
          <p:nvPr/>
        </p:nvSpPr>
        <p:spPr>
          <a:xfrm>
            <a:off x="7982711" y="5727192"/>
            <a:ext cx="5751576"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Humans approve cases in and policies out</a:t>
            </a:r>
          </a:p>
        </p:txBody>
      </p:sp>
      <p:sp>
        <p:nvSpPr>
          <p:cNvPr id="61" name="Oval 60"/>
          <p:cNvSpPr/>
          <p:nvPr/>
        </p:nvSpPr>
        <p:spPr>
          <a:xfrm>
            <a:off x="7749540" y="629208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 The evaluated agent never sees the library"/>
          <p:cNvSpPr txBox="1"/>
          <p:nvPr/>
        </p:nvSpPr>
        <p:spPr>
          <a:xfrm>
            <a:off x="7982711" y="6191504"/>
            <a:ext cx="5751576"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The evaluated agent never sees the library</a:t>
            </a:r>
          </a:p>
        </p:txBody>
      </p:sp>
      <p:sp>
        <p:nvSpPr>
          <p:cNvPr id="63" name="Oval 62"/>
          <p:cNvSpPr/>
          <p:nvPr/>
        </p:nvSpPr>
        <p:spPr>
          <a:xfrm>
            <a:off x="7749540" y="675640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dy: Every released rule cites its incident and trial"/>
          <p:cNvSpPr txBox="1"/>
          <p:nvPr/>
        </p:nvSpPr>
        <p:spPr>
          <a:xfrm>
            <a:off x="7982711" y="6655816"/>
            <a:ext cx="5751576"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Every released rule cites its incident and trial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3 · DESIG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3 · DESIGN</a:t>
            </a:r>
          </a:p>
        </p:txBody>
      </p:sp>
      <p:sp>
        <p:nvSpPr>
          <p:cNvPr id="3" name="title: The architecture: history → replay → policy"/>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The architecture: history → replay → policy</a:t>
            </a:r>
          </a:p>
        </p:txBody>
      </p:sp>
      <p:sp>
        <p:nvSpPr>
          <p:cNvPr id="4" name="subtitle: Three stages, one scheduled loop, one one-way exit to held-out e"/>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Three stages, one scheduled loop, one one-way exit to held-out evaluation</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14"/>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14</a:t>
            </a:r>
          </a:p>
        </p:txBody>
      </p:sp>
      <p:sp>
        <p:nvSpPr>
          <p:cNvPr id="12" name="Rounded Rectangle 11"/>
          <p:cNvSpPr/>
          <p:nvPr/>
        </p:nvSpPr>
        <p:spPr>
          <a:xfrm>
            <a:off x="2578608" y="1655063"/>
            <a:ext cx="9473184" cy="592531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580437" y="1656893"/>
            <a:ext cx="9465137" cy="5916534"/>
          </a:xfrm>
          <a:custGeom>
            <a:avLst/>
            <a:gdLst/>
            <a:ahLst/>
            <a:cxnLst/>
            <a:rect l="l" t="t" r="r" b="b"/>
            <a:pathLst>
              <a:path w="103512" h="64704">
                <a:moveTo>
                  <a:pt x="103512" y="32457"/>
                </a:moveTo>
                <a:lnTo>
                  <a:pt x="103389" y="42360"/>
                </a:lnTo>
                <a:lnTo>
                  <a:pt x="103403" y="45530"/>
                </a:lnTo>
                <a:lnTo>
                  <a:pt x="103086" y="47864"/>
                </a:lnTo>
                <a:lnTo>
                  <a:pt x="103031" y="49648"/>
                </a:lnTo>
                <a:lnTo>
                  <a:pt x="102769" y="51292"/>
                </a:lnTo>
                <a:lnTo>
                  <a:pt x="102339" y="52643"/>
                </a:lnTo>
                <a:lnTo>
                  <a:pt x="101998" y="53897"/>
                </a:lnTo>
                <a:lnTo>
                  <a:pt x="101667" y="54983"/>
                </a:lnTo>
                <a:lnTo>
                  <a:pt x="101185" y="55873"/>
                </a:lnTo>
                <a:lnTo>
                  <a:pt x="100554" y="56734"/>
                </a:lnTo>
                <a:lnTo>
                  <a:pt x="100063" y="57773"/>
                </a:lnTo>
                <a:lnTo>
                  <a:pt x="99182" y="58494"/>
                </a:lnTo>
                <a:lnTo>
                  <a:pt x="98603" y="59283"/>
                </a:lnTo>
                <a:lnTo>
                  <a:pt x="97588" y="59803"/>
                </a:lnTo>
                <a:lnTo>
                  <a:pt x="96865" y="60390"/>
                </a:lnTo>
                <a:lnTo>
                  <a:pt x="95683" y="60984"/>
                </a:lnTo>
                <a:lnTo>
                  <a:pt x="94668" y="61481"/>
                </a:lnTo>
                <a:lnTo>
                  <a:pt x="93687" y="61955"/>
                </a:lnTo>
                <a:lnTo>
                  <a:pt x="92331" y="62561"/>
                </a:lnTo>
                <a:lnTo>
                  <a:pt x="91064" y="62954"/>
                </a:lnTo>
                <a:lnTo>
                  <a:pt x="89418" y="63162"/>
                </a:lnTo>
                <a:lnTo>
                  <a:pt x="87951" y="63419"/>
                </a:lnTo>
                <a:lnTo>
                  <a:pt x="85968" y="63740"/>
                </a:lnTo>
                <a:lnTo>
                  <a:pt x="84046" y="63989"/>
                </a:lnTo>
                <a:lnTo>
                  <a:pt x="81927" y="64256"/>
                </a:lnTo>
                <a:lnTo>
                  <a:pt x="79370" y="64351"/>
                </a:lnTo>
                <a:lnTo>
                  <a:pt x="76410" y="64540"/>
                </a:lnTo>
                <a:lnTo>
                  <a:pt x="72736" y="64480"/>
                </a:lnTo>
                <a:lnTo>
                  <a:pt x="67686" y="64527"/>
                </a:lnTo>
                <a:lnTo>
                  <a:pt x="51749" y="64704"/>
                </a:lnTo>
                <a:lnTo>
                  <a:pt x="35791" y="64541"/>
                </a:lnTo>
                <a:lnTo>
                  <a:pt x="30845" y="64686"/>
                </a:lnTo>
                <a:lnTo>
                  <a:pt x="27137" y="64509"/>
                </a:lnTo>
                <a:lnTo>
                  <a:pt x="24098" y="64265"/>
                </a:lnTo>
                <a:lnTo>
                  <a:pt x="21778" y="64264"/>
                </a:lnTo>
                <a:lnTo>
                  <a:pt x="19530" y="64072"/>
                </a:lnTo>
                <a:lnTo>
                  <a:pt x="17450" y="63722"/>
                </a:lnTo>
                <a:lnTo>
                  <a:pt x="15795" y="63613"/>
                </a:lnTo>
                <a:lnTo>
                  <a:pt x="13984" y="63161"/>
                </a:lnTo>
                <a:lnTo>
                  <a:pt x="12508" y="62737"/>
                </a:lnTo>
                <a:lnTo>
                  <a:pt x="11180" y="62540"/>
                </a:lnTo>
                <a:lnTo>
                  <a:pt x="10090" y="62134"/>
                </a:lnTo>
                <a:lnTo>
                  <a:pt x="8900" y="61650"/>
                </a:lnTo>
                <a:lnTo>
                  <a:pt x="7800" y="61105"/>
                </a:lnTo>
                <a:lnTo>
                  <a:pt x="6762" y="60534"/>
                </a:lnTo>
                <a:lnTo>
                  <a:pt x="5763" y="59779"/>
                </a:lnTo>
                <a:lnTo>
                  <a:pt x="5121" y="59185"/>
                </a:lnTo>
                <a:lnTo>
                  <a:pt x="4283" y="58494"/>
                </a:lnTo>
                <a:lnTo>
                  <a:pt x="3559" y="57802"/>
                </a:lnTo>
                <a:lnTo>
                  <a:pt x="2962" y="56816"/>
                </a:lnTo>
                <a:lnTo>
                  <a:pt x="2479" y="55967"/>
                </a:lnTo>
                <a:lnTo>
                  <a:pt x="1846" y="55022"/>
                </a:lnTo>
                <a:lnTo>
                  <a:pt x="1603" y="53865"/>
                </a:lnTo>
                <a:lnTo>
                  <a:pt x="1074" y="52636"/>
                </a:lnTo>
                <a:lnTo>
                  <a:pt x="868" y="51123"/>
                </a:lnTo>
                <a:lnTo>
                  <a:pt x="644" y="49511"/>
                </a:lnTo>
                <a:lnTo>
                  <a:pt x="276" y="47855"/>
                </a:lnTo>
                <a:lnTo>
                  <a:pt x="267" y="45439"/>
                </a:lnTo>
                <a:lnTo>
                  <a:pt x="46" y="42225"/>
                </a:lnTo>
                <a:lnTo>
                  <a:pt x="115" y="32338"/>
                </a:lnTo>
                <a:lnTo>
                  <a:pt x="0" y="22539"/>
                </a:lnTo>
                <a:lnTo>
                  <a:pt x="99" y="19308"/>
                </a:lnTo>
                <a:lnTo>
                  <a:pt x="432" y="17045"/>
                </a:lnTo>
                <a:lnTo>
                  <a:pt x="625" y="15067"/>
                </a:lnTo>
                <a:lnTo>
                  <a:pt x="934" y="13664"/>
                </a:lnTo>
                <a:lnTo>
                  <a:pt x="1185" y="12214"/>
                </a:lnTo>
                <a:lnTo>
                  <a:pt x="1472" y="10950"/>
                </a:lnTo>
                <a:lnTo>
                  <a:pt x="1817" y="9737"/>
                </a:lnTo>
                <a:lnTo>
                  <a:pt x="2531" y="8898"/>
                </a:lnTo>
                <a:lnTo>
                  <a:pt x="2912" y="8021"/>
                </a:lnTo>
                <a:lnTo>
                  <a:pt x="3735" y="7014"/>
                </a:lnTo>
                <a:lnTo>
                  <a:pt x="4227" y="6380"/>
                </a:lnTo>
                <a:lnTo>
                  <a:pt x="5057" y="5506"/>
                </a:lnTo>
                <a:lnTo>
                  <a:pt x="5784" y="4927"/>
                </a:lnTo>
                <a:lnTo>
                  <a:pt x="6704" y="4266"/>
                </a:lnTo>
                <a:lnTo>
                  <a:pt x="7817" y="3639"/>
                </a:lnTo>
                <a:lnTo>
                  <a:pt x="8825" y="3128"/>
                </a:lnTo>
                <a:lnTo>
                  <a:pt x="9895" y="2832"/>
                </a:lnTo>
                <a:lnTo>
                  <a:pt x="11249" y="2355"/>
                </a:lnTo>
                <a:lnTo>
                  <a:pt x="12501" y="1813"/>
                </a:lnTo>
                <a:lnTo>
                  <a:pt x="14049" y="1624"/>
                </a:lnTo>
                <a:lnTo>
                  <a:pt x="15762" y="1281"/>
                </a:lnTo>
                <a:lnTo>
                  <a:pt x="17598" y="1077"/>
                </a:lnTo>
                <a:lnTo>
                  <a:pt x="19390" y="628"/>
                </a:lnTo>
                <a:lnTo>
                  <a:pt x="21715" y="648"/>
                </a:lnTo>
                <a:lnTo>
                  <a:pt x="24224" y="438"/>
                </a:lnTo>
                <a:lnTo>
                  <a:pt x="27267" y="374"/>
                </a:lnTo>
                <a:lnTo>
                  <a:pt x="30804" y="266"/>
                </a:lnTo>
                <a:lnTo>
                  <a:pt x="35868" y="116"/>
                </a:lnTo>
                <a:lnTo>
                  <a:pt x="51751" y="0"/>
                </a:lnTo>
                <a:lnTo>
                  <a:pt x="67669" y="70"/>
                </a:lnTo>
                <a:lnTo>
                  <a:pt x="72795" y="108"/>
                </a:lnTo>
                <a:lnTo>
                  <a:pt x="76363" y="302"/>
                </a:lnTo>
                <a:lnTo>
                  <a:pt x="79478" y="328"/>
                </a:lnTo>
                <a:lnTo>
                  <a:pt x="81874" y="550"/>
                </a:lnTo>
                <a:lnTo>
                  <a:pt x="84131" y="729"/>
                </a:lnTo>
                <a:lnTo>
                  <a:pt x="85970" y="891"/>
                </a:lnTo>
                <a:lnTo>
                  <a:pt x="87813" y="1265"/>
                </a:lnTo>
                <a:lnTo>
                  <a:pt x="89452" y="1553"/>
                </a:lnTo>
                <a:lnTo>
                  <a:pt x="90973" y="2005"/>
                </a:lnTo>
                <a:lnTo>
                  <a:pt x="92416" y="2202"/>
                </a:lnTo>
                <a:lnTo>
                  <a:pt x="93498" y="2804"/>
                </a:lnTo>
                <a:lnTo>
                  <a:pt x="94611" y="3280"/>
                </a:lnTo>
                <a:lnTo>
                  <a:pt x="95781" y="3751"/>
                </a:lnTo>
                <a:lnTo>
                  <a:pt x="96808" y="4377"/>
                </a:lnTo>
                <a:lnTo>
                  <a:pt x="97797" y="4916"/>
                </a:lnTo>
                <a:lnTo>
                  <a:pt x="98608" y="5575"/>
                </a:lnTo>
                <a:lnTo>
                  <a:pt x="99208" y="6355"/>
                </a:lnTo>
                <a:lnTo>
                  <a:pt x="99982" y="6953"/>
                </a:lnTo>
                <a:lnTo>
                  <a:pt x="100482" y="7880"/>
                </a:lnTo>
                <a:lnTo>
                  <a:pt x="101090" y="8736"/>
                </a:lnTo>
                <a:lnTo>
                  <a:pt x="101717" y="9962"/>
                </a:lnTo>
                <a:lnTo>
                  <a:pt x="102149" y="10951"/>
                </a:lnTo>
                <a:lnTo>
                  <a:pt x="102303" y="12171"/>
                </a:lnTo>
                <a:lnTo>
                  <a:pt x="102793" y="13556"/>
                </a:lnTo>
                <a:lnTo>
                  <a:pt x="102959" y="15068"/>
                </a:lnTo>
                <a:lnTo>
                  <a:pt x="103122" y="17031"/>
                </a:lnTo>
                <a:lnTo>
                  <a:pt x="103434" y="19308"/>
                </a:lnTo>
                <a:lnTo>
                  <a:pt x="103430" y="22564"/>
                </a:lnTo>
                <a:lnTo>
                  <a:pt x="103395" y="32432"/>
                </a:lnTo>
                <a:close/>
              </a:path>
            </a:pathLst>
          </a:custGeom>
          <a:noFill/>
          <a:ln w="19685" cap="rnd">
            <a:solidFill>
              <a:srgbClr val="DDD8CA">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584277" y="1662745"/>
            <a:ext cx="9461022" cy="5913699"/>
          </a:xfrm>
          <a:custGeom>
            <a:avLst/>
            <a:gdLst/>
            <a:ahLst/>
            <a:cxnLst/>
            <a:rect l="l" t="t" r="r" b="b"/>
            <a:pathLst>
              <a:path w="103467" h="64673">
                <a:moveTo>
                  <a:pt x="103376" y="32326"/>
                </a:moveTo>
                <a:lnTo>
                  <a:pt x="103453" y="42206"/>
                </a:lnTo>
                <a:lnTo>
                  <a:pt x="103206" y="45427"/>
                </a:lnTo>
                <a:lnTo>
                  <a:pt x="103197" y="47757"/>
                </a:lnTo>
                <a:lnTo>
                  <a:pt x="103022" y="49500"/>
                </a:lnTo>
                <a:lnTo>
                  <a:pt x="102760" y="51112"/>
                </a:lnTo>
                <a:lnTo>
                  <a:pt x="102378" y="52413"/>
                </a:lnTo>
                <a:lnTo>
                  <a:pt x="102131" y="53670"/>
                </a:lnTo>
                <a:lnTo>
                  <a:pt x="101558" y="54850"/>
                </a:lnTo>
                <a:lnTo>
                  <a:pt x="101198" y="55768"/>
                </a:lnTo>
                <a:lnTo>
                  <a:pt x="100405" y="56805"/>
                </a:lnTo>
                <a:lnTo>
                  <a:pt x="99915" y="57552"/>
                </a:lnTo>
                <a:lnTo>
                  <a:pt x="99220" y="58299"/>
                </a:lnTo>
                <a:lnTo>
                  <a:pt x="98468" y="59190"/>
                </a:lnTo>
                <a:lnTo>
                  <a:pt x="97573" y="59756"/>
                </a:lnTo>
                <a:lnTo>
                  <a:pt x="96664" y="60313"/>
                </a:lnTo>
                <a:lnTo>
                  <a:pt x="95754" y="60869"/>
                </a:lnTo>
                <a:lnTo>
                  <a:pt x="94610" y="61586"/>
                </a:lnTo>
                <a:lnTo>
                  <a:pt x="93434" y="61943"/>
                </a:lnTo>
                <a:lnTo>
                  <a:pt x="92359" y="62377"/>
                </a:lnTo>
                <a:lnTo>
                  <a:pt x="90921" y="62681"/>
                </a:lnTo>
                <a:lnTo>
                  <a:pt x="89466" y="63233"/>
                </a:lnTo>
                <a:lnTo>
                  <a:pt x="87805" y="63406"/>
                </a:lnTo>
                <a:lnTo>
                  <a:pt x="86005" y="63665"/>
                </a:lnTo>
                <a:lnTo>
                  <a:pt x="83943" y="63906"/>
                </a:lnTo>
                <a:lnTo>
                  <a:pt x="81746" y="64092"/>
                </a:lnTo>
                <a:lnTo>
                  <a:pt x="79397" y="64400"/>
                </a:lnTo>
                <a:lnTo>
                  <a:pt x="76222" y="64522"/>
                </a:lnTo>
                <a:lnTo>
                  <a:pt x="72786" y="64438"/>
                </a:lnTo>
                <a:lnTo>
                  <a:pt x="67574" y="64581"/>
                </a:lnTo>
                <a:lnTo>
                  <a:pt x="51735" y="64673"/>
                </a:lnTo>
                <a:lnTo>
                  <a:pt x="35789" y="64618"/>
                </a:lnTo>
                <a:lnTo>
                  <a:pt x="30778" y="64516"/>
                </a:lnTo>
                <a:lnTo>
                  <a:pt x="27009" y="64327"/>
                </a:lnTo>
                <a:lnTo>
                  <a:pt x="24153" y="64343"/>
                </a:lnTo>
                <a:lnTo>
                  <a:pt x="21594" y="64151"/>
                </a:lnTo>
                <a:lnTo>
                  <a:pt x="19463" y="63915"/>
                </a:lnTo>
                <a:lnTo>
                  <a:pt x="17438" y="63743"/>
                </a:lnTo>
                <a:lnTo>
                  <a:pt x="15775" y="63410"/>
                </a:lnTo>
                <a:lnTo>
                  <a:pt x="14074" y="63235"/>
                </a:lnTo>
                <a:lnTo>
                  <a:pt x="12578" y="62835"/>
                </a:lnTo>
                <a:lnTo>
                  <a:pt x="11132" y="62304"/>
                </a:lnTo>
                <a:lnTo>
                  <a:pt x="9991" y="61868"/>
                </a:lnTo>
                <a:lnTo>
                  <a:pt x="8844" y="61438"/>
                </a:lnTo>
                <a:lnTo>
                  <a:pt x="7823" y="61066"/>
                </a:lnTo>
                <a:lnTo>
                  <a:pt x="6622" y="60320"/>
                </a:lnTo>
                <a:lnTo>
                  <a:pt x="5798" y="59787"/>
                </a:lnTo>
                <a:lnTo>
                  <a:pt x="5104" y="59206"/>
                </a:lnTo>
                <a:lnTo>
                  <a:pt x="4177" y="58484"/>
                </a:lnTo>
                <a:lnTo>
                  <a:pt x="3467" y="57611"/>
                </a:lnTo>
                <a:lnTo>
                  <a:pt x="3033" y="56849"/>
                </a:lnTo>
                <a:lnTo>
                  <a:pt x="2404" y="55867"/>
                </a:lnTo>
                <a:lnTo>
                  <a:pt x="1896" y="54864"/>
                </a:lnTo>
                <a:lnTo>
                  <a:pt x="1584" y="53700"/>
                </a:lnTo>
                <a:lnTo>
                  <a:pt x="978" y="52520"/>
                </a:lnTo>
                <a:lnTo>
                  <a:pt x="854" y="51135"/>
                </a:lnTo>
                <a:lnTo>
                  <a:pt x="392" y="49443"/>
                </a:lnTo>
                <a:lnTo>
                  <a:pt x="342" y="47617"/>
                </a:lnTo>
                <a:lnTo>
                  <a:pt x="109" y="45301"/>
                </a:lnTo>
                <a:lnTo>
                  <a:pt x="161" y="42335"/>
                </a:lnTo>
                <a:lnTo>
                  <a:pt x="145" y="32237"/>
                </a:lnTo>
                <a:lnTo>
                  <a:pt x="0" y="22438"/>
                </a:lnTo>
                <a:lnTo>
                  <a:pt x="298" y="19166"/>
                </a:lnTo>
                <a:lnTo>
                  <a:pt x="241" y="16894"/>
                </a:lnTo>
                <a:lnTo>
                  <a:pt x="408" y="15153"/>
                </a:lnTo>
                <a:lnTo>
                  <a:pt x="655" y="13586"/>
                </a:lnTo>
                <a:lnTo>
                  <a:pt x="1025" y="12249"/>
                </a:lnTo>
                <a:lnTo>
                  <a:pt x="1366" y="10909"/>
                </a:lnTo>
                <a:lnTo>
                  <a:pt x="1856" y="9873"/>
                </a:lnTo>
                <a:lnTo>
                  <a:pt x="2277" y="8840"/>
                </a:lnTo>
                <a:lnTo>
                  <a:pt x="2861" y="7765"/>
                </a:lnTo>
                <a:lnTo>
                  <a:pt x="3453" y="7061"/>
                </a:lnTo>
                <a:lnTo>
                  <a:pt x="4335" y="6258"/>
                </a:lnTo>
                <a:lnTo>
                  <a:pt x="4972" y="5581"/>
                </a:lnTo>
                <a:lnTo>
                  <a:pt x="5960" y="4866"/>
                </a:lnTo>
                <a:lnTo>
                  <a:pt x="6843" y="4144"/>
                </a:lnTo>
                <a:lnTo>
                  <a:pt x="7738" y="3577"/>
                </a:lnTo>
                <a:lnTo>
                  <a:pt x="8792" y="3169"/>
                </a:lnTo>
                <a:lnTo>
                  <a:pt x="9846" y="2759"/>
                </a:lnTo>
                <a:lnTo>
                  <a:pt x="11248" y="2263"/>
                </a:lnTo>
                <a:lnTo>
                  <a:pt x="12480" y="1894"/>
                </a:lnTo>
                <a:lnTo>
                  <a:pt x="13979" y="1401"/>
                </a:lnTo>
                <a:lnTo>
                  <a:pt x="15634" y="1120"/>
                </a:lnTo>
                <a:lnTo>
                  <a:pt x="17528" y="995"/>
                </a:lnTo>
                <a:lnTo>
                  <a:pt x="19429" y="594"/>
                </a:lnTo>
                <a:lnTo>
                  <a:pt x="21756" y="456"/>
                </a:lnTo>
                <a:lnTo>
                  <a:pt x="24053" y="303"/>
                </a:lnTo>
                <a:lnTo>
                  <a:pt x="27038" y="315"/>
                </a:lnTo>
                <a:lnTo>
                  <a:pt x="30850" y="99"/>
                </a:lnTo>
                <a:lnTo>
                  <a:pt x="35978" y="157"/>
                </a:lnTo>
                <a:lnTo>
                  <a:pt x="51657" y="16"/>
                </a:lnTo>
                <a:lnTo>
                  <a:pt x="67611" y="0"/>
                </a:lnTo>
                <a:lnTo>
                  <a:pt x="72632" y="205"/>
                </a:lnTo>
                <a:lnTo>
                  <a:pt x="76361" y="152"/>
                </a:lnTo>
                <a:lnTo>
                  <a:pt x="79301" y="438"/>
                </a:lnTo>
                <a:lnTo>
                  <a:pt x="81723" y="480"/>
                </a:lnTo>
                <a:lnTo>
                  <a:pt x="83967" y="581"/>
                </a:lnTo>
                <a:lnTo>
                  <a:pt x="86135" y="861"/>
                </a:lnTo>
                <a:lnTo>
                  <a:pt x="87741" y="1121"/>
                </a:lnTo>
                <a:lnTo>
                  <a:pt x="89440" y="1450"/>
                </a:lnTo>
                <a:lnTo>
                  <a:pt x="90860" y="1806"/>
                </a:lnTo>
                <a:lnTo>
                  <a:pt x="92147" y="2173"/>
                </a:lnTo>
                <a:lnTo>
                  <a:pt x="93452" y="2675"/>
                </a:lnTo>
                <a:lnTo>
                  <a:pt x="94607" y="3171"/>
                </a:lnTo>
                <a:lnTo>
                  <a:pt x="95780" y="3686"/>
                </a:lnTo>
                <a:lnTo>
                  <a:pt x="96683" y="4165"/>
                </a:lnTo>
                <a:lnTo>
                  <a:pt x="97623" y="4905"/>
                </a:lnTo>
                <a:lnTo>
                  <a:pt x="98482" y="5614"/>
                </a:lnTo>
                <a:lnTo>
                  <a:pt x="99143" y="6100"/>
                </a:lnTo>
                <a:lnTo>
                  <a:pt x="99887" y="6898"/>
                </a:lnTo>
                <a:lnTo>
                  <a:pt x="100410" y="7972"/>
                </a:lnTo>
                <a:lnTo>
                  <a:pt x="101011" y="8827"/>
                </a:lnTo>
                <a:lnTo>
                  <a:pt x="101664" y="9894"/>
                </a:lnTo>
                <a:lnTo>
                  <a:pt x="101901" y="10984"/>
                </a:lnTo>
                <a:lnTo>
                  <a:pt x="102408" y="12069"/>
                </a:lnTo>
                <a:lnTo>
                  <a:pt x="102655" y="13406"/>
                </a:lnTo>
                <a:lnTo>
                  <a:pt x="102972" y="15127"/>
                </a:lnTo>
                <a:lnTo>
                  <a:pt x="103037" y="16883"/>
                </a:lnTo>
                <a:lnTo>
                  <a:pt x="103420" y="19284"/>
                </a:lnTo>
                <a:lnTo>
                  <a:pt x="103467" y="22443"/>
                </a:lnTo>
                <a:lnTo>
                  <a:pt x="103406" y="32356"/>
                </a:lnTo>
                <a:close/>
              </a:path>
            </a:pathLst>
          </a:custGeom>
          <a:noFill/>
          <a:ln w="7620" cap="rnd">
            <a:solidFill>
              <a:srgbClr val="DDD8CA">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11872935" y="6192500"/>
            <a:ext cx="126279" cy="484906"/>
          </a:xfrm>
          <a:custGeom>
            <a:avLst/>
            <a:gdLst/>
            <a:ahLst/>
            <a:cxnLst/>
            <a:rect l="l" t="t" r="r" b="b"/>
            <a:pathLst>
              <a:path w="1381" h="5303">
                <a:moveTo>
                  <a:pt x="1381" y="0"/>
                </a:moveTo>
                <a:lnTo>
                  <a:pt x="1124" y="1577"/>
                </a:lnTo>
                <a:lnTo>
                  <a:pt x="809" y="2958"/>
                </a:lnTo>
                <a:lnTo>
                  <a:pt x="435" y="4190"/>
                </a:lnTo>
                <a:lnTo>
                  <a:pt x="0" y="5303"/>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0449855" y="7368784"/>
            <a:ext cx="571317" cy="120609"/>
          </a:xfrm>
          <a:custGeom>
            <a:avLst/>
            <a:gdLst/>
            <a:ahLst/>
            <a:cxnLst/>
            <a:rect l="l" t="t" r="r" b="b"/>
            <a:pathLst>
              <a:path w="6248" h="1319">
                <a:moveTo>
                  <a:pt x="6248" y="0"/>
                </a:moveTo>
                <a:lnTo>
                  <a:pt x="4885" y="389"/>
                </a:lnTo>
                <a:lnTo>
                  <a:pt x="3402" y="738"/>
                </a:lnTo>
                <a:lnTo>
                  <a:pt x="1781" y="1047"/>
                </a:lnTo>
                <a:lnTo>
                  <a:pt x="0" y="1319"/>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4017691" y="7464522"/>
            <a:ext cx="776326" cy="78913"/>
          </a:xfrm>
          <a:custGeom>
            <a:avLst/>
            <a:gdLst/>
            <a:ahLst/>
            <a:cxnLst/>
            <a:rect l="l" t="t" r="r" b="b"/>
            <a:pathLst>
              <a:path w="8490" h="863">
                <a:moveTo>
                  <a:pt x="8490" y="863"/>
                </a:moveTo>
                <a:lnTo>
                  <a:pt x="5965" y="702"/>
                </a:lnTo>
                <a:lnTo>
                  <a:pt x="3754" y="506"/>
                </a:lnTo>
                <a:lnTo>
                  <a:pt x="1781" y="272"/>
                </a:lnTo>
                <a:lnTo>
                  <a:pt x="0" y="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717688" y="6575633"/>
            <a:ext cx="193030" cy="356890"/>
          </a:xfrm>
          <a:custGeom>
            <a:avLst/>
            <a:gdLst/>
            <a:ahLst/>
            <a:cxnLst/>
            <a:rect l="l" t="t" r="r" b="b"/>
            <a:pathLst>
              <a:path w="2111" h="3903">
                <a:moveTo>
                  <a:pt x="2111" y="3903"/>
                </a:moveTo>
                <a:lnTo>
                  <a:pt x="1489" y="3052"/>
                </a:lnTo>
                <a:lnTo>
                  <a:pt x="930" y="2125"/>
                </a:lnTo>
                <a:lnTo>
                  <a:pt x="435" y="1113"/>
                </a:lnTo>
                <a:lnTo>
                  <a:pt x="0" y="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631186" y="2558034"/>
            <a:ext cx="126279" cy="484906"/>
          </a:xfrm>
          <a:custGeom>
            <a:avLst/>
            <a:gdLst/>
            <a:ahLst/>
            <a:cxnLst/>
            <a:rect l="l" t="t" r="r" b="b"/>
            <a:pathLst>
              <a:path w="1381" h="5303">
                <a:moveTo>
                  <a:pt x="0" y="5303"/>
                </a:moveTo>
                <a:lnTo>
                  <a:pt x="257" y="3726"/>
                </a:lnTo>
                <a:lnTo>
                  <a:pt x="572" y="2345"/>
                </a:lnTo>
                <a:lnTo>
                  <a:pt x="946" y="1113"/>
                </a:lnTo>
                <a:lnTo>
                  <a:pt x="1381" y="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609228" y="1746047"/>
            <a:ext cx="571317" cy="120609"/>
          </a:xfrm>
          <a:custGeom>
            <a:avLst/>
            <a:gdLst/>
            <a:ahLst/>
            <a:cxnLst/>
            <a:rect l="l" t="t" r="r" b="b"/>
            <a:pathLst>
              <a:path w="6248" h="1319">
                <a:moveTo>
                  <a:pt x="0" y="1319"/>
                </a:moveTo>
                <a:lnTo>
                  <a:pt x="1363" y="930"/>
                </a:lnTo>
                <a:lnTo>
                  <a:pt x="2846" y="581"/>
                </a:lnTo>
                <a:lnTo>
                  <a:pt x="4467" y="272"/>
                </a:lnTo>
                <a:lnTo>
                  <a:pt x="6248" y="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9836384" y="1692006"/>
            <a:ext cx="776326" cy="78913"/>
          </a:xfrm>
          <a:custGeom>
            <a:avLst/>
            <a:gdLst/>
            <a:ahLst/>
            <a:cxnLst/>
            <a:rect l="l" t="t" r="r" b="b"/>
            <a:pathLst>
              <a:path w="8490" h="863">
                <a:moveTo>
                  <a:pt x="0" y="0"/>
                </a:moveTo>
                <a:lnTo>
                  <a:pt x="2525" y="161"/>
                </a:lnTo>
                <a:lnTo>
                  <a:pt x="4736" y="357"/>
                </a:lnTo>
                <a:lnTo>
                  <a:pt x="6709" y="591"/>
                </a:lnTo>
                <a:lnTo>
                  <a:pt x="8490" y="863"/>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11719682" y="2302916"/>
            <a:ext cx="193030" cy="356890"/>
          </a:xfrm>
          <a:custGeom>
            <a:avLst/>
            <a:gdLst/>
            <a:ahLst/>
            <a:cxnLst/>
            <a:rect l="l" t="t" r="r" b="b"/>
            <a:pathLst>
              <a:path w="2111" h="3903">
                <a:moveTo>
                  <a:pt x="0" y="0"/>
                </a:moveTo>
                <a:lnTo>
                  <a:pt x="622" y="851"/>
                </a:lnTo>
                <a:lnTo>
                  <a:pt x="1181" y="1778"/>
                </a:lnTo>
                <a:lnTo>
                  <a:pt x="1676" y="2790"/>
                </a:lnTo>
                <a:lnTo>
                  <a:pt x="2111" y="3903"/>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cident-optimization-overview-v2.png"/>
          <p:cNvPicPr>
            <a:picLocks noChangeAspect="1"/>
          </p:cNvPicPr>
          <p:nvPr/>
        </p:nvPicPr>
        <p:blipFill>
          <a:blip r:embed="rId2"/>
          <a:stretch>
            <a:fillRect/>
          </a:stretch>
        </p:blipFill>
        <p:spPr>
          <a:xfrm>
            <a:off x="2804754" y="1728216"/>
            <a:ext cx="9020890" cy="577900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3 · DESIG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3 · DESIGN</a:t>
            </a:r>
          </a:p>
        </p:txBody>
      </p:sp>
      <p:sp>
        <p:nvSpPr>
          <p:cNvPr id="3" name="title: What we build on, and what we add"/>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What we build on, and what we add</a:t>
            </a:r>
          </a:p>
        </p:txBody>
      </p:sp>
      <p:sp>
        <p:nvSpPr>
          <p:cNvPr id="4" name="subtitle: The design composes existing systems; the new parts are the libr"/>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The design composes existing systems; the new parts are the library, the gate and the loop</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rt: 1 / 2"/>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1 / 2</a:t>
            </a: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15"/>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15</a:t>
            </a:r>
          </a:p>
        </p:txBody>
      </p:sp>
      <p:sp>
        <p:nvSpPr>
          <p:cNvPr id="13" name="Rounded Rectangle 12"/>
          <p:cNvSpPr/>
          <p:nvPr/>
        </p:nvSpPr>
        <p:spPr>
          <a:xfrm>
            <a:off x="640080" y="1865376"/>
            <a:ext cx="13350240" cy="886555"/>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ody: System"/>
          <p:cNvSpPr txBox="1"/>
          <p:nvPr/>
        </p:nvSpPr>
        <p:spPr>
          <a:xfrm>
            <a:off x="777240" y="2121138"/>
            <a:ext cx="233172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System</a:t>
            </a:r>
          </a:p>
        </p:txBody>
      </p:sp>
      <p:sp>
        <p:nvSpPr>
          <p:cNvPr id="15" name="body: It provides"/>
          <p:cNvSpPr txBox="1"/>
          <p:nvPr/>
        </p:nvSpPr>
        <p:spPr>
          <a:xfrm>
            <a:off x="3383279" y="2121138"/>
            <a:ext cx="356616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It provides</a:t>
            </a:r>
          </a:p>
        </p:txBody>
      </p:sp>
      <p:sp>
        <p:nvSpPr>
          <p:cNvPr id="16" name="body: We reuse"/>
          <p:cNvSpPr txBox="1"/>
          <p:nvPr/>
        </p:nvSpPr>
        <p:spPr>
          <a:xfrm>
            <a:off x="7223760" y="2121138"/>
            <a:ext cx="320040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We reuse</a:t>
            </a:r>
          </a:p>
        </p:txBody>
      </p:sp>
      <p:sp>
        <p:nvSpPr>
          <p:cNvPr id="17" name="body: We add"/>
          <p:cNvSpPr txBox="1"/>
          <p:nvPr/>
        </p:nvSpPr>
        <p:spPr>
          <a:xfrm>
            <a:off x="10698480" y="2121138"/>
            <a:ext cx="315468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We add</a:t>
            </a:r>
          </a:p>
        </p:txBody>
      </p:sp>
      <p:sp>
        <p:nvSpPr>
          <p:cNvPr id="18" name="Rounded Rectangle 17"/>
          <p:cNvSpPr/>
          <p:nvPr/>
        </p:nvSpPr>
        <p:spPr>
          <a:xfrm>
            <a:off x="640080" y="2811367"/>
            <a:ext cx="13350240" cy="1243552"/>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ody: Inspect (UK AISI)"/>
          <p:cNvSpPr txBox="1"/>
          <p:nvPr/>
        </p:nvSpPr>
        <p:spPr>
          <a:xfrm>
            <a:off x="777240" y="3237563"/>
            <a:ext cx="2331720" cy="391160"/>
          </a:xfrm>
          <a:prstGeom prst="rect">
            <a:avLst/>
          </a:prstGeom>
          <a:noFill/>
        </p:spPr>
        <p:txBody>
          <a:bodyPr wrap="none" lIns="0" rIns="0" tIns="0" bIns="0" anchor="t">
            <a:noAutofit/>
          </a:bodyPr>
          <a:lstStyle/>
          <a:p>
            <a:pPr algn="l">
              <a:lnSpc>
                <a:spcPts val="2540"/>
              </a:lnSpc>
              <a:spcBef>
                <a:spcPts val="0"/>
              </a:spcBef>
              <a:spcAft>
                <a:spcPts val="0"/>
              </a:spcAft>
            </a:pPr>
            <a:r>
              <a:rPr sz="2000" b="1">
                <a:solidFill>
                  <a:srgbClr val="4E7892"/>
                </a:solidFill>
                <a:latin typeface="Trebuchet MS"/>
              </a:rPr>
              <a:t>Inspect (UK AISI)</a:t>
            </a:r>
          </a:p>
        </p:txBody>
      </p:sp>
      <p:sp>
        <p:nvSpPr>
          <p:cNvPr id="20" name="body: Tasks, scorers, sandboxes, tool-call approvers, eval logs"/>
          <p:cNvSpPr txBox="1"/>
          <p:nvPr/>
        </p:nvSpPr>
        <p:spPr>
          <a:xfrm>
            <a:off x="3383279" y="3076273"/>
            <a:ext cx="356616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Tasks, scorers, sandboxes,</a:t>
            </a:r>
            <a:br/>
            <a:r>
              <a:rPr sz="2000" b="0">
                <a:solidFill>
                  <a:srgbClr val="293E46"/>
                </a:solidFill>
                <a:latin typeface="Trebuchet MS"/>
              </a:rPr>
              <a:t>tool-call approvers, eval logs</a:t>
            </a:r>
          </a:p>
        </p:txBody>
      </p:sp>
      <p:sp>
        <p:nvSpPr>
          <p:cNvPr id="21" name="body: Everything; approvers host the action monitor"/>
          <p:cNvSpPr txBox="1"/>
          <p:nvPr/>
        </p:nvSpPr>
        <p:spPr>
          <a:xfrm>
            <a:off x="7223760" y="3076273"/>
            <a:ext cx="320040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Everything; approvers</a:t>
            </a:r>
            <a:br/>
            <a:r>
              <a:rPr sz="2000" b="0">
                <a:solidFill>
                  <a:srgbClr val="293E46"/>
                </a:solidFill>
                <a:latin typeface="Trebuchet MS"/>
              </a:rPr>
              <a:t>host the action monitor</a:t>
            </a:r>
          </a:p>
        </p:txBody>
      </p:sp>
      <p:sp>
        <p:nvSpPr>
          <p:cNvPr id="22" name="body: Incident observer scorers; regression gate"/>
          <p:cNvSpPr txBox="1"/>
          <p:nvPr/>
        </p:nvSpPr>
        <p:spPr>
          <a:xfrm>
            <a:off x="10698480" y="3076273"/>
            <a:ext cx="315468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Incident observer scorers;</a:t>
            </a:r>
            <a:br/>
            <a:r>
              <a:rPr sz="2000" b="0">
                <a:solidFill>
                  <a:srgbClr val="293E46"/>
                </a:solidFill>
                <a:latin typeface="Trebuchet MS"/>
              </a:rPr>
              <a:t>regression gate</a:t>
            </a:r>
          </a:p>
        </p:txBody>
      </p:sp>
      <p:sp>
        <p:nvSpPr>
          <p:cNvPr id="23" name="Rounded Rectangle 22"/>
          <p:cNvSpPr/>
          <p:nvPr/>
        </p:nvSpPr>
        <p:spPr>
          <a:xfrm>
            <a:off x="640080" y="4114355"/>
            <a:ext cx="13350240" cy="1243552"/>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Inspect Scout"/>
          <p:cNvSpPr txBox="1"/>
          <p:nvPr/>
        </p:nvSpPr>
        <p:spPr>
          <a:xfrm>
            <a:off x="777240" y="4540551"/>
            <a:ext cx="2331720" cy="391160"/>
          </a:xfrm>
          <a:prstGeom prst="rect">
            <a:avLst/>
          </a:prstGeom>
          <a:noFill/>
        </p:spPr>
        <p:txBody>
          <a:bodyPr wrap="none" lIns="0" rIns="0" tIns="0" bIns="0" anchor="t">
            <a:noAutofit/>
          </a:bodyPr>
          <a:lstStyle/>
          <a:p>
            <a:pPr algn="l">
              <a:lnSpc>
                <a:spcPts val="2540"/>
              </a:lnSpc>
              <a:spcBef>
                <a:spcPts val="0"/>
              </a:spcBef>
              <a:spcAft>
                <a:spcPts val="0"/>
              </a:spcAft>
            </a:pPr>
            <a:r>
              <a:rPr sz="2000" b="1">
                <a:solidFill>
                  <a:srgbClr val="4E7892"/>
                </a:solidFill>
                <a:latin typeface="Trebuchet MS"/>
              </a:rPr>
              <a:t>Inspect Scout</a:t>
            </a:r>
          </a:p>
        </p:txBody>
      </p:sp>
      <p:sp>
        <p:nvSpPr>
          <p:cNvPr id="25" name="body: Transcript scanners at scale"/>
          <p:cNvSpPr txBox="1"/>
          <p:nvPr/>
        </p:nvSpPr>
        <p:spPr>
          <a:xfrm>
            <a:off x="3383279" y="4540551"/>
            <a:ext cx="356616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Transcript scanners at scale</a:t>
            </a:r>
          </a:p>
        </p:txBody>
      </p:sp>
      <p:sp>
        <p:nvSpPr>
          <p:cNvPr id="26" name="body: Scan own logs for intake"/>
          <p:cNvSpPr txBox="1"/>
          <p:nvPr/>
        </p:nvSpPr>
        <p:spPr>
          <a:xfrm>
            <a:off x="7223760" y="4540551"/>
            <a:ext cx="320040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Scan own logs for intake</a:t>
            </a:r>
          </a:p>
        </p:txBody>
      </p:sp>
      <p:sp>
        <p:nvSpPr>
          <p:cNvPr id="27" name="body: Incident schema; evidence grades"/>
          <p:cNvSpPr txBox="1"/>
          <p:nvPr/>
        </p:nvSpPr>
        <p:spPr>
          <a:xfrm>
            <a:off x="10698480" y="4379261"/>
            <a:ext cx="315468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Incident schema;</a:t>
            </a:r>
            <a:br/>
            <a:r>
              <a:rPr sz="2000" b="0">
                <a:solidFill>
                  <a:srgbClr val="293E46"/>
                </a:solidFill>
                <a:latin typeface="Trebuchet MS"/>
              </a:rPr>
              <a:t>evidence grades</a:t>
            </a:r>
          </a:p>
        </p:txBody>
      </p:sp>
      <p:sp>
        <p:nvSpPr>
          <p:cNvPr id="28" name="Rounded Rectangle 27"/>
          <p:cNvSpPr/>
          <p:nvPr/>
        </p:nvSpPr>
        <p:spPr>
          <a:xfrm>
            <a:off x="640080" y="5417343"/>
            <a:ext cx="13350240" cy="1888712"/>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ControlArena"/>
          <p:cNvSpPr txBox="1"/>
          <p:nvPr/>
        </p:nvSpPr>
        <p:spPr>
          <a:xfrm>
            <a:off x="777240" y="6166119"/>
            <a:ext cx="2331720" cy="391160"/>
          </a:xfrm>
          <a:prstGeom prst="rect">
            <a:avLst/>
          </a:prstGeom>
          <a:noFill/>
        </p:spPr>
        <p:txBody>
          <a:bodyPr wrap="none" lIns="0" rIns="0" tIns="0" bIns="0" anchor="t">
            <a:noAutofit/>
          </a:bodyPr>
          <a:lstStyle/>
          <a:p>
            <a:pPr algn="l">
              <a:lnSpc>
                <a:spcPts val="2540"/>
              </a:lnSpc>
              <a:spcBef>
                <a:spcPts val="0"/>
              </a:spcBef>
              <a:spcAft>
                <a:spcPts val="0"/>
              </a:spcAft>
            </a:pPr>
            <a:r>
              <a:rPr sz="2000" b="1">
                <a:solidFill>
                  <a:srgbClr val="4E7892"/>
                </a:solidFill>
                <a:latin typeface="Trebuchet MS"/>
              </a:rPr>
              <a:t>ControlArena</a:t>
            </a:r>
          </a:p>
        </p:txBody>
      </p:sp>
      <p:sp>
        <p:nvSpPr>
          <p:cNvPr id="30" name="body: Monitors with suspicion scores; trusted monitoring, defer-to-tru"/>
          <p:cNvSpPr txBox="1"/>
          <p:nvPr/>
        </p:nvSpPr>
        <p:spPr>
          <a:xfrm>
            <a:off x="3383279" y="5682249"/>
            <a:ext cx="3566160" cy="135889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Monitors with suspicion</a:t>
            </a:r>
            <a:br/>
            <a:r>
              <a:rPr sz="2000" b="0">
                <a:solidFill>
                  <a:srgbClr val="293E46"/>
                </a:solidFill>
                <a:latin typeface="Trebuchet MS"/>
              </a:rPr>
              <a:t>scores; trusted monitoring,</a:t>
            </a:r>
            <a:br/>
            <a:r>
              <a:rPr sz="2000" b="0">
                <a:solidFill>
                  <a:srgbClr val="293E46"/>
                </a:solidFill>
                <a:latin typeface="Trebuchet MS"/>
              </a:rPr>
              <a:t>defer-to-trusted; settings</a:t>
            </a:r>
            <a:br/>
            <a:r>
              <a:rPr sz="2000" b="0">
                <a:solidFill>
                  <a:srgbClr val="293E46"/>
                </a:solidFill>
                <a:latin typeface="Trebuchet MS"/>
              </a:rPr>
              <a:t>with side tasks</a:t>
            </a:r>
          </a:p>
        </p:txBody>
      </p:sp>
      <p:sp>
        <p:nvSpPr>
          <p:cNvPr id="31" name="body: Monitor interface and micro-protocols; BashArena"/>
          <p:cNvSpPr txBox="1"/>
          <p:nvPr/>
        </p:nvSpPr>
        <p:spPr>
          <a:xfrm>
            <a:off x="7223760" y="5843539"/>
            <a:ext cx="3200400" cy="103632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Monitor interface and</a:t>
            </a:r>
            <a:br/>
            <a:r>
              <a:rPr sz="2000" b="0">
                <a:solidFill>
                  <a:srgbClr val="293E46"/>
                </a:solidFill>
                <a:latin typeface="Trebuchet MS"/>
              </a:rPr>
              <a:t>micro-protocols;</a:t>
            </a:r>
            <a:br/>
            <a:r>
              <a:rPr sz="2000" b="0">
                <a:solidFill>
                  <a:srgbClr val="293E46"/>
                </a:solidFill>
                <a:latin typeface="Trebuchet MS"/>
              </a:rPr>
              <a:t>BashArena</a:t>
            </a:r>
          </a:p>
        </p:txBody>
      </p:sp>
      <p:sp>
        <p:nvSpPr>
          <p:cNvPr id="32" name="body: Rule provenance; calibration-only thresholds"/>
          <p:cNvSpPr txBox="1"/>
          <p:nvPr/>
        </p:nvSpPr>
        <p:spPr>
          <a:xfrm>
            <a:off x="10698480" y="5843539"/>
            <a:ext cx="3154680" cy="103632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Rule provenance;</a:t>
            </a:r>
            <a:br/>
            <a:r>
              <a:rPr sz="2000" b="0">
                <a:solidFill>
                  <a:srgbClr val="293E46"/>
                </a:solidFill>
                <a:latin typeface="Trebuchet MS"/>
              </a:rPr>
              <a:t>calibration-only</a:t>
            </a:r>
            <a:br/>
            <a:r>
              <a:rPr sz="2000" b="0">
                <a:solidFill>
                  <a:srgbClr val="293E46"/>
                </a:solidFill>
                <a:latin typeface="Trebuchet MS"/>
              </a:rPr>
              <a:t>thresholds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3 · DESIG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3 · DESIGN</a:t>
            </a:r>
          </a:p>
        </p:txBody>
      </p:sp>
      <p:sp>
        <p:nvSpPr>
          <p:cNvPr id="3" name="title: What we build on, and what we add"/>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What we build on, and what we add</a:t>
            </a:r>
          </a:p>
        </p:txBody>
      </p:sp>
      <p:sp>
        <p:nvSpPr>
          <p:cNvPr id="4" name="subtitle: The design composes existing systems; the new parts are the libr"/>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The design composes existing systems; the new parts are the library, the gate and the loop</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rt: 2 / 2"/>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2 / 2</a:t>
            </a: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16"/>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16</a:t>
            </a:r>
          </a:p>
        </p:txBody>
      </p:sp>
      <p:sp>
        <p:nvSpPr>
          <p:cNvPr id="13" name="Rounded Rectangle 12"/>
          <p:cNvSpPr/>
          <p:nvPr/>
        </p:nvSpPr>
        <p:spPr>
          <a:xfrm>
            <a:off x="640080" y="1865376"/>
            <a:ext cx="13350240" cy="725265"/>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peated-table-header: System"/>
          <p:cNvSpPr txBox="1"/>
          <p:nvPr/>
        </p:nvSpPr>
        <p:spPr>
          <a:xfrm>
            <a:off x="777240" y="2040493"/>
            <a:ext cx="233172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System</a:t>
            </a:r>
          </a:p>
        </p:txBody>
      </p:sp>
      <p:sp>
        <p:nvSpPr>
          <p:cNvPr id="15" name="repeated-table-header: It provides"/>
          <p:cNvSpPr txBox="1"/>
          <p:nvPr/>
        </p:nvSpPr>
        <p:spPr>
          <a:xfrm>
            <a:off x="3383279" y="2040493"/>
            <a:ext cx="356616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It provides</a:t>
            </a:r>
          </a:p>
        </p:txBody>
      </p:sp>
      <p:sp>
        <p:nvSpPr>
          <p:cNvPr id="16" name="repeated-table-header: We reuse"/>
          <p:cNvSpPr txBox="1"/>
          <p:nvPr/>
        </p:nvSpPr>
        <p:spPr>
          <a:xfrm>
            <a:off x="7223760" y="2040493"/>
            <a:ext cx="320040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We reuse</a:t>
            </a:r>
          </a:p>
        </p:txBody>
      </p:sp>
      <p:sp>
        <p:nvSpPr>
          <p:cNvPr id="17" name="repeated-table-header: We add"/>
          <p:cNvSpPr txBox="1"/>
          <p:nvPr/>
        </p:nvSpPr>
        <p:spPr>
          <a:xfrm>
            <a:off x="10698480" y="2040493"/>
            <a:ext cx="315468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We add</a:t>
            </a:r>
          </a:p>
        </p:txBody>
      </p:sp>
      <p:sp>
        <p:nvSpPr>
          <p:cNvPr id="18" name="Rounded Rectangle 17"/>
          <p:cNvSpPr/>
          <p:nvPr/>
        </p:nvSpPr>
        <p:spPr>
          <a:xfrm>
            <a:off x="640080" y="2650077"/>
            <a:ext cx="13350240" cy="1082262"/>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ody: Hawk / Vivaria (METR)"/>
          <p:cNvSpPr txBox="1"/>
          <p:nvPr/>
        </p:nvSpPr>
        <p:spPr>
          <a:xfrm>
            <a:off x="777240" y="2834338"/>
            <a:ext cx="2331720" cy="713739"/>
          </a:xfrm>
          <a:prstGeom prst="rect">
            <a:avLst/>
          </a:prstGeom>
          <a:noFill/>
        </p:spPr>
        <p:txBody>
          <a:bodyPr wrap="none" lIns="0" rIns="0" tIns="0" bIns="0" anchor="t">
            <a:noAutofit/>
          </a:bodyPr>
          <a:lstStyle/>
          <a:p>
            <a:pPr algn="l">
              <a:lnSpc>
                <a:spcPts val="2540"/>
              </a:lnSpc>
              <a:spcBef>
                <a:spcPts val="0"/>
              </a:spcBef>
              <a:spcAft>
                <a:spcPts val="0"/>
              </a:spcAft>
            </a:pPr>
            <a:r>
              <a:rPr sz="2000" b="1">
                <a:solidFill>
                  <a:srgbClr val="4E7892"/>
                </a:solidFill>
                <a:latin typeface="Trebuchet MS"/>
              </a:rPr>
              <a:t>Hawk / Vivaria</a:t>
            </a:r>
            <a:br/>
            <a:r>
              <a:rPr sz="2000" b="1">
                <a:solidFill>
                  <a:srgbClr val="4E7892"/>
                </a:solidFill>
                <a:latin typeface="Trebuchet MS"/>
              </a:rPr>
              <a:t>(METR)</a:t>
            </a:r>
          </a:p>
        </p:txBody>
      </p:sp>
      <p:sp>
        <p:nvSpPr>
          <p:cNvPr id="20" name="body: Run Inspect at scale; action monitor tied to approvals"/>
          <p:cNvSpPr txBox="1"/>
          <p:nvPr/>
        </p:nvSpPr>
        <p:spPr>
          <a:xfrm>
            <a:off x="3383279" y="2834338"/>
            <a:ext cx="356616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Run Inspect at scale; action</a:t>
            </a:r>
            <a:br/>
            <a:r>
              <a:rPr sz="2000" b="0">
                <a:solidFill>
                  <a:srgbClr val="293E46"/>
                </a:solidFill>
                <a:latin typeface="Trebuchet MS"/>
              </a:rPr>
              <a:t>monitor tied to approvals</a:t>
            </a:r>
          </a:p>
        </p:txBody>
      </p:sp>
      <p:sp>
        <p:nvSpPr>
          <p:cNvPr id="21" name="body: Execution backend; context-gap warning"/>
          <p:cNvSpPr txBox="1"/>
          <p:nvPr/>
        </p:nvSpPr>
        <p:spPr>
          <a:xfrm>
            <a:off x="7223760" y="2834338"/>
            <a:ext cx="320040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Execution backend;</a:t>
            </a:r>
            <a:br/>
            <a:r>
              <a:rPr sz="2000" b="0">
                <a:solidFill>
                  <a:srgbClr val="293E46"/>
                </a:solidFill>
                <a:latin typeface="Trebuchet MS"/>
              </a:rPr>
              <a:t>context-gap warning</a:t>
            </a:r>
          </a:p>
        </p:txBody>
      </p:sp>
      <p:sp>
        <p:nvSpPr>
          <p:cNvPr id="22" name="body: Time-split evaluation; versioned releases"/>
          <p:cNvSpPr txBox="1"/>
          <p:nvPr/>
        </p:nvSpPr>
        <p:spPr>
          <a:xfrm>
            <a:off x="10698480" y="2834338"/>
            <a:ext cx="315468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Time-split evaluation;</a:t>
            </a:r>
            <a:br/>
            <a:r>
              <a:rPr sz="2000" b="0">
                <a:solidFill>
                  <a:srgbClr val="293E46"/>
                </a:solidFill>
                <a:latin typeface="Trebuchet MS"/>
              </a:rPr>
              <a:t>versioned releases</a:t>
            </a:r>
          </a:p>
        </p:txBody>
      </p:sp>
      <p:sp>
        <p:nvSpPr>
          <p:cNvPr id="23" name="Rounded Rectangle 22"/>
          <p:cNvSpPr/>
          <p:nvPr/>
        </p:nvSpPr>
        <p:spPr>
          <a:xfrm>
            <a:off x="640080" y="3791775"/>
            <a:ext cx="13350240" cy="1727422"/>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ImpossibleBench, AgentDojo, ResearchArena, SHADE-Arena"/>
          <p:cNvSpPr txBox="1"/>
          <p:nvPr/>
        </p:nvSpPr>
        <p:spPr>
          <a:xfrm>
            <a:off x="777240" y="3976036"/>
            <a:ext cx="2331720" cy="1358899"/>
          </a:xfrm>
          <a:prstGeom prst="rect">
            <a:avLst/>
          </a:prstGeom>
          <a:noFill/>
        </p:spPr>
        <p:txBody>
          <a:bodyPr wrap="none" lIns="0" rIns="0" tIns="0" bIns="0" anchor="t">
            <a:noAutofit/>
          </a:bodyPr>
          <a:lstStyle/>
          <a:p>
            <a:pPr algn="l">
              <a:lnSpc>
                <a:spcPts val="2540"/>
              </a:lnSpc>
              <a:spcBef>
                <a:spcPts val="0"/>
              </a:spcBef>
              <a:spcAft>
                <a:spcPts val="0"/>
              </a:spcAft>
            </a:pPr>
            <a:r>
              <a:rPr sz="2000" b="1">
                <a:solidFill>
                  <a:srgbClr val="4E7892"/>
                </a:solidFill>
                <a:latin typeface="Trebuchet MS"/>
              </a:rPr>
              <a:t>ImpossibleBench,</a:t>
            </a:r>
            <a:br/>
            <a:r>
              <a:rPr sz="2000" b="1">
                <a:solidFill>
                  <a:srgbClr val="4E7892"/>
                </a:solidFill>
                <a:latin typeface="Trebuchet MS"/>
              </a:rPr>
              <a:t>AgentDojo,</a:t>
            </a:r>
            <a:br/>
            <a:r>
              <a:rPr sz="2000" b="1">
                <a:solidFill>
                  <a:srgbClr val="4E7892"/>
                </a:solidFill>
                <a:latin typeface="Trebuchet MS"/>
              </a:rPr>
              <a:t>ResearchArena,</a:t>
            </a:r>
            <a:br/>
            <a:r>
              <a:rPr sz="2000" b="1">
                <a:solidFill>
                  <a:srgbClr val="4E7892"/>
                </a:solidFill>
                <a:latin typeface="Trebuchet MS"/>
              </a:rPr>
              <a:t>SHADE-Arena</a:t>
            </a:r>
          </a:p>
        </p:txBody>
      </p:sp>
      <p:sp>
        <p:nvSpPr>
          <p:cNvPr id="25" name="body: Tasks and official baselines"/>
          <p:cNvSpPr txBox="1"/>
          <p:nvPr/>
        </p:nvSpPr>
        <p:spPr>
          <a:xfrm>
            <a:off x="3383279" y="4459906"/>
            <a:ext cx="356616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Tasks and official baselines</a:t>
            </a:r>
          </a:p>
        </p:txBody>
      </p:sp>
      <p:sp>
        <p:nvSpPr>
          <p:cNvPr id="26" name="body: Held-out tasks; published defences"/>
          <p:cNvSpPr txBox="1"/>
          <p:nvPr/>
        </p:nvSpPr>
        <p:spPr>
          <a:xfrm>
            <a:off x="7223760" y="4298616"/>
            <a:ext cx="320040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Held-out tasks; published</a:t>
            </a:r>
            <a:br/>
            <a:r>
              <a:rPr sz="2000" b="0">
                <a:solidFill>
                  <a:srgbClr val="293E46"/>
                </a:solidFill>
                <a:latin typeface="Trebuchet MS"/>
              </a:rPr>
              <a:t>defences</a:t>
            </a:r>
          </a:p>
        </p:txBody>
      </p:sp>
      <p:sp>
        <p:nvSpPr>
          <p:cNvPr id="27" name="body: Benign twins; post-cutoff incident families"/>
          <p:cNvSpPr txBox="1"/>
          <p:nvPr/>
        </p:nvSpPr>
        <p:spPr>
          <a:xfrm>
            <a:off x="10698480" y="4298616"/>
            <a:ext cx="315468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Benign twins; post-cutoff</a:t>
            </a:r>
            <a:br/>
            <a:r>
              <a:rPr sz="2000" b="0">
                <a:solidFill>
                  <a:srgbClr val="293E46"/>
                </a:solidFill>
                <a:latin typeface="Trebuchet MS"/>
              </a:rPr>
              <a:t>incident families</a:t>
            </a:r>
          </a:p>
        </p:txBody>
      </p:sp>
      <p:sp>
        <p:nvSpPr>
          <p:cNvPr id="28" name="Rounded Rectangle 27"/>
          <p:cNvSpPr/>
          <p:nvPr/>
        </p:nvSpPr>
        <p:spPr>
          <a:xfrm>
            <a:off x="640080" y="5578633"/>
            <a:ext cx="13350240" cy="1727422"/>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AIID, OECD AIM, MIT AI Risk Repository, MITRE ATLAS"/>
          <p:cNvSpPr txBox="1"/>
          <p:nvPr/>
        </p:nvSpPr>
        <p:spPr>
          <a:xfrm>
            <a:off x="777240" y="5762894"/>
            <a:ext cx="2331720" cy="1358899"/>
          </a:xfrm>
          <a:prstGeom prst="rect">
            <a:avLst/>
          </a:prstGeom>
          <a:noFill/>
        </p:spPr>
        <p:txBody>
          <a:bodyPr wrap="none" lIns="0" rIns="0" tIns="0" bIns="0" anchor="t">
            <a:noAutofit/>
          </a:bodyPr>
          <a:lstStyle/>
          <a:p>
            <a:pPr algn="l">
              <a:lnSpc>
                <a:spcPts val="2540"/>
              </a:lnSpc>
              <a:spcBef>
                <a:spcPts val="0"/>
              </a:spcBef>
              <a:spcAft>
                <a:spcPts val="0"/>
              </a:spcAft>
            </a:pPr>
            <a:r>
              <a:rPr sz="2000" b="1">
                <a:solidFill>
                  <a:srgbClr val="4E7892"/>
                </a:solidFill>
                <a:latin typeface="Trebuchet MS"/>
              </a:rPr>
              <a:t>AIID, OECD AIM,</a:t>
            </a:r>
            <a:br/>
            <a:r>
              <a:rPr sz="2000" b="1">
                <a:solidFill>
                  <a:srgbClr val="4E7892"/>
                </a:solidFill>
                <a:latin typeface="Trebuchet MS"/>
              </a:rPr>
              <a:t>MIT AI Risk</a:t>
            </a:r>
            <a:br/>
            <a:r>
              <a:rPr sz="2000" b="1">
                <a:solidFill>
                  <a:srgbClr val="4E7892"/>
                </a:solidFill>
                <a:latin typeface="Trebuchet MS"/>
              </a:rPr>
              <a:t>Repository, MITRE</a:t>
            </a:r>
            <a:br/>
            <a:r>
              <a:rPr sz="2000" b="1">
                <a:solidFill>
                  <a:srgbClr val="4E7892"/>
                </a:solidFill>
                <a:latin typeface="Trebuchet MS"/>
              </a:rPr>
              <a:t>ATLAS</a:t>
            </a:r>
          </a:p>
        </p:txBody>
      </p:sp>
      <p:sp>
        <p:nvSpPr>
          <p:cNvPr id="30" name="body: Incident reports and taxonomies"/>
          <p:cNvSpPr txBox="1"/>
          <p:nvPr/>
        </p:nvSpPr>
        <p:spPr>
          <a:xfrm>
            <a:off x="3383279" y="6085474"/>
            <a:ext cx="356616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Incident reports and</a:t>
            </a:r>
            <a:br/>
            <a:r>
              <a:rPr sz="2000" b="0">
                <a:solidFill>
                  <a:srgbClr val="293E46"/>
                </a:solidFill>
                <a:latin typeface="Trebuchet MS"/>
              </a:rPr>
              <a:t>taxonomies</a:t>
            </a:r>
          </a:p>
        </p:txBody>
      </p:sp>
      <p:sp>
        <p:nvSpPr>
          <p:cNvPr id="31" name="body: Sources and tags"/>
          <p:cNvSpPr txBox="1"/>
          <p:nvPr/>
        </p:nvSpPr>
        <p:spPr>
          <a:xfrm>
            <a:off x="7223760" y="6246764"/>
            <a:ext cx="320040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Sources and tags</a:t>
            </a:r>
          </a:p>
        </p:txBody>
      </p:sp>
      <p:sp>
        <p:nvSpPr>
          <p:cNvPr id="32" name="body: Executable reproductions"/>
          <p:cNvSpPr txBox="1"/>
          <p:nvPr/>
        </p:nvSpPr>
        <p:spPr>
          <a:xfrm>
            <a:off x="10698480" y="6246764"/>
            <a:ext cx="315468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Executable reproductions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3 · DESIG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3 · DESIGN</a:t>
            </a:r>
          </a:p>
        </p:txBody>
      </p:sp>
      <p:sp>
        <p:nvSpPr>
          <p:cNvPr id="3" name="title: Seven design principle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Seven design principles</a:t>
            </a:r>
          </a:p>
        </p:txBody>
      </p:sp>
      <p:sp>
        <p:nvSpPr>
          <p:cNvPr id="4" name="subtitle: Each closes a way the loop could fool itself"/>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Each closes a way the loop could fool itself</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17"/>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17</a:t>
            </a:r>
          </a:p>
        </p:txBody>
      </p:sp>
      <p:sp>
        <p:nvSpPr>
          <p:cNvPr id="12" name="Rounded Rectangle 11"/>
          <p:cNvSpPr/>
          <p:nvPr/>
        </p:nvSpPr>
        <p:spPr>
          <a:xfrm>
            <a:off x="640080" y="1764792"/>
            <a:ext cx="4242816" cy="1956816"/>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9864" y="1765798"/>
            <a:ext cx="4233855" cy="1947306"/>
          </a:xfrm>
          <a:custGeom>
            <a:avLst/>
            <a:gdLst/>
            <a:ahLst/>
            <a:cxnLst/>
            <a:rect l="l" t="t" r="r" b="b"/>
            <a:pathLst>
              <a:path w="46302" h="21296">
                <a:moveTo>
                  <a:pt x="46132" y="10682"/>
                </a:moveTo>
                <a:lnTo>
                  <a:pt x="46070" y="14042"/>
                </a:lnTo>
                <a:lnTo>
                  <a:pt x="46068" y="15014"/>
                </a:lnTo>
                <a:lnTo>
                  <a:pt x="46014" y="15676"/>
                </a:lnTo>
                <a:lnTo>
                  <a:pt x="45870" y="16243"/>
                </a:lnTo>
                <a:lnTo>
                  <a:pt x="45975" y="16731"/>
                </a:lnTo>
                <a:lnTo>
                  <a:pt x="45769" y="17328"/>
                </a:lnTo>
                <a:lnTo>
                  <a:pt x="45510" y="17749"/>
                </a:lnTo>
                <a:lnTo>
                  <a:pt x="45272" y="18127"/>
                </a:lnTo>
                <a:lnTo>
                  <a:pt x="45218" y="18393"/>
                </a:lnTo>
                <a:lnTo>
                  <a:pt x="44905" y="18736"/>
                </a:lnTo>
                <a:lnTo>
                  <a:pt x="44619" y="19046"/>
                </a:lnTo>
                <a:lnTo>
                  <a:pt x="44205" y="19173"/>
                </a:lnTo>
                <a:lnTo>
                  <a:pt x="44024" y="19394"/>
                </a:lnTo>
                <a:lnTo>
                  <a:pt x="43676" y="19692"/>
                </a:lnTo>
                <a:lnTo>
                  <a:pt x="43219" y="19908"/>
                </a:lnTo>
                <a:lnTo>
                  <a:pt x="42824" y="20068"/>
                </a:lnTo>
                <a:lnTo>
                  <a:pt x="42153" y="20187"/>
                </a:lnTo>
                <a:lnTo>
                  <a:pt x="41642" y="20462"/>
                </a:lnTo>
                <a:lnTo>
                  <a:pt x="41236" y="20497"/>
                </a:lnTo>
                <a:lnTo>
                  <a:pt x="40652" y="20606"/>
                </a:lnTo>
                <a:lnTo>
                  <a:pt x="39956" y="20862"/>
                </a:lnTo>
                <a:lnTo>
                  <a:pt x="39087" y="20846"/>
                </a:lnTo>
                <a:lnTo>
                  <a:pt x="38306" y="20907"/>
                </a:lnTo>
                <a:lnTo>
                  <a:pt x="37628" y="21010"/>
                </a:lnTo>
                <a:lnTo>
                  <a:pt x="36465" y="21027"/>
                </a:lnTo>
                <a:lnTo>
                  <a:pt x="35290" y="21139"/>
                </a:lnTo>
                <a:lnTo>
                  <a:pt x="34016" y="21144"/>
                </a:lnTo>
                <a:lnTo>
                  <a:pt x="32523" y="21280"/>
                </a:lnTo>
                <a:lnTo>
                  <a:pt x="30066" y="21290"/>
                </a:lnTo>
                <a:lnTo>
                  <a:pt x="23108" y="21296"/>
                </a:lnTo>
                <a:lnTo>
                  <a:pt x="15945" y="21207"/>
                </a:lnTo>
                <a:lnTo>
                  <a:pt x="13727" y="21224"/>
                </a:lnTo>
                <a:lnTo>
                  <a:pt x="12110" y="21234"/>
                </a:lnTo>
                <a:lnTo>
                  <a:pt x="10889" y="21074"/>
                </a:lnTo>
                <a:lnTo>
                  <a:pt x="9559" y="21059"/>
                </a:lnTo>
                <a:lnTo>
                  <a:pt x="8601" y="21167"/>
                </a:lnTo>
                <a:lnTo>
                  <a:pt x="7698" y="20903"/>
                </a:lnTo>
                <a:lnTo>
                  <a:pt x="7078" y="20829"/>
                </a:lnTo>
                <a:lnTo>
                  <a:pt x="6205" y="20762"/>
                </a:lnTo>
                <a:lnTo>
                  <a:pt x="5556" y="20764"/>
                </a:lnTo>
                <a:lnTo>
                  <a:pt x="5012" y="20546"/>
                </a:lnTo>
                <a:lnTo>
                  <a:pt x="4500" y="20332"/>
                </a:lnTo>
                <a:lnTo>
                  <a:pt x="3885" y="20351"/>
                </a:lnTo>
                <a:lnTo>
                  <a:pt x="3538" y="20008"/>
                </a:lnTo>
                <a:lnTo>
                  <a:pt x="3128" y="19867"/>
                </a:lnTo>
                <a:lnTo>
                  <a:pt x="2551" y="19813"/>
                </a:lnTo>
                <a:lnTo>
                  <a:pt x="2109" y="19562"/>
                </a:lnTo>
                <a:lnTo>
                  <a:pt x="1994" y="19303"/>
                </a:lnTo>
                <a:lnTo>
                  <a:pt x="1577" y="18892"/>
                </a:lnTo>
                <a:lnTo>
                  <a:pt x="1407" y="18742"/>
                </a:lnTo>
                <a:lnTo>
                  <a:pt x="935" y="18366"/>
                </a:lnTo>
                <a:lnTo>
                  <a:pt x="849" y="18047"/>
                </a:lnTo>
                <a:lnTo>
                  <a:pt x="586" y="17819"/>
                </a:lnTo>
                <a:lnTo>
                  <a:pt x="507" y="17264"/>
                </a:lnTo>
                <a:lnTo>
                  <a:pt x="415" y="16830"/>
                </a:lnTo>
                <a:lnTo>
                  <a:pt x="213" y="16221"/>
                </a:lnTo>
                <a:lnTo>
                  <a:pt x="239" y="15761"/>
                </a:lnTo>
                <a:lnTo>
                  <a:pt x="157" y="14938"/>
                </a:lnTo>
                <a:lnTo>
                  <a:pt x="0" y="13965"/>
                </a:lnTo>
                <a:lnTo>
                  <a:pt x="15" y="10750"/>
                </a:lnTo>
                <a:lnTo>
                  <a:pt x="55" y="7336"/>
                </a:lnTo>
                <a:lnTo>
                  <a:pt x="165" y="6385"/>
                </a:lnTo>
                <a:lnTo>
                  <a:pt x="69" y="5652"/>
                </a:lnTo>
                <a:lnTo>
                  <a:pt x="264" y="4931"/>
                </a:lnTo>
                <a:lnTo>
                  <a:pt x="379" y="4631"/>
                </a:lnTo>
                <a:lnTo>
                  <a:pt x="567" y="3986"/>
                </a:lnTo>
                <a:lnTo>
                  <a:pt x="714" y="3614"/>
                </a:lnTo>
                <a:lnTo>
                  <a:pt x="908" y="3413"/>
                </a:lnTo>
                <a:lnTo>
                  <a:pt x="1086" y="3017"/>
                </a:lnTo>
                <a:lnTo>
                  <a:pt x="1328" y="2685"/>
                </a:lnTo>
                <a:lnTo>
                  <a:pt x="1545" y="2286"/>
                </a:lnTo>
                <a:lnTo>
                  <a:pt x="1818" y="2113"/>
                </a:lnTo>
                <a:lnTo>
                  <a:pt x="2179" y="2015"/>
                </a:lnTo>
                <a:lnTo>
                  <a:pt x="2717" y="1685"/>
                </a:lnTo>
                <a:lnTo>
                  <a:pt x="3013" y="1495"/>
                </a:lnTo>
                <a:lnTo>
                  <a:pt x="3393" y="1325"/>
                </a:lnTo>
                <a:lnTo>
                  <a:pt x="3973" y="1209"/>
                </a:lnTo>
                <a:lnTo>
                  <a:pt x="4435" y="898"/>
                </a:lnTo>
                <a:lnTo>
                  <a:pt x="5116" y="805"/>
                </a:lnTo>
                <a:lnTo>
                  <a:pt x="5637" y="688"/>
                </a:lnTo>
                <a:lnTo>
                  <a:pt x="6240" y="494"/>
                </a:lnTo>
                <a:lnTo>
                  <a:pt x="6860" y="483"/>
                </a:lnTo>
                <a:lnTo>
                  <a:pt x="7817" y="374"/>
                </a:lnTo>
                <a:lnTo>
                  <a:pt x="8701" y="274"/>
                </a:lnTo>
                <a:lnTo>
                  <a:pt x="9775" y="155"/>
                </a:lnTo>
                <a:lnTo>
                  <a:pt x="10697" y="129"/>
                </a:lnTo>
                <a:lnTo>
                  <a:pt x="12180" y="58"/>
                </a:lnTo>
                <a:lnTo>
                  <a:pt x="13616" y="188"/>
                </a:lnTo>
                <a:lnTo>
                  <a:pt x="15887" y="6"/>
                </a:lnTo>
                <a:lnTo>
                  <a:pt x="22976" y="20"/>
                </a:lnTo>
                <a:lnTo>
                  <a:pt x="30202" y="0"/>
                </a:lnTo>
                <a:lnTo>
                  <a:pt x="32528" y="129"/>
                </a:lnTo>
                <a:lnTo>
                  <a:pt x="34095" y="57"/>
                </a:lnTo>
                <a:lnTo>
                  <a:pt x="35313" y="106"/>
                </a:lnTo>
                <a:lnTo>
                  <a:pt x="36507" y="368"/>
                </a:lnTo>
                <a:lnTo>
                  <a:pt x="37620" y="224"/>
                </a:lnTo>
                <a:lnTo>
                  <a:pt x="38369" y="336"/>
                </a:lnTo>
                <a:lnTo>
                  <a:pt x="39160" y="377"/>
                </a:lnTo>
                <a:lnTo>
                  <a:pt x="40007" y="635"/>
                </a:lnTo>
                <a:lnTo>
                  <a:pt x="40520" y="741"/>
                </a:lnTo>
                <a:lnTo>
                  <a:pt x="41232" y="924"/>
                </a:lnTo>
                <a:lnTo>
                  <a:pt x="41761" y="1050"/>
                </a:lnTo>
                <a:lnTo>
                  <a:pt x="42224" y="1045"/>
                </a:lnTo>
                <a:lnTo>
                  <a:pt x="42783" y="1382"/>
                </a:lnTo>
                <a:lnTo>
                  <a:pt x="43267" y="1518"/>
                </a:lnTo>
                <a:lnTo>
                  <a:pt x="43492" y="1787"/>
                </a:lnTo>
                <a:lnTo>
                  <a:pt x="43903" y="1866"/>
                </a:lnTo>
                <a:lnTo>
                  <a:pt x="44377" y="2143"/>
                </a:lnTo>
                <a:lnTo>
                  <a:pt x="44631" y="2291"/>
                </a:lnTo>
                <a:lnTo>
                  <a:pt x="44896" y="2590"/>
                </a:lnTo>
                <a:lnTo>
                  <a:pt x="45100" y="3077"/>
                </a:lnTo>
                <a:lnTo>
                  <a:pt x="45268" y="3417"/>
                </a:lnTo>
                <a:lnTo>
                  <a:pt x="45561" y="3555"/>
                </a:lnTo>
                <a:lnTo>
                  <a:pt x="45670" y="4005"/>
                </a:lnTo>
                <a:lnTo>
                  <a:pt x="45910" y="4589"/>
                </a:lnTo>
                <a:lnTo>
                  <a:pt x="46024" y="5097"/>
                </a:lnTo>
                <a:lnTo>
                  <a:pt x="46164" y="5603"/>
                </a:lnTo>
                <a:lnTo>
                  <a:pt x="46076" y="6468"/>
                </a:lnTo>
                <a:lnTo>
                  <a:pt x="46210" y="7417"/>
                </a:lnTo>
                <a:lnTo>
                  <a:pt x="46302" y="10645"/>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41360" y="1773022"/>
            <a:ext cx="4237604" cy="1941820"/>
          </a:xfrm>
          <a:custGeom>
            <a:avLst/>
            <a:gdLst/>
            <a:ahLst/>
            <a:cxnLst/>
            <a:rect l="l" t="t" r="r" b="b"/>
            <a:pathLst>
              <a:path w="46343" h="21236">
                <a:moveTo>
                  <a:pt x="46331" y="10623"/>
                </a:moveTo>
                <a:lnTo>
                  <a:pt x="46343" y="13938"/>
                </a:lnTo>
                <a:lnTo>
                  <a:pt x="46226" y="14999"/>
                </a:lnTo>
                <a:lnTo>
                  <a:pt x="46031" y="15751"/>
                </a:lnTo>
                <a:lnTo>
                  <a:pt x="46050" y="16237"/>
                </a:lnTo>
                <a:lnTo>
                  <a:pt x="45880" y="16668"/>
                </a:lnTo>
                <a:lnTo>
                  <a:pt x="45911" y="17159"/>
                </a:lnTo>
                <a:lnTo>
                  <a:pt x="45698" y="17746"/>
                </a:lnTo>
                <a:lnTo>
                  <a:pt x="45488" y="18067"/>
                </a:lnTo>
                <a:lnTo>
                  <a:pt x="45278" y="18287"/>
                </a:lnTo>
                <a:lnTo>
                  <a:pt x="44866" y="18625"/>
                </a:lnTo>
                <a:lnTo>
                  <a:pt x="44748" y="18826"/>
                </a:lnTo>
                <a:lnTo>
                  <a:pt x="44482" y="19092"/>
                </a:lnTo>
                <a:lnTo>
                  <a:pt x="44105" y="19324"/>
                </a:lnTo>
                <a:lnTo>
                  <a:pt x="43589" y="19705"/>
                </a:lnTo>
                <a:lnTo>
                  <a:pt x="43340" y="19790"/>
                </a:lnTo>
                <a:lnTo>
                  <a:pt x="42942" y="20075"/>
                </a:lnTo>
                <a:lnTo>
                  <a:pt x="42236" y="20156"/>
                </a:lnTo>
                <a:lnTo>
                  <a:pt x="41891" y="20301"/>
                </a:lnTo>
                <a:lnTo>
                  <a:pt x="41361" y="20382"/>
                </a:lnTo>
                <a:lnTo>
                  <a:pt x="40614" y="20578"/>
                </a:lnTo>
                <a:lnTo>
                  <a:pt x="39957" y="20604"/>
                </a:lnTo>
                <a:lnTo>
                  <a:pt x="39401" y="20695"/>
                </a:lnTo>
                <a:lnTo>
                  <a:pt x="38488" y="20979"/>
                </a:lnTo>
                <a:lnTo>
                  <a:pt x="37706" y="20907"/>
                </a:lnTo>
                <a:lnTo>
                  <a:pt x="36725" y="21103"/>
                </a:lnTo>
                <a:lnTo>
                  <a:pt x="35537" y="21012"/>
                </a:lnTo>
                <a:lnTo>
                  <a:pt x="34076" y="21131"/>
                </a:lnTo>
                <a:lnTo>
                  <a:pt x="32655" y="21198"/>
                </a:lnTo>
                <a:lnTo>
                  <a:pt x="30272" y="21152"/>
                </a:lnTo>
                <a:lnTo>
                  <a:pt x="23129" y="21210"/>
                </a:lnTo>
                <a:lnTo>
                  <a:pt x="16194" y="21076"/>
                </a:lnTo>
                <a:lnTo>
                  <a:pt x="13956" y="21236"/>
                </a:lnTo>
                <a:lnTo>
                  <a:pt x="12298" y="21070"/>
                </a:lnTo>
                <a:lnTo>
                  <a:pt x="10941" y="21059"/>
                </a:lnTo>
                <a:lnTo>
                  <a:pt x="9839" y="21035"/>
                </a:lnTo>
                <a:lnTo>
                  <a:pt x="8677" y="21079"/>
                </a:lnTo>
                <a:lnTo>
                  <a:pt x="7922" y="20953"/>
                </a:lnTo>
                <a:lnTo>
                  <a:pt x="7117" y="20838"/>
                </a:lnTo>
                <a:lnTo>
                  <a:pt x="6348" y="20759"/>
                </a:lnTo>
                <a:lnTo>
                  <a:pt x="5615" y="20667"/>
                </a:lnTo>
                <a:lnTo>
                  <a:pt x="5057" y="20407"/>
                </a:lnTo>
                <a:lnTo>
                  <a:pt x="4538" y="20291"/>
                </a:lnTo>
                <a:lnTo>
                  <a:pt x="3962" y="20146"/>
                </a:lnTo>
                <a:lnTo>
                  <a:pt x="3573" y="20048"/>
                </a:lnTo>
                <a:lnTo>
                  <a:pt x="3126" y="19816"/>
                </a:lnTo>
                <a:lnTo>
                  <a:pt x="2704" y="19677"/>
                </a:lnTo>
                <a:lnTo>
                  <a:pt x="2350" y="19489"/>
                </a:lnTo>
                <a:lnTo>
                  <a:pt x="1963" y="19099"/>
                </a:lnTo>
                <a:lnTo>
                  <a:pt x="1687" y="18984"/>
                </a:lnTo>
                <a:lnTo>
                  <a:pt x="1328" y="18528"/>
                </a:lnTo>
                <a:lnTo>
                  <a:pt x="1196" y="18227"/>
                </a:lnTo>
                <a:lnTo>
                  <a:pt x="903" y="17987"/>
                </a:lnTo>
                <a:lnTo>
                  <a:pt x="617" y="17653"/>
                </a:lnTo>
                <a:lnTo>
                  <a:pt x="586" y="17271"/>
                </a:lnTo>
                <a:lnTo>
                  <a:pt x="371" y="16858"/>
                </a:lnTo>
                <a:lnTo>
                  <a:pt x="283" y="16177"/>
                </a:lnTo>
                <a:lnTo>
                  <a:pt x="302" y="15730"/>
                </a:lnTo>
                <a:lnTo>
                  <a:pt x="216" y="14779"/>
                </a:lnTo>
                <a:lnTo>
                  <a:pt x="0" y="13863"/>
                </a:lnTo>
                <a:lnTo>
                  <a:pt x="12" y="10531"/>
                </a:lnTo>
                <a:lnTo>
                  <a:pt x="112" y="7389"/>
                </a:lnTo>
                <a:lnTo>
                  <a:pt x="268" y="6355"/>
                </a:lnTo>
                <a:lnTo>
                  <a:pt x="192" y="5568"/>
                </a:lnTo>
                <a:lnTo>
                  <a:pt x="374" y="4905"/>
                </a:lnTo>
                <a:lnTo>
                  <a:pt x="532" y="4428"/>
                </a:lnTo>
                <a:lnTo>
                  <a:pt x="498" y="3909"/>
                </a:lnTo>
                <a:lnTo>
                  <a:pt x="626" y="3570"/>
                </a:lnTo>
                <a:lnTo>
                  <a:pt x="937" y="3194"/>
                </a:lnTo>
                <a:lnTo>
                  <a:pt x="1078" y="2850"/>
                </a:lnTo>
                <a:lnTo>
                  <a:pt x="1440" y="2621"/>
                </a:lnTo>
                <a:lnTo>
                  <a:pt x="1721" y="2227"/>
                </a:lnTo>
                <a:lnTo>
                  <a:pt x="1886" y="2107"/>
                </a:lnTo>
                <a:lnTo>
                  <a:pt x="2383" y="1880"/>
                </a:lnTo>
                <a:lnTo>
                  <a:pt x="2749" y="1563"/>
                </a:lnTo>
                <a:lnTo>
                  <a:pt x="3097" y="1448"/>
                </a:lnTo>
                <a:lnTo>
                  <a:pt x="3555" y="1331"/>
                </a:lnTo>
                <a:lnTo>
                  <a:pt x="4112" y="1051"/>
                </a:lnTo>
                <a:lnTo>
                  <a:pt x="4538" y="800"/>
                </a:lnTo>
                <a:lnTo>
                  <a:pt x="4979" y="816"/>
                </a:lnTo>
                <a:lnTo>
                  <a:pt x="5780" y="725"/>
                </a:lnTo>
                <a:lnTo>
                  <a:pt x="6471" y="551"/>
                </a:lnTo>
                <a:lnTo>
                  <a:pt x="6975" y="292"/>
                </a:lnTo>
                <a:lnTo>
                  <a:pt x="7893" y="400"/>
                </a:lnTo>
                <a:lnTo>
                  <a:pt x="8797" y="204"/>
                </a:lnTo>
                <a:lnTo>
                  <a:pt x="9671" y="123"/>
                </a:lnTo>
                <a:lnTo>
                  <a:pt x="10744" y="200"/>
                </a:lnTo>
                <a:lnTo>
                  <a:pt x="12313" y="4"/>
                </a:lnTo>
                <a:lnTo>
                  <a:pt x="13938" y="114"/>
                </a:lnTo>
                <a:lnTo>
                  <a:pt x="16139" y="47"/>
                </a:lnTo>
                <a:lnTo>
                  <a:pt x="23133" y="27"/>
                </a:lnTo>
                <a:lnTo>
                  <a:pt x="30361" y="20"/>
                </a:lnTo>
                <a:lnTo>
                  <a:pt x="32442" y="14"/>
                </a:lnTo>
                <a:lnTo>
                  <a:pt x="34285" y="0"/>
                </a:lnTo>
                <a:lnTo>
                  <a:pt x="35607" y="164"/>
                </a:lnTo>
                <a:lnTo>
                  <a:pt x="36750" y="220"/>
                </a:lnTo>
                <a:lnTo>
                  <a:pt x="37705" y="199"/>
                </a:lnTo>
                <a:lnTo>
                  <a:pt x="38587" y="283"/>
                </a:lnTo>
                <a:lnTo>
                  <a:pt x="39161" y="434"/>
                </a:lnTo>
                <a:lnTo>
                  <a:pt x="39994" y="577"/>
                </a:lnTo>
                <a:lnTo>
                  <a:pt x="40702" y="560"/>
                </a:lnTo>
                <a:lnTo>
                  <a:pt x="41412" y="811"/>
                </a:lnTo>
                <a:lnTo>
                  <a:pt x="41782" y="996"/>
                </a:lnTo>
                <a:lnTo>
                  <a:pt x="42414" y="953"/>
                </a:lnTo>
                <a:lnTo>
                  <a:pt x="42952" y="1126"/>
                </a:lnTo>
                <a:lnTo>
                  <a:pt x="43253" y="1379"/>
                </a:lnTo>
                <a:lnTo>
                  <a:pt x="43595" y="1577"/>
                </a:lnTo>
                <a:lnTo>
                  <a:pt x="44118" y="1901"/>
                </a:lnTo>
                <a:lnTo>
                  <a:pt x="44315" y="1952"/>
                </a:lnTo>
                <a:lnTo>
                  <a:pt x="44663" y="2279"/>
                </a:lnTo>
                <a:lnTo>
                  <a:pt x="44921" y="2667"/>
                </a:lnTo>
                <a:lnTo>
                  <a:pt x="45114" y="2950"/>
                </a:lnTo>
                <a:lnTo>
                  <a:pt x="45414" y="3291"/>
                </a:lnTo>
                <a:lnTo>
                  <a:pt x="45627" y="3617"/>
                </a:lnTo>
                <a:lnTo>
                  <a:pt x="45927" y="4044"/>
                </a:lnTo>
                <a:lnTo>
                  <a:pt x="46045" y="4554"/>
                </a:lnTo>
                <a:lnTo>
                  <a:pt x="46161" y="4946"/>
                </a:lnTo>
                <a:lnTo>
                  <a:pt x="46249" y="5457"/>
                </a:lnTo>
                <a:lnTo>
                  <a:pt x="46251" y="6250"/>
                </a:lnTo>
                <a:lnTo>
                  <a:pt x="46231" y="7272"/>
                </a:lnTo>
                <a:lnTo>
                  <a:pt x="46309" y="10648"/>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4796942" y="3259379"/>
            <a:ext cx="56418" cy="158923"/>
          </a:xfrm>
          <a:custGeom>
            <a:avLst/>
            <a:gdLst/>
            <a:ahLst/>
            <a:cxnLst/>
            <a:rect l="l" t="t" r="r" b="b"/>
            <a:pathLst>
              <a:path w="617" h="1738">
                <a:moveTo>
                  <a:pt x="617" y="0"/>
                </a:moveTo>
                <a:lnTo>
                  <a:pt x="502" y="516"/>
                </a:lnTo>
                <a:lnTo>
                  <a:pt x="361" y="969"/>
                </a:lnTo>
                <a:lnTo>
                  <a:pt x="194" y="1373"/>
                </a:lnTo>
                <a:lnTo>
                  <a:pt x="0" y="1738"/>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61434" y="3644890"/>
            <a:ext cx="255118" cy="39502"/>
          </a:xfrm>
          <a:custGeom>
            <a:avLst/>
            <a:gdLst/>
            <a:ahLst/>
            <a:cxnLst/>
            <a:rect l="l" t="t" r="r" b="b"/>
            <a:pathLst>
              <a:path w="2790" h="432">
                <a:moveTo>
                  <a:pt x="2790" y="0"/>
                </a:moveTo>
                <a:lnTo>
                  <a:pt x="2181" y="127"/>
                </a:lnTo>
                <a:lnTo>
                  <a:pt x="1519" y="242"/>
                </a:lnTo>
                <a:lnTo>
                  <a:pt x="795" y="343"/>
                </a:lnTo>
                <a:lnTo>
                  <a:pt x="0" y="43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288847" y="3676254"/>
            <a:ext cx="346649" cy="25878"/>
          </a:xfrm>
          <a:custGeom>
            <a:avLst/>
            <a:gdLst/>
            <a:ahLst/>
            <a:cxnLst/>
            <a:rect l="l" t="t" r="r" b="b"/>
            <a:pathLst>
              <a:path w="3791" h="283">
                <a:moveTo>
                  <a:pt x="3791" y="283"/>
                </a:moveTo>
                <a:lnTo>
                  <a:pt x="2664" y="230"/>
                </a:lnTo>
                <a:lnTo>
                  <a:pt x="1676" y="166"/>
                </a:lnTo>
                <a:lnTo>
                  <a:pt x="795" y="89"/>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08294" y="3384926"/>
            <a:ext cx="86136" cy="116952"/>
          </a:xfrm>
          <a:custGeom>
            <a:avLst/>
            <a:gdLst/>
            <a:ahLst/>
            <a:cxnLst/>
            <a:rect l="l" t="t" r="r" b="b"/>
            <a:pathLst>
              <a:path w="942" h="1279">
                <a:moveTo>
                  <a:pt x="942" y="1279"/>
                </a:moveTo>
                <a:lnTo>
                  <a:pt x="664" y="1000"/>
                </a:lnTo>
                <a:lnTo>
                  <a:pt x="415" y="696"/>
                </a:lnTo>
                <a:lnTo>
                  <a:pt x="194" y="365"/>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69615" y="2068098"/>
            <a:ext cx="56418" cy="158923"/>
          </a:xfrm>
          <a:custGeom>
            <a:avLst/>
            <a:gdLst/>
            <a:ahLst/>
            <a:cxnLst/>
            <a:rect l="l" t="t" r="r" b="b"/>
            <a:pathLst>
              <a:path w="617" h="1738">
                <a:moveTo>
                  <a:pt x="0" y="1738"/>
                </a:moveTo>
                <a:lnTo>
                  <a:pt x="115" y="1222"/>
                </a:lnTo>
                <a:lnTo>
                  <a:pt x="256" y="769"/>
                </a:lnTo>
                <a:lnTo>
                  <a:pt x="423" y="365"/>
                </a:lnTo>
                <a:lnTo>
                  <a:pt x="617"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106424" y="1802008"/>
            <a:ext cx="255118" cy="39502"/>
          </a:xfrm>
          <a:custGeom>
            <a:avLst/>
            <a:gdLst/>
            <a:ahLst/>
            <a:cxnLst/>
            <a:rect l="l" t="t" r="r" b="b"/>
            <a:pathLst>
              <a:path w="2790" h="432">
                <a:moveTo>
                  <a:pt x="0" y="432"/>
                </a:moveTo>
                <a:lnTo>
                  <a:pt x="609" y="305"/>
                </a:lnTo>
                <a:lnTo>
                  <a:pt x="1271" y="190"/>
                </a:lnTo>
                <a:lnTo>
                  <a:pt x="1995" y="89"/>
                </a:lnTo>
                <a:lnTo>
                  <a:pt x="279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887480" y="1784269"/>
            <a:ext cx="346649" cy="25878"/>
          </a:xfrm>
          <a:custGeom>
            <a:avLst/>
            <a:gdLst/>
            <a:ahLst/>
            <a:cxnLst/>
            <a:rect l="l" t="t" r="r" b="b"/>
            <a:pathLst>
              <a:path w="3791" h="283">
                <a:moveTo>
                  <a:pt x="0" y="0"/>
                </a:moveTo>
                <a:lnTo>
                  <a:pt x="1127" y="53"/>
                </a:lnTo>
                <a:lnTo>
                  <a:pt x="2115" y="117"/>
                </a:lnTo>
                <a:lnTo>
                  <a:pt x="2996" y="194"/>
                </a:lnTo>
                <a:lnTo>
                  <a:pt x="3791" y="283"/>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728545" y="1984522"/>
            <a:ext cx="86136" cy="116952"/>
          </a:xfrm>
          <a:custGeom>
            <a:avLst/>
            <a:gdLst/>
            <a:ahLst/>
            <a:cxnLst/>
            <a:rect l="l" t="t" r="r" b="b"/>
            <a:pathLst>
              <a:path w="942" h="1279">
                <a:moveTo>
                  <a:pt x="0" y="0"/>
                </a:moveTo>
                <a:lnTo>
                  <a:pt x="278" y="279"/>
                </a:lnTo>
                <a:lnTo>
                  <a:pt x="527" y="583"/>
                </a:lnTo>
                <a:lnTo>
                  <a:pt x="748" y="914"/>
                </a:lnTo>
                <a:lnTo>
                  <a:pt x="942" y="127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1"/>
          <p:cNvSpPr txBox="1"/>
          <p:nvPr/>
        </p:nvSpPr>
        <p:spPr>
          <a:xfrm>
            <a:off x="804671" y="1950275"/>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4E7892"/>
                </a:solidFill>
                <a:latin typeface="Trebuchet MS"/>
              </a:rPr>
              <a:t>1</a:t>
            </a:r>
          </a:p>
        </p:txBody>
      </p:sp>
      <p:sp>
        <p:nvSpPr>
          <p:cNvPr id="24" name="body: Observe effects, not vibes"/>
          <p:cNvSpPr txBox="1"/>
          <p:nvPr/>
        </p:nvSpPr>
        <p:spPr>
          <a:xfrm>
            <a:off x="1325880" y="1938527"/>
            <a:ext cx="3136391" cy="707644"/>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4E7892"/>
                </a:solidFill>
                <a:latin typeface="Chalkboard SE"/>
              </a:rPr>
              <a:t>Observe effects, not</a:t>
            </a:r>
            <a:br/>
            <a:r>
              <a:rPr sz="1850" b="1">
                <a:solidFill>
                  <a:srgbClr val="4E7892"/>
                </a:solidFill>
                <a:latin typeface="Chalkboard SE"/>
              </a:rPr>
              <a:t>vibes</a:t>
            </a:r>
          </a:p>
        </p:txBody>
      </p:sp>
      <p:sp>
        <p:nvSpPr>
          <p:cNvPr id="25" name="body: An incident is a witnessed effect, recorded outside the agent's "/>
          <p:cNvSpPr txBox="1"/>
          <p:nvPr/>
        </p:nvSpPr>
        <p:spPr>
          <a:xfrm>
            <a:off x="896112" y="2730642"/>
            <a:ext cx="3730752" cy="879062"/>
          </a:xfrm>
          <a:prstGeom prst="rect">
            <a:avLst/>
          </a:prstGeom>
          <a:noFill/>
        </p:spPr>
        <p:txBody>
          <a:bodyPr wrap="none" lIns="0" rIns="0" tIns="0" bIns="0" anchor="t">
            <a:noAutofit/>
          </a:bodyPr>
          <a:lstStyle/>
          <a:p>
            <a:pPr algn="ctr">
              <a:lnSpc>
                <a:spcPts val="2127"/>
              </a:lnSpc>
              <a:spcBef>
                <a:spcPts val="0"/>
              </a:spcBef>
              <a:spcAft>
                <a:spcPts val="0"/>
              </a:spcAft>
            </a:pPr>
            <a:r>
              <a:rPr sz="1675" b="0">
                <a:solidFill>
                  <a:srgbClr val="293E46"/>
                </a:solidFill>
                <a:latin typeface="Trebuchet MS"/>
              </a:rPr>
              <a:t>An incident is a witnessed effect,</a:t>
            </a:r>
            <a:br/>
            <a:r>
              <a:rPr sz="1675" b="0">
                <a:solidFill>
                  <a:srgbClr val="293E46"/>
                </a:solidFill>
                <a:latin typeface="Trebuchet MS"/>
              </a:rPr>
              <a:t>recorded outside the agent's</a:t>
            </a:r>
            <a:br/>
            <a:r>
              <a:rPr sz="1675" b="0">
                <a:solidFill>
                  <a:srgbClr val="293E46"/>
                </a:solidFill>
                <a:latin typeface="Trebuchet MS"/>
              </a:rPr>
              <a:t>authority.</a:t>
            </a:r>
          </a:p>
        </p:txBody>
      </p:sp>
      <p:sp>
        <p:nvSpPr>
          <p:cNvPr id="26" name="Rounded Rectangle 25"/>
          <p:cNvSpPr/>
          <p:nvPr/>
        </p:nvSpPr>
        <p:spPr>
          <a:xfrm>
            <a:off x="5193792" y="1764792"/>
            <a:ext cx="4242816" cy="1956816"/>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5194981" y="1766255"/>
            <a:ext cx="4235226" cy="1951421"/>
          </a:xfrm>
          <a:custGeom>
            <a:avLst/>
            <a:gdLst/>
            <a:ahLst/>
            <a:cxnLst/>
            <a:rect l="l" t="t" r="r" b="b"/>
            <a:pathLst>
              <a:path w="46317" h="21341">
                <a:moveTo>
                  <a:pt x="46162" y="10791"/>
                </a:moveTo>
                <a:lnTo>
                  <a:pt x="46251" y="13859"/>
                </a:lnTo>
                <a:lnTo>
                  <a:pt x="46244" y="14951"/>
                </a:lnTo>
                <a:lnTo>
                  <a:pt x="46116" y="15657"/>
                </a:lnTo>
                <a:lnTo>
                  <a:pt x="45945" y="16343"/>
                </a:lnTo>
                <a:lnTo>
                  <a:pt x="45893" y="16732"/>
                </a:lnTo>
                <a:lnTo>
                  <a:pt x="45902" y="17406"/>
                </a:lnTo>
                <a:lnTo>
                  <a:pt x="45731" y="17798"/>
                </a:lnTo>
                <a:lnTo>
                  <a:pt x="45462" y="18084"/>
                </a:lnTo>
                <a:lnTo>
                  <a:pt x="45263" y="18381"/>
                </a:lnTo>
                <a:lnTo>
                  <a:pt x="45057" y="18796"/>
                </a:lnTo>
                <a:lnTo>
                  <a:pt x="44713" y="18962"/>
                </a:lnTo>
                <a:lnTo>
                  <a:pt x="44407" y="19257"/>
                </a:lnTo>
                <a:lnTo>
                  <a:pt x="43965" y="19588"/>
                </a:lnTo>
                <a:lnTo>
                  <a:pt x="43729" y="19726"/>
                </a:lnTo>
                <a:lnTo>
                  <a:pt x="43240" y="19804"/>
                </a:lnTo>
                <a:lnTo>
                  <a:pt x="42793" y="20071"/>
                </a:lnTo>
                <a:lnTo>
                  <a:pt x="42239" y="20230"/>
                </a:lnTo>
                <a:lnTo>
                  <a:pt x="41900" y="20477"/>
                </a:lnTo>
                <a:lnTo>
                  <a:pt x="41401" y="20518"/>
                </a:lnTo>
                <a:lnTo>
                  <a:pt x="40585" y="20571"/>
                </a:lnTo>
                <a:lnTo>
                  <a:pt x="40085" y="20845"/>
                </a:lnTo>
                <a:lnTo>
                  <a:pt x="39274" y="20889"/>
                </a:lnTo>
                <a:lnTo>
                  <a:pt x="38418" y="20910"/>
                </a:lnTo>
                <a:lnTo>
                  <a:pt x="37676" y="21008"/>
                </a:lnTo>
                <a:lnTo>
                  <a:pt x="36704" y="21169"/>
                </a:lnTo>
                <a:lnTo>
                  <a:pt x="35474" y="21154"/>
                </a:lnTo>
                <a:lnTo>
                  <a:pt x="34144" y="21197"/>
                </a:lnTo>
                <a:lnTo>
                  <a:pt x="32519" y="21341"/>
                </a:lnTo>
                <a:lnTo>
                  <a:pt x="30179" y="21221"/>
                </a:lnTo>
                <a:lnTo>
                  <a:pt x="23218" y="21315"/>
                </a:lnTo>
                <a:lnTo>
                  <a:pt x="16200" y="21226"/>
                </a:lnTo>
                <a:lnTo>
                  <a:pt x="13955" y="21229"/>
                </a:lnTo>
                <a:lnTo>
                  <a:pt x="12076" y="21146"/>
                </a:lnTo>
                <a:lnTo>
                  <a:pt x="10975" y="21280"/>
                </a:lnTo>
                <a:lnTo>
                  <a:pt x="9670" y="21062"/>
                </a:lnTo>
                <a:lnTo>
                  <a:pt x="8660" y="21134"/>
                </a:lnTo>
                <a:lnTo>
                  <a:pt x="7856" y="21041"/>
                </a:lnTo>
                <a:lnTo>
                  <a:pt x="7090" y="20824"/>
                </a:lnTo>
                <a:lnTo>
                  <a:pt x="6230" y="20811"/>
                </a:lnTo>
                <a:lnTo>
                  <a:pt x="5803" y="20666"/>
                </a:lnTo>
                <a:lnTo>
                  <a:pt x="5205" y="20662"/>
                </a:lnTo>
                <a:lnTo>
                  <a:pt x="4485" y="20378"/>
                </a:lnTo>
                <a:lnTo>
                  <a:pt x="4034" y="20368"/>
                </a:lnTo>
                <a:lnTo>
                  <a:pt x="3563" y="20153"/>
                </a:lnTo>
                <a:lnTo>
                  <a:pt x="3006" y="19875"/>
                </a:lnTo>
                <a:lnTo>
                  <a:pt x="2588" y="19613"/>
                </a:lnTo>
                <a:lnTo>
                  <a:pt x="2394" y="19521"/>
                </a:lnTo>
                <a:lnTo>
                  <a:pt x="1950" y="19275"/>
                </a:lnTo>
                <a:lnTo>
                  <a:pt x="1565" y="19078"/>
                </a:lnTo>
                <a:lnTo>
                  <a:pt x="1492" y="18637"/>
                </a:lnTo>
                <a:lnTo>
                  <a:pt x="1154" y="18436"/>
                </a:lnTo>
                <a:lnTo>
                  <a:pt x="821" y="18138"/>
                </a:lnTo>
                <a:lnTo>
                  <a:pt x="665" y="17753"/>
                </a:lnTo>
                <a:lnTo>
                  <a:pt x="606" y="17384"/>
                </a:lnTo>
                <a:lnTo>
                  <a:pt x="537" y="16830"/>
                </a:lnTo>
                <a:lnTo>
                  <a:pt x="382" y="16288"/>
                </a:lnTo>
                <a:lnTo>
                  <a:pt x="172" y="15709"/>
                </a:lnTo>
                <a:lnTo>
                  <a:pt x="184" y="14936"/>
                </a:lnTo>
                <a:lnTo>
                  <a:pt x="147" y="13941"/>
                </a:lnTo>
                <a:lnTo>
                  <a:pt x="0" y="10682"/>
                </a:lnTo>
                <a:lnTo>
                  <a:pt x="248" y="7361"/>
                </a:lnTo>
                <a:lnTo>
                  <a:pt x="161" y="6343"/>
                </a:lnTo>
                <a:lnTo>
                  <a:pt x="324" y="5622"/>
                </a:lnTo>
                <a:lnTo>
                  <a:pt x="400" y="5140"/>
                </a:lnTo>
                <a:lnTo>
                  <a:pt x="506" y="4518"/>
                </a:lnTo>
                <a:lnTo>
                  <a:pt x="436" y="4170"/>
                </a:lnTo>
                <a:lnTo>
                  <a:pt x="787" y="3764"/>
                </a:lnTo>
                <a:lnTo>
                  <a:pt x="830" y="3267"/>
                </a:lnTo>
                <a:lnTo>
                  <a:pt x="1259" y="2896"/>
                </a:lnTo>
                <a:lnTo>
                  <a:pt x="1527" y="2591"/>
                </a:lnTo>
                <a:lnTo>
                  <a:pt x="1677" y="2342"/>
                </a:lnTo>
                <a:lnTo>
                  <a:pt x="2014" y="2070"/>
                </a:lnTo>
                <a:lnTo>
                  <a:pt x="2288" y="1836"/>
                </a:lnTo>
                <a:lnTo>
                  <a:pt x="2762" y="1771"/>
                </a:lnTo>
                <a:lnTo>
                  <a:pt x="2994" y="1487"/>
                </a:lnTo>
                <a:lnTo>
                  <a:pt x="3649" y="1387"/>
                </a:lnTo>
                <a:lnTo>
                  <a:pt x="3964" y="1004"/>
                </a:lnTo>
                <a:lnTo>
                  <a:pt x="4536" y="943"/>
                </a:lnTo>
                <a:lnTo>
                  <a:pt x="5187" y="791"/>
                </a:lnTo>
                <a:lnTo>
                  <a:pt x="5729" y="632"/>
                </a:lnTo>
                <a:lnTo>
                  <a:pt x="6394" y="467"/>
                </a:lnTo>
                <a:lnTo>
                  <a:pt x="6974" y="561"/>
                </a:lnTo>
                <a:lnTo>
                  <a:pt x="7911" y="488"/>
                </a:lnTo>
                <a:lnTo>
                  <a:pt x="8766" y="310"/>
                </a:lnTo>
                <a:lnTo>
                  <a:pt x="9825" y="332"/>
                </a:lnTo>
                <a:lnTo>
                  <a:pt x="10749" y="233"/>
                </a:lnTo>
                <a:lnTo>
                  <a:pt x="12119" y="45"/>
                </a:lnTo>
                <a:lnTo>
                  <a:pt x="13818" y="130"/>
                </a:lnTo>
                <a:lnTo>
                  <a:pt x="16206" y="122"/>
                </a:lnTo>
                <a:lnTo>
                  <a:pt x="23161" y="12"/>
                </a:lnTo>
                <a:lnTo>
                  <a:pt x="30297" y="0"/>
                </a:lnTo>
                <a:lnTo>
                  <a:pt x="32594" y="195"/>
                </a:lnTo>
                <a:lnTo>
                  <a:pt x="34136" y="41"/>
                </a:lnTo>
                <a:lnTo>
                  <a:pt x="35603" y="80"/>
                </a:lnTo>
                <a:lnTo>
                  <a:pt x="36616" y="179"/>
                </a:lnTo>
                <a:lnTo>
                  <a:pt x="37739" y="363"/>
                </a:lnTo>
                <a:lnTo>
                  <a:pt x="38478" y="311"/>
                </a:lnTo>
                <a:lnTo>
                  <a:pt x="39387" y="374"/>
                </a:lnTo>
                <a:lnTo>
                  <a:pt x="40087" y="562"/>
                </a:lnTo>
                <a:lnTo>
                  <a:pt x="40630" y="593"/>
                </a:lnTo>
                <a:lnTo>
                  <a:pt x="41316" y="736"/>
                </a:lnTo>
                <a:lnTo>
                  <a:pt x="41953" y="959"/>
                </a:lnTo>
                <a:lnTo>
                  <a:pt x="42327" y="1105"/>
                </a:lnTo>
                <a:lnTo>
                  <a:pt x="42731" y="1274"/>
                </a:lnTo>
                <a:lnTo>
                  <a:pt x="43372" y="1461"/>
                </a:lnTo>
                <a:lnTo>
                  <a:pt x="43720" y="1576"/>
                </a:lnTo>
                <a:lnTo>
                  <a:pt x="44144" y="1969"/>
                </a:lnTo>
                <a:lnTo>
                  <a:pt x="44424" y="2057"/>
                </a:lnTo>
                <a:lnTo>
                  <a:pt x="44796" y="2278"/>
                </a:lnTo>
                <a:lnTo>
                  <a:pt x="45089" y="2737"/>
                </a:lnTo>
                <a:lnTo>
                  <a:pt x="45287" y="2857"/>
                </a:lnTo>
                <a:lnTo>
                  <a:pt x="45362" y="3284"/>
                </a:lnTo>
                <a:lnTo>
                  <a:pt x="45737" y="3671"/>
                </a:lnTo>
                <a:lnTo>
                  <a:pt x="45776" y="4116"/>
                </a:lnTo>
                <a:lnTo>
                  <a:pt x="45980" y="4566"/>
                </a:lnTo>
                <a:lnTo>
                  <a:pt x="46148" y="5075"/>
                </a:lnTo>
                <a:lnTo>
                  <a:pt x="46112" y="5746"/>
                </a:lnTo>
                <a:lnTo>
                  <a:pt x="46317" y="6364"/>
                </a:lnTo>
                <a:lnTo>
                  <a:pt x="46279" y="7552"/>
                </a:lnTo>
                <a:lnTo>
                  <a:pt x="46227" y="10788"/>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5202936" y="1768175"/>
            <a:ext cx="4232575" cy="1944380"/>
          </a:xfrm>
          <a:custGeom>
            <a:avLst/>
            <a:gdLst/>
            <a:ahLst/>
            <a:cxnLst/>
            <a:rect l="l" t="t" r="r" b="b"/>
            <a:pathLst>
              <a:path w="46288" h="21264">
                <a:moveTo>
                  <a:pt x="46253" y="10707"/>
                </a:moveTo>
                <a:lnTo>
                  <a:pt x="46267" y="13990"/>
                </a:lnTo>
                <a:lnTo>
                  <a:pt x="46141" y="14983"/>
                </a:lnTo>
                <a:lnTo>
                  <a:pt x="45959" y="15755"/>
                </a:lnTo>
                <a:lnTo>
                  <a:pt x="46003" y="16231"/>
                </a:lnTo>
                <a:lnTo>
                  <a:pt x="45990" y="16723"/>
                </a:lnTo>
                <a:lnTo>
                  <a:pt x="45611" y="17294"/>
                </a:lnTo>
                <a:lnTo>
                  <a:pt x="45621" y="17723"/>
                </a:lnTo>
                <a:lnTo>
                  <a:pt x="45394" y="18126"/>
                </a:lnTo>
                <a:lnTo>
                  <a:pt x="45217" y="18470"/>
                </a:lnTo>
                <a:lnTo>
                  <a:pt x="44979" y="18585"/>
                </a:lnTo>
                <a:lnTo>
                  <a:pt x="44516" y="19077"/>
                </a:lnTo>
                <a:lnTo>
                  <a:pt x="44261" y="19176"/>
                </a:lnTo>
                <a:lnTo>
                  <a:pt x="43905" y="19451"/>
                </a:lnTo>
                <a:lnTo>
                  <a:pt x="43605" y="19681"/>
                </a:lnTo>
                <a:lnTo>
                  <a:pt x="43125" y="19850"/>
                </a:lnTo>
                <a:lnTo>
                  <a:pt x="42829" y="20144"/>
                </a:lnTo>
                <a:lnTo>
                  <a:pt x="42318" y="20111"/>
                </a:lnTo>
                <a:lnTo>
                  <a:pt x="41746" y="20360"/>
                </a:lnTo>
                <a:lnTo>
                  <a:pt x="41189" y="20422"/>
                </a:lnTo>
                <a:lnTo>
                  <a:pt x="40663" y="20697"/>
                </a:lnTo>
                <a:lnTo>
                  <a:pt x="40032" y="20799"/>
                </a:lnTo>
                <a:lnTo>
                  <a:pt x="39245" y="20942"/>
                </a:lnTo>
                <a:lnTo>
                  <a:pt x="38411" y="21052"/>
                </a:lnTo>
                <a:lnTo>
                  <a:pt x="37632" y="21012"/>
                </a:lnTo>
                <a:lnTo>
                  <a:pt x="36594" y="21036"/>
                </a:lnTo>
                <a:lnTo>
                  <a:pt x="35359" y="21184"/>
                </a:lnTo>
                <a:lnTo>
                  <a:pt x="34069" y="21136"/>
                </a:lnTo>
                <a:lnTo>
                  <a:pt x="32486" y="21216"/>
                </a:lnTo>
                <a:lnTo>
                  <a:pt x="30128" y="21232"/>
                </a:lnTo>
                <a:lnTo>
                  <a:pt x="23093" y="21187"/>
                </a:lnTo>
                <a:lnTo>
                  <a:pt x="16040" y="21170"/>
                </a:lnTo>
                <a:lnTo>
                  <a:pt x="13711" y="21250"/>
                </a:lnTo>
                <a:lnTo>
                  <a:pt x="12021" y="21264"/>
                </a:lnTo>
                <a:lnTo>
                  <a:pt x="10712" y="21191"/>
                </a:lnTo>
                <a:lnTo>
                  <a:pt x="9652" y="21143"/>
                </a:lnTo>
                <a:lnTo>
                  <a:pt x="8738" y="21103"/>
                </a:lnTo>
                <a:lnTo>
                  <a:pt x="7750" y="20929"/>
                </a:lnTo>
                <a:lnTo>
                  <a:pt x="6924" y="20759"/>
                </a:lnTo>
                <a:lnTo>
                  <a:pt x="6300" y="20879"/>
                </a:lnTo>
                <a:lnTo>
                  <a:pt x="5506" y="20553"/>
                </a:lnTo>
                <a:lnTo>
                  <a:pt x="5090" y="20482"/>
                </a:lnTo>
                <a:lnTo>
                  <a:pt x="4347" y="20348"/>
                </a:lnTo>
                <a:lnTo>
                  <a:pt x="3905" y="20223"/>
                </a:lnTo>
                <a:lnTo>
                  <a:pt x="3338" y="20046"/>
                </a:lnTo>
                <a:lnTo>
                  <a:pt x="2965" y="19868"/>
                </a:lnTo>
                <a:lnTo>
                  <a:pt x="2693" y="19685"/>
                </a:lnTo>
                <a:lnTo>
                  <a:pt x="2191" y="19482"/>
                </a:lnTo>
                <a:lnTo>
                  <a:pt x="1772" y="19114"/>
                </a:lnTo>
                <a:lnTo>
                  <a:pt x="1715" y="19024"/>
                </a:lnTo>
                <a:lnTo>
                  <a:pt x="1345" y="18722"/>
                </a:lnTo>
                <a:lnTo>
                  <a:pt x="1084" y="18372"/>
                </a:lnTo>
                <a:lnTo>
                  <a:pt x="843" y="18067"/>
                </a:lnTo>
                <a:lnTo>
                  <a:pt x="541" y="17765"/>
                </a:lnTo>
                <a:lnTo>
                  <a:pt x="419" y="17353"/>
                </a:lnTo>
                <a:lnTo>
                  <a:pt x="285" y="16855"/>
                </a:lnTo>
                <a:lnTo>
                  <a:pt x="285" y="16412"/>
                </a:lnTo>
                <a:lnTo>
                  <a:pt x="31" y="15800"/>
                </a:lnTo>
                <a:lnTo>
                  <a:pt x="0" y="14858"/>
                </a:lnTo>
                <a:lnTo>
                  <a:pt x="41" y="13828"/>
                </a:lnTo>
                <a:lnTo>
                  <a:pt x="148" y="10696"/>
                </a:lnTo>
                <a:lnTo>
                  <a:pt x="108" y="7406"/>
                </a:lnTo>
                <a:lnTo>
                  <a:pt x="198" y="6290"/>
                </a:lnTo>
                <a:lnTo>
                  <a:pt x="169" y="5550"/>
                </a:lnTo>
                <a:lnTo>
                  <a:pt x="270" y="4928"/>
                </a:lnTo>
                <a:lnTo>
                  <a:pt x="305" y="4483"/>
                </a:lnTo>
                <a:lnTo>
                  <a:pt x="519" y="4085"/>
                </a:lnTo>
                <a:lnTo>
                  <a:pt x="640" y="3534"/>
                </a:lnTo>
                <a:lnTo>
                  <a:pt x="761" y="3374"/>
                </a:lnTo>
                <a:lnTo>
                  <a:pt x="1032" y="2989"/>
                </a:lnTo>
                <a:lnTo>
                  <a:pt x="1366" y="2729"/>
                </a:lnTo>
                <a:lnTo>
                  <a:pt x="1695" y="2303"/>
                </a:lnTo>
                <a:lnTo>
                  <a:pt x="1880" y="2199"/>
                </a:lnTo>
                <a:lnTo>
                  <a:pt x="2135" y="1943"/>
                </a:lnTo>
                <a:lnTo>
                  <a:pt x="2605" y="1631"/>
                </a:lnTo>
                <a:lnTo>
                  <a:pt x="2929" y="1406"/>
                </a:lnTo>
                <a:lnTo>
                  <a:pt x="3329" y="1293"/>
                </a:lnTo>
                <a:lnTo>
                  <a:pt x="3899" y="1052"/>
                </a:lnTo>
                <a:lnTo>
                  <a:pt x="4457" y="1008"/>
                </a:lnTo>
                <a:lnTo>
                  <a:pt x="5017" y="816"/>
                </a:lnTo>
                <a:lnTo>
                  <a:pt x="5537" y="620"/>
                </a:lnTo>
                <a:lnTo>
                  <a:pt x="6275" y="672"/>
                </a:lnTo>
                <a:lnTo>
                  <a:pt x="6906" y="377"/>
                </a:lnTo>
                <a:lnTo>
                  <a:pt x="7882" y="359"/>
                </a:lnTo>
                <a:lnTo>
                  <a:pt x="8701" y="257"/>
                </a:lnTo>
                <a:lnTo>
                  <a:pt x="9533" y="319"/>
                </a:lnTo>
                <a:lnTo>
                  <a:pt x="10897" y="108"/>
                </a:lnTo>
                <a:lnTo>
                  <a:pt x="12100" y="81"/>
                </a:lnTo>
                <a:lnTo>
                  <a:pt x="13813" y="140"/>
                </a:lnTo>
                <a:lnTo>
                  <a:pt x="15984" y="0"/>
                </a:lnTo>
                <a:lnTo>
                  <a:pt x="23005" y="126"/>
                </a:lnTo>
                <a:lnTo>
                  <a:pt x="30290" y="113"/>
                </a:lnTo>
                <a:lnTo>
                  <a:pt x="32570" y="152"/>
                </a:lnTo>
                <a:lnTo>
                  <a:pt x="34032" y="119"/>
                </a:lnTo>
                <a:lnTo>
                  <a:pt x="35355" y="57"/>
                </a:lnTo>
                <a:lnTo>
                  <a:pt x="36609" y="142"/>
                </a:lnTo>
                <a:lnTo>
                  <a:pt x="37457" y="322"/>
                </a:lnTo>
                <a:lnTo>
                  <a:pt x="38451" y="433"/>
                </a:lnTo>
                <a:lnTo>
                  <a:pt x="39260" y="562"/>
                </a:lnTo>
                <a:lnTo>
                  <a:pt x="40002" y="584"/>
                </a:lnTo>
                <a:lnTo>
                  <a:pt x="40551" y="566"/>
                </a:lnTo>
                <a:lnTo>
                  <a:pt x="41237" y="772"/>
                </a:lnTo>
                <a:lnTo>
                  <a:pt x="41782" y="978"/>
                </a:lnTo>
                <a:lnTo>
                  <a:pt x="42253" y="1116"/>
                </a:lnTo>
                <a:lnTo>
                  <a:pt x="42843" y="1279"/>
                </a:lnTo>
                <a:lnTo>
                  <a:pt x="43130" y="1555"/>
                </a:lnTo>
                <a:lnTo>
                  <a:pt x="43521" y="1745"/>
                </a:lnTo>
                <a:lnTo>
                  <a:pt x="43844" y="1927"/>
                </a:lnTo>
                <a:lnTo>
                  <a:pt x="44362" y="2225"/>
                </a:lnTo>
                <a:lnTo>
                  <a:pt x="44681" y="2378"/>
                </a:lnTo>
                <a:lnTo>
                  <a:pt x="44984" y="2549"/>
                </a:lnTo>
                <a:lnTo>
                  <a:pt x="45118" y="2969"/>
                </a:lnTo>
                <a:lnTo>
                  <a:pt x="45395" y="3177"/>
                </a:lnTo>
                <a:lnTo>
                  <a:pt x="45658" y="3570"/>
                </a:lnTo>
                <a:lnTo>
                  <a:pt x="45804" y="4044"/>
                </a:lnTo>
                <a:lnTo>
                  <a:pt x="45846" y="4544"/>
                </a:lnTo>
                <a:lnTo>
                  <a:pt x="45875" y="4987"/>
                </a:lnTo>
                <a:lnTo>
                  <a:pt x="46040" y="5576"/>
                </a:lnTo>
                <a:lnTo>
                  <a:pt x="46181" y="6323"/>
                </a:lnTo>
                <a:lnTo>
                  <a:pt x="46192" y="7411"/>
                </a:lnTo>
                <a:lnTo>
                  <a:pt x="46288" y="10706"/>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9350654" y="3259379"/>
            <a:ext cx="56418" cy="158923"/>
          </a:xfrm>
          <a:custGeom>
            <a:avLst/>
            <a:gdLst/>
            <a:ahLst/>
            <a:cxnLst/>
            <a:rect l="l" t="t" r="r" b="b"/>
            <a:pathLst>
              <a:path w="617" h="1738">
                <a:moveTo>
                  <a:pt x="617" y="0"/>
                </a:moveTo>
                <a:lnTo>
                  <a:pt x="502" y="516"/>
                </a:lnTo>
                <a:lnTo>
                  <a:pt x="361" y="969"/>
                </a:lnTo>
                <a:lnTo>
                  <a:pt x="194" y="1373"/>
                </a:lnTo>
                <a:lnTo>
                  <a:pt x="0" y="1738"/>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715146" y="3644890"/>
            <a:ext cx="255118" cy="39502"/>
          </a:xfrm>
          <a:custGeom>
            <a:avLst/>
            <a:gdLst/>
            <a:ahLst/>
            <a:cxnLst/>
            <a:rect l="l" t="t" r="r" b="b"/>
            <a:pathLst>
              <a:path w="2790" h="432">
                <a:moveTo>
                  <a:pt x="2790" y="0"/>
                </a:moveTo>
                <a:lnTo>
                  <a:pt x="2181" y="127"/>
                </a:lnTo>
                <a:lnTo>
                  <a:pt x="1519" y="242"/>
                </a:lnTo>
                <a:lnTo>
                  <a:pt x="795" y="343"/>
                </a:lnTo>
                <a:lnTo>
                  <a:pt x="0" y="432"/>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5842559" y="3676254"/>
            <a:ext cx="346649" cy="25878"/>
          </a:xfrm>
          <a:custGeom>
            <a:avLst/>
            <a:gdLst/>
            <a:ahLst/>
            <a:cxnLst/>
            <a:rect l="l" t="t" r="r" b="b"/>
            <a:pathLst>
              <a:path w="3791" h="283">
                <a:moveTo>
                  <a:pt x="3791" y="283"/>
                </a:moveTo>
                <a:lnTo>
                  <a:pt x="2664" y="230"/>
                </a:lnTo>
                <a:lnTo>
                  <a:pt x="1676" y="166"/>
                </a:lnTo>
                <a:lnTo>
                  <a:pt x="795" y="89"/>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5262006" y="3384926"/>
            <a:ext cx="86136" cy="116952"/>
          </a:xfrm>
          <a:custGeom>
            <a:avLst/>
            <a:gdLst/>
            <a:ahLst/>
            <a:cxnLst/>
            <a:rect l="l" t="t" r="r" b="b"/>
            <a:pathLst>
              <a:path w="942" h="1279">
                <a:moveTo>
                  <a:pt x="942" y="1279"/>
                </a:moveTo>
                <a:lnTo>
                  <a:pt x="664" y="1000"/>
                </a:lnTo>
                <a:lnTo>
                  <a:pt x="415" y="696"/>
                </a:lnTo>
                <a:lnTo>
                  <a:pt x="194" y="365"/>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5223327" y="2068098"/>
            <a:ext cx="56418" cy="158923"/>
          </a:xfrm>
          <a:custGeom>
            <a:avLst/>
            <a:gdLst/>
            <a:ahLst/>
            <a:cxnLst/>
            <a:rect l="l" t="t" r="r" b="b"/>
            <a:pathLst>
              <a:path w="617" h="1738">
                <a:moveTo>
                  <a:pt x="0" y="1738"/>
                </a:moveTo>
                <a:lnTo>
                  <a:pt x="115" y="1222"/>
                </a:lnTo>
                <a:lnTo>
                  <a:pt x="256" y="769"/>
                </a:lnTo>
                <a:lnTo>
                  <a:pt x="423" y="365"/>
                </a:lnTo>
                <a:lnTo>
                  <a:pt x="617"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5660136" y="1802008"/>
            <a:ext cx="255118" cy="39502"/>
          </a:xfrm>
          <a:custGeom>
            <a:avLst/>
            <a:gdLst/>
            <a:ahLst/>
            <a:cxnLst/>
            <a:rect l="l" t="t" r="r" b="b"/>
            <a:pathLst>
              <a:path w="2790" h="432">
                <a:moveTo>
                  <a:pt x="0" y="432"/>
                </a:moveTo>
                <a:lnTo>
                  <a:pt x="609" y="305"/>
                </a:lnTo>
                <a:lnTo>
                  <a:pt x="1271" y="190"/>
                </a:lnTo>
                <a:lnTo>
                  <a:pt x="1995" y="89"/>
                </a:lnTo>
                <a:lnTo>
                  <a:pt x="279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8441192" y="1784269"/>
            <a:ext cx="346649" cy="25878"/>
          </a:xfrm>
          <a:custGeom>
            <a:avLst/>
            <a:gdLst/>
            <a:ahLst/>
            <a:cxnLst/>
            <a:rect l="l" t="t" r="r" b="b"/>
            <a:pathLst>
              <a:path w="3791" h="283">
                <a:moveTo>
                  <a:pt x="0" y="0"/>
                </a:moveTo>
                <a:lnTo>
                  <a:pt x="1127" y="53"/>
                </a:lnTo>
                <a:lnTo>
                  <a:pt x="2115" y="117"/>
                </a:lnTo>
                <a:lnTo>
                  <a:pt x="2996" y="194"/>
                </a:lnTo>
                <a:lnTo>
                  <a:pt x="3791" y="283"/>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9282257" y="1984522"/>
            <a:ext cx="86136" cy="116952"/>
          </a:xfrm>
          <a:custGeom>
            <a:avLst/>
            <a:gdLst/>
            <a:ahLst/>
            <a:cxnLst/>
            <a:rect l="l" t="t" r="r" b="b"/>
            <a:pathLst>
              <a:path w="942" h="1279">
                <a:moveTo>
                  <a:pt x="0" y="0"/>
                </a:moveTo>
                <a:lnTo>
                  <a:pt x="278" y="279"/>
                </a:lnTo>
                <a:lnTo>
                  <a:pt x="527" y="583"/>
                </a:lnTo>
                <a:lnTo>
                  <a:pt x="748" y="914"/>
                </a:lnTo>
                <a:lnTo>
                  <a:pt x="942" y="1279"/>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ody: 2"/>
          <p:cNvSpPr txBox="1"/>
          <p:nvPr/>
        </p:nvSpPr>
        <p:spPr>
          <a:xfrm>
            <a:off x="5358384" y="1950275"/>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557B65"/>
                </a:solidFill>
                <a:latin typeface="Trebuchet MS"/>
              </a:rPr>
              <a:t>2</a:t>
            </a:r>
          </a:p>
        </p:txBody>
      </p:sp>
      <p:sp>
        <p:nvSpPr>
          <p:cNvPr id="38" name="body: Executable, not narrative"/>
          <p:cNvSpPr txBox="1"/>
          <p:nvPr/>
        </p:nvSpPr>
        <p:spPr>
          <a:xfrm>
            <a:off x="5879592" y="1899919"/>
            <a:ext cx="3136391"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557B65"/>
                </a:solidFill>
                <a:latin typeface="Chalkboard SE"/>
              </a:rPr>
              <a:t>Executable, not narrative</a:t>
            </a:r>
          </a:p>
        </p:txBody>
      </p:sp>
      <p:sp>
        <p:nvSpPr>
          <p:cNvPr id="39" name="body: A case must replay. Grades: A executable, B trace, C narrative."/>
          <p:cNvSpPr txBox="1"/>
          <p:nvPr/>
        </p:nvSpPr>
        <p:spPr>
          <a:xfrm>
            <a:off x="5449824" y="2702052"/>
            <a:ext cx="3730752" cy="649224"/>
          </a:xfrm>
          <a:prstGeom prst="rect">
            <a:avLst/>
          </a:prstGeom>
          <a:noFill/>
        </p:spPr>
        <p:txBody>
          <a:bodyPr wrap="none" lIns="0" rIns="0" tIns="0" bIns="0" anchor="t">
            <a:noAutofit/>
          </a:bodyPr>
          <a:lstStyle/>
          <a:p>
            <a:pPr algn="ctr">
              <a:lnSpc>
                <a:spcPts val="2286"/>
              </a:lnSpc>
              <a:spcBef>
                <a:spcPts val="0"/>
              </a:spcBef>
              <a:spcAft>
                <a:spcPts val="0"/>
              </a:spcAft>
            </a:pPr>
            <a:r>
              <a:rPr sz="1800" b="0">
                <a:solidFill>
                  <a:srgbClr val="293E46"/>
                </a:solidFill>
                <a:latin typeface="Trebuchet MS"/>
              </a:rPr>
              <a:t>A case must replay. Grades: A</a:t>
            </a:r>
            <a:br/>
            <a:r>
              <a:rPr sz="1800" b="0">
                <a:solidFill>
                  <a:srgbClr val="293E46"/>
                </a:solidFill>
                <a:latin typeface="Trebuchet MS"/>
              </a:rPr>
              <a:t>executable, B trace, C narrative.</a:t>
            </a:r>
          </a:p>
        </p:txBody>
      </p:sp>
      <p:sp>
        <p:nvSpPr>
          <p:cNvPr id="40" name="Rounded Rectangle 39"/>
          <p:cNvSpPr/>
          <p:nvPr/>
        </p:nvSpPr>
        <p:spPr>
          <a:xfrm>
            <a:off x="9747504" y="1764792"/>
            <a:ext cx="4242816" cy="1956816"/>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9751527" y="1769455"/>
            <a:ext cx="4229832" cy="1949684"/>
          </a:xfrm>
          <a:custGeom>
            <a:avLst/>
            <a:gdLst/>
            <a:ahLst/>
            <a:cxnLst/>
            <a:rect l="l" t="t" r="r" b="b"/>
            <a:pathLst>
              <a:path w="46258" h="21322">
                <a:moveTo>
                  <a:pt x="46258" y="10552"/>
                </a:moveTo>
                <a:lnTo>
                  <a:pt x="46114" y="13954"/>
                </a:lnTo>
                <a:lnTo>
                  <a:pt x="46198" y="14961"/>
                </a:lnTo>
                <a:lnTo>
                  <a:pt x="46167" y="15624"/>
                </a:lnTo>
                <a:lnTo>
                  <a:pt x="46083" y="16188"/>
                </a:lnTo>
                <a:lnTo>
                  <a:pt x="45963" y="16754"/>
                </a:lnTo>
                <a:lnTo>
                  <a:pt x="45881" y="17255"/>
                </a:lnTo>
                <a:lnTo>
                  <a:pt x="45614" y="17733"/>
                </a:lnTo>
                <a:lnTo>
                  <a:pt x="45462" y="18122"/>
                </a:lnTo>
                <a:lnTo>
                  <a:pt x="45098" y="18449"/>
                </a:lnTo>
                <a:lnTo>
                  <a:pt x="44996" y="18649"/>
                </a:lnTo>
                <a:lnTo>
                  <a:pt x="44604" y="18935"/>
                </a:lnTo>
                <a:lnTo>
                  <a:pt x="44449" y="19184"/>
                </a:lnTo>
                <a:lnTo>
                  <a:pt x="44072" y="19418"/>
                </a:lnTo>
                <a:lnTo>
                  <a:pt x="43763" y="19684"/>
                </a:lnTo>
                <a:lnTo>
                  <a:pt x="43364" y="19822"/>
                </a:lnTo>
                <a:lnTo>
                  <a:pt x="42910" y="20012"/>
                </a:lnTo>
                <a:lnTo>
                  <a:pt x="42427" y="20250"/>
                </a:lnTo>
                <a:lnTo>
                  <a:pt x="41885" y="20456"/>
                </a:lnTo>
                <a:lnTo>
                  <a:pt x="41153" y="20596"/>
                </a:lnTo>
                <a:lnTo>
                  <a:pt x="40619" y="20548"/>
                </a:lnTo>
                <a:lnTo>
                  <a:pt x="39928" y="20671"/>
                </a:lnTo>
                <a:lnTo>
                  <a:pt x="39178" y="20873"/>
                </a:lnTo>
                <a:lnTo>
                  <a:pt x="38384" y="20887"/>
                </a:lnTo>
                <a:lnTo>
                  <a:pt x="37598" y="21129"/>
                </a:lnTo>
                <a:lnTo>
                  <a:pt x="36700" y="21098"/>
                </a:lnTo>
                <a:lnTo>
                  <a:pt x="35510" y="21030"/>
                </a:lnTo>
                <a:lnTo>
                  <a:pt x="34181" y="21291"/>
                </a:lnTo>
                <a:lnTo>
                  <a:pt x="32483" y="21093"/>
                </a:lnTo>
                <a:lnTo>
                  <a:pt x="30357" y="21260"/>
                </a:lnTo>
                <a:lnTo>
                  <a:pt x="23202" y="21264"/>
                </a:lnTo>
                <a:lnTo>
                  <a:pt x="16144" y="21128"/>
                </a:lnTo>
                <a:lnTo>
                  <a:pt x="13888" y="21322"/>
                </a:lnTo>
                <a:lnTo>
                  <a:pt x="12113" y="21200"/>
                </a:lnTo>
                <a:lnTo>
                  <a:pt x="10876" y="21061"/>
                </a:lnTo>
                <a:lnTo>
                  <a:pt x="9716" y="21096"/>
                </a:lnTo>
                <a:lnTo>
                  <a:pt x="8795" y="21093"/>
                </a:lnTo>
                <a:lnTo>
                  <a:pt x="7801" y="20881"/>
                </a:lnTo>
                <a:lnTo>
                  <a:pt x="6983" y="20877"/>
                </a:lnTo>
                <a:lnTo>
                  <a:pt x="6304" y="20691"/>
                </a:lnTo>
                <a:lnTo>
                  <a:pt x="5688" y="20523"/>
                </a:lnTo>
                <a:lnTo>
                  <a:pt x="5062" y="20445"/>
                </a:lnTo>
                <a:lnTo>
                  <a:pt x="4616" y="20365"/>
                </a:lnTo>
                <a:lnTo>
                  <a:pt x="4021" y="20139"/>
                </a:lnTo>
                <a:lnTo>
                  <a:pt x="3441" y="20156"/>
                </a:lnTo>
                <a:lnTo>
                  <a:pt x="3168" y="19843"/>
                </a:lnTo>
                <a:lnTo>
                  <a:pt x="2549" y="19579"/>
                </a:lnTo>
                <a:lnTo>
                  <a:pt x="2354" y="19333"/>
                </a:lnTo>
                <a:lnTo>
                  <a:pt x="1939" y="19202"/>
                </a:lnTo>
                <a:lnTo>
                  <a:pt x="1658" y="18854"/>
                </a:lnTo>
                <a:lnTo>
                  <a:pt x="1417" y="18723"/>
                </a:lnTo>
                <a:lnTo>
                  <a:pt x="1202" y="18308"/>
                </a:lnTo>
                <a:lnTo>
                  <a:pt x="862" y="18130"/>
                </a:lnTo>
                <a:lnTo>
                  <a:pt x="655" y="17709"/>
                </a:lnTo>
                <a:lnTo>
                  <a:pt x="449" y="17328"/>
                </a:lnTo>
                <a:lnTo>
                  <a:pt x="515" y="16821"/>
                </a:lnTo>
                <a:lnTo>
                  <a:pt x="196" y="16219"/>
                </a:lnTo>
                <a:lnTo>
                  <a:pt x="83" y="15594"/>
                </a:lnTo>
                <a:lnTo>
                  <a:pt x="78" y="14821"/>
                </a:lnTo>
                <a:lnTo>
                  <a:pt x="150" y="13789"/>
                </a:lnTo>
                <a:lnTo>
                  <a:pt x="0" y="10535"/>
                </a:lnTo>
                <a:lnTo>
                  <a:pt x="158" y="7434"/>
                </a:lnTo>
                <a:lnTo>
                  <a:pt x="166" y="6366"/>
                </a:lnTo>
                <a:lnTo>
                  <a:pt x="217" y="5570"/>
                </a:lnTo>
                <a:lnTo>
                  <a:pt x="392" y="4886"/>
                </a:lnTo>
                <a:lnTo>
                  <a:pt x="374" y="4511"/>
                </a:lnTo>
                <a:lnTo>
                  <a:pt x="504" y="4109"/>
                </a:lnTo>
                <a:lnTo>
                  <a:pt x="605" y="3665"/>
                </a:lnTo>
                <a:lnTo>
                  <a:pt x="1007" y="3270"/>
                </a:lnTo>
                <a:lnTo>
                  <a:pt x="1219" y="2828"/>
                </a:lnTo>
                <a:lnTo>
                  <a:pt x="1377" y="2549"/>
                </a:lnTo>
                <a:lnTo>
                  <a:pt x="1755" y="2429"/>
                </a:lnTo>
                <a:lnTo>
                  <a:pt x="1909" y="2131"/>
                </a:lnTo>
                <a:lnTo>
                  <a:pt x="2334" y="1816"/>
                </a:lnTo>
                <a:lnTo>
                  <a:pt x="2565" y="1755"/>
                </a:lnTo>
                <a:lnTo>
                  <a:pt x="3139" y="1535"/>
                </a:lnTo>
                <a:lnTo>
                  <a:pt x="3631" y="1256"/>
                </a:lnTo>
                <a:lnTo>
                  <a:pt x="4027" y="1082"/>
                </a:lnTo>
                <a:lnTo>
                  <a:pt x="4461" y="993"/>
                </a:lnTo>
                <a:lnTo>
                  <a:pt x="4993" y="671"/>
                </a:lnTo>
                <a:lnTo>
                  <a:pt x="5639" y="683"/>
                </a:lnTo>
                <a:lnTo>
                  <a:pt x="6343" y="644"/>
                </a:lnTo>
                <a:lnTo>
                  <a:pt x="7038" y="331"/>
                </a:lnTo>
                <a:lnTo>
                  <a:pt x="7848" y="358"/>
                </a:lnTo>
                <a:lnTo>
                  <a:pt x="8721" y="194"/>
                </a:lnTo>
                <a:lnTo>
                  <a:pt x="9738" y="283"/>
                </a:lnTo>
                <a:lnTo>
                  <a:pt x="10812" y="174"/>
                </a:lnTo>
                <a:lnTo>
                  <a:pt x="12124" y="52"/>
                </a:lnTo>
                <a:lnTo>
                  <a:pt x="13750" y="2"/>
                </a:lnTo>
                <a:lnTo>
                  <a:pt x="16067" y="122"/>
                </a:lnTo>
                <a:lnTo>
                  <a:pt x="23096" y="18"/>
                </a:lnTo>
                <a:lnTo>
                  <a:pt x="30373" y="0"/>
                </a:lnTo>
                <a:lnTo>
                  <a:pt x="32464" y="204"/>
                </a:lnTo>
                <a:lnTo>
                  <a:pt x="34272" y="83"/>
                </a:lnTo>
                <a:lnTo>
                  <a:pt x="35583" y="260"/>
                </a:lnTo>
                <a:lnTo>
                  <a:pt x="36717" y="235"/>
                </a:lnTo>
                <a:lnTo>
                  <a:pt x="37554" y="283"/>
                </a:lnTo>
                <a:lnTo>
                  <a:pt x="38584" y="333"/>
                </a:lnTo>
                <a:lnTo>
                  <a:pt x="39189" y="340"/>
                </a:lnTo>
                <a:lnTo>
                  <a:pt x="39893" y="612"/>
                </a:lnTo>
                <a:lnTo>
                  <a:pt x="40737" y="628"/>
                </a:lnTo>
                <a:lnTo>
                  <a:pt x="41151" y="868"/>
                </a:lnTo>
                <a:lnTo>
                  <a:pt x="41775" y="843"/>
                </a:lnTo>
                <a:lnTo>
                  <a:pt x="42358" y="1190"/>
                </a:lnTo>
                <a:lnTo>
                  <a:pt x="42760" y="1287"/>
                </a:lnTo>
                <a:lnTo>
                  <a:pt x="43141" y="1466"/>
                </a:lnTo>
                <a:lnTo>
                  <a:pt x="43709" y="1592"/>
                </a:lnTo>
                <a:lnTo>
                  <a:pt x="43933" y="1973"/>
                </a:lnTo>
                <a:lnTo>
                  <a:pt x="44299" y="2165"/>
                </a:lnTo>
                <a:lnTo>
                  <a:pt x="44780" y="2246"/>
                </a:lnTo>
                <a:lnTo>
                  <a:pt x="45009" y="2625"/>
                </a:lnTo>
                <a:lnTo>
                  <a:pt x="45242" y="2836"/>
                </a:lnTo>
                <a:lnTo>
                  <a:pt x="45522" y="3324"/>
                </a:lnTo>
                <a:lnTo>
                  <a:pt x="45603" y="3529"/>
                </a:lnTo>
                <a:lnTo>
                  <a:pt x="45743" y="4123"/>
                </a:lnTo>
                <a:lnTo>
                  <a:pt x="45839" y="4402"/>
                </a:lnTo>
                <a:lnTo>
                  <a:pt x="46069" y="5114"/>
                </a:lnTo>
                <a:lnTo>
                  <a:pt x="46052" y="5727"/>
                </a:lnTo>
                <a:lnTo>
                  <a:pt x="46198" y="6311"/>
                </a:lnTo>
                <a:lnTo>
                  <a:pt x="46194" y="7462"/>
                </a:lnTo>
                <a:lnTo>
                  <a:pt x="46206" y="10756"/>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9747870" y="1770918"/>
            <a:ext cx="4239067" cy="1948495"/>
          </a:xfrm>
          <a:custGeom>
            <a:avLst/>
            <a:gdLst/>
            <a:ahLst/>
            <a:cxnLst/>
            <a:rect l="l" t="t" r="r" b="b"/>
            <a:pathLst>
              <a:path w="46359" h="21309">
                <a:moveTo>
                  <a:pt x="46329" y="10626"/>
                </a:moveTo>
                <a:lnTo>
                  <a:pt x="46312" y="13879"/>
                </a:lnTo>
                <a:lnTo>
                  <a:pt x="46335" y="14867"/>
                </a:lnTo>
                <a:lnTo>
                  <a:pt x="46092" y="15600"/>
                </a:lnTo>
                <a:lnTo>
                  <a:pt x="45989" y="16272"/>
                </a:lnTo>
                <a:lnTo>
                  <a:pt x="46016" y="16779"/>
                </a:lnTo>
                <a:lnTo>
                  <a:pt x="45697" y="17228"/>
                </a:lnTo>
                <a:lnTo>
                  <a:pt x="45748" y="17599"/>
                </a:lnTo>
                <a:lnTo>
                  <a:pt x="45549" y="17936"/>
                </a:lnTo>
                <a:lnTo>
                  <a:pt x="45306" y="18394"/>
                </a:lnTo>
                <a:lnTo>
                  <a:pt x="44939" y="18558"/>
                </a:lnTo>
                <a:lnTo>
                  <a:pt x="44638" y="18836"/>
                </a:lnTo>
                <a:lnTo>
                  <a:pt x="44357" y="19135"/>
                </a:lnTo>
                <a:lnTo>
                  <a:pt x="43980" y="19403"/>
                </a:lnTo>
                <a:lnTo>
                  <a:pt x="43713" y="19537"/>
                </a:lnTo>
                <a:lnTo>
                  <a:pt x="43267" y="19878"/>
                </a:lnTo>
                <a:lnTo>
                  <a:pt x="42743" y="20045"/>
                </a:lnTo>
                <a:lnTo>
                  <a:pt x="42486" y="20101"/>
                </a:lnTo>
                <a:lnTo>
                  <a:pt x="41764" y="20377"/>
                </a:lnTo>
                <a:lnTo>
                  <a:pt x="41295" y="20437"/>
                </a:lnTo>
                <a:lnTo>
                  <a:pt x="40668" y="20670"/>
                </a:lnTo>
                <a:lnTo>
                  <a:pt x="40045" y="20839"/>
                </a:lnTo>
                <a:lnTo>
                  <a:pt x="39360" y="20949"/>
                </a:lnTo>
                <a:lnTo>
                  <a:pt x="38576" y="20871"/>
                </a:lnTo>
                <a:lnTo>
                  <a:pt x="37707" y="20924"/>
                </a:lnTo>
                <a:lnTo>
                  <a:pt x="36704" y="21018"/>
                </a:lnTo>
                <a:lnTo>
                  <a:pt x="35425" y="21225"/>
                </a:lnTo>
                <a:lnTo>
                  <a:pt x="34109" y="21079"/>
                </a:lnTo>
                <a:lnTo>
                  <a:pt x="32581" y="21183"/>
                </a:lnTo>
                <a:lnTo>
                  <a:pt x="30358" y="21249"/>
                </a:lnTo>
                <a:lnTo>
                  <a:pt x="23265" y="21280"/>
                </a:lnTo>
                <a:lnTo>
                  <a:pt x="16042" y="21309"/>
                </a:lnTo>
                <a:lnTo>
                  <a:pt x="13853" y="21261"/>
                </a:lnTo>
                <a:lnTo>
                  <a:pt x="12143" y="21052"/>
                </a:lnTo>
                <a:lnTo>
                  <a:pt x="11008" y="21017"/>
                </a:lnTo>
                <a:lnTo>
                  <a:pt x="9657" y="20971"/>
                </a:lnTo>
                <a:lnTo>
                  <a:pt x="8739" y="20998"/>
                </a:lnTo>
                <a:lnTo>
                  <a:pt x="7832" y="20904"/>
                </a:lnTo>
                <a:lnTo>
                  <a:pt x="7062" y="20923"/>
                </a:lnTo>
                <a:lnTo>
                  <a:pt x="6303" y="20624"/>
                </a:lnTo>
                <a:lnTo>
                  <a:pt x="5677" y="20654"/>
                </a:lnTo>
                <a:lnTo>
                  <a:pt x="5005" y="20452"/>
                </a:lnTo>
                <a:lnTo>
                  <a:pt x="4502" y="20400"/>
                </a:lnTo>
                <a:lnTo>
                  <a:pt x="4043" y="20101"/>
                </a:lnTo>
                <a:lnTo>
                  <a:pt x="3520" y="19970"/>
                </a:lnTo>
                <a:lnTo>
                  <a:pt x="3089" y="19896"/>
                </a:lnTo>
                <a:lnTo>
                  <a:pt x="2769" y="19609"/>
                </a:lnTo>
                <a:lnTo>
                  <a:pt x="2237" y="19430"/>
                </a:lnTo>
                <a:lnTo>
                  <a:pt x="2045" y="19272"/>
                </a:lnTo>
                <a:lnTo>
                  <a:pt x="1668" y="19019"/>
                </a:lnTo>
                <a:lnTo>
                  <a:pt x="1409" y="18693"/>
                </a:lnTo>
                <a:lnTo>
                  <a:pt x="1235" y="18404"/>
                </a:lnTo>
                <a:lnTo>
                  <a:pt x="1024" y="17943"/>
                </a:lnTo>
                <a:lnTo>
                  <a:pt x="702" y="17761"/>
                </a:lnTo>
                <a:lnTo>
                  <a:pt x="458" y="17304"/>
                </a:lnTo>
                <a:lnTo>
                  <a:pt x="327" y="16771"/>
                </a:lnTo>
                <a:lnTo>
                  <a:pt x="283" y="16311"/>
                </a:lnTo>
                <a:lnTo>
                  <a:pt x="182" y="15777"/>
                </a:lnTo>
                <a:lnTo>
                  <a:pt x="151" y="14954"/>
                </a:lnTo>
                <a:lnTo>
                  <a:pt x="89" y="13942"/>
                </a:lnTo>
                <a:lnTo>
                  <a:pt x="0" y="10644"/>
                </a:lnTo>
                <a:lnTo>
                  <a:pt x="247" y="7363"/>
                </a:lnTo>
                <a:lnTo>
                  <a:pt x="271" y="6397"/>
                </a:lnTo>
                <a:lnTo>
                  <a:pt x="226" y="5524"/>
                </a:lnTo>
                <a:lnTo>
                  <a:pt x="210" y="5059"/>
                </a:lnTo>
                <a:lnTo>
                  <a:pt x="516" y="4588"/>
                </a:lnTo>
                <a:lnTo>
                  <a:pt x="692" y="4072"/>
                </a:lnTo>
                <a:lnTo>
                  <a:pt x="616" y="3622"/>
                </a:lnTo>
                <a:lnTo>
                  <a:pt x="1022" y="3220"/>
                </a:lnTo>
                <a:lnTo>
                  <a:pt x="1182" y="2973"/>
                </a:lnTo>
                <a:lnTo>
                  <a:pt x="1290" y="2581"/>
                </a:lnTo>
                <a:lnTo>
                  <a:pt x="1608" y="2256"/>
                </a:lnTo>
                <a:lnTo>
                  <a:pt x="1940" y="2191"/>
                </a:lnTo>
                <a:lnTo>
                  <a:pt x="2354" y="1955"/>
                </a:lnTo>
                <a:lnTo>
                  <a:pt x="2675" y="1605"/>
                </a:lnTo>
                <a:lnTo>
                  <a:pt x="2974" y="1309"/>
                </a:lnTo>
                <a:lnTo>
                  <a:pt x="3624" y="1133"/>
                </a:lnTo>
                <a:lnTo>
                  <a:pt x="4121" y="1056"/>
                </a:lnTo>
                <a:lnTo>
                  <a:pt x="4575" y="930"/>
                </a:lnTo>
                <a:lnTo>
                  <a:pt x="5198" y="826"/>
                </a:lnTo>
                <a:lnTo>
                  <a:pt x="5778" y="533"/>
                </a:lnTo>
                <a:lnTo>
                  <a:pt x="6459" y="540"/>
                </a:lnTo>
                <a:lnTo>
                  <a:pt x="7124" y="397"/>
                </a:lnTo>
                <a:lnTo>
                  <a:pt x="7866" y="232"/>
                </a:lnTo>
                <a:lnTo>
                  <a:pt x="8878" y="208"/>
                </a:lnTo>
                <a:lnTo>
                  <a:pt x="9704" y="216"/>
                </a:lnTo>
                <a:lnTo>
                  <a:pt x="10799" y="215"/>
                </a:lnTo>
                <a:lnTo>
                  <a:pt x="12244" y="48"/>
                </a:lnTo>
                <a:lnTo>
                  <a:pt x="13833" y="170"/>
                </a:lnTo>
                <a:lnTo>
                  <a:pt x="16218" y="0"/>
                </a:lnTo>
                <a:lnTo>
                  <a:pt x="23308" y="90"/>
                </a:lnTo>
                <a:lnTo>
                  <a:pt x="30395" y="89"/>
                </a:lnTo>
                <a:lnTo>
                  <a:pt x="32640" y="158"/>
                </a:lnTo>
                <a:lnTo>
                  <a:pt x="34072" y="45"/>
                </a:lnTo>
                <a:lnTo>
                  <a:pt x="35528" y="48"/>
                </a:lnTo>
                <a:lnTo>
                  <a:pt x="36705" y="276"/>
                </a:lnTo>
                <a:lnTo>
                  <a:pt x="37659" y="210"/>
                </a:lnTo>
                <a:lnTo>
                  <a:pt x="38388" y="426"/>
                </a:lnTo>
                <a:lnTo>
                  <a:pt x="39379" y="396"/>
                </a:lnTo>
                <a:lnTo>
                  <a:pt x="39920" y="488"/>
                </a:lnTo>
                <a:lnTo>
                  <a:pt x="40621" y="719"/>
                </a:lnTo>
                <a:lnTo>
                  <a:pt x="41251" y="811"/>
                </a:lnTo>
                <a:lnTo>
                  <a:pt x="41834" y="957"/>
                </a:lnTo>
                <a:lnTo>
                  <a:pt x="42319" y="984"/>
                </a:lnTo>
                <a:lnTo>
                  <a:pt x="42818" y="1185"/>
                </a:lnTo>
                <a:lnTo>
                  <a:pt x="43324" y="1441"/>
                </a:lnTo>
                <a:lnTo>
                  <a:pt x="43752" y="1640"/>
                </a:lnTo>
                <a:lnTo>
                  <a:pt x="44164" y="1765"/>
                </a:lnTo>
                <a:lnTo>
                  <a:pt x="44460" y="2090"/>
                </a:lnTo>
                <a:lnTo>
                  <a:pt x="44737" y="2395"/>
                </a:lnTo>
                <a:lnTo>
                  <a:pt x="45094" y="2708"/>
                </a:lnTo>
                <a:lnTo>
                  <a:pt x="45252" y="2854"/>
                </a:lnTo>
                <a:lnTo>
                  <a:pt x="45542" y="3314"/>
                </a:lnTo>
                <a:lnTo>
                  <a:pt x="45717" y="3640"/>
                </a:lnTo>
                <a:lnTo>
                  <a:pt x="45726" y="3943"/>
                </a:lnTo>
                <a:lnTo>
                  <a:pt x="45940" y="4499"/>
                </a:lnTo>
                <a:lnTo>
                  <a:pt x="46116" y="4930"/>
                </a:lnTo>
                <a:lnTo>
                  <a:pt x="46128" y="5642"/>
                </a:lnTo>
                <a:lnTo>
                  <a:pt x="46303" y="6434"/>
                </a:lnTo>
                <a:lnTo>
                  <a:pt x="46359" y="7361"/>
                </a:lnTo>
                <a:lnTo>
                  <a:pt x="46153" y="10715"/>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13904366" y="3259379"/>
            <a:ext cx="56418" cy="158923"/>
          </a:xfrm>
          <a:custGeom>
            <a:avLst/>
            <a:gdLst/>
            <a:ahLst/>
            <a:cxnLst/>
            <a:rect l="l" t="t" r="r" b="b"/>
            <a:pathLst>
              <a:path w="617" h="1738">
                <a:moveTo>
                  <a:pt x="617" y="0"/>
                </a:moveTo>
                <a:lnTo>
                  <a:pt x="502" y="516"/>
                </a:lnTo>
                <a:lnTo>
                  <a:pt x="361" y="969"/>
                </a:lnTo>
                <a:lnTo>
                  <a:pt x="194" y="1373"/>
                </a:lnTo>
                <a:lnTo>
                  <a:pt x="0" y="1738"/>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13268858" y="3644890"/>
            <a:ext cx="255118" cy="39502"/>
          </a:xfrm>
          <a:custGeom>
            <a:avLst/>
            <a:gdLst/>
            <a:ahLst/>
            <a:cxnLst/>
            <a:rect l="l" t="t" r="r" b="b"/>
            <a:pathLst>
              <a:path w="2790" h="432">
                <a:moveTo>
                  <a:pt x="2790" y="0"/>
                </a:moveTo>
                <a:lnTo>
                  <a:pt x="2181" y="127"/>
                </a:lnTo>
                <a:lnTo>
                  <a:pt x="1519" y="242"/>
                </a:lnTo>
                <a:lnTo>
                  <a:pt x="795" y="343"/>
                </a:lnTo>
                <a:lnTo>
                  <a:pt x="0" y="432"/>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10396271" y="3676254"/>
            <a:ext cx="346649" cy="25878"/>
          </a:xfrm>
          <a:custGeom>
            <a:avLst/>
            <a:gdLst/>
            <a:ahLst/>
            <a:cxnLst/>
            <a:rect l="l" t="t" r="r" b="b"/>
            <a:pathLst>
              <a:path w="3791" h="283">
                <a:moveTo>
                  <a:pt x="3791" y="283"/>
                </a:moveTo>
                <a:lnTo>
                  <a:pt x="2664" y="230"/>
                </a:lnTo>
                <a:lnTo>
                  <a:pt x="1676" y="166"/>
                </a:lnTo>
                <a:lnTo>
                  <a:pt x="795" y="89"/>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9815718" y="3384926"/>
            <a:ext cx="86136" cy="116952"/>
          </a:xfrm>
          <a:custGeom>
            <a:avLst/>
            <a:gdLst/>
            <a:ahLst/>
            <a:cxnLst/>
            <a:rect l="l" t="t" r="r" b="b"/>
            <a:pathLst>
              <a:path w="942" h="1279">
                <a:moveTo>
                  <a:pt x="942" y="1279"/>
                </a:moveTo>
                <a:lnTo>
                  <a:pt x="664" y="1000"/>
                </a:lnTo>
                <a:lnTo>
                  <a:pt x="415" y="696"/>
                </a:lnTo>
                <a:lnTo>
                  <a:pt x="194" y="365"/>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9777039" y="2068098"/>
            <a:ext cx="56418" cy="158923"/>
          </a:xfrm>
          <a:custGeom>
            <a:avLst/>
            <a:gdLst/>
            <a:ahLst/>
            <a:cxnLst/>
            <a:rect l="l" t="t" r="r" b="b"/>
            <a:pathLst>
              <a:path w="617" h="1738">
                <a:moveTo>
                  <a:pt x="0" y="1738"/>
                </a:moveTo>
                <a:lnTo>
                  <a:pt x="115" y="1222"/>
                </a:lnTo>
                <a:lnTo>
                  <a:pt x="256" y="769"/>
                </a:lnTo>
                <a:lnTo>
                  <a:pt x="423" y="365"/>
                </a:lnTo>
                <a:lnTo>
                  <a:pt x="617"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10213848" y="1802008"/>
            <a:ext cx="255118" cy="39502"/>
          </a:xfrm>
          <a:custGeom>
            <a:avLst/>
            <a:gdLst/>
            <a:ahLst/>
            <a:cxnLst/>
            <a:rect l="l" t="t" r="r" b="b"/>
            <a:pathLst>
              <a:path w="2790" h="432">
                <a:moveTo>
                  <a:pt x="0" y="432"/>
                </a:moveTo>
                <a:lnTo>
                  <a:pt x="609" y="305"/>
                </a:lnTo>
                <a:lnTo>
                  <a:pt x="1271" y="190"/>
                </a:lnTo>
                <a:lnTo>
                  <a:pt x="1995" y="89"/>
                </a:lnTo>
                <a:lnTo>
                  <a:pt x="279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2994904" y="1784269"/>
            <a:ext cx="346649" cy="25878"/>
          </a:xfrm>
          <a:custGeom>
            <a:avLst/>
            <a:gdLst/>
            <a:ahLst/>
            <a:cxnLst/>
            <a:rect l="l" t="t" r="r" b="b"/>
            <a:pathLst>
              <a:path w="3791" h="283">
                <a:moveTo>
                  <a:pt x="0" y="0"/>
                </a:moveTo>
                <a:lnTo>
                  <a:pt x="1127" y="53"/>
                </a:lnTo>
                <a:lnTo>
                  <a:pt x="2115" y="117"/>
                </a:lnTo>
                <a:lnTo>
                  <a:pt x="2996" y="194"/>
                </a:lnTo>
                <a:lnTo>
                  <a:pt x="3791" y="283"/>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3835969" y="1984522"/>
            <a:ext cx="86136" cy="116952"/>
          </a:xfrm>
          <a:custGeom>
            <a:avLst/>
            <a:gdLst/>
            <a:ahLst/>
            <a:cxnLst/>
            <a:rect l="l" t="t" r="r" b="b"/>
            <a:pathLst>
              <a:path w="942" h="1279">
                <a:moveTo>
                  <a:pt x="0" y="0"/>
                </a:moveTo>
                <a:lnTo>
                  <a:pt x="278" y="279"/>
                </a:lnTo>
                <a:lnTo>
                  <a:pt x="527" y="583"/>
                </a:lnTo>
                <a:lnTo>
                  <a:pt x="748" y="914"/>
                </a:lnTo>
                <a:lnTo>
                  <a:pt x="942" y="127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ody: 3"/>
          <p:cNvSpPr txBox="1"/>
          <p:nvPr/>
        </p:nvSpPr>
        <p:spPr>
          <a:xfrm>
            <a:off x="9912096" y="1950275"/>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9D7B35"/>
                </a:solidFill>
                <a:latin typeface="Trebuchet MS"/>
              </a:rPr>
              <a:t>3</a:t>
            </a:r>
          </a:p>
        </p:txBody>
      </p:sp>
      <p:sp>
        <p:nvSpPr>
          <p:cNvPr id="52" name="body: Every incident has a benign twin"/>
          <p:cNvSpPr txBox="1"/>
          <p:nvPr/>
        </p:nvSpPr>
        <p:spPr>
          <a:xfrm>
            <a:off x="10433304" y="1938527"/>
            <a:ext cx="3136391" cy="707644"/>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9D7B35"/>
                </a:solidFill>
                <a:latin typeface="Chalkboard SE"/>
              </a:rPr>
              <a:t>Every incident has a</a:t>
            </a:r>
            <a:br/>
            <a:r>
              <a:rPr sz="1850" b="1">
                <a:solidFill>
                  <a:srgbClr val="9D7B35"/>
                </a:solidFill>
                <a:latin typeface="Chalkboard SE"/>
              </a:rPr>
              <a:t>benign twin</a:t>
            </a:r>
          </a:p>
        </p:txBody>
      </p:sp>
      <p:sp>
        <p:nvSpPr>
          <p:cNvPr id="53" name="body: A fix that blocks the twin counts as a false refusal."/>
          <p:cNvSpPr txBox="1"/>
          <p:nvPr/>
        </p:nvSpPr>
        <p:spPr>
          <a:xfrm>
            <a:off x="10003536" y="2845562"/>
            <a:ext cx="3730752" cy="649224"/>
          </a:xfrm>
          <a:prstGeom prst="rect">
            <a:avLst/>
          </a:prstGeom>
          <a:noFill/>
        </p:spPr>
        <p:txBody>
          <a:bodyPr wrap="none" lIns="0" rIns="0" tIns="0" bIns="0" anchor="t">
            <a:noAutofit/>
          </a:bodyPr>
          <a:lstStyle/>
          <a:p>
            <a:pPr algn="ctr">
              <a:lnSpc>
                <a:spcPts val="2286"/>
              </a:lnSpc>
              <a:spcBef>
                <a:spcPts val="0"/>
              </a:spcBef>
              <a:spcAft>
                <a:spcPts val="0"/>
              </a:spcAft>
            </a:pPr>
            <a:r>
              <a:rPr sz="1800" b="0">
                <a:solidFill>
                  <a:srgbClr val="293E46"/>
                </a:solidFill>
                <a:latin typeface="Trebuchet MS"/>
              </a:rPr>
              <a:t>A fix that blocks the twin counts</a:t>
            </a:r>
            <a:br/>
            <a:r>
              <a:rPr sz="1800" b="0">
                <a:solidFill>
                  <a:srgbClr val="293E46"/>
                </a:solidFill>
                <a:latin typeface="Trebuchet MS"/>
              </a:rPr>
              <a:t>as a false refusal.</a:t>
            </a:r>
          </a:p>
        </p:txBody>
      </p:sp>
      <p:sp>
        <p:nvSpPr>
          <p:cNvPr id="54" name="Rounded Rectangle 53"/>
          <p:cNvSpPr/>
          <p:nvPr/>
        </p:nvSpPr>
        <p:spPr>
          <a:xfrm>
            <a:off x="640080" y="3913632"/>
            <a:ext cx="4242816" cy="1956816"/>
          </a:xfrm>
          <a:prstGeom prst="roundRect">
            <a:avLst>
              <a:gd name="adj" fmla="val 18000"/>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644469" y="3924239"/>
            <a:ext cx="4235135" cy="1941637"/>
          </a:xfrm>
          <a:custGeom>
            <a:avLst/>
            <a:gdLst/>
            <a:ahLst/>
            <a:cxnLst/>
            <a:rect l="l" t="t" r="r" b="b"/>
            <a:pathLst>
              <a:path w="46316" h="21234">
                <a:moveTo>
                  <a:pt x="46133" y="10632"/>
                </a:moveTo>
                <a:lnTo>
                  <a:pt x="46316" y="13734"/>
                </a:lnTo>
                <a:lnTo>
                  <a:pt x="46153" y="14825"/>
                </a:lnTo>
                <a:lnTo>
                  <a:pt x="46142" y="15631"/>
                </a:lnTo>
                <a:lnTo>
                  <a:pt x="45906" y="16155"/>
                </a:lnTo>
                <a:lnTo>
                  <a:pt x="45985" y="16768"/>
                </a:lnTo>
                <a:lnTo>
                  <a:pt x="45766" y="17200"/>
                </a:lnTo>
                <a:lnTo>
                  <a:pt x="45562" y="17629"/>
                </a:lnTo>
                <a:lnTo>
                  <a:pt x="45284" y="17872"/>
                </a:lnTo>
                <a:lnTo>
                  <a:pt x="45313" y="18405"/>
                </a:lnTo>
                <a:lnTo>
                  <a:pt x="45031" y="18503"/>
                </a:lnTo>
                <a:lnTo>
                  <a:pt x="44603" y="18865"/>
                </a:lnTo>
                <a:lnTo>
                  <a:pt x="44346" y="19145"/>
                </a:lnTo>
                <a:lnTo>
                  <a:pt x="43913" y="19459"/>
                </a:lnTo>
                <a:lnTo>
                  <a:pt x="43550" y="19517"/>
                </a:lnTo>
                <a:lnTo>
                  <a:pt x="43181" y="19694"/>
                </a:lnTo>
                <a:lnTo>
                  <a:pt x="42835" y="19934"/>
                </a:lnTo>
                <a:lnTo>
                  <a:pt x="42283" y="20151"/>
                </a:lnTo>
                <a:lnTo>
                  <a:pt x="41930" y="20407"/>
                </a:lnTo>
                <a:lnTo>
                  <a:pt x="41126" y="20422"/>
                </a:lnTo>
                <a:lnTo>
                  <a:pt x="40696" y="20467"/>
                </a:lnTo>
                <a:lnTo>
                  <a:pt x="39899" y="20579"/>
                </a:lnTo>
                <a:lnTo>
                  <a:pt x="39343" y="20708"/>
                </a:lnTo>
                <a:lnTo>
                  <a:pt x="38373" y="20980"/>
                </a:lnTo>
                <a:lnTo>
                  <a:pt x="37516" y="20931"/>
                </a:lnTo>
                <a:lnTo>
                  <a:pt x="36571" y="21080"/>
                </a:lnTo>
                <a:lnTo>
                  <a:pt x="35472" y="20952"/>
                </a:lnTo>
                <a:lnTo>
                  <a:pt x="34137" y="21164"/>
                </a:lnTo>
                <a:lnTo>
                  <a:pt x="32569" y="21234"/>
                </a:lnTo>
                <a:lnTo>
                  <a:pt x="30279" y="21104"/>
                </a:lnTo>
                <a:lnTo>
                  <a:pt x="23122" y="21051"/>
                </a:lnTo>
                <a:lnTo>
                  <a:pt x="16070" y="21085"/>
                </a:lnTo>
                <a:lnTo>
                  <a:pt x="13855" y="21179"/>
                </a:lnTo>
                <a:lnTo>
                  <a:pt x="12038" y="21179"/>
                </a:lnTo>
                <a:lnTo>
                  <a:pt x="10968" y="21144"/>
                </a:lnTo>
                <a:lnTo>
                  <a:pt x="9792" y="21103"/>
                </a:lnTo>
                <a:lnTo>
                  <a:pt x="8711" y="21038"/>
                </a:lnTo>
                <a:lnTo>
                  <a:pt x="7864" y="20939"/>
                </a:lnTo>
                <a:lnTo>
                  <a:pt x="7141" y="20764"/>
                </a:lnTo>
                <a:lnTo>
                  <a:pt x="6214" y="20771"/>
                </a:lnTo>
                <a:lnTo>
                  <a:pt x="5787" y="20501"/>
                </a:lnTo>
                <a:lnTo>
                  <a:pt x="5152" y="20505"/>
                </a:lnTo>
                <a:lnTo>
                  <a:pt x="4368" y="20295"/>
                </a:lnTo>
                <a:lnTo>
                  <a:pt x="3964" y="20265"/>
                </a:lnTo>
                <a:lnTo>
                  <a:pt x="3397" y="20007"/>
                </a:lnTo>
                <a:lnTo>
                  <a:pt x="3005" y="19718"/>
                </a:lnTo>
                <a:lnTo>
                  <a:pt x="2557" y="19621"/>
                </a:lnTo>
                <a:lnTo>
                  <a:pt x="2294" y="19275"/>
                </a:lnTo>
                <a:lnTo>
                  <a:pt x="1988" y="19100"/>
                </a:lnTo>
                <a:lnTo>
                  <a:pt x="1711" y="18959"/>
                </a:lnTo>
                <a:lnTo>
                  <a:pt x="1384" y="18509"/>
                </a:lnTo>
                <a:lnTo>
                  <a:pt x="1237" y="18242"/>
                </a:lnTo>
                <a:lnTo>
                  <a:pt x="926" y="18058"/>
                </a:lnTo>
                <a:lnTo>
                  <a:pt x="779" y="17501"/>
                </a:lnTo>
                <a:lnTo>
                  <a:pt x="556" y="17188"/>
                </a:lnTo>
                <a:lnTo>
                  <a:pt x="306" y="16677"/>
                </a:lnTo>
                <a:lnTo>
                  <a:pt x="212" y="16297"/>
                </a:lnTo>
                <a:lnTo>
                  <a:pt x="154" y="15715"/>
                </a:lnTo>
                <a:lnTo>
                  <a:pt x="222" y="14875"/>
                </a:lnTo>
                <a:lnTo>
                  <a:pt x="108" y="13922"/>
                </a:lnTo>
                <a:lnTo>
                  <a:pt x="0" y="10554"/>
                </a:lnTo>
                <a:lnTo>
                  <a:pt x="17" y="7281"/>
                </a:lnTo>
                <a:lnTo>
                  <a:pt x="99" y="6184"/>
                </a:lnTo>
                <a:lnTo>
                  <a:pt x="278" y="5564"/>
                </a:lnTo>
                <a:lnTo>
                  <a:pt x="259" y="4938"/>
                </a:lnTo>
                <a:lnTo>
                  <a:pt x="434" y="4442"/>
                </a:lnTo>
                <a:lnTo>
                  <a:pt x="444" y="4008"/>
                </a:lnTo>
                <a:lnTo>
                  <a:pt x="694" y="3651"/>
                </a:lnTo>
                <a:lnTo>
                  <a:pt x="903" y="3269"/>
                </a:lnTo>
                <a:lnTo>
                  <a:pt x="1000" y="2869"/>
                </a:lnTo>
                <a:lnTo>
                  <a:pt x="1397" y="2454"/>
                </a:lnTo>
                <a:lnTo>
                  <a:pt x="1633" y="2370"/>
                </a:lnTo>
                <a:lnTo>
                  <a:pt x="1914" y="2093"/>
                </a:lnTo>
                <a:lnTo>
                  <a:pt x="2355" y="1777"/>
                </a:lnTo>
                <a:lnTo>
                  <a:pt x="2749" y="1667"/>
                </a:lnTo>
                <a:lnTo>
                  <a:pt x="3084" y="1426"/>
                </a:lnTo>
                <a:lnTo>
                  <a:pt x="3621" y="1119"/>
                </a:lnTo>
                <a:lnTo>
                  <a:pt x="4079" y="1114"/>
                </a:lnTo>
                <a:lnTo>
                  <a:pt x="4445" y="932"/>
                </a:lnTo>
                <a:lnTo>
                  <a:pt x="5005" y="718"/>
                </a:lnTo>
                <a:lnTo>
                  <a:pt x="5591" y="618"/>
                </a:lnTo>
                <a:lnTo>
                  <a:pt x="6382" y="425"/>
                </a:lnTo>
                <a:lnTo>
                  <a:pt x="7154" y="264"/>
                </a:lnTo>
                <a:lnTo>
                  <a:pt x="7842" y="396"/>
                </a:lnTo>
                <a:lnTo>
                  <a:pt x="8759" y="228"/>
                </a:lnTo>
                <a:lnTo>
                  <a:pt x="9719" y="68"/>
                </a:lnTo>
                <a:lnTo>
                  <a:pt x="10811" y="203"/>
                </a:lnTo>
                <a:lnTo>
                  <a:pt x="12195" y="32"/>
                </a:lnTo>
                <a:lnTo>
                  <a:pt x="13879" y="2"/>
                </a:lnTo>
                <a:lnTo>
                  <a:pt x="16093" y="61"/>
                </a:lnTo>
                <a:lnTo>
                  <a:pt x="23088" y="36"/>
                </a:lnTo>
                <a:lnTo>
                  <a:pt x="30317" y="87"/>
                </a:lnTo>
                <a:lnTo>
                  <a:pt x="32455" y="0"/>
                </a:lnTo>
                <a:lnTo>
                  <a:pt x="34196" y="97"/>
                </a:lnTo>
                <a:lnTo>
                  <a:pt x="35381" y="15"/>
                </a:lnTo>
                <a:lnTo>
                  <a:pt x="36630" y="215"/>
                </a:lnTo>
                <a:lnTo>
                  <a:pt x="37519" y="273"/>
                </a:lnTo>
                <a:lnTo>
                  <a:pt x="38371" y="296"/>
                </a:lnTo>
                <a:lnTo>
                  <a:pt x="39357" y="383"/>
                </a:lnTo>
                <a:lnTo>
                  <a:pt x="39983" y="471"/>
                </a:lnTo>
                <a:lnTo>
                  <a:pt x="40643" y="625"/>
                </a:lnTo>
                <a:lnTo>
                  <a:pt x="41321" y="828"/>
                </a:lnTo>
                <a:lnTo>
                  <a:pt x="41854" y="981"/>
                </a:lnTo>
                <a:lnTo>
                  <a:pt x="42387" y="937"/>
                </a:lnTo>
                <a:lnTo>
                  <a:pt x="42751" y="1141"/>
                </a:lnTo>
                <a:lnTo>
                  <a:pt x="43131" y="1371"/>
                </a:lnTo>
                <a:lnTo>
                  <a:pt x="43608" y="1611"/>
                </a:lnTo>
                <a:lnTo>
                  <a:pt x="44100" y="1721"/>
                </a:lnTo>
                <a:lnTo>
                  <a:pt x="44347" y="2089"/>
                </a:lnTo>
                <a:lnTo>
                  <a:pt x="44757" y="2223"/>
                </a:lnTo>
                <a:lnTo>
                  <a:pt x="45047" y="2614"/>
                </a:lnTo>
                <a:lnTo>
                  <a:pt x="45181" y="2770"/>
                </a:lnTo>
                <a:lnTo>
                  <a:pt x="45363" y="3135"/>
                </a:lnTo>
                <a:lnTo>
                  <a:pt x="45559" y="3527"/>
                </a:lnTo>
                <a:lnTo>
                  <a:pt x="45711" y="3889"/>
                </a:lnTo>
                <a:lnTo>
                  <a:pt x="45813" y="4493"/>
                </a:lnTo>
                <a:lnTo>
                  <a:pt x="46033" y="4963"/>
                </a:lnTo>
                <a:lnTo>
                  <a:pt x="46078" y="5642"/>
                </a:lnTo>
                <a:lnTo>
                  <a:pt x="46079" y="6231"/>
                </a:lnTo>
                <a:lnTo>
                  <a:pt x="46237" y="7350"/>
                </a:lnTo>
                <a:lnTo>
                  <a:pt x="46261" y="10664"/>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640354" y="3915186"/>
            <a:ext cx="4231020" cy="1952335"/>
          </a:xfrm>
          <a:custGeom>
            <a:avLst/>
            <a:gdLst/>
            <a:ahLst/>
            <a:cxnLst/>
            <a:rect l="l" t="t" r="r" b="b"/>
            <a:pathLst>
              <a:path w="46271" h="21351">
                <a:moveTo>
                  <a:pt x="46204" y="10617"/>
                </a:moveTo>
                <a:lnTo>
                  <a:pt x="46161" y="13887"/>
                </a:lnTo>
                <a:lnTo>
                  <a:pt x="46104" y="14940"/>
                </a:lnTo>
                <a:lnTo>
                  <a:pt x="46123" y="15823"/>
                </a:lnTo>
                <a:lnTo>
                  <a:pt x="46186" y="16327"/>
                </a:lnTo>
                <a:lnTo>
                  <a:pt x="46055" y="16858"/>
                </a:lnTo>
                <a:lnTo>
                  <a:pt x="45782" y="17214"/>
                </a:lnTo>
                <a:lnTo>
                  <a:pt x="45620" y="17586"/>
                </a:lnTo>
                <a:lnTo>
                  <a:pt x="45480" y="17960"/>
                </a:lnTo>
                <a:lnTo>
                  <a:pt x="45244" y="18326"/>
                </a:lnTo>
                <a:lnTo>
                  <a:pt x="44987" y="18701"/>
                </a:lnTo>
                <a:lnTo>
                  <a:pt x="44833" y="18973"/>
                </a:lnTo>
                <a:lnTo>
                  <a:pt x="44494" y="19166"/>
                </a:lnTo>
                <a:lnTo>
                  <a:pt x="43951" y="19419"/>
                </a:lnTo>
                <a:lnTo>
                  <a:pt x="43788" y="19677"/>
                </a:lnTo>
                <a:lnTo>
                  <a:pt x="43214" y="19841"/>
                </a:lnTo>
                <a:lnTo>
                  <a:pt x="42815" y="20045"/>
                </a:lnTo>
                <a:lnTo>
                  <a:pt x="42274" y="20133"/>
                </a:lnTo>
                <a:lnTo>
                  <a:pt x="41834" y="20327"/>
                </a:lnTo>
                <a:lnTo>
                  <a:pt x="41188" y="20611"/>
                </a:lnTo>
                <a:lnTo>
                  <a:pt x="40654" y="20728"/>
                </a:lnTo>
                <a:lnTo>
                  <a:pt x="39982" y="20706"/>
                </a:lnTo>
                <a:lnTo>
                  <a:pt x="39302" y="20857"/>
                </a:lnTo>
                <a:lnTo>
                  <a:pt x="38631" y="21068"/>
                </a:lnTo>
                <a:lnTo>
                  <a:pt x="37730" y="21024"/>
                </a:lnTo>
                <a:lnTo>
                  <a:pt x="36532" y="21164"/>
                </a:lnTo>
                <a:lnTo>
                  <a:pt x="35546" y="21266"/>
                </a:lnTo>
                <a:lnTo>
                  <a:pt x="34304" y="21156"/>
                </a:lnTo>
                <a:lnTo>
                  <a:pt x="32657" y="21351"/>
                </a:lnTo>
                <a:lnTo>
                  <a:pt x="30202" y="21315"/>
                </a:lnTo>
                <a:lnTo>
                  <a:pt x="23131" y="21264"/>
                </a:lnTo>
                <a:lnTo>
                  <a:pt x="16071" y="21272"/>
                </a:lnTo>
                <a:lnTo>
                  <a:pt x="13806" y="21304"/>
                </a:lnTo>
                <a:lnTo>
                  <a:pt x="12209" y="21262"/>
                </a:lnTo>
                <a:lnTo>
                  <a:pt x="10951" y="21289"/>
                </a:lnTo>
                <a:lnTo>
                  <a:pt x="9714" y="21212"/>
                </a:lnTo>
                <a:lnTo>
                  <a:pt x="8675" y="21091"/>
                </a:lnTo>
                <a:lnTo>
                  <a:pt x="7964" y="20961"/>
                </a:lnTo>
                <a:lnTo>
                  <a:pt x="7125" y="20809"/>
                </a:lnTo>
                <a:lnTo>
                  <a:pt x="6476" y="20894"/>
                </a:lnTo>
                <a:lnTo>
                  <a:pt x="5810" y="20741"/>
                </a:lnTo>
                <a:lnTo>
                  <a:pt x="5101" y="20540"/>
                </a:lnTo>
                <a:lnTo>
                  <a:pt x="4540" y="20446"/>
                </a:lnTo>
                <a:lnTo>
                  <a:pt x="4024" y="20155"/>
                </a:lnTo>
                <a:lnTo>
                  <a:pt x="3466" y="20164"/>
                </a:lnTo>
                <a:lnTo>
                  <a:pt x="3074" y="19998"/>
                </a:lnTo>
                <a:lnTo>
                  <a:pt x="2709" y="19679"/>
                </a:lnTo>
                <a:lnTo>
                  <a:pt x="2256" y="19488"/>
                </a:lnTo>
                <a:lnTo>
                  <a:pt x="1878" y="19241"/>
                </a:lnTo>
                <a:lnTo>
                  <a:pt x="1681" y="19050"/>
                </a:lnTo>
                <a:lnTo>
                  <a:pt x="1463" y="18808"/>
                </a:lnTo>
                <a:lnTo>
                  <a:pt x="1083" y="18368"/>
                </a:lnTo>
                <a:lnTo>
                  <a:pt x="817" y="18184"/>
                </a:lnTo>
                <a:lnTo>
                  <a:pt x="742" y="17642"/>
                </a:lnTo>
                <a:lnTo>
                  <a:pt x="588" y="17335"/>
                </a:lnTo>
                <a:lnTo>
                  <a:pt x="473" y="16910"/>
                </a:lnTo>
                <a:lnTo>
                  <a:pt x="194" y="16396"/>
                </a:lnTo>
                <a:lnTo>
                  <a:pt x="174" y="15807"/>
                </a:lnTo>
                <a:lnTo>
                  <a:pt x="217" y="14914"/>
                </a:lnTo>
                <a:lnTo>
                  <a:pt x="131" y="13864"/>
                </a:lnTo>
                <a:lnTo>
                  <a:pt x="0" y="10750"/>
                </a:lnTo>
                <a:lnTo>
                  <a:pt x="257" y="7477"/>
                </a:lnTo>
                <a:lnTo>
                  <a:pt x="187" y="6352"/>
                </a:lnTo>
                <a:lnTo>
                  <a:pt x="258" y="5574"/>
                </a:lnTo>
                <a:lnTo>
                  <a:pt x="379" y="5145"/>
                </a:lnTo>
                <a:lnTo>
                  <a:pt x="398" y="4421"/>
                </a:lnTo>
                <a:lnTo>
                  <a:pt x="558" y="4001"/>
                </a:lnTo>
                <a:lnTo>
                  <a:pt x="774" y="3732"/>
                </a:lnTo>
                <a:lnTo>
                  <a:pt x="910" y="3400"/>
                </a:lnTo>
                <a:lnTo>
                  <a:pt x="1089" y="2965"/>
                </a:lnTo>
                <a:lnTo>
                  <a:pt x="1532" y="2599"/>
                </a:lnTo>
                <a:lnTo>
                  <a:pt x="1688" y="2306"/>
                </a:lnTo>
                <a:lnTo>
                  <a:pt x="1889" y="2170"/>
                </a:lnTo>
                <a:lnTo>
                  <a:pt x="2448" y="1976"/>
                </a:lnTo>
                <a:lnTo>
                  <a:pt x="2699" y="1652"/>
                </a:lnTo>
                <a:lnTo>
                  <a:pt x="3128" y="1529"/>
                </a:lnTo>
                <a:lnTo>
                  <a:pt x="3602" y="1176"/>
                </a:lnTo>
                <a:lnTo>
                  <a:pt x="3932" y="1066"/>
                </a:lnTo>
                <a:lnTo>
                  <a:pt x="4559" y="1024"/>
                </a:lnTo>
                <a:lnTo>
                  <a:pt x="5117" y="780"/>
                </a:lnTo>
                <a:lnTo>
                  <a:pt x="5750" y="753"/>
                </a:lnTo>
                <a:lnTo>
                  <a:pt x="6425" y="609"/>
                </a:lnTo>
                <a:lnTo>
                  <a:pt x="6979" y="572"/>
                </a:lnTo>
                <a:lnTo>
                  <a:pt x="7971" y="454"/>
                </a:lnTo>
                <a:lnTo>
                  <a:pt x="8729" y="320"/>
                </a:lnTo>
                <a:lnTo>
                  <a:pt x="9859" y="145"/>
                </a:lnTo>
                <a:lnTo>
                  <a:pt x="10768" y="85"/>
                </a:lnTo>
                <a:lnTo>
                  <a:pt x="12094" y="137"/>
                </a:lnTo>
                <a:lnTo>
                  <a:pt x="13754" y="114"/>
                </a:lnTo>
                <a:lnTo>
                  <a:pt x="16094" y="0"/>
                </a:lnTo>
                <a:lnTo>
                  <a:pt x="23110" y="194"/>
                </a:lnTo>
                <a:lnTo>
                  <a:pt x="30333" y="199"/>
                </a:lnTo>
                <a:lnTo>
                  <a:pt x="32535" y="102"/>
                </a:lnTo>
                <a:lnTo>
                  <a:pt x="34279" y="172"/>
                </a:lnTo>
                <a:lnTo>
                  <a:pt x="35626" y="297"/>
                </a:lnTo>
                <a:lnTo>
                  <a:pt x="36734" y="134"/>
                </a:lnTo>
                <a:lnTo>
                  <a:pt x="37543" y="321"/>
                </a:lnTo>
                <a:lnTo>
                  <a:pt x="38393" y="280"/>
                </a:lnTo>
                <a:lnTo>
                  <a:pt x="39283" y="499"/>
                </a:lnTo>
                <a:lnTo>
                  <a:pt x="40144" y="479"/>
                </a:lnTo>
                <a:lnTo>
                  <a:pt x="40755" y="745"/>
                </a:lnTo>
                <a:lnTo>
                  <a:pt x="41384" y="842"/>
                </a:lnTo>
                <a:lnTo>
                  <a:pt x="41839" y="992"/>
                </a:lnTo>
                <a:lnTo>
                  <a:pt x="42503" y="1067"/>
                </a:lnTo>
                <a:lnTo>
                  <a:pt x="42774" y="1355"/>
                </a:lnTo>
                <a:lnTo>
                  <a:pt x="43238" y="1554"/>
                </a:lnTo>
                <a:lnTo>
                  <a:pt x="43734" y="1662"/>
                </a:lnTo>
                <a:lnTo>
                  <a:pt x="44175" y="1871"/>
                </a:lnTo>
                <a:lnTo>
                  <a:pt x="44368" y="2148"/>
                </a:lnTo>
                <a:lnTo>
                  <a:pt x="44750" y="2479"/>
                </a:lnTo>
                <a:lnTo>
                  <a:pt x="44946" y="2652"/>
                </a:lnTo>
                <a:lnTo>
                  <a:pt x="45250" y="3057"/>
                </a:lnTo>
                <a:lnTo>
                  <a:pt x="45573" y="3402"/>
                </a:lnTo>
                <a:lnTo>
                  <a:pt x="45627" y="3718"/>
                </a:lnTo>
                <a:lnTo>
                  <a:pt x="45786" y="3998"/>
                </a:lnTo>
                <a:lnTo>
                  <a:pt x="45934" y="4437"/>
                </a:lnTo>
                <a:lnTo>
                  <a:pt x="46049" y="5109"/>
                </a:lnTo>
                <a:lnTo>
                  <a:pt x="46045" y="5556"/>
                </a:lnTo>
                <a:lnTo>
                  <a:pt x="46157" y="6284"/>
                </a:lnTo>
                <a:lnTo>
                  <a:pt x="46154" y="7341"/>
                </a:lnTo>
                <a:lnTo>
                  <a:pt x="46271" y="10644"/>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4796942" y="5408219"/>
            <a:ext cx="56418" cy="158923"/>
          </a:xfrm>
          <a:custGeom>
            <a:avLst/>
            <a:gdLst/>
            <a:ahLst/>
            <a:cxnLst/>
            <a:rect l="l" t="t" r="r" b="b"/>
            <a:pathLst>
              <a:path w="617" h="1738">
                <a:moveTo>
                  <a:pt x="617" y="0"/>
                </a:moveTo>
                <a:lnTo>
                  <a:pt x="502" y="516"/>
                </a:lnTo>
                <a:lnTo>
                  <a:pt x="361" y="969"/>
                </a:lnTo>
                <a:lnTo>
                  <a:pt x="194" y="1373"/>
                </a:lnTo>
                <a:lnTo>
                  <a:pt x="0" y="1738"/>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4161434" y="5793730"/>
            <a:ext cx="255118" cy="39502"/>
          </a:xfrm>
          <a:custGeom>
            <a:avLst/>
            <a:gdLst/>
            <a:ahLst/>
            <a:cxnLst/>
            <a:rect l="l" t="t" r="r" b="b"/>
            <a:pathLst>
              <a:path w="2790" h="432">
                <a:moveTo>
                  <a:pt x="2790" y="0"/>
                </a:moveTo>
                <a:lnTo>
                  <a:pt x="2181" y="127"/>
                </a:lnTo>
                <a:lnTo>
                  <a:pt x="1519" y="242"/>
                </a:lnTo>
                <a:lnTo>
                  <a:pt x="795" y="343"/>
                </a:lnTo>
                <a:lnTo>
                  <a:pt x="0" y="432"/>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1288847" y="5825094"/>
            <a:ext cx="346649" cy="25878"/>
          </a:xfrm>
          <a:custGeom>
            <a:avLst/>
            <a:gdLst/>
            <a:ahLst/>
            <a:cxnLst/>
            <a:rect l="l" t="t" r="r" b="b"/>
            <a:pathLst>
              <a:path w="3791" h="283">
                <a:moveTo>
                  <a:pt x="3791" y="283"/>
                </a:moveTo>
                <a:lnTo>
                  <a:pt x="2664" y="230"/>
                </a:lnTo>
                <a:lnTo>
                  <a:pt x="1676" y="166"/>
                </a:lnTo>
                <a:lnTo>
                  <a:pt x="795" y="89"/>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708294" y="5533766"/>
            <a:ext cx="86136" cy="116952"/>
          </a:xfrm>
          <a:custGeom>
            <a:avLst/>
            <a:gdLst/>
            <a:ahLst/>
            <a:cxnLst/>
            <a:rect l="l" t="t" r="r" b="b"/>
            <a:pathLst>
              <a:path w="942" h="1279">
                <a:moveTo>
                  <a:pt x="942" y="1279"/>
                </a:moveTo>
                <a:lnTo>
                  <a:pt x="664" y="1000"/>
                </a:lnTo>
                <a:lnTo>
                  <a:pt x="415" y="696"/>
                </a:lnTo>
                <a:lnTo>
                  <a:pt x="194" y="365"/>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669615" y="4216938"/>
            <a:ext cx="56418" cy="158923"/>
          </a:xfrm>
          <a:custGeom>
            <a:avLst/>
            <a:gdLst/>
            <a:ahLst/>
            <a:cxnLst/>
            <a:rect l="l" t="t" r="r" b="b"/>
            <a:pathLst>
              <a:path w="617" h="1738">
                <a:moveTo>
                  <a:pt x="0" y="1738"/>
                </a:moveTo>
                <a:lnTo>
                  <a:pt x="115" y="1222"/>
                </a:lnTo>
                <a:lnTo>
                  <a:pt x="256" y="769"/>
                </a:lnTo>
                <a:lnTo>
                  <a:pt x="423" y="365"/>
                </a:lnTo>
                <a:lnTo>
                  <a:pt x="617"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1106424" y="3950848"/>
            <a:ext cx="255118" cy="39502"/>
          </a:xfrm>
          <a:custGeom>
            <a:avLst/>
            <a:gdLst/>
            <a:ahLst/>
            <a:cxnLst/>
            <a:rect l="l" t="t" r="r" b="b"/>
            <a:pathLst>
              <a:path w="2790" h="432">
                <a:moveTo>
                  <a:pt x="0" y="432"/>
                </a:moveTo>
                <a:lnTo>
                  <a:pt x="609" y="305"/>
                </a:lnTo>
                <a:lnTo>
                  <a:pt x="1271" y="190"/>
                </a:lnTo>
                <a:lnTo>
                  <a:pt x="1995" y="89"/>
                </a:lnTo>
                <a:lnTo>
                  <a:pt x="279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3887480" y="3933109"/>
            <a:ext cx="346649" cy="25878"/>
          </a:xfrm>
          <a:custGeom>
            <a:avLst/>
            <a:gdLst/>
            <a:ahLst/>
            <a:cxnLst/>
            <a:rect l="l" t="t" r="r" b="b"/>
            <a:pathLst>
              <a:path w="3791" h="283">
                <a:moveTo>
                  <a:pt x="0" y="0"/>
                </a:moveTo>
                <a:lnTo>
                  <a:pt x="1127" y="53"/>
                </a:lnTo>
                <a:lnTo>
                  <a:pt x="2115" y="117"/>
                </a:lnTo>
                <a:lnTo>
                  <a:pt x="2996" y="194"/>
                </a:lnTo>
                <a:lnTo>
                  <a:pt x="3791" y="283"/>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4728545" y="4133362"/>
            <a:ext cx="86136" cy="116952"/>
          </a:xfrm>
          <a:custGeom>
            <a:avLst/>
            <a:gdLst/>
            <a:ahLst/>
            <a:cxnLst/>
            <a:rect l="l" t="t" r="r" b="b"/>
            <a:pathLst>
              <a:path w="942" h="1279">
                <a:moveTo>
                  <a:pt x="0" y="0"/>
                </a:moveTo>
                <a:lnTo>
                  <a:pt x="278" y="279"/>
                </a:lnTo>
                <a:lnTo>
                  <a:pt x="527" y="583"/>
                </a:lnTo>
                <a:lnTo>
                  <a:pt x="748" y="914"/>
                </a:lnTo>
                <a:lnTo>
                  <a:pt x="942" y="1279"/>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ody: 4"/>
          <p:cNvSpPr txBox="1"/>
          <p:nvPr/>
        </p:nvSpPr>
        <p:spPr>
          <a:xfrm>
            <a:off x="804671" y="4099115"/>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AE6B55"/>
                </a:solidFill>
                <a:latin typeface="Trebuchet MS"/>
              </a:rPr>
              <a:t>4</a:t>
            </a:r>
          </a:p>
        </p:txBody>
      </p:sp>
      <p:sp>
        <p:nvSpPr>
          <p:cNvPr id="66" name="body: Development feedback only"/>
          <p:cNvSpPr txBox="1"/>
          <p:nvPr/>
        </p:nvSpPr>
        <p:spPr>
          <a:xfrm>
            <a:off x="1325880" y="4087368"/>
            <a:ext cx="3136391" cy="707644"/>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AE6B55"/>
                </a:solidFill>
                <a:latin typeface="Chalkboard SE"/>
              </a:rPr>
              <a:t>Development feedback</a:t>
            </a:r>
            <a:br/>
            <a:r>
              <a:rPr sz="1850" b="1">
                <a:solidFill>
                  <a:srgbClr val="AE6B55"/>
                </a:solidFill>
                <a:latin typeface="Chalkboard SE"/>
              </a:rPr>
              <a:t>only</a:t>
            </a:r>
          </a:p>
        </p:txBody>
      </p:sp>
      <p:sp>
        <p:nvSpPr>
          <p:cNvPr id="67" name="body: Held-out by lineage and by date; the proposer sees aggregates."/>
          <p:cNvSpPr txBox="1"/>
          <p:nvPr/>
        </p:nvSpPr>
        <p:spPr>
          <a:xfrm>
            <a:off x="896112" y="4994402"/>
            <a:ext cx="3730752" cy="649224"/>
          </a:xfrm>
          <a:prstGeom prst="rect">
            <a:avLst/>
          </a:prstGeom>
          <a:noFill/>
        </p:spPr>
        <p:txBody>
          <a:bodyPr wrap="none" lIns="0" rIns="0" tIns="0" bIns="0" anchor="t">
            <a:noAutofit/>
          </a:bodyPr>
          <a:lstStyle/>
          <a:p>
            <a:pPr algn="ctr">
              <a:lnSpc>
                <a:spcPts val="2286"/>
              </a:lnSpc>
              <a:spcBef>
                <a:spcPts val="0"/>
              </a:spcBef>
              <a:spcAft>
                <a:spcPts val="0"/>
              </a:spcAft>
            </a:pPr>
            <a:r>
              <a:rPr sz="1800" b="0">
                <a:solidFill>
                  <a:srgbClr val="293E46"/>
                </a:solidFill>
                <a:latin typeface="Trebuchet MS"/>
              </a:rPr>
              <a:t>Held-out by lineage and by date;</a:t>
            </a:r>
            <a:br/>
            <a:r>
              <a:rPr sz="1800" b="0">
                <a:solidFill>
                  <a:srgbClr val="293E46"/>
                </a:solidFill>
                <a:latin typeface="Trebuchet MS"/>
              </a:rPr>
              <a:t>the proposer sees aggregates.</a:t>
            </a:r>
          </a:p>
        </p:txBody>
      </p:sp>
      <p:sp>
        <p:nvSpPr>
          <p:cNvPr id="68" name="Rounded Rectangle 67"/>
          <p:cNvSpPr/>
          <p:nvPr/>
        </p:nvSpPr>
        <p:spPr>
          <a:xfrm>
            <a:off x="5193792" y="3913632"/>
            <a:ext cx="4242816" cy="1956816"/>
          </a:xfrm>
          <a:prstGeom prst="roundRect">
            <a:avLst>
              <a:gd name="adj" fmla="val 18000"/>
            </a:avLst>
          </a:prstGeom>
          <a:solidFill>
            <a:srgbClr val="F0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5202936" y="3914181"/>
            <a:ext cx="4229923" cy="1953158"/>
          </a:xfrm>
          <a:custGeom>
            <a:avLst/>
            <a:gdLst/>
            <a:ahLst/>
            <a:cxnLst/>
            <a:rect l="l" t="t" r="r" b="b"/>
            <a:pathLst>
              <a:path w="46259" h="21360">
                <a:moveTo>
                  <a:pt x="46200" y="10655"/>
                </a:moveTo>
                <a:lnTo>
                  <a:pt x="46124" y="14046"/>
                </a:lnTo>
                <a:lnTo>
                  <a:pt x="46259" y="15032"/>
                </a:lnTo>
                <a:lnTo>
                  <a:pt x="46083" y="15706"/>
                </a:lnTo>
                <a:lnTo>
                  <a:pt x="46086" y="16239"/>
                </a:lnTo>
                <a:lnTo>
                  <a:pt x="45887" y="16799"/>
                </a:lnTo>
                <a:lnTo>
                  <a:pt x="45716" y="17411"/>
                </a:lnTo>
                <a:lnTo>
                  <a:pt x="45443" y="17803"/>
                </a:lnTo>
                <a:lnTo>
                  <a:pt x="45250" y="18192"/>
                </a:lnTo>
                <a:lnTo>
                  <a:pt x="45250" y="18396"/>
                </a:lnTo>
                <a:lnTo>
                  <a:pt x="44935" y="18653"/>
                </a:lnTo>
                <a:lnTo>
                  <a:pt x="44492" y="18932"/>
                </a:lnTo>
                <a:lnTo>
                  <a:pt x="44348" y="19162"/>
                </a:lnTo>
                <a:lnTo>
                  <a:pt x="44080" y="19522"/>
                </a:lnTo>
                <a:lnTo>
                  <a:pt x="43662" y="19800"/>
                </a:lnTo>
                <a:lnTo>
                  <a:pt x="43221" y="19975"/>
                </a:lnTo>
                <a:lnTo>
                  <a:pt x="42708" y="20046"/>
                </a:lnTo>
                <a:lnTo>
                  <a:pt x="42302" y="20162"/>
                </a:lnTo>
                <a:lnTo>
                  <a:pt x="41829" y="20500"/>
                </a:lnTo>
                <a:lnTo>
                  <a:pt x="41181" y="20490"/>
                </a:lnTo>
                <a:lnTo>
                  <a:pt x="40592" y="20761"/>
                </a:lnTo>
                <a:lnTo>
                  <a:pt x="39881" y="20783"/>
                </a:lnTo>
                <a:lnTo>
                  <a:pt x="39127" y="20818"/>
                </a:lnTo>
                <a:lnTo>
                  <a:pt x="38286" y="20933"/>
                </a:lnTo>
                <a:lnTo>
                  <a:pt x="37474" y="21167"/>
                </a:lnTo>
                <a:lnTo>
                  <a:pt x="36655" y="21071"/>
                </a:lnTo>
                <a:lnTo>
                  <a:pt x="35409" y="21081"/>
                </a:lnTo>
                <a:lnTo>
                  <a:pt x="34097" y="21274"/>
                </a:lnTo>
                <a:lnTo>
                  <a:pt x="32507" y="21160"/>
                </a:lnTo>
                <a:lnTo>
                  <a:pt x="30255" y="21302"/>
                </a:lnTo>
                <a:lnTo>
                  <a:pt x="23195" y="21360"/>
                </a:lnTo>
                <a:lnTo>
                  <a:pt x="16077" y="21348"/>
                </a:lnTo>
                <a:lnTo>
                  <a:pt x="13741" y="21152"/>
                </a:lnTo>
                <a:lnTo>
                  <a:pt x="12214" y="21161"/>
                </a:lnTo>
                <a:lnTo>
                  <a:pt x="10756" y="21282"/>
                </a:lnTo>
                <a:lnTo>
                  <a:pt x="9670" y="21199"/>
                </a:lnTo>
                <a:lnTo>
                  <a:pt x="8790" y="21001"/>
                </a:lnTo>
                <a:lnTo>
                  <a:pt x="7709" y="21039"/>
                </a:lnTo>
                <a:lnTo>
                  <a:pt x="7019" y="20943"/>
                </a:lnTo>
                <a:lnTo>
                  <a:pt x="6368" y="20819"/>
                </a:lnTo>
                <a:lnTo>
                  <a:pt x="5590" y="20696"/>
                </a:lnTo>
                <a:lnTo>
                  <a:pt x="5053" y="20669"/>
                </a:lnTo>
                <a:lnTo>
                  <a:pt x="4563" y="20488"/>
                </a:lnTo>
                <a:lnTo>
                  <a:pt x="3802" y="20247"/>
                </a:lnTo>
                <a:lnTo>
                  <a:pt x="3444" y="20159"/>
                </a:lnTo>
                <a:lnTo>
                  <a:pt x="3070" y="20021"/>
                </a:lnTo>
                <a:lnTo>
                  <a:pt x="2618" y="19740"/>
                </a:lnTo>
                <a:lnTo>
                  <a:pt x="2265" y="19542"/>
                </a:lnTo>
                <a:lnTo>
                  <a:pt x="1804" y="19180"/>
                </a:lnTo>
                <a:lnTo>
                  <a:pt x="1579" y="18982"/>
                </a:lnTo>
                <a:lnTo>
                  <a:pt x="1208" y="18617"/>
                </a:lnTo>
                <a:lnTo>
                  <a:pt x="1101" y="18391"/>
                </a:lnTo>
                <a:lnTo>
                  <a:pt x="744" y="18193"/>
                </a:lnTo>
                <a:lnTo>
                  <a:pt x="679" y="17660"/>
                </a:lnTo>
                <a:lnTo>
                  <a:pt x="453" y="17240"/>
                </a:lnTo>
                <a:lnTo>
                  <a:pt x="401" y="16792"/>
                </a:lnTo>
                <a:lnTo>
                  <a:pt x="191" y="16301"/>
                </a:lnTo>
                <a:lnTo>
                  <a:pt x="81" y="15697"/>
                </a:lnTo>
                <a:lnTo>
                  <a:pt x="0" y="15094"/>
                </a:lnTo>
                <a:lnTo>
                  <a:pt x="145" y="13914"/>
                </a:lnTo>
                <a:lnTo>
                  <a:pt x="143" y="10813"/>
                </a:lnTo>
                <a:lnTo>
                  <a:pt x="30" y="7509"/>
                </a:lnTo>
                <a:lnTo>
                  <a:pt x="55" y="6403"/>
                </a:lnTo>
                <a:lnTo>
                  <a:pt x="194" y="5554"/>
                </a:lnTo>
                <a:lnTo>
                  <a:pt x="120" y="5026"/>
                </a:lnTo>
                <a:lnTo>
                  <a:pt x="428" y="4583"/>
                </a:lnTo>
                <a:lnTo>
                  <a:pt x="474" y="4147"/>
                </a:lnTo>
                <a:lnTo>
                  <a:pt x="690" y="3563"/>
                </a:lnTo>
                <a:lnTo>
                  <a:pt x="913" y="3238"/>
                </a:lnTo>
                <a:lnTo>
                  <a:pt x="956" y="2965"/>
                </a:lnTo>
                <a:lnTo>
                  <a:pt x="1360" y="2648"/>
                </a:lnTo>
                <a:lnTo>
                  <a:pt x="1482" y="2362"/>
                </a:lnTo>
                <a:lnTo>
                  <a:pt x="2018" y="2062"/>
                </a:lnTo>
                <a:lnTo>
                  <a:pt x="2289" y="1980"/>
                </a:lnTo>
                <a:lnTo>
                  <a:pt x="2479" y="1588"/>
                </a:lnTo>
                <a:lnTo>
                  <a:pt x="3091" y="1443"/>
                </a:lnTo>
                <a:lnTo>
                  <a:pt x="3468" y="1289"/>
                </a:lnTo>
                <a:lnTo>
                  <a:pt x="3943" y="1180"/>
                </a:lnTo>
                <a:lnTo>
                  <a:pt x="4339" y="963"/>
                </a:lnTo>
                <a:lnTo>
                  <a:pt x="5081" y="951"/>
                </a:lnTo>
                <a:lnTo>
                  <a:pt x="5508" y="797"/>
                </a:lnTo>
                <a:lnTo>
                  <a:pt x="6312" y="487"/>
                </a:lnTo>
                <a:lnTo>
                  <a:pt x="7097" y="405"/>
                </a:lnTo>
                <a:lnTo>
                  <a:pt x="7725" y="326"/>
                </a:lnTo>
                <a:lnTo>
                  <a:pt x="8575" y="348"/>
                </a:lnTo>
                <a:lnTo>
                  <a:pt x="9598" y="347"/>
                </a:lnTo>
                <a:lnTo>
                  <a:pt x="10890" y="258"/>
                </a:lnTo>
                <a:lnTo>
                  <a:pt x="12024" y="127"/>
                </a:lnTo>
                <a:lnTo>
                  <a:pt x="13622" y="125"/>
                </a:lnTo>
                <a:lnTo>
                  <a:pt x="15962" y="0"/>
                </a:lnTo>
                <a:lnTo>
                  <a:pt x="23117" y="59"/>
                </a:lnTo>
                <a:lnTo>
                  <a:pt x="30074" y="136"/>
                </a:lnTo>
                <a:lnTo>
                  <a:pt x="32458" y="219"/>
                </a:lnTo>
                <a:lnTo>
                  <a:pt x="34069" y="142"/>
                </a:lnTo>
                <a:lnTo>
                  <a:pt x="35483" y="232"/>
                </a:lnTo>
                <a:lnTo>
                  <a:pt x="36551" y="318"/>
                </a:lnTo>
                <a:lnTo>
                  <a:pt x="37422" y="322"/>
                </a:lnTo>
                <a:lnTo>
                  <a:pt x="38472" y="293"/>
                </a:lnTo>
                <a:lnTo>
                  <a:pt x="39287" y="434"/>
                </a:lnTo>
                <a:lnTo>
                  <a:pt x="39877" y="487"/>
                </a:lnTo>
                <a:lnTo>
                  <a:pt x="40615" y="813"/>
                </a:lnTo>
                <a:lnTo>
                  <a:pt x="41224" y="817"/>
                </a:lnTo>
                <a:lnTo>
                  <a:pt x="41646" y="894"/>
                </a:lnTo>
                <a:lnTo>
                  <a:pt x="42337" y="1092"/>
                </a:lnTo>
                <a:lnTo>
                  <a:pt x="42653" y="1334"/>
                </a:lnTo>
                <a:lnTo>
                  <a:pt x="43099" y="1417"/>
                </a:lnTo>
                <a:lnTo>
                  <a:pt x="43689" y="1587"/>
                </a:lnTo>
                <a:lnTo>
                  <a:pt x="43915" y="1944"/>
                </a:lnTo>
                <a:lnTo>
                  <a:pt x="44268" y="2123"/>
                </a:lnTo>
                <a:lnTo>
                  <a:pt x="44561" y="2385"/>
                </a:lnTo>
                <a:lnTo>
                  <a:pt x="44933" y="2781"/>
                </a:lnTo>
                <a:lnTo>
                  <a:pt x="45242" y="2938"/>
                </a:lnTo>
                <a:lnTo>
                  <a:pt x="45403" y="3366"/>
                </a:lnTo>
                <a:lnTo>
                  <a:pt x="45471" y="3790"/>
                </a:lnTo>
                <a:lnTo>
                  <a:pt x="45785" y="4181"/>
                </a:lnTo>
                <a:lnTo>
                  <a:pt x="45774" y="4474"/>
                </a:lnTo>
                <a:lnTo>
                  <a:pt x="46051" y="4957"/>
                </a:lnTo>
                <a:lnTo>
                  <a:pt x="46090" y="5538"/>
                </a:lnTo>
                <a:lnTo>
                  <a:pt x="46076" y="6301"/>
                </a:lnTo>
                <a:lnTo>
                  <a:pt x="46151" y="7478"/>
                </a:lnTo>
                <a:lnTo>
                  <a:pt x="46205" y="10618"/>
                </a:lnTo>
                <a:close/>
              </a:path>
            </a:pathLst>
          </a:custGeom>
          <a:noFill/>
          <a:ln w="19685" cap="rnd">
            <a:solidFill>
              <a:srgbClr val="7C7196">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5200833" y="3918753"/>
            <a:ext cx="4232118" cy="1950049"/>
          </a:xfrm>
          <a:custGeom>
            <a:avLst/>
            <a:gdLst/>
            <a:ahLst/>
            <a:cxnLst/>
            <a:rect l="l" t="t" r="r" b="b"/>
            <a:pathLst>
              <a:path w="46283" h="21326">
                <a:moveTo>
                  <a:pt x="46283" y="10645"/>
                </a:moveTo>
                <a:lnTo>
                  <a:pt x="46086" y="13919"/>
                </a:lnTo>
                <a:lnTo>
                  <a:pt x="46084" y="14990"/>
                </a:lnTo>
                <a:lnTo>
                  <a:pt x="46009" y="15771"/>
                </a:lnTo>
                <a:lnTo>
                  <a:pt x="46074" y="16394"/>
                </a:lnTo>
                <a:lnTo>
                  <a:pt x="45933" y="16768"/>
                </a:lnTo>
                <a:lnTo>
                  <a:pt x="45781" y="17253"/>
                </a:lnTo>
                <a:lnTo>
                  <a:pt x="45483" y="17733"/>
                </a:lnTo>
                <a:lnTo>
                  <a:pt x="45272" y="18050"/>
                </a:lnTo>
                <a:lnTo>
                  <a:pt x="45262" y="18287"/>
                </a:lnTo>
                <a:lnTo>
                  <a:pt x="44943" y="18574"/>
                </a:lnTo>
                <a:lnTo>
                  <a:pt x="44689" y="18948"/>
                </a:lnTo>
                <a:lnTo>
                  <a:pt x="44247" y="19105"/>
                </a:lnTo>
                <a:lnTo>
                  <a:pt x="44023" y="19524"/>
                </a:lnTo>
                <a:lnTo>
                  <a:pt x="43562" y="19754"/>
                </a:lnTo>
                <a:lnTo>
                  <a:pt x="43131" y="19846"/>
                </a:lnTo>
                <a:lnTo>
                  <a:pt x="42850" y="19964"/>
                </a:lnTo>
                <a:lnTo>
                  <a:pt x="42199" y="20300"/>
                </a:lnTo>
                <a:lnTo>
                  <a:pt x="41760" y="20422"/>
                </a:lnTo>
                <a:lnTo>
                  <a:pt x="41327" y="20430"/>
                </a:lnTo>
                <a:lnTo>
                  <a:pt x="40738" y="20622"/>
                </a:lnTo>
                <a:lnTo>
                  <a:pt x="39829" y="20857"/>
                </a:lnTo>
                <a:lnTo>
                  <a:pt x="39147" y="20938"/>
                </a:lnTo>
                <a:lnTo>
                  <a:pt x="38444" y="21010"/>
                </a:lnTo>
                <a:lnTo>
                  <a:pt x="37631" y="20925"/>
                </a:lnTo>
                <a:lnTo>
                  <a:pt x="36460" y="20974"/>
                </a:lnTo>
                <a:lnTo>
                  <a:pt x="35521" y="21114"/>
                </a:lnTo>
                <a:lnTo>
                  <a:pt x="33988" y="21163"/>
                </a:lnTo>
                <a:lnTo>
                  <a:pt x="32493" y="21116"/>
                </a:lnTo>
                <a:lnTo>
                  <a:pt x="30300" y="21111"/>
                </a:lnTo>
                <a:lnTo>
                  <a:pt x="23250" y="21326"/>
                </a:lnTo>
                <a:lnTo>
                  <a:pt x="15921" y="21278"/>
                </a:lnTo>
                <a:lnTo>
                  <a:pt x="13858" y="21211"/>
                </a:lnTo>
                <a:lnTo>
                  <a:pt x="12094" y="21252"/>
                </a:lnTo>
                <a:lnTo>
                  <a:pt x="10729" y="21210"/>
                </a:lnTo>
                <a:lnTo>
                  <a:pt x="9662" y="21026"/>
                </a:lnTo>
                <a:lnTo>
                  <a:pt x="8674" y="21096"/>
                </a:lnTo>
                <a:lnTo>
                  <a:pt x="7843" y="20993"/>
                </a:lnTo>
                <a:lnTo>
                  <a:pt x="6950" y="20951"/>
                </a:lnTo>
                <a:lnTo>
                  <a:pt x="6274" y="20863"/>
                </a:lnTo>
                <a:lnTo>
                  <a:pt x="5563" y="20622"/>
                </a:lnTo>
                <a:lnTo>
                  <a:pt x="5132" y="20406"/>
                </a:lnTo>
                <a:lnTo>
                  <a:pt x="4510" y="20266"/>
                </a:lnTo>
                <a:lnTo>
                  <a:pt x="4024" y="20205"/>
                </a:lnTo>
                <a:lnTo>
                  <a:pt x="3500" y="20151"/>
                </a:lnTo>
                <a:lnTo>
                  <a:pt x="3015" y="19822"/>
                </a:lnTo>
                <a:lnTo>
                  <a:pt x="2612" y="19643"/>
                </a:lnTo>
                <a:lnTo>
                  <a:pt x="2216" y="19321"/>
                </a:lnTo>
                <a:lnTo>
                  <a:pt x="1993" y="19120"/>
                </a:lnTo>
                <a:lnTo>
                  <a:pt x="1726" y="18954"/>
                </a:lnTo>
                <a:lnTo>
                  <a:pt x="1450" y="18546"/>
                </a:lnTo>
                <a:lnTo>
                  <a:pt x="1131" y="18472"/>
                </a:lnTo>
                <a:lnTo>
                  <a:pt x="823" y="18088"/>
                </a:lnTo>
                <a:lnTo>
                  <a:pt x="651" y="17706"/>
                </a:lnTo>
                <a:lnTo>
                  <a:pt x="461" y="17292"/>
                </a:lnTo>
                <a:lnTo>
                  <a:pt x="266" y="16924"/>
                </a:lnTo>
                <a:lnTo>
                  <a:pt x="298" y="16287"/>
                </a:lnTo>
                <a:lnTo>
                  <a:pt x="181" y="15627"/>
                </a:lnTo>
                <a:lnTo>
                  <a:pt x="87" y="14917"/>
                </a:lnTo>
                <a:lnTo>
                  <a:pt x="1" y="14011"/>
                </a:lnTo>
                <a:lnTo>
                  <a:pt x="140" y="10747"/>
                </a:lnTo>
                <a:lnTo>
                  <a:pt x="90" y="7280"/>
                </a:lnTo>
                <a:lnTo>
                  <a:pt x="0" y="6435"/>
                </a:lnTo>
                <a:lnTo>
                  <a:pt x="174" y="5530"/>
                </a:lnTo>
                <a:lnTo>
                  <a:pt x="124" y="5114"/>
                </a:lnTo>
                <a:lnTo>
                  <a:pt x="454" y="4370"/>
                </a:lnTo>
                <a:lnTo>
                  <a:pt x="455" y="4015"/>
                </a:lnTo>
                <a:lnTo>
                  <a:pt x="701" y="3584"/>
                </a:lnTo>
                <a:lnTo>
                  <a:pt x="900" y="3273"/>
                </a:lnTo>
                <a:lnTo>
                  <a:pt x="1003" y="2857"/>
                </a:lnTo>
                <a:lnTo>
                  <a:pt x="1363" y="2634"/>
                </a:lnTo>
                <a:lnTo>
                  <a:pt x="1739" y="2296"/>
                </a:lnTo>
                <a:lnTo>
                  <a:pt x="1885" y="2076"/>
                </a:lnTo>
                <a:lnTo>
                  <a:pt x="2177" y="1941"/>
                </a:lnTo>
                <a:lnTo>
                  <a:pt x="2629" y="1533"/>
                </a:lnTo>
                <a:lnTo>
                  <a:pt x="3040" y="1320"/>
                </a:lnTo>
                <a:lnTo>
                  <a:pt x="3499" y="1311"/>
                </a:lnTo>
                <a:lnTo>
                  <a:pt x="3926" y="1189"/>
                </a:lnTo>
                <a:lnTo>
                  <a:pt x="4441" y="1036"/>
                </a:lnTo>
                <a:lnTo>
                  <a:pt x="4915" y="850"/>
                </a:lnTo>
                <a:lnTo>
                  <a:pt x="5509" y="691"/>
                </a:lnTo>
                <a:lnTo>
                  <a:pt x="6169" y="472"/>
                </a:lnTo>
                <a:lnTo>
                  <a:pt x="6893" y="342"/>
                </a:lnTo>
                <a:lnTo>
                  <a:pt x="7895" y="250"/>
                </a:lnTo>
                <a:lnTo>
                  <a:pt x="8718" y="254"/>
                </a:lnTo>
                <a:lnTo>
                  <a:pt x="9733" y="236"/>
                </a:lnTo>
                <a:lnTo>
                  <a:pt x="10775" y="49"/>
                </a:lnTo>
                <a:lnTo>
                  <a:pt x="12245" y="230"/>
                </a:lnTo>
                <a:lnTo>
                  <a:pt x="13784" y="20"/>
                </a:lnTo>
                <a:lnTo>
                  <a:pt x="16102" y="134"/>
                </a:lnTo>
                <a:lnTo>
                  <a:pt x="23235" y="67"/>
                </a:lnTo>
                <a:lnTo>
                  <a:pt x="30194" y="5"/>
                </a:lnTo>
                <a:lnTo>
                  <a:pt x="32499" y="86"/>
                </a:lnTo>
                <a:lnTo>
                  <a:pt x="34080" y="0"/>
                </a:lnTo>
                <a:lnTo>
                  <a:pt x="35326" y="239"/>
                </a:lnTo>
                <a:lnTo>
                  <a:pt x="36538" y="122"/>
                </a:lnTo>
                <a:lnTo>
                  <a:pt x="37510" y="285"/>
                </a:lnTo>
                <a:lnTo>
                  <a:pt x="38338" y="254"/>
                </a:lnTo>
                <a:lnTo>
                  <a:pt x="39319" y="355"/>
                </a:lnTo>
                <a:lnTo>
                  <a:pt x="39907" y="524"/>
                </a:lnTo>
                <a:lnTo>
                  <a:pt x="40588" y="754"/>
                </a:lnTo>
                <a:lnTo>
                  <a:pt x="41285" y="692"/>
                </a:lnTo>
                <a:lnTo>
                  <a:pt x="41880" y="853"/>
                </a:lnTo>
                <a:lnTo>
                  <a:pt x="42257" y="984"/>
                </a:lnTo>
                <a:lnTo>
                  <a:pt x="42904" y="1280"/>
                </a:lnTo>
                <a:lnTo>
                  <a:pt x="43202" y="1330"/>
                </a:lnTo>
                <a:lnTo>
                  <a:pt x="43522" y="1655"/>
                </a:lnTo>
                <a:lnTo>
                  <a:pt x="44025" y="1927"/>
                </a:lnTo>
                <a:lnTo>
                  <a:pt x="44302" y="2056"/>
                </a:lnTo>
                <a:lnTo>
                  <a:pt x="44661" y="2453"/>
                </a:lnTo>
                <a:lnTo>
                  <a:pt x="44821" y="2602"/>
                </a:lnTo>
                <a:lnTo>
                  <a:pt x="45144" y="2961"/>
                </a:lnTo>
                <a:lnTo>
                  <a:pt x="45336" y="3216"/>
                </a:lnTo>
                <a:lnTo>
                  <a:pt x="45538" y="3586"/>
                </a:lnTo>
                <a:lnTo>
                  <a:pt x="45647" y="4120"/>
                </a:lnTo>
                <a:lnTo>
                  <a:pt x="45865" y="4418"/>
                </a:lnTo>
                <a:lnTo>
                  <a:pt x="46121" y="4975"/>
                </a:lnTo>
                <a:lnTo>
                  <a:pt x="45987" y="5503"/>
                </a:lnTo>
                <a:lnTo>
                  <a:pt x="46083" y="6260"/>
                </a:lnTo>
                <a:lnTo>
                  <a:pt x="46233" y="7358"/>
                </a:lnTo>
                <a:lnTo>
                  <a:pt x="46248" y="10629"/>
                </a:lnTo>
                <a:close/>
              </a:path>
            </a:pathLst>
          </a:custGeom>
          <a:noFill/>
          <a:ln w="7620" cap="rnd">
            <a:solidFill>
              <a:srgbClr val="7C7196">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9350654" y="5408219"/>
            <a:ext cx="56418" cy="158923"/>
          </a:xfrm>
          <a:custGeom>
            <a:avLst/>
            <a:gdLst/>
            <a:ahLst/>
            <a:cxnLst/>
            <a:rect l="l" t="t" r="r" b="b"/>
            <a:pathLst>
              <a:path w="617" h="1738">
                <a:moveTo>
                  <a:pt x="617" y="0"/>
                </a:moveTo>
                <a:lnTo>
                  <a:pt x="502" y="516"/>
                </a:lnTo>
                <a:lnTo>
                  <a:pt x="361" y="969"/>
                </a:lnTo>
                <a:lnTo>
                  <a:pt x="194" y="1373"/>
                </a:lnTo>
                <a:lnTo>
                  <a:pt x="0" y="1738"/>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8715146" y="5793730"/>
            <a:ext cx="255118" cy="39502"/>
          </a:xfrm>
          <a:custGeom>
            <a:avLst/>
            <a:gdLst/>
            <a:ahLst/>
            <a:cxnLst/>
            <a:rect l="l" t="t" r="r" b="b"/>
            <a:pathLst>
              <a:path w="2790" h="432">
                <a:moveTo>
                  <a:pt x="2790" y="0"/>
                </a:moveTo>
                <a:lnTo>
                  <a:pt x="2181" y="127"/>
                </a:lnTo>
                <a:lnTo>
                  <a:pt x="1519" y="242"/>
                </a:lnTo>
                <a:lnTo>
                  <a:pt x="795" y="343"/>
                </a:lnTo>
                <a:lnTo>
                  <a:pt x="0" y="432"/>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5842559" y="5825094"/>
            <a:ext cx="346649" cy="25878"/>
          </a:xfrm>
          <a:custGeom>
            <a:avLst/>
            <a:gdLst/>
            <a:ahLst/>
            <a:cxnLst/>
            <a:rect l="l" t="t" r="r" b="b"/>
            <a:pathLst>
              <a:path w="3791" h="283">
                <a:moveTo>
                  <a:pt x="3791" y="283"/>
                </a:moveTo>
                <a:lnTo>
                  <a:pt x="2664" y="230"/>
                </a:lnTo>
                <a:lnTo>
                  <a:pt x="1676" y="166"/>
                </a:lnTo>
                <a:lnTo>
                  <a:pt x="795" y="89"/>
                </a:lnTo>
                <a:lnTo>
                  <a:pt x="0"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5262006" y="5533766"/>
            <a:ext cx="86136" cy="116952"/>
          </a:xfrm>
          <a:custGeom>
            <a:avLst/>
            <a:gdLst/>
            <a:ahLst/>
            <a:cxnLst/>
            <a:rect l="l" t="t" r="r" b="b"/>
            <a:pathLst>
              <a:path w="942" h="1279">
                <a:moveTo>
                  <a:pt x="942" y="1279"/>
                </a:moveTo>
                <a:lnTo>
                  <a:pt x="664" y="1000"/>
                </a:lnTo>
                <a:lnTo>
                  <a:pt x="415" y="696"/>
                </a:lnTo>
                <a:lnTo>
                  <a:pt x="194" y="365"/>
                </a:lnTo>
                <a:lnTo>
                  <a:pt x="0"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5223327" y="4216938"/>
            <a:ext cx="56418" cy="158923"/>
          </a:xfrm>
          <a:custGeom>
            <a:avLst/>
            <a:gdLst/>
            <a:ahLst/>
            <a:cxnLst/>
            <a:rect l="l" t="t" r="r" b="b"/>
            <a:pathLst>
              <a:path w="617" h="1738">
                <a:moveTo>
                  <a:pt x="0" y="1738"/>
                </a:moveTo>
                <a:lnTo>
                  <a:pt x="115" y="1222"/>
                </a:lnTo>
                <a:lnTo>
                  <a:pt x="256" y="769"/>
                </a:lnTo>
                <a:lnTo>
                  <a:pt x="423" y="365"/>
                </a:lnTo>
                <a:lnTo>
                  <a:pt x="617"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5660136" y="3950848"/>
            <a:ext cx="255118" cy="39502"/>
          </a:xfrm>
          <a:custGeom>
            <a:avLst/>
            <a:gdLst/>
            <a:ahLst/>
            <a:cxnLst/>
            <a:rect l="l" t="t" r="r" b="b"/>
            <a:pathLst>
              <a:path w="2790" h="432">
                <a:moveTo>
                  <a:pt x="0" y="432"/>
                </a:moveTo>
                <a:lnTo>
                  <a:pt x="609" y="305"/>
                </a:lnTo>
                <a:lnTo>
                  <a:pt x="1271" y="190"/>
                </a:lnTo>
                <a:lnTo>
                  <a:pt x="1995" y="89"/>
                </a:lnTo>
                <a:lnTo>
                  <a:pt x="2790"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8441192" y="3933109"/>
            <a:ext cx="346649" cy="25878"/>
          </a:xfrm>
          <a:custGeom>
            <a:avLst/>
            <a:gdLst/>
            <a:ahLst/>
            <a:cxnLst/>
            <a:rect l="l" t="t" r="r" b="b"/>
            <a:pathLst>
              <a:path w="3791" h="283">
                <a:moveTo>
                  <a:pt x="0" y="0"/>
                </a:moveTo>
                <a:lnTo>
                  <a:pt x="1127" y="53"/>
                </a:lnTo>
                <a:lnTo>
                  <a:pt x="2115" y="117"/>
                </a:lnTo>
                <a:lnTo>
                  <a:pt x="2996" y="194"/>
                </a:lnTo>
                <a:lnTo>
                  <a:pt x="3791" y="283"/>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9282257" y="4133362"/>
            <a:ext cx="86136" cy="116952"/>
          </a:xfrm>
          <a:custGeom>
            <a:avLst/>
            <a:gdLst/>
            <a:ahLst/>
            <a:cxnLst/>
            <a:rect l="l" t="t" r="r" b="b"/>
            <a:pathLst>
              <a:path w="942" h="1279">
                <a:moveTo>
                  <a:pt x="0" y="0"/>
                </a:moveTo>
                <a:lnTo>
                  <a:pt x="278" y="279"/>
                </a:lnTo>
                <a:lnTo>
                  <a:pt x="527" y="583"/>
                </a:lnTo>
                <a:lnTo>
                  <a:pt x="748" y="914"/>
                </a:lnTo>
                <a:lnTo>
                  <a:pt x="942" y="1279"/>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ody: 5"/>
          <p:cNvSpPr txBox="1"/>
          <p:nvPr/>
        </p:nvSpPr>
        <p:spPr>
          <a:xfrm>
            <a:off x="5358384" y="4099115"/>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7C7196"/>
                </a:solidFill>
                <a:latin typeface="Trebuchet MS"/>
              </a:rPr>
              <a:t>5</a:t>
            </a:r>
          </a:p>
        </p:txBody>
      </p:sp>
      <p:sp>
        <p:nvSpPr>
          <p:cNvPr id="80" name="body: Constrained optimisation"/>
          <p:cNvSpPr txBox="1"/>
          <p:nvPr/>
        </p:nvSpPr>
        <p:spPr>
          <a:xfrm>
            <a:off x="5879592" y="4048760"/>
            <a:ext cx="3136391"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7C7196"/>
                </a:solidFill>
                <a:latin typeface="Chalkboard SE"/>
              </a:rPr>
              <a:t>Constrained optimisation</a:t>
            </a:r>
          </a:p>
        </p:txBody>
      </p:sp>
      <p:sp>
        <p:nvSpPr>
          <p:cNvPr id="81" name="body: min R s.t. utility, cost, refusals and zero regressions."/>
          <p:cNvSpPr txBox="1"/>
          <p:nvPr/>
        </p:nvSpPr>
        <p:spPr>
          <a:xfrm>
            <a:off x="5449824" y="4850892"/>
            <a:ext cx="3730752" cy="649224"/>
          </a:xfrm>
          <a:prstGeom prst="rect">
            <a:avLst/>
          </a:prstGeom>
          <a:noFill/>
        </p:spPr>
        <p:txBody>
          <a:bodyPr wrap="none" lIns="0" rIns="0" tIns="0" bIns="0" anchor="t">
            <a:noAutofit/>
          </a:bodyPr>
          <a:lstStyle/>
          <a:p>
            <a:pPr algn="ctr">
              <a:lnSpc>
                <a:spcPts val="2286"/>
              </a:lnSpc>
              <a:spcBef>
                <a:spcPts val="0"/>
              </a:spcBef>
              <a:spcAft>
                <a:spcPts val="0"/>
              </a:spcAft>
            </a:pPr>
            <a:r>
              <a:rPr sz="1800" b="0">
                <a:solidFill>
                  <a:srgbClr val="293E46"/>
                </a:solidFill>
                <a:latin typeface="Trebuchet MS"/>
              </a:rPr>
              <a:t>min R s.t. utility, cost, refusals</a:t>
            </a:r>
            <a:br/>
            <a:r>
              <a:rPr sz="1800" b="0">
                <a:solidFill>
                  <a:srgbClr val="293E46"/>
                </a:solidFill>
                <a:latin typeface="Trebuchet MS"/>
              </a:rPr>
              <a:t>and zero regressions.</a:t>
            </a:r>
          </a:p>
        </p:txBody>
      </p:sp>
      <p:sp>
        <p:nvSpPr>
          <p:cNvPr id="82" name="Rounded Rectangle 81"/>
          <p:cNvSpPr/>
          <p:nvPr/>
        </p:nvSpPr>
        <p:spPr>
          <a:xfrm>
            <a:off x="9747504" y="3913632"/>
            <a:ext cx="4242816" cy="1956816"/>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9748418" y="3915827"/>
            <a:ext cx="4240896" cy="1950690"/>
          </a:xfrm>
          <a:custGeom>
            <a:avLst/>
            <a:gdLst/>
            <a:ahLst/>
            <a:cxnLst/>
            <a:rect l="l" t="t" r="r" b="b"/>
            <a:pathLst>
              <a:path w="46379" h="21333">
                <a:moveTo>
                  <a:pt x="46290" y="10626"/>
                </a:moveTo>
                <a:lnTo>
                  <a:pt x="46177" y="13934"/>
                </a:lnTo>
                <a:lnTo>
                  <a:pt x="46247" y="15029"/>
                </a:lnTo>
                <a:lnTo>
                  <a:pt x="46111" y="15704"/>
                </a:lnTo>
                <a:lnTo>
                  <a:pt x="46125" y="16249"/>
                </a:lnTo>
                <a:lnTo>
                  <a:pt x="46068" y="16951"/>
                </a:lnTo>
                <a:lnTo>
                  <a:pt x="45805" y="17349"/>
                </a:lnTo>
                <a:lnTo>
                  <a:pt x="45636" y="17784"/>
                </a:lnTo>
                <a:lnTo>
                  <a:pt x="45333" y="18175"/>
                </a:lnTo>
                <a:lnTo>
                  <a:pt x="45348" y="18343"/>
                </a:lnTo>
                <a:lnTo>
                  <a:pt x="44984" y="18765"/>
                </a:lnTo>
                <a:lnTo>
                  <a:pt x="44706" y="18868"/>
                </a:lnTo>
                <a:lnTo>
                  <a:pt x="44360" y="19265"/>
                </a:lnTo>
                <a:lnTo>
                  <a:pt x="44015" y="19492"/>
                </a:lnTo>
                <a:lnTo>
                  <a:pt x="43790" y="19679"/>
                </a:lnTo>
                <a:lnTo>
                  <a:pt x="43344" y="19798"/>
                </a:lnTo>
                <a:lnTo>
                  <a:pt x="42928" y="20129"/>
                </a:lnTo>
                <a:lnTo>
                  <a:pt x="42421" y="20239"/>
                </a:lnTo>
                <a:lnTo>
                  <a:pt x="41915" y="20394"/>
                </a:lnTo>
                <a:lnTo>
                  <a:pt x="41311" y="20531"/>
                </a:lnTo>
                <a:lnTo>
                  <a:pt x="40767" y="20775"/>
                </a:lnTo>
                <a:lnTo>
                  <a:pt x="40101" y="20753"/>
                </a:lnTo>
                <a:lnTo>
                  <a:pt x="39290" y="21000"/>
                </a:lnTo>
                <a:lnTo>
                  <a:pt x="38515" y="20867"/>
                </a:lnTo>
                <a:lnTo>
                  <a:pt x="37581" y="21079"/>
                </a:lnTo>
                <a:lnTo>
                  <a:pt x="36559" y="21025"/>
                </a:lnTo>
                <a:lnTo>
                  <a:pt x="35564" y="21225"/>
                </a:lnTo>
                <a:lnTo>
                  <a:pt x="34102" y="21155"/>
                </a:lnTo>
                <a:lnTo>
                  <a:pt x="32581" y="21333"/>
                </a:lnTo>
                <a:lnTo>
                  <a:pt x="30400" y="21322"/>
                </a:lnTo>
                <a:lnTo>
                  <a:pt x="23138" y="21192"/>
                </a:lnTo>
                <a:lnTo>
                  <a:pt x="16023" y="21218"/>
                </a:lnTo>
                <a:lnTo>
                  <a:pt x="13872" y="21117"/>
                </a:lnTo>
                <a:lnTo>
                  <a:pt x="12329" y="21200"/>
                </a:lnTo>
                <a:lnTo>
                  <a:pt x="10920" y="21282"/>
                </a:lnTo>
                <a:lnTo>
                  <a:pt x="9682" y="21121"/>
                </a:lnTo>
                <a:lnTo>
                  <a:pt x="8640" y="21090"/>
                </a:lnTo>
                <a:lnTo>
                  <a:pt x="7845" y="21085"/>
                </a:lnTo>
                <a:lnTo>
                  <a:pt x="6991" y="20865"/>
                </a:lnTo>
                <a:lnTo>
                  <a:pt x="6309" y="20867"/>
                </a:lnTo>
                <a:lnTo>
                  <a:pt x="5765" y="20583"/>
                </a:lnTo>
                <a:lnTo>
                  <a:pt x="5084" y="20427"/>
                </a:lnTo>
                <a:lnTo>
                  <a:pt x="4561" y="20402"/>
                </a:lnTo>
                <a:lnTo>
                  <a:pt x="4122" y="20237"/>
                </a:lnTo>
                <a:lnTo>
                  <a:pt x="3480" y="19981"/>
                </a:lnTo>
                <a:lnTo>
                  <a:pt x="3146" y="19847"/>
                </a:lnTo>
                <a:lnTo>
                  <a:pt x="2814" y="19697"/>
                </a:lnTo>
                <a:lnTo>
                  <a:pt x="2284" y="19428"/>
                </a:lnTo>
                <a:lnTo>
                  <a:pt x="2059" y="19250"/>
                </a:lnTo>
                <a:lnTo>
                  <a:pt x="1612" y="18894"/>
                </a:lnTo>
                <a:lnTo>
                  <a:pt x="1397" y="18730"/>
                </a:lnTo>
                <a:lnTo>
                  <a:pt x="1121" y="18493"/>
                </a:lnTo>
                <a:lnTo>
                  <a:pt x="909" y="18021"/>
                </a:lnTo>
                <a:lnTo>
                  <a:pt x="646" y="17620"/>
                </a:lnTo>
                <a:lnTo>
                  <a:pt x="660" y="17389"/>
                </a:lnTo>
                <a:lnTo>
                  <a:pt x="556" y="16941"/>
                </a:lnTo>
                <a:lnTo>
                  <a:pt x="308" y="16327"/>
                </a:lnTo>
                <a:lnTo>
                  <a:pt x="151" y="15611"/>
                </a:lnTo>
                <a:lnTo>
                  <a:pt x="174" y="14892"/>
                </a:lnTo>
                <a:lnTo>
                  <a:pt x="0" y="14007"/>
                </a:lnTo>
                <a:lnTo>
                  <a:pt x="217" y="10743"/>
                </a:lnTo>
                <a:lnTo>
                  <a:pt x="251" y="7325"/>
                </a:lnTo>
                <a:lnTo>
                  <a:pt x="190" y="6359"/>
                </a:lnTo>
                <a:lnTo>
                  <a:pt x="262" y="5755"/>
                </a:lnTo>
                <a:lnTo>
                  <a:pt x="423" y="4938"/>
                </a:lnTo>
                <a:lnTo>
                  <a:pt x="456" y="4526"/>
                </a:lnTo>
                <a:lnTo>
                  <a:pt x="558" y="4045"/>
                </a:lnTo>
                <a:lnTo>
                  <a:pt x="632" y="3662"/>
                </a:lnTo>
                <a:lnTo>
                  <a:pt x="1044" y="3285"/>
                </a:lnTo>
                <a:lnTo>
                  <a:pt x="1205" y="2867"/>
                </a:lnTo>
                <a:lnTo>
                  <a:pt x="1398" y="2702"/>
                </a:lnTo>
                <a:lnTo>
                  <a:pt x="1776" y="2312"/>
                </a:lnTo>
                <a:lnTo>
                  <a:pt x="2108" y="2043"/>
                </a:lnTo>
                <a:lnTo>
                  <a:pt x="2220" y="1981"/>
                </a:lnTo>
                <a:lnTo>
                  <a:pt x="2767" y="1784"/>
                </a:lnTo>
                <a:lnTo>
                  <a:pt x="3100" y="1557"/>
                </a:lnTo>
                <a:lnTo>
                  <a:pt x="3498" y="1322"/>
                </a:lnTo>
                <a:lnTo>
                  <a:pt x="3939" y="995"/>
                </a:lnTo>
                <a:lnTo>
                  <a:pt x="4423" y="908"/>
                </a:lnTo>
                <a:lnTo>
                  <a:pt x="5017" y="745"/>
                </a:lnTo>
                <a:lnTo>
                  <a:pt x="5582" y="796"/>
                </a:lnTo>
                <a:lnTo>
                  <a:pt x="6337" y="665"/>
                </a:lnTo>
                <a:lnTo>
                  <a:pt x="7085" y="588"/>
                </a:lnTo>
                <a:lnTo>
                  <a:pt x="7756" y="406"/>
                </a:lnTo>
                <a:lnTo>
                  <a:pt x="8825" y="188"/>
                </a:lnTo>
                <a:lnTo>
                  <a:pt x="9638" y="182"/>
                </a:lnTo>
                <a:lnTo>
                  <a:pt x="10847" y="75"/>
                </a:lnTo>
                <a:lnTo>
                  <a:pt x="12119" y="137"/>
                </a:lnTo>
                <a:lnTo>
                  <a:pt x="13819" y="60"/>
                </a:lnTo>
                <a:lnTo>
                  <a:pt x="15970" y="30"/>
                </a:lnTo>
                <a:lnTo>
                  <a:pt x="23078" y="0"/>
                </a:lnTo>
                <a:lnTo>
                  <a:pt x="30207" y="67"/>
                </a:lnTo>
                <a:lnTo>
                  <a:pt x="32588" y="127"/>
                </a:lnTo>
                <a:lnTo>
                  <a:pt x="34130" y="126"/>
                </a:lnTo>
                <a:lnTo>
                  <a:pt x="35494" y="170"/>
                </a:lnTo>
                <a:lnTo>
                  <a:pt x="36605" y="157"/>
                </a:lnTo>
                <a:lnTo>
                  <a:pt x="37654" y="236"/>
                </a:lnTo>
                <a:lnTo>
                  <a:pt x="38623" y="329"/>
                </a:lnTo>
                <a:lnTo>
                  <a:pt x="39278" y="364"/>
                </a:lnTo>
                <a:lnTo>
                  <a:pt x="40075" y="686"/>
                </a:lnTo>
                <a:lnTo>
                  <a:pt x="40753" y="724"/>
                </a:lnTo>
                <a:lnTo>
                  <a:pt x="41167" y="738"/>
                </a:lnTo>
                <a:lnTo>
                  <a:pt x="41738" y="880"/>
                </a:lnTo>
                <a:lnTo>
                  <a:pt x="42308" y="1180"/>
                </a:lnTo>
                <a:lnTo>
                  <a:pt x="42815" y="1186"/>
                </a:lnTo>
                <a:lnTo>
                  <a:pt x="43281" y="1427"/>
                </a:lnTo>
                <a:lnTo>
                  <a:pt x="43691" y="1631"/>
                </a:lnTo>
                <a:lnTo>
                  <a:pt x="44024" y="1777"/>
                </a:lnTo>
                <a:lnTo>
                  <a:pt x="44267" y="2153"/>
                </a:lnTo>
                <a:lnTo>
                  <a:pt x="44625" y="2281"/>
                </a:lnTo>
                <a:lnTo>
                  <a:pt x="45043" y="2718"/>
                </a:lnTo>
                <a:lnTo>
                  <a:pt x="45304" y="2902"/>
                </a:lnTo>
                <a:lnTo>
                  <a:pt x="45418" y="3412"/>
                </a:lnTo>
                <a:lnTo>
                  <a:pt x="45666" y="3761"/>
                </a:lnTo>
                <a:lnTo>
                  <a:pt x="45854" y="3963"/>
                </a:lnTo>
                <a:lnTo>
                  <a:pt x="45885" y="4487"/>
                </a:lnTo>
                <a:lnTo>
                  <a:pt x="46024" y="5123"/>
                </a:lnTo>
                <a:lnTo>
                  <a:pt x="46132" y="5579"/>
                </a:lnTo>
                <a:lnTo>
                  <a:pt x="46190" y="6500"/>
                </a:lnTo>
                <a:lnTo>
                  <a:pt x="46328" y="7466"/>
                </a:lnTo>
                <a:lnTo>
                  <a:pt x="46379" y="10699"/>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9758477" y="3915369"/>
            <a:ext cx="4230289" cy="1951512"/>
          </a:xfrm>
          <a:custGeom>
            <a:avLst/>
            <a:gdLst/>
            <a:ahLst/>
            <a:cxnLst/>
            <a:rect l="l" t="t" r="r" b="b"/>
            <a:pathLst>
              <a:path w="46263" h="21342">
                <a:moveTo>
                  <a:pt x="46130" y="10581"/>
                </a:moveTo>
                <a:lnTo>
                  <a:pt x="46186" y="13830"/>
                </a:lnTo>
                <a:lnTo>
                  <a:pt x="46179" y="14944"/>
                </a:lnTo>
                <a:lnTo>
                  <a:pt x="46171" y="15611"/>
                </a:lnTo>
                <a:lnTo>
                  <a:pt x="45838" y="16442"/>
                </a:lnTo>
                <a:lnTo>
                  <a:pt x="45929" y="16750"/>
                </a:lnTo>
                <a:lnTo>
                  <a:pt x="45797" y="17301"/>
                </a:lnTo>
                <a:lnTo>
                  <a:pt x="45473" y="17745"/>
                </a:lnTo>
                <a:lnTo>
                  <a:pt x="45213" y="18122"/>
                </a:lnTo>
                <a:lnTo>
                  <a:pt x="44990" y="18439"/>
                </a:lnTo>
                <a:lnTo>
                  <a:pt x="44778" y="18753"/>
                </a:lnTo>
                <a:lnTo>
                  <a:pt x="44560" y="18866"/>
                </a:lnTo>
                <a:lnTo>
                  <a:pt x="44307" y="19208"/>
                </a:lnTo>
                <a:lnTo>
                  <a:pt x="43836" y="19476"/>
                </a:lnTo>
                <a:lnTo>
                  <a:pt x="43671" y="19608"/>
                </a:lnTo>
                <a:lnTo>
                  <a:pt x="43277" y="19848"/>
                </a:lnTo>
                <a:lnTo>
                  <a:pt x="42769" y="20188"/>
                </a:lnTo>
                <a:lnTo>
                  <a:pt x="42181" y="20309"/>
                </a:lnTo>
                <a:lnTo>
                  <a:pt x="41767" y="20353"/>
                </a:lnTo>
                <a:lnTo>
                  <a:pt x="41292" y="20607"/>
                </a:lnTo>
                <a:lnTo>
                  <a:pt x="40540" y="20712"/>
                </a:lnTo>
                <a:lnTo>
                  <a:pt x="39806" y="20690"/>
                </a:lnTo>
                <a:lnTo>
                  <a:pt x="39208" y="20839"/>
                </a:lnTo>
                <a:lnTo>
                  <a:pt x="38445" y="21020"/>
                </a:lnTo>
                <a:lnTo>
                  <a:pt x="37612" y="21003"/>
                </a:lnTo>
                <a:lnTo>
                  <a:pt x="36621" y="21172"/>
                </a:lnTo>
                <a:lnTo>
                  <a:pt x="35444" y="21202"/>
                </a:lnTo>
                <a:lnTo>
                  <a:pt x="34010" y="21210"/>
                </a:lnTo>
                <a:lnTo>
                  <a:pt x="32395" y="21342"/>
                </a:lnTo>
                <a:lnTo>
                  <a:pt x="30183" y="21160"/>
                </a:lnTo>
                <a:lnTo>
                  <a:pt x="23178" y="21336"/>
                </a:lnTo>
                <a:lnTo>
                  <a:pt x="16043" y="21247"/>
                </a:lnTo>
                <a:lnTo>
                  <a:pt x="13835" y="21283"/>
                </a:lnTo>
                <a:lnTo>
                  <a:pt x="12208" y="21280"/>
                </a:lnTo>
                <a:lnTo>
                  <a:pt x="10643" y="21260"/>
                </a:lnTo>
                <a:lnTo>
                  <a:pt x="9557" y="21202"/>
                </a:lnTo>
                <a:lnTo>
                  <a:pt x="8758" y="21100"/>
                </a:lnTo>
                <a:lnTo>
                  <a:pt x="7647" y="20870"/>
                </a:lnTo>
                <a:lnTo>
                  <a:pt x="6978" y="20999"/>
                </a:lnTo>
                <a:lnTo>
                  <a:pt x="6228" y="20665"/>
                </a:lnTo>
                <a:lnTo>
                  <a:pt x="5612" y="20759"/>
                </a:lnTo>
                <a:lnTo>
                  <a:pt x="5030" y="20481"/>
                </a:lnTo>
                <a:lnTo>
                  <a:pt x="4481" y="20432"/>
                </a:lnTo>
                <a:lnTo>
                  <a:pt x="3990" y="20337"/>
                </a:lnTo>
                <a:lnTo>
                  <a:pt x="3308" y="19984"/>
                </a:lnTo>
                <a:lnTo>
                  <a:pt x="3101" y="19915"/>
                </a:lnTo>
                <a:lnTo>
                  <a:pt x="2662" y="19722"/>
                </a:lnTo>
                <a:lnTo>
                  <a:pt x="2300" y="19589"/>
                </a:lnTo>
                <a:lnTo>
                  <a:pt x="1955" y="19144"/>
                </a:lnTo>
                <a:lnTo>
                  <a:pt x="1440" y="18924"/>
                </a:lnTo>
                <a:lnTo>
                  <a:pt x="1269" y="18601"/>
                </a:lnTo>
                <a:lnTo>
                  <a:pt x="982" y="18360"/>
                </a:lnTo>
                <a:lnTo>
                  <a:pt x="729" y="18057"/>
                </a:lnTo>
                <a:lnTo>
                  <a:pt x="501" y="17793"/>
                </a:lnTo>
                <a:lnTo>
                  <a:pt x="466" y="17287"/>
                </a:lnTo>
                <a:lnTo>
                  <a:pt x="359" y="16957"/>
                </a:lnTo>
                <a:lnTo>
                  <a:pt x="264" y="16272"/>
                </a:lnTo>
                <a:lnTo>
                  <a:pt x="114" y="15717"/>
                </a:lnTo>
                <a:lnTo>
                  <a:pt x="125" y="15057"/>
                </a:lnTo>
                <a:lnTo>
                  <a:pt x="0" y="13959"/>
                </a:lnTo>
                <a:lnTo>
                  <a:pt x="38" y="10750"/>
                </a:lnTo>
                <a:lnTo>
                  <a:pt x="67" y="7421"/>
                </a:lnTo>
                <a:lnTo>
                  <a:pt x="94" y="6309"/>
                </a:lnTo>
                <a:lnTo>
                  <a:pt x="69" y="5648"/>
                </a:lnTo>
                <a:lnTo>
                  <a:pt x="283" y="4991"/>
                </a:lnTo>
                <a:lnTo>
                  <a:pt x="302" y="4568"/>
                </a:lnTo>
                <a:lnTo>
                  <a:pt x="377" y="4063"/>
                </a:lnTo>
                <a:lnTo>
                  <a:pt x="534" y="3706"/>
                </a:lnTo>
                <a:lnTo>
                  <a:pt x="836" y="3205"/>
                </a:lnTo>
                <a:lnTo>
                  <a:pt x="955" y="2933"/>
                </a:lnTo>
                <a:lnTo>
                  <a:pt x="1409" y="2706"/>
                </a:lnTo>
                <a:lnTo>
                  <a:pt x="1595" y="2476"/>
                </a:lnTo>
                <a:lnTo>
                  <a:pt x="1966" y="2018"/>
                </a:lnTo>
                <a:lnTo>
                  <a:pt x="2223" y="1903"/>
                </a:lnTo>
                <a:lnTo>
                  <a:pt x="2636" y="1566"/>
                </a:lnTo>
                <a:lnTo>
                  <a:pt x="2889" y="1434"/>
                </a:lnTo>
                <a:lnTo>
                  <a:pt x="3482" y="1303"/>
                </a:lnTo>
                <a:lnTo>
                  <a:pt x="3952" y="1117"/>
                </a:lnTo>
                <a:lnTo>
                  <a:pt x="4520" y="945"/>
                </a:lnTo>
                <a:lnTo>
                  <a:pt x="5110" y="845"/>
                </a:lnTo>
                <a:lnTo>
                  <a:pt x="5524" y="584"/>
                </a:lnTo>
                <a:lnTo>
                  <a:pt x="6134" y="575"/>
                </a:lnTo>
                <a:lnTo>
                  <a:pt x="7059" y="405"/>
                </a:lnTo>
                <a:lnTo>
                  <a:pt x="7887" y="322"/>
                </a:lnTo>
                <a:lnTo>
                  <a:pt x="8621" y="390"/>
                </a:lnTo>
                <a:lnTo>
                  <a:pt x="9530" y="302"/>
                </a:lnTo>
                <a:lnTo>
                  <a:pt x="10726" y="153"/>
                </a:lnTo>
                <a:lnTo>
                  <a:pt x="12069" y="202"/>
                </a:lnTo>
                <a:lnTo>
                  <a:pt x="13766" y="228"/>
                </a:lnTo>
                <a:lnTo>
                  <a:pt x="16038" y="95"/>
                </a:lnTo>
                <a:lnTo>
                  <a:pt x="23092" y="40"/>
                </a:lnTo>
                <a:lnTo>
                  <a:pt x="30113" y="0"/>
                </a:lnTo>
                <a:lnTo>
                  <a:pt x="32495" y="67"/>
                </a:lnTo>
                <a:lnTo>
                  <a:pt x="34147" y="165"/>
                </a:lnTo>
                <a:lnTo>
                  <a:pt x="35270" y="223"/>
                </a:lnTo>
                <a:lnTo>
                  <a:pt x="36629" y="282"/>
                </a:lnTo>
                <a:lnTo>
                  <a:pt x="37589" y="277"/>
                </a:lnTo>
                <a:lnTo>
                  <a:pt x="38496" y="435"/>
                </a:lnTo>
                <a:lnTo>
                  <a:pt x="39239" y="455"/>
                </a:lnTo>
                <a:lnTo>
                  <a:pt x="39991" y="627"/>
                </a:lnTo>
                <a:lnTo>
                  <a:pt x="40445" y="776"/>
                </a:lnTo>
                <a:lnTo>
                  <a:pt x="41118" y="751"/>
                </a:lnTo>
                <a:lnTo>
                  <a:pt x="41833" y="972"/>
                </a:lnTo>
                <a:lnTo>
                  <a:pt x="42360" y="1085"/>
                </a:lnTo>
                <a:lnTo>
                  <a:pt x="42785" y="1212"/>
                </a:lnTo>
                <a:lnTo>
                  <a:pt x="43274" y="1575"/>
                </a:lnTo>
                <a:lnTo>
                  <a:pt x="43530" y="1605"/>
                </a:lnTo>
                <a:lnTo>
                  <a:pt x="44043" y="1991"/>
                </a:lnTo>
                <a:lnTo>
                  <a:pt x="44317" y="2009"/>
                </a:lnTo>
                <a:lnTo>
                  <a:pt x="44517" y="2361"/>
                </a:lnTo>
                <a:lnTo>
                  <a:pt x="44943" y="2607"/>
                </a:lnTo>
                <a:lnTo>
                  <a:pt x="45084" y="2983"/>
                </a:lnTo>
                <a:lnTo>
                  <a:pt x="45457" y="3314"/>
                </a:lnTo>
                <a:lnTo>
                  <a:pt x="45448" y="3733"/>
                </a:lnTo>
                <a:lnTo>
                  <a:pt x="45786" y="4116"/>
                </a:lnTo>
                <a:lnTo>
                  <a:pt x="45903" y="4500"/>
                </a:lnTo>
                <a:lnTo>
                  <a:pt x="45996" y="4917"/>
                </a:lnTo>
                <a:lnTo>
                  <a:pt x="46110" y="5690"/>
                </a:lnTo>
                <a:lnTo>
                  <a:pt x="46146" y="6477"/>
                </a:lnTo>
                <a:lnTo>
                  <a:pt x="46032" y="7429"/>
                </a:lnTo>
                <a:lnTo>
                  <a:pt x="46263" y="10618"/>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3904366" y="5408219"/>
            <a:ext cx="56418" cy="158923"/>
          </a:xfrm>
          <a:custGeom>
            <a:avLst/>
            <a:gdLst/>
            <a:ahLst/>
            <a:cxnLst/>
            <a:rect l="l" t="t" r="r" b="b"/>
            <a:pathLst>
              <a:path w="617" h="1738">
                <a:moveTo>
                  <a:pt x="617" y="0"/>
                </a:moveTo>
                <a:lnTo>
                  <a:pt x="502" y="516"/>
                </a:lnTo>
                <a:lnTo>
                  <a:pt x="361" y="969"/>
                </a:lnTo>
                <a:lnTo>
                  <a:pt x="194" y="1373"/>
                </a:lnTo>
                <a:lnTo>
                  <a:pt x="0" y="1738"/>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13268858" y="5793730"/>
            <a:ext cx="255118" cy="39502"/>
          </a:xfrm>
          <a:custGeom>
            <a:avLst/>
            <a:gdLst/>
            <a:ahLst/>
            <a:cxnLst/>
            <a:rect l="l" t="t" r="r" b="b"/>
            <a:pathLst>
              <a:path w="2790" h="432">
                <a:moveTo>
                  <a:pt x="2790" y="0"/>
                </a:moveTo>
                <a:lnTo>
                  <a:pt x="2181" y="127"/>
                </a:lnTo>
                <a:lnTo>
                  <a:pt x="1519" y="242"/>
                </a:lnTo>
                <a:lnTo>
                  <a:pt x="795" y="343"/>
                </a:lnTo>
                <a:lnTo>
                  <a:pt x="0" y="43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10396271" y="5825094"/>
            <a:ext cx="346649" cy="25878"/>
          </a:xfrm>
          <a:custGeom>
            <a:avLst/>
            <a:gdLst/>
            <a:ahLst/>
            <a:cxnLst/>
            <a:rect l="l" t="t" r="r" b="b"/>
            <a:pathLst>
              <a:path w="3791" h="283">
                <a:moveTo>
                  <a:pt x="3791" y="283"/>
                </a:moveTo>
                <a:lnTo>
                  <a:pt x="2664" y="230"/>
                </a:lnTo>
                <a:lnTo>
                  <a:pt x="1676" y="166"/>
                </a:lnTo>
                <a:lnTo>
                  <a:pt x="795" y="89"/>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9815718" y="5533766"/>
            <a:ext cx="86136" cy="116952"/>
          </a:xfrm>
          <a:custGeom>
            <a:avLst/>
            <a:gdLst/>
            <a:ahLst/>
            <a:cxnLst/>
            <a:rect l="l" t="t" r="r" b="b"/>
            <a:pathLst>
              <a:path w="942" h="1279">
                <a:moveTo>
                  <a:pt x="942" y="1279"/>
                </a:moveTo>
                <a:lnTo>
                  <a:pt x="664" y="1000"/>
                </a:lnTo>
                <a:lnTo>
                  <a:pt x="415" y="696"/>
                </a:lnTo>
                <a:lnTo>
                  <a:pt x="194" y="365"/>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9777039" y="4216938"/>
            <a:ext cx="56418" cy="158923"/>
          </a:xfrm>
          <a:custGeom>
            <a:avLst/>
            <a:gdLst/>
            <a:ahLst/>
            <a:cxnLst/>
            <a:rect l="l" t="t" r="r" b="b"/>
            <a:pathLst>
              <a:path w="617" h="1738">
                <a:moveTo>
                  <a:pt x="0" y="1738"/>
                </a:moveTo>
                <a:lnTo>
                  <a:pt x="115" y="1222"/>
                </a:lnTo>
                <a:lnTo>
                  <a:pt x="256" y="769"/>
                </a:lnTo>
                <a:lnTo>
                  <a:pt x="423" y="365"/>
                </a:lnTo>
                <a:lnTo>
                  <a:pt x="617"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10213848" y="3950848"/>
            <a:ext cx="255118" cy="39502"/>
          </a:xfrm>
          <a:custGeom>
            <a:avLst/>
            <a:gdLst/>
            <a:ahLst/>
            <a:cxnLst/>
            <a:rect l="l" t="t" r="r" b="b"/>
            <a:pathLst>
              <a:path w="2790" h="432">
                <a:moveTo>
                  <a:pt x="0" y="432"/>
                </a:moveTo>
                <a:lnTo>
                  <a:pt x="609" y="305"/>
                </a:lnTo>
                <a:lnTo>
                  <a:pt x="1271" y="190"/>
                </a:lnTo>
                <a:lnTo>
                  <a:pt x="1995" y="89"/>
                </a:lnTo>
                <a:lnTo>
                  <a:pt x="279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12994904" y="3933109"/>
            <a:ext cx="346649" cy="25878"/>
          </a:xfrm>
          <a:custGeom>
            <a:avLst/>
            <a:gdLst/>
            <a:ahLst/>
            <a:cxnLst/>
            <a:rect l="l" t="t" r="r" b="b"/>
            <a:pathLst>
              <a:path w="3791" h="283">
                <a:moveTo>
                  <a:pt x="0" y="0"/>
                </a:moveTo>
                <a:lnTo>
                  <a:pt x="1127" y="53"/>
                </a:lnTo>
                <a:lnTo>
                  <a:pt x="2115" y="117"/>
                </a:lnTo>
                <a:lnTo>
                  <a:pt x="2996" y="194"/>
                </a:lnTo>
                <a:lnTo>
                  <a:pt x="3791" y="283"/>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13835969" y="4133362"/>
            <a:ext cx="86136" cy="116952"/>
          </a:xfrm>
          <a:custGeom>
            <a:avLst/>
            <a:gdLst/>
            <a:ahLst/>
            <a:cxnLst/>
            <a:rect l="l" t="t" r="r" b="b"/>
            <a:pathLst>
              <a:path w="942" h="1279">
                <a:moveTo>
                  <a:pt x="0" y="0"/>
                </a:moveTo>
                <a:lnTo>
                  <a:pt x="278" y="279"/>
                </a:lnTo>
                <a:lnTo>
                  <a:pt x="527" y="583"/>
                </a:lnTo>
                <a:lnTo>
                  <a:pt x="748" y="914"/>
                </a:lnTo>
                <a:lnTo>
                  <a:pt x="942" y="127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ody: 6"/>
          <p:cNvSpPr txBox="1"/>
          <p:nvPr/>
        </p:nvSpPr>
        <p:spPr>
          <a:xfrm>
            <a:off x="9912096" y="4099115"/>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4E7892"/>
                </a:solidFill>
                <a:latin typeface="Trebuchet MS"/>
              </a:rPr>
              <a:t>6</a:t>
            </a:r>
          </a:p>
        </p:txBody>
      </p:sp>
      <p:sp>
        <p:nvSpPr>
          <p:cNvPr id="94" name="body: Grounded changes"/>
          <p:cNvSpPr txBox="1"/>
          <p:nvPr/>
        </p:nvSpPr>
        <p:spPr>
          <a:xfrm>
            <a:off x="10433304" y="4048760"/>
            <a:ext cx="3136391"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4E7892"/>
                </a:solidFill>
                <a:latin typeface="Chalkboard SE"/>
              </a:rPr>
              <a:t>Grounded changes</a:t>
            </a:r>
          </a:p>
        </p:txBody>
      </p:sp>
      <p:sp>
        <p:nvSpPr>
          <p:cNvPr id="95" name="body: Clauses from a reviewed catalog; thresholds from benign data."/>
          <p:cNvSpPr txBox="1"/>
          <p:nvPr/>
        </p:nvSpPr>
        <p:spPr>
          <a:xfrm>
            <a:off x="10003536" y="4850892"/>
            <a:ext cx="3730752" cy="649224"/>
          </a:xfrm>
          <a:prstGeom prst="rect">
            <a:avLst/>
          </a:prstGeom>
          <a:noFill/>
        </p:spPr>
        <p:txBody>
          <a:bodyPr wrap="none" lIns="0" rIns="0" tIns="0" bIns="0" anchor="t">
            <a:noAutofit/>
          </a:bodyPr>
          <a:lstStyle/>
          <a:p>
            <a:pPr algn="ctr">
              <a:lnSpc>
                <a:spcPts val="2286"/>
              </a:lnSpc>
              <a:spcBef>
                <a:spcPts val="0"/>
              </a:spcBef>
              <a:spcAft>
                <a:spcPts val="0"/>
              </a:spcAft>
            </a:pPr>
            <a:r>
              <a:rPr sz="1800" b="0">
                <a:solidFill>
                  <a:srgbClr val="293E46"/>
                </a:solidFill>
                <a:latin typeface="Trebuchet MS"/>
              </a:rPr>
              <a:t>Clauses from a reviewed catalog;</a:t>
            </a:r>
            <a:br/>
            <a:r>
              <a:rPr sz="1800" b="0">
                <a:solidFill>
                  <a:srgbClr val="293E46"/>
                </a:solidFill>
                <a:latin typeface="Trebuchet MS"/>
              </a:rPr>
              <a:t>thresholds from benign data.</a:t>
            </a:r>
          </a:p>
        </p:txBody>
      </p:sp>
      <p:sp>
        <p:nvSpPr>
          <p:cNvPr id="96" name="Rounded Rectangle 95"/>
          <p:cNvSpPr/>
          <p:nvPr/>
        </p:nvSpPr>
        <p:spPr>
          <a:xfrm>
            <a:off x="640080" y="6300216"/>
            <a:ext cx="13350240" cy="1124712"/>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Freeform 96"/>
          <p:cNvSpPr/>
          <p:nvPr/>
        </p:nvSpPr>
        <p:spPr>
          <a:xfrm>
            <a:off x="650321" y="6308994"/>
            <a:ext cx="13336067" cy="1111270"/>
          </a:xfrm>
          <a:custGeom>
            <a:avLst/>
            <a:gdLst/>
            <a:ahLst/>
            <a:cxnLst/>
            <a:rect l="l" t="t" r="r" b="b"/>
            <a:pathLst>
              <a:path w="145845" h="12153">
                <a:moveTo>
                  <a:pt x="145845" y="5943"/>
                </a:moveTo>
                <a:lnTo>
                  <a:pt x="145774" y="7964"/>
                </a:lnTo>
                <a:lnTo>
                  <a:pt x="145697" y="8578"/>
                </a:lnTo>
                <a:lnTo>
                  <a:pt x="145298" y="8968"/>
                </a:lnTo>
                <a:lnTo>
                  <a:pt x="145120" y="9324"/>
                </a:lnTo>
                <a:lnTo>
                  <a:pt x="144720" y="9587"/>
                </a:lnTo>
                <a:lnTo>
                  <a:pt x="144360" y="9752"/>
                </a:lnTo>
                <a:lnTo>
                  <a:pt x="143910" y="10043"/>
                </a:lnTo>
                <a:lnTo>
                  <a:pt x="143203" y="10276"/>
                </a:lnTo>
                <a:lnTo>
                  <a:pt x="142419" y="10336"/>
                </a:lnTo>
                <a:lnTo>
                  <a:pt x="141719" y="10621"/>
                </a:lnTo>
                <a:lnTo>
                  <a:pt x="140940" y="10688"/>
                </a:lnTo>
                <a:lnTo>
                  <a:pt x="139753" y="10882"/>
                </a:lnTo>
                <a:lnTo>
                  <a:pt x="138702" y="11174"/>
                </a:lnTo>
                <a:lnTo>
                  <a:pt x="137566" y="11207"/>
                </a:lnTo>
                <a:lnTo>
                  <a:pt x="136390" y="11204"/>
                </a:lnTo>
                <a:lnTo>
                  <a:pt x="134863" y="11306"/>
                </a:lnTo>
                <a:lnTo>
                  <a:pt x="133341" y="11588"/>
                </a:lnTo>
                <a:lnTo>
                  <a:pt x="131741" y="11482"/>
                </a:lnTo>
                <a:lnTo>
                  <a:pt x="130026" y="11609"/>
                </a:lnTo>
                <a:lnTo>
                  <a:pt x="128173" y="11782"/>
                </a:lnTo>
                <a:lnTo>
                  <a:pt x="126088" y="11910"/>
                </a:lnTo>
                <a:lnTo>
                  <a:pt x="123631" y="11780"/>
                </a:lnTo>
                <a:lnTo>
                  <a:pt x="121253" y="11861"/>
                </a:lnTo>
                <a:lnTo>
                  <a:pt x="118576" y="12079"/>
                </a:lnTo>
                <a:lnTo>
                  <a:pt x="115400" y="12025"/>
                </a:lnTo>
                <a:lnTo>
                  <a:pt x="111880" y="12025"/>
                </a:lnTo>
                <a:lnTo>
                  <a:pt x="107672" y="12023"/>
                </a:lnTo>
                <a:lnTo>
                  <a:pt x="102370" y="12097"/>
                </a:lnTo>
                <a:lnTo>
                  <a:pt x="95307" y="12123"/>
                </a:lnTo>
                <a:lnTo>
                  <a:pt x="72780" y="12055"/>
                </a:lnTo>
                <a:lnTo>
                  <a:pt x="50497" y="12153"/>
                </a:lnTo>
                <a:lnTo>
                  <a:pt x="43253" y="11959"/>
                </a:lnTo>
                <a:lnTo>
                  <a:pt x="38200" y="11947"/>
                </a:lnTo>
                <a:lnTo>
                  <a:pt x="34017" y="12071"/>
                </a:lnTo>
                <a:lnTo>
                  <a:pt x="30512" y="12085"/>
                </a:lnTo>
                <a:lnTo>
                  <a:pt x="27449" y="12044"/>
                </a:lnTo>
                <a:lnTo>
                  <a:pt x="24621" y="11828"/>
                </a:lnTo>
                <a:lnTo>
                  <a:pt x="21936" y="11843"/>
                </a:lnTo>
                <a:lnTo>
                  <a:pt x="19680" y="11902"/>
                </a:lnTo>
                <a:lnTo>
                  <a:pt x="17742" y="11675"/>
                </a:lnTo>
                <a:lnTo>
                  <a:pt x="15734" y="11755"/>
                </a:lnTo>
                <a:lnTo>
                  <a:pt x="14034" y="11616"/>
                </a:lnTo>
                <a:lnTo>
                  <a:pt x="12429" y="11534"/>
                </a:lnTo>
                <a:lnTo>
                  <a:pt x="10772" y="11363"/>
                </a:lnTo>
                <a:lnTo>
                  <a:pt x="9381" y="11296"/>
                </a:lnTo>
                <a:lnTo>
                  <a:pt x="8243" y="11182"/>
                </a:lnTo>
                <a:lnTo>
                  <a:pt x="6963" y="11139"/>
                </a:lnTo>
                <a:lnTo>
                  <a:pt x="5833" y="10823"/>
                </a:lnTo>
                <a:lnTo>
                  <a:pt x="5084" y="10846"/>
                </a:lnTo>
                <a:lnTo>
                  <a:pt x="4210" y="10527"/>
                </a:lnTo>
                <a:lnTo>
                  <a:pt x="3262" y="10540"/>
                </a:lnTo>
                <a:lnTo>
                  <a:pt x="2577" y="10271"/>
                </a:lnTo>
                <a:lnTo>
                  <a:pt x="2027" y="10056"/>
                </a:lnTo>
                <a:lnTo>
                  <a:pt x="1349" y="9781"/>
                </a:lnTo>
                <a:lnTo>
                  <a:pt x="917" y="9672"/>
                </a:lnTo>
                <a:lnTo>
                  <a:pt x="773" y="9330"/>
                </a:lnTo>
                <a:lnTo>
                  <a:pt x="473" y="8928"/>
                </a:lnTo>
                <a:lnTo>
                  <a:pt x="256" y="8547"/>
                </a:lnTo>
                <a:lnTo>
                  <a:pt x="17" y="7883"/>
                </a:lnTo>
                <a:lnTo>
                  <a:pt x="0" y="5946"/>
                </a:lnTo>
                <a:lnTo>
                  <a:pt x="50" y="4264"/>
                </a:lnTo>
                <a:lnTo>
                  <a:pt x="229" y="3608"/>
                </a:lnTo>
                <a:lnTo>
                  <a:pt x="393" y="3296"/>
                </a:lnTo>
                <a:lnTo>
                  <a:pt x="714" y="2901"/>
                </a:lnTo>
                <a:lnTo>
                  <a:pt x="886" y="2525"/>
                </a:lnTo>
                <a:lnTo>
                  <a:pt x="1386" y="2226"/>
                </a:lnTo>
                <a:lnTo>
                  <a:pt x="1987" y="2170"/>
                </a:lnTo>
                <a:lnTo>
                  <a:pt x="2672" y="1799"/>
                </a:lnTo>
                <a:lnTo>
                  <a:pt x="3184" y="1577"/>
                </a:lnTo>
                <a:lnTo>
                  <a:pt x="4190" y="1475"/>
                </a:lnTo>
                <a:lnTo>
                  <a:pt x="4920" y="1279"/>
                </a:lnTo>
                <a:lnTo>
                  <a:pt x="5953" y="1284"/>
                </a:lnTo>
                <a:lnTo>
                  <a:pt x="7099" y="981"/>
                </a:lnTo>
                <a:lnTo>
                  <a:pt x="8060" y="837"/>
                </a:lnTo>
                <a:lnTo>
                  <a:pt x="9387" y="820"/>
                </a:lnTo>
                <a:lnTo>
                  <a:pt x="10771" y="747"/>
                </a:lnTo>
                <a:lnTo>
                  <a:pt x="12274" y="641"/>
                </a:lnTo>
                <a:lnTo>
                  <a:pt x="13936" y="590"/>
                </a:lnTo>
                <a:lnTo>
                  <a:pt x="15619" y="459"/>
                </a:lnTo>
                <a:lnTo>
                  <a:pt x="17750" y="450"/>
                </a:lnTo>
                <a:lnTo>
                  <a:pt x="19796" y="231"/>
                </a:lnTo>
                <a:lnTo>
                  <a:pt x="22125" y="239"/>
                </a:lnTo>
                <a:lnTo>
                  <a:pt x="24643" y="188"/>
                </a:lnTo>
                <a:lnTo>
                  <a:pt x="27214" y="178"/>
                </a:lnTo>
                <a:lnTo>
                  <a:pt x="30424" y="168"/>
                </a:lnTo>
                <a:lnTo>
                  <a:pt x="33944" y="119"/>
                </a:lnTo>
                <a:lnTo>
                  <a:pt x="38184" y="57"/>
                </a:lnTo>
                <a:lnTo>
                  <a:pt x="43476" y="58"/>
                </a:lnTo>
                <a:lnTo>
                  <a:pt x="50556" y="6"/>
                </a:lnTo>
                <a:lnTo>
                  <a:pt x="72848" y="48"/>
                </a:lnTo>
                <a:lnTo>
                  <a:pt x="95339" y="0"/>
                </a:lnTo>
                <a:lnTo>
                  <a:pt x="102459" y="154"/>
                </a:lnTo>
                <a:lnTo>
                  <a:pt x="107516" y="91"/>
                </a:lnTo>
                <a:lnTo>
                  <a:pt x="111849" y="152"/>
                </a:lnTo>
                <a:lnTo>
                  <a:pt x="115443" y="8"/>
                </a:lnTo>
                <a:lnTo>
                  <a:pt x="118439" y="108"/>
                </a:lnTo>
                <a:lnTo>
                  <a:pt x="121200" y="144"/>
                </a:lnTo>
                <a:lnTo>
                  <a:pt x="123638" y="225"/>
                </a:lnTo>
                <a:lnTo>
                  <a:pt x="125907" y="359"/>
                </a:lnTo>
                <a:lnTo>
                  <a:pt x="128057" y="337"/>
                </a:lnTo>
                <a:lnTo>
                  <a:pt x="130100" y="488"/>
                </a:lnTo>
                <a:lnTo>
                  <a:pt x="131734" y="562"/>
                </a:lnTo>
                <a:lnTo>
                  <a:pt x="133340" y="551"/>
                </a:lnTo>
                <a:lnTo>
                  <a:pt x="134925" y="615"/>
                </a:lnTo>
                <a:lnTo>
                  <a:pt x="136322" y="702"/>
                </a:lnTo>
                <a:lnTo>
                  <a:pt x="137485" y="880"/>
                </a:lnTo>
                <a:lnTo>
                  <a:pt x="138872" y="1101"/>
                </a:lnTo>
                <a:lnTo>
                  <a:pt x="139726" y="1188"/>
                </a:lnTo>
                <a:lnTo>
                  <a:pt x="140828" y="1379"/>
                </a:lnTo>
                <a:lnTo>
                  <a:pt x="141790" y="1417"/>
                </a:lnTo>
                <a:lnTo>
                  <a:pt x="142545" y="1679"/>
                </a:lnTo>
                <a:lnTo>
                  <a:pt x="143285" y="1913"/>
                </a:lnTo>
                <a:lnTo>
                  <a:pt x="143823" y="2059"/>
                </a:lnTo>
                <a:lnTo>
                  <a:pt x="144270" y="2336"/>
                </a:lnTo>
                <a:lnTo>
                  <a:pt x="144841" y="2642"/>
                </a:lnTo>
                <a:lnTo>
                  <a:pt x="145232" y="2930"/>
                </a:lnTo>
                <a:lnTo>
                  <a:pt x="145393" y="3290"/>
                </a:lnTo>
                <a:lnTo>
                  <a:pt x="145481" y="3582"/>
                </a:lnTo>
                <a:lnTo>
                  <a:pt x="145661" y="4085"/>
                </a:lnTo>
                <a:lnTo>
                  <a:pt x="145699" y="5971"/>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646115" y="6305337"/>
            <a:ext cx="13337164" cy="1116391"/>
          </a:xfrm>
          <a:custGeom>
            <a:avLst/>
            <a:gdLst/>
            <a:ahLst/>
            <a:cxnLst/>
            <a:rect l="l" t="t" r="r" b="b"/>
            <a:pathLst>
              <a:path w="145857" h="12209">
                <a:moveTo>
                  <a:pt x="145857" y="6186"/>
                </a:moveTo>
                <a:lnTo>
                  <a:pt x="145698" y="7924"/>
                </a:lnTo>
                <a:lnTo>
                  <a:pt x="145531" y="8477"/>
                </a:lnTo>
                <a:lnTo>
                  <a:pt x="145447" y="8983"/>
                </a:lnTo>
                <a:lnTo>
                  <a:pt x="145250" y="9216"/>
                </a:lnTo>
                <a:lnTo>
                  <a:pt x="144794" y="9620"/>
                </a:lnTo>
                <a:lnTo>
                  <a:pt x="144294" y="9934"/>
                </a:lnTo>
                <a:lnTo>
                  <a:pt x="143825" y="10171"/>
                </a:lnTo>
                <a:lnTo>
                  <a:pt x="143271" y="10385"/>
                </a:lnTo>
                <a:lnTo>
                  <a:pt x="142532" y="10583"/>
                </a:lnTo>
                <a:lnTo>
                  <a:pt x="141766" y="10727"/>
                </a:lnTo>
                <a:lnTo>
                  <a:pt x="140889" y="10883"/>
                </a:lnTo>
                <a:lnTo>
                  <a:pt x="139999" y="10954"/>
                </a:lnTo>
                <a:lnTo>
                  <a:pt x="138894" y="11151"/>
                </a:lnTo>
                <a:lnTo>
                  <a:pt x="137631" y="11311"/>
                </a:lnTo>
                <a:lnTo>
                  <a:pt x="136466" y="11290"/>
                </a:lnTo>
                <a:lnTo>
                  <a:pt x="135028" y="11392"/>
                </a:lnTo>
                <a:lnTo>
                  <a:pt x="133448" y="11659"/>
                </a:lnTo>
                <a:lnTo>
                  <a:pt x="131806" y="11676"/>
                </a:lnTo>
                <a:lnTo>
                  <a:pt x="130123" y="11814"/>
                </a:lnTo>
                <a:lnTo>
                  <a:pt x="128249" y="11686"/>
                </a:lnTo>
                <a:lnTo>
                  <a:pt x="126192" y="11756"/>
                </a:lnTo>
                <a:lnTo>
                  <a:pt x="123829" y="11962"/>
                </a:lnTo>
                <a:lnTo>
                  <a:pt x="121248" y="12000"/>
                </a:lnTo>
                <a:lnTo>
                  <a:pt x="118515" y="11979"/>
                </a:lnTo>
                <a:lnTo>
                  <a:pt x="115297" y="12071"/>
                </a:lnTo>
                <a:lnTo>
                  <a:pt x="111691" y="12178"/>
                </a:lnTo>
                <a:lnTo>
                  <a:pt x="107747" y="12062"/>
                </a:lnTo>
                <a:lnTo>
                  <a:pt x="102507" y="12175"/>
                </a:lnTo>
                <a:lnTo>
                  <a:pt x="95206" y="12115"/>
                </a:lnTo>
                <a:lnTo>
                  <a:pt x="72931" y="12191"/>
                </a:lnTo>
                <a:lnTo>
                  <a:pt x="50420" y="12119"/>
                </a:lnTo>
                <a:lnTo>
                  <a:pt x="43466" y="12082"/>
                </a:lnTo>
                <a:lnTo>
                  <a:pt x="38215" y="12209"/>
                </a:lnTo>
                <a:lnTo>
                  <a:pt x="33942" y="12143"/>
                </a:lnTo>
                <a:lnTo>
                  <a:pt x="30367" y="11983"/>
                </a:lnTo>
                <a:lnTo>
                  <a:pt x="27481" y="12110"/>
                </a:lnTo>
                <a:lnTo>
                  <a:pt x="24515" y="12034"/>
                </a:lnTo>
                <a:lnTo>
                  <a:pt x="22046" y="11829"/>
                </a:lnTo>
                <a:lnTo>
                  <a:pt x="19876" y="11742"/>
                </a:lnTo>
                <a:lnTo>
                  <a:pt x="17703" y="11840"/>
                </a:lnTo>
                <a:lnTo>
                  <a:pt x="15663" y="11792"/>
                </a:lnTo>
                <a:lnTo>
                  <a:pt x="13952" y="11592"/>
                </a:lnTo>
                <a:lnTo>
                  <a:pt x="12403" y="11475"/>
                </a:lnTo>
                <a:lnTo>
                  <a:pt x="10992" y="11408"/>
                </a:lnTo>
                <a:lnTo>
                  <a:pt x="9461" y="11451"/>
                </a:lnTo>
                <a:lnTo>
                  <a:pt x="8245" y="11298"/>
                </a:lnTo>
                <a:lnTo>
                  <a:pt x="6968" y="11119"/>
                </a:lnTo>
                <a:lnTo>
                  <a:pt x="6084" y="10905"/>
                </a:lnTo>
                <a:lnTo>
                  <a:pt x="4996" y="10827"/>
                </a:lnTo>
                <a:lnTo>
                  <a:pt x="4008" y="10777"/>
                </a:lnTo>
                <a:lnTo>
                  <a:pt x="3234" y="10493"/>
                </a:lnTo>
                <a:lnTo>
                  <a:pt x="2582" y="10339"/>
                </a:lnTo>
                <a:lnTo>
                  <a:pt x="1934" y="10090"/>
                </a:lnTo>
                <a:lnTo>
                  <a:pt x="1556" y="9801"/>
                </a:lnTo>
                <a:lnTo>
                  <a:pt x="1097" y="9658"/>
                </a:lnTo>
                <a:lnTo>
                  <a:pt x="593" y="9372"/>
                </a:lnTo>
                <a:lnTo>
                  <a:pt x="322" y="8862"/>
                </a:lnTo>
                <a:lnTo>
                  <a:pt x="101" y="8641"/>
                </a:lnTo>
                <a:lnTo>
                  <a:pt x="33" y="7970"/>
                </a:lnTo>
                <a:lnTo>
                  <a:pt x="0" y="6211"/>
                </a:lnTo>
                <a:lnTo>
                  <a:pt x="168" y="4156"/>
                </a:lnTo>
                <a:lnTo>
                  <a:pt x="104" y="3729"/>
                </a:lnTo>
                <a:lnTo>
                  <a:pt x="413" y="3190"/>
                </a:lnTo>
                <a:lnTo>
                  <a:pt x="591" y="2875"/>
                </a:lnTo>
                <a:lnTo>
                  <a:pt x="1017" y="2698"/>
                </a:lnTo>
                <a:lnTo>
                  <a:pt x="1615" y="2311"/>
                </a:lnTo>
                <a:lnTo>
                  <a:pt x="2137" y="2103"/>
                </a:lnTo>
                <a:lnTo>
                  <a:pt x="2647" y="1934"/>
                </a:lnTo>
                <a:lnTo>
                  <a:pt x="3263" y="1794"/>
                </a:lnTo>
                <a:lnTo>
                  <a:pt x="4183" y="1512"/>
                </a:lnTo>
                <a:lnTo>
                  <a:pt x="4996" y="1264"/>
                </a:lnTo>
                <a:lnTo>
                  <a:pt x="5958" y="1261"/>
                </a:lnTo>
                <a:lnTo>
                  <a:pt x="7133" y="1036"/>
                </a:lnTo>
                <a:lnTo>
                  <a:pt x="8196" y="982"/>
                </a:lnTo>
                <a:lnTo>
                  <a:pt x="9480" y="886"/>
                </a:lnTo>
                <a:lnTo>
                  <a:pt x="10795" y="847"/>
                </a:lnTo>
                <a:lnTo>
                  <a:pt x="12287" y="755"/>
                </a:lnTo>
                <a:lnTo>
                  <a:pt x="14055" y="647"/>
                </a:lnTo>
                <a:lnTo>
                  <a:pt x="15891" y="370"/>
                </a:lnTo>
                <a:lnTo>
                  <a:pt x="17760" y="428"/>
                </a:lnTo>
                <a:lnTo>
                  <a:pt x="19725" y="251"/>
                </a:lnTo>
                <a:lnTo>
                  <a:pt x="21967" y="384"/>
                </a:lnTo>
                <a:lnTo>
                  <a:pt x="24704" y="218"/>
                </a:lnTo>
                <a:lnTo>
                  <a:pt x="27391" y="92"/>
                </a:lnTo>
                <a:lnTo>
                  <a:pt x="30514" y="264"/>
                </a:lnTo>
                <a:lnTo>
                  <a:pt x="34015" y="231"/>
                </a:lnTo>
                <a:lnTo>
                  <a:pt x="38170" y="31"/>
                </a:lnTo>
                <a:lnTo>
                  <a:pt x="43527" y="79"/>
                </a:lnTo>
                <a:lnTo>
                  <a:pt x="50525" y="0"/>
                </a:lnTo>
                <a:lnTo>
                  <a:pt x="72968" y="73"/>
                </a:lnTo>
                <a:lnTo>
                  <a:pt x="95308" y="59"/>
                </a:lnTo>
                <a:lnTo>
                  <a:pt x="102475" y="164"/>
                </a:lnTo>
                <a:lnTo>
                  <a:pt x="107530" y="143"/>
                </a:lnTo>
                <a:lnTo>
                  <a:pt x="111820" y="215"/>
                </a:lnTo>
                <a:lnTo>
                  <a:pt x="115446" y="172"/>
                </a:lnTo>
                <a:lnTo>
                  <a:pt x="118595" y="215"/>
                </a:lnTo>
                <a:lnTo>
                  <a:pt x="121379" y="318"/>
                </a:lnTo>
                <a:lnTo>
                  <a:pt x="123799" y="214"/>
                </a:lnTo>
                <a:lnTo>
                  <a:pt x="126098" y="441"/>
                </a:lnTo>
                <a:lnTo>
                  <a:pt x="128201" y="322"/>
                </a:lnTo>
                <a:lnTo>
                  <a:pt x="130087" y="372"/>
                </a:lnTo>
                <a:lnTo>
                  <a:pt x="131915" y="610"/>
                </a:lnTo>
                <a:lnTo>
                  <a:pt x="133404" y="631"/>
                </a:lnTo>
                <a:lnTo>
                  <a:pt x="135081" y="784"/>
                </a:lnTo>
                <a:lnTo>
                  <a:pt x="136456" y="931"/>
                </a:lnTo>
                <a:lnTo>
                  <a:pt x="137694" y="872"/>
                </a:lnTo>
                <a:lnTo>
                  <a:pt x="138897" y="1167"/>
                </a:lnTo>
                <a:lnTo>
                  <a:pt x="139860" y="1196"/>
                </a:lnTo>
                <a:lnTo>
                  <a:pt x="140902" y="1266"/>
                </a:lnTo>
                <a:lnTo>
                  <a:pt x="141806" y="1472"/>
                </a:lnTo>
                <a:lnTo>
                  <a:pt x="142531" y="1727"/>
                </a:lnTo>
                <a:lnTo>
                  <a:pt x="143336" y="1771"/>
                </a:lnTo>
                <a:lnTo>
                  <a:pt x="143946" y="2010"/>
                </a:lnTo>
                <a:lnTo>
                  <a:pt x="144257" y="2237"/>
                </a:lnTo>
                <a:lnTo>
                  <a:pt x="144902" y="2591"/>
                </a:lnTo>
                <a:lnTo>
                  <a:pt x="145167" y="2793"/>
                </a:lnTo>
                <a:lnTo>
                  <a:pt x="145529" y="3128"/>
                </a:lnTo>
                <a:lnTo>
                  <a:pt x="145639" y="3562"/>
                </a:lnTo>
                <a:lnTo>
                  <a:pt x="145755" y="4340"/>
                </a:lnTo>
                <a:lnTo>
                  <a:pt x="145724" y="6065"/>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Freeform 98"/>
          <p:cNvSpPr/>
          <p:nvPr/>
        </p:nvSpPr>
        <p:spPr>
          <a:xfrm>
            <a:off x="13742609" y="7156734"/>
            <a:ext cx="178125" cy="90617"/>
          </a:xfrm>
          <a:custGeom>
            <a:avLst/>
            <a:gdLst/>
            <a:ahLst/>
            <a:cxnLst/>
            <a:rect l="l" t="t" r="r" b="b"/>
            <a:pathLst>
              <a:path w="1948" h="991">
                <a:moveTo>
                  <a:pt x="1948" y="0"/>
                </a:moveTo>
                <a:lnTo>
                  <a:pt x="1585" y="295"/>
                </a:lnTo>
                <a:lnTo>
                  <a:pt x="1141" y="553"/>
                </a:lnTo>
                <a:lnTo>
                  <a:pt x="613" y="783"/>
                </a:lnTo>
                <a:lnTo>
                  <a:pt x="0" y="991"/>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11735775" y="7376465"/>
            <a:ext cx="805678" cy="22494"/>
          </a:xfrm>
          <a:custGeom>
            <a:avLst/>
            <a:gdLst/>
            <a:ahLst/>
            <a:cxnLst/>
            <a:rect l="l" t="t" r="r" b="b"/>
            <a:pathLst>
              <a:path w="8811" h="246">
                <a:moveTo>
                  <a:pt x="8811" y="0"/>
                </a:moveTo>
                <a:lnTo>
                  <a:pt x="6889" y="73"/>
                </a:lnTo>
                <a:lnTo>
                  <a:pt x="4797" y="138"/>
                </a:lnTo>
                <a:lnTo>
                  <a:pt x="2511" y="196"/>
                </a:lnTo>
                <a:lnTo>
                  <a:pt x="0" y="246"/>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2665019" y="7394387"/>
            <a:ext cx="1094720" cy="14722"/>
          </a:xfrm>
          <a:custGeom>
            <a:avLst/>
            <a:gdLst/>
            <a:ahLst/>
            <a:cxnLst/>
            <a:rect l="l" t="t" r="r" b="b"/>
            <a:pathLst>
              <a:path w="11972" h="161">
                <a:moveTo>
                  <a:pt x="11972" y="161"/>
                </a:moveTo>
                <a:lnTo>
                  <a:pt x="8412" y="131"/>
                </a:lnTo>
                <a:lnTo>
                  <a:pt x="5293" y="94"/>
                </a:lnTo>
                <a:lnTo>
                  <a:pt x="2511" y="50"/>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831738" y="7228332"/>
            <a:ext cx="272217" cy="66660"/>
          </a:xfrm>
          <a:custGeom>
            <a:avLst/>
            <a:gdLst/>
            <a:ahLst/>
            <a:cxnLst/>
            <a:rect l="l" t="t" r="r" b="b"/>
            <a:pathLst>
              <a:path w="2977" h="729">
                <a:moveTo>
                  <a:pt x="2977" y="729"/>
                </a:moveTo>
                <a:lnTo>
                  <a:pt x="2099" y="570"/>
                </a:lnTo>
                <a:lnTo>
                  <a:pt x="1312" y="397"/>
                </a:lnTo>
                <a:lnTo>
                  <a:pt x="613" y="208"/>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709666" y="6477792"/>
            <a:ext cx="178125" cy="90617"/>
          </a:xfrm>
          <a:custGeom>
            <a:avLst/>
            <a:gdLst/>
            <a:ahLst/>
            <a:cxnLst/>
            <a:rect l="l" t="t" r="r" b="b"/>
            <a:pathLst>
              <a:path w="1948" h="991">
                <a:moveTo>
                  <a:pt x="0" y="991"/>
                </a:moveTo>
                <a:lnTo>
                  <a:pt x="363" y="696"/>
                </a:lnTo>
                <a:lnTo>
                  <a:pt x="807" y="438"/>
                </a:lnTo>
                <a:lnTo>
                  <a:pt x="1335" y="208"/>
                </a:lnTo>
                <a:lnTo>
                  <a:pt x="1948"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2088947" y="6326185"/>
            <a:ext cx="805678" cy="22494"/>
          </a:xfrm>
          <a:custGeom>
            <a:avLst/>
            <a:gdLst/>
            <a:ahLst/>
            <a:cxnLst/>
            <a:rect l="l" t="t" r="r" b="b"/>
            <a:pathLst>
              <a:path w="8811" h="246">
                <a:moveTo>
                  <a:pt x="0" y="246"/>
                </a:moveTo>
                <a:lnTo>
                  <a:pt x="1922" y="173"/>
                </a:lnTo>
                <a:lnTo>
                  <a:pt x="4014" y="108"/>
                </a:lnTo>
                <a:lnTo>
                  <a:pt x="6300" y="50"/>
                </a:lnTo>
                <a:lnTo>
                  <a:pt x="8811"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10870662" y="6316035"/>
            <a:ext cx="1094720" cy="14722"/>
          </a:xfrm>
          <a:custGeom>
            <a:avLst/>
            <a:gdLst/>
            <a:ahLst/>
            <a:cxnLst/>
            <a:rect l="l" t="t" r="r" b="b"/>
            <a:pathLst>
              <a:path w="11972" h="161">
                <a:moveTo>
                  <a:pt x="0" y="0"/>
                </a:moveTo>
                <a:lnTo>
                  <a:pt x="3560" y="30"/>
                </a:lnTo>
                <a:lnTo>
                  <a:pt x="6679" y="67"/>
                </a:lnTo>
                <a:lnTo>
                  <a:pt x="9461" y="111"/>
                </a:lnTo>
                <a:lnTo>
                  <a:pt x="11972" y="161"/>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13526445" y="6430152"/>
            <a:ext cx="272217" cy="66660"/>
          </a:xfrm>
          <a:custGeom>
            <a:avLst/>
            <a:gdLst/>
            <a:ahLst/>
            <a:cxnLst/>
            <a:rect l="l" t="t" r="r" b="b"/>
            <a:pathLst>
              <a:path w="2977" h="729">
                <a:moveTo>
                  <a:pt x="0" y="0"/>
                </a:moveTo>
                <a:lnTo>
                  <a:pt x="878" y="159"/>
                </a:lnTo>
                <a:lnTo>
                  <a:pt x="1665" y="332"/>
                </a:lnTo>
                <a:lnTo>
                  <a:pt x="2364" y="521"/>
                </a:lnTo>
                <a:lnTo>
                  <a:pt x="2977" y="729"/>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body: 7"/>
          <p:cNvSpPr txBox="1"/>
          <p:nvPr/>
        </p:nvSpPr>
        <p:spPr>
          <a:xfrm>
            <a:off x="914400" y="6644386"/>
            <a:ext cx="320040" cy="326644"/>
          </a:xfrm>
          <a:prstGeom prst="rect">
            <a:avLst/>
          </a:prstGeom>
          <a:noFill/>
        </p:spPr>
        <p:txBody>
          <a:bodyPr wrap="none" lIns="0" rIns="0" tIns="0" bIns="0" anchor="t">
            <a:noAutofit/>
          </a:bodyPr>
          <a:lstStyle/>
          <a:p>
            <a:pPr algn="ctr">
              <a:lnSpc>
                <a:spcPts val="2032"/>
              </a:lnSpc>
              <a:spcBef>
                <a:spcPts val="0"/>
              </a:spcBef>
              <a:spcAft>
                <a:spcPts val="0"/>
              </a:spcAft>
            </a:pPr>
            <a:r>
              <a:rPr sz="1600" b="1">
                <a:solidFill>
                  <a:srgbClr val="557B65"/>
                </a:solidFill>
                <a:latin typeface="Trebuchet MS"/>
              </a:rPr>
              <a:t>7</a:t>
            </a:r>
          </a:p>
        </p:txBody>
      </p:sp>
      <p:sp>
        <p:nvSpPr>
          <p:cNvPr id="108" name="body: Human gates, versioned releases"/>
          <p:cNvSpPr txBox="1"/>
          <p:nvPr/>
        </p:nvSpPr>
        <p:spPr>
          <a:xfrm>
            <a:off x="1554480" y="6592570"/>
            <a:ext cx="4572000" cy="448564"/>
          </a:xfrm>
          <a:prstGeom prst="rect">
            <a:avLst/>
          </a:prstGeom>
          <a:noFill/>
        </p:spPr>
        <p:txBody>
          <a:bodyPr wrap="none" lIns="0" rIns="0" tIns="0" bIns="0" anchor="t">
            <a:noAutofit/>
          </a:bodyPr>
          <a:lstStyle/>
          <a:p>
            <a:pPr algn="ctr">
              <a:lnSpc>
                <a:spcPts val="2992"/>
              </a:lnSpc>
              <a:spcBef>
                <a:spcPts val="0"/>
              </a:spcBef>
              <a:spcAft>
                <a:spcPts val="0"/>
              </a:spcAft>
            </a:pPr>
            <a:r>
              <a:rPr sz="2200" b="1">
                <a:solidFill>
                  <a:srgbClr val="557B65"/>
                </a:solidFill>
                <a:latin typeface="Chalkboard SE"/>
              </a:rPr>
              <a:t>Human gates, versioned releases</a:t>
            </a:r>
          </a:p>
        </p:txBody>
      </p:sp>
      <p:sp>
        <p:nvSpPr>
          <p:cNvPr id="109" name="body: Signed, diffable, rollback-able."/>
          <p:cNvSpPr txBox="1"/>
          <p:nvPr/>
        </p:nvSpPr>
        <p:spPr>
          <a:xfrm>
            <a:off x="6400800" y="6605143"/>
            <a:ext cx="7132320" cy="423418"/>
          </a:xfrm>
          <a:prstGeom prst="rect">
            <a:avLst/>
          </a:prstGeom>
          <a:noFill/>
        </p:spPr>
        <p:txBody>
          <a:bodyPr wrap="none" lIns="0" rIns="0" tIns="0" bIns="0" anchor="t">
            <a:noAutofit/>
          </a:bodyPr>
          <a:lstStyle/>
          <a:p>
            <a:pPr algn="ctr">
              <a:lnSpc>
                <a:spcPts val="2794"/>
              </a:lnSpc>
              <a:spcBef>
                <a:spcPts val="0"/>
              </a:spcBef>
              <a:spcAft>
                <a:spcPts val="0"/>
              </a:spcAft>
            </a:pPr>
            <a:r>
              <a:rPr sz="2200" b="0">
                <a:solidFill>
                  <a:srgbClr val="293E46"/>
                </a:solidFill>
                <a:latin typeface="Trebuchet MS"/>
              </a:rPr>
              <a:t>Signed, diffable, rollback-able.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4 · COMPONENT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4 · COMPONENTS</a:t>
            </a:r>
          </a:p>
        </p:txBody>
      </p:sp>
      <p:sp>
        <p:nvSpPr>
          <p:cNvPr id="3" name="title: Component 1 · Incident intake"/>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Component 1 · Incident intake</a:t>
            </a:r>
          </a:p>
        </p:txBody>
      </p:sp>
      <p:sp>
        <p:nvSpPr>
          <p:cNvPr id="4" name="subtitle: From the web and from your own runs"/>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From the web and from your own runs</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18"/>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18</a:t>
            </a:r>
          </a:p>
        </p:txBody>
      </p:sp>
      <p:sp>
        <p:nvSpPr>
          <p:cNvPr id="12" name="Rounded Rectangle 11"/>
          <p:cNvSpPr/>
          <p:nvPr/>
        </p:nvSpPr>
        <p:spPr>
          <a:xfrm>
            <a:off x="640080" y="1773936"/>
            <a:ext cx="4078224" cy="3511296"/>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3555" y="1774942"/>
            <a:ext cx="4074749" cy="3503341"/>
          </a:xfrm>
          <a:custGeom>
            <a:avLst/>
            <a:gdLst/>
            <a:ahLst/>
            <a:cxnLst/>
            <a:rect l="l" t="t" r="r" b="b"/>
            <a:pathLst>
              <a:path w="44562" h="38313">
                <a:moveTo>
                  <a:pt x="44525" y="19188"/>
                </a:moveTo>
                <a:lnTo>
                  <a:pt x="44541" y="25122"/>
                </a:lnTo>
                <a:lnTo>
                  <a:pt x="44392" y="26894"/>
                </a:lnTo>
                <a:lnTo>
                  <a:pt x="44450" y="28233"/>
                </a:lnTo>
                <a:lnTo>
                  <a:pt x="44147" y="29436"/>
                </a:lnTo>
                <a:lnTo>
                  <a:pt x="44083" y="30311"/>
                </a:lnTo>
                <a:lnTo>
                  <a:pt x="44021" y="31097"/>
                </a:lnTo>
                <a:lnTo>
                  <a:pt x="43731" y="31791"/>
                </a:lnTo>
                <a:lnTo>
                  <a:pt x="43722" y="32570"/>
                </a:lnTo>
                <a:lnTo>
                  <a:pt x="43330" y="33054"/>
                </a:lnTo>
                <a:lnTo>
                  <a:pt x="43326" y="33727"/>
                </a:lnTo>
                <a:lnTo>
                  <a:pt x="42843" y="34080"/>
                </a:lnTo>
                <a:lnTo>
                  <a:pt x="42743" y="34535"/>
                </a:lnTo>
                <a:lnTo>
                  <a:pt x="42314" y="34967"/>
                </a:lnTo>
                <a:lnTo>
                  <a:pt x="42002" y="35487"/>
                </a:lnTo>
                <a:lnTo>
                  <a:pt x="41605" y="35850"/>
                </a:lnTo>
                <a:lnTo>
                  <a:pt x="41240" y="36025"/>
                </a:lnTo>
                <a:lnTo>
                  <a:pt x="40779" y="36477"/>
                </a:lnTo>
                <a:lnTo>
                  <a:pt x="40267" y="36759"/>
                </a:lnTo>
                <a:lnTo>
                  <a:pt x="39584" y="36927"/>
                </a:lnTo>
                <a:lnTo>
                  <a:pt x="38995" y="37229"/>
                </a:lnTo>
                <a:lnTo>
                  <a:pt x="38399" y="37322"/>
                </a:lnTo>
                <a:lnTo>
                  <a:pt x="37659" y="37602"/>
                </a:lnTo>
                <a:lnTo>
                  <a:pt x="36866" y="37732"/>
                </a:lnTo>
                <a:lnTo>
                  <a:pt x="36166" y="37781"/>
                </a:lnTo>
                <a:lnTo>
                  <a:pt x="35249" y="37941"/>
                </a:lnTo>
                <a:lnTo>
                  <a:pt x="34161" y="37986"/>
                </a:lnTo>
                <a:lnTo>
                  <a:pt x="32796" y="38112"/>
                </a:lnTo>
                <a:lnTo>
                  <a:pt x="31193" y="38313"/>
                </a:lnTo>
                <a:lnTo>
                  <a:pt x="29173" y="38149"/>
                </a:lnTo>
                <a:lnTo>
                  <a:pt x="22361" y="38211"/>
                </a:lnTo>
                <a:lnTo>
                  <a:pt x="15466" y="38225"/>
                </a:lnTo>
                <a:lnTo>
                  <a:pt x="13289" y="38171"/>
                </a:lnTo>
                <a:lnTo>
                  <a:pt x="11740" y="38170"/>
                </a:lnTo>
                <a:lnTo>
                  <a:pt x="10302" y="38033"/>
                </a:lnTo>
                <a:lnTo>
                  <a:pt x="9470" y="38120"/>
                </a:lnTo>
                <a:lnTo>
                  <a:pt x="8470" y="37918"/>
                </a:lnTo>
                <a:lnTo>
                  <a:pt x="7627" y="37662"/>
                </a:lnTo>
                <a:lnTo>
                  <a:pt x="6909" y="37523"/>
                </a:lnTo>
                <a:lnTo>
                  <a:pt x="6189" y="37372"/>
                </a:lnTo>
                <a:lnTo>
                  <a:pt x="5513" y="37243"/>
                </a:lnTo>
                <a:lnTo>
                  <a:pt x="4995" y="36888"/>
                </a:lnTo>
                <a:lnTo>
                  <a:pt x="4289" y="36612"/>
                </a:lnTo>
                <a:lnTo>
                  <a:pt x="3750" y="36520"/>
                </a:lnTo>
                <a:lnTo>
                  <a:pt x="3355" y="36052"/>
                </a:lnTo>
                <a:lnTo>
                  <a:pt x="2830" y="35839"/>
                </a:lnTo>
                <a:lnTo>
                  <a:pt x="2492" y="35477"/>
                </a:lnTo>
                <a:lnTo>
                  <a:pt x="2262" y="35050"/>
                </a:lnTo>
                <a:lnTo>
                  <a:pt x="1833" y="34659"/>
                </a:lnTo>
                <a:lnTo>
                  <a:pt x="1511" y="34244"/>
                </a:lnTo>
                <a:lnTo>
                  <a:pt x="1222" y="33655"/>
                </a:lnTo>
                <a:lnTo>
                  <a:pt x="974" y="33045"/>
                </a:lnTo>
                <a:lnTo>
                  <a:pt x="798" y="32486"/>
                </a:lnTo>
                <a:lnTo>
                  <a:pt x="600" y="31844"/>
                </a:lnTo>
                <a:lnTo>
                  <a:pt x="561" y="31074"/>
                </a:lnTo>
                <a:lnTo>
                  <a:pt x="378" y="30267"/>
                </a:lnTo>
                <a:lnTo>
                  <a:pt x="279" y="29250"/>
                </a:lnTo>
                <a:lnTo>
                  <a:pt x="318" y="28160"/>
                </a:lnTo>
                <a:lnTo>
                  <a:pt x="199" y="26963"/>
                </a:lnTo>
                <a:lnTo>
                  <a:pt x="14" y="25148"/>
                </a:lnTo>
                <a:lnTo>
                  <a:pt x="0" y="19257"/>
                </a:lnTo>
                <a:lnTo>
                  <a:pt x="210" y="13426"/>
                </a:lnTo>
                <a:lnTo>
                  <a:pt x="145" y="11497"/>
                </a:lnTo>
                <a:lnTo>
                  <a:pt x="165" y="10000"/>
                </a:lnTo>
                <a:lnTo>
                  <a:pt x="341" y="9117"/>
                </a:lnTo>
                <a:lnTo>
                  <a:pt x="445" y="8178"/>
                </a:lnTo>
                <a:lnTo>
                  <a:pt x="554" y="7152"/>
                </a:lnTo>
                <a:lnTo>
                  <a:pt x="580" y="6568"/>
                </a:lnTo>
                <a:lnTo>
                  <a:pt x="967" y="5770"/>
                </a:lnTo>
                <a:lnTo>
                  <a:pt x="973" y="5180"/>
                </a:lnTo>
                <a:lnTo>
                  <a:pt x="1444" y="4841"/>
                </a:lnTo>
                <a:lnTo>
                  <a:pt x="1691" y="4124"/>
                </a:lnTo>
                <a:lnTo>
                  <a:pt x="1905" y="3662"/>
                </a:lnTo>
                <a:lnTo>
                  <a:pt x="2301" y="3385"/>
                </a:lnTo>
                <a:lnTo>
                  <a:pt x="2514" y="2929"/>
                </a:lnTo>
                <a:lnTo>
                  <a:pt x="2945" y="2476"/>
                </a:lnTo>
                <a:lnTo>
                  <a:pt x="3273" y="2277"/>
                </a:lnTo>
                <a:lnTo>
                  <a:pt x="3739" y="1918"/>
                </a:lnTo>
                <a:lnTo>
                  <a:pt x="4212" y="1737"/>
                </a:lnTo>
                <a:lnTo>
                  <a:pt x="4782" y="1506"/>
                </a:lnTo>
                <a:lnTo>
                  <a:pt x="5467" y="1161"/>
                </a:lnTo>
                <a:lnTo>
                  <a:pt x="6043" y="1058"/>
                </a:lnTo>
                <a:lnTo>
                  <a:pt x="6720" y="844"/>
                </a:lnTo>
                <a:lnTo>
                  <a:pt x="7441" y="696"/>
                </a:lnTo>
                <a:lnTo>
                  <a:pt x="8449" y="376"/>
                </a:lnTo>
                <a:lnTo>
                  <a:pt x="9234" y="367"/>
                </a:lnTo>
                <a:lnTo>
                  <a:pt x="10445" y="165"/>
                </a:lnTo>
                <a:lnTo>
                  <a:pt x="11700" y="264"/>
                </a:lnTo>
                <a:lnTo>
                  <a:pt x="13184" y="163"/>
                </a:lnTo>
                <a:lnTo>
                  <a:pt x="15390" y="0"/>
                </a:lnTo>
                <a:lnTo>
                  <a:pt x="22217" y="167"/>
                </a:lnTo>
                <a:lnTo>
                  <a:pt x="28952" y="144"/>
                </a:lnTo>
                <a:lnTo>
                  <a:pt x="31262" y="181"/>
                </a:lnTo>
                <a:lnTo>
                  <a:pt x="32814" y="289"/>
                </a:lnTo>
                <a:lnTo>
                  <a:pt x="33984" y="184"/>
                </a:lnTo>
                <a:lnTo>
                  <a:pt x="35283" y="275"/>
                </a:lnTo>
                <a:lnTo>
                  <a:pt x="36121" y="448"/>
                </a:lnTo>
                <a:lnTo>
                  <a:pt x="37052" y="640"/>
                </a:lnTo>
                <a:lnTo>
                  <a:pt x="37661" y="801"/>
                </a:lnTo>
                <a:lnTo>
                  <a:pt x="38357" y="1004"/>
                </a:lnTo>
                <a:lnTo>
                  <a:pt x="39003" y="1174"/>
                </a:lnTo>
                <a:lnTo>
                  <a:pt x="39775" y="1310"/>
                </a:lnTo>
                <a:lnTo>
                  <a:pt x="40319" y="1752"/>
                </a:lnTo>
                <a:lnTo>
                  <a:pt x="40703" y="1968"/>
                </a:lnTo>
                <a:lnTo>
                  <a:pt x="41232" y="2133"/>
                </a:lnTo>
                <a:lnTo>
                  <a:pt x="41643" y="2462"/>
                </a:lnTo>
                <a:lnTo>
                  <a:pt x="41940" y="2874"/>
                </a:lnTo>
                <a:lnTo>
                  <a:pt x="42225" y="3372"/>
                </a:lnTo>
                <a:lnTo>
                  <a:pt x="42704" y="3758"/>
                </a:lnTo>
                <a:lnTo>
                  <a:pt x="42984" y="4313"/>
                </a:lnTo>
                <a:lnTo>
                  <a:pt x="43168" y="4726"/>
                </a:lnTo>
                <a:lnTo>
                  <a:pt x="43402" y="5204"/>
                </a:lnTo>
                <a:lnTo>
                  <a:pt x="43585" y="5939"/>
                </a:lnTo>
                <a:lnTo>
                  <a:pt x="43873" y="6546"/>
                </a:lnTo>
                <a:lnTo>
                  <a:pt x="43988" y="7193"/>
                </a:lnTo>
                <a:lnTo>
                  <a:pt x="44030" y="8074"/>
                </a:lnTo>
                <a:lnTo>
                  <a:pt x="44315" y="9047"/>
                </a:lnTo>
                <a:lnTo>
                  <a:pt x="44322" y="10156"/>
                </a:lnTo>
                <a:lnTo>
                  <a:pt x="44485" y="11441"/>
                </a:lnTo>
                <a:lnTo>
                  <a:pt x="44357" y="13290"/>
                </a:lnTo>
                <a:lnTo>
                  <a:pt x="44562" y="19111"/>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47761" y="1787378"/>
            <a:ext cx="4062405" cy="3494014"/>
          </a:xfrm>
          <a:custGeom>
            <a:avLst/>
            <a:gdLst/>
            <a:ahLst/>
            <a:cxnLst/>
            <a:rect l="l" t="t" r="r" b="b"/>
            <a:pathLst>
              <a:path w="44427" h="38211">
                <a:moveTo>
                  <a:pt x="44427" y="19063"/>
                </a:moveTo>
                <a:lnTo>
                  <a:pt x="44346" y="24874"/>
                </a:lnTo>
                <a:lnTo>
                  <a:pt x="44285" y="26684"/>
                </a:lnTo>
                <a:lnTo>
                  <a:pt x="44272" y="28134"/>
                </a:lnTo>
                <a:lnTo>
                  <a:pt x="44324" y="29296"/>
                </a:lnTo>
                <a:lnTo>
                  <a:pt x="44093" y="30175"/>
                </a:lnTo>
                <a:lnTo>
                  <a:pt x="43862" y="30990"/>
                </a:lnTo>
                <a:lnTo>
                  <a:pt x="43906" y="31730"/>
                </a:lnTo>
                <a:lnTo>
                  <a:pt x="43605" y="32356"/>
                </a:lnTo>
                <a:lnTo>
                  <a:pt x="43464" y="32860"/>
                </a:lnTo>
                <a:lnTo>
                  <a:pt x="43075" y="33537"/>
                </a:lnTo>
                <a:lnTo>
                  <a:pt x="42797" y="33991"/>
                </a:lnTo>
                <a:lnTo>
                  <a:pt x="42711" y="34448"/>
                </a:lnTo>
                <a:lnTo>
                  <a:pt x="42361" y="34814"/>
                </a:lnTo>
                <a:lnTo>
                  <a:pt x="42029" y="35249"/>
                </a:lnTo>
                <a:lnTo>
                  <a:pt x="41424" y="35626"/>
                </a:lnTo>
                <a:lnTo>
                  <a:pt x="41065" y="35907"/>
                </a:lnTo>
                <a:lnTo>
                  <a:pt x="40719" y="36191"/>
                </a:lnTo>
                <a:lnTo>
                  <a:pt x="40166" y="36535"/>
                </a:lnTo>
                <a:lnTo>
                  <a:pt x="39610" y="36787"/>
                </a:lnTo>
                <a:lnTo>
                  <a:pt x="38946" y="37111"/>
                </a:lnTo>
                <a:lnTo>
                  <a:pt x="38307" y="37363"/>
                </a:lnTo>
                <a:lnTo>
                  <a:pt x="37816" y="37526"/>
                </a:lnTo>
                <a:lnTo>
                  <a:pt x="36845" y="37684"/>
                </a:lnTo>
                <a:lnTo>
                  <a:pt x="36163" y="37683"/>
                </a:lnTo>
                <a:lnTo>
                  <a:pt x="35209" y="37950"/>
                </a:lnTo>
                <a:lnTo>
                  <a:pt x="34087" y="37979"/>
                </a:lnTo>
                <a:lnTo>
                  <a:pt x="32672" y="37945"/>
                </a:lnTo>
                <a:lnTo>
                  <a:pt x="31316" y="38109"/>
                </a:lnTo>
                <a:lnTo>
                  <a:pt x="29057" y="38211"/>
                </a:lnTo>
                <a:lnTo>
                  <a:pt x="22122" y="38095"/>
                </a:lnTo>
                <a:lnTo>
                  <a:pt x="15491" y="38057"/>
                </a:lnTo>
                <a:lnTo>
                  <a:pt x="13118" y="38128"/>
                </a:lnTo>
                <a:lnTo>
                  <a:pt x="11661" y="37945"/>
                </a:lnTo>
                <a:lnTo>
                  <a:pt x="10374" y="38046"/>
                </a:lnTo>
                <a:lnTo>
                  <a:pt x="9300" y="37911"/>
                </a:lnTo>
                <a:lnTo>
                  <a:pt x="8255" y="37743"/>
                </a:lnTo>
                <a:lnTo>
                  <a:pt x="7551" y="37691"/>
                </a:lnTo>
                <a:lnTo>
                  <a:pt x="6643" y="37401"/>
                </a:lnTo>
                <a:lnTo>
                  <a:pt x="6047" y="37328"/>
                </a:lnTo>
                <a:lnTo>
                  <a:pt x="5364" y="37118"/>
                </a:lnTo>
                <a:lnTo>
                  <a:pt x="4853" y="36881"/>
                </a:lnTo>
                <a:lnTo>
                  <a:pt x="4380" y="36620"/>
                </a:lnTo>
                <a:lnTo>
                  <a:pt x="3791" y="36201"/>
                </a:lnTo>
                <a:lnTo>
                  <a:pt x="3249" y="36106"/>
                </a:lnTo>
                <a:lnTo>
                  <a:pt x="2969" y="35630"/>
                </a:lnTo>
                <a:lnTo>
                  <a:pt x="2495" y="35391"/>
                </a:lnTo>
                <a:lnTo>
                  <a:pt x="2281" y="34859"/>
                </a:lnTo>
                <a:lnTo>
                  <a:pt x="1806" y="34563"/>
                </a:lnTo>
                <a:lnTo>
                  <a:pt x="1573" y="33906"/>
                </a:lnTo>
                <a:lnTo>
                  <a:pt x="1348" y="33442"/>
                </a:lnTo>
                <a:lnTo>
                  <a:pt x="907" y="32861"/>
                </a:lnTo>
                <a:lnTo>
                  <a:pt x="749" y="32298"/>
                </a:lnTo>
                <a:lnTo>
                  <a:pt x="728" y="31668"/>
                </a:lnTo>
                <a:lnTo>
                  <a:pt x="450" y="30945"/>
                </a:lnTo>
                <a:lnTo>
                  <a:pt x="212" y="30096"/>
                </a:lnTo>
                <a:lnTo>
                  <a:pt x="153" y="29170"/>
                </a:lnTo>
                <a:lnTo>
                  <a:pt x="89" y="28225"/>
                </a:lnTo>
                <a:lnTo>
                  <a:pt x="178" y="26692"/>
                </a:lnTo>
                <a:lnTo>
                  <a:pt x="0" y="25001"/>
                </a:lnTo>
                <a:lnTo>
                  <a:pt x="35" y="19117"/>
                </a:lnTo>
                <a:lnTo>
                  <a:pt x="174" y="13156"/>
                </a:lnTo>
                <a:lnTo>
                  <a:pt x="207" y="11263"/>
                </a:lnTo>
                <a:lnTo>
                  <a:pt x="202" y="9941"/>
                </a:lnTo>
                <a:lnTo>
                  <a:pt x="242" y="8968"/>
                </a:lnTo>
                <a:lnTo>
                  <a:pt x="337" y="8027"/>
                </a:lnTo>
                <a:lnTo>
                  <a:pt x="476" y="7239"/>
                </a:lnTo>
                <a:lnTo>
                  <a:pt x="711" y="6335"/>
                </a:lnTo>
                <a:lnTo>
                  <a:pt x="853" y="5708"/>
                </a:lnTo>
                <a:lnTo>
                  <a:pt x="959" y="5087"/>
                </a:lnTo>
                <a:lnTo>
                  <a:pt x="1383" y="4663"/>
                </a:lnTo>
                <a:lnTo>
                  <a:pt x="1512" y="3992"/>
                </a:lnTo>
                <a:lnTo>
                  <a:pt x="1793" y="3593"/>
                </a:lnTo>
                <a:lnTo>
                  <a:pt x="2246" y="3213"/>
                </a:lnTo>
                <a:lnTo>
                  <a:pt x="2424" y="2730"/>
                </a:lnTo>
                <a:lnTo>
                  <a:pt x="2914" y="2334"/>
                </a:lnTo>
                <a:lnTo>
                  <a:pt x="3212" y="2019"/>
                </a:lnTo>
                <a:lnTo>
                  <a:pt x="3886" y="1694"/>
                </a:lnTo>
                <a:lnTo>
                  <a:pt x="4400" y="1420"/>
                </a:lnTo>
                <a:lnTo>
                  <a:pt x="4832" y="1313"/>
                </a:lnTo>
                <a:lnTo>
                  <a:pt x="5288" y="1006"/>
                </a:lnTo>
                <a:lnTo>
                  <a:pt x="6091" y="844"/>
                </a:lnTo>
                <a:lnTo>
                  <a:pt x="6700" y="602"/>
                </a:lnTo>
                <a:lnTo>
                  <a:pt x="7518" y="555"/>
                </a:lnTo>
                <a:lnTo>
                  <a:pt x="8303" y="343"/>
                </a:lnTo>
                <a:lnTo>
                  <a:pt x="9424" y="157"/>
                </a:lnTo>
                <a:lnTo>
                  <a:pt x="10353" y="40"/>
                </a:lnTo>
                <a:lnTo>
                  <a:pt x="11675" y="40"/>
                </a:lnTo>
                <a:lnTo>
                  <a:pt x="13142" y="0"/>
                </a:lnTo>
                <a:lnTo>
                  <a:pt x="15317" y="22"/>
                </a:lnTo>
                <a:lnTo>
                  <a:pt x="22173" y="39"/>
                </a:lnTo>
                <a:lnTo>
                  <a:pt x="29028" y="32"/>
                </a:lnTo>
                <a:lnTo>
                  <a:pt x="31263" y="118"/>
                </a:lnTo>
                <a:lnTo>
                  <a:pt x="32865" y="79"/>
                </a:lnTo>
                <a:lnTo>
                  <a:pt x="33936" y="83"/>
                </a:lnTo>
                <a:lnTo>
                  <a:pt x="35221" y="256"/>
                </a:lnTo>
                <a:lnTo>
                  <a:pt x="36115" y="391"/>
                </a:lnTo>
                <a:lnTo>
                  <a:pt x="36892" y="564"/>
                </a:lnTo>
                <a:lnTo>
                  <a:pt x="37626" y="594"/>
                </a:lnTo>
                <a:lnTo>
                  <a:pt x="38492" y="929"/>
                </a:lnTo>
                <a:lnTo>
                  <a:pt x="38930" y="1046"/>
                </a:lnTo>
                <a:lnTo>
                  <a:pt x="39556" y="1186"/>
                </a:lnTo>
                <a:lnTo>
                  <a:pt x="40206" y="1457"/>
                </a:lnTo>
                <a:lnTo>
                  <a:pt x="40581" y="1778"/>
                </a:lnTo>
                <a:lnTo>
                  <a:pt x="41136" y="2033"/>
                </a:lnTo>
                <a:lnTo>
                  <a:pt x="41641" y="2410"/>
                </a:lnTo>
                <a:lnTo>
                  <a:pt x="41971" y="2710"/>
                </a:lnTo>
                <a:lnTo>
                  <a:pt x="42283" y="3316"/>
                </a:lnTo>
                <a:lnTo>
                  <a:pt x="42493" y="3591"/>
                </a:lnTo>
                <a:lnTo>
                  <a:pt x="42894" y="4077"/>
                </a:lnTo>
                <a:lnTo>
                  <a:pt x="43131" y="4516"/>
                </a:lnTo>
                <a:lnTo>
                  <a:pt x="43287" y="5120"/>
                </a:lnTo>
                <a:lnTo>
                  <a:pt x="43610" y="5700"/>
                </a:lnTo>
                <a:lnTo>
                  <a:pt x="43871" y="6431"/>
                </a:lnTo>
                <a:lnTo>
                  <a:pt x="43960" y="7212"/>
                </a:lnTo>
                <a:lnTo>
                  <a:pt x="44137" y="7874"/>
                </a:lnTo>
                <a:lnTo>
                  <a:pt x="44108" y="8891"/>
                </a:lnTo>
                <a:lnTo>
                  <a:pt x="44335" y="10026"/>
                </a:lnTo>
                <a:lnTo>
                  <a:pt x="44296" y="11294"/>
                </a:lnTo>
                <a:lnTo>
                  <a:pt x="44369" y="13244"/>
                </a:lnTo>
                <a:lnTo>
                  <a:pt x="44389" y="19054"/>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4635276" y="4460443"/>
            <a:ext cx="54224" cy="286573"/>
          </a:xfrm>
          <a:custGeom>
            <a:avLst/>
            <a:gdLst/>
            <a:ahLst/>
            <a:cxnLst/>
            <a:rect l="l" t="t" r="r" b="b"/>
            <a:pathLst>
              <a:path w="593" h="3134">
                <a:moveTo>
                  <a:pt x="593" y="0"/>
                </a:moveTo>
                <a:lnTo>
                  <a:pt x="483" y="932"/>
                </a:lnTo>
                <a:lnTo>
                  <a:pt x="347" y="1748"/>
                </a:lnTo>
                <a:lnTo>
                  <a:pt x="187" y="2476"/>
                </a:lnTo>
                <a:lnTo>
                  <a:pt x="0" y="313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024549" y="5155662"/>
            <a:ext cx="245151" cy="71323"/>
          </a:xfrm>
          <a:custGeom>
            <a:avLst/>
            <a:gdLst/>
            <a:ahLst/>
            <a:cxnLst/>
            <a:rect l="l" t="t" r="r" b="b"/>
            <a:pathLst>
              <a:path w="2681" h="780">
                <a:moveTo>
                  <a:pt x="2681" y="0"/>
                </a:moveTo>
                <a:lnTo>
                  <a:pt x="2096" y="230"/>
                </a:lnTo>
                <a:lnTo>
                  <a:pt x="1460" y="436"/>
                </a:lnTo>
                <a:lnTo>
                  <a:pt x="764" y="619"/>
                </a:lnTo>
                <a:lnTo>
                  <a:pt x="0" y="78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263975" y="5212263"/>
            <a:ext cx="333207" cy="46634"/>
          </a:xfrm>
          <a:custGeom>
            <a:avLst/>
            <a:gdLst/>
            <a:ahLst/>
            <a:cxnLst/>
            <a:rect l="l" t="t" r="r" b="b"/>
            <a:pathLst>
              <a:path w="3644" h="510">
                <a:moveTo>
                  <a:pt x="3644" y="510"/>
                </a:moveTo>
                <a:lnTo>
                  <a:pt x="2560" y="415"/>
                </a:lnTo>
                <a:lnTo>
                  <a:pt x="1611" y="299"/>
                </a:lnTo>
                <a:lnTo>
                  <a:pt x="764" y="161"/>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06008" y="4686849"/>
            <a:ext cx="82845" cy="210952"/>
          </a:xfrm>
          <a:custGeom>
            <a:avLst/>
            <a:gdLst/>
            <a:ahLst/>
            <a:cxnLst/>
            <a:rect l="l" t="t" r="r" b="b"/>
            <a:pathLst>
              <a:path w="906" h="2307">
                <a:moveTo>
                  <a:pt x="906" y="2307"/>
                </a:moveTo>
                <a:lnTo>
                  <a:pt x="639" y="1804"/>
                </a:lnTo>
                <a:lnTo>
                  <a:pt x="400" y="1256"/>
                </a:lnTo>
                <a:lnTo>
                  <a:pt x="187" y="658"/>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68884" y="2312152"/>
            <a:ext cx="54224" cy="286573"/>
          </a:xfrm>
          <a:custGeom>
            <a:avLst/>
            <a:gdLst/>
            <a:ahLst/>
            <a:cxnLst/>
            <a:rect l="l" t="t" r="r" b="b"/>
            <a:pathLst>
              <a:path w="593" h="3134">
                <a:moveTo>
                  <a:pt x="0" y="3134"/>
                </a:moveTo>
                <a:lnTo>
                  <a:pt x="110" y="2202"/>
                </a:lnTo>
                <a:lnTo>
                  <a:pt x="246" y="1386"/>
                </a:lnTo>
                <a:lnTo>
                  <a:pt x="406" y="658"/>
                </a:lnTo>
                <a:lnTo>
                  <a:pt x="593"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088685" y="1832183"/>
            <a:ext cx="245151" cy="71323"/>
          </a:xfrm>
          <a:custGeom>
            <a:avLst/>
            <a:gdLst/>
            <a:ahLst/>
            <a:cxnLst/>
            <a:rect l="l" t="t" r="r" b="b"/>
            <a:pathLst>
              <a:path w="2681" h="780">
                <a:moveTo>
                  <a:pt x="0" y="780"/>
                </a:moveTo>
                <a:lnTo>
                  <a:pt x="585" y="550"/>
                </a:lnTo>
                <a:lnTo>
                  <a:pt x="1221" y="344"/>
                </a:lnTo>
                <a:lnTo>
                  <a:pt x="1917" y="161"/>
                </a:lnTo>
                <a:lnTo>
                  <a:pt x="2681"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61202" y="1800271"/>
            <a:ext cx="333207" cy="46634"/>
          </a:xfrm>
          <a:custGeom>
            <a:avLst/>
            <a:gdLst/>
            <a:ahLst/>
            <a:cxnLst/>
            <a:rect l="l" t="t" r="r" b="b"/>
            <a:pathLst>
              <a:path w="3644" h="510">
                <a:moveTo>
                  <a:pt x="0" y="0"/>
                </a:moveTo>
                <a:lnTo>
                  <a:pt x="1084" y="95"/>
                </a:lnTo>
                <a:lnTo>
                  <a:pt x="2033" y="211"/>
                </a:lnTo>
                <a:lnTo>
                  <a:pt x="2880" y="349"/>
                </a:lnTo>
                <a:lnTo>
                  <a:pt x="3644" y="51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569531" y="2161367"/>
            <a:ext cx="82845" cy="210952"/>
          </a:xfrm>
          <a:custGeom>
            <a:avLst/>
            <a:gdLst/>
            <a:ahLst/>
            <a:cxnLst/>
            <a:rect l="l" t="t" r="r" b="b"/>
            <a:pathLst>
              <a:path w="906" h="2307">
                <a:moveTo>
                  <a:pt x="0" y="0"/>
                </a:moveTo>
                <a:lnTo>
                  <a:pt x="267" y="503"/>
                </a:lnTo>
                <a:lnTo>
                  <a:pt x="506" y="1051"/>
                </a:lnTo>
                <a:lnTo>
                  <a:pt x="719" y="1649"/>
                </a:lnTo>
                <a:lnTo>
                  <a:pt x="906" y="230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Sources"/>
          <p:cNvSpPr txBox="1"/>
          <p:nvPr/>
        </p:nvSpPr>
        <p:spPr>
          <a:xfrm>
            <a:off x="996695" y="2052066"/>
            <a:ext cx="3364992"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Sources</a:t>
            </a:r>
          </a:p>
        </p:txBody>
      </p:sp>
      <p:sp>
        <p:nvSpPr>
          <p:cNvPr id="24" name="Oval 23"/>
          <p:cNvSpPr/>
          <p:nvPr/>
        </p:nvSpPr>
        <p:spPr>
          <a:xfrm>
            <a:off x="909828" y="287016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Own Inspect logs, scanned with Inspect Scout"/>
          <p:cNvSpPr txBox="1"/>
          <p:nvPr/>
        </p:nvSpPr>
        <p:spPr>
          <a:xfrm>
            <a:off x="1143000" y="2769584"/>
            <a:ext cx="3319272" cy="600837"/>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Own Inspect logs, scanned with</a:t>
            </a:r>
            <a:br/>
            <a:r>
              <a:rPr sz="1650" b="0">
                <a:solidFill>
                  <a:srgbClr val="293E46"/>
                </a:solidFill>
                <a:latin typeface="Trebuchet MS"/>
              </a:rPr>
              <a:t>Inspect Scout</a:t>
            </a:r>
          </a:p>
        </p:txBody>
      </p:sp>
      <p:sp>
        <p:nvSpPr>
          <p:cNvPr id="26" name="Oval 25"/>
          <p:cNvSpPr/>
          <p:nvPr/>
        </p:nvSpPr>
        <p:spPr>
          <a:xfrm>
            <a:off x="909828" y="3589877"/>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AI Incident Database, OECD AI Incident Monitor, MIT AI Risk Repo"/>
          <p:cNvSpPr txBox="1"/>
          <p:nvPr/>
        </p:nvSpPr>
        <p:spPr>
          <a:xfrm>
            <a:off x="1143000" y="3489293"/>
            <a:ext cx="3319272" cy="866965"/>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AI Incident Database, OECD AI</a:t>
            </a:r>
            <a:br/>
            <a:r>
              <a:rPr sz="1650" b="0">
                <a:solidFill>
                  <a:srgbClr val="293E46"/>
                </a:solidFill>
                <a:latin typeface="Trebuchet MS"/>
              </a:rPr>
              <a:t>Incident Monitor, MIT AI Risk</a:t>
            </a:r>
            <a:br/>
            <a:r>
              <a:rPr sz="1650" b="0">
                <a:solidFill>
                  <a:srgbClr val="293E46"/>
                </a:solidFill>
                <a:latin typeface="Trebuchet MS"/>
              </a:rPr>
              <a:t>Repository</a:t>
            </a:r>
          </a:p>
        </p:txBody>
      </p:sp>
      <p:sp>
        <p:nvSpPr>
          <p:cNvPr id="28" name="Oval 27"/>
          <p:cNvSpPr/>
          <p:nvPr/>
        </p:nvSpPr>
        <p:spPr>
          <a:xfrm>
            <a:off x="909828" y="457571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Postmortems, issues, advisories; provenance kept"/>
          <p:cNvSpPr txBox="1"/>
          <p:nvPr/>
        </p:nvSpPr>
        <p:spPr>
          <a:xfrm>
            <a:off x="1143000" y="4475130"/>
            <a:ext cx="3319272" cy="600837"/>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Postmortems, issues, advisories;</a:t>
            </a:r>
            <a:br/>
            <a:r>
              <a:rPr sz="1650" b="0">
                <a:solidFill>
                  <a:srgbClr val="293E46"/>
                </a:solidFill>
                <a:latin typeface="Trebuchet MS"/>
              </a:rPr>
              <a:t>provenance kept</a:t>
            </a:r>
          </a:p>
        </p:txBody>
      </p:sp>
      <p:sp>
        <p:nvSpPr>
          <p:cNvPr id="30" name="Freeform 29"/>
          <p:cNvSpPr/>
          <p:nvPr/>
        </p:nvSpPr>
        <p:spPr>
          <a:xfrm>
            <a:off x="4818888" y="3444545"/>
            <a:ext cx="338328" cy="11887"/>
          </a:xfrm>
          <a:custGeom>
            <a:avLst/>
            <a:gdLst/>
            <a:ahLst/>
            <a:cxnLst/>
            <a:rect l="l" t="t" r="r" b="b"/>
            <a:pathLst>
              <a:path w="3700" h="130">
                <a:moveTo>
                  <a:pt x="0" y="130"/>
                </a:moveTo>
                <a:lnTo>
                  <a:pt x="1850" y="0"/>
                </a:lnTo>
                <a:lnTo>
                  <a:pt x="3700" y="13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5075377" y="3456432"/>
            <a:ext cx="81839" cy="50201"/>
          </a:xfrm>
          <a:custGeom>
            <a:avLst/>
            <a:gdLst/>
            <a:ahLst/>
            <a:cxnLst/>
            <a:rect l="l" t="t" r="r" b="b"/>
            <a:pathLst>
              <a:path w="895" h="549">
                <a:moveTo>
                  <a:pt x="0" y="549"/>
                </a:moveTo>
                <a:lnTo>
                  <a:pt x="895" y="0"/>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5075377" y="3406231"/>
            <a:ext cx="81839" cy="50201"/>
          </a:xfrm>
          <a:custGeom>
            <a:avLst/>
            <a:gdLst/>
            <a:ahLst/>
            <a:cxnLst/>
            <a:rect l="l" t="t" r="r" b="b"/>
            <a:pathLst>
              <a:path w="895" h="549">
                <a:moveTo>
                  <a:pt x="0" y="0"/>
                </a:moveTo>
                <a:lnTo>
                  <a:pt x="895" y="549"/>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276088" y="1773936"/>
            <a:ext cx="4078224" cy="3511296"/>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5280020" y="1776679"/>
            <a:ext cx="4070817" cy="3507456"/>
          </a:xfrm>
          <a:custGeom>
            <a:avLst/>
            <a:gdLst/>
            <a:ahLst/>
            <a:cxnLst/>
            <a:rect l="l" t="t" r="r" b="b"/>
            <a:pathLst>
              <a:path w="44519" h="38358">
                <a:moveTo>
                  <a:pt x="44441" y="19257"/>
                </a:moveTo>
                <a:lnTo>
                  <a:pt x="44307" y="25039"/>
                </a:lnTo>
                <a:lnTo>
                  <a:pt x="44404" y="26888"/>
                </a:lnTo>
                <a:lnTo>
                  <a:pt x="44332" y="28136"/>
                </a:lnTo>
                <a:lnTo>
                  <a:pt x="44280" y="29246"/>
                </a:lnTo>
                <a:lnTo>
                  <a:pt x="44108" y="30312"/>
                </a:lnTo>
                <a:lnTo>
                  <a:pt x="43975" y="31141"/>
                </a:lnTo>
                <a:lnTo>
                  <a:pt x="43906" y="31800"/>
                </a:lnTo>
                <a:lnTo>
                  <a:pt x="43657" y="32488"/>
                </a:lnTo>
                <a:lnTo>
                  <a:pt x="43425" y="33201"/>
                </a:lnTo>
                <a:lnTo>
                  <a:pt x="43244" y="33691"/>
                </a:lnTo>
                <a:lnTo>
                  <a:pt x="43006" y="34019"/>
                </a:lnTo>
                <a:lnTo>
                  <a:pt x="42572" y="34631"/>
                </a:lnTo>
                <a:lnTo>
                  <a:pt x="42276" y="35101"/>
                </a:lnTo>
                <a:lnTo>
                  <a:pt x="41865" y="35358"/>
                </a:lnTo>
                <a:lnTo>
                  <a:pt x="41524" y="35888"/>
                </a:lnTo>
                <a:lnTo>
                  <a:pt x="41261" y="36131"/>
                </a:lnTo>
                <a:lnTo>
                  <a:pt x="40816" y="36350"/>
                </a:lnTo>
                <a:lnTo>
                  <a:pt x="40240" y="36599"/>
                </a:lnTo>
                <a:lnTo>
                  <a:pt x="39596" y="36892"/>
                </a:lnTo>
                <a:lnTo>
                  <a:pt x="39162" y="37196"/>
                </a:lnTo>
                <a:lnTo>
                  <a:pt x="38516" y="37305"/>
                </a:lnTo>
                <a:lnTo>
                  <a:pt x="37670" y="37500"/>
                </a:lnTo>
                <a:lnTo>
                  <a:pt x="36858" y="37760"/>
                </a:lnTo>
                <a:lnTo>
                  <a:pt x="36075" y="37861"/>
                </a:lnTo>
                <a:lnTo>
                  <a:pt x="35109" y="38039"/>
                </a:lnTo>
                <a:lnTo>
                  <a:pt x="34037" y="38122"/>
                </a:lnTo>
                <a:lnTo>
                  <a:pt x="32716" y="38110"/>
                </a:lnTo>
                <a:lnTo>
                  <a:pt x="31257" y="38107"/>
                </a:lnTo>
                <a:lnTo>
                  <a:pt x="29181" y="38358"/>
                </a:lnTo>
                <a:lnTo>
                  <a:pt x="22241" y="38245"/>
                </a:lnTo>
                <a:lnTo>
                  <a:pt x="15490" y="38327"/>
                </a:lnTo>
                <a:lnTo>
                  <a:pt x="13208" y="38137"/>
                </a:lnTo>
                <a:lnTo>
                  <a:pt x="11641" y="38191"/>
                </a:lnTo>
                <a:lnTo>
                  <a:pt x="10545" y="38003"/>
                </a:lnTo>
                <a:lnTo>
                  <a:pt x="9263" y="38085"/>
                </a:lnTo>
                <a:lnTo>
                  <a:pt x="8462" y="37848"/>
                </a:lnTo>
                <a:lnTo>
                  <a:pt x="7494" y="37733"/>
                </a:lnTo>
                <a:lnTo>
                  <a:pt x="6716" y="37650"/>
                </a:lnTo>
                <a:lnTo>
                  <a:pt x="6007" y="37413"/>
                </a:lnTo>
                <a:lnTo>
                  <a:pt x="5416" y="37265"/>
                </a:lnTo>
                <a:lnTo>
                  <a:pt x="4895" y="36913"/>
                </a:lnTo>
                <a:lnTo>
                  <a:pt x="4285" y="36617"/>
                </a:lnTo>
                <a:lnTo>
                  <a:pt x="3720" y="36332"/>
                </a:lnTo>
                <a:lnTo>
                  <a:pt x="3319" y="36048"/>
                </a:lnTo>
                <a:lnTo>
                  <a:pt x="3028" y="35732"/>
                </a:lnTo>
                <a:lnTo>
                  <a:pt x="2673" y="35333"/>
                </a:lnTo>
                <a:lnTo>
                  <a:pt x="2323" y="35044"/>
                </a:lnTo>
                <a:lnTo>
                  <a:pt x="1973" y="34515"/>
                </a:lnTo>
                <a:lnTo>
                  <a:pt x="1594" y="34064"/>
                </a:lnTo>
                <a:lnTo>
                  <a:pt x="1199" y="33578"/>
                </a:lnTo>
                <a:lnTo>
                  <a:pt x="1044" y="33049"/>
                </a:lnTo>
                <a:lnTo>
                  <a:pt x="760" y="32423"/>
                </a:lnTo>
                <a:lnTo>
                  <a:pt x="735" y="31829"/>
                </a:lnTo>
                <a:lnTo>
                  <a:pt x="531" y="31199"/>
                </a:lnTo>
                <a:lnTo>
                  <a:pt x="393" y="30217"/>
                </a:lnTo>
                <a:lnTo>
                  <a:pt x="301" y="29241"/>
                </a:lnTo>
                <a:lnTo>
                  <a:pt x="92" y="28305"/>
                </a:lnTo>
                <a:lnTo>
                  <a:pt x="75" y="26794"/>
                </a:lnTo>
                <a:lnTo>
                  <a:pt x="28" y="25054"/>
                </a:lnTo>
                <a:lnTo>
                  <a:pt x="185" y="19280"/>
                </a:lnTo>
                <a:lnTo>
                  <a:pt x="80" y="13258"/>
                </a:lnTo>
                <a:lnTo>
                  <a:pt x="0" y="11454"/>
                </a:lnTo>
                <a:lnTo>
                  <a:pt x="225" y="10159"/>
                </a:lnTo>
                <a:lnTo>
                  <a:pt x="383" y="8973"/>
                </a:lnTo>
                <a:lnTo>
                  <a:pt x="346" y="7965"/>
                </a:lnTo>
                <a:lnTo>
                  <a:pt x="510" y="7155"/>
                </a:lnTo>
                <a:lnTo>
                  <a:pt x="806" y="6621"/>
                </a:lnTo>
                <a:lnTo>
                  <a:pt x="767" y="5874"/>
                </a:lnTo>
                <a:lnTo>
                  <a:pt x="1058" y="5144"/>
                </a:lnTo>
                <a:lnTo>
                  <a:pt x="1360" y="4708"/>
                </a:lnTo>
                <a:lnTo>
                  <a:pt x="1647" y="4221"/>
                </a:lnTo>
                <a:lnTo>
                  <a:pt x="1892" y="3706"/>
                </a:lnTo>
                <a:lnTo>
                  <a:pt x="2263" y="3415"/>
                </a:lnTo>
                <a:lnTo>
                  <a:pt x="2653" y="2907"/>
                </a:lnTo>
                <a:lnTo>
                  <a:pt x="3018" y="2534"/>
                </a:lnTo>
                <a:lnTo>
                  <a:pt x="3480" y="2243"/>
                </a:lnTo>
                <a:lnTo>
                  <a:pt x="3880" y="1803"/>
                </a:lnTo>
                <a:lnTo>
                  <a:pt x="4304" y="1561"/>
                </a:lnTo>
                <a:lnTo>
                  <a:pt x="4820" y="1496"/>
                </a:lnTo>
                <a:lnTo>
                  <a:pt x="5450" y="1131"/>
                </a:lnTo>
                <a:lnTo>
                  <a:pt x="6054" y="965"/>
                </a:lnTo>
                <a:lnTo>
                  <a:pt x="6711" y="662"/>
                </a:lnTo>
                <a:lnTo>
                  <a:pt x="7551" y="559"/>
                </a:lnTo>
                <a:lnTo>
                  <a:pt x="8515" y="462"/>
                </a:lnTo>
                <a:lnTo>
                  <a:pt x="9464" y="288"/>
                </a:lnTo>
                <a:lnTo>
                  <a:pt x="10341" y="247"/>
                </a:lnTo>
                <a:lnTo>
                  <a:pt x="11636" y="264"/>
                </a:lnTo>
                <a:lnTo>
                  <a:pt x="13254" y="241"/>
                </a:lnTo>
                <a:lnTo>
                  <a:pt x="15549" y="56"/>
                </a:lnTo>
                <a:lnTo>
                  <a:pt x="22365" y="40"/>
                </a:lnTo>
                <a:lnTo>
                  <a:pt x="29010" y="0"/>
                </a:lnTo>
                <a:lnTo>
                  <a:pt x="31339" y="65"/>
                </a:lnTo>
                <a:lnTo>
                  <a:pt x="32793" y="145"/>
                </a:lnTo>
                <a:lnTo>
                  <a:pt x="33967" y="347"/>
                </a:lnTo>
                <a:lnTo>
                  <a:pt x="35112" y="253"/>
                </a:lnTo>
                <a:lnTo>
                  <a:pt x="36071" y="514"/>
                </a:lnTo>
                <a:lnTo>
                  <a:pt x="37065" y="620"/>
                </a:lnTo>
                <a:lnTo>
                  <a:pt x="37832" y="822"/>
                </a:lnTo>
                <a:lnTo>
                  <a:pt x="38431" y="948"/>
                </a:lnTo>
                <a:lnTo>
                  <a:pt x="39162" y="1275"/>
                </a:lnTo>
                <a:lnTo>
                  <a:pt x="39601" y="1417"/>
                </a:lnTo>
                <a:lnTo>
                  <a:pt x="40062" y="1623"/>
                </a:lnTo>
                <a:lnTo>
                  <a:pt x="40766" y="1936"/>
                </a:lnTo>
                <a:lnTo>
                  <a:pt x="41070" y="2159"/>
                </a:lnTo>
                <a:lnTo>
                  <a:pt x="41621" y="2527"/>
                </a:lnTo>
                <a:lnTo>
                  <a:pt x="41856" y="2945"/>
                </a:lnTo>
                <a:lnTo>
                  <a:pt x="42216" y="3326"/>
                </a:lnTo>
                <a:lnTo>
                  <a:pt x="42649" y="3656"/>
                </a:lnTo>
                <a:lnTo>
                  <a:pt x="42821" y="4295"/>
                </a:lnTo>
                <a:lnTo>
                  <a:pt x="43262" y="4762"/>
                </a:lnTo>
                <a:lnTo>
                  <a:pt x="43412" y="5355"/>
                </a:lnTo>
                <a:lnTo>
                  <a:pt x="43577" y="5770"/>
                </a:lnTo>
                <a:lnTo>
                  <a:pt x="43912" y="6451"/>
                </a:lnTo>
                <a:lnTo>
                  <a:pt x="43886" y="7310"/>
                </a:lnTo>
                <a:lnTo>
                  <a:pt x="44188" y="7965"/>
                </a:lnTo>
                <a:lnTo>
                  <a:pt x="44320" y="8926"/>
                </a:lnTo>
                <a:lnTo>
                  <a:pt x="44314" y="9982"/>
                </a:lnTo>
                <a:lnTo>
                  <a:pt x="44290" y="11411"/>
                </a:lnTo>
                <a:lnTo>
                  <a:pt x="44519" y="13375"/>
                </a:lnTo>
                <a:lnTo>
                  <a:pt x="44389" y="19286"/>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5276911" y="1777685"/>
            <a:ext cx="4078315" cy="3502426"/>
          </a:xfrm>
          <a:custGeom>
            <a:avLst/>
            <a:gdLst/>
            <a:ahLst/>
            <a:cxnLst/>
            <a:rect l="l" t="t" r="r" b="b"/>
            <a:pathLst>
              <a:path w="44601" h="38303">
                <a:moveTo>
                  <a:pt x="44568" y="19121"/>
                </a:moveTo>
                <a:lnTo>
                  <a:pt x="44542" y="24903"/>
                </a:lnTo>
                <a:lnTo>
                  <a:pt x="44351" y="26940"/>
                </a:lnTo>
                <a:lnTo>
                  <a:pt x="44431" y="28196"/>
                </a:lnTo>
                <a:lnTo>
                  <a:pt x="44226" y="29318"/>
                </a:lnTo>
                <a:lnTo>
                  <a:pt x="44196" y="30152"/>
                </a:lnTo>
                <a:lnTo>
                  <a:pt x="44065" y="31017"/>
                </a:lnTo>
                <a:lnTo>
                  <a:pt x="43741" y="31730"/>
                </a:lnTo>
                <a:lnTo>
                  <a:pt x="43610" y="32504"/>
                </a:lnTo>
                <a:lnTo>
                  <a:pt x="43589" y="33147"/>
                </a:lnTo>
                <a:lnTo>
                  <a:pt x="43256" y="33704"/>
                </a:lnTo>
                <a:lnTo>
                  <a:pt x="43001" y="34162"/>
                </a:lnTo>
                <a:lnTo>
                  <a:pt x="42597" y="34603"/>
                </a:lnTo>
                <a:lnTo>
                  <a:pt x="42325" y="34918"/>
                </a:lnTo>
                <a:lnTo>
                  <a:pt x="42004" y="35356"/>
                </a:lnTo>
                <a:lnTo>
                  <a:pt x="41521" y="35782"/>
                </a:lnTo>
                <a:lnTo>
                  <a:pt x="41063" y="36049"/>
                </a:lnTo>
                <a:lnTo>
                  <a:pt x="40686" y="36322"/>
                </a:lnTo>
                <a:lnTo>
                  <a:pt x="40235" y="36727"/>
                </a:lnTo>
                <a:lnTo>
                  <a:pt x="39745" y="36880"/>
                </a:lnTo>
                <a:lnTo>
                  <a:pt x="38984" y="37202"/>
                </a:lnTo>
                <a:lnTo>
                  <a:pt x="38564" y="37413"/>
                </a:lnTo>
                <a:lnTo>
                  <a:pt x="37815" y="37603"/>
                </a:lnTo>
                <a:lnTo>
                  <a:pt x="37130" y="37631"/>
                </a:lnTo>
                <a:lnTo>
                  <a:pt x="36082" y="37862"/>
                </a:lnTo>
                <a:lnTo>
                  <a:pt x="35321" y="37923"/>
                </a:lnTo>
                <a:lnTo>
                  <a:pt x="34073" y="38090"/>
                </a:lnTo>
                <a:lnTo>
                  <a:pt x="32904" y="38133"/>
                </a:lnTo>
                <a:lnTo>
                  <a:pt x="31260" y="38212"/>
                </a:lnTo>
                <a:lnTo>
                  <a:pt x="29027" y="38146"/>
                </a:lnTo>
                <a:lnTo>
                  <a:pt x="22279" y="38149"/>
                </a:lnTo>
                <a:lnTo>
                  <a:pt x="15378" y="38303"/>
                </a:lnTo>
                <a:lnTo>
                  <a:pt x="13346" y="38107"/>
                </a:lnTo>
                <a:lnTo>
                  <a:pt x="11601" y="38091"/>
                </a:lnTo>
                <a:lnTo>
                  <a:pt x="10347" y="38122"/>
                </a:lnTo>
                <a:lnTo>
                  <a:pt x="9309" y="37989"/>
                </a:lnTo>
                <a:lnTo>
                  <a:pt x="8499" y="37852"/>
                </a:lnTo>
                <a:lnTo>
                  <a:pt x="7464" y="37658"/>
                </a:lnTo>
                <a:lnTo>
                  <a:pt x="6798" y="37579"/>
                </a:lnTo>
                <a:lnTo>
                  <a:pt x="6097" y="37434"/>
                </a:lnTo>
                <a:lnTo>
                  <a:pt x="5402" y="37230"/>
                </a:lnTo>
                <a:lnTo>
                  <a:pt x="4862" y="36895"/>
                </a:lnTo>
                <a:lnTo>
                  <a:pt x="4475" y="36661"/>
                </a:lnTo>
                <a:lnTo>
                  <a:pt x="3921" y="36331"/>
                </a:lnTo>
                <a:lnTo>
                  <a:pt x="3496" y="36219"/>
                </a:lnTo>
                <a:lnTo>
                  <a:pt x="3074" y="35833"/>
                </a:lnTo>
                <a:lnTo>
                  <a:pt x="2597" y="35417"/>
                </a:lnTo>
                <a:lnTo>
                  <a:pt x="2344" y="35116"/>
                </a:lnTo>
                <a:lnTo>
                  <a:pt x="2041" y="34478"/>
                </a:lnTo>
                <a:lnTo>
                  <a:pt x="1567" y="34011"/>
                </a:lnTo>
                <a:lnTo>
                  <a:pt x="1323" y="33645"/>
                </a:lnTo>
                <a:lnTo>
                  <a:pt x="1081" y="33119"/>
                </a:lnTo>
                <a:lnTo>
                  <a:pt x="930" y="32476"/>
                </a:lnTo>
                <a:lnTo>
                  <a:pt x="589" y="31843"/>
                </a:lnTo>
                <a:lnTo>
                  <a:pt x="679" y="30968"/>
                </a:lnTo>
                <a:lnTo>
                  <a:pt x="338" y="30319"/>
                </a:lnTo>
                <a:lnTo>
                  <a:pt x="196" y="29369"/>
                </a:lnTo>
                <a:lnTo>
                  <a:pt x="136" y="28178"/>
                </a:lnTo>
                <a:lnTo>
                  <a:pt x="122" y="26972"/>
                </a:lnTo>
                <a:lnTo>
                  <a:pt x="61" y="25020"/>
                </a:lnTo>
                <a:lnTo>
                  <a:pt x="0" y="19157"/>
                </a:lnTo>
                <a:lnTo>
                  <a:pt x="37" y="13346"/>
                </a:lnTo>
                <a:lnTo>
                  <a:pt x="45" y="11460"/>
                </a:lnTo>
                <a:lnTo>
                  <a:pt x="257" y="10131"/>
                </a:lnTo>
                <a:lnTo>
                  <a:pt x="412" y="9033"/>
                </a:lnTo>
                <a:lnTo>
                  <a:pt x="464" y="7989"/>
                </a:lnTo>
                <a:lnTo>
                  <a:pt x="606" y="7324"/>
                </a:lnTo>
                <a:lnTo>
                  <a:pt x="806" y="6554"/>
                </a:lnTo>
                <a:lnTo>
                  <a:pt x="801" y="5902"/>
                </a:lnTo>
                <a:lnTo>
                  <a:pt x="1098" y="5168"/>
                </a:lnTo>
                <a:lnTo>
                  <a:pt x="1301" y="4638"/>
                </a:lnTo>
                <a:lnTo>
                  <a:pt x="1499" y="4128"/>
                </a:lnTo>
                <a:lnTo>
                  <a:pt x="1880" y="3680"/>
                </a:lnTo>
                <a:lnTo>
                  <a:pt x="2151" y="3218"/>
                </a:lnTo>
                <a:lnTo>
                  <a:pt x="2517" y="2971"/>
                </a:lnTo>
                <a:lnTo>
                  <a:pt x="2857" y="2460"/>
                </a:lnTo>
                <a:lnTo>
                  <a:pt x="3277" y="2153"/>
                </a:lnTo>
                <a:lnTo>
                  <a:pt x="3980" y="1992"/>
                </a:lnTo>
                <a:lnTo>
                  <a:pt x="4450" y="1633"/>
                </a:lnTo>
                <a:lnTo>
                  <a:pt x="4993" y="1414"/>
                </a:lnTo>
                <a:lnTo>
                  <a:pt x="5568" y="1124"/>
                </a:lnTo>
                <a:lnTo>
                  <a:pt x="6112" y="826"/>
                </a:lnTo>
                <a:lnTo>
                  <a:pt x="6826" y="707"/>
                </a:lnTo>
                <a:lnTo>
                  <a:pt x="7606" y="656"/>
                </a:lnTo>
                <a:lnTo>
                  <a:pt x="8472" y="536"/>
                </a:lnTo>
                <a:lnTo>
                  <a:pt x="9419" y="423"/>
                </a:lnTo>
                <a:lnTo>
                  <a:pt x="10381" y="269"/>
                </a:lnTo>
                <a:lnTo>
                  <a:pt x="11733" y="240"/>
                </a:lnTo>
                <a:lnTo>
                  <a:pt x="13278" y="229"/>
                </a:lnTo>
                <a:lnTo>
                  <a:pt x="15353" y="82"/>
                </a:lnTo>
                <a:lnTo>
                  <a:pt x="22358" y="169"/>
                </a:lnTo>
                <a:lnTo>
                  <a:pt x="29162" y="0"/>
                </a:lnTo>
                <a:lnTo>
                  <a:pt x="31212" y="222"/>
                </a:lnTo>
                <a:lnTo>
                  <a:pt x="32941" y="147"/>
                </a:lnTo>
                <a:lnTo>
                  <a:pt x="34048" y="247"/>
                </a:lnTo>
                <a:lnTo>
                  <a:pt x="35094" y="439"/>
                </a:lnTo>
                <a:lnTo>
                  <a:pt x="36259" y="347"/>
                </a:lnTo>
                <a:lnTo>
                  <a:pt x="37012" y="675"/>
                </a:lnTo>
                <a:lnTo>
                  <a:pt x="37700" y="703"/>
                </a:lnTo>
                <a:lnTo>
                  <a:pt x="38374" y="1015"/>
                </a:lnTo>
                <a:lnTo>
                  <a:pt x="39113" y="1030"/>
                </a:lnTo>
                <a:lnTo>
                  <a:pt x="39618" y="1411"/>
                </a:lnTo>
                <a:lnTo>
                  <a:pt x="40137" y="1655"/>
                </a:lnTo>
                <a:lnTo>
                  <a:pt x="40759" y="1937"/>
                </a:lnTo>
                <a:lnTo>
                  <a:pt x="41282" y="2121"/>
                </a:lnTo>
                <a:lnTo>
                  <a:pt x="41577" y="2454"/>
                </a:lnTo>
                <a:lnTo>
                  <a:pt x="42026" y="3031"/>
                </a:lnTo>
                <a:lnTo>
                  <a:pt x="42250" y="3326"/>
                </a:lnTo>
                <a:lnTo>
                  <a:pt x="42611" y="3809"/>
                </a:lnTo>
                <a:lnTo>
                  <a:pt x="43070" y="4166"/>
                </a:lnTo>
                <a:lnTo>
                  <a:pt x="43282" y="4706"/>
                </a:lnTo>
                <a:lnTo>
                  <a:pt x="43345" y="5190"/>
                </a:lnTo>
                <a:lnTo>
                  <a:pt x="43605" y="5824"/>
                </a:lnTo>
                <a:lnTo>
                  <a:pt x="43802" y="6405"/>
                </a:lnTo>
                <a:lnTo>
                  <a:pt x="43916" y="7327"/>
                </a:lnTo>
                <a:lnTo>
                  <a:pt x="44247" y="7984"/>
                </a:lnTo>
                <a:lnTo>
                  <a:pt x="44385" y="8968"/>
                </a:lnTo>
                <a:lnTo>
                  <a:pt x="44450" y="10109"/>
                </a:lnTo>
                <a:lnTo>
                  <a:pt x="44298" y="11478"/>
                </a:lnTo>
                <a:lnTo>
                  <a:pt x="44438" y="13277"/>
                </a:lnTo>
                <a:lnTo>
                  <a:pt x="44601" y="19159"/>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9271284" y="4460443"/>
            <a:ext cx="54224" cy="286573"/>
          </a:xfrm>
          <a:custGeom>
            <a:avLst/>
            <a:gdLst/>
            <a:ahLst/>
            <a:cxnLst/>
            <a:rect l="l" t="t" r="r" b="b"/>
            <a:pathLst>
              <a:path w="593" h="3134">
                <a:moveTo>
                  <a:pt x="593" y="0"/>
                </a:moveTo>
                <a:lnTo>
                  <a:pt x="483" y="932"/>
                </a:lnTo>
                <a:lnTo>
                  <a:pt x="347" y="1748"/>
                </a:lnTo>
                <a:lnTo>
                  <a:pt x="187" y="2476"/>
                </a:lnTo>
                <a:lnTo>
                  <a:pt x="0" y="313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8660557" y="5155662"/>
            <a:ext cx="245151" cy="71323"/>
          </a:xfrm>
          <a:custGeom>
            <a:avLst/>
            <a:gdLst/>
            <a:ahLst/>
            <a:cxnLst/>
            <a:rect l="l" t="t" r="r" b="b"/>
            <a:pathLst>
              <a:path w="2681" h="780">
                <a:moveTo>
                  <a:pt x="2681" y="0"/>
                </a:moveTo>
                <a:lnTo>
                  <a:pt x="2096" y="230"/>
                </a:lnTo>
                <a:lnTo>
                  <a:pt x="1460" y="436"/>
                </a:lnTo>
                <a:lnTo>
                  <a:pt x="764" y="619"/>
                </a:lnTo>
                <a:lnTo>
                  <a:pt x="0" y="78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5899983" y="5212263"/>
            <a:ext cx="333207" cy="46634"/>
          </a:xfrm>
          <a:custGeom>
            <a:avLst/>
            <a:gdLst/>
            <a:ahLst/>
            <a:cxnLst/>
            <a:rect l="l" t="t" r="r" b="b"/>
            <a:pathLst>
              <a:path w="3644" h="510">
                <a:moveTo>
                  <a:pt x="3644" y="510"/>
                </a:moveTo>
                <a:lnTo>
                  <a:pt x="2560" y="415"/>
                </a:lnTo>
                <a:lnTo>
                  <a:pt x="1611" y="299"/>
                </a:lnTo>
                <a:lnTo>
                  <a:pt x="764" y="161"/>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5342016" y="4686849"/>
            <a:ext cx="82845" cy="210952"/>
          </a:xfrm>
          <a:custGeom>
            <a:avLst/>
            <a:gdLst/>
            <a:ahLst/>
            <a:cxnLst/>
            <a:rect l="l" t="t" r="r" b="b"/>
            <a:pathLst>
              <a:path w="906" h="2307">
                <a:moveTo>
                  <a:pt x="906" y="2307"/>
                </a:moveTo>
                <a:lnTo>
                  <a:pt x="639" y="1804"/>
                </a:lnTo>
                <a:lnTo>
                  <a:pt x="400" y="1256"/>
                </a:lnTo>
                <a:lnTo>
                  <a:pt x="187" y="658"/>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5304892" y="2312152"/>
            <a:ext cx="54224" cy="286573"/>
          </a:xfrm>
          <a:custGeom>
            <a:avLst/>
            <a:gdLst/>
            <a:ahLst/>
            <a:cxnLst/>
            <a:rect l="l" t="t" r="r" b="b"/>
            <a:pathLst>
              <a:path w="593" h="3134">
                <a:moveTo>
                  <a:pt x="0" y="3134"/>
                </a:moveTo>
                <a:lnTo>
                  <a:pt x="110" y="2202"/>
                </a:lnTo>
                <a:lnTo>
                  <a:pt x="246" y="1386"/>
                </a:lnTo>
                <a:lnTo>
                  <a:pt x="406" y="658"/>
                </a:lnTo>
                <a:lnTo>
                  <a:pt x="593"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5724693" y="1832183"/>
            <a:ext cx="245151" cy="71323"/>
          </a:xfrm>
          <a:custGeom>
            <a:avLst/>
            <a:gdLst/>
            <a:ahLst/>
            <a:cxnLst/>
            <a:rect l="l" t="t" r="r" b="b"/>
            <a:pathLst>
              <a:path w="2681" h="780">
                <a:moveTo>
                  <a:pt x="0" y="780"/>
                </a:moveTo>
                <a:lnTo>
                  <a:pt x="585" y="550"/>
                </a:lnTo>
                <a:lnTo>
                  <a:pt x="1221" y="344"/>
                </a:lnTo>
                <a:lnTo>
                  <a:pt x="1917" y="161"/>
                </a:lnTo>
                <a:lnTo>
                  <a:pt x="2681"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8397210" y="1800271"/>
            <a:ext cx="333207" cy="46634"/>
          </a:xfrm>
          <a:custGeom>
            <a:avLst/>
            <a:gdLst/>
            <a:ahLst/>
            <a:cxnLst/>
            <a:rect l="l" t="t" r="r" b="b"/>
            <a:pathLst>
              <a:path w="3644" h="510">
                <a:moveTo>
                  <a:pt x="0" y="0"/>
                </a:moveTo>
                <a:lnTo>
                  <a:pt x="1084" y="95"/>
                </a:lnTo>
                <a:lnTo>
                  <a:pt x="2033" y="211"/>
                </a:lnTo>
                <a:lnTo>
                  <a:pt x="2880" y="349"/>
                </a:lnTo>
                <a:lnTo>
                  <a:pt x="3644" y="51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9205539" y="2161367"/>
            <a:ext cx="82845" cy="210952"/>
          </a:xfrm>
          <a:custGeom>
            <a:avLst/>
            <a:gdLst/>
            <a:ahLst/>
            <a:cxnLst/>
            <a:rect l="l" t="t" r="r" b="b"/>
            <a:pathLst>
              <a:path w="906" h="2307">
                <a:moveTo>
                  <a:pt x="0" y="0"/>
                </a:moveTo>
                <a:lnTo>
                  <a:pt x="267" y="503"/>
                </a:lnTo>
                <a:lnTo>
                  <a:pt x="506" y="1051"/>
                </a:lnTo>
                <a:lnTo>
                  <a:pt x="719" y="1649"/>
                </a:lnTo>
                <a:lnTo>
                  <a:pt x="906" y="2307"/>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ody: Intake agent"/>
          <p:cNvSpPr txBox="1"/>
          <p:nvPr/>
        </p:nvSpPr>
        <p:spPr>
          <a:xfrm>
            <a:off x="5632704" y="2052066"/>
            <a:ext cx="3364992"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9D7B35"/>
                </a:solidFill>
                <a:latin typeface="Chalkboard SE"/>
              </a:rPr>
              <a:t>Intake agent</a:t>
            </a:r>
          </a:p>
        </p:txBody>
      </p:sp>
      <p:sp>
        <p:nvSpPr>
          <p:cNvPr id="45" name="Oval 44"/>
          <p:cNvSpPr/>
          <p:nvPr/>
        </p:nvSpPr>
        <p:spPr>
          <a:xfrm>
            <a:off x="5545836" y="300323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 Normalise to one incident schema"/>
          <p:cNvSpPr txBox="1"/>
          <p:nvPr/>
        </p:nvSpPr>
        <p:spPr>
          <a:xfrm>
            <a:off x="5779008" y="2902648"/>
            <a:ext cx="3319272" cy="600837"/>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Normalise to one incident</a:t>
            </a:r>
            <a:br/>
            <a:r>
              <a:rPr sz="1650" b="0">
                <a:solidFill>
                  <a:srgbClr val="293E46"/>
                </a:solidFill>
                <a:latin typeface="Trebuchet MS"/>
              </a:rPr>
              <a:t>schema</a:t>
            </a:r>
          </a:p>
        </p:txBody>
      </p:sp>
      <p:sp>
        <p:nvSpPr>
          <p:cNvPr id="47" name="Oval 46"/>
          <p:cNvSpPr/>
          <p:nvPr/>
        </p:nvSpPr>
        <p:spPr>
          <a:xfrm>
            <a:off x="5545836" y="3722941"/>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 Taxonomy from MITRE ATLAS and OWASP agentic threats; dedupe"/>
          <p:cNvSpPr txBox="1"/>
          <p:nvPr/>
        </p:nvSpPr>
        <p:spPr>
          <a:xfrm>
            <a:off x="5779008" y="3622357"/>
            <a:ext cx="3319272" cy="600837"/>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Taxonomy from MITRE ATLAS and</a:t>
            </a:r>
            <a:br/>
            <a:r>
              <a:rPr sz="1650" b="0">
                <a:solidFill>
                  <a:srgbClr val="293E46"/>
                </a:solidFill>
                <a:latin typeface="Trebuchet MS"/>
              </a:rPr>
              <a:t>OWASP agentic threats; dedupe</a:t>
            </a:r>
          </a:p>
        </p:txBody>
      </p:sp>
      <p:sp>
        <p:nvSpPr>
          <p:cNvPr id="49" name="Oval 48"/>
          <p:cNvSpPr/>
          <p:nvPr/>
        </p:nvSpPr>
        <p:spPr>
          <a:xfrm>
            <a:off x="5545836" y="444265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dy: Grade evidence: A executable, B trace, C narrative"/>
          <p:cNvSpPr txBox="1"/>
          <p:nvPr/>
        </p:nvSpPr>
        <p:spPr>
          <a:xfrm>
            <a:off x="5779008" y="4342066"/>
            <a:ext cx="3319272" cy="600837"/>
          </a:xfrm>
          <a:prstGeom prst="rect">
            <a:avLst/>
          </a:prstGeom>
          <a:noFill/>
        </p:spPr>
        <p:txBody>
          <a:bodyPr wrap="none" lIns="0" rIns="0" tIns="0" bIns="0" anchor="t">
            <a:noAutofit/>
          </a:bodyPr>
          <a:lstStyle/>
          <a:p>
            <a:pPr algn="l">
              <a:lnSpc>
                <a:spcPts val="2095"/>
              </a:lnSpc>
              <a:spcBef>
                <a:spcPts val="0"/>
              </a:spcBef>
              <a:spcAft>
                <a:spcPts val="0"/>
              </a:spcAft>
            </a:pPr>
            <a:r>
              <a:rPr sz="1650" b="0">
                <a:solidFill>
                  <a:srgbClr val="293E46"/>
                </a:solidFill>
                <a:latin typeface="Trebuchet MS"/>
              </a:rPr>
              <a:t>Grade evidence: A executable, B</a:t>
            </a:r>
            <a:br/>
            <a:r>
              <a:rPr sz="1650" b="0">
                <a:solidFill>
                  <a:srgbClr val="293E46"/>
                </a:solidFill>
                <a:latin typeface="Trebuchet MS"/>
              </a:rPr>
              <a:t>trace, C narrative</a:t>
            </a:r>
          </a:p>
        </p:txBody>
      </p:sp>
      <p:sp>
        <p:nvSpPr>
          <p:cNvPr id="51" name="Freeform 50"/>
          <p:cNvSpPr/>
          <p:nvPr/>
        </p:nvSpPr>
        <p:spPr>
          <a:xfrm>
            <a:off x="9454896" y="3444545"/>
            <a:ext cx="338328" cy="11887"/>
          </a:xfrm>
          <a:custGeom>
            <a:avLst/>
            <a:gdLst/>
            <a:ahLst/>
            <a:cxnLst/>
            <a:rect l="l" t="t" r="r" b="b"/>
            <a:pathLst>
              <a:path w="3700" h="130">
                <a:moveTo>
                  <a:pt x="0" y="130"/>
                </a:moveTo>
                <a:lnTo>
                  <a:pt x="1850" y="0"/>
                </a:lnTo>
                <a:lnTo>
                  <a:pt x="3700" y="13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9711385" y="3456432"/>
            <a:ext cx="81839" cy="50201"/>
          </a:xfrm>
          <a:custGeom>
            <a:avLst/>
            <a:gdLst/>
            <a:ahLst/>
            <a:cxnLst/>
            <a:rect l="l" t="t" r="r" b="b"/>
            <a:pathLst>
              <a:path w="895" h="549">
                <a:moveTo>
                  <a:pt x="0" y="549"/>
                </a:moveTo>
                <a:lnTo>
                  <a:pt x="895" y="0"/>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9711385" y="3406231"/>
            <a:ext cx="81839" cy="50201"/>
          </a:xfrm>
          <a:custGeom>
            <a:avLst/>
            <a:gdLst/>
            <a:ahLst/>
            <a:cxnLst/>
            <a:rect l="l" t="t" r="r" b="b"/>
            <a:pathLst>
              <a:path w="895" h="549">
                <a:moveTo>
                  <a:pt x="0" y="0"/>
                </a:moveTo>
                <a:lnTo>
                  <a:pt x="895" y="549"/>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9912096" y="1773936"/>
            <a:ext cx="4078224" cy="3511296"/>
          </a:xfrm>
          <a:prstGeom prst="roundRect">
            <a:avLst>
              <a:gd name="adj" fmla="val 18000"/>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9915388" y="1780977"/>
            <a:ext cx="4072646" cy="3497489"/>
          </a:xfrm>
          <a:custGeom>
            <a:avLst/>
            <a:gdLst/>
            <a:ahLst/>
            <a:cxnLst/>
            <a:rect l="l" t="t" r="r" b="b"/>
            <a:pathLst>
              <a:path w="44539" h="38249">
                <a:moveTo>
                  <a:pt x="44539" y="19098"/>
                </a:moveTo>
                <a:lnTo>
                  <a:pt x="44333" y="25076"/>
                </a:lnTo>
                <a:lnTo>
                  <a:pt x="44516" y="26819"/>
                </a:lnTo>
                <a:lnTo>
                  <a:pt x="44396" y="28158"/>
                </a:lnTo>
                <a:lnTo>
                  <a:pt x="44289" y="29306"/>
                </a:lnTo>
                <a:lnTo>
                  <a:pt x="44186" y="30338"/>
                </a:lnTo>
                <a:lnTo>
                  <a:pt x="43881" y="31157"/>
                </a:lnTo>
                <a:lnTo>
                  <a:pt x="43924" y="31796"/>
                </a:lnTo>
                <a:lnTo>
                  <a:pt x="43786" y="32465"/>
                </a:lnTo>
                <a:lnTo>
                  <a:pt x="43335" y="33154"/>
                </a:lnTo>
                <a:lnTo>
                  <a:pt x="43271" y="33605"/>
                </a:lnTo>
                <a:lnTo>
                  <a:pt x="43014" y="34022"/>
                </a:lnTo>
                <a:lnTo>
                  <a:pt x="42554" y="34663"/>
                </a:lnTo>
                <a:lnTo>
                  <a:pt x="42365" y="34885"/>
                </a:lnTo>
                <a:lnTo>
                  <a:pt x="41891" y="35429"/>
                </a:lnTo>
                <a:lnTo>
                  <a:pt x="41626" y="35613"/>
                </a:lnTo>
                <a:lnTo>
                  <a:pt x="41235" y="36081"/>
                </a:lnTo>
                <a:lnTo>
                  <a:pt x="40783" y="36490"/>
                </a:lnTo>
                <a:lnTo>
                  <a:pt x="40080" y="36611"/>
                </a:lnTo>
                <a:lnTo>
                  <a:pt x="39717" y="37012"/>
                </a:lnTo>
                <a:lnTo>
                  <a:pt x="38983" y="37162"/>
                </a:lnTo>
                <a:lnTo>
                  <a:pt x="38394" y="37227"/>
                </a:lnTo>
                <a:lnTo>
                  <a:pt x="37807" y="37457"/>
                </a:lnTo>
                <a:lnTo>
                  <a:pt x="36945" y="37765"/>
                </a:lnTo>
                <a:lnTo>
                  <a:pt x="36024" y="37899"/>
                </a:lnTo>
                <a:lnTo>
                  <a:pt x="35094" y="38040"/>
                </a:lnTo>
                <a:lnTo>
                  <a:pt x="34079" y="37941"/>
                </a:lnTo>
                <a:lnTo>
                  <a:pt x="32759" y="38197"/>
                </a:lnTo>
                <a:lnTo>
                  <a:pt x="31268" y="38100"/>
                </a:lnTo>
                <a:lnTo>
                  <a:pt x="28974" y="38248"/>
                </a:lnTo>
                <a:lnTo>
                  <a:pt x="22266" y="38130"/>
                </a:lnTo>
                <a:lnTo>
                  <a:pt x="15568" y="38249"/>
                </a:lnTo>
                <a:lnTo>
                  <a:pt x="13223" y="38090"/>
                </a:lnTo>
                <a:lnTo>
                  <a:pt x="11635" y="38139"/>
                </a:lnTo>
                <a:lnTo>
                  <a:pt x="10448" y="38048"/>
                </a:lnTo>
                <a:lnTo>
                  <a:pt x="9450" y="37879"/>
                </a:lnTo>
                <a:lnTo>
                  <a:pt x="8271" y="37785"/>
                </a:lnTo>
                <a:lnTo>
                  <a:pt x="7594" y="37738"/>
                </a:lnTo>
                <a:lnTo>
                  <a:pt x="6666" y="37492"/>
                </a:lnTo>
                <a:lnTo>
                  <a:pt x="6044" y="37459"/>
                </a:lnTo>
                <a:lnTo>
                  <a:pt x="5548" y="37212"/>
                </a:lnTo>
                <a:lnTo>
                  <a:pt x="4757" y="36834"/>
                </a:lnTo>
                <a:lnTo>
                  <a:pt x="4244" y="36576"/>
                </a:lnTo>
                <a:lnTo>
                  <a:pt x="3724" y="36454"/>
                </a:lnTo>
                <a:lnTo>
                  <a:pt x="3484" y="35956"/>
                </a:lnTo>
                <a:lnTo>
                  <a:pt x="2920" y="35790"/>
                </a:lnTo>
                <a:lnTo>
                  <a:pt x="2673" y="35479"/>
                </a:lnTo>
                <a:lnTo>
                  <a:pt x="2268" y="34861"/>
                </a:lnTo>
                <a:lnTo>
                  <a:pt x="1779" y="34642"/>
                </a:lnTo>
                <a:lnTo>
                  <a:pt x="1576" y="33992"/>
                </a:lnTo>
                <a:lnTo>
                  <a:pt x="1343" y="33648"/>
                </a:lnTo>
                <a:lnTo>
                  <a:pt x="962" y="32995"/>
                </a:lnTo>
                <a:lnTo>
                  <a:pt x="748" y="32443"/>
                </a:lnTo>
                <a:lnTo>
                  <a:pt x="742" y="31781"/>
                </a:lnTo>
                <a:lnTo>
                  <a:pt x="490" y="31085"/>
                </a:lnTo>
                <a:lnTo>
                  <a:pt x="341" y="30209"/>
                </a:lnTo>
                <a:lnTo>
                  <a:pt x="315" y="29408"/>
                </a:lnTo>
                <a:lnTo>
                  <a:pt x="197" y="28279"/>
                </a:lnTo>
                <a:lnTo>
                  <a:pt x="33" y="26940"/>
                </a:lnTo>
                <a:lnTo>
                  <a:pt x="46" y="25065"/>
                </a:lnTo>
                <a:lnTo>
                  <a:pt x="0" y="19140"/>
                </a:lnTo>
                <a:lnTo>
                  <a:pt x="172" y="13265"/>
                </a:lnTo>
                <a:lnTo>
                  <a:pt x="252" y="11274"/>
                </a:lnTo>
                <a:lnTo>
                  <a:pt x="163" y="10104"/>
                </a:lnTo>
                <a:lnTo>
                  <a:pt x="376" y="9049"/>
                </a:lnTo>
                <a:lnTo>
                  <a:pt x="326" y="8123"/>
                </a:lnTo>
                <a:lnTo>
                  <a:pt x="617" y="7118"/>
                </a:lnTo>
                <a:lnTo>
                  <a:pt x="765" y="6551"/>
                </a:lnTo>
                <a:lnTo>
                  <a:pt x="883" y="5722"/>
                </a:lnTo>
                <a:lnTo>
                  <a:pt x="1095" y="5300"/>
                </a:lnTo>
                <a:lnTo>
                  <a:pt x="1394" y="4556"/>
                </a:lnTo>
                <a:lnTo>
                  <a:pt x="1598" y="4268"/>
                </a:lnTo>
                <a:lnTo>
                  <a:pt x="1994" y="3813"/>
                </a:lnTo>
                <a:lnTo>
                  <a:pt x="2212" y="3199"/>
                </a:lnTo>
                <a:lnTo>
                  <a:pt x="2633" y="2858"/>
                </a:lnTo>
                <a:lnTo>
                  <a:pt x="2970" y="2564"/>
                </a:lnTo>
                <a:lnTo>
                  <a:pt x="3435" y="2076"/>
                </a:lnTo>
                <a:lnTo>
                  <a:pt x="3725" y="1930"/>
                </a:lnTo>
                <a:lnTo>
                  <a:pt x="4266" y="1518"/>
                </a:lnTo>
                <a:lnTo>
                  <a:pt x="4927" y="1391"/>
                </a:lnTo>
                <a:lnTo>
                  <a:pt x="5495" y="1053"/>
                </a:lnTo>
                <a:lnTo>
                  <a:pt x="6113" y="992"/>
                </a:lnTo>
                <a:lnTo>
                  <a:pt x="6780" y="795"/>
                </a:lnTo>
                <a:lnTo>
                  <a:pt x="7473" y="485"/>
                </a:lnTo>
                <a:lnTo>
                  <a:pt x="8448" y="447"/>
                </a:lnTo>
                <a:lnTo>
                  <a:pt x="9424" y="376"/>
                </a:lnTo>
                <a:lnTo>
                  <a:pt x="10440" y="245"/>
                </a:lnTo>
                <a:lnTo>
                  <a:pt x="11833" y="250"/>
                </a:lnTo>
                <a:lnTo>
                  <a:pt x="13233" y="168"/>
                </a:lnTo>
                <a:lnTo>
                  <a:pt x="15495" y="143"/>
                </a:lnTo>
                <a:lnTo>
                  <a:pt x="22197" y="0"/>
                </a:lnTo>
                <a:lnTo>
                  <a:pt x="29163" y="159"/>
                </a:lnTo>
                <a:lnTo>
                  <a:pt x="31288" y="159"/>
                </a:lnTo>
                <a:lnTo>
                  <a:pt x="32753" y="196"/>
                </a:lnTo>
                <a:lnTo>
                  <a:pt x="33988" y="161"/>
                </a:lnTo>
                <a:lnTo>
                  <a:pt x="35186" y="339"/>
                </a:lnTo>
                <a:lnTo>
                  <a:pt x="36102" y="355"/>
                </a:lnTo>
                <a:lnTo>
                  <a:pt x="37082" y="496"/>
                </a:lnTo>
                <a:lnTo>
                  <a:pt x="37865" y="829"/>
                </a:lnTo>
                <a:lnTo>
                  <a:pt x="38517" y="1018"/>
                </a:lnTo>
                <a:lnTo>
                  <a:pt x="39024" y="1145"/>
                </a:lnTo>
                <a:lnTo>
                  <a:pt x="39617" y="1338"/>
                </a:lnTo>
                <a:lnTo>
                  <a:pt x="40156" y="1710"/>
                </a:lnTo>
                <a:lnTo>
                  <a:pt x="40764" y="1917"/>
                </a:lnTo>
                <a:lnTo>
                  <a:pt x="41072" y="2099"/>
                </a:lnTo>
                <a:lnTo>
                  <a:pt x="41488" y="2441"/>
                </a:lnTo>
                <a:lnTo>
                  <a:pt x="41962" y="2885"/>
                </a:lnTo>
                <a:lnTo>
                  <a:pt x="42213" y="3173"/>
                </a:lnTo>
                <a:lnTo>
                  <a:pt x="42760" y="3783"/>
                </a:lnTo>
                <a:lnTo>
                  <a:pt x="42858" y="4139"/>
                </a:lnTo>
                <a:lnTo>
                  <a:pt x="43140" y="4645"/>
                </a:lnTo>
                <a:lnTo>
                  <a:pt x="43528" y="5126"/>
                </a:lnTo>
                <a:lnTo>
                  <a:pt x="43628" y="5701"/>
                </a:lnTo>
                <a:lnTo>
                  <a:pt x="43771" y="6368"/>
                </a:lnTo>
                <a:lnTo>
                  <a:pt x="43932" y="7218"/>
                </a:lnTo>
                <a:lnTo>
                  <a:pt x="44188" y="8011"/>
                </a:lnTo>
                <a:lnTo>
                  <a:pt x="44353" y="8824"/>
                </a:lnTo>
                <a:lnTo>
                  <a:pt x="44363" y="10140"/>
                </a:lnTo>
                <a:lnTo>
                  <a:pt x="44346" y="11298"/>
                </a:lnTo>
                <a:lnTo>
                  <a:pt x="44376" y="13361"/>
                </a:lnTo>
                <a:lnTo>
                  <a:pt x="44420" y="19227"/>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9922703" y="1774942"/>
            <a:ext cx="4067343" cy="3505992"/>
          </a:xfrm>
          <a:custGeom>
            <a:avLst/>
            <a:gdLst/>
            <a:ahLst/>
            <a:cxnLst/>
            <a:rect l="l" t="t" r="r" b="b"/>
            <a:pathLst>
              <a:path w="44481" h="38342">
                <a:moveTo>
                  <a:pt x="44440" y="19093"/>
                </a:moveTo>
                <a:lnTo>
                  <a:pt x="44481" y="25053"/>
                </a:lnTo>
                <a:lnTo>
                  <a:pt x="44228" y="26966"/>
                </a:lnTo>
                <a:lnTo>
                  <a:pt x="44139" y="28161"/>
                </a:lnTo>
                <a:lnTo>
                  <a:pt x="44188" y="29476"/>
                </a:lnTo>
                <a:lnTo>
                  <a:pt x="44029" y="30228"/>
                </a:lnTo>
                <a:lnTo>
                  <a:pt x="43999" y="31141"/>
                </a:lnTo>
                <a:lnTo>
                  <a:pt x="43671" y="31822"/>
                </a:lnTo>
                <a:lnTo>
                  <a:pt x="43500" y="32531"/>
                </a:lnTo>
                <a:lnTo>
                  <a:pt x="43466" y="33093"/>
                </a:lnTo>
                <a:lnTo>
                  <a:pt x="43046" y="33665"/>
                </a:lnTo>
                <a:lnTo>
                  <a:pt x="42858" y="34058"/>
                </a:lnTo>
                <a:lnTo>
                  <a:pt x="42633" y="34514"/>
                </a:lnTo>
                <a:lnTo>
                  <a:pt x="42149" y="34947"/>
                </a:lnTo>
                <a:lnTo>
                  <a:pt x="41976" y="35456"/>
                </a:lnTo>
                <a:lnTo>
                  <a:pt x="41415" y="35849"/>
                </a:lnTo>
                <a:lnTo>
                  <a:pt x="41173" y="36041"/>
                </a:lnTo>
                <a:lnTo>
                  <a:pt x="40617" y="36524"/>
                </a:lnTo>
                <a:lnTo>
                  <a:pt x="40104" y="36820"/>
                </a:lnTo>
                <a:lnTo>
                  <a:pt x="39571" y="36863"/>
                </a:lnTo>
                <a:lnTo>
                  <a:pt x="38886" y="37311"/>
                </a:lnTo>
                <a:lnTo>
                  <a:pt x="38289" y="37400"/>
                </a:lnTo>
                <a:lnTo>
                  <a:pt x="37720" y="37556"/>
                </a:lnTo>
                <a:lnTo>
                  <a:pt x="37020" y="37716"/>
                </a:lnTo>
                <a:lnTo>
                  <a:pt x="36152" y="37909"/>
                </a:lnTo>
                <a:lnTo>
                  <a:pt x="35007" y="38078"/>
                </a:lnTo>
                <a:lnTo>
                  <a:pt x="34063" y="38068"/>
                </a:lnTo>
                <a:lnTo>
                  <a:pt x="32649" y="38242"/>
                </a:lnTo>
                <a:lnTo>
                  <a:pt x="31175" y="38342"/>
                </a:lnTo>
                <a:lnTo>
                  <a:pt x="28904" y="38199"/>
                </a:lnTo>
                <a:lnTo>
                  <a:pt x="22265" y="38252"/>
                </a:lnTo>
                <a:lnTo>
                  <a:pt x="15243" y="38207"/>
                </a:lnTo>
                <a:lnTo>
                  <a:pt x="13117" y="38338"/>
                </a:lnTo>
                <a:lnTo>
                  <a:pt x="11610" y="38066"/>
                </a:lnTo>
                <a:lnTo>
                  <a:pt x="10362" y="38072"/>
                </a:lnTo>
                <a:lnTo>
                  <a:pt x="9318" y="37901"/>
                </a:lnTo>
                <a:lnTo>
                  <a:pt x="8205" y="37922"/>
                </a:lnTo>
                <a:lnTo>
                  <a:pt x="7380" y="37648"/>
                </a:lnTo>
                <a:lnTo>
                  <a:pt x="6732" y="37562"/>
                </a:lnTo>
                <a:lnTo>
                  <a:pt x="5931" y="37510"/>
                </a:lnTo>
                <a:lnTo>
                  <a:pt x="5372" y="37084"/>
                </a:lnTo>
                <a:lnTo>
                  <a:pt x="4764" y="36941"/>
                </a:lnTo>
                <a:lnTo>
                  <a:pt x="4359" y="36727"/>
                </a:lnTo>
                <a:lnTo>
                  <a:pt x="3712" y="36341"/>
                </a:lnTo>
                <a:lnTo>
                  <a:pt x="3266" y="36079"/>
                </a:lnTo>
                <a:lnTo>
                  <a:pt x="2835" y="35736"/>
                </a:lnTo>
                <a:lnTo>
                  <a:pt x="2467" y="35522"/>
                </a:lnTo>
                <a:lnTo>
                  <a:pt x="2109" y="35048"/>
                </a:lnTo>
                <a:lnTo>
                  <a:pt x="1842" y="34602"/>
                </a:lnTo>
                <a:lnTo>
                  <a:pt x="1422" y="34180"/>
                </a:lnTo>
                <a:lnTo>
                  <a:pt x="1120" y="33755"/>
                </a:lnTo>
                <a:lnTo>
                  <a:pt x="1075" y="33188"/>
                </a:lnTo>
                <a:lnTo>
                  <a:pt x="795" y="32475"/>
                </a:lnTo>
                <a:lnTo>
                  <a:pt x="718" y="31785"/>
                </a:lnTo>
                <a:lnTo>
                  <a:pt x="488" y="31216"/>
                </a:lnTo>
                <a:lnTo>
                  <a:pt x="222" y="30255"/>
                </a:lnTo>
                <a:lnTo>
                  <a:pt x="199" y="29316"/>
                </a:lnTo>
                <a:lnTo>
                  <a:pt x="138" y="28367"/>
                </a:lnTo>
                <a:lnTo>
                  <a:pt x="90" y="26899"/>
                </a:lnTo>
                <a:lnTo>
                  <a:pt x="22" y="25042"/>
                </a:lnTo>
                <a:lnTo>
                  <a:pt x="1" y="19160"/>
                </a:lnTo>
                <a:lnTo>
                  <a:pt x="56" y="13330"/>
                </a:lnTo>
                <a:lnTo>
                  <a:pt x="0" y="11371"/>
                </a:lnTo>
                <a:lnTo>
                  <a:pt x="13" y="10148"/>
                </a:lnTo>
                <a:lnTo>
                  <a:pt x="237" y="9112"/>
                </a:lnTo>
                <a:lnTo>
                  <a:pt x="255" y="8179"/>
                </a:lnTo>
                <a:lnTo>
                  <a:pt x="525" y="7300"/>
                </a:lnTo>
                <a:lnTo>
                  <a:pt x="710" y="6587"/>
                </a:lnTo>
                <a:lnTo>
                  <a:pt x="792" y="5861"/>
                </a:lnTo>
                <a:lnTo>
                  <a:pt x="920" y="5181"/>
                </a:lnTo>
                <a:lnTo>
                  <a:pt x="1175" y="4613"/>
                </a:lnTo>
                <a:lnTo>
                  <a:pt x="1499" y="4149"/>
                </a:lnTo>
                <a:lnTo>
                  <a:pt x="1813" y="3696"/>
                </a:lnTo>
                <a:lnTo>
                  <a:pt x="2059" y="3259"/>
                </a:lnTo>
                <a:lnTo>
                  <a:pt x="2533" y="3006"/>
                </a:lnTo>
                <a:lnTo>
                  <a:pt x="2878" y="2474"/>
                </a:lnTo>
                <a:lnTo>
                  <a:pt x="3357" y="2324"/>
                </a:lnTo>
                <a:lnTo>
                  <a:pt x="3642" y="1933"/>
                </a:lnTo>
                <a:lnTo>
                  <a:pt x="4147" y="1739"/>
                </a:lnTo>
                <a:lnTo>
                  <a:pt x="4751" y="1341"/>
                </a:lnTo>
                <a:lnTo>
                  <a:pt x="5401" y="1265"/>
                </a:lnTo>
                <a:lnTo>
                  <a:pt x="6119" y="896"/>
                </a:lnTo>
                <a:lnTo>
                  <a:pt x="6826" y="798"/>
                </a:lnTo>
                <a:lnTo>
                  <a:pt x="7401" y="519"/>
                </a:lnTo>
                <a:lnTo>
                  <a:pt x="8208" y="381"/>
                </a:lnTo>
                <a:lnTo>
                  <a:pt x="9338" y="447"/>
                </a:lnTo>
                <a:lnTo>
                  <a:pt x="10228" y="370"/>
                </a:lnTo>
                <a:lnTo>
                  <a:pt x="11514" y="94"/>
                </a:lnTo>
                <a:lnTo>
                  <a:pt x="13307" y="133"/>
                </a:lnTo>
                <a:lnTo>
                  <a:pt x="15450" y="186"/>
                </a:lnTo>
                <a:lnTo>
                  <a:pt x="22289" y="42"/>
                </a:lnTo>
                <a:lnTo>
                  <a:pt x="29022" y="0"/>
                </a:lnTo>
                <a:lnTo>
                  <a:pt x="31134" y="219"/>
                </a:lnTo>
                <a:lnTo>
                  <a:pt x="32707" y="104"/>
                </a:lnTo>
                <a:lnTo>
                  <a:pt x="34118" y="296"/>
                </a:lnTo>
                <a:lnTo>
                  <a:pt x="34975" y="398"/>
                </a:lnTo>
                <a:lnTo>
                  <a:pt x="36060" y="417"/>
                </a:lnTo>
                <a:lnTo>
                  <a:pt x="36904" y="545"/>
                </a:lnTo>
                <a:lnTo>
                  <a:pt x="37648" y="808"/>
                </a:lnTo>
                <a:lnTo>
                  <a:pt x="38293" y="1081"/>
                </a:lnTo>
                <a:lnTo>
                  <a:pt x="39048" y="1272"/>
                </a:lnTo>
                <a:lnTo>
                  <a:pt x="39542" y="1445"/>
                </a:lnTo>
                <a:lnTo>
                  <a:pt x="40135" y="1671"/>
                </a:lnTo>
                <a:lnTo>
                  <a:pt x="40549" y="1829"/>
                </a:lnTo>
                <a:lnTo>
                  <a:pt x="41084" y="2214"/>
                </a:lnTo>
                <a:lnTo>
                  <a:pt x="41444" y="2625"/>
                </a:lnTo>
                <a:lnTo>
                  <a:pt x="41889" y="2876"/>
                </a:lnTo>
                <a:lnTo>
                  <a:pt x="42134" y="3451"/>
                </a:lnTo>
                <a:lnTo>
                  <a:pt x="42479" y="3772"/>
                </a:lnTo>
                <a:lnTo>
                  <a:pt x="42964" y="4244"/>
                </a:lnTo>
                <a:lnTo>
                  <a:pt x="43040" y="4635"/>
                </a:lnTo>
                <a:lnTo>
                  <a:pt x="43261" y="5310"/>
                </a:lnTo>
                <a:lnTo>
                  <a:pt x="43467" y="5766"/>
                </a:lnTo>
                <a:lnTo>
                  <a:pt x="43690" y="6580"/>
                </a:lnTo>
                <a:lnTo>
                  <a:pt x="44010" y="7269"/>
                </a:lnTo>
                <a:lnTo>
                  <a:pt x="44104" y="8054"/>
                </a:lnTo>
                <a:lnTo>
                  <a:pt x="44044" y="9108"/>
                </a:lnTo>
                <a:lnTo>
                  <a:pt x="44340" y="10045"/>
                </a:lnTo>
                <a:lnTo>
                  <a:pt x="44216" y="11498"/>
                </a:lnTo>
                <a:lnTo>
                  <a:pt x="44468" y="13308"/>
                </a:lnTo>
                <a:lnTo>
                  <a:pt x="44452" y="19128"/>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13907292" y="4460443"/>
            <a:ext cx="54224" cy="286573"/>
          </a:xfrm>
          <a:custGeom>
            <a:avLst/>
            <a:gdLst/>
            <a:ahLst/>
            <a:cxnLst/>
            <a:rect l="l" t="t" r="r" b="b"/>
            <a:pathLst>
              <a:path w="593" h="3134">
                <a:moveTo>
                  <a:pt x="593" y="0"/>
                </a:moveTo>
                <a:lnTo>
                  <a:pt x="483" y="932"/>
                </a:lnTo>
                <a:lnTo>
                  <a:pt x="347" y="1748"/>
                </a:lnTo>
                <a:lnTo>
                  <a:pt x="187" y="2476"/>
                </a:lnTo>
                <a:lnTo>
                  <a:pt x="0" y="3134"/>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13296565" y="5155662"/>
            <a:ext cx="245151" cy="71323"/>
          </a:xfrm>
          <a:custGeom>
            <a:avLst/>
            <a:gdLst/>
            <a:ahLst/>
            <a:cxnLst/>
            <a:rect l="l" t="t" r="r" b="b"/>
            <a:pathLst>
              <a:path w="2681" h="780">
                <a:moveTo>
                  <a:pt x="2681" y="0"/>
                </a:moveTo>
                <a:lnTo>
                  <a:pt x="2096" y="230"/>
                </a:lnTo>
                <a:lnTo>
                  <a:pt x="1460" y="436"/>
                </a:lnTo>
                <a:lnTo>
                  <a:pt x="764" y="619"/>
                </a:lnTo>
                <a:lnTo>
                  <a:pt x="0" y="78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10535991" y="5212263"/>
            <a:ext cx="333207" cy="46634"/>
          </a:xfrm>
          <a:custGeom>
            <a:avLst/>
            <a:gdLst/>
            <a:ahLst/>
            <a:cxnLst/>
            <a:rect l="l" t="t" r="r" b="b"/>
            <a:pathLst>
              <a:path w="3644" h="510">
                <a:moveTo>
                  <a:pt x="3644" y="510"/>
                </a:moveTo>
                <a:lnTo>
                  <a:pt x="2560" y="415"/>
                </a:lnTo>
                <a:lnTo>
                  <a:pt x="1611" y="299"/>
                </a:lnTo>
                <a:lnTo>
                  <a:pt x="764" y="161"/>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9978024" y="4686849"/>
            <a:ext cx="82845" cy="210952"/>
          </a:xfrm>
          <a:custGeom>
            <a:avLst/>
            <a:gdLst/>
            <a:ahLst/>
            <a:cxnLst/>
            <a:rect l="l" t="t" r="r" b="b"/>
            <a:pathLst>
              <a:path w="906" h="2307">
                <a:moveTo>
                  <a:pt x="906" y="2307"/>
                </a:moveTo>
                <a:lnTo>
                  <a:pt x="639" y="1804"/>
                </a:lnTo>
                <a:lnTo>
                  <a:pt x="400" y="1256"/>
                </a:lnTo>
                <a:lnTo>
                  <a:pt x="187" y="658"/>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9940900" y="2312152"/>
            <a:ext cx="54224" cy="286573"/>
          </a:xfrm>
          <a:custGeom>
            <a:avLst/>
            <a:gdLst/>
            <a:ahLst/>
            <a:cxnLst/>
            <a:rect l="l" t="t" r="r" b="b"/>
            <a:pathLst>
              <a:path w="593" h="3134">
                <a:moveTo>
                  <a:pt x="0" y="3134"/>
                </a:moveTo>
                <a:lnTo>
                  <a:pt x="110" y="2202"/>
                </a:lnTo>
                <a:lnTo>
                  <a:pt x="246" y="1386"/>
                </a:lnTo>
                <a:lnTo>
                  <a:pt x="406" y="658"/>
                </a:lnTo>
                <a:lnTo>
                  <a:pt x="593"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10360701" y="1832183"/>
            <a:ext cx="245151" cy="71323"/>
          </a:xfrm>
          <a:custGeom>
            <a:avLst/>
            <a:gdLst/>
            <a:ahLst/>
            <a:cxnLst/>
            <a:rect l="l" t="t" r="r" b="b"/>
            <a:pathLst>
              <a:path w="2681" h="780">
                <a:moveTo>
                  <a:pt x="0" y="780"/>
                </a:moveTo>
                <a:lnTo>
                  <a:pt x="585" y="550"/>
                </a:lnTo>
                <a:lnTo>
                  <a:pt x="1221" y="344"/>
                </a:lnTo>
                <a:lnTo>
                  <a:pt x="1917" y="161"/>
                </a:lnTo>
                <a:lnTo>
                  <a:pt x="2681"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13033218" y="1800271"/>
            <a:ext cx="333207" cy="46634"/>
          </a:xfrm>
          <a:custGeom>
            <a:avLst/>
            <a:gdLst/>
            <a:ahLst/>
            <a:cxnLst/>
            <a:rect l="l" t="t" r="r" b="b"/>
            <a:pathLst>
              <a:path w="3644" h="510">
                <a:moveTo>
                  <a:pt x="0" y="0"/>
                </a:moveTo>
                <a:lnTo>
                  <a:pt x="1084" y="95"/>
                </a:lnTo>
                <a:lnTo>
                  <a:pt x="2033" y="211"/>
                </a:lnTo>
                <a:lnTo>
                  <a:pt x="2880" y="349"/>
                </a:lnTo>
                <a:lnTo>
                  <a:pt x="3644" y="51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13841547" y="2161367"/>
            <a:ext cx="82845" cy="210952"/>
          </a:xfrm>
          <a:custGeom>
            <a:avLst/>
            <a:gdLst/>
            <a:ahLst/>
            <a:cxnLst/>
            <a:rect l="l" t="t" r="r" b="b"/>
            <a:pathLst>
              <a:path w="906" h="2307">
                <a:moveTo>
                  <a:pt x="0" y="0"/>
                </a:moveTo>
                <a:lnTo>
                  <a:pt x="267" y="503"/>
                </a:lnTo>
                <a:lnTo>
                  <a:pt x="506" y="1051"/>
                </a:lnTo>
                <a:lnTo>
                  <a:pt x="719" y="1649"/>
                </a:lnTo>
                <a:lnTo>
                  <a:pt x="906" y="2307"/>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ody: Human review gate"/>
          <p:cNvSpPr txBox="1"/>
          <p:nvPr/>
        </p:nvSpPr>
        <p:spPr>
          <a:xfrm>
            <a:off x="10268712" y="2052066"/>
            <a:ext cx="3364992"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AE6B55"/>
                </a:solidFill>
                <a:latin typeface="Chalkboard SE"/>
              </a:rPr>
              <a:t>Human review gate</a:t>
            </a:r>
          </a:p>
        </p:txBody>
      </p:sp>
      <p:sp>
        <p:nvSpPr>
          <p:cNvPr id="66" name="Oval 65"/>
          <p:cNvSpPr/>
          <p:nvPr/>
        </p:nvSpPr>
        <p:spPr>
          <a:xfrm>
            <a:off x="10181844" y="342357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ody: Accept, reject, defer"/>
          <p:cNvSpPr txBox="1"/>
          <p:nvPr/>
        </p:nvSpPr>
        <p:spPr>
          <a:xfrm>
            <a:off x="10415015" y="3322986"/>
            <a:ext cx="3319272"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Accept, reject, defer</a:t>
            </a:r>
          </a:p>
        </p:txBody>
      </p:sp>
      <p:sp>
        <p:nvSpPr>
          <p:cNvPr id="68" name="Oval 67"/>
          <p:cNvSpPr/>
          <p:nvPr/>
        </p:nvSpPr>
        <p:spPr>
          <a:xfrm>
            <a:off x="10181844" y="392553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ody: A report alone never changes a policy"/>
          <p:cNvSpPr txBox="1"/>
          <p:nvPr/>
        </p:nvSpPr>
        <p:spPr>
          <a:xfrm>
            <a:off x="10415015" y="3824954"/>
            <a:ext cx="3319272" cy="697611"/>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A report alone never</a:t>
            </a:r>
            <a:br/>
            <a:r>
              <a:rPr sz="1950" b="0">
                <a:solidFill>
                  <a:srgbClr val="293E46"/>
                </a:solidFill>
                <a:latin typeface="Trebuchet MS"/>
              </a:rPr>
              <a:t>changes a policy</a:t>
            </a:r>
          </a:p>
        </p:txBody>
      </p:sp>
      <p:sp>
        <p:nvSpPr>
          <p:cNvPr id="70" name="Rounded Rectangle 69"/>
          <p:cNvSpPr/>
          <p:nvPr/>
        </p:nvSpPr>
        <p:spPr>
          <a:xfrm>
            <a:off x="640080" y="5449824"/>
            <a:ext cx="6510528" cy="1984248"/>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640903" y="5458602"/>
            <a:ext cx="6502298" cy="1972086"/>
          </a:xfrm>
          <a:custGeom>
            <a:avLst/>
            <a:gdLst/>
            <a:ahLst/>
            <a:cxnLst/>
            <a:rect l="l" t="t" r="r" b="b"/>
            <a:pathLst>
              <a:path w="71110" h="21567">
                <a:moveTo>
                  <a:pt x="70942" y="10690"/>
                </a:moveTo>
                <a:lnTo>
                  <a:pt x="70998" y="14155"/>
                </a:lnTo>
                <a:lnTo>
                  <a:pt x="71034" y="15036"/>
                </a:lnTo>
                <a:lnTo>
                  <a:pt x="70852" y="15808"/>
                </a:lnTo>
                <a:lnTo>
                  <a:pt x="70791" y="16528"/>
                </a:lnTo>
                <a:lnTo>
                  <a:pt x="70498" y="17042"/>
                </a:lnTo>
                <a:lnTo>
                  <a:pt x="70489" y="17580"/>
                </a:lnTo>
                <a:lnTo>
                  <a:pt x="70066" y="17932"/>
                </a:lnTo>
                <a:lnTo>
                  <a:pt x="69808" y="18234"/>
                </a:lnTo>
                <a:lnTo>
                  <a:pt x="69489" y="18460"/>
                </a:lnTo>
                <a:lnTo>
                  <a:pt x="69201" y="18988"/>
                </a:lnTo>
                <a:lnTo>
                  <a:pt x="68742" y="19222"/>
                </a:lnTo>
                <a:lnTo>
                  <a:pt x="68217" y="19315"/>
                </a:lnTo>
                <a:lnTo>
                  <a:pt x="67583" y="19727"/>
                </a:lnTo>
                <a:lnTo>
                  <a:pt x="67028" y="19971"/>
                </a:lnTo>
                <a:lnTo>
                  <a:pt x="66415" y="20201"/>
                </a:lnTo>
                <a:lnTo>
                  <a:pt x="65786" y="20204"/>
                </a:lnTo>
                <a:lnTo>
                  <a:pt x="65183" y="20566"/>
                </a:lnTo>
                <a:lnTo>
                  <a:pt x="64168" y="20588"/>
                </a:lnTo>
                <a:lnTo>
                  <a:pt x="63305" y="20856"/>
                </a:lnTo>
                <a:lnTo>
                  <a:pt x="62377" y="21002"/>
                </a:lnTo>
                <a:lnTo>
                  <a:pt x="61528" y="20893"/>
                </a:lnTo>
                <a:lnTo>
                  <a:pt x="60281" y="21154"/>
                </a:lnTo>
                <a:lnTo>
                  <a:pt x="58997" y="21096"/>
                </a:lnTo>
                <a:lnTo>
                  <a:pt x="57809" y="21237"/>
                </a:lnTo>
                <a:lnTo>
                  <a:pt x="56138" y="21406"/>
                </a:lnTo>
                <a:lnTo>
                  <a:pt x="54412" y="21473"/>
                </a:lnTo>
                <a:lnTo>
                  <a:pt x="52479" y="21511"/>
                </a:lnTo>
                <a:lnTo>
                  <a:pt x="50098" y="21441"/>
                </a:lnTo>
                <a:lnTo>
                  <a:pt x="46550" y="21567"/>
                </a:lnTo>
                <a:lnTo>
                  <a:pt x="35550" y="21408"/>
                </a:lnTo>
                <a:lnTo>
                  <a:pt x="24571" y="21452"/>
                </a:lnTo>
                <a:lnTo>
                  <a:pt x="21234" y="21552"/>
                </a:lnTo>
                <a:lnTo>
                  <a:pt x="18710" y="21528"/>
                </a:lnTo>
                <a:lnTo>
                  <a:pt x="16602" y="21444"/>
                </a:lnTo>
                <a:lnTo>
                  <a:pt x="14841" y="21334"/>
                </a:lnTo>
                <a:lnTo>
                  <a:pt x="13533" y="21263"/>
                </a:lnTo>
                <a:lnTo>
                  <a:pt x="11974" y="21229"/>
                </a:lnTo>
                <a:lnTo>
                  <a:pt x="10881" y="21075"/>
                </a:lnTo>
                <a:lnTo>
                  <a:pt x="9810" y="21096"/>
                </a:lnTo>
                <a:lnTo>
                  <a:pt x="8792" y="20947"/>
                </a:lnTo>
                <a:lnTo>
                  <a:pt x="7882" y="20725"/>
                </a:lnTo>
                <a:lnTo>
                  <a:pt x="6798" y="20527"/>
                </a:lnTo>
                <a:lnTo>
                  <a:pt x="6057" y="20471"/>
                </a:lnTo>
                <a:lnTo>
                  <a:pt x="5381" y="20200"/>
                </a:lnTo>
                <a:lnTo>
                  <a:pt x="4590" y="20030"/>
                </a:lnTo>
                <a:lnTo>
                  <a:pt x="3992" y="19975"/>
                </a:lnTo>
                <a:lnTo>
                  <a:pt x="3498" y="19718"/>
                </a:lnTo>
                <a:lnTo>
                  <a:pt x="2895" y="19345"/>
                </a:lnTo>
                <a:lnTo>
                  <a:pt x="2534" y="19180"/>
                </a:lnTo>
                <a:lnTo>
                  <a:pt x="2217" y="18849"/>
                </a:lnTo>
                <a:lnTo>
                  <a:pt x="1643" y="18528"/>
                </a:lnTo>
                <a:lnTo>
                  <a:pt x="1418" y="18225"/>
                </a:lnTo>
                <a:lnTo>
                  <a:pt x="963" y="17974"/>
                </a:lnTo>
                <a:lnTo>
                  <a:pt x="750" y="17419"/>
                </a:lnTo>
                <a:lnTo>
                  <a:pt x="491" y="17067"/>
                </a:lnTo>
                <a:lnTo>
                  <a:pt x="517" y="16552"/>
                </a:lnTo>
                <a:lnTo>
                  <a:pt x="345" y="15830"/>
                </a:lnTo>
                <a:lnTo>
                  <a:pt x="301" y="15083"/>
                </a:lnTo>
                <a:lnTo>
                  <a:pt x="13" y="13975"/>
                </a:lnTo>
                <a:lnTo>
                  <a:pt x="0" y="10649"/>
                </a:lnTo>
                <a:lnTo>
                  <a:pt x="58" y="7484"/>
                </a:lnTo>
                <a:lnTo>
                  <a:pt x="61" y="6457"/>
                </a:lnTo>
                <a:lnTo>
                  <a:pt x="289" y="5662"/>
                </a:lnTo>
                <a:lnTo>
                  <a:pt x="374" y="5003"/>
                </a:lnTo>
                <a:lnTo>
                  <a:pt x="623" y="4543"/>
                </a:lnTo>
                <a:lnTo>
                  <a:pt x="866" y="4070"/>
                </a:lnTo>
                <a:lnTo>
                  <a:pt x="1095" y="3735"/>
                </a:lnTo>
                <a:lnTo>
                  <a:pt x="1328" y="3318"/>
                </a:lnTo>
                <a:lnTo>
                  <a:pt x="1755" y="2974"/>
                </a:lnTo>
                <a:lnTo>
                  <a:pt x="2071" y="2728"/>
                </a:lnTo>
                <a:lnTo>
                  <a:pt x="2508" y="2425"/>
                </a:lnTo>
                <a:lnTo>
                  <a:pt x="3030" y="2190"/>
                </a:lnTo>
                <a:lnTo>
                  <a:pt x="3410" y="1910"/>
                </a:lnTo>
                <a:lnTo>
                  <a:pt x="4107" y="1553"/>
                </a:lnTo>
                <a:lnTo>
                  <a:pt x="4804" y="1510"/>
                </a:lnTo>
                <a:lnTo>
                  <a:pt x="5346" y="1154"/>
                </a:lnTo>
                <a:lnTo>
                  <a:pt x="6052" y="956"/>
                </a:lnTo>
                <a:lnTo>
                  <a:pt x="6788" y="903"/>
                </a:lnTo>
                <a:lnTo>
                  <a:pt x="7722" y="779"/>
                </a:lnTo>
                <a:lnTo>
                  <a:pt x="8673" y="572"/>
                </a:lnTo>
                <a:lnTo>
                  <a:pt x="9710" y="433"/>
                </a:lnTo>
                <a:lnTo>
                  <a:pt x="10806" y="516"/>
                </a:lnTo>
                <a:lnTo>
                  <a:pt x="12159" y="320"/>
                </a:lnTo>
                <a:lnTo>
                  <a:pt x="13502" y="118"/>
                </a:lnTo>
                <a:lnTo>
                  <a:pt x="14803" y="145"/>
                </a:lnTo>
                <a:lnTo>
                  <a:pt x="16619" y="177"/>
                </a:lnTo>
                <a:lnTo>
                  <a:pt x="18580" y="116"/>
                </a:lnTo>
                <a:lnTo>
                  <a:pt x="21315" y="81"/>
                </a:lnTo>
                <a:lnTo>
                  <a:pt x="24679" y="55"/>
                </a:lnTo>
                <a:lnTo>
                  <a:pt x="35611" y="91"/>
                </a:lnTo>
                <a:lnTo>
                  <a:pt x="46392" y="90"/>
                </a:lnTo>
                <a:lnTo>
                  <a:pt x="50023" y="9"/>
                </a:lnTo>
                <a:lnTo>
                  <a:pt x="52508" y="4"/>
                </a:lnTo>
                <a:lnTo>
                  <a:pt x="54578" y="0"/>
                </a:lnTo>
                <a:lnTo>
                  <a:pt x="56298" y="84"/>
                </a:lnTo>
                <a:lnTo>
                  <a:pt x="57850" y="219"/>
                </a:lnTo>
                <a:lnTo>
                  <a:pt x="59114" y="320"/>
                </a:lnTo>
                <a:lnTo>
                  <a:pt x="60351" y="317"/>
                </a:lnTo>
                <a:lnTo>
                  <a:pt x="61458" y="403"/>
                </a:lnTo>
                <a:lnTo>
                  <a:pt x="62429" y="673"/>
                </a:lnTo>
                <a:lnTo>
                  <a:pt x="63445" y="868"/>
                </a:lnTo>
                <a:lnTo>
                  <a:pt x="64227" y="844"/>
                </a:lnTo>
                <a:lnTo>
                  <a:pt x="65078" y="968"/>
                </a:lnTo>
                <a:lnTo>
                  <a:pt x="65736" y="1123"/>
                </a:lnTo>
                <a:lnTo>
                  <a:pt x="66580" y="1434"/>
                </a:lnTo>
                <a:lnTo>
                  <a:pt x="66994" y="1688"/>
                </a:lnTo>
                <a:lnTo>
                  <a:pt x="67747" y="1789"/>
                </a:lnTo>
                <a:lnTo>
                  <a:pt x="68112" y="2127"/>
                </a:lnTo>
                <a:lnTo>
                  <a:pt x="68672" y="2225"/>
                </a:lnTo>
                <a:lnTo>
                  <a:pt x="69157" y="2710"/>
                </a:lnTo>
                <a:lnTo>
                  <a:pt x="69389" y="2965"/>
                </a:lnTo>
                <a:lnTo>
                  <a:pt x="69886" y="3164"/>
                </a:lnTo>
                <a:lnTo>
                  <a:pt x="70148" y="3557"/>
                </a:lnTo>
                <a:lnTo>
                  <a:pt x="70386" y="3971"/>
                </a:lnTo>
                <a:lnTo>
                  <a:pt x="70649" y="4513"/>
                </a:lnTo>
                <a:lnTo>
                  <a:pt x="70694" y="5051"/>
                </a:lnTo>
                <a:lnTo>
                  <a:pt x="70954" y="5674"/>
                </a:lnTo>
                <a:lnTo>
                  <a:pt x="70922" y="6461"/>
                </a:lnTo>
                <a:lnTo>
                  <a:pt x="71110" y="7456"/>
                </a:lnTo>
                <a:lnTo>
                  <a:pt x="71110" y="10662"/>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641634" y="5455768"/>
            <a:ext cx="6497818" cy="1974738"/>
          </a:xfrm>
          <a:custGeom>
            <a:avLst/>
            <a:gdLst/>
            <a:ahLst/>
            <a:cxnLst/>
            <a:rect l="l" t="t" r="r" b="b"/>
            <a:pathLst>
              <a:path w="71061" h="21596">
                <a:moveTo>
                  <a:pt x="71037" y="10852"/>
                </a:moveTo>
                <a:lnTo>
                  <a:pt x="70919" y="13979"/>
                </a:lnTo>
                <a:lnTo>
                  <a:pt x="70905" y="15046"/>
                </a:lnTo>
                <a:lnTo>
                  <a:pt x="70903" y="15806"/>
                </a:lnTo>
                <a:lnTo>
                  <a:pt x="70816" y="16443"/>
                </a:lnTo>
                <a:lnTo>
                  <a:pt x="70577" y="17110"/>
                </a:lnTo>
                <a:lnTo>
                  <a:pt x="70437" y="17386"/>
                </a:lnTo>
                <a:lnTo>
                  <a:pt x="70126" y="17798"/>
                </a:lnTo>
                <a:lnTo>
                  <a:pt x="69815" y="18250"/>
                </a:lnTo>
                <a:lnTo>
                  <a:pt x="69448" y="18509"/>
                </a:lnTo>
                <a:lnTo>
                  <a:pt x="69150" y="18920"/>
                </a:lnTo>
                <a:lnTo>
                  <a:pt x="68664" y="19221"/>
                </a:lnTo>
                <a:lnTo>
                  <a:pt x="68276" y="19407"/>
                </a:lnTo>
                <a:lnTo>
                  <a:pt x="67626" y="19637"/>
                </a:lnTo>
                <a:lnTo>
                  <a:pt x="67204" y="19958"/>
                </a:lnTo>
                <a:lnTo>
                  <a:pt x="66397" y="20086"/>
                </a:lnTo>
                <a:lnTo>
                  <a:pt x="65723" y="20375"/>
                </a:lnTo>
                <a:lnTo>
                  <a:pt x="65094" y="20437"/>
                </a:lnTo>
                <a:lnTo>
                  <a:pt x="64317" y="20666"/>
                </a:lnTo>
                <a:lnTo>
                  <a:pt x="63495" y="20880"/>
                </a:lnTo>
                <a:lnTo>
                  <a:pt x="62563" y="21031"/>
                </a:lnTo>
                <a:lnTo>
                  <a:pt x="61534" y="21025"/>
                </a:lnTo>
                <a:lnTo>
                  <a:pt x="60270" y="21114"/>
                </a:lnTo>
                <a:lnTo>
                  <a:pt x="59179" y="21193"/>
                </a:lnTo>
                <a:lnTo>
                  <a:pt x="57772" y="21317"/>
                </a:lnTo>
                <a:lnTo>
                  <a:pt x="56119" y="21447"/>
                </a:lnTo>
                <a:lnTo>
                  <a:pt x="54604" y="21539"/>
                </a:lnTo>
                <a:lnTo>
                  <a:pt x="52421" y="21474"/>
                </a:lnTo>
                <a:lnTo>
                  <a:pt x="49917" y="21592"/>
                </a:lnTo>
                <a:lnTo>
                  <a:pt x="46539" y="21500"/>
                </a:lnTo>
                <a:lnTo>
                  <a:pt x="35471" y="21512"/>
                </a:lnTo>
                <a:lnTo>
                  <a:pt x="24800" y="21502"/>
                </a:lnTo>
                <a:lnTo>
                  <a:pt x="21175" y="21596"/>
                </a:lnTo>
                <a:lnTo>
                  <a:pt x="18785" y="21425"/>
                </a:lnTo>
                <a:lnTo>
                  <a:pt x="16764" y="21441"/>
                </a:lnTo>
                <a:lnTo>
                  <a:pt x="14965" y="21381"/>
                </a:lnTo>
                <a:lnTo>
                  <a:pt x="13281" y="21418"/>
                </a:lnTo>
                <a:lnTo>
                  <a:pt x="12010" y="21268"/>
                </a:lnTo>
                <a:lnTo>
                  <a:pt x="10909" y="21111"/>
                </a:lnTo>
                <a:lnTo>
                  <a:pt x="9762" y="21012"/>
                </a:lnTo>
                <a:lnTo>
                  <a:pt x="8814" y="20820"/>
                </a:lnTo>
                <a:lnTo>
                  <a:pt x="7811" y="20731"/>
                </a:lnTo>
                <a:lnTo>
                  <a:pt x="6948" y="20636"/>
                </a:lnTo>
                <a:lnTo>
                  <a:pt x="6022" y="20370"/>
                </a:lnTo>
                <a:lnTo>
                  <a:pt x="5361" y="20387"/>
                </a:lnTo>
                <a:lnTo>
                  <a:pt x="4798" y="20118"/>
                </a:lnTo>
                <a:lnTo>
                  <a:pt x="4076" y="19949"/>
                </a:lnTo>
                <a:lnTo>
                  <a:pt x="3441" y="19699"/>
                </a:lnTo>
                <a:lnTo>
                  <a:pt x="3012" y="19519"/>
                </a:lnTo>
                <a:lnTo>
                  <a:pt x="2460" y="19215"/>
                </a:lnTo>
                <a:lnTo>
                  <a:pt x="2003" y="18868"/>
                </a:lnTo>
                <a:lnTo>
                  <a:pt x="1733" y="18640"/>
                </a:lnTo>
                <a:lnTo>
                  <a:pt x="1419" y="18312"/>
                </a:lnTo>
                <a:lnTo>
                  <a:pt x="1134" y="17850"/>
                </a:lnTo>
                <a:lnTo>
                  <a:pt x="818" y="17582"/>
                </a:lnTo>
                <a:lnTo>
                  <a:pt x="682" y="17073"/>
                </a:lnTo>
                <a:lnTo>
                  <a:pt x="424" y="16412"/>
                </a:lnTo>
                <a:lnTo>
                  <a:pt x="364" y="15986"/>
                </a:lnTo>
                <a:lnTo>
                  <a:pt x="291" y="15082"/>
                </a:lnTo>
                <a:lnTo>
                  <a:pt x="0" y="14195"/>
                </a:lnTo>
                <a:lnTo>
                  <a:pt x="183" y="10790"/>
                </a:lnTo>
                <a:lnTo>
                  <a:pt x="186" y="7473"/>
                </a:lnTo>
                <a:lnTo>
                  <a:pt x="109" y="6347"/>
                </a:lnTo>
                <a:lnTo>
                  <a:pt x="236" y="5566"/>
                </a:lnTo>
                <a:lnTo>
                  <a:pt x="351" y="5106"/>
                </a:lnTo>
                <a:lnTo>
                  <a:pt x="530" y="4618"/>
                </a:lnTo>
                <a:lnTo>
                  <a:pt x="707" y="4018"/>
                </a:lnTo>
                <a:lnTo>
                  <a:pt x="1131" y="3660"/>
                </a:lnTo>
                <a:lnTo>
                  <a:pt x="1486" y="3207"/>
                </a:lnTo>
                <a:lnTo>
                  <a:pt x="1808" y="3070"/>
                </a:lnTo>
                <a:lnTo>
                  <a:pt x="2186" y="2645"/>
                </a:lnTo>
                <a:lnTo>
                  <a:pt x="2398" y="2322"/>
                </a:lnTo>
                <a:lnTo>
                  <a:pt x="2980" y="2174"/>
                </a:lnTo>
                <a:lnTo>
                  <a:pt x="3469" y="1929"/>
                </a:lnTo>
                <a:lnTo>
                  <a:pt x="4092" y="1710"/>
                </a:lnTo>
                <a:lnTo>
                  <a:pt x="4667" y="1354"/>
                </a:lnTo>
                <a:lnTo>
                  <a:pt x="5289" y="1316"/>
                </a:lnTo>
                <a:lnTo>
                  <a:pt x="6173" y="1071"/>
                </a:lnTo>
                <a:lnTo>
                  <a:pt x="6939" y="945"/>
                </a:lnTo>
                <a:lnTo>
                  <a:pt x="7792" y="869"/>
                </a:lnTo>
                <a:lnTo>
                  <a:pt x="8677" y="671"/>
                </a:lnTo>
                <a:lnTo>
                  <a:pt x="9691" y="446"/>
                </a:lnTo>
                <a:lnTo>
                  <a:pt x="10904" y="424"/>
                </a:lnTo>
                <a:lnTo>
                  <a:pt x="12042" y="435"/>
                </a:lnTo>
                <a:lnTo>
                  <a:pt x="13303" y="352"/>
                </a:lnTo>
                <a:lnTo>
                  <a:pt x="14848" y="314"/>
                </a:lnTo>
                <a:lnTo>
                  <a:pt x="16642" y="176"/>
                </a:lnTo>
                <a:lnTo>
                  <a:pt x="18701" y="85"/>
                </a:lnTo>
                <a:lnTo>
                  <a:pt x="21115" y="32"/>
                </a:lnTo>
                <a:lnTo>
                  <a:pt x="24661" y="132"/>
                </a:lnTo>
                <a:lnTo>
                  <a:pt x="35634" y="125"/>
                </a:lnTo>
                <a:lnTo>
                  <a:pt x="46485" y="0"/>
                </a:lnTo>
                <a:lnTo>
                  <a:pt x="50040" y="15"/>
                </a:lnTo>
                <a:lnTo>
                  <a:pt x="52424" y="138"/>
                </a:lnTo>
                <a:lnTo>
                  <a:pt x="54510" y="204"/>
                </a:lnTo>
                <a:lnTo>
                  <a:pt x="56150" y="273"/>
                </a:lnTo>
                <a:lnTo>
                  <a:pt x="57877" y="187"/>
                </a:lnTo>
                <a:lnTo>
                  <a:pt x="59203" y="447"/>
                </a:lnTo>
                <a:lnTo>
                  <a:pt x="60305" y="327"/>
                </a:lnTo>
                <a:lnTo>
                  <a:pt x="61369" y="538"/>
                </a:lnTo>
                <a:lnTo>
                  <a:pt x="62554" y="538"/>
                </a:lnTo>
                <a:lnTo>
                  <a:pt x="63354" y="674"/>
                </a:lnTo>
                <a:lnTo>
                  <a:pt x="64321" y="854"/>
                </a:lnTo>
                <a:lnTo>
                  <a:pt x="65074" y="1187"/>
                </a:lnTo>
                <a:lnTo>
                  <a:pt x="65893" y="1341"/>
                </a:lnTo>
                <a:lnTo>
                  <a:pt x="66588" y="1339"/>
                </a:lnTo>
                <a:lnTo>
                  <a:pt x="66979" y="1604"/>
                </a:lnTo>
                <a:lnTo>
                  <a:pt x="67588" y="1968"/>
                </a:lnTo>
                <a:lnTo>
                  <a:pt x="68231" y="2102"/>
                </a:lnTo>
                <a:lnTo>
                  <a:pt x="68730" y="2388"/>
                </a:lnTo>
                <a:lnTo>
                  <a:pt x="68988" y="2627"/>
                </a:lnTo>
                <a:lnTo>
                  <a:pt x="69548" y="3076"/>
                </a:lnTo>
                <a:lnTo>
                  <a:pt x="69876" y="3314"/>
                </a:lnTo>
                <a:lnTo>
                  <a:pt x="70188" y="3674"/>
                </a:lnTo>
                <a:lnTo>
                  <a:pt x="70230" y="4016"/>
                </a:lnTo>
                <a:lnTo>
                  <a:pt x="70579" y="4578"/>
                </a:lnTo>
                <a:lnTo>
                  <a:pt x="70814" y="4943"/>
                </a:lnTo>
                <a:lnTo>
                  <a:pt x="70856" y="5631"/>
                </a:lnTo>
                <a:lnTo>
                  <a:pt x="71061" y="6525"/>
                </a:lnTo>
                <a:lnTo>
                  <a:pt x="70936" y="7423"/>
                </a:lnTo>
                <a:lnTo>
                  <a:pt x="70985" y="10693"/>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7024421" y="6965442"/>
            <a:ext cx="86685" cy="161117"/>
          </a:xfrm>
          <a:custGeom>
            <a:avLst/>
            <a:gdLst/>
            <a:ahLst/>
            <a:cxnLst/>
            <a:rect l="l" t="t" r="r" b="b"/>
            <a:pathLst>
              <a:path w="948" h="1762">
                <a:moveTo>
                  <a:pt x="948" y="0"/>
                </a:moveTo>
                <a:lnTo>
                  <a:pt x="771" y="524"/>
                </a:lnTo>
                <a:lnTo>
                  <a:pt x="555" y="983"/>
                </a:lnTo>
                <a:lnTo>
                  <a:pt x="298" y="1393"/>
                </a:lnTo>
                <a:lnTo>
                  <a:pt x="0" y="1762"/>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6047384" y="7356439"/>
            <a:ext cx="392186" cy="40051"/>
          </a:xfrm>
          <a:custGeom>
            <a:avLst/>
            <a:gdLst/>
            <a:ahLst/>
            <a:cxnLst/>
            <a:rect l="l" t="t" r="r" b="b"/>
            <a:pathLst>
              <a:path w="4289" h="438">
                <a:moveTo>
                  <a:pt x="4289" y="0"/>
                </a:moveTo>
                <a:lnTo>
                  <a:pt x="3354" y="129"/>
                </a:lnTo>
                <a:lnTo>
                  <a:pt x="2335" y="245"/>
                </a:lnTo>
                <a:lnTo>
                  <a:pt x="1223" y="348"/>
                </a:lnTo>
                <a:lnTo>
                  <a:pt x="0" y="438"/>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1631472" y="7388261"/>
            <a:ext cx="533004" cy="26243"/>
          </a:xfrm>
          <a:custGeom>
            <a:avLst/>
            <a:gdLst/>
            <a:ahLst/>
            <a:cxnLst/>
            <a:rect l="l" t="t" r="r" b="b"/>
            <a:pathLst>
              <a:path w="5829" h="287">
                <a:moveTo>
                  <a:pt x="5829" y="287"/>
                </a:moveTo>
                <a:lnTo>
                  <a:pt x="4096" y="233"/>
                </a:lnTo>
                <a:lnTo>
                  <a:pt x="2577" y="168"/>
                </a:lnTo>
                <a:lnTo>
                  <a:pt x="1223" y="90"/>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739018" y="7092818"/>
            <a:ext cx="132497" cy="118598"/>
          </a:xfrm>
          <a:custGeom>
            <a:avLst/>
            <a:gdLst/>
            <a:ahLst/>
            <a:cxnLst/>
            <a:rect l="l" t="t" r="r" b="b"/>
            <a:pathLst>
              <a:path w="1449" h="1297">
                <a:moveTo>
                  <a:pt x="1449" y="1297"/>
                </a:moveTo>
                <a:lnTo>
                  <a:pt x="1022" y="1014"/>
                </a:lnTo>
                <a:lnTo>
                  <a:pt x="639" y="706"/>
                </a:lnTo>
                <a:lnTo>
                  <a:pt x="298" y="369"/>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679582" y="5757337"/>
            <a:ext cx="86685" cy="161117"/>
          </a:xfrm>
          <a:custGeom>
            <a:avLst/>
            <a:gdLst/>
            <a:ahLst/>
            <a:cxnLst/>
            <a:rect l="l" t="t" r="r" b="b"/>
            <a:pathLst>
              <a:path w="948" h="1762">
                <a:moveTo>
                  <a:pt x="0" y="1762"/>
                </a:moveTo>
                <a:lnTo>
                  <a:pt x="177" y="1238"/>
                </a:lnTo>
                <a:lnTo>
                  <a:pt x="393" y="779"/>
                </a:lnTo>
                <a:lnTo>
                  <a:pt x="650" y="369"/>
                </a:lnTo>
                <a:lnTo>
                  <a:pt x="948"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1351117" y="5487406"/>
            <a:ext cx="392186" cy="40051"/>
          </a:xfrm>
          <a:custGeom>
            <a:avLst/>
            <a:gdLst/>
            <a:ahLst/>
            <a:cxnLst/>
            <a:rect l="l" t="t" r="r" b="b"/>
            <a:pathLst>
              <a:path w="4289" h="438">
                <a:moveTo>
                  <a:pt x="0" y="438"/>
                </a:moveTo>
                <a:lnTo>
                  <a:pt x="935" y="309"/>
                </a:lnTo>
                <a:lnTo>
                  <a:pt x="1954" y="193"/>
                </a:lnTo>
                <a:lnTo>
                  <a:pt x="3066" y="90"/>
                </a:lnTo>
                <a:lnTo>
                  <a:pt x="4289"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5626212" y="5469392"/>
            <a:ext cx="533004" cy="26243"/>
          </a:xfrm>
          <a:custGeom>
            <a:avLst/>
            <a:gdLst/>
            <a:ahLst/>
            <a:cxnLst/>
            <a:rect l="l" t="t" r="r" b="b"/>
            <a:pathLst>
              <a:path w="5829" h="287">
                <a:moveTo>
                  <a:pt x="0" y="0"/>
                </a:moveTo>
                <a:lnTo>
                  <a:pt x="1733" y="54"/>
                </a:lnTo>
                <a:lnTo>
                  <a:pt x="3252" y="119"/>
                </a:lnTo>
                <a:lnTo>
                  <a:pt x="4606" y="197"/>
                </a:lnTo>
                <a:lnTo>
                  <a:pt x="5829" y="287"/>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6919173" y="5672480"/>
            <a:ext cx="132497" cy="118598"/>
          </a:xfrm>
          <a:custGeom>
            <a:avLst/>
            <a:gdLst/>
            <a:ahLst/>
            <a:cxnLst/>
            <a:rect l="l" t="t" r="r" b="b"/>
            <a:pathLst>
              <a:path w="1449" h="1297">
                <a:moveTo>
                  <a:pt x="0" y="0"/>
                </a:moveTo>
                <a:lnTo>
                  <a:pt x="427" y="283"/>
                </a:lnTo>
                <a:lnTo>
                  <a:pt x="810" y="591"/>
                </a:lnTo>
                <a:lnTo>
                  <a:pt x="1151" y="928"/>
                </a:lnTo>
                <a:lnTo>
                  <a:pt x="1449" y="1297"/>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ody: Unique"/>
          <p:cNvSpPr txBox="1"/>
          <p:nvPr/>
        </p:nvSpPr>
        <p:spPr>
          <a:xfrm>
            <a:off x="996695" y="5584952"/>
            <a:ext cx="5797296"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557B65"/>
                </a:solidFill>
                <a:latin typeface="Chalkboard SE"/>
              </a:rPr>
              <a:t>Unique</a:t>
            </a:r>
          </a:p>
        </p:txBody>
      </p:sp>
      <p:sp>
        <p:nvSpPr>
          <p:cNvPr id="82" name="Oval 81"/>
          <p:cNvSpPr/>
          <p:nvPr/>
        </p:nvSpPr>
        <p:spPr>
          <a:xfrm>
            <a:off x="909828" y="641438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ody: Evidence grades separate leads from facts"/>
          <p:cNvSpPr txBox="1"/>
          <p:nvPr/>
        </p:nvSpPr>
        <p:spPr>
          <a:xfrm>
            <a:off x="1143000" y="6313805"/>
            <a:ext cx="5751576" cy="37503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Evidence grades separate leads from facts</a:t>
            </a:r>
          </a:p>
        </p:txBody>
      </p:sp>
      <p:sp>
        <p:nvSpPr>
          <p:cNvPr id="84" name="Oval 83"/>
          <p:cNvSpPr/>
          <p:nvPr/>
        </p:nvSpPr>
        <p:spPr>
          <a:xfrm>
            <a:off x="909828" y="686257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body: Fingerprints carry an incident across benchmarks"/>
          <p:cNvSpPr txBox="1"/>
          <p:nvPr/>
        </p:nvSpPr>
        <p:spPr>
          <a:xfrm>
            <a:off x="1143000" y="6761988"/>
            <a:ext cx="5751576" cy="37503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Fingerprints carry an incident across benchmarks</a:t>
            </a:r>
          </a:p>
        </p:txBody>
      </p:sp>
      <p:sp>
        <p:nvSpPr>
          <p:cNvPr id="86" name="Rounded Rectangle 85"/>
          <p:cNvSpPr/>
          <p:nvPr/>
        </p:nvSpPr>
        <p:spPr>
          <a:xfrm>
            <a:off x="7479792" y="5449824"/>
            <a:ext cx="6510528" cy="1984248"/>
          </a:xfrm>
          <a:prstGeom prst="roundRect">
            <a:avLst>
              <a:gd name="adj" fmla="val 18000"/>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7484181" y="5454945"/>
            <a:ext cx="6496263" cy="1974555"/>
          </a:xfrm>
          <a:custGeom>
            <a:avLst/>
            <a:gdLst/>
            <a:ahLst/>
            <a:cxnLst/>
            <a:rect l="l" t="t" r="r" b="b"/>
            <a:pathLst>
              <a:path w="71044" h="21594">
                <a:moveTo>
                  <a:pt x="71025" y="10745"/>
                </a:moveTo>
                <a:lnTo>
                  <a:pt x="70972" y="13989"/>
                </a:lnTo>
                <a:lnTo>
                  <a:pt x="70971" y="15103"/>
                </a:lnTo>
                <a:lnTo>
                  <a:pt x="70933" y="15982"/>
                </a:lnTo>
                <a:lnTo>
                  <a:pt x="70661" y="16410"/>
                </a:lnTo>
                <a:lnTo>
                  <a:pt x="70576" y="16927"/>
                </a:lnTo>
                <a:lnTo>
                  <a:pt x="70350" y="17564"/>
                </a:lnTo>
                <a:lnTo>
                  <a:pt x="70154" y="17815"/>
                </a:lnTo>
                <a:lnTo>
                  <a:pt x="69885" y="18300"/>
                </a:lnTo>
                <a:lnTo>
                  <a:pt x="69441" y="18554"/>
                </a:lnTo>
                <a:lnTo>
                  <a:pt x="68976" y="19015"/>
                </a:lnTo>
                <a:lnTo>
                  <a:pt x="68577" y="19290"/>
                </a:lnTo>
                <a:lnTo>
                  <a:pt x="68168" y="19497"/>
                </a:lnTo>
                <a:lnTo>
                  <a:pt x="67562" y="19815"/>
                </a:lnTo>
                <a:lnTo>
                  <a:pt x="66971" y="20038"/>
                </a:lnTo>
                <a:lnTo>
                  <a:pt x="66446" y="20157"/>
                </a:lnTo>
                <a:lnTo>
                  <a:pt x="65882" y="20388"/>
                </a:lnTo>
                <a:lnTo>
                  <a:pt x="64993" y="20567"/>
                </a:lnTo>
                <a:lnTo>
                  <a:pt x="64203" y="20648"/>
                </a:lnTo>
                <a:lnTo>
                  <a:pt x="63381" y="20867"/>
                </a:lnTo>
                <a:lnTo>
                  <a:pt x="62480" y="20860"/>
                </a:lnTo>
                <a:lnTo>
                  <a:pt x="61327" y="21118"/>
                </a:lnTo>
                <a:lnTo>
                  <a:pt x="60330" y="21103"/>
                </a:lnTo>
                <a:lnTo>
                  <a:pt x="59067" y="21150"/>
                </a:lnTo>
                <a:lnTo>
                  <a:pt x="57707" y="21301"/>
                </a:lnTo>
                <a:lnTo>
                  <a:pt x="56232" y="21425"/>
                </a:lnTo>
                <a:lnTo>
                  <a:pt x="54419" y="21493"/>
                </a:lnTo>
                <a:lnTo>
                  <a:pt x="52573" y="21408"/>
                </a:lnTo>
                <a:lnTo>
                  <a:pt x="49896" y="21415"/>
                </a:lnTo>
                <a:lnTo>
                  <a:pt x="46409" y="21594"/>
                </a:lnTo>
                <a:lnTo>
                  <a:pt x="35501" y="21501"/>
                </a:lnTo>
                <a:lnTo>
                  <a:pt x="24707" y="21456"/>
                </a:lnTo>
                <a:lnTo>
                  <a:pt x="21247" y="21497"/>
                </a:lnTo>
                <a:lnTo>
                  <a:pt x="18651" y="21389"/>
                </a:lnTo>
                <a:lnTo>
                  <a:pt x="16703" y="21500"/>
                </a:lnTo>
                <a:lnTo>
                  <a:pt x="14856" y="21482"/>
                </a:lnTo>
                <a:lnTo>
                  <a:pt x="13270" y="21311"/>
                </a:lnTo>
                <a:lnTo>
                  <a:pt x="12119" y="21277"/>
                </a:lnTo>
                <a:lnTo>
                  <a:pt x="10724" y="21158"/>
                </a:lnTo>
                <a:lnTo>
                  <a:pt x="9741" y="20932"/>
                </a:lnTo>
                <a:lnTo>
                  <a:pt x="8631" y="20878"/>
                </a:lnTo>
                <a:lnTo>
                  <a:pt x="7731" y="20709"/>
                </a:lnTo>
                <a:lnTo>
                  <a:pt x="6856" y="20643"/>
                </a:lnTo>
                <a:lnTo>
                  <a:pt x="5963" y="20436"/>
                </a:lnTo>
                <a:lnTo>
                  <a:pt x="5305" y="20227"/>
                </a:lnTo>
                <a:lnTo>
                  <a:pt x="4669" y="20179"/>
                </a:lnTo>
                <a:lnTo>
                  <a:pt x="3925" y="19978"/>
                </a:lnTo>
                <a:lnTo>
                  <a:pt x="3483" y="19606"/>
                </a:lnTo>
                <a:lnTo>
                  <a:pt x="3070" y="19400"/>
                </a:lnTo>
                <a:lnTo>
                  <a:pt x="2453" y="19290"/>
                </a:lnTo>
                <a:lnTo>
                  <a:pt x="2019" y="18866"/>
                </a:lnTo>
                <a:lnTo>
                  <a:pt x="1592" y="18720"/>
                </a:lnTo>
                <a:lnTo>
                  <a:pt x="1342" y="18400"/>
                </a:lnTo>
                <a:lnTo>
                  <a:pt x="1018" y="18004"/>
                </a:lnTo>
                <a:lnTo>
                  <a:pt x="750" y="17619"/>
                </a:lnTo>
                <a:lnTo>
                  <a:pt x="520" y="16934"/>
                </a:lnTo>
                <a:lnTo>
                  <a:pt x="255" y="16608"/>
                </a:lnTo>
                <a:lnTo>
                  <a:pt x="361" y="15791"/>
                </a:lnTo>
                <a:lnTo>
                  <a:pt x="136" y="15152"/>
                </a:lnTo>
                <a:lnTo>
                  <a:pt x="7" y="14189"/>
                </a:lnTo>
                <a:lnTo>
                  <a:pt x="30" y="10686"/>
                </a:lnTo>
                <a:lnTo>
                  <a:pt x="0" y="7572"/>
                </a:lnTo>
                <a:lnTo>
                  <a:pt x="105" y="6431"/>
                </a:lnTo>
                <a:lnTo>
                  <a:pt x="366" y="5686"/>
                </a:lnTo>
                <a:lnTo>
                  <a:pt x="494" y="5084"/>
                </a:lnTo>
                <a:lnTo>
                  <a:pt x="506" y="4448"/>
                </a:lnTo>
                <a:lnTo>
                  <a:pt x="886" y="4060"/>
                </a:lnTo>
                <a:lnTo>
                  <a:pt x="1019" y="3776"/>
                </a:lnTo>
                <a:lnTo>
                  <a:pt x="1226" y="3407"/>
                </a:lnTo>
                <a:lnTo>
                  <a:pt x="1588" y="2973"/>
                </a:lnTo>
                <a:lnTo>
                  <a:pt x="2137" y="2773"/>
                </a:lnTo>
                <a:lnTo>
                  <a:pt x="2427" y="2319"/>
                </a:lnTo>
                <a:lnTo>
                  <a:pt x="2876" y="2154"/>
                </a:lnTo>
                <a:lnTo>
                  <a:pt x="3600" y="1863"/>
                </a:lnTo>
                <a:lnTo>
                  <a:pt x="4022" y="1584"/>
                </a:lnTo>
                <a:lnTo>
                  <a:pt x="4719" y="1497"/>
                </a:lnTo>
                <a:lnTo>
                  <a:pt x="5232" y="1378"/>
                </a:lnTo>
                <a:lnTo>
                  <a:pt x="6163" y="1129"/>
                </a:lnTo>
                <a:lnTo>
                  <a:pt x="6902" y="885"/>
                </a:lnTo>
                <a:lnTo>
                  <a:pt x="7697" y="805"/>
                </a:lnTo>
                <a:lnTo>
                  <a:pt x="8537" y="574"/>
                </a:lnTo>
                <a:lnTo>
                  <a:pt x="9553" y="607"/>
                </a:lnTo>
                <a:lnTo>
                  <a:pt x="10800" y="439"/>
                </a:lnTo>
                <a:lnTo>
                  <a:pt x="11982" y="379"/>
                </a:lnTo>
                <a:lnTo>
                  <a:pt x="13286" y="246"/>
                </a:lnTo>
                <a:lnTo>
                  <a:pt x="14809" y="136"/>
                </a:lnTo>
                <a:lnTo>
                  <a:pt x="16644" y="135"/>
                </a:lnTo>
                <a:lnTo>
                  <a:pt x="18556" y="125"/>
                </a:lnTo>
                <a:lnTo>
                  <a:pt x="21117" y="145"/>
                </a:lnTo>
                <a:lnTo>
                  <a:pt x="24764" y="0"/>
                </a:lnTo>
                <a:lnTo>
                  <a:pt x="35564" y="113"/>
                </a:lnTo>
                <a:lnTo>
                  <a:pt x="46375" y="171"/>
                </a:lnTo>
                <a:lnTo>
                  <a:pt x="49968" y="165"/>
                </a:lnTo>
                <a:lnTo>
                  <a:pt x="52356" y="95"/>
                </a:lnTo>
                <a:lnTo>
                  <a:pt x="54589" y="115"/>
                </a:lnTo>
                <a:lnTo>
                  <a:pt x="56152" y="163"/>
                </a:lnTo>
                <a:lnTo>
                  <a:pt x="57766" y="333"/>
                </a:lnTo>
                <a:lnTo>
                  <a:pt x="59048" y="292"/>
                </a:lnTo>
                <a:lnTo>
                  <a:pt x="60280" y="391"/>
                </a:lnTo>
                <a:lnTo>
                  <a:pt x="61335" y="597"/>
                </a:lnTo>
                <a:lnTo>
                  <a:pt x="62368" y="718"/>
                </a:lnTo>
                <a:lnTo>
                  <a:pt x="63332" y="868"/>
                </a:lnTo>
                <a:lnTo>
                  <a:pt x="64239" y="1009"/>
                </a:lnTo>
                <a:lnTo>
                  <a:pt x="65155" y="1131"/>
                </a:lnTo>
                <a:lnTo>
                  <a:pt x="65654" y="1232"/>
                </a:lnTo>
                <a:lnTo>
                  <a:pt x="66417" y="1487"/>
                </a:lnTo>
                <a:lnTo>
                  <a:pt x="67187" y="1699"/>
                </a:lnTo>
                <a:lnTo>
                  <a:pt x="67525" y="1870"/>
                </a:lnTo>
                <a:lnTo>
                  <a:pt x="68220" y="2033"/>
                </a:lnTo>
                <a:lnTo>
                  <a:pt x="68664" y="2370"/>
                </a:lnTo>
                <a:lnTo>
                  <a:pt x="69062" y="2731"/>
                </a:lnTo>
                <a:lnTo>
                  <a:pt x="69445" y="3057"/>
                </a:lnTo>
                <a:lnTo>
                  <a:pt x="69781" y="3367"/>
                </a:lnTo>
                <a:lnTo>
                  <a:pt x="70033" y="3619"/>
                </a:lnTo>
                <a:lnTo>
                  <a:pt x="70219" y="4092"/>
                </a:lnTo>
                <a:lnTo>
                  <a:pt x="70574" y="4619"/>
                </a:lnTo>
                <a:lnTo>
                  <a:pt x="70713" y="5131"/>
                </a:lnTo>
                <a:lnTo>
                  <a:pt x="70844" y="5784"/>
                </a:lnTo>
                <a:lnTo>
                  <a:pt x="70861" y="6487"/>
                </a:lnTo>
                <a:lnTo>
                  <a:pt x="71044" y="7402"/>
                </a:lnTo>
                <a:lnTo>
                  <a:pt x="71028" y="10760"/>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7484913" y="5451470"/>
            <a:ext cx="6504036" cy="1981505"/>
          </a:xfrm>
          <a:custGeom>
            <a:avLst/>
            <a:gdLst/>
            <a:ahLst/>
            <a:cxnLst/>
            <a:rect l="l" t="t" r="r" b="b"/>
            <a:pathLst>
              <a:path w="71129" h="21670">
                <a:moveTo>
                  <a:pt x="71129" y="10849"/>
                </a:moveTo>
                <a:lnTo>
                  <a:pt x="71058" y="14218"/>
                </a:lnTo>
                <a:lnTo>
                  <a:pt x="70840" y="15284"/>
                </a:lnTo>
                <a:lnTo>
                  <a:pt x="70925" y="15914"/>
                </a:lnTo>
                <a:lnTo>
                  <a:pt x="70772" y="16539"/>
                </a:lnTo>
                <a:lnTo>
                  <a:pt x="70504" y="17171"/>
                </a:lnTo>
                <a:lnTo>
                  <a:pt x="70437" y="17500"/>
                </a:lnTo>
                <a:lnTo>
                  <a:pt x="70075" y="18011"/>
                </a:lnTo>
                <a:lnTo>
                  <a:pt x="69796" y="18245"/>
                </a:lnTo>
                <a:lnTo>
                  <a:pt x="69447" y="18682"/>
                </a:lnTo>
                <a:lnTo>
                  <a:pt x="69114" y="18952"/>
                </a:lnTo>
                <a:lnTo>
                  <a:pt x="68529" y="19180"/>
                </a:lnTo>
                <a:lnTo>
                  <a:pt x="68102" y="19499"/>
                </a:lnTo>
                <a:lnTo>
                  <a:pt x="67722" y="19836"/>
                </a:lnTo>
                <a:lnTo>
                  <a:pt x="67178" y="20064"/>
                </a:lnTo>
                <a:lnTo>
                  <a:pt x="66430" y="20099"/>
                </a:lnTo>
                <a:lnTo>
                  <a:pt x="65804" y="20383"/>
                </a:lnTo>
                <a:lnTo>
                  <a:pt x="65139" y="20632"/>
                </a:lnTo>
                <a:lnTo>
                  <a:pt x="64102" y="20635"/>
                </a:lnTo>
                <a:lnTo>
                  <a:pt x="63403" y="20859"/>
                </a:lnTo>
                <a:lnTo>
                  <a:pt x="62362" y="20951"/>
                </a:lnTo>
                <a:lnTo>
                  <a:pt x="61459" y="20982"/>
                </a:lnTo>
                <a:lnTo>
                  <a:pt x="60394" y="21185"/>
                </a:lnTo>
                <a:lnTo>
                  <a:pt x="59114" y="21173"/>
                </a:lnTo>
                <a:lnTo>
                  <a:pt x="57651" y="21277"/>
                </a:lnTo>
                <a:lnTo>
                  <a:pt x="56211" y="21514"/>
                </a:lnTo>
                <a:lnTo>
                  <a:pt x="54402" y="21446"/>
                </a:lnTo>
                <a:lnTo>
                  <a:pt x="52455" y="21490"/>
                </a:lnTo>
                <a:lnTo>
                  <a:pt x="49907" y="21620"/>
                </a:lnTo>
                <a:lnTo>
                  <a:pt x="46439" y="21649"/>
                </a:lnTo>
                <a:lnTo>
                  <a:pt x="35661" y="21631"/>
                </a:lnTo>
                <a:lnTo>
                  <a:pt x="24538" y="21670"/>
                </a:lnTo>
                <a:lnTo>
                  <a:pt x="21076" y="21554"/>
                </a:lnTo>
                <a:lnTo>
                  <a:pt x="18670" y="21419"/>
                </a:lnTo>
                <a:lnTo>
                  <a:pt x="16731" y="21436"/>
                </a:lnTo>
                <a:lnTo>
                  <a:pt x="14947" y="21521"/>
                </a:lnTo>
                <a:lnTo>
                  <a:pt x="13438" y="21282"/>
                </a:lnTo>
                <a:lnTo>
                  <a:pt x="12125" y="21182"/>
                </a:lnTo>
                <a:lnTo>
                  <a:pt x="10731" y="21138"/>
                </a:lnTo>
                <a:lnTo>
                  <a:pt x="9774" y="21032"/>
                </a:lnTo>
                <a:lnTo>
                  <a:pt x="8622" y="21037"/>
                </a:lnTo>
                <a:lnTo>
                  <a:pt x="7626" y="20746"/>
                </a:lnTo>
                <a:lnTo>
                  <a:pt x="6843" y="20787"/>
                </a:lnTo>
                <a:lnTo>
                  <a:pt x="5971" y="20451"/>
                </a:lnTo>
                <a:lnTo>
                  <a:pt x="5267" y="20479"/>
                </a:lnTo>
                <a:lnTo>
                  <a:pt x="4720" y="20064"/>
                </a:lnTo>
                <a:lnTo>
                  <a:pt x="4158" y="19948"/>
                </a:lnTo>
                <a:lnTo>
                  <a:pt x="3502" y="19702"/>
                </a:lnTo>
                <a:lnTo>
                  <a:pt x="3030" y="19388"/>
                </a:lnTo>
                <a:lnTo>
                  <a:pt x="2377" y="19273"/>
                </a:lnTo>
                <a:lnTo>
                  <a:pt x="1934" y="18967"/>
                </a:lnTo>
                <a:lnTo>
                  <a:pt x="1717" y="18593"/>
                </a:lnTo>
                <a:lnTo>
                  <a:pt x="1301" y="18354"/>
                </a:lnTo>
                <a:lnTo>
                  <a:pt x="930" y="17908"/>
                </a:lnTo>
                <a:lnTo>
                  <a:pt x="664" y="17567"/>
                </a:lnTo>
                <a:lnTo>
                  <a:pt x="600" y="17081"/>
                </a:lnTo>
                <a:lnTo>
                  <a:pt x="329" y="16637"/>
                </a:lnTo>
                <a:lnTo>
                  <a:pt x="162" y="15826"/>
                </a:lnTo>
                <a:lnTo>
                  <a:pt x="148" y="15212"/>
                </a:lnTo>
                <a:lnTo>
                  <a:pt x="95" y="14241"/>
                </a:lnTo>
                <a:lnTo>
                  <a:pt x="170" y="10918"/>
                </a:lnTo>
                <a:lnTo>
                  <a:pt x="0" y="7628"/>
                </a:lnTo>
                <a:lnTo>
                  <a:pt x="163" y="6385"/>
                </a:lnTo>
                <a:lnTo>
                  <a:pt x="136" y="5627"/>
                </a:lnTo>
                <a:lnTo>
                  <a:pt x="477" y="5146"/>
                </a:lnTo>
                <a:lnTo>
                  <a:pt x="488" y="4682"/>
                </a:lnTo>
                <a:lnTo>
                  <a:pt x="669" y="4156"/>
                </a:lnTo>
                <a:lnTo>
                  <a:pt x="925" y="3671"/>
                </a:lnTo>
                <a:lnTo>
                  <a:pt x="1281" y="3246"/>
                </a:lnTo>
                <a:lnTo>
                  <a:pt x="1779" y="2945"/>
                </a:lnTo>
                <a:lnTo>
                  <a:pt x="2141" y="2769"/>
                </a:lnTo>
                <a:lnTo>
                  <a:pt x="2422" y="2505"/>
                </a:lnTo>
                <a:lnTo>
                  <a:pt x="3029" y="2109"/>
                </a:lnTo>
                <a:lnTo>
                  <a:pt x="3382" y="1889"/>
                </a:lnTo>
                <a:lnTo>
                  <a:pt x="4088" y="1595"/>
                </a:lnTo>
                <a:lnTo>
                  <a:pt x="4610" y="1602"/>
                </a:lnTo>
                <a:lnTo>
                  <a:pt x="5308" y="1392"/>
                </a:lnTo>
                <a:lnTo>
                  <a:pt x="6182" y="1075"/>
                </a:lnTo>
                <a:lnTo>
                  <a:pt x="6922" y="895"/>
                </a:lnTo>
                <a:lnTo>
                  <a:pt x="7677" y="827"/>
                </a:lnTo>
                <a:lnTo>
                  <a:pt x="8691" y="609"/>
                </a:lnTo>
                <a:lnTo>
                  <a:pt x="9779" y="600"/>
                </a:lnTo>
                <a:lnTo>
                  <a:pt x="10791" y="601"/>
                </a:lnTo>
                <a:lnTo>
                  <a:pt x="11899" y="448"/>
                </a:lnTo>
                <a:lnTo>
                  <a:pt x="13277" y="362"/>
                </a:lnTo>
                <a:lnTo>
                  <a:pt x="14768" y="354"/>
                </a:lnTo>
                <a:lnTo>
                  <a:pt x="16498" y="137"/>
                </a:lnTo>
                <a:lnTo>
                  <a:pt x="18668" y="153"/>
                </a:lnTo>
                <a:lnTo>
                  <a:pt x="21240" y="11"/>
                </a:lnTo>
                <a:lnTo>
                  <a:pt x="24670" y="211"/>
                </a:lnTo>
                <a:lnTo>
                  <a:pt x="35439" y="0"/>
                </a:lnTo>
                <a:lnTo>
                  <a:pt x="46432" y="99"/>
                </a:lnTo>
                <a:lnTo>
                  <a:pt x="49874" y="55"/>
                </a:lnTo>
                <a:lnTo>
                  <a:pt x="52406" y="43"/>
                </a:lnTo>
                <a:lnTo>
                  <a:pt x="54593" y="146"/>
                </a:lnTo>
                <a:lnTo>
                  <a:pt x="56174" y="172"/>
                </a:lnTo>
                <a:lnTo>
                  <a:pt x="57821" y="272"/>
                </a:lnTo>
                <a:lnTo>
                  <a:pt x="59139" y="324"/>
                </a:lnTo>
                <a:lnTo>
                  <a:pt x="60322" y="560"/>
                </a:lnTo>
                <a:lnTo>
                  <a:pt x="61406" y="579"/>
                </a:lnTo>
                <a:lnTo>
                  <a:pt x="62429" y="788"/>
                </a:lnTo>
                <a:lnTo>
                  <a:pt x="63425" y="947"/>
                </a:lnTo>
                <a:lnTo>
                  <a:pt x="64211" y="967"/>
                </a:lnTo>
                <a:lnTo>
                  <a:pt x="65014" y="1242"/>
                </a:lnTo>
                <a:lnTo>
                  <a:pt x="65875" y="1295"/>
                </a:lnTo>
                <a:lnTo>
                  <a:pt x="66355" y="1609"/>
                </a:lnTo>
                <a:lnTo>
                  <a:pt x="67080" y="1629"/>
                </a:lnTo>
                <a:lnTo>
                  <a:pt x="67623" y="1908"/>
                </a:lnTo>
                <a:lnTo>
                  <a:pt x="68247" y="2272"/>
                </a:lnTo>
                <a:lnTo>
                  <a:pt x="68623" y="2517"/>
                </a:lnTo>
                <a:lnTo>
                  <a:pt x="68948" y="2706"/>
                </a:lnTo>
                <a:lnTo>
                  <a:pt x="69519" y="3092"/>
                </a:lnTo>
                <a:lnTo>
                  <a:pt x="69794" y="3291"/>
                </a:lnTo>
                <a:lnTo>
                  <a:pt x="70121" y="3707"/>
                </a:lnTo>
                <a:lnTo>
                  <a:pt x="70430" y="4230"/>
                </a:lnTo>
                <a:lnTo>
                  <a:pt x="70481" y="4476"/>
                </a:lnTo>
                <a:lnTo>
                  <a:pt x="70699" y="5078"/>
                </a:lnTo>
                <a:lnTo>
                  <a:pt x="70743" y="5728"/>
                </a:lnTo>
                <a:lnTo>
                  <a:pt x="71074" y="6479"/>
                </a:lnTo>
                <a:lnTo>
                  <a:pt x="70979" y="7521"/>
                </a:lnTo>
                <a:lnTo>
                  <a:pt x="71057" y="10764"/>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13864133" y="6965442"/>
            <a:ext cx="86685" cy="161117"/>
          </a:xfrm>
          <a:custGeom>
            <a:avLst/>
            <a:gdLst/>
            <a:ahLst/>
            <a:cxnLst/>
            <a:rect l="l" t="t" r="r" b="b"/>
            <a:pathLst>
              <a:path w="948" h="1762">
                <a:moveTo>
                  <a:pt x="948" y="0"/>
                </a:moveTo>
                <a:lnTo>
                  <a:pt x="771" y="524"/>
                </a:lnTo>
                <a:lnTo>
                  <a:pt x="555" y="983"/>
                </a:lnTo>
                <a:lnTo>
                  <a:pt x="298" y="1393"/>
                </a:lnTo>
                <a:lnTo>
                  <a:pt x="0" y="1762"/>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12887096" y="7356439"/>
            <a:ext cx="392186" cy="40051"/>
          </a:xfrm>
          <a:custGeom>
            <a:avLst/>
            <a:gdLst/>
            <a:ahLst/>
            <a:cxnLst/>
            <a:rect l="l" t="t" r="r" b="b"/>
            <a:pathLst>
              <a:path w="4289" h="438">
                <a:moveTo>
                  <a:pt x="4289" y="0"/>
                </a:moveTo>
                <a:lnTo>
                  <a:pt x="3354" y="129"/>
                </a:lnTo>
                <a:lnTo>
                  <a:pt x="2335" y="245"/>
                </a:lnTo>
                <a:lnTo>
                  <a:pt x="1223" y="348"/>
                </a:lnTo>
                <a:lnTo>
                  <a:pt x="0" y="438"/>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8471184" y="7388261"/>
            <a:ext cx="533004" cy="26243"/>
          </a:xfrm>
          <a:custGeom>
            <a:avLst/>
            <a:gdLst/>
            <a:ahLst/>
            <a:cxnLst/>
            <a:rect l="l" t="t" r="r" b="b"/>
            <a:pathLst>
              <a:path w="5829" h="287">
                <a:moveTo>
                  <a:pt x="5829" y="287"/>
                </a:moveTo>
                <a:lnTo>
                  <a:pt x="4096" y="233"/>
                </a:lnTo>
                <a:lnTo>
                  <a:pt x="2577" y="168"/>
                </a:lnTo>
                <a:lnTo>
                  <a:pt x="1223" y="90"/>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7578730" y="7092818"/>
            <a:ext cx="132497" cy="118598"/>
          </a:xfrm>
          <a:custGeom>
            <a:avLst/>
            <a:gdLst/>
            <a:ahLst/>
            <a:cxnLst/>
            <a:rect l="l" t="t" r="r" b="b"/>
            <a:pathLst>
              <a:path w="1449" h="1297">
                <a:moveTo>
                  <a:pt x="1449" y="1297"/>
                </a:moveTo>
                <a:lnTo>
                  <a:pt x="1022" y="1014"/>
                </a:lnTo>
                <a:lnTo>
                  <a:pt x="639" y="706"/>
                </a:lnTo>
                <a:lnTo>
                  <a:pt x="298" y="369"/>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7519294" y="5757337"/>
            <a:ext cx="86685" cy="161117"/>
          </a:xfrm>
          <a:custGeom>
            <a:avLst/>
            <a:gdLst/>
            <a:ahLst/>
            <a:cxnLst/>
            <a:rect l="l" t="t" r="r" b="b"/>
            <a:pathLst>
              <a:path w="948" h="1762">
                <a:moveTo>
                  <a:pt x="0" y="1762"/>
                </a:moveTo>
                <a:lnTo>
                  <a:pt x="177" y="1238"/>
                </a:lnTo>
                <a:lnTo>
                  <a:pt x="393" y="779"/>
                </a:lnTo>
                <a:lnTo>
                  <a:pt x="650" y="369"/>
                </a:lnTo>
                <a:lnTo>
                  <a:pt x="948"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8190829" y="5487406"/>
            <a:ext cx="392186" cy="40051"/>
          </a:xfrm>
          <a:custGeom>
            <a:avLst/>
            <a:gdLst/>
            <a:ahLst/>
            <a:cxnLst/>
            <a:rect l="l" t="t" r="r" b="b"/>
            <a:pathLst>
              <a:path w="4289" h="438">
                <a:moveTo>
                  <a:pt x="0" y="438"/>
                </a:moveTo>
                <a:lnTo>
                  <a:pt x="935" y="309"/>
                </a:lnTo>
                <a:lnTo>
                  <a:pt x="1954" y="193"/>
                </a:lnTo>
                <a:lnTo>
                  <a:pt x="3066" y="90"/>
                </a:lnTo>
                <a:lnTo>
                  <a:pt x="4289"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12465924" y="5469392"/>
            <a:ext cx="533004" cy="26243"/>
          </a:xfrm>
          <a:custGeom>
            <a:avLst/>
            <a:gdLst/>
            <a:ahLst/>
            <a:cxnLst/>
            <a:rect l="l" t="t" r="r" b="b"/>
            <a:pathLst>
              <a:path w="5829" h="287">
                <a:moveTo>
                  <a:pt x="0" y="0"/>
                </a:moveTo>
                <a:lnTo>
                  <a:pt x="1733" y="54"/>
                </a:lnTo>
                <a:lnTo>
                  <a:pt x="3252" y="119"/>
                </a:lnTo>
                <a:lnTo>
                  <a:pt x="4606" y="197"/>
                </a:lnTo>
                <a:lnTo>
                  <a:pt x="5829" y="287"/>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13758885" y="5672480"/>
            <a:ext cx="132497" cy="118598"/>
          </a:xfrm>
          <a:custGeom>
            <a:avLst/>
            <a:gdLst/>
            <a:ahLst/>
            <a:cxnLst/>
            <a:rect l="l" t="t" r="r" b="b"/>
            <a:pathLst>
              <a:path w="1449" h="1297">
                <a:moveTo>
                  <a:pt x="0" y="0"/>
                </a:moveTo>
                <a:lnTo>
                  <a:pt x="427" y="283"/>
                </a:lnTo>
                <a:lnTo>
                  <a:pt x="810" y="591"/>
                </a:lnTo>
                <a:lnTo>
                  <a:pt x="1151" y="928"/>
                </a:lnTo>
                <a:lnTo>
                  <a:pt x="1449" y="1297"/>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body: Threat: library poisoning"/>
          <p:cNvSpPr txBox="1"/>
          <p:nvPr/>
        </p:nvSpPr>
        <p:spPr>
          <a:xfrm>
            <a:off x="7836408" y="5584952"/>
            <a:ext cx="5797296"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AE6B55"/>
                </a:solidFill>
                <a:latin typeface="Chalkboard SE"/>
              </a:rPr>
              <a:t>Threat: library poisoning</a:t>
            </a:r>
          </a:p>
        </p:txBody>
      </p:sp>
      <p:sp>
        <p:nvSpPr>
          <p:cNvPr id="98" name="Oval 97"/>
          <p:cNvSpPr/>
          <p:nvPr/>
        </p:nvSpPr>
        <p:spPr>
          <a:xfrm>
            <a:off x="7749540" y="6261163"/>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ody: Web reports are untrusted input to an optimiser"/>
          <p:cNvSpPr txBox="1"/>
          <p:nvPr/>
        </p:nvSpPr>
        <p:spPr>
          <a:xfrm>
            <a:off x="7982711" y="6160579"/>
            <a:ext cx="5751576" cy="37503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Web reports are untrusted input to an optimiser</a:t>
            </a:r>
          </a:p>
        </p:txBody>
      </p:sp>
      <p:sp>
        <p:nvSpPr>
          <p:cNvPr id="100" name="Oval 99"/>
          <p:cNvSpPr/>
          <p:nvPr/>
        </p:nvSpPr>
        <p:spPr>
          <a:xfrm>
            <a:off x="7749540" y="670934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body: Defence: grade, quarantine, reproduce before influence, human ga"/>
          <p:cNvSpPr txBox="1"/>
          <p:nvPr/>
        </p:nvSpPr>
        <p:spPr>
          <a:xfrm>
            <a:off x="7982711" y="6608762"/>
            <a:ext cx="5751576"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Defence: grade, quarantine, reproduce before</a:t>
            </a:r>
            <a:br/>
            <a:r>
              <a:rPr sz="1900" b="0">
                <a:solidFill>
                  <a:srgbClr val="293E46"/>
                </a:solidFill>
                <a:latin typeface="Trebuchet MS"/>
              </a:rPr>
              <a:t>influence, human gate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4 · COMPONENT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4 · COMPONENTS</a:t>
            </a:r>
          </a:p>
        </p:txBody>
      </p:sp>
      <p:sp>
        <p:nvSpPr>
          <p:cNvPr id="3" name="title: Component 2 · The incident library"/>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Component 2 · The incident library</a:t>
            </a:r>
          </a:p>
        </p:txBody>
      </p:sp>
      <p:sp>
        <p:nvSpPr>
          <p:cNvPr id="4" name="subtitle: Executable history with partitions"/>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Executable history with partitions</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19"/>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19</a:t>
            </a:r>
          </a:p>
        </p:txBody>
      </p:sp>
      <p:sp>
        <p:nvSpPr>
          <p:cNvPr id="12" name="Rounded Rectangle 11"/>
          <p:cNvSpPr/>
          <p:nvPr/>
        </p:nvSpPr>
        <p:spPr>
          <a:xfrm>
            <a:off x="640080" y="1783080"/>
            <a:ext cx="6510528" cy="5650992"/>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0994" y="1791310"/>
            <a:ext cx="6497452" cy="5634076"/>
          </a:xfrm>
          <a:custGeom>
            <a:avLst/>
            <a:gdLst/>
            <a:ahLst/>
            <a:cxnLst/>
            <a:rect l="l" t="t" r="r" b="b"/>
            <a:pathLst>
              <a:path w="71057" h="61615">
                <a:moveTo>
                  <a:pt x="71033" y="30725"/>
                </a:moveTo>
                <a:lnTo>
                  <a:pt x="71057" y="40364"/>
                </a:lnTo>
                <a:lnTo>
                  <a:pt x="70872" y="43237"/>
                </a:lnTo>
                <a:lnTo>
                  <a:pt x="70809" y="45537"/>
                </a:lnTo>
                <a:lnTo>
                  <a:pt x="70846" y="47194"/>
                </a:lnTo>
                <a:lnTo>
                  <a:pt x="70689" y="48693"/>
                </a:lnTo>
                <a:lnTo>
                  <a:pt x="70294" y="50130"/>
                </a:lnTo>
                <a:lnTo>
                  <a:pt x="69984" y="51324"/>
                </a:lnTo>
                <a:lnTo>
                  <a:pt x="69763" y="52268"/>
                </a:lnTo>
                <a:lnTo>
                  <a:pt x="69468" y="53357"/>
                </a:lnTo>
                <a:lnTo>
                  <a:pt x="69144" y="54222"/>
                </a:lnTo>
                <a:lnTo>
                  <a:pt x="68716" y="54981"/>
                </a:lnTo>
                <a:lnTo>
                  <a:pt x="68076" y="55754"/>
                </a:lnTo>
                <a:lnTo>
                  <a:pt x="67793" y="56280"/>
                </a:lnTo>
                <a:lnTo>
                  <a:pt x="67095" y="56937"/>
                </a:lnTo>
                <a:lnTo>
                  <a:pt x="66407" y="57512"/>
                </a:lnTo>
                <a:lnTo>
                  <a:pt x="65916" y="58111"/>
                </a:lnTo>
                <a:lnTo>
                  <a:pt x="64980" y="58709"/>
                </a:lnTo>
                <a:lnTo>
                  <a:pt x="64214" y="59022"/>
                </a:lnTo>
                <a:lnTo>
                  <a:pt x="63366" y="59387"/>
                </a:lnTo>
                <a:lnTo>
                  <a:pt x="62568" y="59803"/>
                </a:lnTo>
                <a:lnTo>
                  <a:pt x="61370" y="60112"/>
                </a:lnTo>
                <a:lnTo>
                  <a:pt x="60342" y="60435"/>
                </a:lnTo>
                <a:lnTo>
                  <a:pt x="59133" y="60720"/>
                </a:lnTo>
                <a:lnTo>
                  <a:pt x="57816" y="61033"/>
                </a:lnTo>
                <a:lnTo>
                  <a:pt x="56261" y="61235"/>
                </a:lnTo>
                <a:lnTo>
                  <a:pt x="54485" y="61436"/>
                </a:lnTo>
                <a:lnTo>
                  <a:pt x="52446" y="61431"/>
                </a:lnTo>
                <a:lnTo>
                  <a:pt x="49858" y="61454"/>
                </a:lnTo>
                <a:lnTo>
                  <a:pt x="46382" y="61569"/>
                </a:lnTo>
                <a:lnTo>
                  <a:pt x="35702" y="61610"/>
                </a:lnTo>
                <a:lnTo>
                  <a:pt x="24669" y="61615"/>
                </a:lnTo>
                <a:lnTo>
                  <a:pt x="21241" y="61585"/>
                </a:lnTo>
                <a:lnTo>
                  <a:pt x="18606" y="61511"/>
                </a:lnTo>
                <a:lnTo>
                  <a:pt x="16688" y="61280"/>
                </a:lnTo>
                <a:lnTo>
                  <a:pt x="15035" y="61265"/>
                </a:lnTo>
                <a:lnTo>
                  <a:pt x="13380" y="60939"/>
                </a:lnTo>
                <a:lnTo>
                  <a:pt x="11936" y="60867"/>
                </a:lnTo>
                <a:lnTo>
                  <a:pt x="10903" y="60498"/>
                </a:lnTo>
                <a:lnTo>
                  <a:pt x="9632" y="60082"/>
                </a:lnTo>
                <a:lnTo>
                  <a:pt x="8699" y="59828"/>
                </a:lnTo>
                <a:lnTo>
                  <a:pt x="7712" y="59468"/>
                </a:lnTo>
                <a:lnTo>
                  <a:pt x="6903" y="59200"/>
                </a:lnTo>
                <a:lnTo>
                  <a:pt x="6159" y="58731"/>
                </a:lnTo>
                <a:lnTo>
                  <a:pt x="5459" y="58062"/>
                </a:lnTo>
                <a:lnTo>
                  <a:pt x="4654" y="57661"/>
                </a:lnTo>
                <a:lnTo>
                  <a:pt x="4197" y="56979"/>
                </a:lnTo>
                <a:lnTo>
                  <a:pt x="3627" y="56468"/>
                </a:lnTo>
                <a:lnTo>
                  <a:pt x="3010" y="55805"/>
                </a:lnTo>
                <a:lnTo>
                  <a:pt x="2412" y="54831"/>
                </a:lnTo>
                <a:lnTo>
                  <a:pt x="2013" y="54218"/>
                </a:lnTo>
                <a:lnTo>
                  <a:pt x="1605" y="53279"/>
                </a:lnTo>
                <a:lnTo>
                  <a:pt x="1484" y="52205"/>
                </a:lnTo>
                <a:lnTo>
                  <a:pt x="1092" y="51143"/>
                </a:lnTo>
                <a:lnTo>
                  <a:pt x="729" y="50133"/>
                </a:lnTo>
                <a:lnTo>
                  <a:pt x="508" y="48664"/>
                </a:lnTo>
                <a:lnTo>
                  <a:pt x="532" y="47200"/>
                </a:lnTo>
                <a:lnTo>
                  <a:pt x="162" y="45443"/>
                </a:lnTo>
                <a:lnTo>
                  <a:pt x="228" y="43225"/>
                </a:lnTo>
                <a:lnTo>
                  <a:pt x="0" y="40211"/>
                </a:lnTo>
                <a:lnTo>
                  <a:pt x="169" y="30700"/>
                </a:lnTo>
                <a:lnTo>
                  <a:pt x="232" y="21260"/>
                </a:lnTo>
                <a:lnTo>
                  <a:pt x="262" y="18404"/>
                </a:lnTo>
                <a:lnTo>
                  <a:pt x="413" y="16173"/>
                </a:lnTo>
                <a:lnTo>
                  <a:pt x="461" y="14310"/>
                </a:lnTo>
                <a:lnTo>
                  <a:pt x="569" y="12978"/>
                </a:lnTo>
                <a:lnTo>
                  <a:pt x="934" y="11600"/>
                </a:lnTo>
                <a:lnTo>
                  <a:pt x="1001" y="10463"/>
                </a:lnTo>
                <a:lnTo>
                  <a:pt x="1256" y="9319"/>
                </a:lnTo>
                <a:lnTo>
                  <a:pt x="1597" y="8424"/>
                </a:lnTo>
                <a:lnTo>
                  <a:pt x="2047" y="7489"/>
                </a:lnTo>
                <a:lnTo>
                  <a:pt x="2524" y="6552"/>
                </a:lnTo>
                <a:lnTo>
                  <a:pt x="2921" y="5860"/>
                </a:lnTo>
                <a:lnTo>
                  <a:pt x="3437" y="5140"/>
                </a:lnTo>
                <a:lnTo>
                  <a:pt x="4123" y="4549"/>
                </a:lnTo>
                <a:lnTo>
                  <a:pt x="4599" y="3985"/>
                </a:lnTo>
                <a:lnTo>
                  <a:pt x="5427" y="3531"/>
                </a:lnTo>
                <a:lnTo>
                  <a:pt x="5999" y="2897"/>
                </a:lnTo>
                <a:lnTo>
                  <a:pt x="6993" y="2434"/>
                </a:lnTo>
                <a:lnTo>
                  <a:pt x="7795" y="2057"/>
                </a:lnTo>
                <a:lnTo>
                  <a:pt x="8759" y="1847"/>
                </a:lnTo>
                <a:lnTo>
                  <a:pt x="9695" y="1418"/>
                </a:lnTo>
                <a:lnTo>
                  <a:pt x="10870" y="1150"/>
                </a:lnTo>
                <a:lnTo>
                  <a:pt x="12144" y="763"/>
                </a:lnTo>
                <a:lnTo>
                  <a:pt x="13381" y="744"/>
                </a:lnTo>
                <a:lnTo>
                  <a:pt x="14955" y="471"/>
                </a:lnTo>
                <a:lnTo>
                  <a:pt x="16755" y="217"/>
                </a:lnTo>
                <a:lnTo>
                  <a:pt x="18616" y="274"/>
                </a:lnTo>
                <a:lnTo>
                  <a:pt x="21318" y="118"/>
                </a:lnTo>
                <a:lnTo>
                  <a:pt x="24649" y="0"/>
                </a:lnTo>
                <a:lnTo>
                  <a:pt x="35555" y="139"/>
                </a:lnTo>
                <a:lnTo>
                  <a:pt x="46429" y="56"/>
                </a:lnTo>
                <a:lnTo>
                  <a:pt x="49975" y="183"/>
                </a:lnTo>
                <a:lnTo>
                  <a:pt x="52611" y="90"/>
                </a:lnTo>
                <a:lnTo>
                  <a:pt x="54537" y="317"/>
                </a:lnTo>
                <a:lnTo>
                  <a:pt x="56289" y="550"/>
                </a:lnTo>
                <a:lnTo>
                  <a:pt x="57841" y="679"/>
                </a:lnTo>
                <a:lnTo>
                  <a:pt x="59003" y="982"/>
                </a:lnTo>
                <a:lnTo>
                  <a:pt x="60416" y="1167"/>
                </a:lnTo>
                <a:lnTo>
                  <a:pt x="61579" y="1500"/>
                </a:lnTo>
                <a:lnTo>
                  <a:pt x="62405" y="1854"/>
                </a:lnTo>
                <a:lnTo>
                  <a:pt x="63291" y="2106"/>
                </a:lnTo>
                <a:lnTo>
                  <a:pt x="64193" y="2545"/>
                </a:lnTo>
                <a:lnTo>
                  <a:pt x="65023" y="2974"/>
                </a:lnTo>
                <a:lnTo>
                  <a:pt x="65673" y="3474"/>
                </a:lnTo>
                <a:lnTo>
                  <a:pt x="66606" y="3895"/>
                </a:lnTo>
                <a:lnTo>
                  <a:pt x="67173" y="4539"/>
                </a:lnTo>
                <a:lnTo>
                  <a:pt x="67776" y="5223"/>
                </a:lnTo>
                <a:lnTo>
                  <a:pt x="68215" y="5943"/>
                </a:lnTo>
                <a:lnTo>
                  <a:pt x="68714" y="6706"/>
                </a:lnTo>
                <a:lnTo>
                  <a:pt x="69144" y="7527"/>
                </a:lnTo>
                <a:lnTo>
                  <a:pt x="69422" y="8349"/>
                </a:lnTo>
                <a:lnTo>
                  <a:pt x="69809" y="9236"/>
                </a:lnTo>
                <a:lnTo>
                  <a:pt x="70061" y="10345"/>
                </a:lnTo>
                <a:lnTo>
                  <a:pt x="70451" y="11528"/>
                </a:lnTo>
                <a:lnTo>
                  <a:pt x="70529" y="12786"/>
                </a:lnTo>
                <a:lnTo>
                  <a:pt x="70873" y="14359"/>
                </a:lnTo>
                <a:lnTo>
                  <a:pt x="70922" y="16228"/>
                </a:lnTo>
                <a:lnTo>
                  <a:pt x="70883" y="18261"/>
                </a:lnTo>
                <a:lnTo>
                  <a:pt x="71016" y="21258"/>
                </a:lnTo>
                <a:lnTo>
                  <a:pt x="71001" y="30863"/>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47944" y="1794784"/>
            <a:ext cx="6497726" cy="5637276"/>
          </a:xfrm>
          <a:custGeom>
            <a:avLst/>
            <a:gdLst/>
            <a:ahLst/>
            <a:cxnLst/>
            <a:rect l="l" t="t" r="r" b="b"/>
            <a:pathLst>
              <a:path w="71060" h="61650">
                <a:moveTo>
                  <a:pt x="70996" y="30779"/>
                </a:moveTo>
                <a:lnTo>
                  <a:pt x="71060" y="40269"/>
                </a:lnTo>
                <a:lnTo>
                  <a:pt x="70857" y="43284"/>
                </a:lnTo>
                <a:lnTo>
                  <a:pt x="70749" y="45493"/>
                </a:lnTo>
                <a:lnTo>
                  <a:pt x="70620" y="47169"/>
                </a:lnTo>
                <a:lnTo>
                  <a:pt x="70553" y="48675"/>
                </a:lnTo>
                <a:lnTo>
                  <a:pt x="70356" y="49987"/>
                </a:lnTo>
                <a:lnTo>
                  <a:pt x="69990" y="51302"/>
                </a:lnTo>
                <a:lnTo>
                  <a:pt x="69854" y="52292"/>
                </a:lnTo>
                <a:lnTo>
                  <a:pt x="69378" y="53255"/>
                </a:lnTo>
                <a:lnTo>
                  <a:pt x="69091" y="54136"/>
                </a:lnTo>
                <a:lnTo>
                  <a:pt x="68643" y="54991"/>
                </a:lnTo>
                <a:lnTo>
                  <a:pt x="68173" y="55597"/>
                </a:lnTo>
                <a:lnTo>
                  <a:pt x="67634" y="56288"/>
                </a:lnTo>
                <a:lnTo>
                  <a:pt x="67051" y="57019"/>
                </a:lnTo>
                <a:lnTo>
                  <a:pt x="66346" y="57516"/>
                </a:lnTo>
                <a:lnTo>
                  <a:pt x="65832" y="57993"/>
                </a:lnTo>
                <a:lnTo>
                  <a:pt x="64962" y="58678"/>
                </a:lnTo>
                <a:lnTo>
                  <a:pt x="64274" y="59078"/>
                </a:lnTo>
                <a:lnTo>
                  <a:pt x="63373" y="59400"/>
                </a:lnTo>
                <a:lnTo>
                  <a:pt x="62362" y="59862"/>
                </a:lnTo>
                <a:lnTo>
                  <a:pt x="61352" y="60202"/>
                </a:lnTo>
                <a:lnTo>
                  <a:pt x="60198" y="60367"/>
                </a:lnTo>
                <a:lnTo>
                  <a:pt x="59003" y="60708"/>
                </a:lnTo>
                <a:lnTo>
                  <a:pt x="57780" y="60879"/>
                </a:lnTo>
                <a:lnTo>
                  <a:pt x="56285" y="61114"/>
                </a:lnTo>
                <a:lnTo>
                  <a:pt x="54453" y="61196"/>
                </a:lnTo>
                <a:lnTo>
                  <a:pt x="52404" y="61440"/>
                </a:lnTo>
                <a:lnTo>
                  <a:pt x="50012" y="61488"/>
                </a:lnTo>
                <a:lnTo>
                  <a:pt x="46519" y="61650"/>
                </a:lnTo>
                <a:lnTo>
                  <a:pt x="35467" y="61541"/>
                </a:lnTo>
                <a:lnTo>
                  <a:pt x="24724" y="61564"/>
                </a:lnTo>
                <a:lnTo>
                  <a:pt x="21090" y="61400"/>
                </a:lnTo>
                <a:lnTo>
                  <a:pt x="18706" y="61445"/>
                </a:lnTo>
                <a:lnTo>
                  <a:pt x="16631" y="61172"/>
                </a:lnTo>
                <a:lnTo>
                  <a:pt x="14864" y="61233"/>
                </a:lnTo>
                <a:lnTo>
                  <a:pt x="13331" y="60910"/>
                </a:lnTo>
                <a:lnTo>
                  <a:pt x="11897" y="60717"/>
                </a:lnTo>
                <a:lnTo>
                  <a:pt x="10713" y="60545"/>
                </a:lnTo>
                <a:lnTo>
                  <a:pt x="9672" y="60047"/>
                </a:lnTo>
                <a:lnTo>
                  <a:pt x="8554" y="59763"/>
                </a:lnTo>
                <a:lnTo>
                  <a:pt x="7656" y="59473"/>
                </a:lnTo>
                <a:lnTo>
                  <a:pt x="6829" y="59089"/>
                </a:lnTo>
                <a:lnTo>
                  <a:pt x="5950" y="58670"/>
                </a:lnTo>
                <a:lnTo>
                  <a:pt x="5318" y="58158"/>
                </a:lnTo>
                <a:lnTo>
                  <a:pt x="4654" y="57499"/>
                </a:lnTo>
                <a:lnTo>
                  <a:pt x="4097" y="57055"/>
                </a:lnTo>
                <a:lnTo>
                  <a:pt x="3381" y="56253"/>
                </a:lnTo>
                <a:lnTo>
                  <a:pt x="2903" y="55776"/>
                </a:lnTo>
                <a:lnTo>
                  <a:pt x="2406" y="54925"/>
                </a:lnTo>
                <a:lnTo>
                  <a:pt x="2057" y="53981"/>
                </a:lnTo>
                <a:lnTo>
                  <a:pt x="1507" y="53194"/>
                </a:lnTo>
                <a:lnTo>
                  <a:pt x="1400" y="52217"/>
                </a:lnTo>
                <a:lnTo>
                  <a:pt x="1066" y="51193"/>
                </a:lnTo>
                <a:lnTo>
                  <a:pt x="843" y="49901"/>
                </a:lnTo>
                <a:lnTo>
                  <a:pt x="429" y="48767"/>
                </a:lnTo>
                <a:lnTo>
                  <a:pt x="438" y="47108"/>
                </a:lnTo>
                <a:lnTo>
                  <a:pt x="182" y="45364"/>
                </a:lnTo>
                <a:lnTo>
                  <a:pt x="194" y="43220"/>
                </a:lnTo>
                <a:lnTo>
                  <a:pt x="16" y="40281"/>
                </a:lnTo>
                <a:lnTo>
                  <a:pt x="25" y="30658"/>
                </a:lnTo>
                <a:lnTo>
                  <a:pt x="20" y="21298"/>
                </a:lnTo>
                <a:lnTo>
                  <a:pt x="0" y="18180"/>
                </a:lnTo>
                <a:lnTo>
                  <a:pt x="242" y="15999"/>
                </a:lnTo>
                <a:lnTo>
                  <a:pt x="279" y="14308"/>
                </a:lnTo>
                <a:lnTo>
                  <a:pt x="448" y="12743"/>
                </a:lnTo>
                <a:lnTo>
                  <a:pt x="693" y="11426"/>
                </a:lnTo>
                <a:lnTo>
                  <a:pt x="928" y="10286"/>
                </a:lnTo>
                <a:lnTo>
                  <a:pt x="1282" y="9198"/>
                </a:lnTo>
                <a:lnTo>
                  <a:pt x="1527" y="8343"/>
                </a:lnTo>
                <a:lnTo>
                  <a:pt x="2117" y="7467"/>
                </a:lnTo>
                <a:lnTo>
                  <a:pt x="2481" y="6520"/>
                </a:lnTo>
                <a:lnTo>
                  <a:pt x="2847" y="5775"/>
                </a:lnTo>
                <a:lnTo>
                  <a:pt x="3508" y="5118"/>
                </a:lnTo>
                <a:lnTo>
                  <a:pt x="4029" y="4545"/>
                </a:lnTo>
                <a:lnTo>
                  <a:pt x="4728" y="4078"/>
                </a:lnTo>
                <a:lnTo>
                  <a:pt x="5361" y="3413"/>
                </a:lnTo>
                <a:lnTo>
                  <a:pt x="5998" y="2975"/>
                </a:lnTo>
                <a:lnTo>
                  <a:pt x="6909" y="2418"/>
                </a:lnTo>
                <a:lnTo>
                  <a:pt x="7701" y="2143"/>
                </a:lnTo>
                <a:lnTo>
                  <a:pt x="8734" y="1753"/>
                </a:lnTo>
                <a:lnTo>
                  <a:pt x="9527" y="1493"/>
                </a:lnTo>
                <a:lnTo>
                  <a:pt x="10731" y="1050"/>
                </a:lnTo>
                <a:lnTo>
                  <a:pt x="11921" y="752"/>
                </a:lnTo>
                <a:lnTo>
                  <a:pt x="13210" y="695"/>
                </a:lnTo>
                <a:lnTo>
                  <a:pt x="14845" y="519"/>
                </a:lnTo>
                <a:lnTo>
                  <a:pt x="16465" y="169"/>
                </a:lnTo>
                <a:lnTo>
                  <a:pt x="18537" y="198"/>
                </a:lnTo>
                <a:lnTo>
                  <a:pt x="21057" y="126"/>
                </a:lnTo>
                <a:lnTo>
                  <a:pt x="24705" y="0"/>
                </a:lnTo>
                <a:lnTo>
                  <a:pt x="35504" y="95"/>
                </a:lnTo>
                <a:lnTo>
                  <a:pt x="46417" y="25"/>
                </a:lnTo>
                <a:lnTo>
                  <a:pt x="49911" y="90"/>
                </a:lnTo>
                <a:lnTo>
                  <a:pt x="52398" y="89"/>
                </a:lnTo>
                <a:lnTo>
                  <a:pt x="54424" y="167"/>
                </a:lnTo>
                <a:lnTo>
                  <a:pt x="56218" y="392"/>
                </a:lnTo>
                <a:lnTo>
                  <a:pt x="57672" y="534"/>
                </a:lnTo>
                <a:lnTo>
                  <a:pt x="59109" y="783"/>
                </a:lnTo>
                <a:lnTo>
                  <a:pt x="60156" y="980"/>
                </a:lnTo>
                <a:lnTo>
                  <a:pt x="61293" y="1414"/>
                </a:lnTo>
                <a:lnTo>
                  <a:pt x="62344" y="1826"/>
                </a:lnTo>
                <a:lnTo>
                  <a:pt x="63404" y="2000"/>
                </a:lnTo>
                <a:lnTo>
                  <a:pt x="64220" y="2496"/>
                </a:lnTo>
                <a:lnTo>
                  <a:pt x="65007" y="2947"/>
                </a:lnTo>
                <a:lnTo>
                  <a:pt x="65684" y="3319"/>
                </a:lnTo>
                <a:lnTo>
                  <a:pt x="66433" y="4043"/>
                </a:lnTo>
                <a:lnTo>
                  <a:pt x="66925" y="4490"/>
                </a:lnTo>
                <a:lnTo>
                  <a:pt x="67553" y="5309"/>
                </a:lnTo>
                <a:lnTo>
                  <a:pt x="68181" y="5776"/>
                </a:lnTo>
                <a:lnTo>
                  <a:pt x="68702" y="6572"/>
                </a:lnTo>
                <a:lnTo>
                  <a:pt x="69041" y="7541"/>
                </a:lnTo>
                <a:lnTo>
                  <a:pt x="69398" y="8247"/>
                </a:lnTo>
                <a:lnTo>
                  <a:pt x="69772" y="9208"/>
                </a:lnTo>
                <a:lnTo>
                  <a:pt x="70149" y="10437"/>
                </a:lnTo>
                <a:lnTo>
                  <a:pt x="70363" y="11621"/>
                </a:lnTo>
                <a:lnTo>
                  <a:pt x="70402" y="12811"/>
                </a:lnTo>
                <a:lnTo>
                  <a:pt x="70677" y="14386"/>
                </a:lnTo>
                <a:lnTo>
                  <a:pt x="70794" y="16154"/>
                </a:lnTo>
                <a:lnTo>
                  <a:pt x="70803" y="18284"/>
                </a:lnTo>
                <a:lnTo>
                  <a:pt x="71029" y="21239"/>
                </a:lnTo>
                <a:lnTo>
                  <a:pt x="70984" y="30868"/>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7024421" y="6110204"/>
            <a:ext cx="86685" cy="462321"/>
          </a:xfrm>
          <a:custGeom>
            <a:avLst/>
            <a:gdLst/>
            <a:ahLst/>
            <a:cxnLst/>
            <a:rect l="l" t="t" r="r" b="b"/>
            <a:pathLst>
              <a:path w="948" h="5056">
                <a:moveTo>
                  <a:pt x="948" y="0"/>
                </a:moveTo>
                <a:lnTo>
                  <a:pt x="771" y="1503"/>
                </a:lnTo>
                <a:lnTo>
                  <a:pt x="555" y="2821"/>
                </a:lnTo>
                <a:lnTo>
                  <a:pt x="298" y="3995"/>
                </a:lnTo>
                <a:lnTo>
                  <a:pt x="0" y="5056"/>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6047384" y="7231807"/>
            <a:ext cx="392186" cy="114940"/>
          </a:xfrm>
          <a:custGeom>
            <a:avLst/>
            <a:gdLst/>
            <a:ahLst/>
            <a:cxnLst/>
            <a:rect l="l" t="t" r="r" b="b"/>
            <a:pathLst>
              <a:path w="4289" h="1257">
                <a:moveTo>
                  <a:pt x="4289" y="0"/>
                </a:moveTo>
                <a:lnTo>
                  <a:pt x="3354" y="371"/>
                </a:lnTo>
                <a:lnTo>
                  <a:pt x="2335" y="703"/>
                </a:lnTo>
                <a:lnTo>
                  <a:pt x="1223" y="999"/>
                </a:lnTo>
                <a:lnTo>
                  <a:pt x="0" y="125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631472" y="7323155"/>
            <a:ext cx="533004" cy="75164"/>
          </a:xfrm>
          <a:custGeom>
            <a:avLst/>
            <a:gdLst/>
            <a:ahLst/>
            <a:cxnLst/>
            <a:rect l="l" t="t" r="r" b="b"/>
            <a:pathLst>
              <a:path w="5829" h="822">
                <a:moveTo>
                  <a:pt x="5829" y="822"/>
                </a:moveTo>
                <a:lnTo>
                  <a:pt x="4096" y="669"/>
                </a:lnTo>
                <a:lnTo>
                  <a:pt x="2577" y="481"/>
                </a:lnTo>
                <a:lnTo>
                  <a:pt x="1223" y="258"/>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39018" y="6475506"/>
            <a:ext cx="132497" cy="340340"/>
          </a:xfrm>
          <a:custGeom>
            <a:avLst/>
            <a:gdLst/>
            <a:ahLst/>
            <a:cxnLst/>
            <a:rect l="l" t="t" r="r" b="b"/>
            <a:pathLst>
              <a:path w="1449" h="3722">
                <a:moveTo>
                  <a:pt x="1449" y="3722"/>
                </a:moveTo>
                <a:lnTo>
                  <a:pt x="1022" y="2910"/>
                </a:lnTo>
                <a:lnTo>
                  <a:pt x="639" y="2026"/>
                </a:lnTo>
                <a:lnTo>
                  <a:pt x="298" y="1061"/>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79582" y="2644628"/>
            <a:ext cx="86685" cy="462321"/>
          </a:xfrm>
          <a:custGeom>
            <a:avLst/>
            <a:gdLst/>
            <a:ahLst/>
            <a:cxnLst/>
            <a:rect l="l" t="t" r="r" b="b"/>
            <a:pathLst>
              <a:path w="948" h="5056">
                <a:moveTo>
                  <a:pt x="0" y="5056"/>
                </a:moveTo>
                <a:lnTo>
                  <a:pt x="177" y="3553"/>
                </a:lnTo>
                <a:lnTo>
                  <a:pt x="393" y="2235"/>
                </a:lnTo>
                <a:lnTo>
                  <a:pt x="650" y="1061"/>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351117" y="1870405"/>
            <a:ext cx="392186" cy="114940"/>
          </a:xfrm>
          <a:custGeom>
            <a:avLst/>
            <a:gdLst/>
            <a:ahLst/>
            <a:cxnLst/>
            <a:rect l="l" t="t" r="r" b="b"/>
            <a:pathLst>
              <a:path w="4289" h="1257">
                <a:moveTo>
                  <a:pt x="0" y="1257"/>
                </a:moveTo>
                <a:lnTo>
                  <a:pt x="935" y="886"/>
                </a:lnTo>
                <a:lnTo>
                  <a:pt x="1954" y="554"/>
                </a:lnTo>
                <a:lnTo>
                  <a:pt x="3066" y="258"/>
                </a:lnTo>
                <a:lnTo>
                  <a:pt x="428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626212" y="1818833"/>
            <a:ext cx="533004" cy="75164"/>
          </a:xfrm>
          <a:custGeom>
            <a:avLst/>
            <a:gdLst/>
            <a:ahLst/>
            <a:cxnLst/>
            <a:rect l="l" t="t" r="r" b="b"/>
            <a:pathLst>
              <a:path w="5829" h="822">
                <a:moveTo>
                  <a:pt x="0" y="0"/>
                </a:moveTo>
                <a:lnTo>
                  <a:pt x="1733" y="153"/>
                </a:lnTo>
                <a:lnTo>
                  <a:pt x="3252" y="341"/>
                </a:lnTo>
                <a:lnTo>
                  <a:pt x="4606" y="564"/>
                </a:lnTo>
                <a:lnTo>
                  <a:pt x="5829" y="82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919173" y="2401306"/>
            <a:ext cx="132497" cy="340340"/>
          </a:xfrm>
          <a:custGeom>
            <a:avLst/>
            <a:gdLst/>
            <a:ahLst/>
            <a:cxnLst/>
            <a:rect l="l" t="t" r="r" b="b"/>
            <a:pathLst>
              <a:path w="1449" h="3722">
                <a:moveTo>
                  <a:pt x="0" y="0"/>
                </a:moveTo>
                <a:lnTo>
                  <a:pt x="427" y="812"/>
                </a:lnTo>
                <a:lnTo>
                  <a:pt x="810" y="1696"/>
                </a:lnTo>
                <a:lnTo>
                  <a:pt x="1151" y="2661"/>
                </a:lnTo>
                <a:lnTo>
                  <a:pt x="1449" y="372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One case contains"/>
          <p:cNvSpPr txBox="1"/>
          <p:nvPr/>
        </p:nvSpPr>
        <p:spPr>
          <a:xfrm>
            <a:off x="996695" y="2061209"/>
            <a:ext cx="5797296"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One case contains</a:t>
            </a:r>
          </a:p>
        </p:txBody>
      </p:sp>
      <p:sp>
        <p:nvSpPr>
          <p:cNvPr id="24" name="Oval 23"/>
          <p:cNvSpPr/>
          <p:nvPr/>
        </p:nvSpPr>
        <p:spPr>
          <a:xfrm>
            <a:off x="909828" y="290893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Checkpoint, authorization policy, tools"/>
          <p:cNvSpPr txBox="1"/>
          <p:nvPr/>
        </p:nvSpPr>
        <p:spPr>
          <a:xfrm>
            <a:off x="1143000" y="2808350"/>
            <a:ext cx="5751576"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Checkpoint, authorization policy, tools</a:t>
            </a:r>
          </a:p>
        </p:txBody>
      </p:sp>
      <p:sp>
        <p:nvSpPr>
          <p:cNvPr id="26" name="Oval 25"/>
          <p:cNvSpPr/>
          <p:nvPr/>
        </p:nvSpPr>
        <p:spPr>
          <a:xfrm>
            <a:off x="909828" y="345122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Exact trace and the minimal trigger"/>
          <p:cNvSpPr txBox="1"/>
          <p:nvPr/>
        </p:nvSpPr>
        <p:spPr>
          <a:xfrm>
            <a:off x="1143000" y="3350640"/>
            <a:ext cx="5751576"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Exact trace and the minimal trigger</a:t>
            </a:r>
          </a:p>
        </p:txBody>
      </p:sp>
      <p:sp>
        <p:nvSpPr>
          <p:cNvPr id="28" name="Oval 27"/>
          <p:cNvSpPr/>
          <p:nvPr/>
        </p:nvSpPr>
        <p:spPr>
          <a:xfrm>
            <a:off x="909828" y="3993515"/>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Expected effects"/>
          <p:cNvSpPr txBox="1"/>
          <p:nvPr/>
        </p:nvSpPr>
        <p:spPr>
          <a:xfrm>
            <a:off x="1143000" y="3892931"/>
            <a:ext cx="5751576"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Expected effects</a:t>
            </a:r>
          </a:p>
        </p:txBody>
      </p:sp>
      <p:sp>
        <p:nvSpPr>
          <p:cNvPr id="30" name="Oval 29"/>
          <p:cNvSpPr/>
          <p:nvPr/>
        </p:nvSpPr>
        <p:spPr>
          <a:xfrm>
            <a:off x="909828" y="4535805"/>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ody: A benign twin task"/>
          <p:cNvSpPr txBox="1"/>
          <p:nvPr/>
        </p:nvSpPr>
        <p:spPr>
          <a:xfrm>
            <a:off x="1143000" y="4435221"/>
            <a:ext cx="5751576"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A benign twin task</a:t>
            </a:r>
          </a:p>
        </p:txBody>
      </p:sp>
      <p:sp>
        <p:nvSpPr>
          <p:cNvPr id="32" name="Oval 31"/>
          <p:cNvSpPr/>
          <p:nvPr/>
        </p:nvSpPr>
        <p:spPr>
          <a:xfrm>
            <a:off x="909828" y="5078095"/>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ody: Evidence grade, report date, provenance hashes"/>
          <p:cNvSpPr txBox="1"/>
          <p:nvPr/>
        </p:nvSpPr>
        <p:spPr>
          <a:xfrm>
            <a:off x="1143000" y="4977511"/>
            <a:ext cx="5751576" cy="778256"/>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Evidence grade, report date, provenance</a:t>
            </a:r>
            <a:br/>
            <a:r>
              <a:rPr sz="2200" b="0">
                <a:solidFill>
                  <a:srgbClr val="293E46"/>
                </a:solidFill>
                <a:latin typeface="Trebuchet MS"/>
              </a:rPr>
              <a:t>hashes</a:t>
            </a:r>
          </a:p>
        </p:txBody>
      </p:sp>
      <p:sp>
        <p:nvSpPr>
          <p:cNvPr id="34" name="Oval 33"/>
          <p:cNvSpPr/>
          <p:nvPr/>
        </p:nvSpPr>
        <p:spPr>
          <a:xfrm>
            <a:off x="909828" y="5975223"/>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ody: Lineage: variants and retries stay together"/>
          <p:cNvSpPr txBox="1"/>
          <p:nvPr/>
        </p:nvSpPr>
        <p:spPr>
          <a:xfrm>
            <a:off x="1143000" y="5874639"/>
            <a:ext cx="5751576"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Lineage: variants and retries stay together</a:t>
            </a:r>
          </a:p>
        </p:txBody>
      </p:sp>
      <p:sp>
        <p:nvSpPr>
          <p:cNvPr id="36" name="Oval 35"/>
          <p:cNvSpPr/>
          <p:nvPr/>
        </p:nvSpPr>
        <p:spPr>
          <a:xfrm>
            <a:off x="909828" y="6517513"/>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ody: Case format compatible with ControlArena settings (main task + s"/>
          <p:cNvSpPr txBox="1"/>
          <p:nvPr/>
        </p:nvSpPr>
        <p:spPr>
          <a:xfrm>
            <a:off x="1143000" y="6416929"/>
            <a:ext cx="5751576" cy="778256"/>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Case format compatible with ControlArena</a:t>
            </a:r>
            <a:br/>
            <a:r>
              <a:rPr sz="2200" b="0">
                <a:solidFill>
                  <a:srgbClr val="293E46"/>
                </a:solidFill>
                <a:latin typeface="Trebuchet MS"/>
              </a:rPr>
              <a:t>settings (main task + side task)</a:t>
            </a:r>
          </a:p>
        </p:txBody>
      </p:sp>
      <p:sp>
        <p:nvSpPr>
          <p:cNvPr id="38" name="Rounded Rectangle 37"/>
          <p:cNvSpPr/>
          <p:nvPr/>
        </p:nvSpPr>
        <p:spPr>
          <a:xfrm>
            <a:off x="7479792" y="1783080"/>
            <a:ext cx="6510528" cy="2633472"/>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7487930" y="1786555"/>
            <a:ext cx="6502024" cy="2619939"/>
          </a:xfrm>
          <a:custGeom>
            <a:avLst/>
            <a:gdLst/>
            <a:ahLst/>
            <a:cxnLst/>
            <a:rect l="l" t="t" r="r" b="b"/>
            <a:pathLst>
              <a:path w="71107" h="28652">
                <a:moveTo>
                  <a:pt x="70900" y="14377"/>
                </a:moveTo>
                <a:lnTo>
                  <a:pt x="71067" y="18861"/>
                </a:lnTo>
                <a:lnTo>
                  <a:pt x="71010" y="20160"/>
                </a:lnTo>
                <a:lnTo>
                  <a:pt x="70779" y="21270"/>
                </a:lnTo>
                <a:lnTo>
                  <a:pt x="70809" y="22069"/>
                </a:lnTo>
                <a:lnTo>
                  <a:pt x="70542" y="22743"/>
                </a:lnTo>
                <a:lnTo>
                  <a:pt x="70339" y="23310"/>
                </a:lnTo>
                <a:lnTo>
                  <a:pt x="70053" y="23906"/>
                </a:lnTo>
                <a:lnTo>
                  <a:pt x="69664" y="24328"/>
                </a:lnTo>
                <a:lnTo>
                  <a:pt x="69415" y="24724"/>
                </a:lnTo>
                <a:lnTo>
                  <a:pt x="69125" y="25166"/>
                </a:lnTo>
                <a:lnTo>
                  <a:pt x="68536" y="25531"/>
                </a:lnTo>
                <a:lnTo>
                  <a:pt x="68126" y="25822"/>
                </a:lnTo>
                <a:lnTo>
                  <a:pt x="67538" y="26257"/>
                </a:lnTo>
                <a:lnTo>
                  <a:pt x="67064" y="26484"/>
                </a:lnTo>
                <a:lnTo>
                  <a:pt x="66447" y="26810"/>
                </a:lnTo>
                <a:lnTo>
                  <a:pt x="65732" y="27046"/>
                </a:lnTo>
                <a:lnTo>
                  <a:pt x="64901" y="27174"/>
                </a:lnTo>
                <a:lnTo>
                  <a:pt x="64179" y="27598"/>
                </a:lnTo>
                <a:lnTo>
                  <a:pt x="63454" y="27737"/>
                </a:lnTo>
                <a:lnTo>
                  <a:pt x="62489" y="27803"/>
                </a:lnTo>
                <a:lnTo>
                  <a:pt x="61297" y="28060"/>
                </a:lnTo>
                <a:lnTo>
                  <a:pt x="60384" y="28196"/>
                </a:lnTo>
                <a:lnTo>
                  <a:pt x="59158" y="28255"/>
                </a:lnTo>
                <a:lnTo>
                  <a:pt x="57787" y="28478"/>
                </a:lnTo>
                <a:lnTo>
                  <a:pt x="56239" y="28455"/>
                </a:lnTo>
                <a:lnTo>
                  <a:pt x="54376" y="28606"/>
                </a:lnTo>
                <a:lnTo>
                  <a:pt x="52447" y="28452"/>
                </a:lnTo>
                <a:lnTo>
                  <a:pt x="49840" y="28501"/>
                </a:lnTo>
                <a:lnTo>
                  <a:pt x="46391" y="28629"/>
                </a:lnTo>
                <a:lnTo>
                  <a:pt x="35564" y="28622"/>
                </a:lnTo>
                <a:lnTo>
                  <a:pt x="24560" y="28652"/>
                </a:lnTo>
                <a:lnTo>
                  <a:pt x="21069" y="28524"/>
                </a:lnTo>
                <a:lnTo>
                  <a:pt x="18580" y="28579"/>
                </a:lnTo>
                <a:lnTo>
                  <a:pt x="16696" y="28583"/>
                </a:lnTo>
                <a:lnTo>
                  <a:pt x="14802" y="28368"/>
                </a:lnTo>
                <a:lnTo>
                  <a:pt x="13451" y="28255"/>
                </a:lnTo>
                <a:lnTo>
                  <a:pt x="12071" y="28136"/>
                </a:lnTo>
                <a:lnTo>
                  <a:pt x="10649" y="28016"/>
                </a:lnTo>
                <a:lnTo>
                  <a:pt x="9705" y="27928"/>
                </a:lnTo>
                <a:lnTo>
                  <a:pt x="8504" y="27726"/>
                </a:lnTo>
                <a:lnTo>
                  <a:pt x="7767" y="27564"/>
                </a:lnTo>
                <a:lnTo>
                  <a:pt x="6945" y="27391"/>
                </a:lnTo>
                <a:lnTo>
                  <a:pt x="5961" y="27301"/>
                </a:lnTo>
                <a:lnTo>
                  <a:pt x="5180" y="27129"/>
                </a:lnTo>
                <a:lnTo>
                  <a:pt x="4656" y="26682"/>
                </a:lnTo>
                <a:lnTo>
                  <a:pt x="3937" y="26457"/>
                </a:lnTo>
                <a:lnTo>
                  <a:pt x="3509" y="26260"/>
                </a:lnTo>
                <a:lnTo>
                  <a:pt x="2993" y="25929"/>
                </a:lnTo>
                <a:lnTo>
                  <a:pt x="2338" y="25521"/>
                </a:lnTo>
                <a:lnTo>
                  <a:pt x="2088" y="25186"/>
                </a:lnTo>
                <a:lnTo>
                  <a:pt x="1713" y="24682"/>
                </a:lnTo>
                <a:lnTo>
                  <a:pt x="1202" y="24371"/>
                </a:lnTo>
                <a:lnTo>
                  <a:pt x="880" y="23928"/>
                </a:lnTo>
                <a:lnTo>
                  <a:pt x="750" y="23327"/>
                </a:lnTo>
                <a:lnTo>
                  <a:pt x="617" y="22667"/>
                </a:lnTo>
                <a:lnTo>
                  <a:pt x="406" y="22010"/>
                </a:lnTo>
                <a:lnTo>
                  <a:pt x="173" y="21101"/>
                </a:lnTo>
                <a:lnTo>
                  <a:pt x="62" y="20070"/>
                </a:lnTo>
                <a:lnTo>
                  <a:pt x="0" y="18660"/>
                </a:lnTo>
                <a:lnTo>
                  <a:pt x="6" y="14267"/>
                </a:lnTo>
                <a:lnTo>
                  <a:pt x="7" y="9934"/>
                </a:lnTo>
                <a:lnTo>
                  <a:pt x="9" y="8535"/>
                </a:lnTo>
                <a:lnTo>
                  <a:pt x="160" y="7471"/>
                </a:lnTo>
                <a:lnTo>
                  <a:pt x="411" y="6763"/>
                </a:lnTo>
                <a:lnTo>
                  <a:pt x="530" y="6079"/>
                </a:lnTo>
                <a:lnTo>
                  <a:pt x="611" y="5363"/>
                </a:lnTo>
                <a:lnTo>
                  <a:pt x="954" y="4788"/>
                </a:lnTo>
                <a:lnTo>
                  <a:pt x="1172" y="4278"/>
                </a:lnTo>
                <a:lnTo>
                  <a:pt x="1666" y="3912"/>
                </a:lnTo>
                <a:lnTo>
                  <a:pt x="1922" y="3470"/>
                </a:lnTo>
                <a:lnTo>
                  <a:pt x="2362" y="3169"/>
                </a:lnTo>
                <a:lnTo>
                  <a:pt x="2890" y="2843"/>
                </a:lnTo>
                <a:lnTo>
                  <a:pt x="3543" y="2458"/>
                </a:lnTo>
                <a:lnTo>
                  <a:pt x="3986" y="2300"/>
                </a:lnTo>
                <a:lnTo>
                  <a:pt x="4708" y="1920"/>
                </a:lnTo>
                <a:lnTo>
                  <a:pt x="5371" y="1650"/>
                </a:lnTo>
                <a:lnTo>
                  <a:pt x="6049" y="1433"/>
                </a:lnTo>
                <a:lnTo>
                  <a:pt x="6791" y="1239"/>
                </a:lnTo>
                <a:lnTo>
                  <a:pt x="7673" y="959"/>
                </a:lnTo>
                <a:lnTo>
                  <a:pt x="8622" y="948"/>
                </a:lnTo>
                <a:lnTo>
                  <a:pt x="9763" y="793"/>
                </a:lnTo>
                <a:lnTo>
                  <a:pt x="10807" y="554"/>
                </a:lnTo>
                <a:lnTo>
                  <a:pt x="11941" y="409"/>
                </a:lnTo>
                <a:lnTo>
                  <a:pt x="13345" y="312"/>
                </a:lnTo>
                <a:lnTo>
                  <a:pt x="14878" y="340"/>
                </a:lnTo>
                <a:lnTo>
                  <a:pt x="16595" y="109"/>
                </a:lnTo>
                <a:lnTo>
                  <a:pt x="18633" y="81"/>
                </a:lnTo>
                <a:lnTo>
                  <a:pt x="21145" y="158"/>
                </a:lnTo>
                <a:lnTo>
                  <a:pt x="24542" y="49"/>
                </a:lnTo>
                <a:lnTo>
                  <a:pt x="35564" y="18"/>
                </a:lnTo>
                <a:lnTo>
                  <a:pt x="46491" y="0"/>
                </a:lnTo>
                <a:lnTo>
                  <a:pt x="49899" y="12"/>
                </a:lnTo>
                <a:lnTo>
                  <a:pt x="52415" y="63"/>
                </a:lnTo>
                <a:lnTo>
                  <a:pt x="54400" y="256"/>
                </a:lnTo>
                <a:lnTo>
                  <a:pt x="56083" y="358"/>
                </a:lnTo>
                <a:lnTo>
                  <a:pt x="57686" y="437"/>
                </a:lnTo>
                <a:lnTo>
                  <a:pt x="59055" y="519"/>
                </a:lnTo>
                <a:lnTo>
                  <a:pt x="60362" y="519"/>
                </a:lnTo>
                <a:lnTo>
                  <a:pt x="61452" y="712"/>
                </a:lnTo>
                <a:lnTo>
                  <a:pt x="62427" y="962"/>
                </a:lnTo>
                <a:lnTo>
                  <a:pt x="63326" y="991"/>
                </a:lnTo>
                <a:lnTo>
                  <a:pt x="64071" y="1176"/>
                </a:lnTo>
                <a:lnTo>
                  <a:pt x="64873" y="1536"/>
                </a:lnTo>
                <a:lnTo>
                  <a:pt x="65717" y="1651"/>
                </a:lnTo>
                <a:lnTo>
                  <a:pt x="66423" y="1861"/>
                </a:lnTo>
                <a:lnTo>
                  <a:pt x="66927" y="2227"/>
                </a:lnTo>
                <a:lnTo>
                  <a:pt x="67698" y="2569"/>
                </a:lnTo>
                <a:lnTo>
                  <a:pt x="68027" y="2774"/>
                </a:lnTo>
                <a:lnTo>
                  <a:pt x="68502" y="3073"/>
                </a:lnTo>
                <a:lnTo>
                  <a:pt x="68956" y="3649"/>
                </a:lnTo>
                <a:lnTo>
                  <a:pt x="69293" y="3907"/>
                </a:lnTo>
                <a:lnTo>
                  <a:pt x="69813" y="4479"/>
                </a:lnTo>
                <a:lnTo>
                  <a:pt x="70101" y="4993"/>
                </a:lnTo>
                <a:lnTo>
                  <a:pt x="70245" y="5319"/>
                </a:lnTo>
                <a:lnTo>
                  <a:pt x="70405" y="6034"/>
                </a:lnTo>
                <a:lnTo>
                  <a:pt x="70703" y="6826"/>
                </a:lnTo>
                <a:lnTo>
                  <a:pt x="70773" y="7601"/>
                </a:lnTo>
                <a:lnTo>
                  <a:pt x="71006" y="8509"/>
                </a:lnTo>
                <a:lnTo>
                  <a:pt x="71000" y="9863"/>
                </a:lnTo>
                <a:lnTo>
                  <a:pt x="71107" y="14326"/>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7483632" y="1787378"/>
            <a:ext cx="6495623" cy="2627163"/>
          </a:xfrm>
          <a:custGeom>
            <a:avLst/>
            <a:gdLst/>
            <a:ahLst/>
            <a:cxnLst/>
            <a:rect l="l" t="t" r="r" b="b"/>
            <a:pathLst>
              <a:path w="71037" h="28731">
                <a:moveTo>
                  <a:pt x="71011" y="14355"/>
                </a:moveTo>
                <a:lnTo>
                  <a:pt x="70993" y="18709"/>
                </a:lnTo>
                <a:lnTo>
                  <a:pt x="71036" y="20054"/>
                </a:lnTo>
                <a:lnTo>
                  <a:pt x="70965" y="21174"/>
                </a:lnTo>
                <a:lnTo>
                  <a:pt x="70788" y="21871"/>
                </a:lnTo>
                <a:lnTo>
                  <a:pt x="70635" y="22697"/>
                </a:lnTo>
                <a:lnTo>
                  <a:pt x="70260" y="23255"/>
                </a:lnTo>
                <a:lnTo>
                  <a:pt x="70048" y="23900"/>
                </a:lnTo>
                <a:lnTo>
                  <a:pt x="69694" y="24418"/>
                </a:lnTo>
                <a:lnTo>
                  <a:pt x="69352" y="24874"/>
                </a:lnTo>
                <a:lnTo>
                  <a:pt x="69124" y="25252"/>
                </a:lnTo>
                <a:lnTo>
                  <a:pt x="68546" y="25654"/>
                </a:lnTo>
                <a:lnTo>
                  <a:pt x="68282" y="25923"/>
                </a:lnTo>
                <a:lnTo>
                  <a:pt x="67574" y="26288"/>
                </a:lnTo>
                <a:lnTo>
                  <a:pt x="67126" y="26517"/>
                </a:lnTo>
                <a:lnTo>
                  <a:pt x="66392" y="26855"/>
                </a:lnTo>
                <a:lnTo>
                  <a:pt x="65717" y="26916"/>
                </a:lnTo>
                <a:lnTo>
                  <a:pt x="65011" y="27238"/>
                </a:lnTo>
                <a:lnTo>
                  <a:pt x="64268" y="27494"/>
                </a:lnTo>
                <a:lnTo>
                  <a:pt x="63402" y="27777"/>
                </a:lnTo>
                <a:lnTo>
                  <a:pt x="62479" y="27922"/>
                </a:lnTo>
                <a:lnTo>
                  <a:pt x="61309" y="28074"/>
                </a:lnTo>
                <a:lnTo>
                  <a:pt x="60221" y="28072"/>
                </a:lnTo>
                <a:lnTo>
                  <a:pt x="58975" y="28228"/>
                </a:lnTo>
                <a:lnTo>
                  <a:pt x="57706" y="28462"/>
                </a:lnTo>
                <a:lnTo>
                  <a:pt x="56114" y="28546"/>
                </a:lnTo>
                <a:lnTo>
                  <a:pt x="54466" y="28538"/>
                </a:lnTo>
                <a:lnTo>
                  <a:pt x="52383" y="28479"/>
                </a:lnTo>
                <a:lnTo>
                  <a:pt x="49869" y="28697"/>
                </a:lnTo>
                <a:lnTo>
                  <a:pt x="46419" y="28731"/>
                </a:lnTo>
                <a:lnTo>
                  <a:pt x="35603" y="28670"/>
                </a:lnTo>
                <a:lnTo>
                  <a:pt x="24601" y="28724"/>
                </a:lnTo>
                <a:lnTo>
                  <a:pt x="21148" y="28535"/>
                </a:lnTo>
                <a:lnTo>
                  <a:pt x="18771" y="28637"/>
                </a:lnTo>
                <a:lnTo>
                  <a:pt x="16570" y="28529"/>
                </a:lnTo>
                <a:lnTo>
                  <a:pt x="14983" y="28532"/>
                </a:lnTo>
                <a:lnTo>
                  <a:pt x="13501" y="28366"/>
                </a:lnTo>
                <a:lnTo>
                  <a:pt x="11904" y="28297"/>
                </a:lnTo>
                <a:lnTo>
                  <a:pt x="10754" y="28198"/>
                </a:lnTo>
                <a:lnTo>
                  <a:pt x="9647" y="28062"/>
                </a:lnTo>
                <a:lnTo>
                  <a:pt x="8560" y="27927"/>
                </a:lnTo>
                <a:lnTo>
                  <a:pt x="7765" y="27648"/>
                </a:lnTo>
                <a:lnTo>
                  <a:pt x="6815" y="27363"/>
                </a:lnTo>
                <a:lnTo>
                  <a:pt x="6115" y="27200"/>
                </a:lnTo>
                <a:lnTo>
                  <a:pt x="5360" y="27152"/>
                </a:lnTo>
                <a:lnTo>
                  <a:pt x="4647" y="26711"/>
                </a:lnTo>
                <a:lnTo>
                  <a:pt x="4042" y="26606"/>
                </a:lnTo>
                <a:lnTo>
                  <a:pt x="3375" y="26133"/>
                </a:lnTo>
                <a:lnTo>
                  <a:pt x="2860" y="25894"/>
                </a:lnTo>
                <a:lnTo>
                  <a:pt x="2510" y="25533"/>
                </a:lnTo>
                <a:lnTo>
                  <a:pt x="2075" y="25146"/>
                </a:lnTo>
                <a:lnTo>
                  <a:pt x="1648" y="24679"/>
                </a:lnTo>
                <a:lnTo>
                  <a:pt x="1260" y="24198"/>
                </a:lnTo>
                <a:lnTo>
                  <a:pt x="919" y="23749"/>
                </a:lnTo>
                <a:lnTo>
                  <a:pt x="876" y="23360"/>
                </a:lnTo>
                <a:lnTo>
                  <a:pt x="563" y="22587"/>
                </a:lnTo>
                <a:lnTo>
                  <a:pt x="384" y="21986"/>
                </a:lnTo>
                <a:lnTo>
                  <a:pt x="169" y="21210"/>
                </a:lnTo>
                <a:lnTo>
                  <a:pt x="57" y="20059"/>
                </a:lnTo>
                <a:lnTo>
                  <a:pt x="212" y="18729"/>
                </a:lnTo>
                <a:lnTo>
                  <a:pt x="0" y="14383"/>
                </a:lnTo>
                <a:lnTo>
                  <a:pt x="25" y="9908"/>
                </a:lnTo>
                <a:lnTo>
                  <a:pt x="35" y="8464"/>
                </a:lnTo>
                <a:lnTo>
                  <a:pt x="362" y="7477"/>
                </a:lnTo>
                <a:lnTo>
                  <a:pt x="305" y="6809"/>
                </a:lnTo>
                <a:lnTo>
                  <a:pt x="447" y="5952"/>
                </a:lnTo>
                <a:lnTo>
                  <a:pt x="793" y="5338"/>
                </a:lnTo>
                <a:lnTo>
                  <a:pt x="1055" y="4937"/>
                </a:lnTo>
                <a:lnTo>
                  <a:pt x="1399" y="4292"/>
                </a:lnTo>
                <a:lnTo>
                  <a:pt x="1779" y="3901"/>
                </a:lnTo>
                <a:lnTo>
                  <a:pt x="1957" y="3625"/>
                </a:lnTo>
                <a:lnTo>
                  <a:pt x="2500" y="3192"/>
                </a:lnTo>
                <a:lnTo>
                  <a:pt x="2906" y="2759"/>
                </a:lnTo>
                <a:lnTo>
                  <a:pt x="3446" y="2498"/>
                </a:lnTo>
                <a:lnTo>
                  <a:pt x="4156" y="2282"/>
                </a:lnTo>
                <a:lnTo>
                  <a:pt x="4657" y="1935"/>
                </a:lnTo>
                <a:lnTo>
                  <a:pt x="5402" y="1709"/>
                </a:lnTo>
                <a:lnTo>
                  <a:pt x="6131" y="1453"/>
                </a:lnTo>
                <a:lnTo>
                  <a:pt x="6781" y="1335"/>
                </a:lnTo>
                <a:lnTo>
                  <a:pt x="7714" y="992"/>
                </a:lnTo>
                <a:lnTo>
                  <a:pt x="8604" y="917"/>
                </a:lnTo>
                <a:lnTo>
                  <a:pt x="9668" y="667"/>
                </a:lnTo>
                <a:lnTo>
                  <a:pt x="10672" y="590"/>
                </a:lnTo>
                <a:lnTo>
                  <a:pt x="11957" y="454"/>
                </a:lnTo>
                <a:lnTo>
                  <a:pt x="13316" y="262"/>
                </a:lnTo>
                <a:lnTo>
                  <a:pt x="14832" y="379"/>
                </a:lnTo>
                <a:lnTo>
                  <a:pt x="16643" y="122"/>
                </a:lnTo>
                <a:lnTo>
                  <a:pt x="18692" y="79"/>
                </a:lnTo>
                <a:lnTo>
                  <a:pt x="21263" y="29"/>
                </a:lnTo>
                <a:lnTo>
                  <a:pt x="24534" y="14"/>
                </a:lnTo>
                <a:lnTo>
                  <a:pt x="35650" y="0"/>
                </a:lnTo>
                <a:lnTo>
                  <a:pt x="46425" y="111"/>
                </a:lnTo>
                <a:lnTo>
                  <a:pt x="49903" y="45"/>
                </a:lnTo>
                <a:lnTo>
                  <a:pt x="52408" y="158"/>
                </a:lnTo>
                <a:lnTo>
                  <a:pt x="54549" y="242"/>
                </a:lnTo>
                <a:lnTo>
                  <a:pt x="56308" y="186"/>
                </a:lnTo>
                <a:lnTo>
                  <a:pt x="57685" y="447"/>
                </a:lnTo>
                <a:lnTo>
                  <a:pt x="59058" y="574"/>
                </a:lnTo>
                <a:lnTo>
                  <a:pt x="60444" y="535"/>
                </a:lnTo>
                <a:lnTo>
                  <a:pt x="61307" y="781"/>
                </a:lnTo>
                <a:lnTo>
                  <a:pt x="62560" y="895"/>
                </a:lnTo>
                <a:lnTo>
                  <a:pt x="63408" y="1129"/>
                </a:lnTo>
                <a:lnTo>
                  <a:pt x="64331" y="1215"/>
                </a:lnTo>
                <a:lnTo>
                  <a:pt x="65018" y="1529"/>
                </a:lnTo>
                <a:lnTo>
                  <a:pt x="65682" y="1691"/>
                </a:lnTo>
                <a:lnTo>
                  <a:pt x="66535" y="1866"/>
                </a:lnTo>
                <a:lnTo>
                  <a:pt x="67034" y="2270"/>
                </a:lnTo>
                <a:lnTo>
                  <a:pt x="67728" y="2394"/>
                </a:lnTo>
                <a:lnTo>
                  <a:pt x="68164" y="2903"/>
                </a:lnTo>
                <a:lnTo>
                  <a:pt x="68547" y="3173"/>
                </a:lnTo>
                <a:lnTo>
                  <a:pt x="69064" y="3510"/>
                </a:lnTo>
                <a:lnTo>
                  <a:pt x="69419" y="4050"/>
                </a:lnTo>
                <a:lnTo>
                  <a:pt x="69739" y="4485"/>
                </a:lnTo>
                <a:lnTo>
                  <a:pt x="69948" y="4935"/>
                </a:lnTo>
                <a:lnTo>
                  <a:pt x="70450" y="5437"/>
                </a:lnTo>
                <a:lnTo>
                  <a:pt x="70663" y="6094"/>
                </a:lnTo>
                <a:lnTo>
                  <a:pt x="70666" y="6812"/>
                </a:lnTo>
                <a:lnTo>
                  <a:pt x="70942" y="7618"/>
                </a:lnTo>
                <a:lnTo>
                  <a:pt x="70901" y="8653"/>
                </a:lnTo>
                <a:lnTo>
                  <a:pt x="70968" y="9847"/>
                </a:lnTo>
                <a:lnTo>
                  <a:pt x="71037" y="14316"/>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13864133" y="3796497"/>
            <a:ext cx="86685" cy="214427"/>
          </a:xfrm>
          <a:custGeom>
            <a:avLst/>
            <a:gdLst/>
            <a:ahLst/>
            <a:cxnLst/>
            <a:rect l="l" t="t" r="r" b="b"/>
            <a:pathLst>
              <a:path w="948" h="2345">
                <a:moveTo>
                  <a:pt x="948" y="0"/>
                </a:moveTo>
                <a:lnTo>
                  <a:pt x="771" y="697"/>
                </a:lnTo>
                <a:lnTo>
                  <a:pt x="555" y="1308"/>
                </a:lnTo>
                <a:lnTo>
                  <a:pt x="298" y="1853"/>
                </a:lnTo>
                <a:lnTo>
                  <a:pt x="0" y="2345"/>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12887096" y="4316882"/>
            <a:ext cx="392186" cy="53310"/>
          </a:xfrm>
          <a:custGeom>
            <a:avLst/>
            <a:gdLst/>
            <a:ahLst/>
            <a:cxnLst/>
            <a:rect l="l" t="t" r="r" b="b"/>
            <a:pathLst>
              <a:path w="4289" h="583">
                <a:moveTo>
                  <a:pt x="4289" y="0"/>
                </a:moveTo>
                <a:lnTo>
                  <a:pt x="3354" y="172"/>
                </a:lnTo>
                <a:lnTo>
                  <a:pt x="2335" y="326"/>
                </a:lnTo>
                <a:lnTo>
                  <a:pt x="1223" y="463"/>
                </a:lnTo>
                <a:lnTo>
                  <a:pt x="0" y="583"/>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8471184" y="4359219"/>
            <a:ext cx="533004" cy="34839"/>
          </a:xfrm>
          <a:custGeom>
            <a:avLst/>
            <a:gdLst/>
            <a:ahLst/>
            <a:cxnLst/>
            <a:rect l="l" t="t" r="r" b="b"/>
            <a:pathLst>
              <a:path w="5829" h="381">
                <a:moveTo>
                  <a:pt x="5829" y="381"/>
                </a:moveTo>
                <a:lnTo>
                  <a:pt x="4096" y="310"/>
                </a:lnTo>
                <a:lnTo>
                  <a:pt x="2577" y="223"/>
                </a:lnTo>
                <a:lnTo>
                  <a:pt x="1223" y="120"/>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578730" y="3965936"/>
            <a:ext cx="132497" cy="157917"/>
          </a:xfrm>
          <a:custGeom>
            <a:avLst/>
            <a:gdLst/>
            <a:ahLst/>
            <a:cxnLst/>
            <a:rect l="l" t="t" r="r" b="b"/>
            <a:pathLst>
              <a:path w="1449" h="1727">
                <a:moveTo>
                  <a:pt x="1449" y="1727"/>
                </a:moveTo>
                <a:lnTo>
                  <a:pt x="1022" y="1350"/>
                </a:lnTo>
                <a:lnTo>
                  <a:pt x="639" y="940"/>
                </a:lnTo>
                <a:lnTo>
                  <a:pt x="298" y="492"/>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7519294" y="2188708"/>
            <a:ext cx="86685" cy="214427"/>
          </a:xfrm>
          <a:custGeom>
            <a:avLst/>
            <a:gdLst/>
            <a:ahLst/>
            <a:cxnLst/>
            <a:rect l="l" t="t" r="r" b="b"/>
            <a:pathLst>
              <a:path w="948" h="2345">
                <a:moveTo>
                  <a:pt x="0" y="2345"/>
                </a:moveTo>
                <a:lnTo>
                  <a:pt x="177" y="1648"/>
                </a:lnTo>
                <a:lnTo>
                  <a:pt x="393" y="1037"/>
                </a:lnTo>
                <a:lnTo>
                  <a:pt x="650" y="492"/>
                </a:lnTo>
                <a:lnTo>
                  <a:pt x="948"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8190829" y="1829440"/>
            <a:ext cx="392186" cy="53310"/>
          </a:xfrm>
          <a:custGeom>
            <a:avLst/>
            <a:gdLst/>
            <a:ahLst/>
            <a:cxnLst/>
            <a:rect l="l" t="t" r="r" b="b"/>
            <a:pathLst>
              <a:path w="4289" h="583">
                <a:moveTo>
                  <a:pt x="0" y="583"/>
                </a:moveTo>
                <a:lnTo>
                  <a:pt x="935" y="411"/>
                </a:lnTo>
                <a:lnTo>
                  <a:pt x="1954" y="257"/>
                </a:lnTo>
                <a:lnTo>
                  <a:pt x="3066" y="120"/>
                </a:lnTo>
                <a:lnTo>
                  <a:pt x="4289"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2465924" y="1805574"/>
            <a:ext cx="533004" cy="34839"/>
          </a:xfrm>
          <a:custGeom>
            <a:avLst/>
            <a:gdLst/>
            <a:ahLst/>
            <a:cxnLst/>
            <a:rect l="l" t="t" r="r" b="b"/>
            <a:pathLst>
              <a:path w="5829" h="381">
                <a:moveTo>
                  <a:pt x="0" y="0"/>
                </a:moveTo>
                <a:lnTo>
                  <a:pt x="1733" y="71"/>
                </a:lnTo>
                <a:lnTo>
                  <a:pt x="3252" y="158"/>
                </a:lnTo>
                <a:lnTo>
                  <a:pt x="4606" y="261"/>
                </a:lnTo>
                <a:lnTo>
                  <a:pt x="5829" y="381"/>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13758885" y="2075779"/>
            <a:ext cx="132497" cy="157917"/>
          </a:xfrm>
          <a:custGeom>
            <a:avLst/>
            <a:gdLst/>
            <a:ahLst/>
            <a:cxnLst/>
            <a:rect l="l" t="t" r="r" b="b"/>
            <a:pathLst>
              <a:path w="1449" h="1727">
                <a:moveTo>
                  <a:pt x="0" y="0"/>
                </a:moveTo>
                <a:lnTo>
                  <a:pt x="427" y="377"/>
                </a:lnTo>
                <a:lnTo>
                  <a:pt x="810" y="787"/>
                </a:lnTo>
                <a:lnTo>
                  <a:pt x="1151" y="1235"/>
                </a:lnTo>
                <a:lnTo>
                  <a:pt x="1449" y="1727"/>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ody: Partitions"/>
          <p:cNvSpPr txBox="1"/>
          <p:nvPr/>
        </p:nvSpPr>
        <p:spPr>
          <a:xfrm>
            <a:off x="7836408" y="1918207"/>
            <a:ext cx="5797296"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9D7B35"/>
                </a:solidFill>
                <a:latin typeface="Chalkboard SE"/>
              </a:rPr>
              <a:t>Partitions</a:t>
            </a:r>
          </a:p>
        </p:txBody>
      </p:sp>
      <p:sp>
        <p:nvSpPr>
          <p:cNvPr id="50" name="Oval 49"/>
          <p:cNvSpPr/>
          <p:nvPr/>
        </p:nvSpPr>
        <p:spPr>
          <a:xfrm>
            <a:off x="7749540" y="302386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ody: Development, calibration, held-out"/>
          <p:cNvSpPr txBox="1"/>
          <p:nvPr/>
        </p:nvSpPr>
        <p:spPr>
          <a:xfrm>
            <a:off x="7982711" y="2923285"/>
            <a:ext cx="5751576"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Development, calibration, held-out</a:t>
            </a:r>
          </a:p>
        </p:txBody>
      </p:sp>
      <p:sp>
        <p:nvSpPr>
          <p:cNvPr id="52" name="Oval 51"/>
          <p:cNvSpPr/>
          <p:nvPr/>
        </p:nvSpPr>
        <p:spPr>
          <a:xfrm>
            <a:off x="7749540" y="352043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ody: Split by lineage and by report date"/>
          <p:cNvSpPr txBox="1"/>
          <p:nvPr/>
        </p:nvSpPr>
        <p:spPr>
          <a:xfrm>
            <a:off x="7982711" y="3419856"/>
            <a:ext cx="5751576"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Split by lineage and by report date</a:t>
            </a:r>
          </a:p>
        </p:txBody>
      </p:sp>
      <p:sp>
        <p:nvSpPr>
          <p:cNvPr id="54" name="Rounded Rectangle 53"/>
          <p:cNvSpPr/>
          <p:nvPr/>
        </p:nvSpPr>
        <p:spPr>
          <a:xfrm>
            <a:off x="7479792" y="4681728"/>
            <a:ext cx="6510528" cy="2752344"/>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7482535" y="4687397"/>
            <a:ext cx="6500012" cy="2740000"/>
          </a:xfrm>
          <a:custGeom>
            <a:avLst/>
            <a:gdLst/>
            <a:ahLst/>
            <a:cxnLst/>
            <a:rect l="l" t="t" r="r" b="b"/>
            <a:pathLst>
              <a:path w="71085" h="29965">
                <a:moveTo>
                  <a:pt x="71038" y="14966"/>
                </a:moveTo>
                <a:lnTo>
                  <a:pt x="71085" y="19563"/>
                </a:lnTo>
                <a:lnTo>
                  <a:pt x="70971" y="21073"/>
                </a:lnTo>
                <a:lnTo>
                  <a:pt x="70784" y="21997"/>
                </a:lnTo>
                <a:lnTo>
                  <a:pt x="70761" y="22953"/>
                </a:lnTo>
                <a:lnTo>
                  <a:pt x="70495" y="23662"/>
                </a:lnTo>
                <a:lnTo>
                  <a:pt x="70375" y="24354"/>
                </a:lnTo>
                <a:lnTo>
                  <a:pt x="70146" y="24864"/>
                </a:lnTo>
                <a:lnTo>
                  <a:pt x="69688" y="25336"/>
                </a:lnTo>
                <a:lnTo>
                  <a:pt x="69405" y="25888"/>
                </a:lnTo>
                <a:lnTo>
                  <a:pt x="69097" y="26208"/>
                </a:lnTo>
                <a:lnTo>
                  <a:pt x="68720" y="26655"/>
                </a:lnTo>
                <a:lnTo>
                  <a:pt x="68068" y="27064"/>
                </a:lnTo>
                <a:lnTo>
                  <a:pt x="67665" y="27378"/>
                </a:lnTo>
                <a:lnTo>
                  <a:pt x="67152" y="27766"/>
                </a:lnTo>
                <a:lnTo>
                  <a:pt x="66414" y="27987"/>
                </a:lnTo>
                <a:lnTo>
                  <a:pt x="65736" y="28246"/>
                </a:lnTo>
                <a:lnTo>
                  <a:pt x="65061" y="28558"/>
                </a:lnTo>
                <a:lnTo>
                  <a:pt x="64224" y="28695"/>
                </a:lnTo>
                <a:lnTo>
                  <a:pt x="63406" y="28921"/>
                </a:lnTo>
                <a:lnTo>
                  <a:pt x="62367" y="29065"/>
                </a:lnTo>
                <a:lnTo>
                  <a:pt x="61378" y="29315"/>
                </a:lnTo>
                <a:lnTo>
                  <a:pt x="60420" y="29502"/>
                </a:lnTo>
                <a:lnTo>
                  <a:pt x="59187" y="29514"/>
                </a:lnTo>
                <a:lnTo>
                  <a:pt x="57856" y="29665"/>
                </a:lnTo>
                <a:lnTo>
                  <a:pt x="56212" y="29783"/>
                </a:lnTo>
                <a:lnTo>
                  <a:pt x="54474" y="29893"/>
                </a:lnTo>
                <a:lnTo>
                  <a:pt x="52469" y="29833"/>
                </a:lnTo>
                <a:lnTo>
                  <a:pt x="49942" y="29859"/>
                </a:lnTo>
                <a:lnTo>
                  <a:pt x="46472" y="29816"/>
                </a:lnTo>
                <a:lnTo>
                  <a:pt x="35562" y="29965"/>
                </a:lnTo>
                <a:lnTo>
                  <a:pt x="24659" y="29823"/>
                </a:lnTo>
                <a:lnTo>
                  <a:pt x="21154" y="29868"/>
                </a:lnTo>
                <a:lnTo>
                  <a:pt x="18761" y="29793"/>
                </a:lnTo>
                <a:lnTo>
                  <a:pt x="16570" y="29824"/>
                </a:lnTo>
                <a:lnTo>
                  <a:pt x="14982" y="29806"/>
                </a:lnTo>
                <a:lnTo>
                  <a:pt x="13398" y="29627"/>
                </a:lnTo>
                <a:lnTo>
                  <a:pt x="12037" y="29402"/>
                </a:lnTo>
                <a:lnTo>
                  <a:pt x="10724" y="29423"/>
                </a:lnTo>
                <a:lnTo>
                  <a:pt x="9625" y="29269"/>
                </a:lnTo>
                <a:lnTo>
                  <a:pt x="8646" y="29178"/>
                </a:lnTo>
                <a:lnTo>
                  <a:pt x="7709" y="28825"/>
                </a:lnTo>
                <a:lnTo>
                  <a:pt x="6832" y="28638"/>
                </a:lnTo>
                <a:lnTo>
                  <a:pt x="6216" y="28427"/>
                </a:lnTo>
                <a:lnTo>
                  <a:pt x="5257" y="28244"/>
                </a:lnTo>
                <a:lnTo>
                  <a:pt x="4669" y="28060"/>
                </a:lnTo>
                <a:lnTo>
                  <a:pt x="3958" y="27664"/>
                </a:lnTo>
                <a:lnTo>
                  <a:pt x="3404" y="27437"/>
                </a:lnTo>
                <a:lnTo>
                  <a:pt x="2861" y="27172"/>
                </a:lnTo>
                <a:lnTo>
                  <a:pt x="2477" y="26615"/>
                </a:lnTo>
                <a:lnTo>
                  <a:pt x="2036" y="26384"/>
                </a:lnTo>
                <a:lnTo>
                  <a:pt x="1664" y="25875"/>
                </a:lnTo>
                <a:lnTo>
                  <a:pt x="1333" y="25513"/>
                </a:lnTo>
                <a:lnTo>
                  <a:pt x="1123" y="24794"/>
                </a:lnTo>
                <a:lnTo>
                  <a:pt x="750" y="24271"/>
                </a:lnTo>
                <a:lnTo>
                  <a:pt x="526" y="23762"/>
                </a:lnTo>
                <a:lnTo>
                  <a:pt x="299" y="23065"/>
                </a:lnTo>
                <a:lnTo>
                  <a:pt x="207" y="22025"/>
                </a:lnTo>
                <a:lnTo>
                  <a:pt x="83" y="20918"/>
                </a:lnTo>
                <a:lnTo>
                  <a:pt x="0" y="19460"/>
                </a:lnTo>
                <a:lnTo>
                  <a:pt x="104" y="15094"/>
                </a:lnTo>
                <a:lnTo>
                  <a:pt x="222" y="10394"/>
                </a:lnTo>
                <a:lnTo>
                  <a:pt x="259" y="9035"/>
                </a:lnTo>
                <a:lnTo>
                  <a:pt x="252" y="7973"/>
                </a:lnTo>
                <a:lnTo>
                  <a:pt x="513" y="7084"/>
                </a:lnTo>
                <a:lnTo>
                  <a:pt x="450" y="6403"/>
                </a:lnTo>
                <a:lnTo>
                  <a:pt x="899" y="5637"/>
                </a:lnTo>
                <a:lnTo>
                  <a:pt x="1125" y="5177"/>
                </a:lnTo>
                <a:lnTo>
                  <a:pt x="1354" y="4649"/>
                </a:lnTo>
                <a:lnTo>
                  <a:pt x="1580" y="4110"/>
                </a:lnTo>
                <a:lnTo>
                  <a:pt x="2079" y="3667"/>
                </a:lnTo>
                <a:lnTo>
                  <a:pt x="2454" y="3284"/>
                </a:lnTo>
                <a:lnTo>
                  <a:pt x="2847" y="3000"/>
                </a:lnTo>
                <a:lnTo>
                  <a:pt x="3441" y="2563"/>
                </a:lnTo>
                <a:lnTo>
                  <a:pt x="4056" y="2227"/>
                </a:lnTo>
                <a:lnTo>
                  <a:pt x="4563" y="2041"/>
                </a:lnTo>
                <a:lnTo>
                  <a:pt x="5364" y="1640"/>
                </a:lnTo>
                <a:lnTo>
                  <a:pt x="6203" y="1595"/>
                </a:lnTo>
                <a:lnTo>
                  <a:pt x="6839" y="1284"/>
                </a:lnTo>
                <a:lnTo>
                  <a:pt x="7813" y="1175"/>
                </a:lnTo>
                <a:lnTo>
                  <a:pt x="8773" y="781"/>
                </a:lnTo>
                <a:lnTo>
                  <a:pt x="9723" y="644"/>
                </a:lnTo>
                <a:lnTo>
                  <a:pt x="10941" y="651"/>
                </a:lnTo>
                <a:lnTo>
                  <a:pt x="11932" y="496"/>
                </a:lnTo>
                <a:lnTo>
                  <a:pt x="13399" y="264"/>
                </a:lnTo>
                <a:lnTo>
                  <a:pt x="14976" y="268"/>
                </a:lnTo>
                <a:lnTo>
                  <a:pt x="16683" y="290"/>
                </a:lnTo>
                <a:lnTo>
                  <a:pt x="18709" y="148"/>
                </a:lnTo>
                <a:lnTo>
                  <a:pt x="21135" y="79"/>
                </a:lnTo>
                <a:lnTo>
                  <a:pt x="24645" y="36"/>
                </a:lnTo>
                <a:lnTo>
                  <a:pt x="35476" y="14"/>
                </a:lnTo>
                <a:lnTo>
                  <a:pt x="46554" y="0"/>
                </a:lnTo>
                <a:lnTo>
                  <a:pt x="49946" y="71"/>
                </a:lnTo>
                <a:lnTo>
                  <a:pt x="52339" y="171"/>
                </a:lnTo>
                <a:lnTo>
                  <a:pt x="54602" y="301"/>
                </a:lnTo>
                <a:lnTo>
                  <a:pt x="56190" y="277"/>
                </a:lnTo>
                <a:lnTo>
                  <a:pt x="57844" y="444"/>
                </a:lnTo>
                <a:lnTo>
                  <a:pt x="59080" y="458"/>
                </a:lnTo>
                <a:lnTo>
                  <a:pt x="60418" y="631"/>
                </a:lnTo>
                <a:lnTo>
                  <a:pt x="61506" y="714"/>
                </a:lnTo>
                <a:lnTo>
                  <a:pt x="62533" y="816"/>
                </a:lnTo>
                <a:lnTo>
                  <a:pt x="63296" y="1096"/>
                </a:lnTo>
                <a:lnTo>
                  <a:pt x="64184" y="1198"/>
                </a:lnTo>
                <a:lnTo>
                  <a:pt x="65165" y="1398"/>
                </a:lnTo>
                <a:lnTo>
                  <a:pt x="65899" y="1814"/>
                </a:lnTo>
                <a:lnTo>
                  <a:pt x="66331" y="1919"/>
                </a:lnTo>
                <a:lnTo>
                  <a:pt x="67168" y="2333"/>
                </a:lnTo>
                <a:lnTo>
                  <a:pt x="67525" y="2483"/>
                </a:lnTo>
                <a:lnTo>
                  <a:pt x="68178" y="2892"/>
                </a:lnTo>
                <a:lnTo>
                  <a:pt x="68640" y="3242"/>
                </a:lnTo>
                <a:lnTo>
                  <a:pt x="69048" y="3684"/>
                </a:lnTo>
                <a:lnTo>
                  <a:pt x="69394" y="4102"/>
                </a:lnTo>
                <a:lnTo>
                  <a:pt x="69841" y="4473"/>
                </a:lnTo>
                <a:lnTo>
                  <a:pt x="70115" y="4990"/>
                </a:lnTo>
                <a:lnTo>
                  <a:pt x="70323" y="5541"/>
                </a:lnTo>
                <a:lnTo>
                  <a:pt x="70618" y="6202"/>
                </a:lnTo>
                <a:lnTo>
                  <a:pt x="70775" y="7120"/>
                </a:lnTo>
                <a:lnTo>
                  <a:pt x="70749" y="7788"/>
                </a:lnTo>
                <a:lnTo>
                  <a:pt x="71053" y="8862"/>
                </a:lnTo>
                <a:lnTo>
                  <a:pt x="71026" y="10396"/>
                </a:lnTo>
                <a:lnTo>
                  <a:pt x="70977" y="15039"/>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7481621" y="4685294"/>
            <a:ext cx="6505316" cy="2742103"/>
          </a:xfrm>
          <a:custGeom>
            <a:avLst/>
            <a:gdLst/>
            <a:ahLst/>
            <a:cxnLst/>
            <a:rect l="l" t="t" r="r" b="b"/>
            <a:pathLst>
              <a:path w="71143" h="29988">
                <a:moveTo>
                  <a:pt x="71143" y="14960"/>
                </a:moveTo>
                <a:lnTo>
                  <a:pt x="70966" y="19547"/>
                </a:lnTo>
                <a:lnTo>
                  <a:pt x="71082" y="20966"/>
                </a:lnTo>
                <a:lnTo>
                  <a:pt x="70861" y="22115"/>
                </a:lnTo>
                <a:lnTo>
                  <a:pt x="70828" y="22867"/>
                </a:lnTo>
                <a:lnTo>
                  <a:pt x="70681" y="23642"/>
                </a:lnTo>
                <a:lnTo>
                  <a:pt x="70376" y="24229"/>
                </a:lnTo>
                <a:lnTo>
                  <a:pt x="70024" y="24862"/>
                </a:lnTo>
                <a:lnTo>
                  <a:pt x="69736" y="25541"/>
                </a:lnTo>
                <a:lnTo>
                  <a:pt x="69520" y="25807"/>
                </a:lnTo>
                <a:lnTo>
                  <a:pt x="69139" y="26341"/>
                </a:lnTo>
                <a:lnTo>
                  <a:pt x="68719" y="26623"/>
                </a:lnTo>
                <a:lnTo>
                  <a:pt x="68155" y="27196"/>
                </a:lnTo>
                <a:lnTo>
                  <a:pt x="67719" y="27443"/>
                </a:lnTo>
                <a:lnTo>
                  <a:pt x="67139" y="27661"/>
                </a:lnTo>
                <a:lnTo>
                  <a:pt x="66431" y="28017"/>
                </a:lnTo>
                <a:lnTo>
                  <a:pt x="65918" y="28257"/>
                </a:lnTo>
                <a:lnTo>
                  <a:pt x="64961" y="28531"/>
                </a:lnTo>
                <a:lnTo>
                  <a:pt x="64345" y="28704"/>
                </a:lnTo>
                <a:lnTo>
                  <a:pt x="63513" y="28842"/>
                </a:lnTo>
                <a:lnTo>
                  <a:pt x="62596" y="29024"/>
                </a:lnTo>
                <a:lnTo>
                  <a:pt x="61529" y="29153"/>
                </a:lnTo>
                <a:lnTo>
                  <a:pt x="60441" y="29511"/>
                </a:lnTo>
                <a:lnTo>
                  <a:pt x="59209" y="29420"/>
                </a:lnTo>
                <a:lnTo>
                  <a:pt x="57881" y="29712"/>
                </a:lnTo>
                <a:lnTo>
                  <a:pt x="56200" y="29720"/>
                </a:lnTo>
                <a:lnTo>
                  <a:pt x="54410" y="29904"/>
                </a:lnTo>
                <a:lnTo>
                  <a:pt x="52371" y="29904"/>
                </a:lnTo>
                <a:lnTo>
                  <a:pt x="50041" y="29956"/>
                </a:lnTo>
                <a:lnTo>
                  <a:pt x="46596" y="29988"/>
                </a:lnTo>
                <a:lnTo>
                  <a:pt x="35521" y="29970"/>
                </a:lnTo>
                <a:lnTo>
                  <a:pt x="24775" y="29915"/>
                </a:lnTo>
                <a:lnTo>
                  <a:pt x="21325" y="29877"/>
                </a:lnTo>
                <a:lnTo>
                  <a:pt x="18800" y="29927"/>
                </a:lnTo>
                <a:lnTo>
                  <a:pt x="16760" y="29852"/>
                </a:lnTo>
                <a:lnTo>
                  <a:pt x="15014" y="29616"/>
                </a:lnTo>
                <a:lnTo>
                  <a:pt x="13350" y="29552"/>
                </a:lnTo>
                <a:lnTo>
                  <a:pt x="12118" y="29463"/>
                </a:lnTo>
                <a:lnTo>
                  <a:pt x="10944" y="29438"/>
                </a:lnTo>
                <a:lnTo>
                  <a:pt x="9650" y="29229"/>
                </a:lnTo>
                <a:lnTo>
                  <a:pt x="8735" y="29222"/>
                </a:lnTo>
                <a:lnTo>
                  <a:pt x="7654" y="29040"/>
                </a:lnTo>
                <a:lnTo>
                  <a:pt x="6980" y="28697"/>
                </a:lnTo>
                <a:lnTo>
                  <a:pt x="6118" y="28413"/>
                </a:lnTo>
                <a:lnTo>
                  <a:pt x="5257" y="28238"/>
                </a:lnTo>
                <a:lnTo>
                  <a:pt x="4619" y="28106"/>
                </a:lnTo>
                <a:lnTo>
                  <a:pt x="3950" y="27608"/>
                </a:lnTo>
                <a:lnTo>
                  <a:pt x="3606" y="27303"/>
                </a:lnTo>
                <a:lnTo>
                  <a:pt x="2910" y="27170"/>
                </a:lnTo>
                <a:lnTo>
                  <a:pt x="2456" y="26764"/>
                </a:lnTo>
                <a:lnTo>
                  <a:pt x="1954" y="26326"/>
                </a:lnTo>
                <a:lnTo>
                  <a:pt x="1697" y="25833"/>
                </a:lnTo>
                <a:lnTo>
                  <a:pt x="1439" y="25468"/>
                </a:lnTo>
                <a:lnTo>
                  <a:pt x="1044" y="24836"/>
                </a:lnTo>
                <a:lnTo>
                  <a:pt x="793" y="24283"/>
                </a:lnTo>
                <a:lnTo>
                  <a:pt x="675" y="23603"/>
                </a:lnTo>
                <a:lnTo>
                  <a:pt x="347" y="23054"/>
                </a:lnTo>
                <a:lnTo>
                  <a:pt x="238" y="22221"/>
                </a:lnTo>
                <a:lnTo>
                  <a:pt x="169" y="21092"/>
                </a:lnTo>
                <a:lnTo>
                  <a:pt x="108" y="19521"/>
                </a:lnTo>
                <a:lnTo>
                  <a:pt x="0" y="15051"/>
                </a:lnTo>
                <a:lnTo>
                  <a:pt x="26" y="10346"/>
                </a:lnTo>
                <a:lnTo>
                  <a:pt x="306" y="9001"/>
                </a:lnTo>
                <a:lnTo>
                  <a:pt x="165" y="7867"/>
                </a:lnTo>
                <a:lnTo>
                  <a:pt x="363" y="7075"/>
                </a:lnTo>
                <a:lnTo>
                  <a:pt x="684" y="6372"/>
                </a:lnTo>
                <a:lnTo>
                  <a:pt x="786" y="5784"/>
                </a:lnTo>
                <a:lnTo>
                  <a:pt x="1140" y="5136"/>
                </a:lnTo>
                <a:lnTo>
                  <a:pt x="1454" y="4551"/>
                </a:lnTo>
                <a:lnTo>
                  <a:pt x="1616" y="4226"/>
                </a:lnTo>
                <a:lnTo>
                  <a:pt x="1992" y="3645"/>
                </a:lnTo>
                <a:lnTo>
                  <a:pt x="2432" y="3242"/>
                </a:lnTo>
                <a:lnTo>
                  <a:pt x="3036" y="3044"/>
                </a:lnTo>
                <a:lnTo>
                  <a:pt x="3565" y="2701"/>
                </a:lnTo>
                <a:lnTo>
                  <a:pt x="4042" y="2237"/>
                </a:lnTo>
                <a:lnTo>
                  <a:pt x="4810" y="1946"/>
                </a:lnTo>
                <a:lnTo>
                  <a:pt x="5491" y="1752"/>
                </a:lnTo>
                <a:lnTo>
                  <a:pt x="6130" y="1542"/>
                </a:lnTo>
                <a:lnTo>
                  <a:pt x="6900" y="1363"/>
                </a:lnTo>
                <a:lnTo>
                  <a:pt x="7835" y="1200"/>
                </a:lnTo>
                <a:lnTo>
                  <a:pt x="8678" y="804"/>
                </a:lnTo>
                <a:lnTo>
                  <a:pt x="9823" y="739"/>
                </a:lnTo>
                <a:lnTo>
                  <a:pt x="10782" y="561"/>
                </a:lnTo>
                <a:lnTo>
                  <a:pt x="12064" y="370"/>
                </a:lnTo>
                <a:lnTo>
                  <a:pt x="13371" y="331"/>
                </a:lnTo>
                <a:lnTo>
                  <a:pt x="14891" y="200"/>
                </a:lnTo>
                <a:lnTo>
                  <a:pt x="16541" y="130"/>
                </a:lnTo>
                <a:lnTo>
                  <a:pt x="18648" y="43"/>
                </a:lnTo>
                <a:lnTo>
                  <a:pt x="21267" y="146"/>
                </a:lnTo>
                <a:lnTo>
                  <a:pt x="24605" y="73"/>
                </a:lnTo>
                <a:lnTo>
                  <a:pt x="35485" y="71"/>
                </a:lnTo>
                <a:lnTo>
                  <a:pt x="46576" y="0"/>
                </a:lnTo>
                <a:lnTo>
                  <a:pt x="50027" y="19"/>
                </a:lnTo>
                <a:lnTo>
                  <a:pt x="52424" y="255"/>
                </a:lnTo>
                <a:lnTo>
                  <a:pt x="54494" y="148"/>
                </a:lnTo>
                <a:lnTo>
                  <a:pt x="56197" y="323"/>
                </a:lnTo>
                <a:lnTo>
                  <a:pt x="57757" y="390"/>
                </a:lnTo>
                <a:lnTo>
                  <a:pt x="59220" y="584"/>
                </a:lnTo>
                <a:lnTo>
                  <a:pt x="60321" y="567"/>
                </a:lnTo>
                <a:lnTo>
                  <a:pt x="61335" y="688"/>
                </a:lnTo>
                <a:lnTo>
                  <a:pt x="62572" y="925"/>
                </a:lnTo>
                <a:lnTo>
                  <a:pt x="63431" y="1022"/>
                </a:lnTo>
                <a:lnTo>
                  <a:pt x="64260" y="1373"/>
                </a:lnTo>
                <a:lnTo>
                  <a:pt x="65165" y="1582"/>
                </a:lnTo>
                <a:lnTo>
                  <a:pt x="65713" y="1757"/>
                </a:lnTo>
                <a:lnTo>
                  <a:pt x="66538" y="1910"/>
                </a:lnTo>
                <a:lnTo>
                  <a:pt x="67168" y="2293"/>
                </a:lnTo>
                <a:lnTo>
                  <a:pt x="67581" y="2514"/>
                </a:lnTo>
                <a:lnTo>
                  <a:pt x="68131" y="3055"/>
                </a:lnTo>
                <a:lnTo>
                  <a:pt x="68530" y="3397"/>
                </a:lnTo>
                <a:lnTo>
                  <a:pt x="68964" y="3638"/>
                </a:lnTo>
                <a:lnTo>
                  <a:pt x="69481" y="4022"/>
                </a:lnTo>
                <a:lnTo>
                  <a:pt x="69747" y="4650"/>
                </a:lnTo>
                <a:lnTo>
                  <a:pt x="70001" y="5044"/>
                </a:lnTo>
                <a:lnTo>
                  <a:pt x="70415" y="5671"/>
                </a:lnTo>
                <a:lnTo>
                  <a:pt x="70509" y="6381"/>
                </a:lnTo>
                <a:lnTo>
                  <a:pt x="70714" y="6947"/>
                </a:lnTo>
                <a:lnTo>
                  <a:pt x="70907" y="7899"/>
                </a:lnTo>
                <a:lnTo>
                  <a:pt x="71043" y="8843"/>
                </a:lnTo>
                <a:lnTo>
                  <a:pt x="71120" y="10336"/>
                </a:lnTo>
                <a:lnTo>
                  <a:pt x="71027" y="14979"/>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13864133" y="6786220"/>
            <a:ext cx="86685" cy="224302"/>
          </a:xfrm>
          <a:custGeom>
            <a:avLst/>
            <a:gdLst/>
            <a:ahLst/>
            <a:cxnLst/>
            <a:rect l="l" t="t" r="r" b="b"/>
            <a:pathLst>
              <a:path w="948" h="2453">
                <a:moveTo>
                  <a:pt x="948" y="0"/>
                </a:moveTo>
                <a:lnTo>
                  <a:pt x="771" y="730"/>
                </a:lnTo>
                <a:lnTo>
                  <a:pt x="555" y="1369"/>
                </a:lnTo>
                <a:lnTo>
                  <a:pt x="298" y="1939"/>
                </a:lnTo>
                <a:lnTo>
                  <a:pt x="0" y="2453"/>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12887096" y="7330288"/>
            <a:ext cx="392186" cy="55778"/>
          </a:xfrm>
          <a:custGeom>
            <a:avLst/>
            <a:gdLst/>
            <a:ahLst/>
            <a:cxnLst/>
            <a:rect l="l" t="t" r="r" b="b"/>
            <a:pathLst>
              <a:path w="4289" h="610">
                <a:moveTo>
                  <a:pt x="4289" y="0"/>
                </a:moveTo>
                <a:lnTo>
                  <a:pt x="3354" y="180"/>
                </a:lnTo>
                <a:lnTo>
                  <a:pt x="2335" y="341"/>
                </a:lnTo>
                <a:lnTo>
                  <a:pt x="1223" y="485"/>
                </a:lnTo>
                <a:lnTo>
                  <a:pt x="0" y="61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8471184" y="7374636"/>
            <a:ext cx="533004" cy="36485"/>
          </a:xfrm>
          <a:custGeom>
            <a:avLst/>
            <a:gdLst/>
            <a:ahLst/>
            <a:cxnLst/>
            <a:rect l="l" t="t" r="r" b="b"/>
            <a:pathLst>
              <a:path w="5829" h="399">
                <a:moveTo>
                  <a:pt x="5829" y="399"/>
                </a:moveTo>
                <a:lnTo>
                  <a:pt x="4096" y="324"/>
                </a:lnTo>
                <a:lnTo>
                  <a:pt x="2577" y="233"/>
                </a:lnTo>
                <a:lnTo>
                  <a:pt x="1223" y="125"/>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7578730" y="6963522"/>
            <a:ext cx="132497" cy="165049"/>
          </a:xfrm>
          <a:custGeom>
            <a:avLst/>
            <a:gdLst/>
            <a:ahLst/>
            <a:cxnLst/>
            <a:rect l="l" t="t" r="r" b="b"/>
            <a:pathLst>
              <a:path w="1449" h="1805">
                <a:moveTo>
                  <a:pt x="1449" y="1805"/>
                </a:moveTo>
                <a:lnTo>
                  <a:pt x="1022" y="1411"/>
                </a:lnTo>
                <a:lnTo>
                  <a:pt x="639" y="982"/>
                </a:lnTo>
                <a:lnTo>
                  <a:pt x="298" y="514"/>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7519294" y="5105278"/>
            <a:ext cx="86685" cy="224302"/>
          </a:xfrm>
          <a:custGeom>
            <a:avLst/>
            <a:gdLst/>
            <a:ahLst/>
            <a:cxnLst/>
            <a:rect l="l" t="t" r="r" b="b"/>
            <a:pathLst>
              <a:path w="948" h="2453">
                <a:moveTo>
                  <a:pt x="0" y="2453"/>
                </a:moveTo>
                <a:lnTo>
                  <a:pt x="177" y="1723"/>
                </a:lnTo>
                <a:lnTo>
                  <a:pt x="393" y="1084"/>
                </a:lnTo>
                <a:lnTo>
                  <a:pt x="650" y="514"/>
                </a:lnTo>
                <a:lnTo>
                  <a:pt x="948"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8190829" y="4729734"/>
            <a:ext cx="392186" cy="55778"/>
          </a:xfrm>
          <a:custGeom>
            <a:avLst/>
            <a:gdLst/>
            <a:ahLst/>
            <a:cxnLst/>
            <a:rect l="l" t="t" r="r" b="b"/>
            <a:pathLst>
              <a:path w="4289" h="610">
                <a:moveTo>
                  <a:pt x="0" y="610"/>
                </a:moveTo>
                <a:lnTo>
                  <a:pt x="935" y="430"/>
                </a:lnTo>
                <a:lnTo>
                  <a:pt x="1954" y="269"/>
                </a:lnTo>
                <a:lnTo>
                  <a:pt x="3066" y="125"/>
                </a:lnTo>
                <a:lnTo>
                  <a:pt x="4289"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12465924" y="4704679"/>
            <a:ext cx="533004" cy="36485"/>
          </a:xfrm>
          <a:custGeom>
            <a:avLst/>
            <a:gdLst/>
            <a:ahLst/>
            <a:cxnLst/>
            <a:rect l="l" t="t" r="r" b="b"/>
            <a:pathLst>
              <a:path w="5829" h="399">
                <a:moveTo>
                  <a:pt x="0" y="0"/>
                </a:moveTo>
                <a:lnTo>
                  <a:pt x="1733" y="75"/>
                </a:lnTo>
                <a:lnTo>
                  <a:pt x="3252" y="166"/>
                </a:lnTo>
                <a:lnTo>
                  <a:pt x="4606" y="274"/>
                </a:lnTo>
                <a:lnTo>
                  <a:pt x="5829" y="399"/>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13758885" y="4987229"/>
            <a:ext cx="132497" cy="165049"/>
          </a:xfrm>
          <a:custGeom>
            <a:avLst/>
            <a:gdLst/>
            <a:ahLst/>
            <a:cxnLst/>
            <a:rect l="l" t="t" r="r" b="b"/>
            <a:pathLst>
              <a:path w="1449" h="1805">
                <a:moveTo>
                  <a:pt x="0" y="0"/>
                </a:moveTo>
                <a:lnTo>
                  <a:pt x="427" y="394"/>
                </a:lnTo>
                <a:lnTo>
                  <a:pt x="810" y="823"/>
                </a:lnTo>
                <a:lnTo>
                  <a:pt x="1151" y="1291"/>
                </a:lnTo>
                <a:lnTo>
                  <a:pt x="1449" y="1805"/>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ody: Unique"/>
          <p:cNvSpPr txBox="1"/>
          <p:nvPr/>
        </p:nvSpPr>
        <p:spPr>
          <a:xfrm>
            <a:off x="7836408" y="4816856"/>
            <a:ext cx="5797296"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557B65"/>
                </a:solidFill>
                <a:latin typeface="Chalkboard SE"/>
              </a:rPr>
              <a:t>Unique</a:t>
            </a:r>
          </a:p>
        </p:txBody>
      </p:sp>
      <p:sp>
        <p:nvSpPr>
          <p:cNvPr id="66" name="Oval 65"/>
          <p:cNvSpPr/>
          <p:nvPr/>
        </p:nvSpPr>
        <p:spPr>
          <a:xfrm>
            <a:off x="7749540" y="555625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ody: Executable, like CVE proofs of concept"/>
          <p:cNvSpPr txBox="1"/>
          <p:nvPr/>
        </p:nvSpPr>
        <p:spPr>
          <a:xfrm>
            <a:off x="7982711" y="5455666"/>
            <a:ext cx="5751576"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Executable, like CVE proofs of concept</a:t>
            </a:r>
          </a:p>
        </p:txBody>
      </p:sp>
      <p:sp>
        <p:nvSpPr>
          <p:cNvPr id="68" name="Oval 67"/>
          <p:cNvSpPr/>
          <p:nvPr/>
        </p:nvSpPr>
        <p:spPr>
          <a:xfrm>
            <a:off x="7749540" y="605282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ody: Benign twins built in"/>
          <p:cNvSpPr txBox="1"/>
          <p:nvPr/>
        </p:nvSpPr>
        <p:spPr>
          <a:xfrm>
            <a:off x="7982711" y="5952236"/>
            <a:ext cx="5751576"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Benign twins built in</a:t>
            </a:r>
          </a:p>
        </p:txBody>
      </p:sp>
      <p:sp>
        <p:nvSpPr>
          <p:cNvPr id="70" name="Oval 69"/>
          <p:cNvSpPr/>
          <p:nvPr/>
        </p:nvSpPr>
        <p:spPr>
          <a:xfrm>
            <a:off x="7749540" y="654939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ody: Researcher tooling only; never reaches the agent"/>
          <p:cNvSpPr txBox="1"/>
          <p:nvPr/>
        </p:nvSpPr>
        <p:spPr>
          <a:xfrm>
            <a:off x="7982711" y="6448806"/>
            <a:ext cx="5751576" cy="778256"/>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Researcher tooling only; never reaches the</a:t>
            </a:r>
            <a:br/>
            <a:r>
              <a:rPr sz="2200" b="0">
                <a:solidFill>
                  <a:srgbClr val="293E46"/>
                </a:solidFill>
                <a:latin typeface="Trebuchet MS"/>
              </a:rPr>
              <a:t>agent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4 · COMPONENT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4 · COMPONENTS</a:t>
            </a:r>
          </a:p>
        </p:txBody>
      </p:sp>
      <p:sp>
        <p:nvSpPr>
          <p:cNvPr id="3" name="title: Component 3 · Case synthesi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Component 3 · Case synthesis</a:t>
            </a:r>
          </a:p>
        </p:txBody>
      </p:sp>
      <p:sp>
        <p:nvSpPr>
          <p:cNvPr id="4" name="subtitle: The evaluation updates itself"/>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The evaluation updates itself</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20"/>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20</a:t>
            </a:r>
          </a:p>
        </p:txBody>
      </p:sp>
      <p:sp>
        <p:nvSpPr>
          <p:cNvPr id="12" name="Rounded Rectangle 11"/>
          <p:cNvSpPr/>
          <p:nvPr/>
        </p:nvSpPr>
        <p:spPr>
          <a:xfrm>
            <a:off x="640080" y="1810512"/>
            <a:ext cx="8193024" cy="950976"/>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9864" y="1819016"/>
            <a:ext cx="8177296" cy="941558"/>
          </a:xfrm>
          <a:custGeom>
            <a:avLst/>
            <a:gdLst/>
            <a:ahLst/>
            <a:cxnLst/>
            <a:rect l="l" t="t" r="r" b="b"/>
            <a:pathLst>
              <a:path w="89428" h="10297">
                <a:moveTo>
                  <a:pt x="89428" y="5118"/>
                </a:moveTo>
                <a:lnTo>
                  <a:pt x="89299" y="6766"/>
                </a:lnTo>
                <a:lnTo>
                  <a:pt x="89349" y="7131"/>
                </a:lnTo>
                <a:lnTo>
                  <a:pt x="89141" y="7596"/>
                </a:lnTo>
                <a:lnTo>
                  <a:pt x="88884" y="7698"/>
                </a:lnTo>
                <a:lnTo>
                  <a:pt x="88841" y="8174"/>
                </a:lnTo>
                <a:lnTo>
                  <a:pt x="88485" y="8341"/>
                </a:lnTo>
                <a:lnTo>
                  <a:pt x="88100" y="8488"/>
                </a:lnTo>
                <a:lnTo>
                  <a:pt x="87740" y="8534"/>
                </a:lnTo>
                <a:lnTo>
                  <a:pt x="87424" y="8767"/>
                </a:lnTo>
                <a:lnTo>
                  <a:pt x="86858" y="8877"/>
                </a:lnTo>
                <a:lnTo>
                  <a:pt x="86447" y="9013"/>
                </a:lnTo>
                <a:lnTo>
                  <a:pt x="85839" y="9256"/>
                </a:lnTo>
                <a:lnTo>
                  <a:pt x="84958" y="9331"/>
                </a:lnTo>
                <a:lnTo>
                  <a:pt x="84485" y="9485"/>
                </a:lnTo>
                <a:lnTo>
                  <a:pt x="83659" y="9421"/>
                </a:lnTo>
                <a:lnTo>
                  <a:pt x="82671" y="9590"/>
                </a:lnTo>
                <a:lnTo>
                  <a:pt x="81801" y="9815"/>
                </a:lnTo>
                <a:lnTo>
                  <a:pt x="80838" y="9691"/>
                </a:lnTo>
                <a:lnTo>
                  <a:pt x="79802" y="9793"/>
                </a:lnTo>
                <a:lnTo>
                  <a:pt x="78563" y="10002"/>
                </a:lnTo>
                <a:lnTo>
                  <a:pt x="77307" y="9893"/>
                </a:lnTo>
                <a:lnTo>
                  <a:pt x="75805" y="10028"/>
                </a:lnTo>
                <a:lnTo>
                  <a:pt x="74458" y="9995"/>
                </a:lnTo>
                <a:lnTo>
                  <a:pt x="72593" y="10202"/>
                </a:lnTo>
                <a:lnTo>
                  <a:pt x="70734" y="10207"/>
                </a:lnTo>
                <a:lnTo>
                  <a:pt x="68441" y="10051"/>
                </a:lnTo>
                <a:lnTo>
                  <a:pt x="65893" y="10120"/>
                </a:lnTo>
                <a:lnTo>
                  <a:pt x="62692" y="10076"/>
                </a:lnTo>
                <a:lnTo>
                  <a:pt x="58381" y="10179"/>
                </a:lnTo>
                <a:lnTo>
                  <a:pt x="44766" y="10297"/>
                </a:lnTo>
                <a:lnTo>
                  <a:pt x="30910" y="10091"/>
                </a:lnTo>
                <a:lnTo>
                  <a:pt x="26495" y="10263"/>
                </a:lnTo>
                <a:lnTo>
                  <a:pt x="23401" y="10090"/>
                </a:lnTo>
                <a:lnTo>
                  <a:pt x="20820" y="10142"/>
                </a:lnTo>
                <a:lnTo>
                  <a:pt x="18546" y="10203"/>
                </a:lnTo>
                <a:lnTo>
                  <a:pt x="16856" y="10084"/>
                </a:lnTo>
                <a:lnTo>
                  <a:pt x="15029" y="10037"/>
                </a:lnTo>
                <a:lnTo>
                  <a:pt x="13439" y="9953"/>
                </a:lnTo>
                <a:lnTo>
                  <a:pt x="12189" y="9975"/>
                </a:lnTo>
                <a:lnTo>
                  <a:pt x="10784" y="9902"/>
                </a:lnTo>
                <a:lnTo>
                  <a:pt x="9747" y="9883"/>
                </a:lnTo>
                <a:lnTo>
                  <a:pt x="8694" y="9822"/>
                </a:lnTo>
                <a:lnTo>
                  <a:pt x="7561" y="9777"/>
                </a:lnTo>
                <a:lnTo>
                  <a:pt x="6550" y="9676"/>
                </a:lnTo>
                <a:lnTo>
                  <a:pt x="5814" y="9541"/>
                </a:lnTo>
                <a:lnTo>
                  <a:pt x="5118" y="9454"/>
                </a:lnTo>
                <a:lnTo>
                  <a:pt x="4250" y="9387"/>
                </a:lnTo>
                <a:lnTo>
                  <a:pt x="3689" y="9147"/>
                </a:lnTo>
                <a:lnTo>
                  <a:pt x="2977" y="9163"/>
                </a:lnTo>
                <a:lnTo>
                  <a:pt x="2633" y="9001"/>
                </a:lnTo>
                <a:lnTo>
                  <a:pt x="2104" y="8904"/>
                </a:lnTo>
                <a:lnTo>
                  <a:pt x="1591" y="8604"/>
                </a:lnTo>
                <a:lnTo>
                  <a:pt x="1223" y="8401"/>
                </a:lnTo>
                <a:lnTo>
                  <a:pt x="884" y="8386"/>
                </a:lnTo>
                <a:lnTo>
                  <a:pt x="552" y="8090"/>
                </a:lnTo>
                <a:lnTo>
                  <a:pt x="458" y="7840"/>
                </a:lnTo>
                <a:lnTo>
                  <a:pt x="135" y="7632"/>
                </a:lnTo>
                <a:lnTo>
                  <a:pt x="184" y="7126"/>
                </a:lnTo>
                <a:lnTo>
                  <a:pt x="106" y="6588"/>
                </a:lnTo>
                <a:lnTo>
                  <a:pt x="81" y="5192"/>
                </a:lnTo>
                <a:lnTo>
                  <a:pt x="68" y="3624"/>
                </a:lnTo>
                <a:lnTo>
                  <a:pt x="0" y="2979"/>
                </a:lnTo>
                <a:lnTo>
                  <a:pt x="297" y="2671"/>
                </a:lnTo>
                <a:lnTo>
                  <a:pt x="533" y="2374"/>
                </a:lnTo>
                <a:lnTo>
                  <a:pt x="671" y="2252"/>
                </a:lnTo>
                <a:lnTo>
                  <a:pt x="925" y="1838"/>
                </a:lnTo>
                <a:lnTo>
                  <a:pt x="1171" y="1821"/>
                </a:lnTo>
                <a:lnTo>
                  <a:pt x="1543" y="1451"/>
                </a:lnTo>
                <a:lnTo>
                  <a:pt x="1943" y="1409"/>
                </a:lnTo>
                <a:lnTo>
                  <a:pt x="2513" y="1206"/>
                </a:lnTo>
                <a:lnTo>
                  <a:pt x="3051" y="1040"/>
                </a:lnTo>
                <a:lnTo>
                  <a:pt x="3715" y="1065"/>
                </a:lnTo>
                <a:lnTo>
                  <a:pt x="4417" y="815"/>
                </a:lnTo>
                <a:lnTo>
                  <a:pt x="5097" y="747"/>
                </a:lnTo>
                <a:lnTo>
                  <a:pt x="5872" y="788"/>
                </a:lnTo>
                <a:lnTo>
                  <a:pt x="6552" y="660"/>
                </a:lnTo>
                <a:lnTo>
                  <a:pt x="7515" y="463"/>
                </a:lnTo>
                <a:lnTo>
                  <a:pt x="8656" y="386"/>
                </a:lnTo>
                <a:lnTo>
                  <a:pt x="9637" y="402"/>
                </a:lnTo>
                <a:lnTo>
                  <a:pt x="10945" y="311"/>
                </a:lnTo>
                <a:lnTo>
                  <a:pt x="12186" y="334"/>
                </a:lnTo>
                <a:lnTo>
                  <a:pt x="13635" y="170"/>
                </a:lnTo>
                <a:lnTo>
                  <a:pt x="15144" y="152"/>
                </a:lnTo>
                <a:lnTo>
                  <a:pt x="16719" y="28"/>
                </a:lnTo>
                <a:lnTo>
                  <a:pt x="18693" y="49"/>
                </a:lnTo>
                <a:lnTo>
                  <a:pt x="20765" y="0"/>
                </a:lnTo>
                <a:lnTo>
                  <a:pt x="23453" y="45"/>
                </a:lnTo>
                <a:lnTo>
                  <a:pt x="26659" y="44"/>
                </a:lnTo>
                <a:lnTo>
                  <a:pt x="30988" y="89"/>
                </a:lnTo>
                <a:lnTo>
                  <a:pt x="44807" y="133"/>
                </a:lnTo>
                <a:lnTo>
                  <a:pt x="58462" y="1"/>
                </a:lnTo>
                <a:lnTo>
                  <a:pt x="62675" y="128"/>
                </a:lnTo>
                <a:lnTo>
                  <a:pt x="65917" y="116"/>
                </a:lnTo>
                <a:lnTo>
                  <a:pt x="68530" y="47"/>
                </a:lnTo>
                <a:lnTo>
                  <a:pt x="70833" y="186"/>
                </a:lnTo>
                <a:lnTo>
                  <a:pt x="72550" y="219"/>
                </a:lnTo>
                <a:lnTo>
                  <a:pt x="74333" y="282"/>
                </a:lnTo>
                <a:lnTo>
                  <a:pt x="75805" y="324"/>
                </a:lnTo>
                <a:lnTo>
                  <a:pt x="77334" y="148"/>
                </a:lnTo>
                <a:lnTo>
                  <a:pt x="78436" y="327"/>
                </a:lnTo>
                <a:lnTo>
                  <a:pt x="79825" y="363"/>
                </a:lnTo>
                <a:lnTo>
                  <a:pt x="80863" y="528"/>
                </a:lnTo>
                <a:lnTo>
                  <a:pt x="81910" y="539"/>
                </a:lnTo>
                <a:lnTo>
                  <a:pt x="82860" y="512"/>
                </a:lnTo>
                <a:lnTo>
                  <a:pt x="83512" y="583"/>
                </a:lnTo>
                <a:lnTo>
                  <a:pt x="84392" y="708"/>
                </a:lnTo>
                <a:lnTo>
                  <a:pt x="85048" y="801"/>
                </a:lnTo>
                <a:lnTo>
                  <a:pt x="85775" y="940"/>
                </a:lnTo>
                <a:lnTo>
                  <a:pt x="86336" y="1145"/>
                </a:lnTo>
                <a:lnTo>
                  <a:pt x="86750" y="1319"/>
                </a:lnTo>
                <a:lnTo>
                  <a:pt x="87441" y="1362"/>
                </a:lnTo>
                <a:lnTo>
                  <a:pt x="87865" y="1525"/>
                </a:lnTo>
                <a:lnTo>
                  <a:pt x="88134" y="1802"/>
                </a:lnTo>
                <a:lnTo>
                  <a:pt x="88398" y="2037"/>
                </a:lnTo>
                <a:lnTo>
                  <a:pt x="88887" y="2206"/>
                </a:lnTo>
                <a:lnTo>
                  <a:pt x="88900" y="2323"/>
                </a:lnTo>
                <a:lnTo>
                  <a:pt x="89265" y="2763"/>
                </a:lnTo>
                <a:lnTo>
                  <a:pt x="89298" y="3031"/>
                </a:lnTo>
                <a:lnTo>
                  <a:pt x="89264" y="3561"/>
                </a:lnTo>
                <a:lnTo>
                  <a:pt x="89415" y="5181"/>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46755" y="1811701"/>
            <a:ext cx="8172999" cy="943569"/>
          </a:xfrm>
          <a:custGeom>
            <a:avLst/>
            <a:gdLst/>
            <a:ahLst/>
            <a:cxnLst/>
            <a:rect l="l" t="t" r="r" b="b"/>
            <a:pathLst>
              <a:path w="89381" h="10319">
                <a:moveTo>
                  <a:pt x="89376" y="5205"/>
                </a:moveTo>
                <a:lnTo>
                  <a:pt x="89373" y="6785"/>
                </a:lnTo>
                <a:lnTo>
                  <a:pt x="89381" y="7127"/>
                </a:lnTo>
                <a:lnTo>
                  <a:pt x="89109" y="7533"/>
                </a:lnTo>
                <a:lnTo>
                  <a:pt x="88981" y="7928"/>
                </a:lnTo>
                <a:lnTo>
                  <a:pt x="88709" y="8265"/>
                </a:lnTo>
                <a:lnTo>
                  <a:pt x="88490" y="8295"/>
                </a:lnTo>
                <a:lnTo>
                  <a:pt x="88210" y="8530"/>
                </a:lnTo>
                <a:lnTo>
                  <a:pt x="87935" y="8712"/>
                </a:lnTo>
                <a:lnTo>
                  <a:pt x="87347" y="8775"/>
                </a:lnTo>
                <a:lnTo>
                  <a:pt x="86807" y="9028"/>
                </a:lnTo>
                <a:lnTo>
                  <a:pt x="86475" y="9290"/>
                </a:lnTo>
                <a:lnTo>
                  <a:pt x="85687" y="9272"/>
                </a:lnTo>
                <a:lnTo>
                  <a:pt x="85035" y="9470"/>
                </a:lnTo>
                <a:lnTo>
                  <a:pt x="84492" y="9611"/>
                </a:lnTo>
                <a:lnTo>
                  <a:pt x="83546" y="9568"/>
                </a:lnTo>
                <a:lnTo>
                  <a:pt x="82796" y="9642"/>
                </a:lnTo>
                <a:lnTo>
                  <a:pt x="81972" y="9799"/>
                </a:lnTo>
                <a:lnTo>
                  <a:pt x="80729" y="9885"/>
                </a:lnTo>
                <a:lnTo>
                  <a:pt x="79682" y="10036"/>
                </a:lnTo>
                <a:lnTo>
                  <a:pt x="78652" y="9914"/>
                </a:lnTo>
                <a:lnTo>
                  <a:pt x="77249" y="9957"/>
                </a:lnTo>
                <a:lnTo>
                  <a:pt x="75889" y="9983"/>
                </a:lnTo>
                <a:lnTo>
                  <a:pt x="74391" y="10228"/>
                </a:lnTo>
                <a:lnTo>
                  <a:pt x="72755" y="10071"/>
                </a:lnTo>
                <a:lnTo>
                  <a:pt x="70856" y="10316"/>
                </a:lnTo>
                <a:lnTo>
                  <a:pt x="68555" y="10177"/>
                </a:lnTo>
                <a:lnTo>
                  <a:pt x="66044" y="10198"/>
                </a:lnTo>
                <a:lnTo>
                  <a:pt x="62872" y="10269"/>
                </a:lnTo>
                <a:lnTo>
                  <a:pt x="58562" y="10199"/>
                </a:lnTo>
                <a:lnTo>
                  <a:pt x="44801" y="10278"/>
                </a:lnTo>
                <a:lnTo>
                  <a:pt x="31063" y="10319"/>
                </a:lnTo>
                <a:lnTo>
                  <a:pt x="26714" y="10301"/>
                </a:lnTo>
                <a:lnTo>
                  <a:pt x="23444" y="10129"/>
                </a:lnTo>
                <a:lnTo>
                  <a:pt x="20969" y="10305"/>
                </a:lnTo>
                <a:lnTo>
                  <a:pt x="18660" y="10276"/>
                </a:lnTo>
                <a:lnTo>
                  <a:pt x="16763" y="10101"/>
                </a:lnTo>
                <a:lnTo>
                  <a:pt x="15127" y="10046"/>
                </a:lnTo>
                <a:lnTo>
                  <a:pt x="13638" y="10055"/>
                </a:lnTo>
                <a:lnTo>
                  <a:pt x="12277" y="9973"/>
                </a:lnTo>
                <a:lnTo>
                  <a:pt x="10855" y="10042"/>
                </a:lnTo>
                <a:lnTo>
                  <a:pt x="9764" y="9913"/>
                </a:lnTo>
                <a:lnTo>
                  <a:pt x="8661" y="9773"/>
                </a:lnTo>
                <a:lnTo>
                  <a:pt x="7527" y="9808"/>
                </a:lnTo>
                <a:lnTo>
                  <a:pt x="6598" y="9722"/>
                </a:lnTo>
                <a:lnTo>
                  <a:pt x="5844" y="9583"/>
                </a:lnTo>
                <a:lnTo>
                  <a:pt x="5077" y="9588"/>
                </a:lnTo>
                <a:lnTo>
                  <a:pt x="4398" y="9380"/>
                </a:lnTo>
                <a:lnTo>
                  <a:pt x="3576" y="9215"/>
                </a:lnTo>
                <a:lnTo>
                  <a:pt x="3047" y="9145"/>
                </a:lnTo>
                <a:lnTo>
                  <a:pt x="2659" y="8953"/>
                </a:lnTo>
                <a:lnTo>
                  <a:pt x="2054" y="8984"/>
                </a:lnTo>
                <a:lnTo>
                  <a:pt x="1759" y="8827"/>
                </a:lnTo>
                <a:lnTo>
                  <a:pt x="1262" y="8460"/>
                </a:lnTo>
                <a:lnTo>
                  <a:pt x="995" y="8408"/>
                </a:lnTo>
                <a:lnTo>
                  <a:pt x="564" y="8205"/>
                </a:lnTo>
                <a:lnTo>
                  <a:pt x="547" y="7997"/>
                </a:lnTo>
                <a:lnTo>
                  <a:pt x="352" y="7506"/>
                </a:lnTo>
                <a:lnTo>
                  <a:pt x="173" y="7196"/>
                </a:lnTo>
                <a:lnTo>
                  <a:pt x="15" y="6634"/>
                </a:lnTo>
                <a:lnTo>
                  <a:pt x="102" y="5249"/>
                </a:lnTo>
                <a:lnTo>
                  <a:pt x="0" y="3614"/>
                </a:lnTo>
                <a:lnTo>
                  <a:pt x="205" y="3133"/>
                </a:lnTo>
                <a:lnTo>
                  <a:pt x="256" y="2775"/>
                </a:lnTo>
                <a:lnTo>
                  <a:pt x="363" y="2379"/>
                </a:lnTo>
                <a:lnTo>
                  <a:pt x="613" y="2146"/>
                </a:lnTo>
                <a:lnTo>
                  <a:pt x="832" y="2117"/>
                </a:lnTo>
                <a:lnTo>
                  <a:pt x="1149" y="1861"/>
                </a:lnTo>
                <a:lnTo>
                  <a:pt x="1624" y="1599"/>
                </a:lnTo>
                <a:lnTo>
                  <a:pt x="2120" y="1437"/>
                </a:lnTo>
                <a:lnTo>
                  <a:pt x="2592" y="1391"/>
                </a:lnTo>
                <a:lnTo>
                  <a:pt x="3108" y="1217"/>
                </a:lnTo>
                <a:lnTo>
                  <a:pt x="3769" y="1066"/>
                </a:lnTo>
                <a:lnTo>
                  <a:pt x="4266" y="987"/>
                </a:lnTo>
                <a:lnTo>
                  <a:pt x="5065" y="842"/>
                </a:lnTo>
                <a:lnTo>
                  <a:pt x="5876" y="713"/>
                </a:lnTo>
                <a:lnTo>
                  <a:pt x="6721" y="763"/>
                </a:lnTo>
                <a:lnTo>
                  <a:pt x="7727" y="644"/>
                </a:lnTo>
                <a:lnTo>
                  <a:pt x="8707" y="495"/>
                </a:lnTo>
                <a:lnTo>
                  <a:pt x="9656" y="445"/>
                </a:lnTo>
                <a:lnTo>
                  <a:pt x="10757" y="456"/>
                </a:lnTo>
                <a:lnTo>
                  <a:pt x="12032" y="354"/>
                </a:lnTo>
                <a:lnTo>
                  <a:pt x="13590" y="215"/>
                </a:lnTo>
                <a:lnTo>
                  <a:pt x="15162" y="297"/>
                </a:lnTo>
                <a:lnTo>
                  <a:pt x="16876" y="300"/>
                </a:lnTo>
                <a:lnTo>
                  <a:pt x="18821" y="60"/>
                </a:lnTo>
                <a:lnTo>
                  <a:pt x="20775" y="263"/>
                </a:lnTo>
                <a:lnTo>
                  <a:pt x="23432" y="89"/>
                </a:lnTo>
                <a:lnTo>
                  <a:pt x="26539" y="0"/>
                </a:lnTo>
                <a:lnTo>
                  <a:pt x="31064" y="79"/>
                </a:lnTo>
                <a:lnTo>
                  <a:pt x="44625" y="122"/>
                </a:lnTo>
                <a:lnTo>
                  <a:pt x="58415" y="18"/>
                </a:lnTo>
                <a:lnTo>
                  <a:pt x="62815" y="76"/>
                </a:lnTo>
                <a:lnTo>
                  <a:pt x="66065" y="170"/>
                </a:lnTo>
                <a:lnTo>
                  <a:pt x="68619" y="226"/>
                </a:lnTo>
                <a:lnTo>
                  <a:pt x="70690" y="245"/>
                </a:lnTo>
                <a:lnTo>
                  <a:pt x="72679" y="297"/>
                </a:lnTo>
                <a:lnTo>
                  <a:pt x="74431" y="156"/>
                </a:lnTo>
                <a:lnTo>
                  <a:pt x="75949" y="367"/>
                </a:lnTo>
                <a:lnTo>
                  <a:pt x="77341" y="368"/>
                </a:lnTo>
                <a:lnTo>
                  <a:pt x="78576" y="501"/>
                </a:lnTo>
                <a:lnTo>
                  <a:pt x="79690" y="348"/>
                </a:lnTo>
                <a:lnTo>
                  <a:pt x="80895" y="463"/>
                </a:lnTo>
                <a:lnTo>
                  <a:pt x="81975" y="572"/>
                </a:lnTo>
                <a:lnTo>
                  <a:pt x="82747" y="733"/>
                </a:lnTo>
                <a:lnTo>
                  <a:pt x="83580" y="740"/>
                </a:lnTo>
                <a:lnTo>
                  <a:pt x="84494" y="820"/>
                </a:lnTo>
                <a:lnTo>
                  <a:pt x="85185" y="1064"/>
                </a:lnTo>
                <a:lnTo>
                  <a:pt x="85708" y="1051"/>
                </a:lnTo>
                <a:lnTo>
                  <a:pt x="86290" y="1210"/>
                </a:lnTo>
                <a:lnTo>
                  <a:pt x="86996" y="1342"/>
                </a:lnTo>
                <a:lnTo>
                  <a:pt x="87303" y="1489"/>
                </a:lnTo>
                <a:lnTo>
                  <a:pt x="87731" y="1736"/>
                </a:lnTo>
                <a:lnTo>
                  <a:pt x="88213" y="1854"/>
                </a:lnTo>
                <a:lnTo>
                  <a:pt x="88451" y="2001"/>
                </a:lnTo>
                <a:lnTo>
                  <a:pt x="88666" y="2255"/>
                </a:lnTo>
                <a:lnTo>
                  <a:pt x="89104" y="2398"/>
                </a:lnTo>
                <a:lnTo>
                  <a:pt x="89120" y="2677"/>
                </a:lnTo>
                <a:lnTo>
                  <a:pt x="89284" y="3049"/>
                </a:lnTo>
                <a:lnTo>
                  <a:pt x="89272" y="3726"/>
                </a:lnTo>
                <a:lnTo>
                  <a:pt x="89367" y="5133"/>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8677016" y="2533802"/>
            <a:ext cx="109179" cy="76352"/>
          </a:xfrm>
          <a:custGeom>
            <a:avLst/>
            <a:gdLst/>
            <a:ahLst/>
            <a:cxnLst/>
            <a:rect l="l" t="t" r="r" b="b"/>
            <a:pathLst>
              <a:path w="1194" h="835">
                <a:moveTo>
                  <a:pt x="1194" y="0"/>
                </a:moveTo>
                <a:lnTo>
                  <a:pt x="972" y="248"/>
                </a:lnTo>
                <a:lnTo>
                  <a:pt x="699" y="466"/>
                </a:lnTo>
                <a:lnTo>
                  <a:pt x="375" y="660"/>
                </a:lnTo>
                <a:lnTo>
                  <a:pt x="0" y="83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7446691" y="2718968"/>
            <a:ext cx="493867" cy="18928"/>
          </a:xfrm>
          <a:custGeom>
            <a:avLst/>
            <a:gdLst/>
            <a:ahLst/>
            <a:cxnLst/>
            <a:rect l="l" t="t" r="r" b="b"/>
            <a:pathLst>
              <a:path w="5401" h="207">
                <a:moveTo>
                  <a:pt x="5401" y="0"/>
                </a:moveTo>
                <a:lnTo>
                  <a:pt x="4223" y="61"/>
                </a:lnTo>
                <a:lnTo>
                  <a:pt x="2941" y="116"/>
                </a:lnTo>
                <a:lnTo>
                  <a:pt x="1539" y="165"/>
                </a:lnTo>
                <a:lnTo>
                  <a:pt x="0" y="20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885767" y="2734056"/>
            <a:ext cx="671078" cy="12344"/>
          </a:xfrm>
          <a:custGeom>
            <a:avLst/>
            <a:gdLst/>
            <a:ahLst/>
            <a:cxnLst/>
            <a:rect l="l" t="t" r="r" b="b"/>
            <a:pathLst>
              <a:path w="7339" h="135">
                <a:moveTo>
                  <a:pt x="7339" y="135"/>
                </a:moveTo>
                <a:lnTo>
                  <a:pt x="5157" y="110"/>
                </a:lnTo>
                <a:lnTo>
                  <a:pt x="3245" y="79"/>
                </a:lnTo>
                <a:lnTo>
                  <a:pt x="1539" y="42"/>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61878" y="2594153"/>
            <a:ext cx="166787" cy="56144"/>
          </a:xfrm>
          <a:custGeom>
            <a:avLst/>
            <a:gdLst/>
            <a:ahLst/>
            <a:cxnLst/>
            <a:rect l="l" t="t" r="r" b="b"/>
            <a:pathLst>
              <a:path w="1824" h="614">
                <a:moveTo>
                  <a:pt x="1824" y="614"/>
                </a:moveTo>
                <a:lnTo>
                  <a:pt x="1286" y="480"/>
                </a:lnTo>
                <a:lnTo>
                  <a:pt x="804" y="334"/>
                </a:lnTo>
                <a:lnTo>
                  <a:pt x="375" y="175"/>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86989" y="1961845"/>
            <a:ext cx="109179" cy="76352"/>
          </a:xfrm>
          <a:custGeom>
            <a:avLst/>
            <a:gdLst/>
            <a:ahLst/>
            <a:cxnLst/>
            <a:rect l="l" t="t" r="r" b="b"/>
            <a:pathLst>
              <a:path w="1194" h="835">
                <a:moveTo>
                  <a:pt x="0" y="835"/>
                </a:moveTo>
                <a:lnTo>
                  <a:pt x="222" y="587"/>
                </a:lnTo>
                <a:lnTo>
                  <a:pt x="495" y="369"/>
                </a:lnTo>
                <a:lnTo>
                  <a:pt x="819" y="175"/>
                </a:lnTo>
                <a:lnTo>
                  <a:pt x="1194"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532626" y="1834104"/>
            <a:ext cx="493867" cy="18928"/>
          </a:xfrm>
          <a:custGeom>
            <a:avLst/>
            <a:gdLst/>
            <a:ahLst/>
            <a:cxnLst/>
            <a:rect l="l" t="t" r="r" b="b"/>
            <a:pathLst>
              <a:path w="5401" h="207">
                <a:moveTo>
                  <a:pt x="0" y="207"/>
                </a:moveTo>
                <a:lnTo>
                  <a:pt x="1178" y="146"/>
                </a:lnTo>
                <a:lnTo>
                  <a:pt x="2460" y="91"/>
                </a:lnTo>
                <a:lnTo>
                  <a:pt x="3862" y="42"/>
                </a:lnTo>
                <a:lnTo>
                  <a:pt x="5401"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6916339" y="1825600"/>
            <a:ext cx="671078" cy="12344"/>
          </a:xfrm>
          <a:custGeom>
            <a:avLst/>
            <a:gdLst/>
            <a:ahLst/>
            <a:cxnLst/>
            <a:rect l="l" t="t" r="r" b="b"/>
            <a:pathLst>
              <a:path w="7339" h="135">
                <a:moveTo>
                  <a:pt x="0" y="0"/>
                </a:moveTo>
                <a:lnTo>
                  <a:pt x="2182" y="25"/>
                </a:lnTo>
                <a:lnTo>
                  <a:pt x="4094" y="56"/>
                </a:lnTo>
                <a:lnTo>
                  <a:pt x="5800" y="93"/>
                </a:lnTo>
                <a:lnTo>
                  <a:pt x="7339" y="13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8544519" y="1921703"/>
            <a:ext cx="166787" cy="56144"/>
          </a:xfrm>
          <a:custGeom>
            <a:avLst/>
            <a:gdLst/>
            <a:ahLst/>
            <a:cxnLst/>
            <a:rect l="l" t="t" r="r" b="b"/>
            <a:pathLst>
              <a:path w="1824" h="614">
                <a:moveTo>
                  <a:pt x="0" y="0"/>
                </a:moveTo>
                <a:lnTo>
                  <a:pt x="538" y="134"/>
                </a:lnTo>
                <a:lnTo>
                  <a:pt x="1020" y="280"/>
                </a:lnTo>
                <a:lnTo>
                  <a:pt x="1449" y="439"/>
                </a:lnTo>
                <a:lnTo>
                  <a:pt x="1824" y="61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Narrative → reproduction"/>
          <p:cNvSpPr txBox="1"/>
          <p:nvPr/>
        </p:nvSpPr>
        <p:spPr>
          <a:xfrm>
            <a:off x="813816" y="1945259"/>
            <a:ext cx="2651760" cy="68148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Narrative →</a:t>
            </a:r>
            <a:br/>
            <a:r>
              <a:rPr sz="1900" b="1">
                <a:solidFill>
                  <a:srgbClr val="4E7892"/>
                </a:solidFill>
                <a:latin typeface="Trebuchet MS"/>
              </a:rPr>
              <a:t>reproduction</a:t>
            </a:r>
          </a:p>
        </p:txBody>
      </p:sp>
      <p:sp>
        <p:nvSpPr>
          <p:cNvPr id="24" name="body: Rebuild the scenario in a sandbox with the same tools and bounda"/>
          <p:cNvSpPr txBox="1"/>
          <p:nvPr/>
        </p:nvSpPr>
        <p:spPr>
          <a:xfrm>
            <a:off x="3675887" y="1945259"/>
            <a:ext cx="4928616"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Rebuild the scenario in a sandbox with the</a:t>
            </a:r>
            <a:br/>
            <a:r>
              <a:rPr sz="1900" b="0">
                <a:solidFill>
                  <a:srgbClr val="293E46"/>
                </a:solidFill>
                <a:latin typeface="Trebuchet MS"/>
              </a:rPr>
              <a:t>same tools and boundary</a:t>
            </a:r>
          </a:p>
        </p:txBody>
      </p:sp>
      <p:sp>
        <p:nvSpPr>
          <p:cNvPr id="25" name="Rounded Rectangle 24"/>
          <p:cNvSpPr/>
          <p:nvPr/>
        </p:nvSpPr>
        <p:spPr>
          <a:xfrm>
            <a:off x="640080" y="2935224"/>
            <a:ext cx="8193024" cy="950976"/>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656996" y="2939613"/>
            <a:ext cx="8170713" cy="945490"/>
          </a:xfrm>
          <a:custGeom>
            <a:avLst/>
            <a:gdLst/>
            <a:ahLst/>
            <a:cxnLst/>
            <a:rect l="l" t="t" r="r" b="b"/>
            <a:pathLst>
              <a:path w="89356" h="10340">
                <a:moveTo>
                  <a:pt x="89233" y="5121"/>
                </a:moveTo>
                <a:lnTo>
                  <a:pt x="89356" y="6812"/>
                </a:lnTo>
                <a:lnTo>
                  <a:pt x="89263" y="7118"/>
                </a:lnTo>
                <a:lnTo>
                  <a:pt x="88962" y="7591"/>
                </a:lnTo>
                <a:lnTo>
                  <a:pt x="88840" y="7889"/>
                </a:lnTo>
                <a:lnTo>
                  <a:pt x="88644" y="8101"/>
                </a:lnTo>
                <a:lnTo>
                  <a:pt x="88428" y="8235"/>
                </a:lnTo>
                <a:lnTo>
                  <a:pt x="87976" y="8597"/>
                </a:lnTo>
                <a:lnTo>
                  <a:pt x="87779" y="8645"/>
                </a:lnTo>
                <a:lnTo>
                  <a:pt x="87259" y="8836"/>
                </a:lnTo>
                <a:lnTo>
                  <a:pt x="86873" y="9000"/>
                </a:lnTo>
                <a:lnTo>
                  <a:pt x="86241" y="9050"/>
                </a:lnTo>
                <a:lnTo>
                  <a:pt x="85757" y="9220"/>
                </a:lnTo>
                <a:lnTo>
                  <a:pt x="84946" y="9441"/>
                </a:lnTo>
                <a:lnTo>
                  <a:pt x="84410" y="9544"/>
                </a:lnTo>
                <a:lnTo>
                  <a:pt x="83436" y="9465"/>
                </a:lnTo>
                <a:lnTo>
                  <a:pt x="82642" y="9615"/>
                </a:lnTo>
                <a:lnTo>
                  <a:pt x="81644" y="9817"/>
                </a:lnTo>
                <a:lnTo>
                  <a:pt x="80775" y="9747"/>
                </a:lnTo>
                <a:lnTo>
                  <a:pt x="79542" y="9819"/>
                </a:lnTo>
                <a:lnTo>
                  <a:pt x="78391" y="10009"/>
                </a:lnTo>
                <a:lnTo>
                  <a:pt x="77311" y="10044"/>
                </a:lnTo>
                <a:lnTo>
                  <a:pt x="75904" y="10005"/>
                </a:lnTo>
                <a:lnTo>
                  <a:pt x="74144" y="10151"/>
                </a:lnTo>
                <a:lnTo>
                  <a:pt x="72658" y="10182"/>
                </a:lnTo>
                <a:lnTo>
                  <a:pt x="70509" y="10151"/>
                </a:lnTo>
                <a:lnTo>
                  <a:pt x="68391" y="10167"/>
                </a:lnTo>
                <a:lnTo>
                  <a:pt x="66007" y="10272"/>
                </a:lnTo>
                <a:lnTo>
                  <a:pt x="62816" y="10313"/>
                </a:lnTo>
                <a:lnTo>
                  <a:pt x="58342" y="10278"/>
                </a:lnTo>
                <a:lnTo>
                  <a:pt x="44649" y="10233"/>
                </a:lnTo>
                <a:lnTo>
                  <a:pt x="30920" y="10194"/>
                </a:lnTo>
                <a:lnTo>
                  <a:pt x="26631" y="10340"/>
                </a:lnTo>
                <a:lnTo>
                  <a:pt x="23422" y="10114"/>
                </a:lnTo>
                <a:lnTo>
                  <a:pt x="20715" y="10245"/>
                </a:lnTo>
                <a:lnTo>
                  <a:pt x="18488" y="10065"/>
                </a:lnTo>
                <a:lnTo>
                  <a:pt x="16739" y="10115"/>
                </a:lnTo>
                <a:lnTo>
                  <a:pt x="15003" y="10182"/>
                </a:lnTo>
                <a:lnTo>
                  <a:pt x="13370" y="10077"/>
                </a:lnTo>
                <a:lnTo>
                  <a:pt x="11980" y="9909"/>
                </a:lnTo>
                <a:lnTo>
                  <a:pt x="10683" y="10020"/>
                </a:lnTo>
                <a:lnTo>
                  <a:pt x="9664" y="9999"/>
                </a:lnTo>
                <a:lnTo>
                  <a:pt x="8606" y="9845"/>
                </a:lnTo>
                <a:lnTo>
                  <a:pt x="7493" y="9733"/>
                </a:lnTo>
                <a:lnTo>
                  <a:pt x="6625" y="9598"/>
                </a:lnTo>
                <a:lnTo>
                  <a:pt x="5814" y="9612"/>
                </a:lnTo>
                <a:lnTo>
                  <a:pt x="4928" y="9573"/>
                </a:lnTo>
                <a:lnTo>
                  <a:pt x="4152" y="9330"/>
                </a:lnTo>
                <a:lnTo>
                  <a:pt x="3498" y="9141"/>
                </a:lnTo>
                <a:lnTo>
                  <a:pt x="3057" y="9179"/>
                </a:lnTo>
                <a:lnTo>
                  <a:pt x="2310" y="9106"/>
                </a:lnTo>
                <a:lnTo>
                  <a:pt x="1922" y="8946"/>
                </a:lnTo>
                <a:lnTo>
                  <a:pt x="1481" y="8636"/>
                </a:lnTo>
                <a:lnTo>
                  <a:pt x="1237" y="8451"/>
                </a:lnTo>
                <a:lnTo>
                  <a:pt x="952" y="8401"/>
                </a:lnTo>
                <a:lnTo>
                  <a:pt x="541" y="8085"/>
                </a:lnTo>
                <a:lnTo>
                  <a:pt x="204" y="7907"/>
                </a:lnTo>
                <a:lnTo>
                  <a:pt x="282" y="7478"/>
                </a:lnTo>
                <a:lnTo>
                  <a:pt x="120" y="7137"/>
                </a:lnTo>
                <a:lnTo>
                  <a:pt x="71" y="6792"/>
                </a:lnTo>
                <a:lnTo>
                  <a:pt x="52" y="5128"/>
                </a:lnTo>
                <a:lnTo>
                  <a:pt x="0" y="3523"/>
                </a:lnTo>
                <a:lnTo>
                  <a:pt x="36" y="3028"/>
                </a:lnTo>
                <a:lnTo>
                  <a:pt x="259" y="2721"/>
                </a:lnTo>
                <a:lnTo>
                  <a:pt x="259" y="2553"/>
                </a:lnTo>
                <a:lnTo>
                  <a:pt x="471" y="2076"/>
                </a:lnTo>
                <a:lnTo>
                  <a:pt x="809" y="2083"/>
                </a:lnTo>
                <a:lnTo>
                  <a:pt x="1031" y="1834"/>
                </a:lnTo>
                <a:lnTo>
                  <a:pt x="1601" y="1605"/>
                </a:lnTo>
                <a:lnTo>
                  <a:pt x="1852" y="1540"/>
                </a:lnTo>
                <a:lnTo>
                  <a:pt x="2523" y="1231"/>
                </a:lnTo>
                <a:lnTo>
                  <a:pt x="3036" y="1177"/>
                </a:lnTo>
                <a:lnTo>
                  <a:pt x="3671" y="1012"/>
                </a:lnTo>
                <a:lnTo>
                  <a:pt x="4347" y="872"/>
                </a:lnTo>
                <a:lnTo>
                  <a:pt x="4863" y="737"/>
                </a:lnTo>
                <a:lnTo>
                  <a:pt x="5770" y="684"/>
                </a:lnTo>
                <a:lnTo>
                  <a:pt x="6468" y="603"/>
                </a:lnTo>
                <a:lnTo>
                  <a:pt x="7417" y="501"/>
                </a:lnTo>
                <a:lnTo>
                  <a:pt x="8554" y="486"/>
                </a:lnTo>
                <a:lnTo>
                  <a:pt x="9584" y="308"/>
                </a:lnTo>
                <a:lnTo>
                  <a:pt x="10825" y="457"/>
                </a:lnTo>
                <a:lnTo>
                  <a:pt x="11986" y="322"/>
                </a:lnTo>
                <a:lnTo>
                  <a:pt x="13477" y="172"/>
                </a:lnTo>
                <a:lnTo>
                  <a:pt x="14944" y="216"/>
                </a:lnTo>
                <a:lnTo>
                  <a:pt x="16693" y="212"/>
                </a:lnTo>
                <a:lnTo>
                  <a:pt x="18702" y="159"/>
                </a:lnTo>
                <a:lnTo>
                  <a:pt x="20870" y="112"/>
                </a:lnTo>
                <a:lnTo>
                  <a:pt x="23442" y="75"/>
                </a:lnTo>
                <a:lnTo>
                  <a:pt x="26537" y="131"/>
                </a:lnTo>
                <a:lnTo>
                  <a:pt x="30970" y="105"/>
                </a:lnTo>
                <a:lnTo>
                  <a:pt x="44657" y="96"/>
                </a:lnTo>
                <a:lnTo>
                  <a:pt x="58470" y="30"/>
                </a:lnTo>
                <a:lnTo>
                  <a:pt x="62687" y="166"/>
                </a:lnTo>
                <a:lnTo>
                  <a:pt x="65802" y="0"/>
                </a:lnTo>
                <a:lnTo>
                  <a:pt x="68495" y="113"/>
                </a:lnTo>
                <a:lnTo>
                  <a:pt x="70674" y="254"/>
                </a:lnTo>
                <a:lnTo>
                  <a:pt x="72579" y="249"/>
                </a:lnTo>
                <a:lnTo>
                  <a:pt x="74167" y="300"/>
                </a:lnTo>
                <a:lnTo>
                  <a:pt x="75744" y="247"/>
                </a:lnTo>
                <a:lnTo>
                  <a:pt x="77259" y="271"/>
                </a:lnTo>
                <a:lnTo>
                  <a:pt x="78584" y="344"/>
                </a:lnTo>
                <a:lnTo>
                  <a:pt x="79580" y="359"/>
                </a:lnTo>
                <a:lnTo>
                  <a:pt x="80665" y="508"/>
                </a:lnTo>
                <a:lnTo>
                  <a:pt x="81638" y="556"/>
                </a:lnTo>
                <a:lnTo>
                  <a:pt x="82546" y="655"/>
                </a:lnTo>
                <a:lnTo>
                  <a:pt x="83391" y="640"/>
                </a:lnTo>
                <a:lnTo>
                  <a:pt x="84248" y="707"/>
                </a:lnTo>
                <a:lnTo>
                  <a:pt x="85059" y="943"/>
                </a:lnTo>
                <a:lnTo>
                  <a:pt x="85615" y="938"/>
                </a:lnTo>
                <a:lnTo>
                  <a:pt x="86320" y="1096"/>
                </a:lnTo>
                <a:lnTo>
                  <a:pt x="86700" y="1225"/>
                </a:lnTo>
                <a:lnTo>
                  <a:pt x="87270" y="1481"/>
                </a:lnTo>
                <a:lnTo>
                  <a:pt x="87815" y="1720"/>
                </a:lnTo>
                <a:lnTo>
                  <a:pt x="88097" y="1824"/>
                </a:lnTo>
                <a:lnTo>
                  <a:pt x="88357" y="2001"/>
                </a:lnTo>
                <a:lnTo>
                  <a:pt x="88618" y="2114"/>
                </a:lnTo>
                <a:lnTo>
                  <a:pt x="88832" y="2466"/>
                </a:lnTo>
                <a:lnTo>
                  <a:pt x="89041" y="2762"/>
                </a:lnTo>
                <a:lnTo>
                  <a:pt x="89235" y="3147"/>
                </a:lnTo>
                <a:lnTo>
                  <a:pt x="89144" y="3660"/>
                </a:lnTo>
                <a:lnTo>
                  <a:pt x="89186" y="5064"/>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645566" y="2940436"/>
            <a:ext cx="8183880" cy="941192"/>
          </a:xfrm>
          <a:custGeom>
            <a:avLst/>
            <a:gdLst/>
            <a:ahLst/>
            <a:cxnLst/>
            <a:rect l="l" t="t" r="r" b="b"/>
            <a:pathLst>
              <a:path w="89500" h="10293">
                <a:moveTo>
                  <a:pt x="89478" y="5101"/>
                </a:moveTo>
                <a:lnTo>
                  <a:pt x="89500" y="6642"/>
                </a:lnTo>
                <a:lnTo>
                  <a:pt x="89431" y="7317"/>
                </a:lnTo>
                <a:lnTo>
                  <a:pt x="89197" y="7456"/>
                </a:lnTo>
                <a:lnTo>
                  <a:pt x="89057" y="7894"/>
                </a:lnTo>
                <a:lnTo>
                  <a:pt x="88823" y="8185"/>
                </a:lnTo>
                <a:lnTo>
                  <a:pt x="88645" y="8287"/>
                </a:lnTo>
                <a:lnTo>
                  <a:pt x="88164" y="8615"/>
                </a:lnTo>
                <a:lnTo>
                  <a:pt x="87885" y="8581"/>
                </a:lnTo>
                <a:lnTo>
                  <a:pt x="87348" y="8944"/>
                </a:lnTo>
                <a:lnTo>
                  <a:pt x="86914" y="9006"/>
                </a:lnTo>
                <a:lnTo>
                  <a:pt x="86274" y="9233"/>
                </a:lnTo>
                <a:lnTo>
                  <a:pt x="85910" y="9346"/>
                </a:lnTo>
                <a:lnTo>
                  <a:pt x="85231" y="9454"/>
                </a:lnTo>
                <a:lnTo>
                  <a:pt x="84317" y="9491"/>
                </a:lnTo>
                <a:lnTo>
                  <a:pt x="83619" y="9578"/>
                </a:lnTo>
                <a:lnTo>
                  <a:pt x="82897" y="9596"/>
                </a:lnTo>
                <a:lnTo>
                  <a:pt x="81990" y="9808"/>
                </a:lnTo>
                <a:lnTo>
                  <a:pt x="80886" y="9764"/>
                </a:lnTo>
                <a:lnTo>
                  <a:pt x="79676" y="9982"/>
                </a:lnTo>
                <a:lnTo>
                  <a:pt x="78709" y="9989"/>
                </a:lnTo>
                <a:lnTo>
                  <a:pt x="77220" y="9915"/>
                </a:lnTo>
                <a:lnTo>
                  <a:pt x="75855" y="10088"/>
                </a:lnTo>
                <a:lnTo>
                  <a:pt x="74409" y="10112"/>
                </a:lnTo>
                <a:lnTo>
                  <a:pt x="72684" y="10193"/>
                </a:lnTo>
                <a:lnTo>
                  <a:pt x="70855" y="10052"/>
                </a:lnTo>
                <a:lnTo>
                  <a:pt x="68489" y="10232"/>
                </a:lnTo>
                <a:lnTo>
                  <a:pt x="66075" y="10288"/>
                </a:lnTo>
                <a:lnTo>
                  <a:pt x="62805" y="10097"/>
                </a:lnTo>
                <a:lnTo>
                  <a:pt x="58535" y="10293"/>
                </a:lnTo>
                <a:lnTo>
                  <a:pt x="44611" y="10191"/>
                </a:lnTo>
                <a:lnTo>
                  <a:pt x="31094" y="10244"/>
                </a:lnTo>
                <a:lnTo>
                  <a:pt x="26557" y="10277"/>
                </a:lnTo>
                <a:lnTo>
                  <a:pt x="23514" y="10273"/>
                </a:lnTo>
                <a:lnTo>
                  <a:pt x="20975" y="10270"/>
                </a:lnTo>
                <a:lnTo>
                  <a:pt x="18755" y="10143"/>
                </a:lnTo>
                <a:lnTo>
                  <a:pt x="16745" y="10120"/>
                </a:lnTo>
                <a:lnTo>
                  <a:pt x="15116" y="10087"/>
                </a:lnTo>
                <a:lnTo>
                  <a:pt x="13563" y="10035"/>
                </a:lnTo>
                <a:lnTo>
                  <a:pt x="12155" y="9997"/>
                </a:lnTo>
                <a:lnTo>
                  <a:pt x="10880" y="10018"/>
                </a:lnTo>
                <a:lnTo>
                  <a:pt x="9604" y="9879"/>
                </a:lnTo>
                <a:lnTo>
                  <a:pt x="8520" y="9795"/>
                </a:lnTo>
                <a:lnTo>
                  <a:pt x="7604" y="9675"/>
                </a:lnTo>
                <a:lnTo>
                  <a:pt x="6593" y="9604"/>
                </a:lnTo>
                <a:lnTo>
                  <a:pt x="5725" y="9490"/>
                </a:lnTo>
                <a:lnTo>
                  <a:pt x="4938" y="9569"/>
                </a:lnTo>
                <a:lnTo>
                  <a:pt x="4233" y="9380"/>
                </a:lnTo>
                <a:lnTo>
                  <a:pt x="3602" y="9182"/>
                </a:lnTo>
                <a:lnTo>
                  <a:pt x="3072" y="9072"/>
                </a:lnTo>
                <a:lnTo>
                  <a:pt x="2552" y="9038"/>
                </a:lnTo>
                <a:lnTo>
                  <a:pt x="2052" y="8935"/>
                </a:lnTo>
                <a:lnTo>
                  <a:pt x="1756" y="8602"/>
                </a:lnTo>
                <a:lnTo>
                  <a:pt x="1368" y="8395"/>
                </a:lnTo>
                <a:lnTo>
                  <a:pt x="983" y="8412"/>
                </a:lnTo>
                <a:lnTo>
                  <a:pt x="797" y="8215"/>
                </a:lnTo>
                <a:lnTo>
                  <a:pt x="481" y="7967"/>
                </a:lnTo>
                <a:lnTo>
                  <a:pt x="224" y="7639"/>
                </a:lnTo>
                <a:lnTo>
                  <a:pt x="177" y="7270"/>
                </a:lnTo>
                <a:lnTo>
                  <a:pt x="93" y="6642"/>
                </a:lnTo>
                <a:lnTo>
                  <a:pt x="68" y="5107"/>
                </a:lnTo>
                <a:lnTo>
                  <a:pt x="0" y="3673"/>
                </a:lnTo>
                <a:lnTo>
                  <a:pt x="243" y="2973"/>
                </a:lnTo>
                <a:lnTo>
                  <a:pt x="277" y="2743"/>
                </a:lnTo>
                <a:lnTo>
                  <a:pt x="347" y="2404"/>
                </a:lnTo>
                <a:lnTo>
                  <a:pt x="684" y="2079"/>
                </a:lnTo>
                <a:lnTo>
                  <a:pt x="912" y="2009"/>
                </a:lnTo>
                <a:lnTo>
                  <a:pt x="1148" y="1877"/>
                </a:lnTo>
                <a:lnTo>
                  <a:pt x="1635" y="1511"/>
                </a:lnTo>
                <a:lnTo>
                  <a:pt x="2101" y="1333"/>
                </a:lnTo>
                <a:lnTo>
                  <a:pt x="2647" y="1196"/>
                </a:lnTo>
                <a:lnTo>
                  <a:pt x="3059" y="1277"/>
                </a:lnTo>
                <a:lnTo>
                  <a:pt x="3602" y="1093"/>
                </a:lnTo>
                <a:lnTo>
                  <a:pt x="4312" y="953"/>
                </a:lnTo>
                <a:lnTo>
                  <a:pt x="5044" y="787"/>
                </a:lnTo>
                <a:lnTo>
                  <a:pt x="5779" y="633"/>
                </a:lnTo>
                <a:lnTo>
                  <a:pt x="6711" y="546"/>
                </a:lnTo>
                <a:lnTo>
                  <a:pt x="7743" y="490"/>
                </a:lnTo>
                <a:lnTo>
                  <a:pt x="8703" y="524"/>
                </a:lnTo>
                <a:lnTo>
                  <a:pt x="9791" y="467"/>
                </a:lnTo>
                <a:lnTo>
                  <a:pt x="10901" y="450"/>
                </a:lnTo>
                <a:lnTo>
                  <a:pt x="12086" y="199"/>
                </a:lnTo>
                <a:lnTo>
                  <a:pt x="13692" y="243"/>
                </a:lnTo>
                <a:lnTo>
                  <a:pt x="15000" y="91"/>
                </a:lnTo>
                <a:lnTo>
                  <a:pt x="16843" y="219"/>
                </a:lnTo>
                <a:lnTo>
                  <a:pt x="18827" y="76"/>
                </a:lnTo>
                <a:lnTo>
                  <a:pt x="20960" y="45"/>
                </a:lnTo>
                <a:lnTo>
                  <a:pt x="23585" y="174"/>
                </a:lnTo>
                <a:lnTo>
                  <a:pt x="26631" y="187"/>
                </a:lnTo>
                <a:lnTo>
                  <a:pt x="31030" y="154"/>
                </a:lnTo>
                <a:lnTo>
                  <a:pt x="44682" y="72"/>
                </a:lnTo>
                <a:lnTo>
                  <a:pt x="58488" y="59"/>
                </a:lnTo>
                <a:lnTo>
                  <a:pt x="62884" y="98"/>
                </a:lnTo>
                <a:lnTo>
                  <a:pt x="66083" y="0"/>
                </a:lnTo>
                <a:lnTo>
                  <a:pt x="68586" y="113"/>
                </a:lnTo>
                <a:lnTo>
                  <a:pt x="70865" y="159"/>
                </a:lnTo>
                <a:lnTo>
                  <a:pt x="72618" y="155"/>
                </a:lnTo>
                <a:lnTo>
                  <a:pt x="74375" y="120"/>
                </a:lnTo>
                <a:lnTo>
                  <a:pt x="75788" y="360"/>
                </a:lnTo>
                <a:lnTo>
                  <a:pt x="77390" y="206"/>
                </a:lnTo>
                <a:lnTo>
                  <a:pt x="78648" y="399"/>
                </a:lnTo>
                <a:lnTo>
                  <a:pt x="79657" y="437"/>
                </a:lnTo>
                <a:lnTo>
                  <a:pt x="80873" y="519"/>
                </a:lnTo>
                <a:lnTo>
                  <a:pt x="81985" y="646"/>
                </a:lnTo>
                <a:lnTo>
                  <a:pt x="82894" y="662"/>
                </a:lnTo>
                <a:lnTo>
                  <a:pt x="83552" y="833"/>
                </a:lnTo>
                <a:lnTo>
                  <a:pt x="84396" y="816"/>
                </a:lnTo>
                <a:lnTo>
                  <a:pt x="85256" y="859"/>
                </a:lnTo>
                <a:lnTo>
                  <a:pt x="85786" y="948"/>
                </a:lnTo>
                <a:lnTo>
                  <a:pt x="86321" y="1218"/>
                </a:lnTo>
                <a:lnTo>
                  <a:pt x="86840" y="1371"/>
                </a:lnTo>
                <a:lnTo>
                  <a:pt x="87290" y="1452"/>
                </a:lnTo>
                <a:lnTo>
                  <a:pt x="87790" y="1512"/>
                </a:lnTo>
                <a:lnTo>
                  <a:pt x="88114" y="1803"/>
                </a:lnTo>
                <a:lnTo>
                  <a:pt x="88474" y="2010"/>
                </a:lnTo>
                <a:lnTo>
                  <a:pt x="88762" y="2066"/>
                </a:lnTo>
                <a:lnTo>
                  <a:pt x="88915" y="2387"/>
                </a:lnTo>
                <a:lnTo>
                  <a:pt x="89080" y="2695"/>
                </a:lnTo>
                <a:lnTo>
                  <a:pt x="89229" y="3176"/>
                </a:lnTo>
                <a:lnTo>
                  <a:pt x="89365" y="3649"/>
                </a:lnTo>
                <a:lnTo>
                  <a:pt x="89481" y="5166"/>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8677016" y="3658514"/>
            <a:ext cx="109179" cy="76352"/>
          </a:xfrm>
          <a:custGeom>
            <a:avLst/>
            <a:gdLst/>
            <a:ahLst/>
            <a:cxnLst/>
            <a:rect l="l" t="t" r="r" b="b"/>
            <a:pathLst>
              <a:path w="1194" h="835">
                <a:moveTo>
                  <a:pt x="1194" y="0"/>
                </a:moveTo>
                <a:lnTo>
                  <a:pt x="972" y="248"/>
                </a:lnTo>
                <a:lnTo>
                  <a:pt x="699" y="466"/>
                </a:lnTo>
                <a:lnTo>
                  <a:pt x="375" y="660"/>
                </a:lnTo>
                <a:lnTo>
                  <a:pt x="0" y="835"/>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7446691" y="3843680"/>
            <a:ext cx="493867" cy="18928"/>
          </a:xfrm>
          <a:custGeom>
            <a:avLst/>
            <a:gdLst/>
            <a:ahLst/>
            <a:cxnLst/>
            <a:rect l="l" t="t" r="r" b="b"/>
            <a:pathLst>
              <a:path w="5401" h="207">
                <a:moveTo>
                  <a:pt x="5401" y="0"/>
                </a:moveTo>
                <a:lnTo>
                  <a:pt x="4223" y="61"/>
                </a:lnTo>
                <a:lnTo>
                  <a:pt x="2941" y="116"/>
                </a:lnTo>
                <a:lnTo>
                  <a:pt x="1539" y="165"/>
                </a:lnTo>
                <a:lnTo>
                  <a:pt x="0" y="207"/>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1885767" y="3858768"/>
            <a:ext cx="671078" cy="12344"/>
          </a:xfrm>
          <a:custGeom>
            <a:avLst/>
            <a:gdLst/>
            <a:ahLst/>
            <a:cxnLst/>
            <a:rect l="l" t="t" r="r" b="b"/>
            <a:pathLst>
              <a:path w="7339" h="135">
                <a:moveTo>
                  <a:pt x="7339" y="135"/>
                </a:moveTo>
                <a:lnTo>
                  <a:pt x="5157" y="110"/>
                </a:lnTo>
                <a:lnTo>
                  <a:pt x="3245" y="79"/>
                </a:lnTo>
                <a:lnTo>
                  <a:pt x="1539" y="42"/>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761878" y="3718865"/>
            <a:ext cx="166787" cy="56144"/>
          </a:xfrm>
          <a:custGeom>
            <a:avLst/>
            <a:gdLst/>
            <a:ahLst/>
            <a:cxnLst/>
            <a:rect l="l" t="t" r="r" b="b"/>
            <a:pathLst>
              <a:path w="1824" h="614">
                <a:moveTo>
                  <a:pt x="1824" y="614"/>
                </a:moveTo>
                <a:lnTo>
                  <a:pt x="1286" y="480"/>
                </a:lnTo>
                <a:lnTo>
                  <a:pt x="804" y="334"/>
                </a:lnTo>
                <a:lnTo>
                  <a:pt x="375" y="175"/>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86989" y="3086557"/>
            <a:ext cx="109179" cy="76352"/>
          </a:xfrm>
          <a:custGeom>
            <a:avLst/>
            <a:gdLst/>
            <a:ahLst/>
            <a:cxnLst/>
            <a:rect l="l" t="t" r="r" b="b"/>
            <a:pathLst>
              <a:path w="1194" h="835">
                <a:moveTo>
                  <a:pt x="0" y="835"/>
                </a:moveTo>
                <a:lnTo>
                  <a:pt x="222" y="587"/>
                </a:lnTo>
                <a:lnTo>
                  <a:pt x="495" y="369"/>
                </a:lnTo>
                <a:lnTo>
                  <a:pt x="819" y="175"/>
                </a:lnTo>
                <a:lnTo>
                  <a:pt x="1194"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1532626" y="2958816"/>
            <a:ext cx="493867" cy="18928"/>
          </a:xfrm>
          <a:custGeom>
            <a:avLst/>
            <a:gdLst/>
            <a:ahLst/>
            <a:cxnLst/>
            <a:rect l="l" t="t" r="r" b="b"/>
            <a:pathLst>
              <a:path w="5401" h="207">
                <a:moveTo>
                  <a:pt x="0" y="207"/>
                </a:moveTo>
                <a:lnTo>
                  <a:pt x="1178" y="146"/>
                </a:lnTo>
                <a:lnTo>
                  <a:pt x="2460" y="91"/>
                </a:lnTo>
                <a:lnTo>
                  <a:pt x="3862" y="42"/>
                </a:lnTo>
                <a:lnTo>
                  <a:pt x="5401"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6916339" y="2950312"/>
            <a:ext cx="671078" cy="12344"/>
          </a:xfrm>
          <a:custGeom>
            <a:avLst/>
            <a:gdLst/>
            <a:ahLst/>
            <a:cxnLst/>
            <a:rect l="l" t="t" r="r" b="b"/>
            <a:pathLst>
              <a:path w="7339" h="135">
                <a:moveTo>
                  <a:pt x="0" y="0"/>
                </a:moveTo>
                <a:lnTo>
                  <a:pt x="2182" y="25"/>
                </a:lnTo>
                <a:lnTo>
                  <a:pt x="4094" y="56"/>
                </a:lnTo>
                <a:lnTo>
                  <a:pt x="5800" y="93"/>
                </a:lnTo>
                <a:lnTo>
                  <a:pt x="7339" y="135"/>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8544519" y="3046415"/>
            <a:ext cx="166787" cy="56144"/>
          </a:xfrm>
          <a:custGeom>
            <a:avLst/>
            <a:gdLst/>
            <a:ahLst/>
            <a:cxnLst/>
            <a:rect l="l" t="t" r="r" b="b"/>
            <a:pathLst>
              <a:path w="1824" h="614">
                <a:moveTo>
                  <a:pt x="0" y="0"/>
                </a:moveTo>
                <a:lnTo>
                  <a:pt x="538" y="134"/>
                </a:lnTo>
                <a:lnTo>
                  <a:pt x="1020" y="280"/>
                </a:lnTo>
                <a:lnTo>
                  <a:pt x="1449" y="439"/>
                </a:lnTo>
                <a:lnTo>
                  <a:pt x="1824" y="614"/>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ody: Matched family"/>
          <p:cNvSpPr txBox="1"/>
          <p:nvPr/>
        </p:nvSpPr>
        <p:spPr>
          <a:xfrm>
            <a:off x="813816" y="3223196"/>
            <a:ext cx="265176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557B65"/>
                </a:solidFill>
                <a:latin typeface="Trebuchet MS"/>
              </a:rPr>
              <a:t>Matched family</a:t>
            </a:r>
          </a:p>
        </p:txBody>
      </p:sp>
      <p:sp>
        <p:nvSpPr>
          <p:cNvPr id="37" name="body: Feasible, impossible, broken environment, plus a benign twin"/>
          <p:cNvSpPr txBox="1"/>
          <p:nvPr/>
        </p:nvSpPr>
        <p:spPr>
          <a:xfrm>
            <a:off x="3675887" y="3069971"/>
            <a:ext cx="4928616"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Feasible, impossible, broken environment,</a:t>
            </a:r>
            <a:br/>
            <a:r>
              <a:rPr sz="1900" b="0">
                <a:solidFill>
                  <a:srgbClr val="293E46"/>
                </a:solidFill>
                <a:latin typeface="Trebuchet MS"/>
              </a:rPr>
              <a:t>plus a benign twin</a:t>
            </a:r>
          </a:p>
        </p:txBody>
      </p:sp>
      <p:sp>
        <p:nvSpPr>
          <p:cNvPr id="38" name="Rounded Rectangle 37"/>
          <p:cNvSpPr/>
          <p:nvPr/>
        </p:nvSpPr>
        <p:spPr>
          <a:xfrm>
            <a:off x="640080" y="4059935"/>
            <a:ext cx="8193024" cy="950976"/>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646206" y="4060668"/>
            <a:ext cx="8183971" cy="948507"/>
          </a:xfrm>
          <a:custGeom>
            <a:avLst/>
            <a:gdLst/>
            <a:ahLst/>
            <a:cxnLst/>
            <a:rect l="l" t="t" r="r" b="b"/>
            <a:pathLst>
              <a:path w="89501" h="10373">
                <a:moveTo>
                  <a:pt x="89419" y="5156"/>
                </a:moveTo>
                <a:lnTo>
                  <a:pt x="89498" y="6728"/>
                </a:lnTo>
                <a:lnTo>
                  <a:pt x="89359" y="7228"/>
                </a:lnTo>
                <a:lnTo>
                  <a:pt x="89284" y="7681"/>
                </a:lnTo>
                <a:lnTo>
                  <a:pt x="88954" y="7993"/>
                </a:lnTo>
                <a:lnTo>
                  <a:pt x="88718" y="8169"/>
                </a:lnTo>
                <a:lnTo>
                  <a:pt x="88563" y="8380"/>
                </a:lnTo>
                <a:lnTo>
                  <a:pt x="88323" y="8511"/>
                </a:lnTo>
                <a:lnTo>
                  <a:pt x="87795" y="8730"/>
                </a:lnTo>
                <a:lnTo>
                  <a:pt x="87285" y="8962"/>
                </a:lnTo>
                <a:lnTo>
                  <a:pt x="86963" y="8924"/>
                </a:lnTo>
                <a:lnTo>
                  <a:pt x="86253" y="9279"/>
                </a:lnTo>
                <a:lnTo>
                  <a:pt x="85795" y="9200"/>
                </a:lnTo>
                <a:lnTo>
                  <a:pt x="85158" y="9480"/>
                </a:lnTo>
                <a:lnTo>
                  <a:pt x="84313" y="9422"/>
                </a:lnTo>
                <a:lnTo>
                  <a:pt x="83636" y="9528"/>
                </a:lnTo>
                <a:lnTo>
                  <a:pt x="82876" y="9681"/>
                </a:lnTo>
                <a:lnTo>
                  <a:pt x="81745" y="9685"/>
                </a:lnTo>
                <a:lnTo>
                  <a:pt x="80930" y="9861"/>
                </a:lnTo>
                <a:lnTo>
                  <a:pt x="79887" y="9832"/>
                </a:lnTo>
                <a:lnTo>
                  <a:pt x="78625" y="10029"/>
                </a:lnTo>
                <a:lnTo>
                  <a:pt x="77215" y="10110"/>
                </a:lnTo>
                <a:lnTo>
                  <a:pt x="75967" y="9977"/>
                </a:lnTo>
                <a:lnTo>
                  <a:pt x="74433" y="10144"/>
                </a:lnTo>
                <a:lnTo>
                  <a:pt x="72589" y="10149"/>
                </a:lnTo>
                <a:lnTo>
                  <a:pt x="70743" y="10224"/>
                </a:lnTo>
                <a:lnTo>
                  <a:pt x="68604" y="10238"/>
                </a:lnTo>
                <a:lnTo>
                  <a:pt x="65884" y="10202"/>
                </a:lnTo>
                <a:lnTo>
                  <a:pt x="62900" y="10360"/>
                </a:lnTo>
                <a:lnTo>
                  <a:pt x="58526" y="10373"/>
                </a:lnTo>
                <a:lnTo>
                  <a:pt x="44733" y="10298"/>
                </a:lnTo>
                <a:lnTo>
                  <a:pt x="30893" y="10280"/>
                </a:lnTo>
                <a:lnTo>
                  <a:pt x="26585" y="10317"/>
                </a:lnTo>
                <a:lnTo>
                  <a:pt x="23363" y="10350"/>
                </a:lnTo>
                <a:lnTo>
                  <a:pt x="21003" y="10329"/>
                </a:lnTo>
                <a:lnTo>
                  <a:pt x="18614" y="10282"/>
                </a:lnTo>
                <a:lnTo>
                  <a:pt x="16849" y="10277"/>
                </a:lnTo>
                <a:lnTo>
                  <a:pt x="15029" y="10201"/>
                </a:lnTo>
                <a:lnTo>
                  <a:pt x="13524" y="10141"/>
                </a:lnTo>
                <a:lnTo>
                  <a:pt x="12164" y="10063"/>
                </a:lnTo>
                <a:lnTo>
                  <a:pt x="10776" y="9980"/>
                </a:lnTo>
                <a:lnTo>
                  <a:pt x="9758" y="10030"/>
                </a:lnTo>
                <a:lnTo>
                  <a:pt x="8707" y="9951"/>
                </a:lnTo>
                <a:lnTo>
                  <a:pt x="7586" y="9760"/>
                </a:lnTo>
                <a:lnTo>
                  <a:pt x="6567" y="9818"/>
                </a:lnTo>
                <a:lnTo>
                  <a:pt x="5845" y="9595"/>
                </a:lnTo>
                <a:lnTo>
                  <a:pt x="5110" y="9536"/>
                </a:lnTo>
                <a:lnTo>
                  <a:pt x="4408" y="9305"/>
                </a:lnTo>
                <a:lnTo>
                  <a:pt x="3643" y="9377"/>
                </a:lnTo>
                <a:lnTo>
                  <a:pt x="2969" y="9138"/>
                </a:lnTo>
                <a:lnTo>
                  <a:pt x="2534" y="9050"/>
                </a:lnTo>
                <a:lnTo>
                  <a:pt x="1958" y="8901"/>
                </a:lnTo>
                <a:lnTo>
                  <a:pt x="1597" y="8724"/>
                </a:lnTo>
                <a:lnTo>
                  <a:pt x="1207" y="8624"/>
                </a:lnTo>
                <a:lnTo>
                  <a:pt x="1018" y="8328"/>
                </a:lnTo>
                <a:lnTo>
                  <a:pt x="660" y="8098"/>
                </a:lnTo>
                <a:lnTo>
                  <a:pt x="356" y="7986"/>
                </a:lnTo>
                <a:lnTo>
                  <a:pt x="317" y="7638"/>
                </a:lnTo>
                <a:lnTo>
                  <a:pt x="237" y="7289"/>
                </a:lnTo>
                <a:lnTo>
                  <a:pt x="79" y="6731"/>
                </a:lnTo>
                <a:lnTo>
                  <a:pt x="160" y="5307"/>
                </a:lnTo>
                <a:lnTo>
                  <a:pt x="0" y="3565"/>
                </a:lnTo>
                <a:lnTo>
                  <a:pt x="149" y="3129"/>
                </a:lnTo>
                <a:lnTo>
                  <a:pt x="322" y="2697"/>
                </a:lnTo>
                <a:lnTo>
                  <a:pt x="572" y="2547"/>
                </a:lnTo>
                <a:lnTo>
                  <a:pt x="636" y="2294"/>
                </a:lnTo>
                <a:lnTo>
                  <a:pt x="1024" y="1984"/>
                </a:lnTo>
                <a:lnTo>
                  <a:pt x="1329" y="1888"/>
                </a:lnTo>
                <a:lnTo>
                  <a:pt x="1523" y="1572"/>
                </a:lnTo>
                <a:lnTo>
                  <a:pt x="1980" y="1606"/>
                </a:lnTo>
                <a:lnTo>
                  <a:pt x="2481" y="1370"/>
                </a:lnTo>
                <a:lnTo>
                  <a:pt x="3126" y="1289"/>
                </a:lnTo>
                <a:lnTo>
                  <a:pt x="3583" y="1035"/>
                </a:lnTo>
                <a:lnTo>
                  <a:pt x="4395" y="862"/>
                </a:lnTo>
                <a:lnTo>
                  <a:pt x="5061" y="838"/>
                </a:lnTo>
                <a:lnTo>
                  <a:pt x="5949" y="811"/>
                </a:lnTo>
                <a:lnTo>
                  <a:pt x="6641" y="695"/>
                </a:lnTo>
                <a:lnTo>
                  <a:pt x="7647" y="583"/>
                </a:lnTo>
                <a:lnTo>
                  <a:pt x="8544" y="461"/>
                </a:lnTo>
                <a:lnTo>
                  <a:pt x="9748" y="480"/>
                </a:lnTo>
                <a:lnTo>
                  <a:pt x="10936" y="402"/>
                </a:lnTo>
                <a:lnTo>
                  <a:pt x="12280" y="435"/>
                </a:lnTo>
                <a:lnTo>
                  <a:pt x="13685" y="183"/>
                </a:lnTo>
                <a:lnTo>
                  <a:pt x="15207" y="236"/>
                </a:lnTo>
                <a:lnTo>
                  <a:pt x="16692" y="263"/>
                </a:lnTo>
                <a:lnTo>
                  <a:pt x="18821" y="176"/>
                </a:lnTo>
                <a:lnTo>
                  <a:pt x="20994" y="261"/>
                </a:lnTo>
                <a:lnTo>
                  <a:pt x="23575" y="156"/>
                </a:lnTo>
                <a:lnTo>
                  <a:pt x="26660" y="121"/>
                </a:lnTo>
                <a:lnTo>
                  <a:pt x="30990" y="171"/>
                </a:lnTo>
                <a:lnTo>
                  <a:pt x="44863" y="0"/>
                </a:lnTo>
                <a:lnTo>
                  <a:pt x="58365" y="101"/>
                </a:lnTo>
                <a:lnTo>
                  <a:pt x="62954" y="154"/>
                </a:lnTo>
                <a:lnTo>
                  <a:pt x="66073" y="47"/>
                </a:lnTo>
                <a:lnTo>
                  <a:pt x="68589" y="181"/>
                </a:lnTo>
                <a:lnTo>
                  <a:pt x="70653" y="229"/>
                </a:lnTo>
                <a:lnTo>
                  <a:pt x="72743" y="208"/>
                </a:lnTo>
                <a:lnTo>
                  <a:pt x="74297" y="348"/>
                </a:lnTo>
                <a:lnTo>
                  <a:pt x="75835" y="280"/>
                </a:lnTo>
                <a:lnTo>
                  <a:pt x="77225" y="379"/>
                </a:lnTo>
                <a:lnTo>
                  <a:pt x="78540" y="306"/>
                </a:lnTo>
                <a:lnTo>
                  <a:pt x="79880" y="352"/>
                </a:lnTo>
                <a:lnTo>
                  <a:pt x="80965" y="490"/>
                </a:lnTo>
                <a:lnTo>
                  <a:pt x="81983" y="484"/>
                </a:lnTo>
                <a:lnTo>
                  <a:pt x="82795" y="783"/>
                </a:lnTo>
                <a:lnTo>
                  <a:pt x="83582" y="855"/>
                </a:lnTo>
                <a:lnTo>
                  <a:pt x="84531" y="783"/>
                </a:lnTo>
                <a:lnTo>
                  <a:pt x="85023" y="1013"/>
                </a:lnTo>
                <a:lnTo>
                  <a:pt x="85839" y="1179"/>
                </a:lnTo>
                <a:lnTo>
                  <a:pt x="86298" y="1278"/>
                </a:lnTo>
                <a:lnTo>
                  <a:pt x="86849" y="1356"/>
                </a:lnTo>
                <a:lnTo>
                  <a:pt x="87380" y="1377"/>
                </a:lnTo>
                <a:lnTo>
                  <a:pt x="87904" y="1756"/>
                </a:lnTo>
                <a:lnTo>
                  <a:pt x="88232" y="1814"/>
                </a:lnTo>
                <a:lnTo>
                  <a:pt x="88555" y="2120"/>
                </a:lnTo>
                <a:lnTo>
                  <a:pt x="88782" y="2198"/>
                </a:lnTo>
                <a:lnTo>
                  <a:pt x="89133" y="2383"/>
                </a:lnTo>
                <a:lnTo>
                  <a:pt x="89157" y="2702"/>
                </a:lnTo>
                <a:lnTo>
                  <a:pt x="89443" y="3091"/>
                </a:lnTo>
                <a:lnTo>
                  <a:pt x="89350" y="3743"/>
                </a:lnTo>
                <a:lnTo>
                  <a:pt x="89501" y="5260"/>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645292" y="4060942"/>
            <a:ext cx="8188452" cy="944758"/>
          </a:xfrm>
          <a:custGeom>
            <a:avLst/>
            <a:gdLst/>
            <a:ahLst/>
            <a:cxnLst/>
            <a:rect l="l" t="t" r="r" b="b"/>
            <a:pathLst>
              <a:path w="89550" h="10332">
                <a:moveTo>
                  <a:pt x="89415" y="5076"/>
                </a:moveTo>
                <a:lnTo>
                  <a:pt x="89310" y="6755"/>
                </a:lnTo>
                <a:lnTo>
                  <a:pt x="89272" y="7358"/>
                </a:lnTo>
                <a:lnTo>
                  <a:pt x="89298" y="7634"/>
                </a:lnTo>
                <a:lnTo>
                  <a:pt x="89106" y="7824"/>
                </a:lnTo>
                <a:lnTo>
                  <a:pt x="88743" y="8213"/>
                </a:lnTo>
                <a:lnTo>
                  <a:pt x="88503" y="8281"/>
                </a:lnTo>
                <a:lnTo>
                  <a:pt x="88131" y="8644"/>
                </a:lnTo>
                <a:lnTo>
                  <a:pt x="87721" y="8813"/>
                </a:lnTo>
                <a:lnTo>
                  <a:pt x="87535" y="8877"/>
                </a:lnTo>
                <a:lnTo>
                  <a:pt x="87003" y="9093"/>
                </a:lnTo>
                <a:lnTo>
                  <a:pt x="86353" y="9203"/>
                </a:lnTo>
                <a:lnTo>
                  <a:pt x="85711" y="9401"/>
                </a:lnTo>
                <a:lnTo>
                  <a:pt x="85245" y="9380"/>
                </a:lnTo>
                <a:lnTo>
                  <a:pt x="84302" y="9619"/>
                </a:lnTo>
                <a:lnTo>
                  <a:pt x="83700" y="9659"/>
                </a:lnTo>
                <a:lnTo>
                  <a:pt x="82893" y="9620"/>
                </a:lnTo>
                <a:lnTo>
                  <a:pt x="81803" y="9885"/>
                </a:lnTo>
                <a:lnTo>
                  <a:pt x="80905" y="9878"/>
                </a:lnTo>
                <a:lnTo>
                  <a:pt x="79903" y="9829"/>
                </a:lnTo>
                <a:lnTo>
                  <a:pt x="78713" y="9875"/>
                </a:lnTo>
                <a:lnTo>
                  <a:pt x="77310" y="10079"/>
                </a:lnTo>
                <a:lnTo>
                  <a:pt x="76031" y="10088"/>
                </a:lnTo>
                <a:lnTo>
                  <a:pt x="74425" y="10061"/>
                </a:lnTo>
                <a:lnTo>
                  <a:pt x="72735" y="10268"/>
                </a:lnTo>
                <a:lnTo>
                  <a:pt x="70683" y="10247"/>
                </a:lnTo>
                <a:lnTo>
                  <a:pt x="68614" y="10243"/>
                </a:lnTo>
                <a:lnTo>
                  <a:pt x="66115" y="10332"/>
                </a:lnTo>
                <a:lnTo>
                  <a:pt x="62879" y="10192"/>
                </a:lnTo>
                <a:lnTo>
                  <a:pt x="58405" y="10201"/>
                </a:lnTo>
                <a:lnTo>
                  <a:pt x="44650" y="10183"/>
                </a:lnTo>
                <a:lnTo>
                  <a:pt x="31037" y="10241"/>
                </a:lnTo>
                <a:lnTo>
                  <a:pt x="26714" y="10155"/>
                </a:lnTo>
                <a:lnTo>
                  <a:pt x="23489" y="10260"/>
                </a:lnTo>
                <a:lnTo>
                  <a:pt x="20998" y="10198"/>
                </a:lnTo>
                <a:lnTo>
                  <a:pt x="18723" y="10283"/>
                </a:lnTo>
                <a:lnTo>
                  <a:pt x="16850" y="10079"/>
                </a:lnTo>
                <a:lnTo>
                  <a:pt x="15112" y="10222"/>
                </a:lnTo>
                <a:lnTo>
                  <a:pt x="13603" y="10028"/>
                </a:lnTo>
                <a:lnTo>
                  <a:pt x="12161" y="10091"/>
                </a:lnTo>
                <a:lnTo>
                  <a:pt x="10915" y="10005"/>
                </a:lnTo>
                <a:lnTo>
                  <a:pt x="9612" y="9887"/>
                </a:lnTo>
                <a:lnTo>
                  <a:pt x="8668" y="9847"/>
                </a:lnTo>
                <a:lnTo>
                  <a:pt x="7725" y="9804"/>
                </a:lnTo>
                <a:lnTo>
                  <a:pt x="6714" y="9719"/>
                </a:lnTo>
                <a:lnTo>
                  <a:pt x="5738" y="9638"/>
                </a:lnTo>
                <a:lnTo>
                  <a:pt x="4946" y="9556"/>
                </a:lnTo>
                <a:lnTo>
                  <a:pt x="4455" y="9343"/>
                </a:lnTo>
                <a:lnTo>
                  <a:pt x="3724" y="9317"/>
                </a:lnTo>
                <a:lnTo>
                  <a:pt x="3068" y="9268"/>
                </a:lnTo>
                <a:lnTo>
                  <a:pt x="2437" y="9022"/>
                </a:lnTo>
                <a:lnTo>
                  <a:pt x="2024" y="8868"/>
                </a:lnTo>
                <a:lnTo>
                  <a:pt x="1596" y="8617"/>
                </a:lnTo>
                <a:lnTo>
                  <a:pt x="1223" y="8499"/>
                </a:lnTo>
                <a:lnTo>
                  <a:pt x="857" y="8411"/>
                </a:lnTo>
                <a:lnTo>
                  <a:pt x="556" y="8144"/>
                </a:lnTo>
                <a:lnTo>
                  <a:pt x="554" y="7895"/>
                </a:lnTo>
                <a:lnTo>
                  <a:pt x="233" y="7520"/>
                </a:lnTo>
                <a:lnTo>
                  <a:pt x="186" y="7157"/>
                </a:lnTo>
                <a:lnTo>
                  <a:pt x="176" y="6704"/>
                </a:lnTo>
                <a:lnTo>
                  <a:pt x="0" y="5223"/>
                </a:lnTo>
                <a:lnTo>
                  <a:pt x="198" y="3594"/>
                </a:lnTo>
                <a:lnTo>
                  <a:pt x="167" y="3082"/>
                </a:lnTo>
                <a:lnTo>
                  <a:pt x="246" y="2783"/>
                </a:lnTo>
                <a:lnTo>
                  <a:pt x="359" y="2464"/>
                </a:lnTo>
                <a:lnTo>
                  <a:pt x="747" y="2114"/>
                </a:lnTo>
                <a:lnTo>
                  <a:pt x="1063" y="2068"/>
                </a:lnTo>
                <a:lnTo>
                  <a:pt x="1336" y="1859"/>
                </a:lnTo>
                <a:lnTo>
                  <a:pt x="1663" y="1676"/>
                </a:lnTo>
                <a:lnTo>
                  <a:pt x="2088" y="1506"/>
                </a:lnTo>
                <a:lnTo>
                  <a:pt x="2545" y="1252"/>
                </a:lnTo>
                <a:lnTo>
                  <a:pt x="3166" y="1155"/>
                </a:lnTo>
                <a:lnTo>
                  <a:pt x="3588" y="1051"/>
                </a:lnTo>
                <a:lnTo>
                  <a:pt x="4224" y="849"/>
                </a:lnTo>
                <a:lnTo>
                  <a:pt x="5139" y="763"/>
                </a:lnTo>
                <a:lnTo>
                  <a:pt x="5718" y="807"/>
                </a:lnTo>
                <a:lnTo>
                  <a:pt x="6691" y="702"/>
                </a:lnTo>
                <a:lnTo>
                  <a:pt x="7641" y="584"/>
                </a:lnTo>
                <a:lnTo>
                  <a:pt x="8521" y="458"/>
                </a:lnTo>
                <a:lnTo>
                  <a:pt x="9614" y="471"/>
                </a:lnTo>
                <a:lnTo>
                  <a:pt x="10834" y="437"/>
                </a:lnTo>
                <a:lnTo>
                  <a:pt x="12287" y="291"/>
                </a:lnTo>
                <a:lnTo>
                  <a:pt x="13477" y="224"/>
                </a:lnTo>
                <a:lnTo>
                  <a:pt x="15225" y="365"/>
                </a:lnTo>
                <a:lnTo>
                  <a:pt x="16929" y="175"/>
                </a:lnTo>
                <a:lnTo>
                  <a:pt x="18684" y="273"/>
                </a:lnTo>
                <a:lnTo>
                  <a:pt x="20899" y="126"/>
                </a:lnTo>
                <a:lnTo>
                  <a:pt x="23467" y="76"/>
                </a:lnTo>
                <a:lnTo>
                  <a:pt x="26685" y="235"/>
                </a:lnTo>
                <a:lnTo>
                  <a:pt x="30888" y="6"/>
                </a:lnTo>
                <a:lnTo>
                  <a:pt x="44655" y="56"/>
                </a:lnTo>
                <a:lnTo>
                  <a:pt x="58412" y="0"/>
                </a:lnTo>
                <a:lnTo>
                  <a:pt x="62819" y="108"/>
                </a:lnTo>
                <a:lnTo>
                  <a:pt x="65975" y="78"/>
                </a:lnTo>
                <a:lnTo>
                  <a:pt x="68608" y="199"/>
                </a:lnTo>
                <a:lnTo>
                  <a:pt x="70760" y="166"/>
                </a:lnTo>
                <a:lnTo>
                  <a:pt x="72669" y="243"/>
                </a:lnTo>
                <a:lnTo>
                  <a:pt x="74335" y="184"/>
                </a:lnTo>
                <a:lnTo>
                  <a:pt x="75839" y="377"/>
                </a:lnTo>
                <a:lnTo>
                  <a:pt x="77329" y="328"/>
                </a:lnTo>
                <a:lnTo>
                  <a:pt x="78668" y="466"/>
                </a:lnTo>
                <a:lnTo>
                  <a:pt x="79835" y="367"/>
                </a:lnTo>
                <a:lnTo>
                  <a:pt x="80958" y="410"/>
                </a:lnTo>
                <a:lnTo>
                  <a:pt x="81985" y="519"/>
                </a:lnTo>
                <a:lnTo>
                  <a:pt x="82732" y="749"/>
                </a:lnTo>
                <a:lnTo>
                  <a:pt x="83731" y="725"/>
                </a:lnTo>
                <a:lnTo>
                  <a:pt x="84333" y="870"/>
                </a:lnTo>
                <a:lnTo>
                  <a:pt x="85250" y="889"/>
                </a:lnTo>
                <a:lnTo>
                  <a:pt x="85899" y="1068"/>
                </a:lnTo>
                <a:lnTo>
                  <a:pt x="86283" y="1107"/>
                </a:lnTo>
                <a:lnTo>
                  <a:pt x="86953" y="1415"/>
                </a:lnTo>
                <a:lnTo>
                  <a:pt x="87531" y="1432"/>
                </a:lnTo>
                <a:lnTo>
                  <a:pt x="87801" y="1687"/>
                </a:lnTo>
                <a:lnTo>
                  <a:pt x="88126" y="1901"/>
                </a:lnTo>
                <a:lnTo>
                  <a:pt x="88614" y="1961"/>
                </a:lnTo>
                <a:lnTo>
                  <a:pt x="88813" y="2317"/>
                </a:lnTo>
                <a:lnTo>
                  <a:pt x="89070" y="2403"/>
                </a:lnTo>
                <a:lnTo>
                  <a:pt x="89236" y="2651"/>
                </a:lnTo>
                <a:lnTo>
                  <a:pt x="89207" y="3244"/>
                </a:lnTo>
                <a:lnTo>
                  <a:pt x="89419" y="3558"/>
                </a:lnTo>
                <a:lnTo>
                  <a:pt x="89550" y="5101"/>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8677016" y="4783226"/>
            <a:ext cx="109179" cy="76352"/>
          </a:xfrm>
          <a:custGeom>
            <a:avLst/>
            <a:gdLst/>
            <a:ahLst/>
            <a:cxnLst/>
            <a:rect l="l" t="t" r="r" b="b"/>
            <a:pathLst>
              <a:path w="1194" h="835">
                <a:moveTo>
                  <a:pt x="1194" y="0"/>
                </a:moveTo>
                <a:lnTo>
                  <a:pt x="972" y="248"/>
                </a:lnTo>
                <a:lnTo>
                  <a:pt x="699" y="466"/>
                </a:lnTo>
                <a:lnTo>
                  <a:pt x="375" y="660"/>
                </a:lnTo>
                <a:lnTo>
                  <a:pt x="0" y="835"/>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7446691" y="4968392"/>
            <a:ext cx="493867" cy="18928"/>
          </a:xfrm>
          <a:custGeom>
            <a:avLst/>
            <a:gdLst/>
            <a:ahLst/>
            <a:cxnLst/>
            <a:rect l="l" t="t" r="r" b="b"/>
            <a:pathLst>
              <a:path w="5401" h="207">
                <a:moveTo>
                  <a:pt x="5401" y="0"/>
                </a:moveTo>
                <a:lnTo>
                  <a:pt x="4223" y="61"/>
                </a:lnTo>
                <a:lnTo>
                  <a:pt x="2941" y="116"/>
                </a:lnTo>
                <a:lnTo>
                  <a:pt x="1539" y="165"/>
                </a:lnTo>
                <a:lnTo>
                  <a:pt x="0" y="207"/>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1885767" y="4983480"/>
            <a:ext cx="671078" cy="12344"/>
          </a:xfrm>
          <a:custGeom>
            <a:avLst/>
            <a:gdLst/>
            <a:ahLst/>
            <a:cxnLst/>
            <a:rect l="l" t="t" r="r" b="b"/>
            <a:pathLst>
              <a:path w="7339" h="135">
                <a:moveTo>
                  <a:pt x="7339" y="135"/>
                </a:moveTo>
                <a:lnTo>
                  <a:pt x="5157" y="110"/>
                </a:lnTo>
                <a:lnTo>
                  <a:pt x="3245" y="79"/>
                </a:lnTo>
                <a:lnTo>
                  <a:pt x="1539" y="42"/>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61878" y="4843577"/>
            <a:ext cx="166787" cy="56144"/>
          </a:xfrm>
          <a:custGeom>
            <a:avLst/>
            <a:gdLst/>
            <a:ahLst/>
            <a:cxnLst/>
            <a:rect l="l" t="t" r="r" b="b"/>
            <a:pathLst>
              <a:path w="1824" h="614">
                <a:moveTo>
                  <a:pt x="1824" y="614"/>
                </a:moveTo>
                <a:lnTo>
                  <a:pt x="1286" y="480"/>
                </a:lnTo>
                <a:lnTo>
                  <a:pt x="804" y="334"/>
                </a:lnTo>
                <a:lnTo>
                  <a:pt x="375" y="175"/>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686989" y="4211269"/>
            <a:ext cx="109179" cy="76352"/>
          </a:xfrm>
          <a:custGeom>
            <a:avLst/>
            <a:gdLst/>
            <a:ahLst/>
            <a:cxnLst/>
            <a:rect l="l" t="t" r="r" b="b"/>
            <a:pathLst>
              <a:path w="1194" h="835">
                <a:moveTo>
                  <a:pt x="0" y="835"/>
                </a:moveTo>
                <a:lnTo>
                  <a:pt x="222" y="587"/>
                </a:lnTo>
                <a:lnTo>
                  <a:pt x="495" y="369"/>
                </a:lnTo>
                <a:lnTo>
                  <a:pt x="819" y="175"/>
                </a:lnTo>
                <a:lnTo>
                  <a:pt x="1194"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1532626" y="4083528"/>
            <a:ext cx="493867" cy="18928"/>
          </a:xfrm>
          <a:custGeom>
            <a:avLst/>
            <a:gdLst/>
            <a:ahLst/>
            <a:cxnLst/>
            <a:rect l="l" t="t" r="r" b="b"/>
            <a:pathLst>
              <a:path w="5401" h="207">
                <a:moveTo>
                  <a:pt x="0" y="207"/>
                </a:moveTo>
                <a:lnTo>
                  <a:pt x="1178" y="146"/>
                </a:lnTo>
                <a:lnTo>
                  <a:pt x="2460" y="91"/>
                </a:lnTo>
                <a:lnTo>
                  <a:pt x="3862" y="42"/>
                </a:lnTo>
                <a:lnTo>
                  <a:pt x="5401"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6916339" y="4075024"/>
            <a:ext cx="671078" cy="12344"/>
          </a:xfrm>
          <a:custGeom>
            <a:avLst/>
            <a:gdLst/>
            <a:ahLst/>
            <a:cxnLst/>
            <a:rect l="l" t="t" r="r" b="b"/>
            <a:pathLst>
              <a:path w="7339" h="135">
                <a:moveTo>
                  <a:pt x="0" y="0"/>
                </a:moveTo>
                <a:lnTo>
                  <a:pt x="2182" y="25"/>
                </a:lnTo>
                <a:lnTo>
                  <a:pt x="4094" y="56"/>
                </a:lnTo>
                <a:lnTo>
                  <a:pt x="5800" y="93"/>
                </a:lnTo>
                <a:lnTo>
                  <a:pt x="7339" y="135"/>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8544519" y="4171127"/>
            <a:ext cx="166787" cy="56144"/>
          </a:xfrm>
          <a:custGeom>
            <a:avLst/>
            <a:gdLst/>
            <a:ahLst/>
            <a:cxnLst/>
            <a:rect l="l" t="t" r="r" b="b"/>
            <a:pathLst>
              <a:path w="1824" h="614">
                <a:moveTo>
                  <a:pt x="0" y="0"/>
                </a:moveTo>
                <a:lnTo>
                  <a:pt x="538" y="134"/>
                </a:lnTo>
                <a:lnTo>
                  <a:pt x="1020" y="280"/>
                </a:lnTo>
                <a:lnTo>
                  <a:pt x="1449" y="439"/>
                </a:lnTo>
                <a:lnTo>
                  <a:pt x="1824" y="61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ody: Qualification"/>
          <p:cNvSpPr txBox="1"/>
          <p:nvPr/>
        </p:nvSpPr>
        <p:spPr>
          <a:xfrm>
            <a:off x="813816" y="4347908"/>
            <a:ext cx="265176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9D7B35"/>
                </a:solidFill>
                <a:latin typeface="Trebuchet MS"/>
              </a:rPr>
              <a:t>Qualification</a:t>
            </a:r>
          </a:p>
        </p:txBody>
      </p:sp>
      <p:sp>
        <p:nvSpPr>
          <p:cNvPr id="50" name="body: Reference solution replays; negative labels need evidence"/>
          <p:cNvSpPr txBox="1"/>
          <p:nvPr/>
        </p:nvSpPr>
        <p:spPr>
          <a:xfrm>
            <a:off x="3675887" y="4194682"/>
            <a:ext cx="4928616"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Reference solution replays; negative labels</a:t>
            </a:r>
            <a:br/>
            <a:r>
              <a:rPr sz="1900" b="0">
                <a:solidFill>
                  <a:srgbClr val="293E46"/>
                </a:solidFill>
                <a:latin typeface="Trebuchet MS"/>
              </a:rPr>
              <a:t>need evidence</a:t>
            </a:r>
          </a:p>
        </p:txBody>
      </p:sp>
      <p:sp>
        <p:nvSpPr>
          <p:cNvPr id="51" name="Rounded Rectangle 50"/>
          <p:cNvSpPr/>
          <p:nvPr/>
        </p:nvSpPr>
        <p:spPr>
          <a:xfrm>
            <a:off x="640080" y="5184648"/>
            <a:ext cx="8193024" cy="950976"/>
          </a:xfrm>
          <a:prstGeom prst="roundRect">
            <a:avLst>
              <a:gd name="adj" fmla="val 18000"/>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649315" y="5190226"/>
            <a:ext cx="8176016" cy="944392"/>
          </a:xfrm>
          <a:custGeom>
            <a:avLst/>
            <a:gdLst/>
            <a:ahLst/>
            <a:cxnLst/>
            <a:rect l="l" t="t" r="r" b="b"/>
            <a:pathLst>
              <a:path w="89414" h="10328">
                <a:moveTo>
                  <a:pt x="89414" y="5144"/>
                </a:moveTo>
                <a:lnTo>
                  <a:pt x="89263" y="6799"/>
                </a:lnTo>
                <a:lnTo>
                  <a:pt x="89156" y="7153"/>
                </a:lnTo>
                <a:lnTo>
                  <a:pt x="89093" y="7604"/>
                </a:lnTo>
                <a:lnTo>
                  <a:pt x="88987" y="7778"/>
                </a:lnTo>
                <a:lnTo>
                  <a:pt x="88798" y="8040"/>
                </a:lnTo>
                <a:lnTo>
                  <a:pt x="88540" y="8317"/>
                </a:lnTo>
                <a:lnTo>
                  <a:pt x="88135" y="8400"/>
                </a:lnTo>
                <a:lnTo>
                  <a:pt x="87796" y="8736"/>
                </a:lnTo>
                <a:lnTo>
                  <a:pt x="87347" y="8725"/>
                </a:lnTo>
                <a:lnTo>
                  <a:pt x="86832" y="9016"/>
                </a:lnTo>
                <a:lnTo>
                  <a:pt x="86403" y="9159"/>
                </a:lnTo>
                <a:lnTo>
                  <a:pt x="85680" y="9137"/>
                </a:lnTo>
                <a:lnTo>
                  <a:pt x="85037" y="9250"/>
                </a:lnTo>
                <a:lnTo>
                  <a:pt x="84366" y="9530"/>
                </a:lnTo>
                <a:lnTo>
                  <a:pt x="83544" y="9564"/>
                </a:lnTo>
                <a:lnTo>
                  <a:pt x="82841" y="9665"/>
                </a:lnTo>
                <a:lnTo>
                  <a:pt x="81937" y="9643"/>
                </a:lnTo>
                <a:lnTo>
                  <a:pt x="80803" y="9767"/>
                </a:lnTo>
                <a:lnTo>
                  <a:pt x="79829" y="9828"/>
                </a:lnTo>
                <a:lnTo>
                  <a:pt x="78555" y="10030"/>
                </a:lnTo>
                <a:lnTo>
                  <a:pt x="77294" y="9992"/>
                </a:lnTo>
                <a:lnTo>
                  <a:pt x="75932" y="9984"/>
                </a:lnTo>
                <a:lnTo>
                  <a:pt x="74438" y="10046"/>
                </a:lnTo>
                <a:lnTo>
                  <a:pt x="72654" y="10090"/>
                </a:lnTo>
                <a:lnTo>
                  <a:pt x="70824" y="10178"/>
                </a:lnTo>
                <a:lnTo>
                  <a:pt x="68419" y="10174"/>
                </a:lnTo>
                <a:lnTo>
                  <a:pt x="66068" y="10100"/>
                </a:lnTo>
                <a:lnTo>
                  <a:pt x="62898" y="10144"/>
                </a:lnTo>
                <a:lnTo>
                  <a:pt x="58531" y="10328"/>
                </a:lnTo>
                <a:lnTo>
                  <a:pt x="44643" y="10283"/>
                </a:lnTo>
                <a:lnTo>
                  <a:pt x="30876" y="10312"/>
                </a:lnTo>
                <a:lnTo>
                  <a:pt x="26471" y="10258"/>
                </a:lnTo>
                <a:lnTo>
                  <a:pt x="23450" y="10273"/>
                </a:lnTo>
                <a:lnTo>
                  <a:pt x="20762" y="10275"/>
                </a:lnTo>
                <a:lnTo>
                  <a:pt x="18645" y="10232"/>
                </a:lnTo>
                <a:lnTo>
                  <a:pt x="16711" y="10014"/>
                </a:lnTo>
                <a:lnTo>
                  <a:pt x="15031" y="10128"/>
                </a:lnTo>
                <a:lnTo>
                  <a:pt x="13567" y="9964"/>
                </a:lnTo>
                <a:lnTo>
                  <a:pt x="12065" y="9928"/>
                </a:lnTo>
                <a:lnTo>
                  <a:pt x="10775" y="10021"/>
                </a:lnTo>
                <a:lnTo>
                  <a:pt x="9694" y="9894"/>
                </a:lnTo>
                <a:lnTo>
                  <a:pt x="8674" y="9876"/>
                </a:lnTo>
                <a:lnTo>
                  <a:pt x="7612" y="9628"/>
                </a:lnTo>
                <a:lnTo>
                  <a:pt x="6653" y="9622"/>
                </a:lnTo>
                <a:lnTo>
                  <a:pt x="5718" y="9508"/>
                </a:lnTo>
                <a:lnTo>
                  <a:pt x="4978" y="9415"/>
                </a:lnTo>
                <a:lnTo>
                  <a:pt x="4228" y="9383"/>
                </a:lnTo>
                <a:lnTo>
                  <a:pt x="3693" y="9237"/>
                </a:lnTo>
                <a:lnTo>
                  <a:pt x="3176" y="9109"/>
                </a:lnTo>
                <a:lnTo>
                  <a:pt x="2622" y="8937"/>
                </a:lnTo>
                <a:lnTo>
                  <a:pt x="2064" y="8836"/>
                </a:lnTo>
                <a:lnTo>
                  <a:pt x="1531" y="8682"/>
                </a:lnTo>
                <a:lnTo>
                  <a:pt x="1326" y="8534"/>
                </a:lnTo>
                <a:lnTo>
                  <a:pt x="928" y="8420"/>
                </a:lnTo>
                <a:lnTo>
                  <a:pt x="650" y="8095"/>
                </a:lnTo>
                <a:lnTo>
                  <a:pt x="399" y="7870"/>
                </a:lnTo>
                <a:lnTo>
                  <a:pt x="262" y="7466"/>
                </a:lnTo>
                <a:lnTo>
                  <a:pt x="0" y="7126"/>
                </a:lnTo>
                <a:lnTo>
                  <a:pt x="62" y="6767"/>
                </a:lnTo>
                <a:lnTo>
                  <a:pt x="97" y="5172"/>
                </a:lnTo>
                <a:lnTo>
                  <a:pt x="116" y="3599"/>
                </a:lnTo>
                <a:lnTo>
                  <a:pt x="126" y="3141"/>
                </a:lnTo>
                <a:lnTo>
                  <a:pt x="273" y="2812"/>
                </a:lnTo>
                <a:lnTo>
                  <a:pt x="519" y="2332"/>
                </a:lnTo>
                <a:lnTo>
                  <a:pt x="613" y="2164"/>
                </a:lnTo>
                <a:lnTo>
                  <a:pt x="810" y="1919"/>
                </a:lnTo>
                <a:lnTo>
                  <a:pt x="1206" y="1829"/>
                </a:lnTo>
                <a:lnTo>
                  <a:pt x="1665" y="1604"/>
                </a:lnTo>
                <a:lnTo>
                  <a:pt x="2070" y="1465"/>
                </a:lnTo>
                <a:lnTo>
                  <a:pt x="2558" y="1199"/>
                </a:lnTo>
                <a:lnTo>
                  <a:pt x="3023" y="1083"/>
                </a:lnTo>
                <a:lnTo>
                  <a:pt x="3612" y="941"/>
                </a:lnTo>
                <a:lnTo>
                  <a:pt x="4418" y="939"/>
                </a:lnTo>
                <a:lnTo>
                  <a:pt x="5085" y="895"/>
                </a:lnTo>
                <a:lnTo>
                  <a:pt x="5764" y="798"/>
                </a:lnTo>
                <a:lnTo>
                  <a:pt x="6764" y="552"/>
                </a:lnTo>
                <a:lnTo>
                  <a:pt x="7574" y="446"/>
                </a:lnTo>
                <a:lnTo>
                  <a:pt x="8612" y="507"/>
                </a:lnTo>
                <a:lnTo>
                  <a:pt x="9542" y="509"/>
                </a:lnTo>
                <a:lnTo>
                  <a:pt x="10748" y="361"/>
                </a:lnTo>
                <a:lnTo>
                  <a:pt x="12081" y="201"/>
                </a:lnTo>
                <a:lnTo>
                  <a:pt x="13621" y="218"/>
                </a:lnTo>
                <a:lnTo>
                  <a:pt x="15094" y="294"/>
                </a:lnTo>
                <a:lnTo>
                  <a:pt x="16830" y="86"/>
                </a:lnTo>
                <a:lnTo>
                  <a:pt x="18760" y="136"/>
                </a:lnTo>
                <a:lnTo>
                  <a:pt x="20859" y="30"/>
                </a:lnTo>
                <a:lnTo>
                  <a:pt x="23453" y="0"/>
                </a:lnTo>
                <a:lnTo>
                  <a:pt x="26611" y="68"/>
                </a:lnTo>
                <a:lnTo>
                  <a:pt x="30995" y="3"/>
                </a:lnTo>
                <a:lnTo>
                  <a:pt x="44628" y="94"/>
                </a:lnTo>
                <a:lnTo>
                  <a:pt x="58511" y="16"/>
                </a:lnTo>
                <a:lnTo>
                  <a:pt x="62701" y="75"/>
                </a:lnTo>
                <a:lnTo>
                  <a:pt x="66040" y="183"/>
                </a:lnTo>
                <a:lnTo>
                  <a:pt x="68571" y="28"/>
                </a:lnTo>
                <a:lnTo>
                  <a:pt x="70707" y="64"/>
                </a:lnTo>
                <a:lnTo>
                  <a:pt x="72707" y="267"/>
                </a:lnTo>
                <a:lnTo>
                  <a:pt x="74292" y="212"/>
                </a:lnTo>
                <a:lnTo>
                  <a:pt x="75870" y="283"/>
                </a:lnTo>
                <a:lnTo>
                  <a:pt x="77197" y="388"/>
                </a:lnTo>
                <a:lnTo>
                  <a:pt x="78612" y="436"/>
                </a:lnTo>
                <a:lnTo>
                  <a:pt x="79746" y="406"/>
                </a:lnTo>
                <a:lnTo>
                  <a:pt x="80797" y="391"/>
                </a:lnTo>
                <a:lnTo>
                  <a:pt x="81880" y="630"/>
                </a:lnTo>
                <a:lnTo>
                  <a:pt x="82843" y="541"/>
                </a:lnTo>
                <a:lnTo>
                  <a:pt x="83669" y="829"/>
                </a:lnTo>
                <a:lnTo>
                  <a:pt x="84348" y="825"/>
                </a:lnTo>
                <a:lnTo>
                  <a:pt x="84977" y="868"/>
                </a:lnTo>
                <a:lnTo>
                  <a:pt x="85779" y="1121"/>
                </a:lnTo>
                <a:lnTo>
                  <a:pt x="86248" y="1168"/>
                </a:lnTo>
                <a:lnTo>
                  <a:pt x="86889" y="1378"/>
                </a:lnTo>
                <a:lnTo>
                  <a:pt x="87294" y="1505"/>
                </a:lnTo>
                <a:lnTo>
                  <a:pt x="87901" y="1485"/>
                </a:lnTo>
                <a:lnTo>
                  <a:pt x="88244" y="1805"/>
                </a:lnTo>
                <a:lnTo>
                  <a:pt x="88429" y="1924"/>
                </a:lnTo>
                <a:lnTo>
                  <a:pt x="88672" y="2099"/>
                </a:lnTo>
                <a:lnTo>
                  <a:pt x="89069" y="2435"/>
                </a:lnTo>
                <a:lnTo>
                  <a:pt x="89036" y="2762"/>
                </a:lnTo>
                <a:lnTo>
                  <a:pt x="89164" y="2996"/>
                </a:lnTo>
                <a:lnTo>
                  <a:pt x="89368" y="3600"/>
                </a:lnTo>
                <a:lnTo>
                  <a:pt x="89267" y="5049"/>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645658" y="5187208"/>
            <a:ext cx="8178576" cy="947227"/>
          </a:xfrm>
          <a:custGeom>
            <a:avLst/>
            <a:gdLst/>
            <a:ahLst/>
            <a:cxnLst/>
            <a:rect l="l" t="t" r="r" b="b"/>
            <a:pathLst>
              <a:path w="89442" h="10359">
                <a:moveTo>
                  <a:pt x="89418" y="5203"/>
                </a:moveTo>
                <a:lnTo>
                  <a:pt x="89348" y="6814"/>
                </a:lnTo>
                <a:lnTo>
                  <a:pt x="89387" y="7130"/>
                </a:lnTo>
                <a:lnTo>
                  <a:pt x="89283" y="7531"/>
                </a:lnTo>
                <a:lnTo>
                  <a:pt x="89012" y="7997"/>
                </a:lnTo>
                <a:lnTo>
                  <a:pt x="88837" y="8125"/>
                </a:lnTo>
                <a:lnTo>
                  <a:pt x="88491" y="8290"/>
                </a:lnTo>
                <a:lnTo>
                  <a:pt x="88228" y="8646"/>
                </a:lnTo>
                <a:lnTo>
                  <a:pt x="87705" y="8788"/>
                </a:lnTo>
                <a:lnTo>
                  <a:pt x="87370" y="8784"/>
                </a:lnTo>
                <a:lnTo>
                  <a:pt x="86921" y="8915"/>
                </a:lnTo>
                <a:lnTo>
                  <a:pt x="86305" y="9269"/>
                </a:lnTo>
                <a:lnTo>
                  <a:pt x="85704" y="9298"/>
                </a:lnTo>
                <a:lnTo>
                  <a:pt x="85251" y="9315"/>
                </a:lnTo>
                <a:lnTo>
                  <a:pt x="84335" y="9450"/>
                </a:lnTo>
                <a:lnTo>
                  <a:pt x="83621" y="9682"/>
                </a:lnTo>
                <a:lnTo>
                  <a:pt x="82893" y="9628"/>
                </a:lnTo>
                <a:lnTo>
                  <a:pt x="81806" y="9749"/>
                </a:lnTo>
                <a:lnTo>
                  <a:pt x="80919" y="9837"/>
                </a:lnTo>
                <a:lnTo>
                  <a:pt x="79682" y="9989"/>
                </a:lnTo>
                <a:lnTo>
                  <a:pt x="78628" y="10077"/>
                </a:lnTo>
                <a:lnTo>
                  <a:pt x="77246" y="10007"/>
                </a:lnTo>
                <a:lnTo>
                  <a:pt x="75974" y="10171"/>
                </a:lnTo>
                <a:lnTo>
                  <a:pt x="74367" y="10138"/>
                </a:lnTo>
                <a:lnTo>
                  <a:pt x="72746" y="10063"/>
                </a:lnTo>
                <a:lnTo>
                  <a:pt x="70640" y="10275"/>
                </a:lnTo>
                <a:lnTo>
                  <a:pt x="68636" y="10242"/>
                </a:lnTo>
                <a:lnTo>
                  <a:pt x="65952" y="10324"/>
                </a:lnTo>
                <a:lnTo>
                  <a:pt x="62915" y="10358"/>
                </a:lnTo>
                <a:lnTo>
                  <a:pt x="58466" y="10281"/>
                </a:lnTo>
                <a:lnTo>
                  <a:pt x="44809" y="10164"/>
                </a:lnTo>
                <a:lnTo>
                  <a:pt x="30959" y="10251"/>
                </a:lnTo>
                <a:lnTo>
                  <a:pt x="26562" y="10359"/>
                </a:lnTo>
                <a:lnTo>
                  <a:pt x="23547" y="10251"/>
                </a:lnTo>
                <a:lnTo>
                  <a:pt x="20987" y="10310"/>
                </a:lnTo>
                <a:lnTo>
                  <a:pt x="18665" y="10300"/>
                </a:lnTo>
                <a:lnTo>
                  <a:pt x="16914" y="10118"/>
                </a:lnTo>
                <a:lnTo>
                  <a:pt x="15157" y="10060"/>
                </a:lnTo>
                <a:lnTo>
                  <a:pt x="13501" y="10032"/>
                </a:lnTo>
                <a:lnTo>
                  <a:pt x="12081" y="10127"/>
                </a:lnTo>
                <a:lnTo>
                  <a:pt x="10767" y="10053"/>
                </a:lnTo>
                <a:lnTo>
                  <a:pt x="9735" y="10007"/>
                </a:lnTo>
                <a:lnTo>
                  <a:pt x="8721" y="9729"/>
                </a:lnTo>
                <a:lnTo>
                  <a:pt x="7653" y="9692"/>
                </a:lnTo>
                <a:lnTo>
                  <a:pt x="6676" y="9789"/>
                </a:lnTo>
                <a:lnTo>
                  <a:pt x="5939" y="9624"/>
                </a:lnTo>
                <a:lnTo>
                  <a:pt x="5010" y="9403"/>
                </a:lnTo>
                <a:lnTo>
                  <a:pt x="4244" y="9390"/>
                </a:lnTo>
                <a:lnTo>
                  <a:pt x="3692" y="9191"/>
                </a:lnTo>
                <a:lnTo>
                  <a:pt x="2977" y="9145"/>
                </a:lnTo>
                <a:lnTo>
                  <a:pt x="2509" y="9037"/>
                </a:lnTo>
                <a:lnTo>
                  <a:pt x="2057" y="8937"/>
                </a:lnTo>
                <a:lnTo>
                  <a:pt x="1637" y="8658"/>
                </a:lnTo>
                <a:lnTo>
                  <a:pt x="1162" y="8600"/>
                </a:lnTo>
                <a:lnTo>
                  <a:pt x="1051" y="8449"/>
                </a:lnTo>
                <a:lnTo>
                  <a:pt x="702" y="8085"/>
                </a:lnTo>
                <a:lnTo>
                  <a:pt x="507" y="7996"/>
                </a:lnTo>
                <a:lnTo>
                  <a:pt x="281" y="7583"/>
                </a:lnTo>
                <a:lnTo>
                  <a:pt x="29" y="7252"/>
                </a:lnTo>
                <a:lnTo>
                  <a:pt x="114" y="6710"/>
                </a:lnTo>
                <a:lnTo>
                  <a:pt x="0" y="5267"/>
                </a:lnTo>
                <a:lnTo>
                  <a:pt x="126" y="3536"/>
                </a:lnTo>
                <a:lnTo>
                  <a:pt x="160" y="3210"/>
                </a:lnTo>
                <a:lnTo>
                  <a:pt x="355" y="2733"/>
                </a:lnTo>
                <a:lnTo>
                  <a:pt x="544" y="2452"/>
                </a:lnTo>
                <a:lnTo>
                  <a:pt x="742" y="2298"/>
                </a:lnTo>
                <a:lnTo>
                  <a:pt x="987" y="2052"/>
                </a:lnTo>
                <a:lnTo>
                  <a:pt x="1272" y="1810"/>
                </a:lnTo>
                <a:lnTo>
                  <a:pt x="1722" y="1720"/>
                </a:lnTo>
                <a:lnTo>
                  <a:pt x="2155" y="1532"/>
                </a:lnTo>
                <a:lnTo>
                  <a:pt x="2676" y="1363"/>
                </a:lnTo>
                <a:lnTo>
                  <a:pt x="2978" y="1284"/>
                </a:lnTo>
                <a:lnTo>
                  <a:pt x="3790" y="1171"/>
                </a:lnTo>
                <a:lnTo>
                  <a:pt x="4282" y="1058"/>
                </a:lnTo>
                <a:lnTo>
                  <a:pt x="5066" y="876"/>
                </a:lnTo>
                <a:lnTo>
                  <a:pt x="5781" y="714"/>
                </a:lnTo>
                <a:lnTo>
                  <a:pt x="6584" y="658"/>
                </a:lnTo>
                <a:lnTo>
                  <a:pt x="7663" y="678"/>
                </a:lnTo>
                <a:lnTo>
                  <a:pt x="8726" y="573"/>
                </a:lnTo>
                <a:lnTo>
                  <a:pt x="9642" y="551"/>
                </a:lnTo>
                <a:lnTo>
                  <a:pt x="10927" y="346"/>
                </a:lnTo>
                <a:lnTo>
                  <a:pt x="12280" y="283"/>
                </a:lnTo>
                <a:lnTo>
                  <a:pt x="13677" y="304"/>
                </a:lnTo>
                <a:lnTo>
                  <a:pt x="15156" y="327"/>
                </a:lnTo>
                <a:lnTo>
                  <a:pt x="16697" y="114"/>
                </a:lnTo>
                <a:lnTo>
                  <a:pt x="18764" y="188"/>
                </a:lnTo>
                <a:lnTo>
                  <a:pt x="20891" y="115"/>
                </a:lnTo>
                <a:lnTo>
                  <a:pt x="23377" y="0"/>
                </a:lnTo>
                <a:lnTo>
                  <a:pt x="26649" y="216"/>
                </a:lnTo>
                <a:lnTo>
                  <a:pt x="31035" y="158"/>
                </a:lnTo>
                <a:lnTo>
                  <a:pt x="44669" y="70"/>
                </a:lnTo>
                <a:lnTo>
                  <a:pt x="58428" y="123"/>
                </a:lnTo>
                <a:lnTo>
                  <a:pt x="62826" y="99"/>
                </a:lnTo>
                <a:lnTo>
                  <a:pt x="65921" y="24"/>
                </a:lnTo>
                <a:lnTo>
                  <a:pt x="68493" y="206"/>
                </a:lnTo>
                <a:lnTo>
                  <a:pt x="70752" y="174"/>
                </a:lnTo>
                <a:lnTo>
                  <a:pt x="72783" y="164"/>
                </a:lnTo>
                <a:lnTo>
                  <a:pt x="74380" y="134"/>
                </a:lnTo>
                <a:lnTo>
                  <a:pt x="75957" y="263"/>
                </a:lnTo>
                <a:lnTo>
                  <a:pt x="77440" y="439"/>
                </a:lnTo>
                <a:lnTo>
                  <a:pt x="78674" y="372"/>
                </a:lnTo>
                <a:lnTo>
                  <a:pt x="79704" y="441"/>
                </a:lnTo>
                <a:lnTo>
                  <a:pt x="80756" y="436"/>
                </a:lnTo>
                <a:lnTo>
                  <a:pt x="81759" y="509"/>
                </a:lnTo>
                <a:lnTo>
                  <a:pt x="82798" y="612"/>
                </a:lnTo>
                <a:lnTo>
                  <a:pt x="83762" y="630"/>
                </a:lnTo>
                <a:lnTo>
                  <a:pt x="84507" y="813"/>
                </a:lnTo>
                <a:lnTo>
                  <a:pt x="85129" y="1019"/>
                </a:lnTo>
                <a:lnTo>
                  <a:pt x="85900" y="1075"/>
                </a:lnTo>
                <a:lnTo>
                  <a:pt x="86420" y="1083"/>
                </a:lnTo>
                <a:lnTo>
                  <a:pt x="87012" y="1246"/>
                </a:lnTo>
                <a:lnTo>
                  <a:pt x="87443" y="1555"/>
                </a:lnTo>
                <a:lnTo>
                  <a:pt x="87754" y="1735"/>
                </a:lnTo>
                <a:lnTo>
                  <a:pt x="88237" y="1842"/>
                </a:lnTo>
                <a:lnTo>
                  <a:pt x="88485" y="2022"/>
                </a:lnTo>
                <a:lnTo>
                  <a:pt x="88707" y="2275"/>
                </a:lnTo>
                <a:lnTo>
                  <a:pt x="89055" y="2406"/>
                </a:lnTo>
                <a:lnTo>
                  <a:pt x="89192" y="2678"/>
                </a:lnTo>
                <a:lnTo>
                  <a:pt x="89442" y="3106"/>
                </a:lnTo>
                <a:lnTo>
                  <a:pt x="89311" y="3495"/>
                </a:lnTo>
                <a:lnTo>
                  <a:pt x="89400" y="5259"/>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8677016" y="5907938"/>
            <a:ext cx="109179" cy="76352"/>
          </a:xfrm>
          <a:custGeom>
            <a:avLst/>
            <a:gdLst/>
            <a:ahLst/>
            <a:cxnLst/>
            <a:rect l="l" t="t" r="r" b="b"/>
            <a:pathLst>
              <a:path w="1194" h="835">
                <a:moveTo>
                  <a:pt x="1194" y="0"/>
                </a:moveTo>
                <a:lnTo>
                  <a:pt x="972" y="248"/>
                </a:lnTo>
                <a:lnTo>
                  <a:pt x="699" y="466"/>
                </a:lnTo>
                <a:lnTo>
                  <a:pt x="375" y="660"/>
                </a:lnTo>
                <a:lnTo>
                  <a:pt x="0" y="835"/>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7446691" y="6093104"/>
            <a:ext cx="493867" cy="18928"/>
          </a:xfrm>
          <a:custGeom>
            <a:avLst/>
            <a:gdLst/>
            <a:ahLst/>
            <a:cxnLst/>
            <a:rect l="l" t="t" r="r" b="b"/>
            <a:pathLst>
              <a:path w="5401" h="207">
                <a:moveTo>
                  <a:pt x="5401" y="0"/>
                </a:moveTo>
                <a:lnTo>
                  <a:pt x="4223" y="61"/>
                </a:lnTo>
                <a:lnTo>
                  <a:pt x="2941" y="116"/>
                </a:lnTo>
                <a:lnTo>
                  <a:pt x="1539" y="165"/>
                </a:lnTo>
                <a:lnTo>
                  <a:pt x="0" y="207"/>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1885767" y="6108192"/>
            <a:ext cx="671078" cy="12344"/>
          </a:xfrm>
          <a:custGeom>
            <a:avLst/>
            <a:gdLst/>
            <a:ahLst/>
            <a:cxnLst/>
            <a:rect l="l" t="t" r="r" b="b"/>
            <a:pathLst>
              <a:path w="7339" h="135">
                <a:moveTo>
                  <a:pt x="7339" y="135"/>
                </a:moveTo>
                <a:lnTo>
                  <a:pt x="5157" y="110"/>
                </a:lnTo>
                <a:lnTo>
                  <a:pt x="3245" y="79"/>
                </a:lnTo>
                <a:lnTo>
                  <a:pt x="1539" y="42"/>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761878" y="5968289"/>
            <a:ext cx="166787" cy="56144"/>
          </a:xfrm>
          <a:custGeom>
            <a:avLst/>
            <a:gdLst/>
            <a:ahLst/>
            <a:cxnLst/>
            <a:rect l="l" t="t" r="r" b="b"/>
            <a:pathLst>
              <a:path w="1824" h="614">
                <a:moveTo>
                  <a:pt x="1824" y="614"/>
                </a:moveTo>
                <a:lnTo>
                  <a:pt x="1286" y="480"/>
                </a:lnTo>
                <a:lnTo>
                  <a:pt x="804" y="334"/>
                </a:lnTo>
                <a:lnTo>
                  <a:pt x="375" y="175"/>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686989" y="5335981"/>
            <a:ext cx="109179" cy="76352"/>
          </a:xfrm>
          <a:custGeom>
            <a:avLst/>
            <a:gdLst/>
            <a:ahLst/>
            <a:cxnLst/>
            <a:rect l="l" t="t" r="r" b="b"/>
            <a:pathLst>
              <a:path w="1194" h="835">
                <a:moveTo>
                  <a:pt x="0" y="835"/>
                </a:moveTo>
                <a:lnTo>
                  <a:pt x="222" y="587"/>
                </a:lnTo>
                <a:lnTo>
                  <a:pt x="495" y="369"/>
                </a:lnTo>
                <a:lnTo>
                  <a:pt x="819" y="175"/>
                </a:lnTo>
                <a:lnTo>
                  <a:pt x="1194"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1532626" y="5208240"/>
            <a:ext cx="493867" cy="18928"/>
          </a:xfrm>
          <a:custGeom>
            <a:avLst/>
            <a:gdLst/>
            <a:ahLst/>
            <a:cxnLst/>
            <a:rect l="l" t="t" r="r" b="b"/>
            <a:pathLst>
              <a:path w="5401" h="207">
                <a:moveTo>
                  <a:pt x="0" y="207"/>
                </a:moveTo>
                <a:lnTo>
                  <a:pt x="1178" y="146"/>
                </a:lnTo>
                <a:lnTo>
                  <a:pt x="2460" y="91"/>
                </a:lnTo>
                <a:lnTo>
                  <a:pt x="3862" y="42"/>
                </a:lnTo>
                <a:lnTo>
                  <a:pt x="5401"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6916339" y="5199736"/>
            <a:ext cx="671078" cy="12344"/>
          </a:xfrm>
          <a:custGeom>
            <a:avLst/>
            <a:gdLst/>
            <a:ahLst/>
            <a:cxnLst/>
            <a:rect l="l" t="t" r="r" b="b"/>
            <a:pathLst>
              <a:path w="7339" h="135">
                <a:moveTo>
                  <a:pt x="0" y="0"/>
                </a:moveTo>
                <a:lnTo>
                  <a:pt x="2182" y="25"/>
                </a:lnTo>
                <a:lnTo>
                  <a:pt x="4094" y="56"/>
                </a:lnTo>
                <a:lnTo>
                  <a:pt x="5800" y="93"/>
                </a:lnTo>
                <a:lnTo>
                  <a:pt x="7339" y="135"/>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8544519" y="5295839"/>
            <a:ext cx="166787" cy="56144"/>
          </a:xfrm>
          <a:custGeom>
            <a:avLst/>
            <a:gdLst/>
            <a:ahLst/>
            <a:cxnLst/>
            <a:rect l="l" t="t" r="r" b="b"/>
            <a:pathLst>
              <a:path w="1824" h="614">
                <a:moveTo>
                  <a:pt x="0" y="0"/>
                </a:moveTo>
                <a:lnTo>
                  <a:pt x="538" y="134"/>
                </a:lnTo>
                <a:lnTo>
                  <a:pt x="1020" y="280"/>
                </a:lnTo>
                <a:lnTo>
                  <a:pt x="1449" y="439"/>
                </a:lnTo>
                <a:lnTo>
                  <a:pt x="1824" y="614"/>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 Variants"/>
          <p:cNvSpPr txBox="1"/>
          <p:nvPr/>
        </p:nvSpPr>
        <p:spPr>
          <a:xfrm>
            <a:off x="813816" y="5472620"/>
            <a:ext cx="265176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AE6B55"/>
                </a:solidFill>
                <a:latin typeface="Trebuchet MS"/>
              </a:rPr>
              <a:t>Variants</a:t>
            </a:r>
          </a:p>
        </p:txBody>
      </p:sp>
      <p:sp>
        <p:nvSpPr>
          <p:cNvPr id="63" name="body: Mutate names, URLs and wording so nothing is memorised"/>
          <p:cNvSpPr txBox="1"/>
          <p:nvPr/>
        </p:nvSpPr>
        <p:spPr>
          <a:xfrm>
            <a:off x="3675887" y="5319394"/>
            <a:ext cx="4928616"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Mutate names, URLs and wording so</a:t>
            </a:r>
            <a:br/>
            <a:r>
              <a:rPr sz="1900" b="0">
                <a:solidFill>
                  <a:srgbClr val="293E46"/>
                </a:solidFill>
                <a:latin typeface="Trebuchet MS"/>
              </a:rPr>
              <a:t>nothing is memorised</a:t>
            </a:r>
          </a:p>
        </p:txBody>
      </p:sp>
      <p:sp>
        <p:nvSpPr>
          <p:cNvPr id="64" name="Rounded Rectangle 63"/>
          <p:cNvSpPr/>
          <p:nvPr/>
        </p:nvSpPr>
        <p:spPr>
          <a:xfrm>
            <a:off x="640080" y="6309360"/>
            <a:ext cx="8193024" cy="950976"/>
          </a:xfrm>
          <a:prstGeom prst="roundRect">
            <a:avLst>
              <a:gd name="adj" fmla="val 18000"/>
            </a:avLst>
          </a:prstGeom>
          <a:solidFill>
            <a:srgbClr val="F0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639348" y="6317498"/>
            <a:ext cx="8193024" cy="939089"/>
          </a:xfrm>
          <a:custGeom>
            <a:avLst/>
            <a:gdLst/>
            <a:ahLst/>
            <a:cxnLst/>
            <a:rect l="l" t="t" r="r" b="b"/>
            <a:pathLst>
              <a:path w="89600" h="10270">
                <a:moveTo>
                  <a:pt x="89600" y="5074"/>
                </a:moveTo>
                <a:lnTo>
                  <a:pt x="89535" y="6658"/>
                </a:lnTo>
                <a:lnTo>
                  <a:pt x="89284" y="7184"/>
                </a:lnTo>
                <a:lnTo>
                  <a:pt x="89202" y="7645"/>
                </a:lnTo>
                <a:lnTo>
                  <a:pt x="89173" y="7782"/>
                </a:lnTo>
                <a:lnTo>
                  <a:pt x="88823" y="7963"/>
                </a:lnTo>
                <a:lnTo>
                  <a:pt x="88523" y="8181"/>
                </a:lnTo>
                <a:lnTo>
                  <a:pt x="88203" y="8426"/>
                </a:lnTo>
                <a:lnTo>
                  <a:pt x="87809" y="8662"/>
                </a:lnTo>
                <a:lnTo>
                  <a:pt x="87382" y="8778"/>
                </a:lnTo>
                <a:lnTo>
                  <a:pt x="86864" y="8894"/>
                </a:lnTo>
                <a:lnTo>
                  <a:pt x="86324" y="8993"/>
                </a:lnTo>
                <a:lnTo>
                  <a:pt x="85794" y="9178"/>
                </a:lnTo>
                <a:lnTo>
                  <a:pt x="85112" y="9322"/>
                </a:lnTo>
                <a:lnTo>
                  <a:pt x="84381" y="9331"/>
                </a:lnTo>
                <a:lnTo>
                  <a:pt x="83833" y="9566"/>
                </a:lnTo>
                <a:lnTo>
                  <a:pt x="82957" y="9716"/>
                </a:lnTo>
                <a:lnTo>
                  <a:pt x="81823" y="9792"/>
                </a:lnTo>
                <a:lnTo>
                  <a:pt x="80848" y="9793"/>
                </a:lnTo>
                <a:lnTo>
                  <a:pt x="79764" y="9854"/>
                </a:lnTo>
                <a:lnTo>
                  <a:pt x="78652" y="9952"/>
                </a:lnTo>
                <a:lnTo>
                  <a:pt x="77292" y="9981"/>
                </a:lnTo>
                <a:lnTo>
                  <a:pt x="75893" y="10024"/>
                </a:lnTo>
                <a:lnTo>
                  <a:pt x="74418" y="10079"/>
                </a:lnTo>
                <a:lnTo>
                  <a:pt x="72764" y="10195"/>
                </a:lnTo>
                <a:lnTo>
                  <a:pt x="70897" y="10179"/>
                </a:lnTo>
                <a:lnTo>
                  <a:pt x="68764" y="10197"/>
                </a:lnTo>
                <a:lnTo>
                  <a:pt x="66075" y="10270"/>
                </a:lnTo>
                <a:lnTo>
                  <a:pt x="62839" y="10199"/>
                </a:lnTo>
                <a:lnTo>
                  <a:pt x="58506" y="10148"/>
                </a:lnTo>
                <a:lnTo>
                  <a:pt x="44812" y="10257"/>
                </a:lnTo>
                <a:lnTo>
                  <a:pt x="30955" y="10164"/>
                </a:lnTo>
                <a:lnTo>
                  <a:pt x="26646" y="10149"/>
                </a:lnTo>
                <a:lnTo>
                  <a:pt x="23413" y="10047"/>
                </a:lnTo>
                <a:lnTo>
                  <a:pt x="20879" y="10122"/>
                </a:lnTo>
                <a:lnTo>
                  <a:pt x="18823" y="10188"/>
                </a:lnTo>
                <a:lnTo>
                  <a:pt x="16916" y="10175"/>
                </a:lnTo>
                <a:lnTo>
                  <a:pt x="15115" y="10074"/>
                </a:lnTo>
                <a:lnTo>
                  <a:pt x="13744" y="9955"/>
                </a:lnTo>
                <a:lnTo>
                  <a:pt x="12110" y="9965"/>
                </a:lnTo>
                <a:lnTo>
                  <a:pt x="10998" y="9895"/>
                </a:lnTo>
                <a:lnTo>
                  <a:pt x="9852" y="9944"/>
                </a:lnTo>
                <a:lnTo>
                  <a:pt x="8749" y="9767"/>
                </a:lnTo>
                <a:lnTo>
                  <a:pt x="7615" y="9787"/>
                </a:lnTo>
                <a:lnTo>
                  <a:pt x="6754" y="9541"/>
                </a:lnTo>
                <a:lnTo>
                  <a:pt x="5792" y="9594"/>
                </a:lnTo>
                <a:lnTo>
                  <a:pt x="5094" y="9334"/>
                </a:lnTo>
                <a:lnTo>
                  <a:pt x="4513" y="9218"/>
                </a:lnTo>
                <a:lnTo>
                  <a:pt x="3791" y="9141"/>
                </a:lnTo>
                <a:lnTo>
                  <a:pt x="3036" y="9019"/>
                </a:lnTo>
                <a:lnTo>
                  <a:pt x="2689" y="8872"/>
                </a:lnTo>
                <a:lnTo>
                  <a:pt x="2228" y="8720"/>
                </a:lnTo>
                <a:lnTo>
                  <a:pt x="1750" y="8771"/>
                </a:lnTo>
                <a:lnTo>
                  <a:pt x="1319" y="8461"/>
                </a:lnTo>
                <a:lnTo>
                  <a:pt x="898" y="8384"/>
                </a:lnTo>
                <a:lnTo>
                  <a:pt x="721" y="7996"/>
                </a:lnTo>
                <a:lnTo>
                  <a:pt x="512" y="7792"/>
                </a:lnTo>
                <a:lnTo>
                  <a:pt x="330" y="7534"/>
                </a:lnTo>
                <a:lnTo>
                  <a:pt x="112" y="7113"/>
                </a:lnTo>
                <a:lnTo>
                  <a:pt x="31" y="6592"/>
                </a:lnTo>
                <a:lnTo>
                  <a:pt x="0" y="5177"/>
                </a:lnTo>
                <a:lnTo>
                  <a:pt x="129" y="3479"/>
                </a:lnTo>
                <a:lnTo>
                  <a:pt x="180" y="2988"/>
                </a:lnTo>
                <a:lnTo>
                  <a:pt x="367" y="2695"/>
                </a:lnTo>
                <a:lnTo>
                  <a:pt x="638" y="2327"/>
                </a:lnTo>
                <a:lnTo>
                  <a:pt x="671" y="2078"/>
                </a:lnTo>
                <a:lnTo>
                  <a:pt x="923" y="1958"/>
                </a:lnTo>
                <a:lnTo>
                  <a:pt x="1265" y="1738"/>
                </a:lnTo>
                <a:lnTo>
                  <a:pt x="1714" y="1568"/>
                </a:lnTo>
                <a:lnTo>
                  <a:pt x="2035" y="1339"/>
                </a:lnTo>
                <a:lnTo>
                  <a:pt x="2559" y="1222"/>
                </a:lnTo>
                <a:lnTo>
                  <a:pt x="3148" y="1076"/>
                </a:lnTo>
                <a:lnTo>
                  <a:pt x="3745" y="1118"/>
                </a:lnTo>
                <a:lnTo>
                  <a:pt x="4360" y="842"/>
                </a:lnTo>
                <a:lnTo>
                  <a:pt x="5143" y="893"/>
                </a:lnTo>
                <a:lnTo>
                  <a:pt x="5934" y="771"/>
                </a:lnTo>
                <a:lnTo>
                  <a:pt x="6770" y="653"/>
                </a:lnTo>
                <a:lnTo>
                  <a:pt x="7604" y="474"/>
                </a:lnTo>
                <a:lnTo>
                  <a:pt x="8686" y="362"/>
                </a:lnTo>
                <a:lnTo>
                  <a:pt x="9646" y="452"/>
                </a:lnTo>
                <a:lnTo>
                  <a:pt x="10942" y="267"/>
                </a:lnTo>
                <a:lnTo>
                  <a:pt x="12258" y="237"/>
                </a:lnTo>
                <a:lnTo>
                  <a:pt x="13610" y="242"/>
                </a:lnTo>
                <a:lnTo>
                  <a:pt x="15196" y="282"/>
                </a:lnTo>
                <a:lnTo>
                  <a:pt x="16973" y="89"/>
                </a:lnTo>
                <a:lnTo>
                  <a:pt x="18763" y="131"/>
                </a:lnTo>
                <a:lnTo>
                  <a:pt x="21070" y="21"/>
                </a:lnTo>
                <a:lnTo>
                  <a:pt x="23406" y="153"/>
                </a:lnTo>
                <a:lnTo>
                  <a:pt x="26798" y="104"/>
                </a:lnTo>
                <a:lnTo>
                  <a:pt x="31113" y="69"/>
                </a:lnTo>
                <a:lnTo>
                  <a:pt x="44790" y="0"/>
                </a:lnTo>
                <a:lnTo>
                  <a:pt x="58538" y="42"/>
                </a:lnTo>
                <a:lnTo>
                  <a:pt x="62894" y="98"/>
                </a:lnTo>
                <a:lnTo>
                  <a:pt x="66024" y="23"/>
                </a:lnTo>
                <a:lnTo>
                  <a:pt x="68741" y="97"/>
                </a:lnTo>
                <a:lnTo>
                  <a:pt x="70921" y="212"/>
                </a:lnTo>
                <a:lnTo>
                  <a:pt x="72629" y="52"/>
                </a:lnTo>
                <a:lnTo>
                  <a:pt x="74316" y="262"/>
                </a:lnTo>
                <a:lnTo>
                  <a:pt x="76101" y="119"/>
                </a:lnTo>
                <a:lnTo>
                  <a:pt x="77334" y="320"/>
                </a:lnTo>
                <a:lnTo>
                  <a:pt x="78707" y="213"/>
                </a:lnTo>
                <a:lnTo>
                  <a:pt x="79810" y="365"/>
                </a:lnTo>
                <a:lnTo>
                  <a:pt x="80896" y="428"/>
                </a:lnTo>
                <a:lnTo>
                  <a:pt x="82028" y="522"/>
                </a:lnTo>
                <a:lnTo>
                  <a:pt x="82739" y="524"/>
                </a:lnTo>
                <a:lnTo>
                  <a:pt x="83700" y="780"/>
                </a:lnTo>
                <a:lnTo>
                  <a:pt x="84556" y="892"/>
                </a:lnTo>
                <a:lnTo>
                  <a:pt x="85182" y="836"/>
                </a:lnTo>
                <a:lnTo>
                  <a:pt x="85962" y="1078"/>
                </a:lnTo>
                <a:lnTo>
                  <a:pt x="86374" y="1189"/>
                </a:lnTo>
                <a:lnTo>
                  <a:pt x="86864" y="1314"/>
                </a:lnTo>
                <a:lnTo>
                  <a:pt x="87443" y="1411"/>
                </a:lnTo>
                <a:lnTo>
                  <a:pt x="87869" y="1586"/>
                </a:lnTo>
                <a:lnTo>
                  <a:pt x="88247" y="1760"/>
                </a:lnTo>
                <a:lnTo>
                  <a:pt x="88547" y="2003"/>
                </a:lnTo>
                <a:lnTo>
                  <a:pt x="88861" y="2140"/>
                </a:lnTo>
                <a:lnTo>
                  <a:pt x="89119" y="2346"/>
                </a:lnTo>
                <a:lnTo>
                  <a:pt x="89227" y="2712"/>
                </a:lnTo>
                <a:lnTo>
                  <a:pt x="89501" y="2967"/>
                </a:lnTo>
                <a:lnTo>
                  <a:pt x="89491" y="3519"/>
                </a:lnTo>
                <a:lnTo>
                  <a:pt x="89523" y="5126"/>
                </a:lnTo>
                <a:close/>
              </a:path>
            </a:pathLst>
          </a:custGeom>
          <a:noFill/>
          <a:ln w="19685" cap="rnd">
            <a:solidFill>
              <a:srgbClr val="7C7196">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642823" y="6314664"/>
            <a:ext cx="8186806" cy="939272"/>
          </a:xfrm>
          <a:custGeom>
            <a:avLst/>
            <a:gdLst/>
            <a:ahLst/>
            <a:cxnLst/>
            <a:rect l="l" t="t" r="r" b="b"/>
            <a:pathLst>
              <a:path w="89532" h="10272">
                <a:moveTo>
                  <a:pt x="89532" y="5057"/>
                </a:moveTo>
                <a:lnTo>
                  <a:pt x="89366" y="6646"/>
                </a:lnTo>
                <a:lnTo>
                  <a:pt x="89281" y="7223"/>
                </a:lnTo>
                <a:lnTo>
                  <a:pt x="89154" y="7549"/>
                </a:lnTo>
                <a:lnTo>
                  <a:pt x="89128" y="7753"/>
                </a:lnTo>
                <a:lnTo>
                  <a:pt x="88906" y="8165"/>
                </a:lnTo>
                <a:lnTo>
                  <a:pt x="88586" y="8198"/>
                </a:lnTo>
                <a:lnTo>
                  <a:pt x="88297" y="8563"/>
                </a:lnTo>
                <a:lnTo>
                  <a:pt x="87757" y="8595"/>
                </a:lnTo>
                <a:lnTo>
                  <a:pt x="87550" y="8960"/>
                </a:lnTo>
                <a:lnTo>
                  <a:pt x="86945" y="9016"/>
                </a:lnTo>
                <a:lnTo>
                  <a:pt x="86417" y="9157"/>
                </a:lnTo>
                <a:lnTo>
                  <a:pt x="85741" y="9286"/>
                </a:lnTo>
                <a:lnTo>
                  <a:pt x="85160" y="9413"/>
                </a:lnTo>
                <a:lnTo>
                  <a:pt x="84536" y="9587"/>
                </a:lnTo>
                <a:lnTo>
                  <a:pt x="83664" y="9520"/>
                </a:lnTo>
                <a:lnTo>
                  <a:pt x="82707" y="9581"/>
                </a:lnTo>
                <a:lnTo>
                  <a:pt x="81852" y="9651"/>
                </a:lnTo>
                <a:lnTo>
                  <a:pt x="81009" y="9752"/>
                </a:lnTo>
                <a:lnTo>
                  <a:pt x="79707" y="9978"/>
                </a:lnTo>
                <a:lnTo>
                  <a:pt x="78590" y="9974"/>
                </a:lnTo>
                <a:lnTo>
                  <a:pt x="77229" y="10062"/>
                </a:lnTo>
                <a:lnTo>
                  <a:pt x="75997" y="9933"/>
                </a:lnTo>
                <a:lnTo>
                  <a:pt x="74505" y="10134"/>
                </a:lnTo>
                <a:lnTo>
                  <a:pt x="72766" y="10154"/>
                </a:lnTo>
                <a:lnTo>
                  <a:pt x="70822" y="10052"/>
                </a:lnTo>
                <a:lnTo>
                  <a:pt x="68563" y="10231"/>
                </a:lnTo>
                <a:lnTo>
                  <a:pt x="65965" y="10086"/>
                </a:lnTo>
                <a:lnTo>
                  <a:pt x="63001" y="10272"/>
                </a:lnTo>
                <a:lnTo>
                  <a:pt x="58459" y="10168"/>
                </a:lnTo>
                <a:lnTo>
                  <a:pt x="44809" y="10200"/>
                </a:lnTo>
                <a:lnTo>
                  <a:pt x="30924" y="10216"/>
                </a:lnTo>
                <a:lnTo>
                  <a:pt x="26658" y="10245"/>
                </a:lnTo>
                <a:lnTo>
                  <a:pt x="23412" y="10189"/>
                </a:lnTo>
                <a:lnTo>
                  <a:pt x="20889" y="10216"/>
                </a:lnTo>
                <a:lnTo>
                  <a:pt x="18788" y="10043"/>
                </a:lnTo>
                <a:lnTo>
                  <a:pt x="16882" y="10021"/>
                </a:lnTo>
                <a:lnTo>
                  <a:pt x="15178" y="10004"/>
                </a:lnTo>
                <a:lnTo>
                  <a:pt x="13714" y="9979"/>
                </a:lnTo>
                <a:lnTo>
                  <a:pt x="12100" y="9888"/>
                </a:lnTo>
                <a:lnTo>
                  <a:pt x="10859" y="9940"/>
                </a:lnTo>
                <a:lnTo>
                  <a:pt x="9859" y="9887"/>
                </a:lnTo>
                <a:lnTo>
                  <a:pt x="8566" y="9729"/>
                </a:lnTo>
                <a:lnTo>
                  <a:pt x="7582" y="9845"/>
                </a:lnTo>
                <a:lnTo>
                  <a:pt x="6680" y="9539"/>
                </a:lnTo>
                <a:lnTo>
                  <a:pt x="5867" y="9547"/>
                </a:lnTo>
                <a:lnTo>
                  <a:pt x="5004" y="9362"/>
                </a:lnTo>
                <a:lnTo>
                  <a:pt x="4344" y="9303"/>
                </a:lnTo>
                <a:lnTo>
                  <a:pt x="3755" y="9355"/>
                </a:lnTo>
                <a:lnTo>
                  <a:pt x="3114" y="9125"/>
                </a:lnTo>
                <a:lnTo>
                  <a:pt x="2469" y="8901"/>
                </a:lnTo>
                <a:lnTo>
                  <a:pt x="2153" y="8754"/>
                </a:lnTo>
                <a:lnTo>
                  <a:pt x="1708" y="8800"/>
                </a:lnTo>
                <a:lnTo>
                  <a:pt x="1208" y="8398"/>
                </a:lnTo>
                <a:lnTo>
                  <a:pt x="980" y="8435"/>
                </a:lnTo>
                <a:lnTo>
                  <a:pt x="622" y="8205"/>
                </a:lnTo>
                <a:lnTo>
                  <a:pt x="437" y="7900"/>
                </a:lnTo>
                <a:lnTo>
                  <a:pt x="312" y="7483"/>
                </a:lnTo>
                <a:lnTo>
                  <a:pt x="152" y="7296"/>
                </a:lnTo>
                <a:lnTo>
                  <a:pt x="0" y="6659"/>
                </a:lnTo>
                <a:lnTo>
                  <a:pt x="66" y="5123"/>
                </a:lnTo>
                <a:lnTo>
                  <a:pt x="102" y="3587"/>
                </a:lnTo>
                <a:lnTo>
                  <a:pt x="100" y="3067"/>
                </a:lnTo>
                <a:lnTo>
                  <a:pt x="376" y="2608"/>
                </a:lnTo>
                <a:lnTo>
                  <a:pt x="493" y="2366"/>
                </a:lnTo>
                <a:lnTo>
                  <a:pt x="834" y="2186"/>
                </a:lnTo>
                <a:lnTo>
                  <a:pt x="887" y="1853"/>
                </a:lnTo>
                <a:lnTo>
                  <a:pt x="1412" y="1704"/>
                </a:lnTo>
                <a:lnTo>
                  <a:pt x="1641" y="1607"/>
                </a:lnTo>
                <a:lnTo>
                  <a:pt x="2049" y="1454"/>
                </a:lnTo>
                <a:lnTo>
                  <a:pt x="2578" y="1241"/>
                </a:lnTo>
                <a:lnTo>
                  <a:pt x="3234" y="1206"/>
                </a:lnTo>
                <a:lnTo>
                  <a:pt x="3764" y="1073"/>
                </a:lnTo>
                <a:lnTo>
                  <a:pt x="4475" y="986"/>
                </a:lnTo>
                <a:lnTo>
                  <a:pt x="5110" y="855"/>
                </a:lnTo>
                <a:lnTo>
                  <a:pt x="5891" y="832"/>
                </a:lnTo>
                <a:lnTo>
                  <a:pt x="6802" y="601"/>
                </a:lnTo>
                <a:lnTo>
                  <a:pt x="7629" y="637"/>
                </a:lnTo>
                <a:lnTo>
                  <a:pt x="8564" y="523"/>
                </a:lnTo>
                <a:lnTo>
                  <a:pt x="9651" y="379"/>
                </a:lnTo>
                <a:lnTo>
                  <a:pt x="11006" y="250"/>
                </a:lnTo>
                <a:lnTo>
                  <a:pt x="12268" y="194"/>
                </a:lnTo>
                <a:lnTo>
                  <a:pt x="13683" y="176"/>
                </a:lnTo>
                <a:lnTo>
                  <a:pt x="15020" y="96"/>
                </a:lnTo>
                <a:lnTo>
                  <a:pt x="16763" y="272"/>
                </a:lnTo>
                <a:lnTo>
                  <a:pt x="18730" y="62"/>
                </a:lnTo>
                <a:lnTo>
                  <a:pt x="20820" y="222"/>
                </a:lnTo>
                <a:lnTo>
                  <a:pt x="23438" y="144"/>
                </a:lnTo>
                <a:lnTo>
                  <a:pt x="26553" y="76"/>
                </a:lnTo>
                <a:lnTo>
                  <a:pt x="30998" y="36"/>
                </a:lnTo>
                <a:lnTo>
                  <a:pt x="44775" y="28"/>
                </a:lnTo>
                <a:lnTo>
                  <a:pt x="58474" y="0"/>
                </a:lnTo>
                <a:lnTo>
                  <a:pt x="62884" y="88"/>
                </a:lnTo>
                <a:lnTo>
                  <a:pt x="66117" y="39"/>
                </a:lnTo>
                <a:lnTo>
                  <a:pt x="68646" y="221"/>
                </a:lnTo>
                <a:lnTo>
                  <a:pt x="70765" y="132"/>
                </a:lnTo>
                <a:lnTo>
                  <a:pt x="72730" y="242"/>
                </a:lnTo>
                <a:lnTo>
                  <a:pt x="74445" y="318"/>
                </a:lnTo>
                <a:lnTo>
                  <a:pt x="75835" y="144"/>
                </a:lnTo>
                <a:lnTo>
                  <a:pt x="77365" y="365"/>
                </a:lnTo>
                <a:lnTo>
                  <a:pt x="78560" y="444"/>
                </a:lnTo>
                <a:lnTo>
                  <a:pt x="79690" y="359"/>
                </a:lnTo>
                <a:lnTo>
                  <a:pt x="80916" y="584"/>
                </a:lnTo>
                <a:lnTo>
                  <a:pt x="81825" y="524"/>
                </a:lnTo>
                <a:lnTo>
                  <a:pt x="82698" y="692"/>
                </a:lnTo>
                <a:lnTo>
                  <a:pt x="83660" y="739"/>
                </a:lnTo>
                <a:lnTo>
                  <a:pt x="84371" y="734"/>
                </a:lnTo>
                <a:lnTo>
                  <a:pt x="85233" y="934"/>
                </a:lnTo>
                <a:lnTo>
                  <a:pt x="85859" y="981"/>
                </a:lnTo>
                <a:lnTo>
                  <a:pt x="86535" y="1124"/>
                </a:lnTo>
                <a:lnTo>
                  <a:pt x="87073" y="1338"/>
                </a:lnTo>
                <a:lnTo>
                  <a:pt x="87557" y="1390"/>
                </a:lnTo>
                <a:lnTo>
                  <a:pt x="87881" y="1673"/>
                </a:lnTo>
                <a:lnTo>
                  <a:pt x="88343" y="1709"/>
                </a:lnTo>
                <a:lnTo>
                  <a:pt x="88564" y="1864"/>
                </a:lnTo>
                <a:lnTo>
                  <a:pt x="88841" y="2198"/>
                </a:lnTo>
                <a:lnTo>
                  <a:pt x="88965" y="2495"/>
                </a:lnTo>
                <a:lnTo>
                  <a:pt x="89258" y="2636"/>
                </a:lnTo>
                <a:lnTo>
                  <a:pt x="89404" y="3026"/>
                </a:lnTo>
                <a:lnTo>
                  <a:pt x="89457" y="3553"/>
                </a:lnTo>
                <a:lnTo>
                  <a:pt x="89401" y="5173"/>
                </a:lnTo>
                <a:close/>
              </a:path>
            </a:pathLst>
          </a:custGeom>
          <a:noFill/>
          <a:ln w="7620" cap="rnd">
            <a:solidFill>
              <a:srgbClr val="7C7196">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8677016" y="7032650"/>
            <a:ext cx="109179" cy="76352"/>
          </a:xfrm>
          <a:custGeom>
            <a:avLst/>
            <a:gdLst/>
            <a:ahLst/>
            <a:cxnLst/>
            <a:rect l="l" t="t" r="r" b="b"/>
            <a:pathLst>
              <a:path w="1194" h="835">
                <a:moveTo>
                  <a:pt x="1194" y="0"/>
                </a:moveTo>
                <a:lnTo>
                  <a:pt x="972" y="248"/>
                </a:lnTo>
                <a:lnTo>
                  <a:pt x="699" y="466"/>
                </a:lnTo>
                <a:lnTo>
                  <a:pt x="375" y="660"/>
                </a:lnTo>
                <a:lnTo>
                  <a:pt x="0" y="835"/>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7446691" y="7217816"/>
            <a:ext cx="493867" cy="18928"/>
          </a:xfrm>
          <a:custGeom>
            <a:avLst/>
            <a:gdLst/>
            <a:ahLst/>
            <a:cxnLst/>
            <a:rect l="l" t="t" r="r" b="b"/>
            <a:pathLst>
              <a:path w="5401" h="207">
                <a:moveTo>
                  <a:pt x="5401" y="0"/>
                </a:moveTo>
                <a:lnTo>
                  <a:pt x="4223" y="61"/>
                </a:lnTo>
                <a:lnTo>
                  <a:pt x="2941" y="116"/>
                </a:lnTo>
                <a:lnTo>
                  <a:pt x="1539" y="165"/>
                </a:lnTo>
                <a:lnTo>
                  <a:pt x="0" y="207"/>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885767" y="7232904"/>
            <a:ext cx="671078" cy="12344"/>
          </a:xfrm>
          <a:custGeom>
            <a:avLst/>
            <a:gdLst/>
            <a:ahLst/>
            <a:cxnLst/>
            <a:rect l="l" t="t" r="r" b="b"/>
            <a:pathLst>
              <a:path w="7339" h="135">
                <a:moveTo>
                  <a:pt x="7339" y="135"/>
                </a:moveTo>
                <a:lnTo>
                  <a:pt x="5157" y="110"/>
                </a:lnTo>
                <a:lnTo>
                  <a:pt x="3245" y="79"/>
                </a:lnTo>
                <a:lnTo>
                  <a:pt x="1539" y="42"/>
                </a:lnTo>
                <a:lnTo>
                  <a:pt x="0"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761878" y="7093001"/>
            <a:ext cx="166787" cy="56144"/>
          </a:xfrm>
          <a:custGeom>
            <a:avLst/>
            <a:gdLst/>
            <a:ahLst/>
            <a:cxnLst/>
            <a:rect l="l" t="t" r="r" b="b"/>
            <a:pathLst>
              <a:path w="1824" h="614">
                <a:moveTo>
                  <a:pt x="1824" y="614"/>
                </a:moveTo>
                <a:lnTo>
                  <a:pt x="1286" y="480"/>
                </a:lnTo>
                <a:lnTo>
                  <a:pt x="804" y="334"/>
                </a:lnTo>
                <a:lnTo>
                  <a:pt x="375" y="175"/>
                </a:lnTo>
                <a:lnTo>
                  <a:pt x="0"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686989" y="6460693"/>
            <a:ext cx="109179" cy="76352"/>
          </a:xfrm>
          <a:custGeom>
            <a:avLst/>
            <a:gdLst/>
            <a:ahLst/>
            <a:cxnLst/>
            <a:rect l="l" t="t" r="r" b="b"/>
            <a:pathLst>
              <a:path w="1194" h="835">
                <a:moveTo>
                  <a:pt x="0" y="835"/>
                </a:moveTo>
                <a:lnTo>
                  <a:pt x="222" y="587"/>
                </a:lnTo>
                <a:lnTo>
                  <a:pt x="495" y="369"/>
                </a:lnTo>
                <a:lnTo>
                  <a:pt x="819" y="175"/>
                </a:lnTo>
                <a:lnTo>
                  <a:pt x="1194"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1532626" y="6332952"/>
            <a:ext cx="493867" cy="18928"/>
          </a:xfrm>
          <a:custGeom>
            <a:avLst/>
            <a:gdLst/>
            <a:ahLst/>
            <a:cxnLst/>
            <a:rect l="l" t="t" r="r" b="b"/>
            <a:pathLst>
              <a:path w="5401" h="207">
                <a:moveTo>
                  <a:pt x="0" y="207"/>
                </a:moveTo>
                <a:lnTo>
                  <a:pt x="1178" y="146"/>
                </a:lnTo>
                <a:lnTo>
                  <a:pt x="2460" y="91"/>
                </a:lnTo>
                <a:lnTo>
                  <a:pt x="3862" y="42"/>
                </a:lnTo>
                <a:lnTo>
                  <a:pt x="5401"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6916339" y="6324448"/>
            <a:ext cx="671078" cy="12344"/>
          </a:xfrm>
          <a:custGeom>
            <a:avLst/>
            <a:gdLst/>
            <a:ahLst/>
            <a:cxnLst/>
            <a:rect l="l" t="t" r="r" b="b"/>
            <a:pathLst>
              <a:path w="7339" h="135">
                <a:moveTo>
                  <a:pt x="0" y="0"/>
                </a:moveTo>
                <a:lnTo>
                  <a:pt x="2182" y="25"/>
                </a:lnTo>
                <a:lnTo>
                  <a:pt x="4094" y="56"/>
                </a:lnTo>
                <a:lnTo>
                  <a:pt x="5800" y="93"/>
                </a:lnTo>
                <a:lnTo>
                  <a:pt x="7339" y="135"/>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8544519" y="6420551"/>
            <a:ext cx="166787" cy="56144"/>
          </a:xfrm>
          <a:custGeom>
            <a:avLst/>
            <a:gdLst/>
            <a:ahLst/>
            <a:cxnLst/>
            <a:rect l="l" t="t" r="r" b="b"/>
            <a:pathLst>
              <a:path w="1824" h="614">
                <a:moveTo>
                  <a:pt x="0" y="0"/>
                </a:moveTo>
                <a:lnTo>
                  <a:pt x="538" y="134"/>
                </a:lnTo>
                <a:lnTo>
                  <a:pt x="1020" y="280"/>
                </a:lnTo>
                <a:lnTo>
                  <a:pt x="1449" y="439"/>
                </a:lnTo>
                <a:lnTo>
                  <a:pt x="1824" y="614"/>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ody: Release into eval pack"/>
          <p:cNvSpPr txBox="1"/>
          <p:nvPr/>
        </p:nvSpPr>
        <p:spPr>
          <a:xfrm>
            <a:off x="813816" y="6444107"/>
            <a:ext cx="2651760" cy="68148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7C7196"/>
                </a:solidFill>
                <a:latin typeface="Trebuchet MS"/>
              </a:rPr>
              <a:t>Release into eval</a:t>
            </a:r>
            <a:br/>
            <a:r>
              <a:rPr sz="1900" b="1">
                <a:solidFill>
                  <a:srgbClr val="7C7196"/>
                </a:solidFill>
                <a:latin typeface="Trebuchet MS"/>
              </a:rPr>
              <a:t>pack</a:t>
            </a:r>
          </a:p>
        </p:txBody>
      </p:sp>
      <p:sp>
        <p:nvSpPr>
          <p:cNvPr id="76" name="body: Qualified cases join development; held-out stays locked"/>
          <p:cNvSpPr txBox="1"/>
          <p:nvPr/>
        </p:nvSpPr>
        <p:spPr>
          <a:xfrm>
            <a:off x="3675887" y="6444107"/>
            <a:ext cx="4928616"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Qualified cases join development; held-out</a:t>
            </a:r>
            <a:br/>
            <a:r>
              <a:rPr sz="1900" b="0">
                <a:solidFill>
                  <a:srgbClr val="293E46"/>
                </a:solidFill>
                <a:latin typeface="Trebuchet MS"/>
              </a:rPr>
              <a:t>stays locked</a:t>
            </a:r>
          </a:p>
        </p:txBody>
      </p:sp>
      <p:sp>
        <p:nvSpPr>
          <p:cNvPr id="77" name="Rounded Rectangle 76"/>
          <p:cNvSpPr/>
          <p:nvPr/>
        </p:nvSpPr>
        <p:spPr>
          <a:xfrm>
            <a:off x="9153144" y="1810512"/>
            <a:ext cx="4837176" cy="5449824"/>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9163660" y="1817370"/>
            <a:ext cx="4825380" cy="5434279"/>
          </a:xfrm>
          <a:custGeom>
            <a:avLst/>
            <a:gdLst/>
            <a:ahLst/>
            <a:cxnLst/>
            <a:rect l="l" t="t" r="r" b="b"/>
            <a:pathLst>
              <a:path w="52771" h="59430">
                <a:moveTo>
                  <a:pt x="52589" y="29752"/>
                </a:moveTo>
                <a:lnTo>
                  <a:pt x="52771" y="38732"/>
                </a:lnTo>
                <a:lnTo>
                  <a:pt x="52636" y="41683"/>
                </a:lnTo>
                <a:lnTo>
                  <a:pt x="52432" y="43791"/>
                </a:lnTo>
                <a:lnTo>
                  <a:pt x="52493" y="45486"/>
                </a:lnTo>
                <a:lnTo>
                  <a:pt x="52212" y="47114"/>
                </a:lnTo>
                <a:lnTo>
                  <a:pt x="52225" y="48228"/>
                </a:lnTo>
                <a:lnTo>
                  <a:pt x="51952" y="49350"/>
                </a:lnTo>
                <a:lnTo>
                  <a:pt x="51602" y="50355"/>
                </a:lnTo>
                <a:lnTo>
                  <a:pt x="51389" y="51437"/>
                </a:lnTo>
                <a:lnTo>
                  <a:pt x="51306" y="52284"/>
                </a:lnTo>
                <a:lnTo>
                  <a:pt x="50829" y="53105"/>
                </a:lnTo>
                <a:lnTo>
                  <a:pt x="50519" y="53813"/>
                </a:lnTo>
                <a:lnTo>
                  <a:pt x="50259" y="54344"/>
                </a:lnTo>
                <a:lnTo>
                  <a:pt x="49756" y="55067"/>
                </a:lnTo>
                <a:lnTo>
                  <a:pt x="49232" y="55466"/>
                </a:lnTo>
                <a:lnTo>
                  <a:pt x="48817" y="55971"/>
                </a:lnTo>
                <a:lnTo>
                  <a:pt x="48342" y="56587"/>
                </a:lnTo>
                <a:lnTo>
                  <a:pt x="47505" y="57044"/>
                </a:lnTo>
                <a:lnTo>
                  <a:pt x="47006" y="57283"/>
                </a:lnTo>
                <a:lnTo>
                  <a:pt x="46365" y="57663"/>
                </a:lnTo>
                <a:lnTo>
                  <a:pt x="45591" y="58170"/>
                </a:lnTo>
                <a:lnTo>
                  <a:pt x="44659" y="58453"/>
                </a:lnTo>
                <a:lnTo>
                  <a:pt x="43713" y="58703"/>
                </a:lnTo>
                <a:lnTo>
                  <a:pt x="42913" y="58874"/>
                </a:lnTo>
                <a:lnTo>
                  <a:pt x="41740" y="59065"/>
                </a:lnTo>
                <a:lnTo>
                  <a:pt x="40425" y="59214"/>
                </a:lnTo>
                <a:lnTo>
                  <a:pt x="38877" y="59238"/>
                </a:lnTo>
                <a:lnTo>
                  <a:pt x="37110" y="59430"/>
                </a:lnTo>
                <a:lnTo>
                  <a:pt x="34376" y="59389"/>
                </a:lnTo>
                <a:lnTo>
                  <a:pt x="26413" y="59372"/>
                </a:lnTo>
                <a:lnTo>
                  <a:pt x="18329" y="59334"/>
                </a:lnTo>
                <a:lnTo>
                  <a:pt x="15715" y="59273"/>
                </a:lnTo>
                <a:lnTo>
                  <a:pt x="13791" y="59342"/>
                </a:lnTo>
                <a:lnTo>
                  <a:pt x="12415" y="59036"/>
                </a:lnTo>
                <a:lnTo>
                  <a:pt x="11036" y="59032"/>
                </a:lnTo>
                <a:lnTo>
                  <a:pt x="9764" y="58752"/>
                </a:lnTo>
                <a:lnTo>
                  <a:pt x="8962" y="58499"/>
                </a:lnTo>
                <a:lnTo>
                  <a:pt x="7989" y="58382"/>
                </a:lnTo>
                <a:lnTo>
                  <a:pt x="7120" y="58032"/>
                </a:lnTo>
                <a:lnTo>
                  <a:pt x="6384" y="57835"/>
                </a:lnTo>
                <a:lnTo>
                  <a:pt x="5732" y="57292"/>
                </a:lnTo>
                <a:lnTo>
                  <a:pt x="5158" y="56981"/>
                </a:lnTo>
                <a:lnTo>
                  <a:pt x="4547" y="56545"/>
                </a:lnTo>
                <a:lnTo>
                  <a:pt x="3814" y="56095"/>
                </a:lnTo>
                <a:lnTo>
                  <a:pt x="3479" y="55679"/>
                </a:lnTo>
                <a:lnTo>
                  <a:pt x="2958" y="54957"/>
                </a:lnTo>
                <a:lnTo>
                  <a:pt x="2640" y="54372"/>
                </a:lnTo>
                <a:lnTo>
                  <a:pt x="2257" y="53792"/>
                </a:lnTo>
                <a:lnTo>
                  <a:pt x="1667" y="52999"/>
                </a:lnTo>
                <a:lnTo>
                  <a:pt x="1439" y="52142"/>
                </a:lnTo>
                <a:lnTo>
                  <a:pt x="1090" y="51464"/>
                </a:lnTo>
                <a:lnTo>
                  <a:pt x="1028" y="50334"/>
                </a:lnTo>
                <a:lnTo>
                  <a:pt x="761" y="49374"/>
                </a:lnTo>
                <a:lnTo>
                  <a:pt x="485" y="48202"/>
                </a:lnTo>
                <a:lnTo>
                  <a:pt x="285" y="47123"/>
                </a:lnTo>
                <a:lnTo>
                  <a:pt x="289" y="45528"/>
                </a:lnTo>
                <a:lnTo>
                  <a:pt x="64" y="43893"/>
                </a:lnTo>
                <a:lnTo>
                  <a:pt x="188" y="41703"/>
                </a:lnTo>
                <a:lnTo>
                  <a:pt x="0" y="38801"/>
                </a:lnTo>
                <a:lnTo>
                  <a:pt x="133" y="29769"/>
                </a:lnTo>
                <a:lnTo>
                  <a:pt x="142" y="20706"/>
                </a:lnTo>
                <a:lnTo>
                  <a:pt x="103" y="17706"/>
                </a:lnTo>
                <a:lnTo>
                  <a:pt x="134" y="15691"/>
                </a:lnTo>
                <a:lnTo>
                  <a:pt x="307" y="13833"/>
                </a:lnTo>
                <a:lnTo>
                  <a:pt x="393" y="12476"/>
                </a:lnTo>
                <a:lnTo>
                  <a:pt x="410" y="11162"/>
                </a:lnTo>
                <a:lnTo>
                  <a:pt x="683" y="9973"/>
                </a:lnTo>
                <a:lnTo>
                  <a:pt x="867" y="9029"/>
                </a:lnTo>
                <a:lnTo>
                  <a:pt x="1277" y="8062"/>
                </a:lnTo>
                <a:lnTo>
                  <a:pt x="1546" y="7159"/>
                </a:lnTo>
                <a:lnTo>
                  <a:pt x="1785" y="6386"/>
                </a:lnTo>
                <a:lnTo>
                  <a:pt x="2166" y="5609"/>
                </a:lnTo>
                <a:lnTo>
                  <a:pt x="2483" y="4951"/>
                </a:lnTo>
                <a:lnTo>
                  <a:pt x="2959" y="4460"/>
                </a:lnTo>
                <a:lnTo>
                  <a:pt x="3516" y="3843"/>
                </a:lnTo>
                <a:lnTo>
                  <a:pt x="4040" y="3456"/>
                </a:lnTo>
                <a:lnTo>
                  <a:pt x="4369" y="2797"/>
                </a:lnTo>
                <a:lnTo>
                  <a:pt x="5004" y="2352"/>
                </a:lnTo>
                <a:lnTo>
                  <a:pt x="5685" y="1973"/>
                </a:lnTo>
                <a:lnTo>
                  <a:pt x="6287" y="1732"/>
                </a:lnTo>
                <a:lnTo>
                  <a:pt x="7167" y="1433"/>
                </a:lnTo>
                <a:lnTo>
                  <a:pt x="8067" y="1154"/>
                </a:lnTo>
                <a:lnTo>
                  <a:pt x="8754" y="904"/>
                </a:lnTo>
                <a:lnTo>
                  <a:pt x="9754" y="571"/>
                </a:lnTo>
                <a:lnTo>
                  <a:pt x="10940" y="435"/>
                </a:lnTo>
                <a:lnTo>
                  <a:pt x="12399" y="391"/>
                </a:lnTo>
                <a:lnTo>
                  <a:pt x="13874" y="175"/>
                </a:lnTo>
                <a:lnTo>
                  <a:pt x="15574" y="121"/>
                </a:lnTo>
                <a:lnTo>
                  <a:pt x="18202" y="83"/>
                </a:lnTo>
                <a:lnTo>
                  <a:pt x="26414" y="55"/>
                </a:lnTo>
                <a:lnTo>
                  <a:pt x="34411" y="0"/>
                </a:lnTo>
                <a:lnTo>
                  <a:pt x="37118" y="78"/>
                </a:lnTo>
                <a:lnTo>
                  <a:pt x="38950" y="142"/>
                </a:lnTo>
                <a:lnTo>
                  <a:pt x="40498" y="289"/>
                </a:lnTo>
                <a:lnTo>
                  <a:pt x="41611" y="497"/>
                </a:lnTo>
                <a:lnTo>
                  <a:pt x="42787" y="650"/>
                </a:lnTo>
                <a:lnTo>
                  <a:pt x="43793" y="913"/>
                </a:lnTo>
                <a:lnTo>
                  <a:pt x="44793" y="991"/>
                </a:lnTo>
                <a:lnTo>
                  <a:pt x="45624" y="1304"/>
                </a:lnTo>
                <a:lnTo>
                  <a:pt x="46212" y="1628"/>
                </a:lnTo>
                <a:lnTo>
                  <a:pt x="47078" y="2157"/>
                </a:lnTo>
                <a:lnTo>
                  <a:pt x="47609" y="2365"/>
                </a:lnTo>
                <a:lnTo>
                  <a:pt x="48251" y="2872"/>
                </a:lnTo>
                <a:lnTo>
                  <a:pt x="48800" y="3334"/>
                </a:lnTo>
                <a:lnTo>
                  <a:pt x="49253" y="3774"/>
                </a:lnTo>
                <a:lnTo>
                  <a:pt x="49691" y="4395"/>
                </a:lnTo>
                <a:lnTo>
                  <a:pt x="50077" y="4991"/>
                </a:lnTo>
                <a:lnTo>
                  <a:pt x="50544" y="5640"/>
                </a:lnTo>
                <a:lnTo>
                  <a:pt x="50843" y="6349"/>
                </a:lnTo>
                <a:lnTo>
                  <a:pt x="51216" y="7185"/>
                </a:lnTo>
                <a:lnTo>
                  <a:pt x="51462" y="8176"/>
                </a:lnTo>
                <a:lnTo>
                  <a:pt x="51612" y="9046"/>
                </a:lnTo>
                <a:lnTo>
                  <a:pt x="52044" y="10079"/>
                </a:lnTo>
                <a:lnTo>
                  <a:pt x="52012" y="11192"/>
                </a:lnTo>
                <a:lnTo>
                  <a:pt x="52241" y="12482"/>
                </a:lnTo>
                <a:lnTo>
                  <a:pt x="52469" y="14010"/>
                </a:lnTo>
                <a:lnTo>
                  <a:pt x="52656" y="15660"/>
                </a:lnTo>
                <a:lnTo>
                  <a:pt x="52687" y="17813"/>
                </a:lnTo>
                <a:lnTo>
                  <a:pt x="52624" y="20590"/>
                </a:lnTo>
                <a:lnTo>
                  <a:pt x="52690" y="29662"/>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9158539" y="1812798"/>
            <a:ext cx="4830044" cy="5429524"/>
          </a:xfrm>
          <a:custGeom>
            <a:avLst/>
            <a:gdLst/>
            <a:ahLst/>
            <a:cxnLst/>
            <a:rect l="l" t="t" r="r" b="b"/>
            <a:pathLst>
              <a:path w="52822" h="59378">
                <a:moveTo>
                  <a:pt x="52775" y="29812"/>
                </a:moveTo>
                <a:lnTo>
                  <a:pt x="52822" y="38807"/>
                </a:lnTo>
                <a:lnTo>
                  <a:pt x="52686" y="41791"/>
                </a:lnTo>
                <a:lnTo>
                  <a:pt x="52658" y="43933"/>
                </a:lnTo>
                <a:lnTo>
                  <a:pt x="52583" y="45549"/>
                </a:lnTo>
                <a:lnTo>
                  <a:pt x="52306" y="47028"/>
                </a:lnTo>
                <a:lnTo>
                  <a:pt x="52294" y="48286"/>
                </a:lnTo>
                <a:lnTo>
                  <a:pt x="52000" y="49404"/>
                </a:lnTo>
                <a:lnTo>
                  <a:pt x="51818" y="50384"/>
                </a:lnTo>
                <a:lnTo>
                  <a:pt x="51474" y="51370"/>
                </a:lnTo>
                <a:lnTo>
                  <a:pt x="51260" y="52264"/>
                </a:lnTo>
                <a:lnTo>
                  <a:pt x="50868" y="52961"/>
                </a:lnTo>
                <a:lnTo>
                  <a:pt x="50702" y="53706"/>
                </a:lnTo>
                <a:lnTo>
                  <a:pt x="50161" y="54461"/>
                </a:lnTo>
                <a:lnTo>
                  <a:pt x="49709" y="55147"/>
                </a:lnTo>
                <a:lnTo>
                  <a:pt x="49441" y="55638"/>
                </a:lnTo>
                <a:lnTo>
                  <a:pt x="48826" y="56198"/>
                </a:lnTo>
                <a:lnTo>
                  <a:pt x="48313" y="56655"/>
                </a:lnTo>
                <a:lnTo>
                  <a:pt x="47776" y="57089"/>
                </a:lnTo>
                <a:lnTo>
                  <a:pt x="47048" y="57444"/>
                </a:lnTo>
                <a:lnTo>
                  <a:pt x="46354" y="57748"/>
                </a:lnTo>
                <a:lnTo>
                  <a:pt x="45564" y="58164"/>
                </a:lnTo>
                <a:lnTo>
                  <a:pt x="44852" y="58457"/>
                </a:lnTo>
                <a:lnTo>
                  <a:pt x="43859" y="58671"/>
                </a:lnTo>
                <a:lnTo>
                  <a:pt x="42781" y="58820"/>
                </a:lnTo>
                <a:lnTo>
                  <a:pt x="41748" y="58986"/>
                </a:lnTo>
                <a:lnTo>
                  <a:pt x="40458" y="59161"/>
                </a:lnTo>
                <a:lnTo>
                  <a:pt x="38872" y="59270"/>
                </a:lnTo>
                <a:lnTo>
                  <a:pt x="36989" y="59295"/>
                </a:lnTo>
                <a:lnTo>
                  <a:pt x="34562" y="59378"/>
                </a:lnTo>
                <a:lnTo>
                  <a:pt x="26402" y="59358"/>
                </a:lnTo>
                <a:lnTo>
                  <a:pt x="18430" y="59375"/>
                </a:lnTo>
                <a:lnTo>
                  <a:pt x="15726" y="59347"/>
                </a:lnTo>
                <a:lnTo>
                  <a:pt x="13793" y="59198"/>
                </a:lnTo>
                <a:lnTo>
                  <a:pt x="12473" y="59188"/>
                </a:lnTo>
                <a:lnTo>
                  <a:pt x="11040" y="59024"/>
                </a:lnTo>
                <a:lnTo>
                  <a:pt x="10015" y="58836"/>
                </a:lnTo>
                <a:lnTo>
                  <a:pt x="8935" y="58666"/>
                </a:lnTo>
                <a:lnTo>
                  <a:pt x="8135" y="58419"/>
                </a:lnTo>
                <a:lnTo>
                  <a:pt x="7208" y="58151"/>
                </a:lnTo>
                <a:lnTo>
                  <a:pt x="6398" y="57735"/>
                </a:lnTo>
                <a:lnTo>
                  <a:pt x="5668" y="57347"/>
                </a:lnTo>
                <a:lnTo>
                  <a:pt x="4997" y="57055"/>
                </a:lnTo>
                <a:lnTo>
                  <a:pt x="4592" y="56509"/>
                </a:lnTo>
                <a:lnTo>
                  <a:pt x="3991" y="56032"/>
                </a:lnTo>
                <a:lnTo>
                  <a:pt x="3525" y="55588"/>
                </a:lnTo>
                <a:lnTo>
                  <a:pt x="2995" y="54993"/>
                </a:lnTo>
                <a:lnTo>
                  <a:pt x="2546" y="54318"/>
                </a:lnTo>
                <a:lnTo>
                  <a:pt x="2149" y="53863"/>
                </a:lnTo>
                <a:lnTo>
                  <a:pt x="1820" y="52991"/>
                </a:lnTo>
                <a:lnTo>
                  <a:pt x="1539" y="52269"/>
                </a:lnTo>
                <a:lnTo>
                  <a:pt x="1375" y="51340"/>
                </a:lnTo>
                <a:lnTo>
                  <a:pt x="1087" y="50456"/>
                </a:lnTo>
                <a:lnTo>
                  <a:pt x="739" y="49572"/>
                </a:lnTo>
                <a:lnTo>
                  <a:pt x="625" y="48380"/>
                </a:lnTo>
                <a:lnTo>
                  <a:pt x="322" y="46952"/>
                </a:lnTo>
                <a:lnTo>
                  <a:pt x="401" y="45700"/>
                </a:lnTo>
                <a:lnTo>
                  <a:pt x="316" y="43795"/>
                </a:lnTo>
                <a:lnTo>
                  <a:pt x="0" y="41717"/>
                </a:lnTo>
                <a:lnTo>
                  <a:pt x="183" y="38875"/>
                </a:lnTo>
                <a:lnTo>
                  <a:pt x="104" y="29864"/>
                </a:lnTo>
                <a:lnTo>
                  <a:pt x="104" y="20747"/>
                </a:lnTo>
                <a:lnTo>
                  <a:pt x="117" y="17676"/>
                </a:lnTo>
                <a:lnTo>
                  <a:pt x="97" y="15635"/>
                </a:lnTo>
                <a:lnTo>
                  <a:pt x="252" y="13908"/>
                </a:lnTo>
                <a:lnTo>
                  <a:pt x="383" y="12385"/>
                </a:lnTo>
                <a:lnTo>
                  <a:pt x="594" y="11164"/>
                </a:lnTo>
                <a:lnTo>
                  <a:pt x="727" y="10014"/>
                </a:lnTo>
                <a:lnTo>
                  <a:pt x="913" y="9114"/>
                </a:lnTo>
                <a:lnTo>
                  <a:pt x="1325" y="8025"/>
                </a:lnTo>
                <a:lnTo>
                  <a:pt x="1426" y="7351"/>
                </a:lnTo>
                <a:lnTo>
                  <a:pt x="1891" y="6509"/>
                </a:lnTo>
                <a:lnTo>
                  <a:pt x="2190" y="5695"/>
                </a:lnTo>
                <a:lnTo>
                  <a:pt x="2594" y="5175"/>
                </a:lnTo>
                <a:lnTo>
                  <a:pt x="2948" y="4463"/>
                </a:lnTo>
                <a:lnTo>
                  <a:pt x="3585" y="3839"/>
                </a:lnTo>
                <a:lnTo>
                  <a:pt x="4001" y="3530"/>
                </a:lnTo>
                <a:lnTo>
                  <a:pt x="4415" y="2829"/>
                </a:lnTo>
                <a:lnTo>
                  <a:pt x="5083" y="2388"/>
                </a:lnTo>
                <a:lnTo>
                  <a:pt x="5748" y="1995"/>
                </a:lnTo>
                <a:lnTo>
                  <a:pt x="6516" y="1723"/>
                </a:lnTo>
                <a:lnTo>
                  <a:pt x="7237" y="1536"/>
                </a:lnTo>
                <a:lnTo>
                  <a:pt x="7947" y="1231"/>
                </a:lnTo>
                <a:lnTo>
                  <a:pt x="8923" y="781"/>
                </a:lnTo>
                <a:lnTo>
                  <a:pt x="9957" y="590"/>
                </a:lnTo>
                <a:lnTo>
                  <a:pt x="11126" y="500"/>
                </a:lnTo>
                <a:lnTo>
                  <a:pt x="12215" y="389"/>
                </a:lnTo>
                <a:lnTo>
                  <a:pt x="13797" y="279"/>
                </a:lnTo>
                <a:lnTo>
                  <a:pt x="15780" y="92"/>
                </a:lnTo>
                <a:lnTo>
                  <a:pt x="18238" y="18"/>
                </a:lnTo>
                <a:lnTo>
                  <a:pt x="26489" y="23"/>
                </a:lnTo>
                <a:lnTo>
                  <a:pt x="34363" y="0"/>
                </a:lnTo>
                <a:lnTo>
                  <a:pt x="36962" y="237"/>
                </a:lnTo>
                <a:lnTo>
                  <a:pt x="38905" y="307"/>
                </a:lnTo>
                <a:lnTo>
                  <a:pt x="40565" y="298"/>
                </a:lnTo>
                <a:lnTo>
                  <a:pt x="41713" y="451"/>
                </a:lnTo>
                <a:lnTo>
                  <a:pt x="42759" y="595"/>
                </a:lnTo>
                <a:lnTo>
                  <a:pt x="43752" y="924"/>
                </a:lnTo>
                <a:lnTo>
                  <a:pt x="44694" y="1192"/>
                </a:lnTo>
                <a:lnTo>
                  <a:pt x="45527" y="1377"/>
                </a:lnTo>
                <a:lnTo>
                  <a:pt x="46328" y="1792"/>
                </a:lnTo>
                <a:lnTo>
                  <a:pt x="47134" y="2099"/>
                </a:lnTo>
                <a:lnTo>
                  <a:pt x="47592" y="2429"/>
                </a:lnTo>
                <a:lnTo>
                  <a:pt x="48245" y="3053"/>
                </a:lnTo>
                <a:lnTo>
                  <a:pt x="48751" y="3302"/>
                </a:lnTo>
                <a:lnTo>
                  <a:pt x="49431" y="4001"/>
                </a:lnTo>
                <a:lnTo>
                  <a:pt x="49750" y="4417"/>
                </a:lnTo>
                <a:lnTo>
                  <a:pt x="50306" y="5234"/>
                </a:lnTo>
                <a:lnTo>
                  <a:pt x="50646" y="5710"/>
                </a:lnTo>
                <a:lnTo>
                  <a:pt x="50960" y="6579"/>
                </a:lnTo>
                <a:lnTo>
                  <a:pt x="51250" y="7178"/>
                </a:lnTo>
                <a:lnTo>
                  <a:pt x="51489" y="8091"/>
                </a:lnTo>
                <a:lnTo>
                  <a:pt x="51800" y="9047"/>
                </a:lnTo>
                <a:lnTo>
                  <a:pt x="52118" y="10156"/>
                </a:lnTo>
                <a:lnTo>
                  <a:pt x="52217" y="11166"/>
                </a:lnTo>
                <a:lnTo>
                  <a:pt x="52331" y="12440"/>
                </a:lnTo>
                <a:lnTo>
                  <a:pt x="52408" y="13993"/>
                </a:lnTo>
                <a:lnTo>
                  <a:pt x="52637" y="15573"/>
                </a:lnTo>
                <a:lnTo>
                  <a:pt x="52790" y="17732"/>
                </a:lnTo>
                <a:lnTo>
                  <a:pt x="52591" y="20650"/>
                </a:lnTo>
                <a:lnTo>
                  <a:pt x="52695" y="29786"/>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13893851" y="5983376"/>
            <a:ext cx="64282" cy="445770"/>
          </a:xfrm>
          <a:custGeom>
            <a:avLst/>
            <a:gdLst/>
            <a:ahLst/>
            <a:cxnLst/>
            <a:rect l="l" t="t" r="r" b="b"/>
            <a:pathLst>
              <a:path w="703" h="4875">
                <a:moveTo>
                  <a:pt x="703" y="0"/>
                </a:moveTo>
                <a:lnTo>
                  <a:pt x="572" y="1450"/>
                </a:lnTo>
                <a:lnTo>
                  <a:pt x="412" y="2720"/>
                </a:lnTo>
                <a:lnTo>
                  <a:pt x="221" y="3853"/>
                </a:lnTo>
                <a:lnTo>
                  <a:pt x="0" y="4875"/>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13168823" y="7064929"/>
            <a:ext cx="291054" cy="110825"/>
          </a:xfrm>
          <a:custGeom>
            <a:avLst/>
            <a:gdLst/>
            <a:ahLst/>
            <a:cxnLst/>
            <a:rect l="l" t="t" r="r" b="b"/>
            <a:pathLst>
              <a:path w="3183" h="1212">
                <a:moveTo>
                  <a:pt x="3183" y="0"/>
                </a:moveTo>
                <a:lnTo>
                  <a:pt x="2488" y="358"/>
                </a:lnTo>
                <a:lnTo>
                  <a:pt x="1733" y="678"/>
                </a:lnTo>
                <a:lnTo>
                  <a:pt x="907" y="963"/>
                </a:lnTo>
                <a:lnTo>
                  <a:pt x="0" y="1212"/>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9891705" y="7152985"/>
            <a:ext cx="395478" cy="72512"/>
          </a:xfrm>
          <a:custGeom>
            <a:avLst/>
            <a:gdLst/>
            <a:ahLst/>
            <a:cxnLst/>
            <a:rect l="l" t="t" r="r" b="b"/>
            <a:pathLst>
              <a:path w="4325" h="793">
                <a:moveTo>
                  <a:pt x="4325" y="793"/>
                </a:moveTo>
                <a:lnTo>
                  <a:pt x="3039" y="645"/>
                </a:lnTo>
                <a:lnTo>
                  <a:pt x="1912" y="464"/>
                </a:lnTo>
                <a:lnTo>
                  <a:pt x="907" y="249"/>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9229405" y="6335695"/>
            <a:ext cx="98298" cy="328087"/>
          </a:xfrm>
          <a:custGeom>
            <a:avLst/>
            <a:gdLst/>
            <a:ahLst/>
            <a:cxnLst/>
            <a:rect l="l" t="t" r="r" b="b"/>
            <a:pathLst>
              <a:path w="1075" h="3588">
                <a:moveTo>
                  <a:pt x="1075" y="3588"/>
                </a:moveTo>
                <a:lnTo>
                  <a:pt x="758" y="2805"/>
                </a:lnTo>
                <a:lnTo>
                  <a:pt x="474" y="1953"/>
                </a:lnTo>
                <a:lnTo>
                  <a:pt x="221" y="1022"/>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9185331" y="2641702"/>
            <a:ext cx="64282" cy="445770"/>
          </a:xfrm>
          <a:custGeom>
            <a:avLst/>
            <a:gdLst/>
            <a:ahLst/>
            <a:cxnLst/>
            <a:rect l="l" t="t" r="r" b="b"/>
            <a:pathLst>
              <a:path w="703" h="4875">
                <a:moveTo>
                  <a:pt x="0" y="4875"/>
                </a:moveTo>
                <a:lnTo>
                  <a:pt x="131" y="3425"/>
                </a:lnTo>
                <a:lnTo>
                  <a:pt x="291" y="2155"/>
                </a:lnTo>
                <a:lnTo>
                  <a:pt x="482" y="1022"/>
                </a:lnTo>
                <a:lnTo>
                  <a:pt x="703"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9683587" y="1895094"/>
            <a:ext cx="291054" cy="110825"/>
          </a:xfrm>
          <a:custGeom>
            <a:avLst/>
            <a:gdLst/>
            <a:ahLst/>
            <a:cxnLst/>
            <a:rect l="l" t="t" r="r" b="b"/>
            <a:pathLst>
              <a:path w="3183" h="1212">
                <a:moveTo>
                  <a:pt x="0" y="1212"/>
                </a:moveTo>
                <a:lnTo>
                  <a:pt x="695" y="854"/>
                </a:lnTo>
                <a:lnTo>
                  <a:pt x="1450" y="534"/>
                </a:lnTo>
                <a:lnTo>
                  <a:pt x="2276" y="249"/>
                </a:lnTo>
                <a:lnTo>
                  <a:pt x="3183"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12856281" y="1845351"/>
            <a:ext cx="395478" cy="72512"/>
          </a:xfrm>
          <a:custGeom>
            <a:avLst/>
            <a:gdLst/>
            <a:ahLst/>
            <a:cxnLst/>
            <a:rect l="l" t="t" r="r" b="b"/>
            <a:pathLst>
              <a:path w="4325" h="793">
                <a:moveTo>
                  <a:pt x="0" y="0"/>
                </a:moveTo>
                <a:lnTo>
                  <a:pt x="1286" y="148"/>
                </a:lnTo>
                <a:lnTo>
                  <a:pt x="2413" y="329"/>
                </a:lnTo>
                <a:lnTo>
                  <a:pt x="3418" y="544"/>
                </a:lnTo>
                <a:lnTo>
                  <a:pt x="4325" y="793"/>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13815761" y="2407067"/>
            <a:ext cx="98298" cy="328087"/>
          </a:xfrm>
          <a:custGeom>
            <a:avLst/>
            <a:gdLst/>
            <a:ahLst/>
            <a:cxnLst/>
            <a:rect l="l" t="t" r="r" b="b"/>
            <a:pathLst>
              <a:path w="1075" h="3588">
                <a:moveTo>
                  <a:pt x="0" y="0"/>
                </a:moveTo>
                <a:lnTo>
                  <a:pt x="317" y="783"/>
                </a:lnTo>
                <a:lnTo>
                  <a:pt x="601" y="1635"/>
                </a:lnTo>
                <a:lnTo>
                  <a:pt x="854" y="2566"/>
                </a:lnTo>
                <a:lnTo>
                  <a:pt x="1075" y="3588"/>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body: Unique"/>
          <p:cNvSpPr txBox="1"/>
          <p:nvPr/>
        </p:nvSpPr>
        <p:spPr>
          <a:xfrm>
            <a:off x="9509760" y="2088642"/>
            <a:ext cx="412394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557B65"/>
                </a:solidFill>
                <a:latin typeface="Chalkboard SE"/>
              </a:rPr>
              <a:t>Unique</a:t>
            </a:r>
          </a:p>
        </p:txBody>
      </p:sp>
      <p:sp>
        <p:nvSpPr>
          <p:cNvPr id="89" name="Oval 88"/>
          <p:cNvSpPr/>
          <p:nvPr/>
        </p:nvSpPr>
        <p:spPr>
          <a:xfrm>
            <a:off x="9422892" y="374294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ody: New incidents become new tasks on a schedule"/>
          <p:cNvSpPr txBox="1"/>
          <p:nvPr/>
        </p:nvSpPr>
        <p:spPr>
          <a:xfrm>
            <a:off x="9656063" y="3642360"/>
            <a:ext cx="4078224" cy="778256"/>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New incidents become new</a:t>
            </a:r>
            <a:br/>
            <a:r>
              <a:rPr sz="2200" b="0">
                <a:solidFill>
                  <a:srgbClr val="293E46"/>
                </a:solidFill>
                <a:latin typeface="Trebuchet MS"/>
              </a:rPr>
              <a:t>tasks on a schedule</a:t>
            </a:r>
          </a:p>
        </p:txBody>
      </p:sp>
      <p:sp>
        <p:nvSpPr>
          <p:cNvPr id="91" name="Oval 90"/>
          <p:cNvSpPr/>
          <p:nvPr/>
        </p:nvSpPr>
        <p:spPr>
          <a:xfrm>
            <a:off x="9422892" y="464007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body: An unexpected pass triggers a label audit, not a silent win"/>
          <p:cNvSpPr txBox="1"/>
          <p:nvPr/>
        </p:nvSpPr>
        <p:spPr>
          <a:xfrm>
            <a:off x="9656063" y="4539488"/>
            <a:ext cx="4078224" cy="778256"/>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An unexpected pass triggers a</a:t>
            </a:r>
            <a:br/>
            <a:r>
              <a:rPr sz="2200" b="0">
                <a:solidFill>
                  <a:srgbClr val="293E46"/>
                </a:solidFill>
                <a:latin typeface="Trebuchet MS"/>
              </a:rPr>
              <a:t>label audit, not a silent win</a:t>
            </a:r>
          </a:p>
        </p:txBody>
      </p:sp>
      <p:sp>
        <p:nvSpPr>
          <p:cNvPr id="93" name="Oval 92"/>
          <p:cNvSpPr/>
          <p:nvPr/>
        </p:nvSpPr>
        <p:spPr>
          <a:xfrm>
            <a:off x="9422892" y="553720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body: A narrative lead becomes evidence only here"/>
          <p:cNvSpPr txBox="1"/>
          <p:nvPr/>
        </p:nvSpPr>
        <p:spPr>
          <a:xfrm>
            <a:off x="9656063" y="5436615"/>
            <a:ext cx="4078224" cy="778256"/>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A narrative lead becomes</a:t>
            </a:r>
            <a:br/>
            <a:r>
              <a:rPr sz="2200" b="0">
                <a:solidFill>
                  <a:srgbClr val="293E46"/>
                </a:solidFill>
                <a:latin typeface="Trebuchet MS"/>
              </a:rPr>
              <a:t>evidence only here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4 · COMPONENT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4 · COMPONENTS</a:t>
            </a:r>
          </a:p>
        </p:txBody>
      </p:sp>
      <p:sp>
        <p:nvSpPr>
          <p:cNvPr id="3" name="title: Component 4 · Counterfactual replay and blame"/>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Component 4 · Counterfactual replay and blame</a:t>
            </a:r>
          </a:p>
        </p:txBody>
      </p:sp>
      <p:sp>
        <p:nvSpPr>
          <p:cNvPr id="4" name="Freeform 3"/>
          <p:cNvSpPr/>
          <p:nvPr/>
        </p:nvSpPr>
        <p:spPr>
          <a:xfrm>
            <a:off x="6263640" y="1359804"/>
            <a:ext cx="2103120" cy="42428"/>
          </a:xfrm>
          <a:custGeom>
            <a:avLst/>
            <a:gdLst/>
            <a:ahLst/>
            <a:cxnLst/>
            <a:rect l="l" t="t" r="r" b="b"/>
            <a:pathLst>
              <a:path w="23000" h="464">
                <a:moveTo>
                  <a:pt x="0" y="300"/>
                </a:moveTo>
                <a:lnTo>
                  <a:pt x="958" y="346"/>
                </a:lnTo>
                <a:lnTo>
                  <a:pt x="1917" y="348"/>
                </a:lnTo>
                <a:lnTo>
                  <a:pt x="2875" y="376"/>
                </a:lnTo>
                <a:lnTo>
                  <a:pt x="3833" y="175"/>
                </a:lnTo>
                <a:lnTo>
                  <a:pt x="4792" y="128"/>
                </a:lnTo>
                <a:lnTo>
                  <a:pt x="5750" y="0"/>
                </a:lnTo>
                <a:lnTo>
                  <a:pt x="6708" y="165"/>
                </a:lnTo>
                <a:lnTo>
                  <a:pt x="7667" y="286"/>
                </a:lnTo>
                <a:lnTo>
                  <a:pt x="8625" y="359"/>
                </a:lnTo>
                <a:lnTo>
                  <a:pt x="9583" y="381"/>
                </a:lnTo>
                <a:lnTo>
                  <a:pt x="10542" y="271"/>
                </a:lnTo>
                <a:lnTo>
                  <a:pt x="11500" y="150"/>
                </a:lnTo>
                <a:lnTo>
                  <a:pt x="12458" y="26"/>
                </a:lnTo>
                <a:lnTo>
                  <a:pt x="13417" y="42"/>
                </a:lnTo>
                <a:lnTo>
                  <a:pt x="14375" y="175"/>
                </a:lnTo>
                <a:lnTo>
                  <a:pt x="15333" y="302"/>
                </a:lnTo>
                <a:lnTo>
                  <a:pt x="16292" y="464"/>
                </a:lnTo>
                <a:lnTo>
                  <a:pt x="17250" y="408"/>
                </a:lnTo>
                <a:lnTo>
                  <a:pt x="18208" y="390"/>
                </a:lnTo>
                <a:lnTo>
                  <a:pt x="19167" y="210"/>
                </a:lnTo>
                <a:lnTo>
                  <a:pt x="20125" y="21"/>
                </a:lnTo>
                <a:lnTo>
                  <a:pt x="21083" y="7"/>
                </a:lnTo>
                <a:lnTo>
                  <a:pt x="22042" y="98"/>
                </a:lnTo>
                <a:lnTo>
                  <a:pt x="23000" y="331"/>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6263"/>
            <a:ext cx="2103120" cy="42428"/>
          </a:xfrm>
          <a:custGeom>
            <a:avLst/>
            <a:gdLst/>
            <a:ahLst/>
            <a:cxnLst/>
            <a:rect l="l" t="t" r="r" b="b"/>
            <a:pathLst>
              <a:path w="23000" h="464">
                <a:moveTo>
                  <a:pt x="0" y="300"/>
                </a:moveTo>
                <a:lnTo>
                  <a:pt x="958" y="346"/>
                </a:lnTo>
                <a:lnTo>
                  <a:pt x="1917" y="348"/>
                </a:lnTo>
                <a:lnTo>
                  <a:pt x="2875" y="376"/>
                </a:lnTo>
                <a:lnTo>
                  <a:pt x="3833" y="175"/>
                </a:lnTo>
                <a:lnTo>
                  <a:pt x="4792" y="128"/>
                </a:lnTo>
                <a:lnTo>
                  <a:pt x="5750" y="0"/>
                </a:lnTo>
                <a:lnTo>
                  <a:pt x="6708" y="165"/>
                </a:lnTo>
                <a:lnTo>
                  <a:pt x="7667" y="286"/>
                </a:lnTo>
                <a:lnTo>
                  <a:pt x="8625" y="359"/>
                </a:lnTo>
                <a:lnTo>
                  <a:pt x="9583" y="381"/>
                </a:lnTo>
                <a:lnTo>
                  <a:pt x="10542" y="271"/>
                </a:lnTo>
                <a:lnTo>
                  <a:pt x="11500" y="150"/>
                </a:lnTo>
                <a:lnTo>
                  <a:pt x="12458" y="26"/>
                </a:lnTo>
                <a:lnTo>
                  <a:pt x="13417" y="42"/>
                </a:lnTo>
                <a:lnTo>
                  <a:pt x="14375" y="175"/>
                </a:lnTo>
                <a:lnTo>
                  <a:pt x="15333" y="302"/>
                </a:lnTo>
                <a:lnTo>
                  <a:pt x="16292" y="464"/>
                </a:lnTo>
                <a:lnTo>
                  <a:pt x="17250" y="408"/>
                </a:lnTo>
                <a:lnTo>
                  <a:pt x="18208" y="390"/>
                </a:lnTo>
                <a:lnTo>
                  <a:pt x="19167" y="210"/>
                </a:lnTo>
                <a:lnTo>
                  <a:pt x="20125" y="21"/>
                </a:lnTo>
                <a:lnTo>
                  <a:pt x="21083" y="7"/>
                </a:lnTo>
                <a:lnTo>
                  <a:pt x="22042" y="98"/>
                </a:lnTo>
                <a:lnTo>
                  <a:pt x="23000" y="331"/>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21"/>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21</a:t>
            </a:r>
          </a:p>
        </p:txBody>
      </p:sp>
      <p:sp>
        <p:nvSpPr>
          <p:cNvPr id="13" name="Rounded Rectangle 12"/>
          <p:cNvSpPr/>
          <p:nvPr/>
        </p:nvSpPr>
        <p:spPr>
          <a:xfrm>
            <a:off x="704088" y="2304288"/>
            <a:ext cx="7626096" cy="4352544"/>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714604" y="2309957"/>
            <a:ext cx="7616220" cy="4344680"/>
          </a:xfrm>
          <a:custGeom>
            <a:avLst/>
            <a:gdLst/>
            <a:ahLst/>
            <a:cxnLst/>
            <a:rect l="l" t="t" r="r" b="b"/>
            <a:pathLst>
              <a:path w="83292" h="47514">
                <a:moveTo>
                  <a:pt x="83178" y="23736"/>
                </a:moveTo>
                <a:lnTo>
                  <a:pt x="83127" y="30991"/>
                </a:lnTo>
                <a:lnTo>
                  <a:pt x="82997" y="33402"/>
                </a:lnTo>
                <a:lnTo>
                  <a:pt x="83008" y="34917"/>
                </a:lnTo>
                <a:lnTo>
                  <a:pt x="82800" y="36377"/>
                </a:lnTo>
                <a:lnTo>
                  <a:pt x="82610" y="37413"/>
                </a:lnTo>
                <a:lnTo>
                  <a:pt x="82383" y="38601"/>
                </a:lnTo>
                <a:lnTo>
                  <a:pt x="82132" y="39361"/>
                </a:lnTo>
                <a:lnTo>
                  <a:pt x="81624" y="40267"/>
                </a:lnTo>
                <a:lnTo>
                  <a:pt x="81369" y="40948"/>
                </a:lnTo>
                <a:lnTo>
                  <a:pt x="80833" y="41642"/>
                </a:lnTo>
                <a:lnTo>
                  <a:pt x="80381" y="42404"/>
                </a:lnTo>
                <a:lnTo>
                  <a:pt x="79770" y="42948"/>
                </a:lnTo>
                <a:lnTo>
                  <a:pt x="79246" y="43361"/>
                </a:lnTo>
                <a:lnTo>
                  <a:pt x="78508" y="43826"/>
                </a:lnTo>
                <a:lnTo>
                  <a:pt x="77845" y="44341"/>
                </a:lnTo>
                <a:lnTo>
                  <a:pt x="76874" y="44840"/>
                </a:lnTo>
                <a:lnTo>
                  <a:pt x="76021" y="45257"/>
                </a:lnTo>
                <a:lnTo>
                  <a:pt x="75321" y="45563"/>
                </a:lnTo>
                <a:lnTo>
                  <a:pt x="74076" y="45851"/>
                </a:lnTo>
                <a:lnTo>
                  <a:pt x="73090" y="46106"/>
                </a:lnTo>
                <a:lnTo>
                  <a:pt x="72022" y="46341"/>
                </a:lnTo>
                <a:lnTo>
                  <a:pt x="70477" y="46577"/>
                </a:lnTo>
                <a:lnTo>
                  <a:pt x="69052" y="46786"/>
                </a:lnTo>
                <a:lnTo>
                  <a:pt x="67482" y="46978"/>
                </a:lnTo>
                <a:lnTo>
                  <a:pt x="65676" y="47096"/>
                </a:lnTo>
                <a:lnTo>
                  <a:pt x="63668" y="47240"/>
                </a:lnTo>
                <a:lnTo>
                  <a:pt x="61324" y="47315"/>
                </a:lnTo>
                <a:lnTo>
                  <a:pt x="58526" y="47431"/>
                </a:lnTo>
                <a:lnTo>
                  <a:pt x="54263" y="47435"/>
                </a:lnTo>
                <a:lnTo>
                  <a:pt x="41629" y="47514"/>
                </a:lnTo>
                <a:lnTo>
                  <a:pt x="28814" y="47513"/>
                </a:lnTo>
                <a:lnTo>
                  <a:pt x="24672" y="47312"/>
                </a:lnTo>
                <a:lnTo>
                  <a:pt x="21778" y="47280"/>
                </a:lnTo>
                <a:lnTo>
                  <a:pt x="19410" y="47207"/>
                </a:lnTo>
                <a:lnTo>
                  <a:pt x="17457" y="47126"/>
                </a:lnTo>
                <a:lnTo>
                  <a:pt x="15697" y="46967"/>
                </a:lnTo>
                <a:lnTo>
                  <a:pt x="13900" y="46674"/>
                </a:lnTo>
                <a:lnTo>
                  <a:pt x="12536" y="46659"/>
                </a:lnTo>
                <a:lnTo>
                  <a:pt x="11336" y="46455"/>
                </a:lnTo>
                <a:lnTo>
                  <a:pt x="10190" y="46084"/>
                </a:lnTo>
                <a:lnTo>
                  <a:pt x="9038" y="45782"/>
                </a:lnTo>
                <a:lnTo>
                  <a:pt x="7864" y="45432"/>
                </a:lnTo>
                <a:lnTo>
                  <a:pt x="7115" y="45241"/>
                </a:lnTo>
                <a:lnTo>
                  <a:pt x="6242" y="44840"/>
                </a:lnTo>
                <a:lnTo>
                  <a:pt x="5307" y="44404"/>
                </a:lnTo>
                <a:lnTo>
                  <a:pt x="4775" y="43990"/>
                </a:lnTo>
                <a:lnTo>
                  <a:pt x="3953" y="43357"/>
                </a:lnTo>
                <a:lnTo>
                  <a:pt x="3449" y="42903"/>
                </a:lnTo>
                <a:lnTo>
                  <a:pt x="2790" y="42327"/>
                </a:lnTo>
                <a:lnTo>
                  <a:pt x="2460" y="41719"/>
                </a:lnTo>
                <a:lnTo>
                  <a:pt x="1795" y="41039"/>
                </a:lnTo>
                <a:lnTo>
                  <a:pt x="1481" y="40198"/>
                </a:lnTo>
                <a:lnTo>
                  <a:pt x="1192" y="39380"/>
                </a:lnTo>
                <a:lnTo>
                  <a:pt x="939" y="38445"/>
                </a:lnTo>
                <a:lnTo>
                  <a:pt x="629" y="37550"/>
                </a:lnTo>
                <a:lnTo>
                  <a:pt x="392" y="36307"/>
                </a:lnTo>
                <a:lnTo>
                  <a:pt x="166" y="34950"/>
                </a:lnTo>
                <a:lnTo>
                  <a:pt x="153" y="33410"/>
                </a:lnTo>
                <a:lnTo>
                  <a:pt x="152" y="30941"/>
                </a:lnTo>
                <a:lnTo>
                  <a:pt x="0" y="23627"/>
                </a:lnTo>
                <a:lnTo>
                  <a:pt x="139" y="16565"/>
                </a:lnTo>
                <a:lnTo>
                  <a:pt x="189" y="14136"/>
                </a:lnTo>
                <a:lnTo>
                  <a:pt x="185" y="12553"/>
                </a:lnTo>
                <a:lnTo>
                  <a:pt x="402" y="11034"/>
                </a:lnTo>
                <a:lnTo>
                  <a:pt x="551" y="9945"/>
                </a:lnTo>
                <a:lnTo>
                  <a:pt x="747" y="8867"/>
                </a:lnTo>
                <a:lnTo>
                  <a:pt x="1005" y="8126"/>
                </a:lnTo>
                <a:lnTo>
                  <a:pt x="1504" y="7208"/>
                </a:lnTo>
                <a:lnTo>
                  <a:pt x="1755" y="6361"/>
                </a:lnTo>
                <a:lnTo>
                  <a:pt x="2339" y="5889"/>
                </a:lnTo>
                <a:lnTo>
                  <a:pt x="2810" y="5199"/>
                </a:lnTo>
                <a:lnTo>
                  <a:pt x="3358" y="4551"/>
                </a:lnTo>
                <a:lnTo>
                  <a:pt x="3876" y="4014"/>
                </a:lnTo>
                <a:lnTo>
                  <a:pt x="4694" y="3582"/>
                </a:lnTo>
                <a:lnTo>
                  <a:pt x="5282" y="3155"/>
                </a:lnTo>
                <a:lnTo>
                  <a:pt x="6255" y="2771"/>
                </a:lnTo>
                <a:lnTo>
                  <a:pt x="7153" y="2255"/>
                </a:lnTo>
                <a:lnTo>
                  <a:pt x="7984" y="2006"/>
                </a:lnTo>
                <a:lnTo>
                  <a:pt x="8892" y="1711"/>
                </a:lnTo>
                <a:lnTo>
                  <a:pt x="10031" y="1467"/>
                </a:lnTo>
                <a:lnTo>
                  <a:pt x="11193" y="1178"/>
                </a:lnTo>
                <a:lnTo>
                  <a:pt x="12555" y="838"/>
                </a:lnTo>
                <a:lnTo>
                  <a:pt x="13895" y="605"/>
                </a:lnTo>
                <a:lnTo>
                  <a:pt x="15601" y="582"/>
                </a:lnTo>
                <a:lnTo>
                  <a:pt x="17487" y="398"/>
                </a:lnTo>
                <a:lnTo>
                  <a:pt x="19309" y="231"/>
                </a:lnTo>
                <a:lnTo>
                  <a:pt x="21824" y="293"/>
                </a:lnTo>
                <a:lnTo>
                  <a:pt x="24612" y="154"/>
                </a:lnTo>
                <a:lnTo>
                  <a:pt x="28773" y="29"/>
                </a:lnTo>
                <a:lnTo>
                  <a:pt x="41583" y="0"/>
                </a:lnTo>
                <a:lnTo>
                  <a:pt x="54324" y="115"/>
                </a:lnTo>
                <a:lnTo>
                  <a:pt x="58552" y="193"/>
                </a:lnTo>
                <a:lnTo>
                  <a:pt x="61453" y="232"/>
                </a:lnTo>
                <a:lnTo>
                  <a:pt x="63765" y="297"/>
                </a:lnTo>
                <a:lnTo>
                  <a:pt x="65682" y="291"/>
                </a:lnTo>
                <a:lnTo>
                  <a:pt x="67533" y="581"/>
                </a:lnTo>
                <a:lnTo>
                  <a:pt x="69156" y="614"/>
                </a:lnTo>
                <a:lnTo>
                  <a:pt x="70612" y="922"/>
                </a:lnTo>
                <a:lnTo>
                  <a:pt x="71788" y="1089"/>
                </a:lnTo>
                <a:lnTo>
                  <a:pt x="72982" y="1457"/>
                </a:lnTo>
                <a:lnTo>
                  <a:pt x="74321" y="1582"/>
                </a:lnTo>
                <a:lnTo>
                  <a:pt x="75241" y="1923"/>
                </a:lnTo>
                <a:lnTo>
                  <a:pt x="76186" y="2402"/>
                </a:lnTo>
                <a:lnTo>
                  <a:pt x="76897" y="2787"/>
                </a:lnTo>
                <a:lnTo>
                  <a:pt x="77828" y="3013"/>
                </a:lnTo>
                <a:lnTo>
                  <a:pt x="78561" y="3673"/>
                </a:lnTo>
                <a:lnTo>
                  <a:pt x="79228" y="4094"/>
                </a:lnTo>
                <a:lnTo>
                  <a:pt x="79656" y="4542"/>
                </a:lnTo>
                <a:lnTo>
                  <a:pt x="80335" y="5239"/>
                </a:lnTo>
                <a:lnTo>
                  <a:pt x="80778" y="5790"/>
                </a:lnTo>
                <a:lnTo>
                  <a:pt x="81276" y="6494"/>
                </a:lnTo>
                <a:lnTo>
                  <a:pt x="81779" y="7282"/>
                </a:lnTo>
                <a:lnTo>
                  <a:pt x="82036" y="7981"/>
                </a:lnTo>
                <a:lnTo>
                  <a:pt x="82248" y="8992"/>
                </a:lnTo>
                <a:lnTo>
                  <a:pt x="82587" y="9997"/>
                </a:lnTo>
                <a:lnTo>
                  <a:pt x="82758" y="11106"/>
                </a:lnTo>
                <a:lnTo>
                  <a:pt x="83009" y="12481"/>
                </a:lnTo>
                <a:lnTo>
                  <a:pt x="83123" y="14178"/>
                </a:lnTo>
                <a:lnTo>
                  <a:pt x="83149" y="16544"/>
                </a:lnTo>
                <a:lnTo>
                  <a:pt x="83292" y="23752"/>
                </a:lnTo>
                <a:close/>
              </a:path>
            </a:pathLst>
          </a:custGeom>
          <a:noFill/>
          <a:ln w="19685" cap="rnd">
            <a:solidFill>
              <a:srgbClr val="DDD8CA">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720822" y="2307854"/>
            <a:ext cx="7606345" cy="4341297"/>
          </a:xfrm>
          <a:custGeom>
            <a:avLst/>
            <a:gdLst/>
            <a:ahLst/>
            <a:cxnLst/>
            <a:rect l="l" t="t" r="r" b="b"/>
            <a:pathLst>
              <a:path w="83184" h="47477">
                <a:moveTo>
                  <a:pt x="83105" y="23759"/>
                </a:moveTo>
                <a:lnTo>
                  <a:pt x="83184" y="31091"/>
                </a:lnTo>
                <a:lnTo>
                  <a:pt x="83047" y="33335"/>
                </a:lnTo>
                <a:lnTo>
                  <a:pt x="82919" y="34951"/>
                </a:lnTo>
                <a:lnTo>
                  <a:pt x="82718" y="36364"/>
                </a:lnTo>
                <a:lnTo>
                  <a:pt x="82580" y="37468"/>
                </a:lnTo>
                <a:lnTo>
                  <a:pt x="82167" y="38469"/>
                </a:lnTo>
                <a:lnTo>
                  <a:pt x="81997" y="39397"/>
                </a:lnTo>
                <a:lnTo>
                  <a:pt x="81700" y="40222"/>
                </a:lnTo>
                <a:lnTo>
                  <a:pt x="81092" y="41106"/>
                </a:lnTo>
                <a:lnTo>
                  <a:pt x="80884" y="41796"/>
                </a:lnTo>
                <a:lnTo>
                  <a:pt x="80266" y="42379"/>
                </a:lnTo>
                <a:lnTo>
                  <a:pt x="79758" y="42918"/>
                </a:lnTo>
                <a:lnTo>
                  <a:pt x="79106" y="43422"/>
                </a:lnTo>
                <a:lnTo>
                  <a:pt x="78421" y="43835"/>
                </a:lnTo>
                <a:lnTo>
                  <a:pt x="77765" y="44290"/>
                </a:lnTo>
                <a:lnTo>
                  <a:pt x="76940" y="44750"/>
                </a:lnTo>
                <a:lnTo>
                  <a:pt x="76114" y="45119"/>
                </a:lnTo>
                <a:lnTo>
                  <a:pt x="75053" y="45455"/>
                </a:lnTo>
                <a:lnTo>
                  <a:pt x="74074" y="45832"/>
                </a:lnTo>
                <a:lnTo>
                  <a:pt x="73138" y="46217"/>
                </a:lnTo>
                <a:lnTo>
                  <a:pt x="71957" y="46367"/>
                </a:lnTo>
                <a:lnTo>
                  <a:pt x="70590" y="46661"/>
                </a:lnTo>
                <a:lnTo>
                  <a:pt x="69150" y="46794"/>
                </a:lnTo>
                <a:lnTo>
                  <a:pt x="67491" y="46957"/>
                </a:lnTo>
                <a:lnTo>
                  <a:pt x="65845" y="47183"/>
                </a:lnTo>
                <a:lnTo>
                  <a:pt x="63632" y="47337"/>
                </a:lnTo>
                <a:lnTo>
                  <a:pt x="61345" y="47216"/>
                </a:lnTo>
                <a:lnTo>
                  <a:pt x="58353" y="47458"/>
                </a:lnTo>
                <a:lnTo>
                  <a:pt x="54214" y="47477"/>
                </a:lnTo>
                <a:lnTo>
                  <a:pt x="41486" y="47401"/>
                </a:lnTo>
                <a:lnTo>
                  <a:pt x="28743" y="47353"/>
                </a:lnTo>
                <a:lnTo>
                  <a:pt x="24674" y="47370"/>
                </a:lnTo>
                <a:lnTo>
                  <a:pt x="21844" y="47340"/>
                </a:lnTo>
                <a:lnTo>
                  <a:pt x="19320" y="47138"/>
                </a:lnTo>
                <a:lnTo>
                  <a:pt x="17226" y="46998"/>
                </a:lnTo>
                <a:lnTo>
                  <a:pt x="15455" y="47031"/>
                </a:lnTo>
                <a:lnTo>
                  <a:pt x="14058" y="46772"/>
                </a:lnTo>
                <a:lnTo>
                  <a:pt x="12569" y="46519"/>
                </a:lnTo>
                <a:lnTo>
                  <a:pt x="11288" y="46475"/>
                </a:lnTo>
                <a:lnTo>
                  <a:pt x="10102" y="46001"/>
                </a:lnTo>
                <a:lnTo>
                  <a:pt x="8945" y="45875"/>
                </a:lnTo>
                <a:lnTo>
                  <a:pt x="7883" y="45408"/>
                </a:lnTo>
                <a:lnTo>
                  <a:pt x="7031" y="45287"/>
                </a:lnTo>
                <a:lnTo>
                  <a:pt x="6050" y="44889"/>
                </a:lnTo>
                <a:lnTo>
                  <a:pt x="5411" y="44442"/>
                </a:lnTo>
                <a:lnTo>
                  <a:pt x="4529" y="43855"/>
                </a:lnTo>
                <a:lnTo>
                  <a:pt x="3805" y="43482"/>
                </a:lnTo>
                <a:lnTo>
                  <a:pt x="3361" y="42876"/>
                </a:lnTo>
                <a:lnTo>
                  <a:pt x="2655" y="42378"/>
                </a:lnTo>
                <a:lnTo>
                  <a:pt x="2342" y="41649"/>
                </a:lnTo>
                <a:lnTo>
                  <a:pt x="1744" y="41107"/>
                </a:lnTo>
                <a:lnTo>
                  <a:pt x="1331" y="40211"/>
                </a:lnTo>
                <a:lnTo>
                  <a:pt x="1037" y="39563"/>
                </a:lnTo>
                <a:lnTo>
                  <a:pt x="807" y="38471"/>
                </a:lnTo>
                <a:lnTo>
                  <a:pt x="626" y="37667"/>
                </a:lnTo>
                <a:lnTo>
                  <a:pt x="325" y="36478"/>
                </a:lnTo>
                <a:lnTo>
                  <a:pt x="64" y="35101"/>
                </a:lnTo>
                <a:lnTo>
                  <a:pt x="98" y="33452"/>
                </a:lnTo>
                <a:lnTo>
                  <a:pt x="0" y="31087"/>
                </a:lnTo>
                <a:lnTo>
                  <a:pt x="65" y="23877"/>
                </a:lnTo>
                <a:lnTo>
                  <a:pt x="33" y="16568"/>
                </a:lnTo>
                <a:lnTo>
                  <a:pt x="146" y="14072"/>
                </a:lnTo>
                <a:lnTo>
                  <a:pt x="184" y="12459"/>
                </a:lnTo>
                <a:lnTo>
                  <a:pt x="405" y="11101"/>
                </a:lnTo>
                <a:lnTo>
                  <a:pt x="491" y="9936"/>
                </a:lnTo>
                <a:lnTo>
                  <a:pt x="746" y="9023"/>
                </a:lnTo>
                <a:lnTo>
                  <a:pt x="1137" y="7954"/>
                </a:lnTo>
                <a:lnTo>
                  <a:pt x="1365" y="7161"/>
                </a:lnTo>
                <a:lnTo>
                  <a:pt x="1868" y="6568"/>
                </a:lnTo>
                <a:lnTo>
                  <a:pt x="2371" y="5848"/>
                </a:lnTo>
                <a:lnTo>
                  <a:pt x="2773" y="5275"/>
                </a:lnTo>
                <a:lnTo>
                  <a:pt x="3187" y="4558"/>
                </a:lnTo>
                <a:lnTo>
                  <a:pt x="3903" y="4079"/>
                </a:lnTo>
                <a:lnTo>
                  <a:pt x="4582" y="3652"/>
                </a:lnTo>
                <a:lnTo>
                  <a:pt x="5315" y="3082"/>
                </a:lnTo>
                <a:lnTo>
                  <a:pt x="6119" y="2827"/>
                </a:lnTo>
                <a:lnTo>
                  <a:pt x="7052" y="2332"/>
                </a:lnTo>
                <a:lnTo>
                  <a:pt x="8006" y="2011"/>
                </a:lnTo>
                <a:lnTo>
                  <a:pt x="8891" y="1577"/>
                </a:lnTo>
                <a:lnTo>
                  <a:pt x="9910" y="1361"/>
                </a:lnTo>
                <a:lnTo>
                  <a:pt x="11304" y="1056"/>
                </a:lnTo>
                <a:lnTo>
                  <a:pt x="12590" y="968"/>
                </a:lnTo>
                <a:lnTo>
                  <a:pt x="13952" y="639"/>
                </a:lnTo>
                <a:lnTo>
                  <a:pt x="15548" y="657"/>
                </a:lnTo>
                <a:lnTo>
                  <a:pt x="17243" y="346"/>
                </a:lnTo>
                <a:lnTo>
                  <a:pt x="19318" y="362"/>
                </a:lnTo>
                <a:lnTo>
                  <a:pt x="21829" y="254"/>
                </a:lnTo>
                <a:lnTo>
                  <a:pt x="24563" y="147"/>
                </a:lnTo>
                <a:lnTo>
                  <a:pt x="28698" y="0"/>
                </a:lnTo>
                <a:lnTo>
                  <a:pt x="41448" y="82"/>
                </a:lnTo>
                <a:lnTo>
                  <a:pt x="54328" y="33"/>
                </a:lnTo>
                <a:lnTo>
                  <a:pt x="58293" y="67"/>
                </a:lnTo>
                <a:lnTo>
                  <a:pt x="61215" y="259"/>
                </a:lnTo>
                <a:lnTo>
                  <a:pt x="63714" y="217"/>
                </a:lnTo>
                <a:lnTo>
                  <a:pt x="65822" y="384"/>
                </a:lnTo>
                <a:lnTo>
                  <a:pt x="67582" y="493"/>
                </a:lnTo>
                <a:lnTo>
                  <a:pt x="69042" y="718"/>
                </a:lnTo>
                <a:lnTo>
                  <a:pt x="70422" y="897"/>
                </a:lnTo>
                <a:lnTo>
                  <a:pt x="71790" y="1126"/>
                </a:lnTo>
                <a:lnTo>
                  <a:pt x="73153" y="1473"/>
                </a:lnTo>
                <a:lnTo>
                  <a:pt x="74173" y="1628"/>
                </a:lnTo>
                <a:lnTo>
                  <a:pt x="75087" y="2072"/>
                </a:lnTo>
                <a:lnTo>
                  <a:pt x="76018" y="2412"/>
                </a:lnTo>
                <a:lnTo>
                  <a:pt x="76985" y="2748"/>
                </a:lnTo>
                <a:lnTo>
                  <a:pt x="77643" y="3203"/>
                </a:lnTo>
                <a:lnTo>
                  <a:pt x="78376" y="3574"/>
                </a:lnTo>
                <a:lnTo>
                  <a:pt x="79094" y="4085"/>
                </a:lnTo>
                <a:lnTo>
                  <a:pt x="79762" y="4719"/>
                </a:lnTo>
                <a:lnTo>
                  <a:pt x="80292" y="5265"/>
                </a:lnTo>
                <a:lnTo>
                  <a:pt x="80683" y="5842"/>
                </a:lnTo>
                <a:lnTo>
                  <a:pt x="81265" y="6588"/>
                </a:lnTo>
                <a:lnTo>
                  <a:pt x="81707" y="7234"/>
                </a:lnTo>
                <a:lnTo>
                  <a:pt x="81886" y="7946"/>
                </a:lnTo>
                <a:lnTo>
                  <a:pt x="82171" y="9051"/>
                </a:lnTo>
                <a:lnTo>
                  <a:pt x="82560" y="9899"/>
                </a:lnTo>
                <a:lnTo>
                  <a:pt x="82641" y="11046"/>
                </a:lnTo>
                <a:lnTo>
                  <a:pt x="83005" y="12397"/>
                </a:lnTo>
                <a:lnTo>
                  <a:pt x="82991" y="14101"/>
                </a:lnTo>
                <a:lnTo>
                  <a:pt x="83104" y="16403"/>
                </a:lnTo>
                <a:lnTo>
                  <a:pt x="83104" y="23832"/>
                </a:lnTo>
                <a:close/>
              </a:path>
            </a:pathLst>
          </a:custGeom>
          <a:noFill/>
          <a:ln w="7620" cap="rnd">
            <a:solidFill>
              <a:srgbClr val="DDD8CA">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8184154" y="5635813"/>
            <a:ext cx="101590" cy="355702"/>
          </a:xfrm>
          <a:custGeom>
            <a:avLst/>
            <a:gdLst/>
            <a:ahLst/>
            <a:cxnLst/>
            <a:rect l="l" t="t" r="r" b="b"/>
            <a:pathLst>
              <a:path w="1111" h="3890">
                <a:moveTo>
                  <a:pt x="1111" y="0"/>
                </a:moveTo>
                <a:lnTo>
                  <a:pt x="904" y="1157"/>
                </a:lnTo>
                <a:lnTo>
                  <a:pt x="651" y="2170"/>
                </a:lnTo>
                <a:lnTo>
                  <a:pt x="349" y="3074"/>
                </a:lnTo>
                <a:lnTo>
                  <a:pt x="0" y="389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7039143" y="6498732"/>
            <a:ext cx="459669" cy="88422"/>
          </a:xfrm>
          <a:custGeom>
            <a:avLst/>
            <a:gdLst/>
            <a:ahLst/>
            <a:cxnLst/>
            <a:rect l="l" t="t" r="r" b="b"/>
            <a:pathLst>
              <a:path w="5027" h="967">
                <a:moveTo>
                  <a:pt x="5027" y="0"/>
                </a:moveTo>
                <a:lnTo>
                  <a:pt x="3931" y="285"/>
                </a:lnTo>
                <a:lnTo>
                  <a:pt x="2737" y="541"/>
                </a:lnTo>
                <a:lnTo>
                  <a:pt x="1433" y="768"/>
                </a:lnTo>
                <a:lnTo>
                  <a:pt x="0" y="967"/>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864096" y="6568958"/>
            <a:ext cx="624535" cy="57882"/>
          </a:xfrm>
          <a:custGeom>
            <a:avLst/>
            <a:gdLst/>
            <a:ahLst/>
            <a:cxnLst/>
            <a:rect l="l" t="t" r="r" b="b"/>
            <a:pathLst>
              <a:path w="6830" h="633">
                <a:moveTo>
                  <a:pt x="6830" y="633"/>
                </a:moveTo>
                <a:lnTo>
                  <a:pt x="4799" y="515"/>
                </a:lnTo>
                <a:lnTo>
                  <a:pt x="3020" y="370"/>
                </a:lnTo>
                <a:lnTo>
                  <a:pt x="1433" y="199"/>
                </a:lnTo>
                <a:lnTo>
                  <a:pt x="0" y="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818205" y="5916900"/>
            <a:ext cx="155265" cy="261793"/>
          </a:xfrm>
          <a:custGeom>
            <a:avLst/>
            <a:gdLst/>
            <a:ahLst/>
            <a:cxnLst/>
            <a:rect l="l" t="t" r="r" b="b"/>
            <a:pathLst>
              <a:path w="1698" h="2863">
                <a:moveTo>
                  <a:pt x="1698" y="2863"/>
                </a:moveTo>
                <a:lnTo>
                  <a:pt x="1197" y="2238"/>
                </a:lnTo>
                <a:lnTo>
                  <a:pt x="748" y="1558"/>
                </a:lnTo>
                <a:lnTo>
                  <a:pt x="349" y="816"/>
                </a:lnTo>
                <a:lnTo>
                  <a:pt x="0" y="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748528" y="2969605"/>
            <a:ext cx="101590" cy="355702"/>
          </a:xfrm>
          <a:custGeom>
            <a:avLst/>
            <a:gdLst/>
            <a:ahLst/>
            <a:cxnLst/>
            <a:rect l="l" t="t" r="r" b="b"/>
            <a:pathLst>
              <a:path w="1111" h="3890">
                <a:moveTo>
                  <a:pt x="0" y="3890"/>
                </a:moveTo>
                <a:lnTo>
                  <a:pt x="207" y="2733"/>
                </a:lnTo>
                <a:lnTo>
                  <a:pt x="460" y="1720"/>
                </a:lnTo>
                <a:lnTo>
                  <a:pt x="762" y="816"/>
                </a:lnTo>
                <a:lnTo>
                  <a:pt x="1111" y="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1535460" y="2373965"/>
            <a:ext cx="459669" cy="88422"/>
          </a:xfrm>
          <a:custGeom>
            <a:avLst/>
            <a:gdLst/>
            <a:ahLst/>
            <a:cxnLst/>
            <a:rect l="l" t="t" r="r" b="b"/>
            <a:pathLst>
              <a:path w="5027" h="967">
                <a:moveTo>
                  <a:pt x="0" y="967"/>
                </a:moveTo>
                <a:lnTo>
                  <a:pt x="1096" y="682"/>
                </a:lnTo>
                <a:lnTo>
                  <a:pt x="2290" y="426"/>
                </a:lnTo>
                <a:lnTo>
                  <a:pt x="3594" y="199"/>
                </a:lnTo>
                <a:lnTo>
                  <a:pt x="5027" y="0"/>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545641" y="2334280"/>
            <a:ext cx="624535" cy="57882"/>
          </a:xfrm>
          <a:custGeom>
            <a:avLst/>
            <a:gdLst/>
            <a:ahLst/>
            <a:cxnLst/>
            <a:rect l="l" t="t" r="r" b="b"/>
            <a:pathLst>
              <a:path w="6830" h="633">
                <a:moveTo>
                  <a:pt x="0" y="0"/>
                </a:moveTo>
                <a:lnTo>
                  <a:pt x="2031" y="118"/>
                </a:lnTo>
                <a:lnTo>
                  <a:pt x="3810" y="263"/>
                </a:lnTo>
                <a:lnTo>
                  <a:pt x="5397" y="434"/>
                </a:lnTo>
                <a:lnTo>
                  <a:pt x="6830" y="633"/>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8060802" y="2782428"/>
            <a:ext cx="155265" cy="261793"/>
          </a:xfrm>
          <a:custGeom>
            <a:avLst/>
            <a:gdLst/>
            <a:ahLst/>
            <a:cxnLst/>
            <a:rect l="l" t="t" r="r" b="b"/>
            <a:pathLst>
              <a:path w="1698" h="2863">
                <a:moveTo>
                  <a:pt x="0" y="0"/>
                </a:moveTo>
                <a:lnTo>
                  <a:pt x="501" y="625"/>
                </a:lnTo>
                <a:lnTo>
                  <a:pt x="950" y="1305"/>
                </a:lnTo>
                <a:lnTo>
                  <a:pt x="1349" y="2047"/>
                </a:lnTo>
                <a:lnTo>
                  <a:pt x="1698" y="2863"/>
                </a:lnTo>
              </a:path>
            </a:pathLst>
          </a:custGeom>
          <a:noFill/>
          <a:ln w="27940" cap="rnd">
            <a:solidFill>
              <a:srgbClr val="DDD8CA">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ounterfactual-diagnostic-tool.png"/>
          <p:cNvPicPr>
            <a:picLocks noChangeAspect="1"/>
          </p:cNvPicPr>
          <p:nvPr/>
        </p:nvPicPr>
        <p:blipFill>
          <a:blip r:embed="rId2"/>
          <a:stretch>
            <a:fillRect/>
          </a:stretch>
        </p:blipFill>
        <p:spPr>
          <a:xfrm>
            <a:off x="780242" y="2377440"/>
            <a:ext cx="7473786" cy="4206240"/>
          </a:xfrm>
          <a:prstGeom prst="rect">
            <a:avLst/>
          </a:prstGeom>
        </p:spPr>
      </p:pic>
      <p:sp>
        <p:nvSpPr>
          <p:cNvPr id="25" name="Rounded Rectangle 24"/>
          <p:cNvSpPr/>
          <p:nvPr/>
        </p:nvSpPr>
        <p:spPr>
          <a:xfrm>
            <a:off x="8677656" y="1783080"/>
            <a:ext cx="5312664" cy="2679192"/>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8682777" y="1788658"/>
            <a:ext cx="5298948" cy="2663007"/>
          </a:xfrm>
          <a:custGeom>
            <a:avLst/>
            <a:gdLst/>
            <a:ahLst/>
            <a:cxnLst/>
            <a:rect l="l" t="t" r="r" b="b"/>
            <a:pathLst>
              <a:path w="57950" h="29123">
                <a:moveTo>
                  <a:pt x="57950" y="14670"/>
                </a:moveTo>
                <a:lnTo>
                  <a:pt x="57781" y="19027"/>
                </a:lnTo>
                <a:lnTo>
                  <a:pt x="57800" y="20571"/>
                </a:lnTo>
                <a:lnTo>
                  <a:pt x="57871" y="21474"/>
                </a:lnTo>
                <a:lnTo>
                  <a:pt x="57753" y="22419"/>
                </a:lnTo>
                <a:lnTo>
                  <a:pt x="57632" y="22944"/>
                </a:lnTo>
                <a:lnTo>
                  <a:pt x="57345" y="23735"/>
                </a:lnTo>
                <a:lnTo>
                  <a:pt x="57205" y="24301"/>
                </a:lnTo>
                <a:lnTo>
                  <a:pt x="56854" y="24675"/>
                </a:lnTo>
                <a:lnTo>
                  <a:pt x="56516" y="25129"/>
                </a:lnTo>
                <a:lnTo>
                  <a:pt x="56210" y="25694"/>
                </a:lnTo>
                <a:lnTo>
                  <a:pt x="56016" y="25916"/>
                </a:lnTo>
                <a:lnTo>
                  <a:pt x="55596" y="26412"/>
                </a:lnTo>
                <a:lnTo>
                  <a:pt x="55118" y="26610"/>
                </a:lnTo>
                <a:lnTo>
                  <a:pt x="54598" y="26988"/>
                </a:lnTo>
                <a:lnTo>
                  <a:pt x="54228" y="27237"/>
                </a:lnTo>
                <a:lnTo>
                  <a:pt x="53740" y="27493"/>
                </a:lnTo>
                <a:lnTo>
                  <a:pt x="52912" y="27663"/>
                </a:lnTo>
                <a:lnTo>
                  <a:pt x="52499" y="27885"/>
                </a:lnTo>
                <a:lnTo>
                  <a:pt x="51739" y="28217"/>
                </a:lnTo>
                <a:lnTo>
                  <a:pt x="50971" y="28344"/>
                </a:lnTo>
                <a:lnTo>
                  <a:pt x="50148" y="28420"/>
                </a:lnTo>
                <a:lnTo>
                  <a:pt x="49270" y="28513"/>
                </a:lnTo>
                <a:lnTo>
                  <a:pt x="48216" y="28831"/>
                </a:lnTo>
                <a:lnTo>
                  <a:pt x="47121" y="28777"/>
                </a:lnTo>
                <a:lnTo>
                  <a:pt x="45776" y="28926"/>
                </a:lnTo>
                <a:lnTo>
                  <a:pt x="44453" y="29053"/>
                </a:lnTo>
                <a:lnTo>
                  <a:pt x="42874" y="28960"/>
                </a:lnTo>
                <a:lnTo>
                  <a:pt x="40782" y="29110"/>
                </a:lnTo>
                <a:lnTo>
                  <a:pt x="37961" y="29006"/>
                </a:lnTo>
                <a:lnTo>
                  <a:pt x="29034" y="29062"/>
                </a:lnTo>
                <a:lnTo>
                  <a:pt x="20025" y="29083"/>
                </a:lnTo>
                <a:lnTo>
                  <a:pt x="17260" y="29123"/>
                </a:lnTo>
                <a:lnTo>
                  <a:pt x="15161" y="29019"/>
                </a:lnTo>
                <a:lnTo>
                  <a:pt x="13592" y="29004"/>
                </a:lnTo>
                <a:lnTo>
                  <a:pt x="12033" y="28980"/>
                </a:lnTo>
                <a:lnTo>
                  <a:pt x="10991" y="28798"/>
                </a:lnTo>
                <a:lnTo>
                  <a:pt x="9715" y="28824"/>
                </a:lnTo>
                <a:lnTo>
                  <a:pt x="8765" y="28539"/>
                </a:lnTo>
                <a:lnTo>
                  <a:pt x="7937" y="28506"/>
                </a:lnTo>
                <a:lnTo>
                  <a:pt x="7154" y="28298"/>
                </a:lnTo>
                <a:lnTo>
                  <a:pt x="6369" y="28186"/>
                </a:lnTo>
                <a:lnTo>
                  <a:pt x="5484" y="27937"/>
                </a:lnTo>
                <a:lnTo>
                  <a:pt x="4917" y="27630"/>
                </a:lnTo>
                <a:lnTo>
                  <a:pt x="4239" y="27385"/>
                </a:lnTo>
                <a:lnTo>
                  <a:pt x="3684" y="27339"/>
                </a:lnTo>
                <a:lnTo>
                  <a:pt x="3208" y="26864"/>
                </a:lnTo>
                <a:lnTo>
                  <a:pt x="2711" y="26599"/>
                </a:lnTo>
                <a:lnTo>
                  <a:pt x="2525" y="26279"/>
                </a:lnTo>
                <a:lnTo>
                  <a:pt x="1948" y="25905"/>
                </a:lnTo>
                <a:lnTo>
                  <a:pt x="1742" y="25525"/>
                </a:lnTo>
                <a:lnTo>
                  <a:pt x="1499" y="25234"/>
                </a:lnTo>
                <a:lnTo>
                  <a:pt x="977" y="24811"/>
                </a:lnTo>
                <a:lnTo>
                  <a:pt x="841" y="24131"/>
                </a:lnTo>
                <a:lnTo>
                  <a:pt x="601" y="23682"/>
                </a:lnTo>
                <a:lnTo>
                  <a:pt x="589" y="22950"/>
                </a:lnTo>
                <a:lnTo>
                  <a:pt x="448" y="22308"/>
                </a:lnTo>
                <a:lnTo>
                  <a:pt x="162" y="21415"/>
                </a:lnTo>
                <a:lnTo>
                  <a:pt x="132" y="20380"/>
                </a:lnTo>
                <a:lnTo>
                  <a:pt x="75" y="19128"/>
                </a:lnTo>
                <a:lnTo>
                  <a:pt x="126" y="14567"/>
                </a:lnTo>
                <a:lnTo>
                  <a:pt x="21" y="10131"/>
                </a:lnTo>
                <a:lnTo>
                  <a:pt x="0" y="8629"/>
                </a:lnTo>
                <a:lnTo>
                  <a:pt x="302" y="7641"/>
                </a:lnTo>
                <a:lnTo>
                  <a:pt x="368" y="6820"/>
                </a:lnTo>
                <a:lnTo>
                  <a:pt x="556" y="6154"/>
                </a:lnTo>
                <a:lnTo>
                  <a:pt x="530" y="5593"/>
                </a:lnTo>
                <a:lnTo>
                  <a:pt x="859" y="4989"/>
                </a:lnTo>
                <a:lnTo>
                  <a:pt x="1145" y="4378"/>
                </a:lnTo>
                <a:lnTo>
                  <a:pt x="1252" y="4010"/>
                </a:lnTo>
                <a:lnTo>
                  <a:pt x="1739" y="3612"/>
                </a:lnTo>
                <a:lnTo>
                  <a:pt x="2035" y="3205"/>
                </a:lnTo>
                <a:lnTo>
                  <a:pt x="2517" y="2894"/>
                </a:lnTo>
                <a:lnTo>
                  <a:pt x="2728" y="2561"/>
                </a:lnTo>
                <a:lnTo>
                  <a:pt x="3273" y="2115"/>
                </a:lnTo>
                <a:lnTo>
                  <a:pt x="3712" y="1889"/>
                </a:lnTo>
                <a:lnTo>
                  <a:pt x="4309" y="1697"/>
                </a:lnTo>
                <a:lnTo>
                  <a:pt x="4933" y="1383"/>
                </a:lnTo>
                <a:lnTo>
                  <a:pt x="5499" y="1228"/>
                </a:lnTo>
                <a:lnTo>
                  <a:pt x="6403" y="1092"/>
                </a:lnTo>
                <a:lnTo>
                  <a:pt x="7142" y="930"/>
                </a:lnTo>
                <a:lnTo>
                  <a:pt x="7927" y="782"/>
                </a:lnTo>
                <a:lnTo>
                  <a:pt x="8873" y="535"/>
                </a:lnTo>
                <a:lnTo>
                  <a:pt x="9782" y="443"/>
                </a:lnTo>
                <a:lnTo>
                  <a:pt x="10912" y="283"/>
                </a:lnTo>
                <a:lnTo>
                  <a:pt x="12178" y="294"/>
                </a:lnTo>
                <a:lnTo>
                  <a:pt x="13447" y="288"/>
                </a:lnTo>
                <a:lnTo>
                  <a:pt x="15099" y="146"/>
                </a:lnTo>
                <a:lnTo>
                  <a:pt x="17161" y="170"/>
                </a:lnTo>
                <a:lnTo>
                  <a:pt x="19975" y="104"/>
                </a:lnTo>
                <a:lnTo>
                  <a:pt x="29057" y="157"/>
                </a:lnTo>
                <a:lnTo>
                  <a:pt x="37922" y="0"/>
                </a:lnTo>
                <a:lnTo>
                  <a:pt x="40712" y="172"/>
                </a:lnTo>
                <a:lnTo>
                  <a:pt x="42765" y="48"/>
                </a:lnTo>
                <a:lnTo>
                  <a:pt x="44521" y="104"/>
                </a:lnTo>
                <a:lnTo>
                  <a:pt x="45866" y="257"/>
                </a:lnTo>
                <a:lnTo>
                  <a:pt x="47059" y="297"/>
                </a:lnTo>
                <a:lnTo>
                  <a:pt x="48307" y="447"/>
                </a:lnTo>
                <a:lnTo>
                  <a:pt x="49216" y="472"/>
                </a:lnTo>
                <a:lnTo>
                  <a:pt x="50215" y="704"/>
                </a:lnTo>
                <a:lnTo>
                  <a:pt x="50877" y="811"/>
                </a:lnTo>
                <a:lnTo>
                  <a:pt x="51782" y="1165"/>
                </a:lnTo>
                <a:lnTo>
                  <a:pt x="52463" y="1175"/>
                </a:lnTo>
                <a:lnTo>
                  <a:pt x="52974" y="1560"/>
                </a:lnTo>
                <a:lnTo>
                  <a:pt x="53740" y="1620"/>
                </a:lnTo>
                <a:lnTo>
                  <a:pt x="54204" y="1972"/>
                </a:lnTo>
                <a:lnTo>
                  <a:pt x="54612" y="2328"/>
                </a:lnTo>
                <a:lnTo>
                  <a:pt x="55185" y="2451"/>
                </a:lnTo>
                <a:lnTo>
                  <a:pt x="55640" y="2833"/>
                </a:lnTo>
                <a:lnTo>
                  <a:pt x="55960" y="3102"/>
                </a:lnTo>
                <a:lnTo>
                  <a:pt x="56332" y="3622"/>
                </a:lnTo>
                <a:lnTo>
                  <a:pt x="56631" y="4024"/>
                </a:lnTo>
                <a:lnTo>
                  <a:pt x="56925" y="4477"/>
                </a:lnTo>
                <a:lnTo>
                  <a:pt x="57238" y="5012"/>
                </a:lnTo>
                <a:lnTo>
                  <a:pt x="57442" y="5509"/>
                </a:lnTo>
                <a:lnTo>
                  <a:pt x="57438" y="6182"/>
                </a:lnTo>
                <a:lnTo>
                  <a:pt x="57641" y="6941"/>
                </a:lnTo>
                <a:lnTo>
                  <a:pt x="57672" y="7608"/>
                </a:lnTo>
                <a:lnTo>
                  <a:pt x="57943" y="8691"/>
                </a:lnTo>
                <a:lnTo>
                  <a:pt x="57924" y="10182"/>
                </a:lnTo>
                <a:lnTo>
                  <a:pt x="57849" y="14696"/>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8678845" y="1786738"/>
            <a:ext cx="5312207" cy="2670231"/>
          </a:xfrm>
          <a:custGeom>
            <a:avLst/>
            <a:gdLst/>
            <a:ahLst/>
            <a:cxnLst/>
            <a:rect l="l" t="t" r="r" b="b"/>
            <a:pathLst>
              <a:path w="58095" h="29202">
                <a:moveTo>
                  <a:pt x="58095" y="14726"/>
                </a:moveTo>
                <a:lnTo>
                  <a:pt x="57897" y="19119"/>
                </a:lnTo>
                <a:lnTo>
                  <a:pt x="57990" y="20434"/>
                </a:lnTo>
                <a:lnTo>
                  <a:pt x="57699" y="21600"/>
                </a:lnTo>
                <a:lnTo>
                  <a:pt x="57761" y="22447"/>
                </a:lnTo>
                <a:lnTo>
                  <a:pt x="57673" y="23053"/>
                </a:lnTo>
                <a:lnTo>
                  <a:pt x="57451" y="23615"/>
                </a:lnTo>
                <a:lnTo>
                  <a:pt x="57217" y="24263"/>
                </a:lnTo>
                <a:lnTo>
                  <a:pt x="56950" y="24672"/>
                </a:lnTo>
                <a:lnTo>
                  <a:pt x="56540" y="25279"/>
                </a:lnTo>
                <a:lnTo>
                  <a:pt x="56259" y="25659"/>
                </a:lnTo>
                <a:lnTo>
                  <a:pt x="56058" y="25906"/>
                </a:lnTo>
                <a:lnTo>
                  <a:pt x="55566" y="26412"/>
                </a:lnTo>
                <a:lnTo>
                  <a:pt x="55200" y="26590"/>
                </a:lnTo>
                <a:lnTo>
                  <a:pt x="54777" y="27092"/>
                </a:lnTo>
                <a:lnTo>
                  <a:pt x="54136" y="27364"/>
                </a:lnTo>
                <a:lnTo>
                  <a:pt x="53745" y="27439"/>
                </a:lnTo>
                <a:lnTo>
                  <a:pt x="52957" y="27727"/>
                </a:lnTo>
                <a:lnTo>
                  <a:pt x="52382" y="28039"/>
                </a:lnTo>
                <a:lnTo>
                  <a:pt x="51643" y="28124"/>
                </a:lnTo>
                <a:lnTo>
                  <a:pt x="50838" y="28278"/>
                </a:lnTo>
                <a:lnTo>
                  <a:pt x="50122" y="28477"/>
                </a:lnTo>
                <a:lnTo>
                  <a:pt x="49339" y="28565"/>
                </a:lnTo>
                <a:lnTo>
                  <a:pt x="48261" y="28770"/>
                </a:lnTo>
                <a:lnTo>
                  <a:pt x="47162" y="28960"/>
                </a:lnTo>
                <a:lnTo>
                  <a:pt x="45854" y="28951"/>
                </a:lnTo>
                <a:lnTo>
                  <a:pt x="44595" y="28912"/>
                </a:lnTo>
                <a:lnTo>
                  <a:pt x="42881" y="29162"/>
                </a:lnTo>
                <a:lnTo>
                  <a:pt x="40690" y="29087"/>
                </a:lnTo>
                <a:lnTo>
                  <a:pt x="38024" y="29146"/>
                </a:lnTo>
                <a:lnTo>
                  <a:pt x="29140" y="29176"/>
                </a:lnTo>
                <a:lnTo>
                  <a:pt x="20071" y="29202"/>
                </a:lnTo>
                <a:lnTo>
                  <a:pt x="17250" y="29087"/>
                </a:lnTo>
                <a:lnTo>
                  <a:pt x="15358" y="29083"/>
                </a:lnTo>
                <a:lnTo>
                  <a:pt x="13545" y="28993"/>
                </a:lnTo>
                <a:lnTo>
                  <a:pt x="12263" y="29025"/>
                </a:lnTo>
                <a:lnTo>
                  <a:pt x="11049" y="28827"/>
                </a:lnTo>
                <a:lnTo>
                  <a:pt x="9971" y="28835"/>
                </a:lnTo>
                <a:lnTo>
                  <a:pt x="8758" y="28581"/>
                </a:lnTo>
                <a:lnTo>
                  <a:pt x="7944" y="28545"/>
                </a:lnTo>
                <a:lnTo>
                  <a:pt x="7181" y="28386"/>
                </a:lnTo>
                <a:lnTo>
                  <a:pt x="6225" y="28066"/>
                </a:lnTo>
                <a:lnTo>
                  <a:pt x="5522" y="27878"/>
                </a:lnTo>
                <a:lnTo>
                  <a:pt x="4995" y="27757"/>
                </a:lnTo>
                <a:lnTo>
                  <a:pt x="4359" y="27541"/>
                </a:lnTo>
                <a:lnTo>
                  <a:pt x="3916" y="27229"/>
                </a:lnTo>
                <a:lnTo>
                  <a:pt x="3370" y="26892"/>
                </a:lnTo>
                <a:lnTo>
                  <a:pt x="2811" y="26639"/>
                </a:lnTo>
                <a:lnTo>
                  <a:pt x="2443" y="26307"/>
                </a:lnTo>
                <a:lnTo>
                  <a:pt x="1965" y="26017"/>
                </a:lnTo>
                <a:lnTo>
                  <a:pt x="1774" y="25555"/>
                </a:lnTo>
                <a:lnTo>
                  <a:pt x="1526" y="25261"/>
                </a:lnTo>
                <a:lnTo>
                  <a:pt x="1249" y="24807"/>
                </a:lnTo>
                <a:lnTo>
                  <a:pt x="831" y="24363"/>
                </a:lnTo>
                <a:lnTo>
                  <a:pt x="748" y="23670"/>
                </a:lnTo>
                <a:lnTo>
                  <a:pt x="470" y="23076"/>
                </a:lnTo>
                <a:lnTo>
                  <a:pt x="471" y="22343"/>
                </a:lnTo>
                <a:lnTo>
                  <a:pt x="259" y="21645"/>
                </a:lnTo>
                <a:lnTo>
                  <a:pt x="206" y="20582"/>
                </a:lnTo>
                <a:lnTo>
                  <a:pt x="0" y="18961"/>
                </a:lnTo>
                <a:lnTo>
                  <a:pt x="235" y="14506"/>
                </a:lnTo>
                <a:lnTo>
                  <a:pt x="86" y="10124"/>
                </a:lnTo>
                <a:lnTo>
                  <a:pt x="162" y="8782"/>
                </a:lnTo>
                <a:lnTo>
                  <a:pt x="265" y="7696"/>
                </a:lnTo>
                <a:lnTo>
                  <a:pt x="241" y="6967"/>
                </a:lnTo>
                <a:lnTo>
                  <a:pt x="570" y="6214"/>
                </a:lnTo>
                <a:lnTo>
                  <a:pt x="726" y="5642"/>
                </a:lnTo>
                <a:lnTo>
                  <a:pt x="868" y="4856"/>
                </a:lnTo>
                <a:lnTo>
                  <a:pt x="1106" y="4432"/>
                </a:lnTo>
                <a:lnTo>
                  <a:pt x="1456" y="3996"/>
                </a:lnTo>
                <a:lnTo>
                  <a:pt x="1602" y="3503"/>
                </a:lnTo>
                <a:lnTo>
                  <a:pt x="1990" y="3271"/>
                </a:lnTo>
                <a:lnTo>
                  <a:pt x="2515" y="2770"/>
                </a:lnTo>
                <a:lnTo>
                  <a:pt x="2753" y="2534"/>
                </a:lnTo>
                <a:lnTo>
                  <a:pt x="3300" y="2226"/>
                </a:lnTo>
                <a:lnTo>
                  <a:pt x="3866" y="2019"/>
                </a:lnTo>
                <a:lnTo>
                  <a:pt x="4410" y="1816"/>
                </a:lnTo>
                <a:lnTo>
                  <a:pt x="5105" y="1477"/>
                </a:lnTo>
                <a:lnTo>
                  <a:pt x="5746" y="1378"/>
                </a:lnTo>
                <a:lnTo>
                  <a:pt x="6401" y="952"/>
                </a:lnTo>
                <a:lnTo>
                  <a:pt x="7079" y="882"/>
                </a:lnTo>
                <a:lnTo>
                  <a:pt x="8059" y="672"/>
                </a:lnTo>
                <a:lnTo>
                  <a:pt x="8867" y="654"/>
                </a:lnTo>
                <a:lnTo>
                  <a:pt x="9912" y="496"/>
                </a:lnTo>
                <a:lnTo>
                  <a:pt x="11027" y="334"/>
                </a:lnTo>
                <a:lnTo>
                  <a:pt x="12132" y="261"/>
                </a:lnTo>
                <a:lnTo>
                  <a:pt x="13490" y="140"/>
                </a:lnTo>
                <a:lnTo>
                  <a:pt x="15217" y="153"/>
                </a:lnTo>
                <a:lnTo>
                  <a:pt x="17383" y="0"/>
                </a:lnTo>
                <a:lnTo>
                  <a:pt x="20214" y="125"/>
                </a:lnTo>
                <a:lnTo>
                  <a:pt x="28998" y="148"/>
                </a:lnTo>
                <a:lnTo>
                  <a:pt x="37938" y="19"/>
                </a:lnTo>
                <a:lnTo>
                  <a:pt x="40633" y="223"/>
                </a:lnTo>
                <a:lnTo>
                  <a:pt x="42853" y="56"/>
                </a:lnTo>
                <a:lnTo>
                  <a:pt x="44430" y="144"/>
                </a:lnTo>
                <a:lnTo>
                  <a:pt x="45782" y="206"/>
                </a:lnTo>
                <a:lnTo>
                  <a:pt x="47076" y="255"/>
                </a:lnTo>
                <a:lnTo>
                  <a:pt x="48140" y="579"/>
                </a:lnTo>
                <a:lnTo>
                  <a:pt x="49218" y="478"/>
                </a:lnTo>
                <a:lnTo>
                  <a:pt x="50019" y="682"/>
                </a:lnTo>
                <a:lnTo>
                  <a:pt x="51055" y="824"/>
                </a:lnTo>
                <a:lnTo>
                  <a:pt x="51612" y="1180"/>
                </a:lnTo>
                <a:lnTo>
                  <a:pt x="52358" y="1369"/>
                </a:lnTo>
                <a:lnTo>
                  <a:pt x="52975" y="1510"/>
                </a:lnTo>
                <a:lnTo>
                  <a:pt x="53735" y="1616"/>
                </a:lnTo>
                <a:lnTo>
                  <a:pt x="54269" y="1872"/>
                </a:lnTo>
                <a:lnTo>
                  <a:pt x="54686" y="2330"/>
                </a:lnTo>
                <a:lnTo>
                  <a:pt x="55293" y="2615"/>
                </a:lnTo>
                <a:lnTo>
                  <a:pt x="55673" y="2857"/>
                </a:lnTo>
                <a:lnTo>
                  <a:pt x="56022" y="3212"/>
                </a:lnTo>
                <a:lnTo>
                  <a:pt x="56421" y="3538"/>
                </a:lnTo>
                <a:lnTo>
                  <a:pt x="56572" y="4063"/>
                </a:lnTo>
                <a:lnTo>
                  <a:pt x="57008" y="4456"/>
                </a:lnTo>
                <a:lnTo>
                  <a:pt x="57195" y="4965"/>
                </a:lnTo>
                <a:lnTo>
                  <a:pt x="57310" y="5459"/>
                </a:lnTo>
                <a:lnTo>
                  <a:pt x="57545" y="6231"/>
                </a:lnTo>
                <a:lnTo>
                  <a:pt x="57784" y="6782"/>
                </a:lnTo>
                <a:lnTo>
                  <a:pt x="57781" y="7737"/>
                </a:lnTo>
                <a:lnTo>
                  <a:pt x="57835" y="8816"/>
                </a:lnTo>
                <a:lnTo>
                  <a:pt x="58012" y="10052"/>
                </a:lnTo>
                <a:lnTo>
                  <a:pt x="57902" y="14523"/>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13885347" y="3831519"/>
            <a:ext cx="70683" cy="218267"/>
          </a:xfrm>
          <a:custGeom>
            <a:avLst/>
            <a:gdLst/>
            <a:ahLst/>
            <a:cxnLst/>
            <a:rect l="l" t="t" r="r" b="b"/>
            <a:pathLst>
              <a:path w="773" h="2387">
                <a:moveTo>
                  <a:pt x="773" y="0"/>
                </a:moveTo>
                <a:lnTo>
                  <a:pt x="630" y="710"/>
                </a:lnTo>
                <a:lnTo>
                  <a:pt x="453" y="1332"/>
                </a:lnTo>
                <a:lnTo>
                  <a:pt x="244" y="1886"/>
                </a:lnTo>
                <a:lnTo>
                  <a:pt x="0" y="238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13088722" y="4361048"/>
            <a:ext cx="319857" cy="54224"/>
          </a:xfrm>
          <a:custGeom>
            <a:avLst/>
            <a:gdLst/>
            <a:ahLst/>
            <a:cxnLst/>
            <a:rect l="l" t="t" r="r" b="b"/>
            <a:pathLst>
              <a:path w="3498" h="593">
                <a:moveTo>
                  <a:pt x="3498" y="0"/>
                </a:moveTo>
                <a:lnTo>
                  <a:pt x="2735" y="175"/>
                </a:lnTo>
                <a:lnTo>
                  <a:pt x="1904" y="332"/>
                </a:lnTo>
                <a:lnTo>
                  <a:pt x="997" y="471"/>
                </a:lnTo>
                <a:lnTo>
                  <a:pt x="0" y="593"/>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9488089" y="4404116"/>
            <a:ext cx="434523" cy="35479"/>
          </a:xfrm>
          <a:custGeom>
            <a:avLst/>
            <a:gdLst/>
            <a:ahLst/>
            <a:cxnLst/>
            <a:rect l="l" t="t" r="r" b="b"/>
            <a:pathLst>
              <a:path w="4752" h="388">
                <a:moveTo>
                  <a:pt x="4752" y="388"/>
                </a:moveTo>
                <a:lnTo>
                  <a:pt x="3339" y="316"/>
                </a:lnTo>
                <a:lnTo>
                  <a:pt x="2101" y="227"/>
                </a:lnTo>
                <a:lnTo>
                  <a:pt x="997" y="122"/>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8760318" y="4003975"/>
            <a:ext cx="108082" cy="160660"/>
          </a:xfrm>
          <a:custGeom>
            <a:avLst/>
            <a:gdLst/>
            <a:ahLst/>
            <a:cxnLst/>
            <a:rect l="l" t="t" r="r" b="b"/>
            <a:pathLst>
              <a:path w="1182" h="1757">
                <a:moveTo>
                  <a:pt x="1182" y="1757"/>
                </a:moveTo>
                <a:lnTo>
                  <a:pt x="834" y="1374"/>
                </a:lnTo>
                <a:lnTo>
                  <a:pt x="521" y="957"/>
                </a:lnTo>
                <a:lnTo>
                  <a:pt x="244" y="501"/>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8711946" y="2195566"/>
            <a:ext cx="70683" cy="218267"/>
          </a:xfrm>
          <a:custGeom>
            <a:avLst/>
            <a:gdLst/>
            <a:ahLst/>
            <a:cxnLst/>
            <a:rect l="l" t="t" r="r" b="b"/>
            <a:pathLst>
              <a:path w="773" h="2387">
                <a:moveTo>
                  <a:pt x="0" y="2387"/>
                </a:moveTo>
                <a:lnTo>
                  <a:pt x="143" y="1677"/>
                </a:lnTo>
                <a:lnTo>
                  <a:pt x="320" y="1055"/>
                </a:lnTo>
                <a:lnTo>
                  <a:pt x="529" y="501"/>
                </a:lnTo>
                <a:lnTo>
                  <a:pt x="773"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9259397" y="1830080"/>
            <a:ext cx="319857" cy="54224"/>
          </a:xfrm>
          <a:custGeom>
            <a:avLst/>
            <a:gdLst/>
            <a:ahLst/>
            <a:cxnLst/>
            <a:rect l="l" t="t" r="r" b="b"/>
            <a:pathLst>
              <a:path w="3498" h="593">
                <a:moveTo>
                  <a:pt x="0" y="593"/>
                </a:moveTo>
                <a:lnTo>
                  <a:pt x="763" y="418"/>
                </a:lnTo>
                <a:lnTo>
                  <a:pt x="1594" y="261"/>
                </a:lnTo>
                <a:lnTo>
                  <a:pt x="2501" y="122"/>
                </a:lnTo>
                <a:lnTo>
                  <a:pt x="349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12745364" y="1805757"/>
            <a:ext cx="434523" cy="35479"/>
          </a:xfrm>
          <a:custGeom>
            <a:avLst/>
            <a:gdLst/>
            <a:ahLst/>
            <a:cxnLst/>
            <a:rect l="l" t="t" r="r" b="b"/>
            <a:pathLst>
              <a:path w="4752" h="388">
                <a:moveTo>
                  <a:pt x="0" y="0"/>
                </a:moveTo>
                <a:lnTo>
                  <a:pt x="1413" y="72"/>
                </a:lnTo>
                <a:lnTo>
                  <a:pt x="2651" y="161"/>
                </a:lnTo>
                <a:lnTo>
                  <a:pt x="3755" y="266"/>
                </a:lnTo>
                <a:lnTo>
                  <a:pt x="4752" y="388"/>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13799576" y="2080717"/>
            <a:ext cx="108082" cy="160660"/>
          </a:xfrm>
          <a:custGeom>
            <a:avLst/>
            <a:gdLst/>
            <a:ahLst/>
            <a:cxnLst/>
            <a:rect l="l" t="t" r="r" b="b"/>
            <a:pathLst>
              <a:path w="1182" h="1757">
                <a:moveTo>
                  <a:pt x="0" y="0"/>
                </a:moveTo>
                <a:lnTo>
                  <a:pt x="348" y="383"/>
                </a:lnTo>
                <a:lnTo>
                  <a:pt x="661" y="800"/>
                </a:lnTo>
                <a:lnTo>
                  <a:pt x="938" y="1256"/>
                </a:lnTo>
                <a:lnTo>
                  <a:pt x="1182" y="175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ody: Two comparisons"/>
          <p:cNvSpPr txBox="1"/>
          <p:nvPr/>
        </p:nvSpPr>
        <p:spPr>
          <a:xfrm>
            <a:off x="9034272" y="1918207"/>
            <a:ext cx="4599431"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4E7892"/>
                </a:solidFill>
                <a:latin typeface="Chalkboard SE"/>
              </a:rPr>
              <a:t>Two comparisons</a:t>
            </a:r>
          </a:p>
        </p:txBody>
      </p:sp>
      <p:sp>
        <p:nvSpPr>
          <p:cNvPr id="37" name="Oval 36"/>
          <p:cNvSpPr/>
          <p:nvPr/>
        </p:nvSpPr>
        <p:spPr>
          <a:xfrm>
            <a:off x="8947404" y="259511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ody: Fixed-call replay: change one action, find the first differing r"/>
          <p:cNvSpPr txBox="1"/>
          <p:nvPr/>
        </p:nvSpPr>
        <p:spPr>
          <a:xfrm>
            <a:off x="9180576" y="2494534"/>
            <a:ext cx="4553712"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Fixed-call replay: change one action,</a:t>
            </a:r>
            <a:br/>
            <a:r>
              <a:rPr sz="2000" b="0">
                <a:solidFill>
                  <a:srgbClr val="293E46"/>
                </a:solidFill>
                <a:latin typeface="Trebuchet MS"/>
              </a:rPr>
              <a:t>find the first differing response</a:t>
            </a:r>
          </a:p>
        </p:txBody>
      </p:sp>
      <p:sp>
        <p:nvSpPr>
          <p:cNvPr id="39" name="Oval 38"/>
          <p:cNvSpPr/>
          <p:nvPr/>
        </p:nvSpPr>
        <p:spPr>
          <a:xfrm>
            <a:off x="8947404" y="338201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ody: Agent continuation: change one cue, re-sample, estimate P(incide"/>
          <p:cNvSpPr txBox="1"/>
          <p:nvPr/>
        </p:nvSpPr>
        <p:spPr>
          <a:xfrm>
            <a:off x="9180576" y="3281426"/>
            <a:ext cx="4553712"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Agent continuation: change one cue,</a:t>
            </a:r>
            <a:br/>
            <a:r>
              <a:rPr sz="2000" b="0">
                <a:solidFill>
                  <a:srgbClr val="293E46"/>
                </a:solidFill>
                <a:latin typeface="Trebuchet MS"/>
              </a:rPr>
              <a:t>re-sample, estimate P(incident | cue)</a:t>
            </a:r>
          </a:p>
        </p:txBody>
      </p:sp>
      <p:sp>
        <p:nvSpPr>
          <p:cNvPr id="41" name="Rounded Rectangle 40"/>
          <p:cNvSpPr/>
          <p:nvPr/>
        </p:nvSpPr>
        <p:spPr>
          <a:xfrm>
            <a:off x="8677656" y="4745736"/>
            <a:ext cx="5312664" cy="2688336"/>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8685063" y="4746559"/>
            <a:ext cx="5304434" cy="2684038"/>
          </a:xfrm>
          <a:custGeom>
            <a:avLst/>
            <a:gdLst/>
            <a:ahLst/>
            <a:cxnLst/>
            <a:rect l="l" t="t" r="r" b="b"/>
            <a:pathLst>
              <a:path w="58010" h="29353">
                <a:moveTo>
                  <a:pt x="58003" y="14648"/>
                </a:moveTo>
                <a:lnTo>
                  <a:pt x="58010" y="19142"/>
                </a:lnTo>
                <a:lnTo>
                  <a:pt x="57816" y="20495"/>
                </a:lnTo>
                <a:lnTo>
                  <a:pt x="57773" y="21745"/>
                </a:lnTo>
                <a:lnTo>
                  <a:pt x="57567" y="22566"/>
                </a:lnTo>
                <a:lnTo>
                  <a:pt x="57400" y="23162"/>
                </a:lnTo>
                <a:lnTo>
                  <a:pt x="57399" y="23924"/>
                </a:lnTo>
                <a:lnTo>
                  <a:pt x="57052" y="24299"/>
                </a:lnTo>
                <a:lnTo>
                  <a:pt x="56759" y="24932"/>
                </a:lnTo>
                <a:lnTo>
                  <a:pt x="56650" y="25232"/>
                </a:lnTo>
                <a:lnTo>
                  <a:pt x="56297" y="25786"/>
                </a:lnTo>
                <a:lnTo>
                  <a:pt x="56018" y="26076"/>
                </a:lnTo>
                <a:lnTo>
                  <a:pt x="55518" y="26481"/>
                </a:lnTo>
                <a:lnTo>
                  <a:pt x="55117" y="26919"/>
                </a:lnTo>
                <a:lnTo>
                  <a:pt x="54701" y="27179"/>
                </a:lnTo>
                <a:lnTo>
                  <a:pt x="54232" y="27333"/>
                </a:lnTo>
                <a:lnTo>
                  <a:pt x="53524" y="27695"/>
                </a:lnTo>
                <a:lnTo>
                  <a:pt x="53113" y="27988"/>
                </a:lnTo>
                <a:lnTo>
                  <a:pt x="52344" y="28033"/>
                </a:lnTo>
                <a:lnTo>
                  <a:pt x="51645" y="28342"/>
                </a:lnTo>
                <a:lnTo>
                  <a:pt x="50809" y="28368"/>
                </a:lnTo>
                <a:lnTo>
                  <a:pt x="50072" y="28722"/>
                </a:lnTo>
                <a:lnTo>
                  <a:pt x="49160" y="28726"/>
                </a:lnTo>
                <a:lnTo>
                  <a:pt x="48035" y="28908"/>
                </a:lnTo>
                <a:lnTo>
                  <a:pt x="46960" y="28955"/>
                </a:lnTo>
                <a:lnTo>
                  <a:pt x="45872" y="29138"/>
                </a:lnTo>
                <a:lnTo>
                  <a:pt x="44358" y="29211"/>
                </a:lnTo>
                <a:lnTo>
                  <a:pt x="42673" y="29224"/>
                </a:lnTo>
                <a:lnTo>
                  <a:pt x="40651" y="29184"/>
                </a:lnTo>
                <a:lnTo>
                  <a:pt x="37752" y="29161"/>
                </a:lnTo>
                <a:lnTo>
                  <a:pt x="28954" y="29206"/>
                </a:lnTo>
                <a:lnTo>
                  <a:pt x="19974" y="29282"/>
                </a:lnTo>
                <a:lnTo>
                  <a:pt x="17205" y="29353"/>
                </a:lnTo>
                <a:lnTo>
                  <a:pt x="15153" y="29286"/>
                </a:lnTo>
                <a:lnTo>
                  <a:pt x="13658" y="29179"/>
                </a:lnTo>
                <a:lnTo>
                  <a:pt x="12168" y="29036"/>
                </a:lnTo>
                <a:lnTo>
                  <a:pt x="10889" y="28991"/>
                </a:lnTo>
                <a:lnTo>
                  <a:pt x="9845" y="28943"/>
                </a:lnTo>
                <a:lnTo>
                  <a:pt x="8861" y="28764"/>
                </a:lnTo>
                <a:lnTo>
                  <a:pt x="7845" y="28646"/>
                </a:lnTo>
                <a:lnTo>
                  <a:pt x="7076" y="28412"/>
                </a:lnTo>
                <a:lnTo>
                  <a:pt x="6304" y="28171"/>
                </a:lnTo>
                <a:lnTo>
                  <a:pt x="5557" y="28135"/>
                </a:lnTo>
                <a:lnTo>
                  <a:pt x="4963" y="27795"/>
                </a:lnTo>
                <a:lnTo>
                  <a:pt x="4422" y="27522"/>
                </a:lnTo>
                <a:lnTo>
                  <a:pt x="3873" y="27488"/>
                </a:lnTo>
                <a:lnTo>
                  <a:pt x="3402" y="27049"/>
                </a:lnTo>
                <a:lnTo>
                  <a:pt x="2803" y="26867"/>
                </a:lnTo>
                <a:lnTo>
                  <a:pt x="2282" y="26584"/>
                </a:lnTo>
                <a:lnTo>
                  <a:pt x="2043" y="26102"/>
                </a:lnTo>
                <a:lnTo>
                  <a:pt x="1623" y="25775"/>
                </a:lnTo>
                <a:lnTo>
                  <a:pt x="1246" y="25313"/>
                </a:lnTo>
                <a:lnTo>
                  <a:pt x="1112" y="24842"/>
                </a:lnTo>
                <a:lnTo>
                  <a:pt x="869" y="24308"/>
                </a:lnTo>
                <a:lnTo>
                  <a:pt x="485" y="23903"/>
                </a:lnTo>
                <a:lnTo>
                  <a:pt x="453" y="23064"/>
                </a:lnTo>
                <a:lnTo>
                  <a:pt x="318" y="22491"/>
                </a:lnTo>
                <a:lnTo>
                  <a:pt x="172" y="21626"/>
                </a:lnTo>
                <a:lnTo>
                  <a:pt x="137" y="20711"/>
                </a:lnTo>
                <a:lnTo>
                  <a:pt x="0" y="19245"/>
                </a:lnTo>
                <a:lnTo>
                  <a:pt x="129" y="14807"/>
                </a:lnTo>
                <a:lnTo>
                  <a:pt x="154" y="10326"/>
                </a:lnTo>
                <a:lnTo>
                  <a:pt x="117" y="8826"/>
                </a:lnTo>
                <a:lnTo>
                  <a:pt x="144" y="7774"/>
                </a:lnTo>
                <a:lnTo>
                  <a:pt x="315" y="6931"/>
                </a:lnTo>
                <a:lnTo>
                  <a:pt x="500" y="6144"/>
                </a:lnTo>
                <a:lnTo>
                  <a:pt x="538" y="5498"/>
                </a:lnTo>
                <a:lnTo>
                  <a:pt x="867" y="4922"/>
                </a:lnTo>
                <a:lnTo>
                  <a:pt x="947" y="4562"/>
                </a:lnTo>
                <a:lnTo>
                  <a:pt x="1419" y="3957"/>
                </a:lnTo>
                <a:lnTo>
                  <a:pt x="1609" y="3596"/>
                </a:lnTo>
                <a:lnTo>
                  <a:pt x="1897" y="3147"/>
                </a:lnTo>
                <a:lnTo>
                  <a:pt x="2510" y="2862"/>
                </a:lnTo>
                <a:lnTo>
                  <a:pt x="2901" y="2479"/>
                </a:lnTo>
                <a:lnTo>
                  <a:pt x="3249" y="2297"/>
                </a:lnTo>
                <a:lnTo>
                  <a:pt x="3730" y="2112"/>
                </a:lnTo>
                <a:lnTo>
                  <a:pt x="4379" y="1698"/>
                </a:lnTo>
                <a:lnTo>
                  <a:pt x="4938" y="1554"/>
                </a:lnTo>
                <a:lnTo>
                  <a:pt x="5449" y="1203"/>
                </a:lnTo>
                <a:lnTo>
                  <a:pt x="6297" y="1138"/>
                </a:lnTo>
                <a:lnTo>
                  <a:pt x="7088" y="932"/>
                </a:lnTo>
                <a:lnTo>
                  <a:pt x="7905" y="655"/>
                </a:lnTo>
                <a:lnTo>
                  <a:pt x="8864" y="739"/>
                </a:lnTo>
                <a:lnTo>
                  <a:pt x="9857" y="602"/>
                </a:lnTo>
                <a:lnTo>
                  <a:pt x="10899" y="326"/>
                </a:lnTo>
                <a:lnTo>
                  <a:pt x="12053" y="254"/>
                </a:lnTo>
                <a:lnTo>
                  <a:pt x="13555" y="171"/>
                </a:lnTo>
                <a:lnTo>
                  <a:pt x="15259" y="202"/>
                </a:lnTo>
                <a:lnTo>
                  <a:pt x="17325" y="220"/>
                </a:lnTo>
                <a:lnTo>
                  <a:pt x="20003" y="102"/>
                </a:lnTo>
                <a:lnTo>
                  <a:pt x="28883" y="192"/>
                </a:lnTo>
                <a:lnTo>
                  <a:pt x="37817" y="0"/>
                </a:lnTo>
                <a:lnTo>
                  <a:pt x="40671" y="60"/>
                </a:lnTo>
                <a:lnTo>
                  <a:pt x="42724" y="241"/>
                </a:lnTo>
                <a:lnTo>
                  <a:pt x="44475" y="178"/>
                </a:lnTo>
                <a:lnTo>
                  <a:pt x="45898" y="318"/>
                </a:lnTo>
                <a:lnTo>
                  <a:pt x="47029" y="396"/>
                </a:lnTo>
                <a:lnTo>
                  <a:pt x="48158" y="573"/>
                </a:lnTo>
                <a:lnTo>
                  <a:pt x="49188" y="585"/>
                </a:lnTo>
                <a:lnTo>
                  <a:pt x="50122" y="681"/>
                </a:lnTo>
                <a:lnTo>
                  <a:pt x="50907" y="844"/>
                </a:lnTo>
                <a:lnTo>
                  <a:pt x="51719" y="1025"/>
                </a:lnTo>
                <a:lnTo>
                  <a:pt x="52277" y="1410"/>
                </a:lnTo>
                <a:lnTo>
                  <a:pt x="52927" y="1553"/>
                </a:lnTo>
                <a:lnTo>
                  <a:pt x="53521" y="1750"/>
                </a:lnTo>
                <a:lnTo>
                  <a:pt x="54219" y="1950"/>
                </a:lnTo>
                <a:lnTo>
                  <a:pt x="54679" y="2243"/>
                </a:lnTo>
                <a:lnTo>
                  <a:pt x="55081" y="2503"/>
                </a:lnTo>
                <a:lnTo>
                  <a:pt x="55443" y="2859"/>
                </a:lnTo>
                <a:lnTo>
                  <a:pt x="55884" y="3362"/>
                </a:lnTo>
                <a:lnTo>
                  <a:pt x="56384" y="3629"/>
                </a:lnTo>
                <a:lnTo>
                  <a:pt x="56615" y="4106"/>
                </a:lnTo>
                <a:lnTo>
                  <a:pt x="56829" y="4452"/>
                </a:lnTo>
                <a:lnTo>
                  <a:pt x="57102" y="5049"/>
                </a:lnTo>
                <a:lnTo>
                  <a:pt x="57202" y="5579"/>
                </a:lnTo>
                <a:lnTo>
                  <a:pt x="57399" y="6211"/>
                </a:lnTo>
                <a:lnTo>
                  <a:pt x="57770" y="6909"/>
                </a:lnTo>
                <a:lnTo>
                  <a:pt x="57725" y="7830"/>
                </a:lnTo>
                <a:lnTo>
                  <a:pt x="57924" y="8864"/>
                </a:lnTo>
                <a:lnTo>
                  <a:pt x="57893" y="10263"/>
                </a:lnTo>
                <a:lnTo>
                  <a:pt x="57792" y="14754"/>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8678388" y="4746102"/>
            <a:ext cx="5309646" cy="2681112"/>
          </a:xfrm>
          <a:custGeom>
            <a:avLst/>
            <a:gdLst/>
            <a:ahLst/>
            <a:cxnLst/>
            <a:rect l="l" t="t" r="r" b="b"/>
            <a:pathLst>
              <a:path w="58067" h="29321">
                <a:moveTo>
                  <a:pt x="58061" y="14582"/>
                </a:moveTo>
                <a:lnTo>
                  <a:pt x="57987" y="19185"/>
                </a:lnTo>
                <a:lnTo>
                  <a:pt x="57819" y="20632"/>
                </a:lnTo>
                <a:lnTo>
                  <a:pt x="57787" y="21618"/>
                </a:lnTo>
                <a:lnTo>
                  <a:pt x="57651" y="22368"/>
                </a:lnTo>
                <a:lnTo>
                  <a:pt x="57537" y="23280"/>
                </a:lnTo>
                <a:lnTo>
                  <a:pt x="57355" y="23820"/>
                </a:lnTo>
                <a:lnTo>
                  <a:pt x="57138" y="24431"/>
                </a:lnTo>
                <a:lnTo>
                  <a:pt x="57015" y="24904"/>
                </a:lnTo>
                <a:lnTo>
                  <a:pt x="56766" y="25339"/>
                </a:lnTo>
                <a:lnTo>
                  <a:pt x="56319" y="25729"/>
                </a:lnTo>
                <a:lnTo>
                  <a:pt x="55971" y="26126"/>
                </a:lnTo>
                <a:lnTo>
                  <a:pt x="55667" y="26432"/>
                </a:lnTo>
                <a:lnTo>
                  <a:pt x="55150" y="26863"/>
                </a:lnTo>
                <a:lnTo>
                  <a:pt x="54673" y="27076"/>
                </a:lnTo>
                <a:lnTo>
                  <a:pt x="54102" y="27341"/>
                </a:lnTo>
                <a:lnTo>
                  <a:pt x="53779" y="27579"/>
                </a:lnTo>
                <a:lnTo>
                  <a:pt x="52996" y="27824"/>
                </a:lnTo>
                <a:lnTo>
                  <a:pt x="52356" y="28072"/>
                </a:lnTo>
                <a:lnTo>
                  <a:pt x="51671" y="28323"/>
                </a:lnTo>
                <a:lnTo>
                  <a:pt x="50919" y="28439"/>
                </a:lnTo>
                <a:lnTo>
                  <a:pt x="50221" y="28577"/>
                </a:lnTo>
                <a:lnTo>
                  <a:pt x="49262" y="28745"/>
                </a:lnTo>
                <a:lnTo>
                  <a:pt x="48220" y="28785"/>
                </a:lnTo>
                <a:lnTo>
                  <a:pt x="47230" y="28903"/>
                </a:lnTo>
                <a:lnTo>
                  <a:pt x="45797" y="29056"/>
                </a:lnTo>
                <a:lnTo>
                  <a:pt x="44602" y="29207"/>
                </a:lnTo>
                <a:lnTo>
                  <a:pt x="42848" y="29146"/>
                </a:lnTo>
                <a:lnTo>
                  <a:pt x="40826" y="29321"/>
                </a:lnTo>
                <a:lnTo>
                  <a:pt x="37972" y="29266"/>
                </a:lnTo>
                <a:lnTo>
                  <a:pt x="28933" y="29231"/>
                </a:lnTo>
                <a:lnTo>
                  <a:pt x="20116" y="29221"/>
                </a:lnTo>
                <a:lnTo>
                  <a:pt x="17346" y="29163"/>
                </a:lnTo>
                <a:lnTo>
                  <a:pt x="15321" y="29134"/>
                </a:lnTo>
                <a:lnTo>
                  <a:pt x="13708" y="29158"/>
                </a:lnTo>
                <a:lnTo>
                  <a:pt x="12205" y="29106"/>
                </a:lnTo>
                <a:lnTo>
                  <a:pt x="11078" y="28976"/>
                </a:lnTo>
                <a:lnTo>
                  <a:pt x="9796" y="28926"/>
                </a:lnTo>
                <a:lnTo>
                  <a:pt x="8779" y="28706"/>
                </a:lnTo>
                <a:lnTo>
                  <a:pt x="7969" y="28704"/>
                </a:lnTo>
                <a:lnTo>
                  <a:pt x="7155" y="28403"/>
                </a:lnTo>
                <a:lnTo>
                  <a:pt x="6302" y="28246"/>
                </a:lnTo>
                <a:lnTo>
                  <a:pt x="5635" y="28020"/>
                </a:lnTo>
                <a:lnTo>
                  <a:pt x="5041" y="27849"/>
                </a:lnTo>
                <a:lnTo>
                  <a:pt x="4527" y="27688"/>
                </a:lnTo>
                <a:lnTo>
                  <a:pt x="3834" y="27508"/>
                </a:lnTo>
                <a:lnTo>
                  <a:pt x="3365" y="27150"/>
                </a:lnTo>
                <a:lnTo>
                  <a:pt x="2997" y="26751"/>
                </a:lnTo>
                <a:lnTo>
                  <a:pt x="2508" y="26512"/>
                </a:lnTo>
                <a:lnTo>
                  <a:pt x="2076" y="26079"/>
                </a:lnTo>
                <a:lnTo>
                  <a:pt x="1803" y="25641"/>
                </a:lnTo>
                <a:lnTo>
                  <a:pt x="1348" y="25325"/>
                </a:lnTo>
                <a:lnTo>
                  <a:pt x="1223" y="24954"/>
                </a:lnTo>
                <a:lnTo>
                  <a:pt x="1006" y="24261"/>
                </a:lnTo>
                <a:lnTo>
                  <a:pt x="664" y="23922"/>
                </a:lnTo>
                <a:lnTo>
                  <a:pt x="459" y="23091"/>
                </a:lnTo>
                <a:lnTo>
                  <a:pt x="373" y="22472"/>
                </a:lnTo>
                <a:lnTo>
                  <a:pt x="357" y="21629"/>
                </a:lnTo>
                <a:lnTo>
                  <a:pt x="145" y="20594"/>
                </a:lnTo>
                <a:lnTo>
                  <a:pt x="32" y="19084"/>
                </a:lnTo>
                <a:lnTo>
                  <a:pt x="114" y="14792"/>
                </a:lnTo>
                <a:lnTo>
                  <a:pt x="0" y="10122"/>
                </a:lnTo>
                <a:lnTo>
                  <a:pt x="286" y="8865"/>
                </a:lnTo>
                <a:lnTo>
                  <a:pt x="315" y="7808"/>
                </a:lnTo>
                <a:lnTo>
                  <a:pt x="401" y="7035"/>
                </a:lnTo>
                <a:lnTo>
                  <a:pt x="480" y="6193"/>
                </a:lnTo>
                <a:lnTo>
                  <a:pt x="723" y="5677"/>
                </a:lnTo>
                <a:lnTo>
                  <a:pt x="898" y="4973"/>
                </a:lnTo>
                <a:lnTo>
                  <a:pt x="1095" y="4548"/>
                </a:lnTo>
                <a:lnTo>
                  <a:pt x="1312" y="4154"/>
                </a:lnTo>
                <a:lnTo>
                  <a:pt x="1692" y="3582"/>
                </a:lnTo>
                <a:lnTo>
                  <a:pt x="2057" y="3293"/>
                </a:lnTo>
                <a:lnTo>
                  <a:pt x="2588" y="3023"/>
                </a:lnTo>
                <a:lnTo>
                  <a:pt x="2935" y="2511"/>
                </a:lnTo>
                <a:lnTo>
                  <a:pt x="3380" y="2321"/>
                </a:lnTo>
                <a:lnTo>
                  <a:pt x="3952" y="2118"/>
                </a:lnTo>
                <a:lnTo>
                  <a:pt x="4358" y="1804"/>
                </a:lnTo>
                <a:lnTo>
                  <a:pt x="4970" y="1483"/>
                </a:lnTo>
                <a:lnTo>
                  <a:pt x="5639" y="1249"/>
                </a:lnTo>
                <a:lnTo>
                  <a:pt x="6303" y="1205"/>
                </a:lnTo>
                <a:lnTo>
                  <a:pt x="7043" y="884"/>
                </a:lnTo>
                <a:lnTo>
                  <a:pt x="7912" y="734"/>
                </a:lnTo>
                <a:lnTo>
                  <a:pt x="8896" y="731"/>
                </a:lnTo>
                <a:lnTo>
                  <a:pt x="9811" y="510"/>
                </a:lnTo>
                <a:lnTo>
                  <a:pt x="11039" y="374"/>
                </a:lnTo>
                <a:lnTo>
                  <a:pt x="12322" y="385"/>
                </a:lnTo>
                <a:lnTo>
                  <a:pt x="13682" y="236"/>
                </a:lnTo>
                <a:lnTo>
                  <a:pt x="15320" y="255"/>
                </a:lnTo>
                <a:lnTo>
                  <a:pt x="17329" y="153"/>
                </a:lnTo>
                <a:lnTo>
                  <a:pt x="20118" y="30"/>
                </a:lnTo>
                <a:lnTo>
                  <a:pt x="28938" y="0"/>
                </a:lnTo>
                <a:lnTo>
                  <a:pt x="38040" y="215"/>
                </a:lnTo>
                <a:lnTo>
                  <a:pt x="40764" y="113"/>
                </a:lnTo>
                <a:lnTo>
                  <a:pt x="42866" y="134"/>
                </a:lnTo>
                <a:lnTo>
                  <a:pt x="44489" y="174"/>
                </a:lnTo>
                <a:lnTo>
                  <a:pt x="45761" y="384"/>
                </a:lnTo>
                <a:lnTo>
                  <a:pt x="47113" y="465"/>
                </a:lnTo>
                <a:lnTo>
                  <a:pt x="48190" y="482"/>
                </a:lnTo>
                <a:lnTo>
                  <a:pt x="49356" y="520"/>
                </a:lnTo>
                <a:lnTo>
                  <a:pt x="50261" y="707"/>
                </a:lnTo>
                <a:lnTo>
                  <a:pt x="50868" y="901"/>
                </a:lnTo>
                <a:lnTo>
                  <a:pt x="51615" y="1197"/>
                </a:lnTo>
                <a:lnTo>
                  <a:pt x="52552" y="1380"/>
                </a:lnTo>
                <a:lnTo>
                  <a:pt x="53058" y="1504"/>
                </a:lnTo>
                <a:lnTo>
                  <a:pt x="53612" y="1866"/>
                </a:lnTo>
                <a:lnTo>
                  <a:pt x="54255" y="1992"/>
                </a:lnTo>
                <a:lnTo>
                  <a:pt x="54673" y="2392"/>
                </a:lnTo>
                <a:lnTo>
                  <a:pt x="55172" y="2529"/>
                </a:lnTo>
                <a:lnTo>
                  <a:pt x="55724" y="2856"/>
                </a:lnTo>
                <a:lnTo>
                  <a:pt x="55950" y="3371"/>
                </a:lnTo>
                <a:lnTo>
                  <a:pt x="56319" y="3611"/>
                </a:lnTo>
                <a:lnTo>
                  <a:pt x="56590" y="4069"/>
                </a:lnTo>
                <a:lnTo>
                  <a:pt x="57014" y="4421"/>
                </a:lnTo>
                <a:lnTo>
                  <a:pt x="57242" y="5078"/>
                </a:lnTo>
                <a:lnTo>
                  <a:pt x="57485" y="5669"/>
                </a:lnTo>
                <a:lnTo>
                  <a:pt x="57453" y="6102"/>
                </a:lnTo>
                <a:lnTo>
                  <a:pt x="57713" y="6906"/>
                </a:lnTo>
                <a:lnTo>
                  <a:pt x="57733" y="7707"/>
                </a:lnTo>
                <a:lnTo>
                  <a:pt x="57849" y="8802"/>
                </a:lnTo>
                <a:lnTo>
                  <a:pt x="57948" y="10107"/>
                </a:lnTo>
                <a:lnTo>
                  <a:pt x="58067" y="14609"/>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13885347" y="6801216"/>
            <a:ext cx="70683" cy="218999"/>
          </a:xfrm>
          <a:custGeom>
            <a:avLst/>
            <a:gdLst/>
            <a:ahLst/>
            <a:cxnLst/>
            <a:rect l="l" t="t" r="r" b="b"/>
            <a:pathLst>
              <a:path w="773" h="2395">
                <a:moveTo>
                  <a:pt x="773" y="0"/>
                </a:moveTo>
                <a:lnTo>
                  <a:pt x="630" y="712"/>
                </a:lnTo>
                <a:lnTo>
                  <a:pt x="453" y="1336"/>
                </a:lnTo>
                <a:lnTo>
                  <a:pt x="244" y="1892"/>
                </a:lnTo>
                <a:lnTo>
                  <a:pt x="0" y="2395"/>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13088722" y="7332482"/>
            <a:ext cx="319857" cy="54498"/>
          </a:xfrm>
          <a:custGeom>
            <a:avLst/>
            <a:gdLst/>
            <a:ahLst/>
            <a:cxnLst/>
            <a:rect l="l" t="t" r="r" b="b"/>
            <a:pathLst>
              <a:path w="3498" h="596">
                <a:moveTo>
                  <a:pt x="3498" y="0"/>
                </a:moveTo>
                <a:lnTo>
                  <a:pt x="2735" y="176"/>
                </a:lnTo>
                <a:lnTo>
                  <a:pt x="1904" y="333"/>
                </a:lnTo>
                <a:lnTo>
                  <a:pt x="997" y="473"/>
                </a:lnTo>
                <a:lnTo>
                  <a:pt x="0" y="596"/>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9488089" y="7375733"/>
            <a:ext cx="434523" cy="35662"/>
          </a:xfrm>
          <a:custGeom>
            <a:avLst/>
            <a:gdLst/>
            <a:ahLst/>
            <a:cxnLst/>
            <a:rect l="l" t="t" r="r" b="b"/>
            <a:pathLst>
              <a:path w="4752" h="390">
                <a:moveTo>
                  <a:pt x="4752" y="390"/>
                </a:moveTo>
                <a:lnTo>
                  <a:pt x="3339" y="317"/>
                </a:lnTo>
                <a:lnTo>
                  <a:pt x="2101" y="228"/>
                </a:lnTo>
                <a:lnTo>
                  <a:pt x="997" y="123"/>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8760318" y="6974220"/>
            <a:ext cx="108082" cy="161209"/>
          </a:xfrm>
          <a:custGeom>
            <a:avLst/>
            <a:gdLst/>
            <a:ahLst/>
            <a:cxnLst/>
            <a:rect l="l" t="t" r="r" b="b"/>
            <a:pathLst>
              <a:path w="1182" h="1763">
                <a:moveTo>
                  <a:pt x="1182" y="1763"/>
                </a:moveTo>
                <a:lnTo>
                  <a:pt x="834" y="1379"/>
                </a:lnTo>
                <a:lnTo>
                  <a:pt x="521" y="960"/>
                </a:lnTo>
                <a:lnTo>
                  <a:pt x="244" y="503"/>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8711946" y="5159593"/>
            <a:ext cx="70683" cy="218999"/>
          </a:xfrm>
          <a:custGeom>
            <a:avLst/>
            <a:gdLst/>
            <a:ahLst/>
            <a:cxnLst/>
            <a:rect l="l" t="t" r="r" b="b"/>
            <a:pathLst>
              <a:path w="773" h="2395">
                <a:moveTo>
                  <a:pt x="0" y="2395"/>
                </a:moveTo>
                <a:lnTo>
                  <a:pt x="143" y="1683"/>
                </a:lnTo>
                <a:lnTo>
                  <a:pt x="320" y="1059"/>
                </a:lnTo>
                <a:lnTo>
                  <a:pt x="529" y="503"/>
                </a:lnTo>
                <a:lnTo>
                  <a:pt x="773"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9259397" y="4792828"/>
            <a:ext cx="319857" cy="54498"/>
          </a:xfrm>
          <a:custGeom>
            <a:avLst/>
            <a:gdLst/>
            <a:ahLst/>
            <a:cxnLst/>
            <a:rect l="l" t="t" r="r" b="b"/>
            <a:pathLst>
              <a:path w="3498" h="596">
                <a:moveTo>
                  <a:pt x="0" y="596"/>
                </a:moveTo>
                <a:lnTo>
                  <a:pt x="763" y="420"/>
                </a:lnTo>
                <a:lnTo>
                  <a:pt x="1594" y="263"/>
                </a:lnTo>
                <a:lnTo>
                  <a:pt x="2501" y="123"/>
                </a:lnTo>
                <a:lnTo>
                  <a:pt x="3498"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2745364" y="4768413"/>
            <a:ext cx="434523" cy="35662"/>
          </a:xfrm>
          <a:custGeom>
            <a:avLst/>
            <a:gdLst/>
            <a:ahLst/>
            <a:cxnLst/>
            <a:rect l="l" t="t" r="r" b="b"/>
            <a:pathLst>
              <a:path w="4752" h="390">
                <a:moveTo>
                  <a:pt x="0" y="0"/>
                </a:moveTo>
                <a:lnTo>
                  <a:pt x="1413" y="73"/>
                </a:lnTo>
                <a:lnTo>
                  <a:pt x="2651" y="162"/>
                </a:lnTo>
                <a:lnTo>
                  <a:pt x="3755" y="267"/>
                </a:lnTo>
                <a:lnTo>
                  <a:pt x="4752" y="39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3799576" y="5044379"/>
            <a:ext cx="108082" cy="161209"/>
          </a:xfrm>
          <a:custGeom>
            <a:avLst/>
            <a:gdLst/>
            <a:ahLst/>
            <a:cxnLst/>
            <a:rect l="l" t="t" r="r" b="b"/>
            <a:pathLst>
              <a:path w="1182" h="1763">
                <a:moveTo>
                  <a:pt x="0" y="0"/>
                </a:moveTo>
                <a:lnTo>
                  <a:pt x="348" y="384"/>
                </a:lnTo>
                <a:lnTo>
                  <a:pt x="661" y="803"/>
                </a:lnTo>
                <a:lnTo>
                  <a:pt x="938" y="1260"/>
                </a:lnTo>
                <a:lnTo>
                  <a:pt x="1182" y="1763"/>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 Unique: blame records"/>
          <p:cNvSpPr txBox="1"/>
          <p:nvPr/>
        </p:nvSpPr>
        <p:spPr>
          <a:xfrm>
            <a:off x="9034272" y="4880864"/>
            <a:ext cx="4599431"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557B65"/>
                </a:solidFill>
                <a:latin typeface="Chalkboard SE"/>
              </a:rPr>
              <a:t>Unique: blame records</a:t>
            </a:r>
          </a:p>
        </p:txBody>
      </p:sp>
      <p:sp>
        <p:nvSpPr>
          <p:cNvPr id="53" name="Oval 52"/>
          <p:cNvSpPr/>
          <p:nvPr/>
        </p:nvSpPr>
        <p:spPr>
          <a:xfrm>
            <a:off x="8947404" y="553180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 Each incident gets a minimal trigger and a named cause"/>
          <p:cNvSpPr txBox="1"/>
          <p:nvPr/>
        </p:nvSpPr>
        <p:spPr>
          <a:xfrm>
            <a:off x="9180576" y="5431218"/>
            <a:ext cx="4553712"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Each incident gets a minimal trigger</a:t>
            </a:r>
            <a:br/>
            <a:r>
              <a:rPr sz="1900" b="0">
                <a:solidFill>
                  <a:srgbClr val="293E46"/>
                </a:solidFill>
                <a:latin typeface="Trebuchet MS"/>
              </a:rPr>
              <a:t>and a named cause</a:t>
            </a:r>
          </a:p>
        </p:txBody>
      </p:sp>
      <p:sp>
        <p:nvSpPr>
          <p:cNvPr id="55" name="Oval 54"/>
          <p:cNvSpPr/>
          <p:nvPr/>
        </p:nvSpPr>
        <p:spPr>
          <a:xfrm>
            <a:off x="8947404" y="628643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 Blame proposes both a clause and a monitor signature"/>
          <p:cNvSpPr txBox="1"/>
          <p:nvPr/>
        </p:nvSpPr>
        <p:spPr>
          <a:xfrm>
            <a:off x="9180576" y="6185852"/>
            <a:ext cx="4553712"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Blame proposes both a clause and a</a:t>
            </a:r>
            <a:br/>
            <a:r>
              <a:rPr sz="1900" b="0">
                <a:solidFill>
                  <a:srgbClr val="293E46"/>
                </a:solidFill>
                <a:latin typeface="Trebuchet MS"/>
              </a:rPr>
              <a:t>monitor signature</a:t>
            </a:r>
          </a:p>
        </p:txBody>
      </p:sp>
      <p:sp>
        <p:nvSpPr>
          <p:cNvPr id="57" name="Oval 56"/>
          <p:cNvSpPr/>
          <p:nvPr/>
        </p:nvSpPr>
        <p:spPr>
          <a:xfrm>
            <a:off x="8947404" y="704107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 Replays become new library cases"/>
          <p:cNvSpPr txBox="1"/>
          <p:nvPr/>
        </p:nvSpPr>
        <p:spPr>
          <a:xfrm>
            <a:off x="9180576" y="6940486"/>
            <a:ext cx="4553712" cy="37503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Replays become new library cases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4 · COMPONENT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4 · COMPONENTS</a:t>
            </a:r>
          </a:p>
        </p:txBody>
      </p:sp>
      <p:sp>
        <p:nvSpPr>
          <p:cNvPr id="3" name="title: Component 5 · The policy optimizer"/>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Component 5 · The policy optimizer</a:t>
            </a:r>
          </a:p>
        </p:txBody>
      </p:sp>
      <p:sp>
        <p:nvSpPr>
          <p:cNvPr id="4" name="subtitle: Constrained search with a feedback ablation"/>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Constrained search with a feedback ablation</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rt: 1 / 2"/>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1 / 2</a:t>
            </a: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22"/>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22</a:t>
            </a:r>
          </a:p>
        </p:txBody>
      </p:sp>
      <p:sp>
        <p:nvSpPr>
          <p:cNvPr id="13" name="Oval 12"/>
          <p:cNvSpPr/>
          <p:nvPr/>
        </p:nvSpPr>
        <p:spPr>
          <a:xfrm>
            <a:off x="969264" y="1856231"/>
            <a:ext cx="12691872" cy="1380744"/>
          </a:xfrm>
          <a:prstGeom prst="ellipse">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974202" y="1861993"/>
            <a:ext cx="12681265" cy="1369040"/>
          </a:xfrm>
          <a:custGeom>
            <a:avLst/>
            <a:gdLst/>
            <a:ahLst/>
            <a:cxnLst/>
            <a:rect l="l" t="t" r="r" b="b"/>
            <a:pathLst>
              <a:path w="138684" h="14972">
                <a:moveTo>
                  <a:pt x="138684" y="7423"/>
                </a:moveTo>
                <a:lnTo>
                  <a:pt x="138430" y="7889"/>
                </a:lnTo>
                <a:lnTo>
                  <a:pt x="138122" y="8192"/>
                </a:lnTo>
                <a:lnTo>
                  <a:pt x="137779" y="8558"/>
                </a:lnTo>
                <a:lnTo>
                  <a:pt x="137112" y="9079"/>
                </a:lnTo>
                <a:lnTo>
                  <a:pt x="136221" y="9523"/>
                </a:lnTo>
                <a:lnTo>
                  <a:pt x="135361" y="9715"/>
                </a:lnTo>
                <a:lnTo>
                  <a:pt x="134138" y="10179"/>
                </a:lnTo>
                <a:lnTo>
                  <a:pt x="132737" y="10555"/>
                </a:lnTo>
                <a:lnTo>
                  <a:pt x="131005" y="10937"/>
                </a:lnTo>
                <a:lnTo>
                  <a:pt x="129372" y="11269"/>
                </a:lnTo>
                <a:lnTo>
                  <a:pt x="127336" y="11458"/>
                </a:lnTo>
                <a:lnTo>
                  <a:pt x="125335" y="11855"/>
                </a:lnTo>
                <a:lnTo>
                  <a:pt x="123260" y="12045"/>
                </a:lnTo>
                <a:lnTo>
                  <a:pt x="120704" y="12364"/>
                </a:lnTo>
                <a:lnTo>
                  <a:pt x="118317" y="12745"/>
                </a:lnTo>
                <a:lnTo>
                  <a:pt x="115606" y="12962"/>
                </a:lnTo>
                <a:lnTo>
                  <a:pt x="113058" y="13299"/>
                </a:lnTo>
                <a:lnTo>
                  <a:pt x="110172" y="13486"/>
                </a:lnTo>
                <a:lnTo>
                  <a:pt x="107101" y="13798"/>
                </a:lnTo>
                <a:lnTo>
                  <a:pt x="103942" y="13919"/>
                </a:lnTo>
                <a:lnTo>
                  <a:pt x="100786" y="14094"/>
                </a:lnTo>
                <a:lnTo>
                  <a:pt x="97404" y="14160"/>
                </a:lnTo>
                <a:lnTo>
                  <a:pt x="94179" y="14371"/>
                </a:lnTo>
                <a:lnTo>
                  <a:pt x="90838" y="14544"/>
                </a:lnTo>
                <a:lnTo>
                  <a:pt x="87279" y="14565"/>
                </a:lnTo>
                <a:lnTo>
                  <a:pt x="83720" y="14653"/>
                </a:lnTo>
                <a:lnTo>
                  <a:pt x="80082" y="14876"/>
                </a:lnTo>
                <a:lnTo>
                  <a:pt x="76633" y="14815"/>
                </a:lnTo>
                <a:lnTo>
                  <a:pt x="72931" y="14812"/>
                </a:lnTo>
                <a:lnTo>
                  <a:pt x="69365" y="14972"/>
                </a:lnTo>
                <a:lnTo>
                  <a:pt x="65686" y="14829"/>
                </a:lnTo>
                <a:lnTo>
                  <a:pt x="62061" y="14963"/>
                </a:lnTo>
                <a:lnTo>
                  <a:pt x="58549" y="14766"/>
                </a:lnTo>
                <a:lnTo>
                  <a:pt x="54857" y="14821"/>
                </a:lnTo>
                <a:lnTo>
                  <a:pt x="51437" y="14587"/>
                </a:lnTo>
                <a:lnTo>
                  <a:pt x="47968" y="14599"/>
                </a:lnTo>
                <a:lnTo>
                  <a:pt x="44416" y="14372"/>
                </a:lnTo>
                <a:lnTo>
                  <a:pt x="41171" y="14191"/>
                </a:lnTo>
                <a:lnTo>
                  <a:pt x="38018" y="14185"/>
                </a:lnTo>
                <a:lnTo>
                  <a:pt x="34816" y="13953"/>
                </a:lnTo>
                <a:lnTo>
                  <a:pt x="31605" y="13816"/>
                </a:lnTo>
                <a:lnTo>
                  <a:pt x="28687" y="13603"/>
                </a:lnTo>
                <a:lnTo>
                  <a:pt x="25705" y="13192"/>
                </a:lnTo>
                <a:lnTo>
                  <a:pt x="23034" y="13035"/>
                </a:lnTo>
                <a:lnTo>
                  <a:pt x="20362" y="12777"/>
                </a:lnTo>
                <a:lnTo>
                  <a:pt x="17837" y="12413"/>
                </a:lnTo>
                <a:lnTo>
                  <a:pt x="15518" y="12227"/>
                </a:lnTo>
                <a:lnTo>
                  <a:pt x="13221" y="11765"/>
                </a:lnTo>
                <a:lnTo>
                  <a:pt x="11166" y="11575"/>
                </a:lnTo>
                <a:lnTo>
                  <a:pt x="9306" y="11230"/>
                </a:lnTo>
                <a:lnTo>
                  <a:pt x="7693" y="10935"/>
                </a:lnTo>
                <a:lnTo>
                  <a:pt x="6105" y="10483"/>
                </a:lnTo>
                <a:lnTo>
                  <a:pt x="4661" y="10248"/>
                </a:lnTo>
                <a:lnTo>
                  <a:pt x="3436" y="9840"/>
                </a:lnTo>
                <a:lnTo>
                  <a:pt x="2539" y="9486"/>
                </a:lnTo>
                <a:lnTo>
                  <a:pt x="1707" y="9011"/>
                </a:lnTo>
                <a:lnTo>
                  <a:pt x="799" y="8563"/>
                </a:lnTo>
                <a:lnTo>
                  <a:pt x="430" y="8243"/>
                </a:lnTo>
                <a:lnTo>
                  <a:pt x="105" y="7864"/>
                </a:lnTo>
                <a:lnTo>
                  <a:pt x="0" y="7421"/>
                </a:lnTo>
                <a:lnTo>
                  <a:pt x="223" y="7059"/>
                </a:lnTo>
                <a:lnTo>
                  <a:pt x="405" y="6732"/>
                </a:lnTo>
                <a:lnTo>
                  <a:pt x="848" y="6291"/>
                </a:lnTo>
                <a:lnTo>
                  <a:pt x="1477" y="5840"/>
                </a:lnTo>
                <a:lnTo>
                  <a:pt x="2459" y="5583"/>
                </a:lnTo>
                <a:lnTo>
                  <a:pt x="3474" y="5211"/>
                </a:lnTo>
                <a:lnTo>
                  <a:pt x="4539" y="4904"/>
                </a:lnTo>
                <a:lnTo>
                  <a:pt x="5955" y="4535"/>
                </a:lnTo>
                <a:lnTo>
                  <a:pt x="7508" y="4051"/>
                </a:lnTo>
                <a:lnTo>
                  <a:pt x="9224" y="3742"/>
                </a:lnTo>
                <a:lnTo>
                  <a:pt x="11304" y="3411"/>
                </a:lnTo>
                <a:lnTo>
                  <a:pt x="13263" y="3219"/>
                </a:lnTo>
                <a:lnTo>
                  <a:pt x="15442" y="2798"/>
                </a:lnTo>
                <a:lnTo>
                  <a:pt x="17824" y="2621"/>
                </a:lnTo>
                <a:lnTo>
                  <a:pt x="20372" y="2293"/>
                </a:lnTo>
                <a:lnTo>
                  <a:pt x="23032" y="1858"/>
                </a:lnTo>
                <a:lnTo>
                  <a:pt x="25693" y="1614"/>
                </a:lnTo>
                <a:lnTo>
                  <a:pt x="28604" y="1411"/>
                </a:lnTo>
                <a:lnTo>
                  <a:pt x="31583" y="1238"/>
                </a:lnTo>
                <a:lnTo>
                  <a:pt x="34815" y="984"/>
                </a:lnTo>
                <a:lnTo>
                  <a:pt x="37966" y="946"/>
                </a:lnTo>
                <a:lnTo>
                  <a:pt x="41063" y="600"/>
                </a:lnTo>
                <a:lnTo>
                  <a:pt x="44512" y="525"/>
                </a:lnTo>
                <a:lnTo>
                  <a:pt x="48026" y="397"/>
                </a:lnTo>
                <a:lnTo>
                  <a:pt x="51319" y="284"/>
                </a:lnTo>
                <a:lnTo>
                  <a:pt x="54862" y="272"/>
                </a:lnTo>
                <a:lnTo>
                  <a:pt x="58412" y="122"/>
                </a:lnTo>
                <a:lnTo>
                  <a:pt x="62085" y="186"/>
                </a:lnTo>
                <a:lnTo>
                  <a:pt x="65750" y="87"/>
                </a:lnTo>
                <a:lnTo>
                  <a:pt x="69334" y="89"/>
                </a:lnTo>
                <a:lnTo>
                  <a:pt x="72921" y="0"/>
                </a:lnTo>
                <a:lnTo>
                  <a:pt x="76709" y="179"/>
                </a:lnTo>
                <a:lnTo>
                  <a:pt x="80263" y="74"/>
                </a:lnTo>
                <a:lnTo>
                  <a:pt x="83698" y="105"/>
                </a:lnTo>
                <a:lnTo>
                  <a:pt x="87154" y="400"/>
                </a:lnTo>
                <a:lnTo>
                  <a:pt x="90747" y="392"/>
                </a:lnTo>
                <a:lnTo>
                  <a:pt x="94091" y="632"/>
                </a:lnTo>
                <a:lnTo>
                  <a:pt x="97561" y="811"/>
                </a:lnTo>
                <a:lnTo>
                  <a:pt x="100775" y="808"/>
                </a:lnTo>
                <a:lnTo>
                  <a:pt x="104058" y="1081"/>
                </a:lnTo>
                <a:lnTo>
                  <a:pt x="107167" y="1239"/>
                </a:lnTo>
                <a:lnTo>
                  <a:pt x="110163" y="1483"/>
                </a:lnTo>
                <a:lnTo>
                  <a:pt x="112991" y="1696"/>
                </a:lnTo>
                <a:lnTo>
                  <a:pt x="115653" y="1976"/>
                </a:lnTo>
                <a:lnTo>
                  <a:pt x="118423" y="2245"/>
                </a:lnTo>
                <a:lnTo>
                  <a:pt x="120717" y="2595"/>
                </a:lnTo>
                <a:lnTo>
                  <a:pt x="123278" y="2812"/>
                </a:lnTo>
                <a:lnTo>
                  <a:pt x="125312" y="3049"/>
                </a:lnTo>
                <a:lnTo>
                  <a:pt x="127411" y="3435"/>
                </a:lnTo>
                <a:lnTo>
                  <a:pt x="129384" y="3810"/>
                </a:lnTo>
                <a:lnTo>
                  <a:pt x="131011" y="4156"/>
                </a:lnTo>
                <a:lnTo>
                  <a:pt x="132550" y="4556"/>
                </a:lnTo>
                <a:lnTo>
                  <a:pt x="133911" y="4918"/>
                </a:lnTo>
                <a:lnTo>
                  <a:pt x="135329" y="5079"/>
                </a:lnTo>
                <a:lnTo>
                  <a:pt x="136188" y="5591"/>
                </a:lnTo>
                <a:lnTo>
                  <a:pt x="137021" y="5902"/>
                </a:lnTo>
                <a:lnTo>
                  <a:pt x="137669" y="6377"/>
                </a:lnTo>
                <a:lnTo>
                  <a:pt x="138119" y="6816"/>
                </a:lnTo>
                <a:lnTo>
                  <a:pt x="138459" y="7176"/>
                </a:lnTo>
                <a:lnTo>
                  <a:pt x="138580" y="7432"/>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982614" y="1858244"/>
            <a:ext cx="12677973" cy="1375806"/>
          </a:xfrm>
          <a:custGeom>
            <a:avLst/>
            <a:gdLst/>
            <a:ahLst/>
            <a:cxnLst/>
            <a:rect l="l" t="t" r="r" b="b"/>
            <a:pathLst>
              <a:path w="138648" h="15046">
                <a:moveTo>
                  <a:pt x="138526" y="7421"/>
                </a:moveTo>
                <a:lnTo>
                  <a:pt x="138502" y="7861"/>
                </a:lnTo>
                <a:lnTo>
                  <a:pt x="138108" y="8239"/>
                </a:lnTo>
                <a:lnTo>
                  <a:pt x="137755" y="8658"/>
                </a:lnTo>
                <a:lnTo>
                  <a:pt x="136917" y="9065"/>
                </a:lnTo>
                <a:lnTo>
                  <a:pt x="136078" y="9466"/>
                </a:lnTo>
                <a:lnTo>
                  <a:pt x="135162" y="9903"/>
                </a:lnTo>
                <a:lnTo>
                  <a:pt x="134058" y="10119"/>
                </a:lnTo>
                <a:lnTo>
                  <a:pt x="132621" y="10636"/>
                </a:lnTo>
                <a:lnTo>
                  <a:pt x="130883" y="10996"/>
                </a:lnTo>
                <a:lnTo>
                  <a:pt x="129208" y="11198"/>
                </a:lnTo>
                <a:lnTo>
                  <a:pt x="127343" y="11478"/>
                </a:lnTo>
                <a:lnTo>
                  <a:pt x="125232" y="11896"/>
                </a:lnTo>
                <a:lnTo>
                  <a:pt x="123004" y="12087"/>
                </a:lnTo>
                <a:lnTo>
                  <a:pt x="120613" y="12385"/>
                </a:lnTo>
                <a:lnTo>
                  <a:pt x="118260" y="12897"/>
                </a:lnTo>
                <a:lnTo>
                  <a:pt x="115622" y="13133"/>
                </a:lnTo>
                <a:lnTo>
                  <a:pt x="112726" y="13262"/>
                </a:lnTo>
                <a:lnTo>
                  <a:pt x="109992" y="13511"/>
                </a:lnTo>
                <a:lnTo>
                  <a:pt x="107046" y="13784"/>
                </a:lnTo>
                <a:lnTo>
                  <a:pt x="103889" y="14039"/>
                </a:lnTo>
                <a:lnTo>
                  <a:pt x="100616" y="14196"/>
                </a:lnTo>
                <a:lnTo>
                  <a:pt x="97344" y="14350"/>
                </a:lnTo>
                <a:lnTo>
                  <a:pt x="93954" y="14368"/>
                </a:lnTo>
                <a:lnTo>
                  <a:pt x="90620" y="14559"/>
                </a:lnTo>
                <a:lnTo>
                  <a:pt x="87284" y="14758"/>
                </a:lnTo>
                <a:lnTo>
                  <a:pt x="83641" y="14908"/>
                </a:lnTo>
                <a:lnTo>
                  <a:pt x="80077" y="14861"/>
                </a:lnTo>
                <a:lnTo>
                  <a:pt x="76508" y="14915"/>
                </a:lnTo>
                <a:lnTo>
                  <a:pt x="72893" y="15046"/>
                </a:lnTo>
                <a:lnTo>
                  <a:pt x="69345" y="15001"/>
                </a:lnTo>
                <a:lnTo>
                  <a:pt x="65757" y="14974"/>
                </a:lnTo>
                <a:lnTo>
                  <a:pt x="61978" y="14798"/>
                </a:lnTo>
                <a:lnTo>
                  <a:pt x="58448" y="14758"/>
                </a:lnTo>
                <a:lnTo>
                  <a:pt x="54947" y="14788"/>
                </a:lnTo>
                <a:lnTo>
                  <a:pt x="51250" y="14672"/>
                </a:lnTo>
                <a:lnTo>
                  <a:pt x="47908" y="14652"/>
                </a:lnTo>
                <a:lnTo>
                  <a:pt x="44368" y="14502"/>
                </a:lnTo>
                <a:lnTo>
                  <a:pt x="41054" y="14308"/>
                </a:lnTo>
                <a:lnTo>
                  <a:pt x="37912" y="14058"/>
                </a:lnTo>
                <a:lnTo>
                  <a:pt x="34647" y="13912"/>
                </a:lnTo>
                <a:lnTo>
                  <a:pt x="31537" y="13693"/>
                </a:lnTo>
                <a:lnTo>
                  <a:pt x="28473" y="13555"/>
                </a:lnTo>
                <a:lnTo>
                  <a:pt x="25711" y="13399"/>
                </a:lnTo>
                <a:lnTo>
                  <a:pt x="22792" y="12945"/>
                </a:lnTo>
                <a:lnTo>
                  <a:pt x="20200" y="12730"/>
                </a:lnTo>
                <a:lnTo>
                  <a:pt x="17712" y="12459"/>
                </a:lnTo>
                <a:lnTo>
                  <a:pt x="15460" y="12177"/>
                </a:lnTo>
                <a:lnTo>
                  <a:pt x="13159" y="11862"/>
                </a:lnTo>
                <a:lnTo>
                  <a:pt x="11040" y="11455"/>
                </a:lnTo>
                <a:lnTo>
                  <a:pt x="9181" y="11287"/>
                </a:lnTo>
                <a:lnTo>
                  <a:pt x="7625" y="10783"/>
                </a:lnTo>
                <a:lnTo>
                  <a:pt x="5880" y="10430"/>
                </a:lnTo>
                <a:lnTo>
                  <a:pt x="4611" y="10172"/>
                </a:lnTo>
                <a:lnTo>
                  <a:pt x="3340" y="9930"/>
                </a:lnTo>
                <a:lnTo>
                  <a:pt x="2330" y="9521"/>
                </a:lnTo>
                <a:lnTo>
                  <a:pt x="1372" y="9111"/>
                </a:lnTo>
                <a:lnTo>
                  <a:pt x="840" y="8744"/>
                </a:lnTo>
                <a:lnTo>
                  <a:pt x="232" y="8256"/>
                </a:lnTo>
                <a:lnTo>
                  <a:pt x="0" y="7816"/>
                </a:lnTo>
                <a:lnTo>
                  <a:pt x="34" y="7479"/>
                </a:lnTo>
                <a:lnTo>
                  <a:pt x="90" y="7028"/>
                </a:lnTo>
                <a:lnTo>
                  <a:pt x="368" y="6759"/>
                </a:lnTo>
                <a:lnTo>
                  <a:pt x="893" y="6308"/>
                </a:lnTo>
                <a:lnTo>
                  <a:pt x="1420" y="5868"/>
                </a:lnTo>
                <a:lnTo>
                  <a:pt x="2385" y="5557"/>
                </a:lnTo>
                <a:lnTo>
                  <a:pt x="3435" y="5242"/>
                </a:lnTo>
                <a:lnTo>
                  <a:pt x="4705" y="4772"/>
                </a:lnTo>
                <a:lnTo>
                  <a:pt x="5846" y="4586"/>
                </a:lnTo>
                <a:lnTo>
                  <a:pt x="7649" y="4240"/>
                </a:lnTo>
                <a:lnTo>
                  <a:pt x="9373" y="3892"/>
                </a:lnTo>
                <a:lnTo>
                  <a:pt x="11190" y="3528"/>
                </a:lnTo>
                <a:lnTo>
                  <a:pt x="13219" y="3223"/>
                </a:lnTo>
                <a:lnTo>
                  <a:pt x="15444" y="2923"/>
                </a:lnTo>
                <a:lnTo>
                  <a:pt x="17833" y="2439"/>
                </a:lnTo>
                <a:lnTo>
                  <a:pt x="20162" y="2281"/>
                </a:lnTo>
                <a:lnTo>
                  <a:pt x="22941" y="2026"/>
                </a:lnTo>
                <a:lnTo>
                  <a:pt x="25655" y="1729"/>
                </a:lnTo>
                <a:lnTo>
                  <a:pt x="28539" y="1441"/>
                </a:lnTo>
                <a:lnTo>
                  <a:pt x="31542" y="1414"/>
                </a:lnTo>
                <a:lnTo>
                  <a:pt x="34611" y="1079"/>
                </a:lnTo>
                <a:lnTo>
                  <a:pt x="37778" y="904"/>
                </a:lnTo>
                <a:lnTo>
                  <a:pt x="41059" y="676"/>
                </a:lnTo>
                <a:lnTo>
                  <a:pt x="44368" y="540"/>
                </a:lnTo>
                <a:lnTo>
                  <a:pt x="47936" y="388"/>
                </a:lnTo>
                <a:lnTo>
                  <a:pt x="51322" y="325"/>
                </a:lnTo>
                <a:lnTo>
                  <a:pt x="54820" y="338"/>
                </a:lnTo>
                <a:lnTo>
                  <a:pt x="58414" y="255"/>
                </a:lnTo>
                <a:lnTo>
                  <a:pt x="62116" y="216"/>
                </a:lnTo>
                <a:lnTo>
                  <a:pt x="65584" y="31"/>
                </a:lnTo>
                <a:lnTo>
                  <a:pt x="69364" y="0"/>
                </a:lnTo>
                <a:lnTo>
                  <a:pt x="72789" y="37"/>
                </a:lnTo>
                <a:lnTo>
                  <a:pt x="76561" y="256"/>
                </a:lnTo>
                <a:lnTo>
                  <a:pt x="79993" y="151"/>
                </a:lnTo>
                <a:lnTo>
                  <a:pt x="83658" y="315"/>
                </a:lnTo>
                <a:lnTo>
                  <a:pt x="87144" y="360"/>
                </a:lnTo>
                <a:lnTo>
                  <a:pt x="90569" y="471"/>
                </a:lnTo>
                <a:lnTo>
                  <a:pt x="93989" y="643"/>
                </a:lnTo>
                <a:lnTo>
                  <a:pt x="97544" y="839"/>
                </a:lnTo>
                <a:lnTo>
                  <a:pt x="100684" y="974"/>
                </a:lnTo>
                <a:lnTo>
                  <a:pt x="104008" y="1099"/>
                </a:lnTo>
                <a:lnTo>
                  <a:pt x="107059" y="1334"/>
                </a:lnTo>
                <a:lnTo>
                  <a:pt x="110010" y="1567"/>
                </a:lnTo>
                <a:lnTo>
                  <a:pt x="112834" y="1832"/>
                </a:lnTo>
                <a:lnTo>
                  <a:pt x="115493" y="1928"/>
                </a:lnTo>
                <a:lnTo>
                  <a:pt x="118131" y="2172"/>
                </a:lnTo>
                <a:lnTo>
                  <a:pt x="120819" y="2648"/>
                </a:lnTo>
                <a:lnTo>
                  <a:pt x="122995" y="2942"/>
                </a:lnTo>
                <a:lnTo>
                  <a:pt x="125194" y="3205"/>
                </a:lnTo>
                <a:lnTo>
                  <a:pt x="127364" y="3377"/>
                </a:lnTo>
                <a:lnTo>
                  <a:pt x="129149" y="3723"/>
                </a:lnTo>
                <a:lnTo>
                  <a:pt x="130886" y="4213"/>
                </a:lnTo>
                <a:lnTo>
                  <a:pt x="132662" y="4616"/>
                </a:lnTo>
                <a:lnTo>
                  <a:pt x="134050" y="4842"/>
                </a:lnTo>
                <a:lnTo>
                  <a:pt x="135267" y="5273"/>
                </a:lnTo>
                <a:lnTo>
                  <a:pt x="136284" y="5534"/>
                </a:lnTo>
                <a:lnTo>
                  <a:pt x="137039" y="6000"/>
                </a:lnTo>
                <a:lnTo>
                  <a:pt x="137697" y="6463"/>
                </a:lnTo>
                <a:lnTo>
                  <a:pt x="138191" y="6763"/>
                </a:lnTo>
                <a:lnTo>
                  <a:pt x="138490" y="7199"/>
                </a:lnTo>
                <a:lnTo>
                  <a:pt x="138648" y="7542"/>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3102438" y="2687879"/>
            <a:ext cx="409285" cy="135057"/>
          </a:xfrm>
          <a:custGeom>
            <a:avLst/>
            <a:gdLst/>
            <a:ahLst/>
            <a:cxnLst/>
            <a:rect l="l" t="t" r="r" b="b"/>
            <a:pathLst>
              <a:path w="4476" h="1477">
                <a:moveTo>
                  <a:pt x="4476" y="0"/>
                </a:moveTo>
                <a:lnTo>
                  <a:pt x="3629" y="378"/>
                </a:lnTo>
                <a:lnTo>
                  <a:pt x="2599" y="751"/>
                </a:lnTo>
                <a:lnTo>
                  <a:pt x="1388" y="1118"/>
                </a:lnTo>
                <a:lnTo>
                  <a:pt x="0" y="147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9585472" y="3116367"/>
            <a:ext cx="1180033" cy="64557"/>
          </a:xfrm>
          <a:custGeom>
            <a:avLst/>
            <a:gdLst/>
            <a:ahLst/>
            <a:cxnLst/>
            <a:rect l="l" t="t" r="r" b="b"/>
            <a:pathLst>
              <a:path w="12905" h="706">
                <a:moveTo>
                  <a:pt x="12905" y="0"/>
                </a:moveTo>
                <a:lnTo>
                  <a:pt x="9812" y="204"/>
                </a:lnTo>
                <a:lnTo>
                  <a:pt x="6624" y="389"/>
                </a:lnTo>
                <a:lnTo>
                  <a:pt x="3351" y="557"/>
                </a:lnTo>
                <a:lnTo>
                  <a:pt x="0" y="706"/>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4738512" y="3167299"/>
            <a:ext cx="1259586" cy="43891"/>
          </a:xfrm>
          <a:custGeom>
            <a:avLst/>
            <a:gdLst/>
            <a:ahLst/>
            <a:cxnLst/>
            <a:rect l="l" t="t" r="r" b="b"/>
            <a:pathLst>
              <a:path w="13775" h="480">
                <a:moveTo>
                  <a:pt x="13775" y="480"/>
                </a:moveTo>
                <a:lnTo>
                  <a:pt x="10248" y="389"/>
                </a:lnTo>
                <a:lnTo>
                  <a:pt x="6770" y="278"/>
                </a:lnTo>
                <a:lnTo>
                  <a:pt x="3351" y="149"/>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401044" y="2790109"/>
            <a:ext cx="601218" cy="126553"/>
          </a:xfrm>
          <a:custGeom>
            <a:avLst/>
            <a:gdLst/>
            <a:ahLst/>
            <a:cxnLst/>
            <a:rect l="l" t="t" r="r" b="b"/>
            <a:pathLst>
              <a:path w="6575" h="1384">
                <a:moveTo>
                  <a:pt x="6575" y="1384"/>
                </a:moveTo>
                <a:lnTo>
                  <a:pt x="4680" y="1052"/>
                </a:lnTo>
                <a:lnTo>
                  <a:pt x="2949" y="710"/>
                </a:lnTo>
                <a:lnTo>
                  <a:pt x="1388" y="359"/>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118677" y="2270272"/>
            <a:ext cx="409285" cy="135057"/>
          </a:xfrm>
          <a:custGeom>
            <a:avLst/>
            <a:gdLst/>
            <a:ahLst/>
            <a:cxnLst/>
            <a:rect l="l" t="t" r="r" b="b"/>
            <a:pathLst>
              <a:path w="4476" h="1477">
                <a:moveTo>
                  <a:pt x="0" y="1477"/>
                </a:moveTo>
                <a:lnTo>
                  <a:pt x="847" y="1099"/>
                </a:lnTo>
                <a:lnTo>
                  <a:pt x="1877" y="726"/>
                </a:lnTo>
                <a:lnTo>
                  <a:pt x="3088" y="359"/>
                </a:lnTo>
                <a:lnTo>
                  <a:pt x="4476"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864894" y="1912285"/>
            <a:ext cx="1180033" cy="64557"/>
          </a:xfrm>
          <a:custGeom>
            <a:avLst/>
            <a:gdLst/>
            <a:ahLst/>
            <a:cxnLst/>
            <a:rect l="l" t="t" r="r" b="b"/>
            <a:pathLst>
              <a:path w="12905" h="706">
                <a:moveTo>
                  <a:pt x="0" y="706"/>
                </a:moveTo>
                <a:lnTo>
                  <a:pt x="3093" y="502"/>
                </a:lnTo>
                <a:lnTo>
                  <a:pt x="6281" y="317"/>
                </a:lnTo>
                <a:lnTo>
                  <a:pt x="9554" y="149"/>
                </a:lnTo>
                <a:lnTo>
                  <a:pt x="12905"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8632302" y="1882018"/>
            <a:ext cx="1259586" cy="43891"/>
          </a:xfrm>
          <a:custGeom>
            <a:avLst/>
            <a:gdLst/>
            <a:ahLst/>
            <a:cxnLst/>
            <a:rect l="l" t="t" r="r" b="b"/>
            <a:pathLst>
              <a:path w="13775" h="480">
                <a:moveTo>
                  <a:pt x="0" y="0"/>
                </a:moveTo>
                <a:lnTo>
                  <a:pt x="3527" y="91"/>
                </a:lnTo>
                <a:lnTo>
                  <a:pt x="7005" y="202"/>
                </a:lnTo>
                <a:lnTo>
                  <a:pt x="10424" y="331"/>
                </a:lnTo>
                <a:lnTo>
                  <a:pt x="13775" y="48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12628138" y="2176546"/>
            <a:ext cx="601218" cy="126553"/>
          </a:xfrm>
          <a:custGeom>
            <a:avLst/>
            <a:gdLst/>
            <a:ahLst/>
            <a:cxnLst/>
            <a:rect l="l" t="t" r="r" b="b"/>
            <a:pathLst>
              <a:path w="6575" h="1384">
                <a:moveTo>
                  <a:pt x="0" y="0"/>
                </a:moveTo>
                <a:lnTo>
                  <a:pt x="1895" y="332"/>
                </a:lnTo>
                <a:lnTo>
                  <a:pt x="3626" y="674"/>
                </a:lnTo>
                <a:lnTo>
                  <a:pt x="5187" y="1025"/>
                </a:lnTo>
                <a:lnTo>
                  <a:pt x="6575" y="138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min R(θ) s.t. U ≥ U₀ − δ, C ≤ B, F ≤ α, Reg(θ) = 0"/>
          <p:cNvSpPr txBox="1"/>
          <p:nvPr/>
        </p:nvSpPr>
        <p:spPr>
          <a:xfrm>
            <a:off x="2492288" y="2278443"/>
            <a:ext cx="9645822" cy="536321"/>
          </a:xfrm>
          <a:prstGeom prst="rect">
            <a:avLst/>
          </a:prstGeom>
          <a:noFill/>
        </p:spPr>
        <p:txBody>
          <a:bodyPr wrap="none" lIns="0" rIns="0" tIns="0" bIns="0" anchor="t">
            <a:noAutofit/>
          </a:bodyPr>
          <a:lstStyle/>
          <a:p>
            <a:pPr algn="ctr">
              <a:lnSpc>
                <a:spcPts val="3683"/>
              </a:lnSpc>
              <a:spcBef>
                <a:spcPts val="0"/>
              </a:spcBef>
              <a:spcAft>
                <a:spcPts val="0"/>
              </a:spcAft>
            </a:pPr>
            <a:r>
              <a:rPr sz="2900" b="1">
                <a:solidFill>
                  <a:srgbClr val="293E46"/>
                </a:solidFill>
                <a:latin typeface="Arial Unicode MS"/>
              </a:rPr>
              <a:t>min R(θ) s.t. U ≥ U₀ − δ, C ≤ B, F ≤ α, Reg(θ) = 0</a:t>
            </a:r>
          </a:p>
        </p:txBody>
      </p:sp>
      <p:sp>
        <p:nvSpPr>
          <p:cNvPr id="25" name="Rounded Rectangle 24"/>
          <p:cNvSpPr/>
          <p:nvPr/>
        </p:nvSpPr>
        <p:spPr>
          <a:xfrm>
            <a:off x="640080" y="3694176"/>
            <a:ext cx="6510528" cy="3511296"/>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646664" y="3695182"/>
            <a:ext cx="6503853" cy="3503432"/>
          </a:xfrm>
          <a:custGeom>
            <a:avLst/>
            <a:gdLst/>
            <a:ahLst/>
            <a:cxnLst/>
            <a:rect l="l" t="t" r="r" b="b"/>
            <a:pathLst>
              <a:path w="71127" h="38314">
                <a:moveTo>
                  <a:pt x="71127" y="19071"/>
                </a:moveTo>
                <a:lnTo>
                  <a:pt x="71087" y="25021"/>
                </a:lnTo>
                <a:lnTo>
                  <a:pt x="70917" y="27008"/>
                </a:lnTo>
                <a:lnTo>
                  <a:pt x="70722" y="28275"/>
                </a:lnTo>
                <a:lnTo>
                  <a:pt x="70610" y="29413"/>
                </a:lnTo>
                <a:lnTo>
                  <a:pt x="70444" y="30332"/>
                </a:lnTo>
                <a:lnTo>
                  <a:pt x="70247" y="31144"/>
                </a:lnTo>
                <a:lnTo>
                  <a:pt x="69984" y="31917"/>
                </a:lnTo>
                <a:lnTo>
                  <a:pt x="69828" y="32556"/>
                </a:lnTo>
                <a:lnTo>
                  <a:pt x="69368" y="33178"/>
                </a:lnTo>
                <a:lnTo>
                  <a:pt x="68915" y="33705"/>
                </a:lnTo>
                <a:lnTo>
                  <a:pt x="68658" y="34184"/>
                </a:lnTo>
                <a:lnTo>
                  <a:pt x="68022" y="34507"/>
                </a:lnTo>
                <a:lnTo>
                  <a:pt x="67609" y="34930"/>
                </a:lnTo>
                <a:lnTo>
                  <a:pt x="66980" y="35414"/>
                </a:lnTo>
                <a:lnTo>
                  <a:pt x="66432" y="35679"/>
                </a:lnTo>
                <a:lnTo>
                  <a:pt x="65784" y="36224"/>
                </a:lnTo>
                <a:lnTo>
                  <a:pt x="65119" y="36545"/>
                </a:lnTo>
                <a:lnTo>
                  <a:pt x="64181" y="36670"/>
                </a:lnTo>
                <a:lnTo>
                  <a:pt x="63312" y="36984"/>
                </a:lnTo>
                <a:lnTo>
                  <a:pt x="62345" y="37121"/>
                </a:lnTo>
                <a:lnTo>
                  <a:pt x="61466" y="37466"/>
                </a:lnTo>
                <a:lnTo>
                  <a:pt x="60205" y="37595"/>
                </a:lnTo>
                <a:lnTo>
                  <a:pt x="58962" y="37855"/>
                </a:lnTo>
                <a:lnTo>
                  <a:pt x="57722" y="37965"/>
                </a:lnTo>
                <a:lnTo>
                  <a:pt x="56305" y="38038"/>
                </a:lnTo>
                <a:lnTo>
                  <a:pt x="54373" y="38161"/>
                </a:lnTo>
                <a:lnTo>
                  <a:pt x="52406" y="38106"/>
                </a:lnTo>
                <a:lnTo>
                  <a:pt x="50004" y="38313"/>
                </a:lnTo>
                <a:lnTo>
                  <a:pt x="46431" y="38301"/>
                </a:lnTo>
                <a:lnTo>
                  <a:pt x="35450" y="38314"/>
                </a:lnTo>
                <a:lnTo>
                  <a:pt x="24502" y="38305"/>
                </a:lnTo>
                <a:lnTo>
                  <a:pt x="21217" y="38203"/>
                </a:lnTo>
                <a:lnTo>
                  <a:pt x="18579" y="38264"/>
                </a:lnTo>
                <a:lnTo>
                  <a:pt x="16491" y="38043"/>
                </a:lnTo>
                <a:lnTo>
                  <a:pt x="14908" y="38063"/>
                </a:lnTo>
                <a:lnTo>
                  <a:pt x="13469" y="37951"/>
                </a:lnTo>
                <a:lnTo>
                  <a:pt x="11997" y="37846"/>
                </a:lnTo>
                <a:lnTo>
                  <a:pt x="10695" y="37621"/>
                </a:lnTo>
                <a:lnTo>
                  <a:pt x="9717" y="37512"/>
                </a:lnTo>
                <a:lnTo>
                  <a:pt x="8560" y="37161"/>
                </a:lnTo>
                <a:lnTo>
                  <a:pt x="7803" y="37001"/>
                </a:lnTo>
                <a:lnTo>
                  <a:pt x="6903" y="36672"/>
                </a:lnTo>
                <a:lnTo>
                  <a:pt x="6154" y="36531"/>
                </a:lnTo>
                <a:lnTo>
                  <a:pt x="5187" y="36046"/>
                </a:lnTo>
                <a:lnTo>
                  <a:pt x="4616" y="35820"/>
                </a:lnTo>
                <a:lnTo>
                  <a:pt x="3951" y="35504"/>
                </a:lnTo>
                <a:lnTo>
                  <a:pt x="3329" y="35113"/>
                </a:lnTo>
                <a:lnTo>
                  <a:pt x="2840" y="34623"/>
                </a:lnTo>
                <a:lnTo>
                  <a:pt x="2424" y="34269"/>
                </a:lnTo>
                <a:lnTo>
                  <a:pt x="1996" y="33614"/>
                </a:lnTo>
                <a:lnTo>
                  <a:pt x="1770" y="33203"/>
                </a:lnTo>
                <a:lnTo>
                  <a:pt x="1247" y="32465"/>
                </a:lnTo>
                <a:lnTo>
                  <a:pt x="958" y="31750"/>
                </a:lnTo>
                <a:lnTo>
                  <a:pt x="850" y="31037"/>
                </a:lnTo>
                <a:lnTo>
                  <a:pt x="567" y="30406"/>
                </a:lnTo>
                <a:lnTo>
                  <a:pt x="331" y="29271"/>
                </a:lnTo>
                <a:lnTo>
                  <a:pt x="185" y="28341"/>
                </a:lnTo>
                <a:lnTo>
                  <a:pt x="247" y="26859"/>
                </a:lnTo>
                <a:lnTo>
                  <a:pt x="159" y="25007"/>
                </a:lnTo>
                <a:lnTo>
                  <a:pt x="51" y="19129"/>
                </a:lnTo>
                <a:lnTo>
                  <a:pt x="186" y="13317"/>
                </a:lnTo>
                <a:lnTo>
                  <a:pt x="0" y="11508"/>
                </a:lnTo>
                <a:lnTo>
                  <a:pt x="224" y="10031"/>
                </a:lnTo>
                <a:lnTo>
                  <a:pt x="419" y="9076"/>
                </a:lnTo>
                <a:lnTo>
                  <a:pt x="467" y="8065"/>
                </a:lnTo>
                <a:lnTo>
                  <a:pt x="805" y="7307"/>
                </a:lnTo>
                <a:lnTo>
                  <a:pt x="1043" y="6433"/>
                </a:lnTo>
                <a:lnTo>
                  <a:pt x="1208" y="5800"/>
                </a:lnTo>
                <a:lnTo>
                  <a:pt x="1556" y="5275"/>
                </a:lnTo>
                <a:lnTo>
                  <a:pt x="2059" y="4704"/>
                </a:lnTo>
                <a:lnTo>
                  <a:pt x="2347" y="4183"/>
                </a:lnTo>
                <a:lnTo>
                  <a:pt x="2927" y="3754"/>
                </a:lnTo>
                <a:lnTo>
                  <a:pt x="3323" y="3407"/>
                </a:lnTo>
                <a:lnTo>
                  <a:pt x="4140" y="3025"/>
                </a:lnTo>
                <a:lnTo>
                  <a:pt x="4580" y="2578"/>
                </a:lnTo>
                <a:lnTo>
                  <a:pt x="5189" y="2342"/>
                </a:lnTo>
                <a:lnTo>
                  <a:pt x="6028" y="1922"/>
                </a:lnTo>
                <a:lnTo>
                  <a:pt x="6842" y="1771"/>
                </a:lnTo>
                <a:lnTo>
                  <a:pt x="7810" y="1386"/>
                </a:lnTo>
                <a:lnTo>
                  <a:pt x="8593" y="1088"/>
                </a:lnTo>
                <a:lnTo>
                  <a:pt x="9615" y="1086"/>
                </a:lnTo>
                <a:lnTo>
                  <a:pt x="10687" y="685"/>
                </a:lnTo>
                <a:lnTo>
                  <a:pt x="12000" y="679"/>
                </a:lnTo>
                <a:lnTo>
                  <a:pt x="13437" y="388"/>
                </a:lnTo>
                <a:lnTo>
                  <a:pt x="14829" y="468"/>
                </a:lnTo>
                <a:lnTo>
                  <a:pt x="16581" y="304"/>
                </a:lnTo>
                <a:lnTo>
                  <a:pt x="18682" y="133"/>
                </a:lnTo>
                <a:lnTo>
                  <a:pt x="21206" y="191"/>
                </a:lnTo>
                <a:lnTo>
                  <a:pt x="24732" y="30"/>
                </a:lnTo>
                <a:lnTo>
                  <a:pt x="35614" y="0"/>
                </a:lnTo>
                <a:lnTo>
                  <a:pt x="46420" y="16"/>
                </a:lnTo>
                <a:lnTo>
                  <a:pt x="49831" y="101"/>
                </a:lnTo>
                <a:lnTo>
                  <a:pt x="52371" y="204"/>
                </a:lnTo>
                <a:lnTo>
                  <a:pt x="54424" y="243"/>
                </a:lnTo>
                <a:lnTo>
                  <a:pt x="56191" y="268"/>
                </a:lnTo>
                <a:lnTo>
                  <a:pt x="57711" y="519"/>
                </a:lnTo>
                <a:lnTo>
                  <a:pt x="58934" y="520"/>
                </a:lnTo>
                <a:lnTo>
                  <a:pt x="60255" y="792"/>
                </a:lnTo>
                <a:lnTo>
                  <a:pt x="61473" y="967"/>
                </a:lnTo>
                <a:lnTo>
                  <a:pt x="62537" y="1135"/>
                </a:lnTo>
                <a:lnTo>
                  <a:pt x="63383" y="1301"/>
                </a:lnTo>
                <a:lnTo>
                  <a:pt x="64129" y="1577"/>
                </a:lnTo>
                <a:lnTo>
                  <a:pt x="64988" y="1929"/>
                </a:lnTo>
                <a:lnTo>
                  <a:pt x="65738" y="2171"/>
                </a:lnTo>
                <a:lnTo>
                  <a:pt x="66496" y="2659"/>
                </a:lnTo>
                <a:lnTo>
                  <a:pt x="66932" y="2988"/>
                </a:lnTo>
                <a:lnTo>
                  <a:pt x="67596" y="3450"/>
                </a:lnTo>
                <a:lnTo>
                  <a:pt x="68223" y="3835"/>
                </a:lnTo>
                <a:lnTo>
                  <a:pt x="68557" y="4303"/>
                </a:lnTo>
                <a:lnTo>
                  <a:pt x="69097" y="4648"/>
                </a:lnTo>
                <a:lnTo>
                  <a:pt x="69419" y="5162"/>
                </a:lnTo>
                <a:lnTo>
                  <a:pt x="69853" y="5833"/>
                </a:lnTo>
                <a:lnTo>
                  <a:pt x="69970" y="6442"/>
                </a:lnTo>
                <a:lnTo>
                  <a:pt x="70212" y="7180"/>
                </a:lnTo>
                <a:lnTo>
                  <a:pt x="70583" y="8129"/>
                </a:lnTo>
                <a:lnTo>
                  <a:pt x="70607" y="8983"/>
                </a:lnTo>
                <a:lnTo>
                  <a:pt x="70833" y="10113"/>
                </a:lnTo>
                <a:lnTo>
                  <a:pt x="70824" y="11464"/>
                </a:lnTo>
                <a:lnTo>
                  <a:pt x="71060" y="13213"/>
                </a:lnTo>
                <a:lnTo>
                  <a:pt x="70919" y="19294"/>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645018" y="3696736"/>
            <a:ext cx="6498092" cy="3506267"/>
          </a:xfrm>
          <a:custGeom>
            <a:avLst/>
            <a:gdLst/>
            <a:ahLst/>
            <a:cxnLst/>
            <a:rect l="l" t="t" r="r" b="b"/>
            <a:pathLst>
              <a:path w="71064" h="38345">
                <a:moveTo>
                  <a:pt x="70969" y="19283"/>
                </a:moveTo>
                <a:lnTo>
                  <a:pt x="70917" y="24996"/>
                </a:lnTo>
                <a:lnTo>
                  <a:pt x="71064" y="26920"/>
                </a:lnTo>
                <a:lnTo>
                  <a:pt x="70822" y="28333"/>
                </a:lnTo>
                <a:lnTo>
                  <a:pt x="70823" y="29269"/>
                </a:lnTo>
                <a:lnTo>
                  <a:pt x="70565" y="30369"/>
                </a:lnTo>
                <a:lnTo>
                  <a:pt x="70251" y="31217"/>
                </a:lnTo>
                <a:lnTo>
                  <a:pt x="70034" y="31933"/>
                </a:lnTo>
                <a:lnTo>
                  <a:pt x="69845" y="32379"/>
                </a:lnTo>
                <a:lnTo>
                  <a:pt x="69425" y="32999"/>
                </a:lnTo>
                <a:lnTo>
                  <a:pt x="69115" y="33535"/>
                </a:lnTo>
                <a:lnTo>
                  <a:pt x="68507" y="34067"/>
                </a:lnTo>
                <a:lnTo>
                  <a:pt x="68271" y="34697"/>
                </a:lnTo>
                <a:lnTo>
                  <a:pt x="67716" y="34985"/>
                </a:lnTo>
                <a:lnTo>
                  <a:pt x="67099" y="35469"/>
                </a:lnTo>
                <a:lnTo>
                  <a:pt x="66437" y="35856"/>
                </a:lnTo>
                <a:lnTo>
                  <a:pt x="65709" y="36104"/>
                </a:lnTo>
                <a:lnTo>
                  <a:pt x="65005" y="36415"/>
                </a:lnTo>
                <a:lnTo>
                  <a:pt x="64159" y="36616"/>
                </a:lnTo>
                <a:lnTo>
                  <a:pt x="63338" y="36897"/>
                </a:lnTo>
                <a:lnTo>
                  <a:pt x="62404" y="37198"/>
                </a:lnTo>
                <a:lnTo>
                  <a:pt x="61453" y="37477"/>
                </a:lnTo>
                <a:lnTo>
                  <a:pt x="60308" y="37484"/>
                </a:lnTo>
                <a:lnTo>
                  <a:pt x="59033" y="37691"/>
                </a:lnTo>
                <a:lnTo>
                  <a:pt x="57855" y="37776"/>
                </a:lnTo>
                <a:lnTo>
                  <a:pt x="56319" y="38041"/>
                </a:lnTo>
                <a:lnTo>
                  <a:pt x="54482" y="38106"/>
                </a:lnTo>
                <a:lnTo>
                  <a:pt x="52310" y="38218"/>
                </a:lnTo>
                <a:lnTo>
                  <a:pt x="50051" y="38309"/>
                </a:lnTo>
                <a:lnTo>
                  <a:pt x="46407" y="38345"/>
                </a:lnTo>
                <a:lnTo>
                  <a:pt x="35458" y="38307"/>
                </a:lnTo>
                <a:lnTo>
                  <a:pt x="24550" y="38149"/>
                </a:lnTo>
                <a:lnTo>
                  <a:pt x="21143" y="38328"/>
                </a:lnTo>
                <a:lnTo>
                  <a:pt x="18532" y="38098"/>
                </a:lnTo>
                <a:lnTo>
                  <a:pt x="16588" y="38116"/>
                </a:lnTo>
                <a:lnTo>
                  <a:pt x="14754" y="38040"/>
                </a:lnTo>
                <a:lnTo>
                  <a:pt x="13439" y="37834"/>
                </a:lnTo>
                <a:lnTo>
                  <a:pt x="12128" y="37660"/>
                </a:lnTo>
                <a:lnTo>
                  <a:pt x="10908" y="37570"/>
                </a:lnTo>
                <a:lnTo>
                  <a:pt x="9793" y="37408"/>
                </a:lnTo>
                <a:lnTo>
                  <a:pt x="8574" y="37207"/>
                </a:lnTo>
                <a:lnTo>
                  <a:pt x="7692" y="37065"/>
                </a:lnTo>
                <a:lnTo>
                  <a:pt x="6963" y="36741"/>
                </a:lnTo>
                <a:lnTo>
                  <a:pt x="6152" y="36360"/>
                </a:lnTo>
                <a:lnTo>
                  <a:pt x="5301" y="36010"/>
                </a:lnTo>
                <a:lnTo>
                  <a:pt x="4689" y="35788"/>
                </a:lnTo>
                <a:lnTo>
                  <a:pt x="3995" y="35356"/>
                </a:lnTo>
                <a:lnTo>
                  <a:pt x="3573" y="35001"/>
                </a:lnTo>
                <a:lnTo>
                  <a:pt x="2944" y="34669"/>
                </a:lnTo>
                <a:lnTo>
                  <a:pt x="2500" y="34095"/>
                </a:lnTo>
                <a:lnTo>
                  <a:pt x="2174" y="33558"/>
                </a:lnTo>
                <a:lnTo>
                  <a:pt x="1730" y="33109"/>
                </a:lnTo>
                <a:lnTo>
                  <a:pt x="1271" y="32568"/>
                </a:lnTo>
                <a:lnTo>
                  <a:pt x="989" y="31927"/>
                </a:lnTo>
                <a:lnTo>
                  <a:pt x="843" y="31161"/>
                </a:lnTo>
                <a:lnTo>
                  <a:pt x="647" y="30239"/>
                </a:lnTo>
                <a:lnTo>
                  <a:pt x="378" y="29369"/>
                </a:lnTo>
                <a:lnTo>
                  <a:pt x="135" y="28179"/>
                </a:lnTo>
                <a:lnTo>
                  <a:pt x="170" y="27016"/>
                </a:lnTo>
                <a:lnTo>
                  <a:pt x="211" y="25095"/>
                </a:lnTo>
                <a:lnTo>
                  <a:pt x="186" y="19204"/>
                </a:lnTo>
                <a:lnTo>
                  <a:pt x="0" y="13333"/>
                </a:lnTo>
                <a:lnTo>
                  <a:pt x="211" y="11439"/>
                </a:lnTo>
                <a:lnTo>
                  <a:pt x="151" y="10152"/>
                </a:lnTo>
                <a:lnTo>
                  <a:pt x="337" y="8963"/>
                </a:lnTo>
                <a:lnTo>
                  <a:pt x="649" y="7944"/>
                </a:lnTo>
                <a:lnTo>
                  <a:pt x="808" y="7358"/>
                </a:lnTo>
                <a:lnTo>
                  <a:pt x="905" y="6399"/>
                </a:lnTo>
                <a:lnTo>
                  <a:pt x="1327" y="5935"/>
                </a:lnTo>
                <a:lnTo>
                  <a:pt x="1681" y="5273"/>
                </a:lnTo>
                <a:lnTo>
                  <a:pt x="2000" y="4710"/>
                </a:lnTo>
                <a:lnTo>
                  <a:pt x="2532" y="4201"/>
                </a:lnTo>
                <a:lnTo>
                  <a:pt x="2992" y="3647"/>
                </a:lnTo>
                <a:lnTo>
                  <a:pt x="3370" y="3226"/>
                </a:lnTo>
                <a:lnTo>
                  <a:pt x="3982" y="2948"/>
                </a:lnTo>
                <a:lnTo>
                  <a:pt x="4696" y="2459"/>
                </a:lnTo>
                <a:lnTo>
                  <a:pt x="5438" y="2189"/>
                </a:lnTo>
                <a:lnTo>
                  <a:pt x="6151" y="2041"/>
                </a:lnTo>
                <a:lnTo>
                  <a:pt x="6891" y="1682"/>
                </a:lnTo>
                <a:lnTo>
                  <a:pt x="7653" y="1305"/>
                </a:lnTo>
                <a:lnTo>
                  <a:pt x="8565" y="1190"/>
                </a:lnTo>
                <a:lnTo>
                  <a:pt x="9580" y="981"/>
                </a:lnTo>
                <a:lnTo>
                  <a:pt x="10868" y="764"/>
                </a:lnTo>
                <a:lnTo>
                  <a:pt x="12003" y="535"/>
                </a:lnTo>
                <a:lnTo>
                  <a:pt x="13395" y="363"/>
                </a:lnTo>
                <a:lnTo>
                  <a:pt x="14984" y="458"/>
                </a:lnTo>
                <a:lnTo>
                  <a:pt x="16747" y="152"/>
                </a:lnTo>
                <a:lnTo>
                  <a:pt x="18580" y="302"/>
                </a:lnTo>
                <a:lnTo>
                  <a:pt x="21165" y="52"/>
                </a:lnTo>
                <a:lnTo>
                  <a:pt x="24752" y="195"/>
                </a:lnTo>
                <a:lnTo>
                  <a:pt x="35439" y="189"/>
                </a:lnTo>
                <a:lnTo>
                  <a:pt x="46376" y="0"/>
                </a:lnTo>
                <a:lnTo>
                  <a:pt x="49858" y="63"/>
                </a:lnTo>
                <a:lnTo>
                  <a:pt x="52539" y="223"/>
                </a:lnTo>
                <a:lnTo>
                  <a:pt x="54535" y="316"/>
                </a:lnTo>
                <a:lnTo>
                  <a:pt x="56324" y="294"/>
                </a:lnTo>
                <a:lnTo>
                  <a:pt x="57684" y="505"/>
                </a:lnTo>
                <a:lnTo>
                  <a:pt x="59058" y="701"/>
                </a:lnTo>
                <a:lnTo>
                  <a:pt x="60211" y="882"/>
                </a:lnTo>
                <a:lnTo>
                  <a:pt x="61366" y="1046"/>
                </a:lnTo>
                <a:lnTo>
                  <a:pt x="62426" y="1258"/>
                </a:lnTo>
                <a:lnTo>
                  <a:pt x="63358" y="1421"/>
                </a:lnTo>
                <a:lnTo>
                  <a:pt x="64201" y="1547"/>
                </a:lnTo>
                <a:lnTo>
                  <a:pt x="65044" y="2014"/>
                </a:lnTo>
                <a:lnTo>
                  <a:pt x="65703" y="2200"/>
                </a:lnTo>
                <a:lnTo>
                  <a:pt x="66345" y="2515"/>
                </a:lnTo>
                <a:lnTo>
                  <a:pt x="67104" y="2891"/>
                </a:lnTo>
                <a:lnTo>
                  <a:pt x="67748" y="3419"/>
                </a:lnTo>
                <a:lnTo>
                  <a:pt x="68114" y="3839"/>
                </a:lnTo>
                <a:lnTo>
                  <a:pt x="68518" y="4201"/>
                </a:lnTo>
                <a:lnTo>
                  <a:pt x="69056" y="4748"/>
                </a:lnTo>
                <a:lnTo>
                  <a:pt x="69298" y="5169"/>
                </a:lnTo>
                <a:lnTo>
                  <a:pt x="69660" y="5774"/>
                </a:lnTo>
                <a:lnTo>
                  <a:pt x="69943" y="6627"/>
                </a:lnTo>
                <a:lnTo>
                  <a:pt x="70331" y="7262"/>
                </a:lnTo>
                <a:lnTo>
                  <a:pt x="70422" y="7961"/>
                </a:lnTo>
                <a:lnTo>
                  <a:pt x="70623" y="8938"/>
                </a:lnTo>
                <a:lnTo>
                  <a:pt x="70921" y="10012"/>
                </a:lnTo>
                <a:lnTo>
                  <a:pt x="70891" y="11384"/>
                </a:lnTo>
                <a:lnTo>
                  <a:pt x="71013" y="13347"/>
                </a:lnTo>
                <a:lnTo>
                  <a:pt x="70964" y="19282"/>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7024421" y="6380683"/>
            <a:ext cx="86685" cy="286573"/>
          </a:xfrm>
          <a:custGeom>
            <a:avLst/>
            <a:gdLst/>
            <a:ahLst/>
            <a:cxnLst/>
            <a:rect l="l" t="t" r="r" b="b"/>
            <a:pathLst>
              <a:path w="948" h="3134">
                <a:moveTo>
                  <a:pt x="948" y="0"/>
                </a:moveTo>
                <a:lnTo>
                  <a:pt x="771" y="932"/>
                </a:lnTo>
                <a:lnTo>
                  <a:pt x="555" y="1748"/>
                </a:lnTo>
                <a:lnTo>
                  <a:pt x="298" y="2476"/>
                </a:lnTo>
                <a:lnTo>
                  <a:pt x="0" y="313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047384" y="7075902"/>
            <a:ext cx="392186" cy="71323"/>
          </a:xfrm>
          <a:custGeom>
            <a:avLst/>
            <a:gdLst/>
            <a:ahLst/>
            <a:cxnLst/>
            <a:rect l="l" t="t" r="r" b="b"/>
            <a:pathLst>
              <a:path w="4289" h="780">
                <a:moveTo>
                  <a:pt x="4289" y="0"/>
                </a:moveTo>
                <a:lnTo>
                  <a:pt x="3354" y="230"/>
                </a:lnTo>
                <a:lnTo>
                  <a:pt x="2335" y="436"/>
                </a:lnTo>
                <a:lnTo>
                  <a:pt x="1223" y="619"/>
                </a:lnTo>
                <a:lnTo>
                  <a:pt x="0" y="78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1631472" y="7132503"/>
            <a:ext cx="533004" cy="46634"/>
          </a:xfrm>
          <a:custGeom>
            <a:avLst/>
            <a:gdLst/>
            <a:ahLst/>
            <a:cxnLst/>
            <a:rect l="l" t="t" r="r" b="b"/>
            <a:pathLst>
              <a:path w="5829" h="510">
                <a:moveTo>
                  <a:pt x="5829" y="510"/>
                </a:moveTo>
                <a:lnTo>
                  <a:pt x="4096" y="415"/>
                </a:lnTo>
                <a:lnTo>
                  <a:pt x="2577" y="299"/>
                </a:lnTo>
                <a:lnTo>
                  <a:pt x="1223" y="161"/>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739018" y="6607089"/>
            <a:ext cx="132497" cy="210952"/>
          </a:xfrm>
          <a:custGeom>
            <a:avLst/>
            <a:gdLst/>
            <a:ahLst/>
            <a:cxnLst/>
            <a:rect l="l" t="t" r="r" b="b"/>
            <a:pathLst>
              <a:path w="1449" h="2307">
                <a:moveTo>
                  <a:pt x="1449" y="2307"/>
                </a:moveTo>
                <a:lnTo>
                  <a:pt x="1022" y="1804"/>
                </a:lnTo>
                <a:lnTo>
                  <a:pt x="639" y="1256"/>
                </a:lnTo>
                <a:lnTo>
                  <a:pt x="298" y="658"/>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79582" y="4232392"/>
            <a:ext cx="86685" cy="286573"/>
          </a:xfrm>
          <a:custGeom>
            <a:avLst/>
            <a:gdLst/>
            <a:ahLst/>
            <a:cxnLst/>
            <a:rect l="l" t="t" r="r" b="b"/>
            <a:pathLst>
              <a:path w="948" h="3134">
                <a:moveTo>
                  <a:pt x="0" y="3134"/>
                </a:moveTo>
                <a:lnTo>
                  <a:pt x="177" y="2202"/>
                </a:lnTo>
                <a:lnTo>
                  <a:pt x="393" y="1386"/>
                </a:lnTo>
                <a:lnTo>
                  <a:pt x="650" y="658"/>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1351117" y="3752423"/>
            <a:ext cx="392186" cy="71323"/>
          </a:xfrm>
          <a:custGeom>
            <a:avLst/>
            <a:gdLst/>
            <a:ahLst/>
            <a:cxnLst/>
            <a:rect l="l" t="t" r="r" b="b"/>
            <a:pathLst>
              <a:path w="4289" h="780">
                <a:moveTo>
                  <a:pt x="0" y="780"/>
                </a:moveTo>
                <a:lnTo>
                  <a:pt x="935" y="550"/>
                </a:lnTo>
                <a:lnTo>
                  <a:pt x="1954" y="344"/>
                </a:lnTo>
                <a:lnTo>
                  <a:pt x="3066" y="161"/>
                </a:lnTo>
                <a:lnTo>
                  <a:pt x="428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5626212" y="3720511"/>
            <a:ext cx="533004" cy="46634"/>
          </a:xfrm>
          <a:custGeom>
            <a:avLst/>
            <a:gdLst/>
            <a:ahLst/>
            <a:cxnLst/>
            <a:rect l="l" t="t" r="r" b="b"/>
            <a:pathLst>
              <a:path w="5829" h="510">
                <a:moveTo>
                  <a:pt x="0" y="0"/>
                </a:moveTo>
                <a:lnTo>
                  <a:pt x="1733" y="95"/>
                </a:lnTo>
                <a:lnTo>
                  <a:pt x="3252" y="211"/>
                </a:lnTo>
                <a:lnTo>
                  <a:pt x="4606" y="349"/>
                </a:lnTo>
                <a:lnTo>
                  <a:pt x="5829" y="51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6919173" y="4081607"/>
            <a:ext cx="132497" cy="210952"/>
          </a:xfrm>
          <a:custGeom>
            <a:avLst/>
            <a:gdLst/>
            <a:ahLst/>
            <a:cxnLst/>
            <a:rect l="l" t="t" r="r" b="b"/>
            <a:pathLst>
              <a:path w="1449" h="2307">
                <a:moveTo>
                  <a:pt x="0" y="0"/>
                </a:moveTo>
                <a:lnTo>
                  <a:pt x="427" y="503"/>
                </a:lnTo>
                <a:lnTo>
                  <a:pt x="810" y="1051"/>
                </a:lnTo>
                <a:lnTo>
                  <a:pt x="1151" y="1649"/>
                </a:lnTo>
                <a:lnTo>
                  <a:pt x="1449" y="230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ody: θ is"/>
          <p:cNvSpPr txBox="1"/>
          <p:nvPr/>
        </p:nvSpPr>
        <p:spPr>
          <a:xfrm>
            <a:off x="996695" y="3972306"/>
            <a:ext cx="5797296"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θ is</a:t>
            </a:r>
          </a:p>
        </p:txBody>
      </p:sp>
      <p:sp>
        <p:nvSpPr>
          <p:cNvPr id="37" name="Oval 36"/>
          <p:cNvSpPr/>
          <p:nvPr/>
        </p:nvSpPr>
        <p:spPr>
          <a:xfrm>
            <a:off x="909828" y="497992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ody: Instruction clauses from a reviewed catalog"/>
          <p:cNvSpPr txBox="1"/>
          <p:nvPr/>
        </p:nvSpPr>
        <p:spPr>
          <a:xfrm>
            <a:off x="1143000" y="4879340"/>
            <a:ext cx="5751576" cy="810514"/>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Instruction clauses from a reviewed</a:t>
            </a:r>
            <a:br/>
            <a:r>
              <a:rPr sz="2300" b="0">
                <a:solidFill>
                  <a:srgbClr val="293E46"/>
                </a:solidFill>
                <a:latin typeface="Trebuchet MS"/>
              </a:rPr>
              <a:t>catalog</a:t>
            </a:r>
          </a:p>
        </p:txBody>
      </p:sp>
      <p:sp>
        <p:nvSpPr>
          <p:cNvPr id="39" name="Oval 38"/>
          <p:cNvSpPr/>
          <p:nvPr/>
        </p:nvSpPr>
        <p:spPr>
          <a:xfrm>
            <a:off x="909828" y="590931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ody: Monitor rules and thresholds"/>
          <p:cNvSpPr txBox="1"/>
          <p:nvPr/>
        </p:nvSpPr>
        <p:spPr>
          <a:xfrm>
            <a:off x="1143000" y="5808726"/>
            <a:ext cx="5751576"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Monitor rules and thresholds</a:t>
            </a:r>
          </a:p>
        </p:txBody>
      </p:sp>
      <p:sp>
        <p:nvSpPr>
          <p:cNvPr id="41" name="Oval 40"/>
          <p:cNvSpPr/>
          <p:nvPr/>
        </p:nvSpPr>
        <p:spPr>
          <a:xfrm>
            <a:off x="909828" y="646772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dy: Approval mode per tool class"/>
          <p:cNvSpPr txBox="1"/>
          <p:nvPr/>
        </p:nvSpPr>
        <p:spPr>
          <a:xfrm>
            <a:off x="1143000" y="6367145"/>
            <a:ext cx="5751576"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Approval mode per tool class</a:t>
            </a:r>
          </a:p>
        </p:txBody>
      </p:sp>
      <p:sp>
        <p:nvSpPr>
          <p:cNvPr id="43" name="Rounded Rectangle 42"/>
          <p:cNvSpPr/>
          <p:nvPr/>
        </p:nvSpPr>
        <p:spPr>
          <a:xfrm>
            <a:off x="7479792" y="3694176"/>
            <a:ext cx="6510528" cy="3511296"/>
          </a:xfrm>
          <a:prstGeom prst="roundRect">
            <a:avLst>
              <a:gd name="adj" fmla="val 18000"/>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482627" y="3697651"/>
            <a:ext cx="6502207" cy="3506998"/>
          </a:xfrm>
          <a:custGeom>
            <a:avLst/>
            <a:gdLst/>
            <a:ahLst/>
            <a:cxnLst/>
            <a:rect l="l" t="t" r="r" b="b"/>
            <a:pathLst>
              <a:path w="71109" h="38353">
                <a:moveTo>
                  <a:pt x="71067" y="19181"/>
                </a:moveTo>
                <a:lnTo>
                  <a:pt x="70965" y="25121"/>
                </a:lnTo>
                <a:lnTo>
                  <a:pt x="70911" y="26995"/>
                </a:lnTo>
                <a:lnTo>
                  <a:pt x="70859" y="28194"/>
                </a:lnTo>
                <a:lnTo>
                  <a:pt x="70844" y="29459"/>
                </a:lnTo>
                <a:lnTo>
                  <a:pt x="70490" y="30319"/>
                </a:lnTo>
                <a:lnTo>
                  <a:pt x="70262" y="31198"/>
                </a:lnTo>
                <a:lnTo>
                  <a:pt x="70112" y="31739"/>
                </a:lnTo>
                <a:lnTo>
                  <a:pt x="69769" y="32565"/>
                </a:lnTo>
                <a:lnTo>
                  <a:pt x="69533" y="33132"/>
                </a:lnTo>
                <a:lnTo>
                  <a:pt x="69175" y="33676"/>
                </a:lnTo>
                <a:lnTo>
                  <a:pt x="68641" y="34119"/>
                </a:lnTo>
                <a:lnTo>
                  <a:pt x="68103" y="34524"/>
                </a:lnTo>
                <a:lnTo>
                  <a:pt x="67696" y="35093"/>
                </a:lnTo>
                <a:lnTo>
                  <a:pt x="67057" y="35472"/>
                </a:lnTo>
                <a:lnTo>
                  <a:pt x="66422" y="35842"/>
                </a:lnTo>
                <a:lnTo>
                  <a:pt x="65903" y="36082"/>
                </a:lnTo>
                <a:lnTo>
                  <a:pt x="64961" y="36512"/>
                </a:lnTo>
                <a:lnTo>
                  <a:pt x="64180" y="36664"/>
                </a:lnTo>
                <a:lnTo>
                  <a:pt x="63284" y="36911"/>
                </a:lnTo>
                <a:lnTo>
                  <a:pt x="62561" y="37122"/>
                </a:lnTo>
                <a:lnTo>
                  <a:pt x="61520" y="37402"/>
                </a:lnTo>
                <a:lnTo>
                  <a:pt x="60226" y="37656"/>
                </a:lnTo>
                <a:lnTo>
                  <a:pt x="59051" y="37758"/>
                </a:lnTo>
                <a:lnTo>
                  <a:pt x="57791" y="37869"/>
                </a:lnTo>
                <a:lnTo>
                  <a:pt x="56287" y="37890"/>
                </a:lnTo>
                <a:lnTo>
                  <a:pt x="54377" y="38084"/>
                </a:lnTo>
                <a:lnTo>
                  <a:pt x="52482" y="38223"/>
                </a:lnTo>
                <a:lnTo>
                  <a:pt x="50055" y="38319"/>
                </a:lnTo>
                <a:lnTo>
                  <a:pt x="46418" y="38164"/>
                </a:lnTo>
                <a:lnTo>
                  <a:pt x="35544" y="38353"/>
                </a:lnTo>
                <a:lnTo>
                  <a:pt x="24694" y="38303"/>
                </a:lnTo>
                <a:lnTo>
                  <a:pt x="21123" y="38215"/>
                </a:lnTo>
                <a:lnTo>
                  <a:pt x="18784" y="38091"/>
                </a:lnTo>
                <a:lnTo>
                  <a:pt x="16518" y="38116"/>
                </a:lnTo>
                <a:lnTo>
                  <a:pt x="14934" y="38026"/>
                </a:lnTo>
                <a:lnTo>
                  <a:pt x="13318" y="37922"/>
                </a:lnTo>
                <a:lnTo>
                  <a:pt x="12121" y="37669"/>
                </a:lnTo>
                <a:lnTo>
                  <a:pt x="10782" y="37503"/>
                </a:lnTo>
                <a:lnTo>
                  <a:pt x="9727" y="37478"/>
                </a:lnTo>
                <a:lnTo>
                  <a:pt x="8647" y="37062"/>
                </a:lnTo>
                <a:lnTo>
                  <a:pt x="7808" y="36861"/>
                </a:lnTo>
                <a:lnTo>
                  <a:pt x="6781" y="36770"/>
                </a:lnTo>
                <a:lnTo>
                  <a:pt x="6106" y="36303"/>
                </a:lnTo>
                <a:lnTo>
                  <a:pt x="5422" y="36114"/>
                </a:lnTo>
                <a:lnTo>
                  <a:pt x="4592" y="35676"/>
                </a:lnTo>
                <a:lnTo>
                  <a:pt x="4102" y="35382"/>
                </a:lnTo>
                <a:lnTo>
                  <a:pt x="3511" y="34910"/>
                </a:lnTo>
                <a:lnTo>
                  <a:pt x="3071" y="34689"/>
                </a:lnTo>
                <a:lnTo>
                  <a:pt x="2530" y="34236"/>
                </a:lnTo>
                <a:lnTo>
                  <a:pt x="2041" y="33654"/>
                </a:lnTo>
                <a:lnTo>
                  <a:pt x="1560" y="33073"/>
                </a:lnTo>
                <a:lnTo>
                  <a:pt x="1231" y="32493"/>
                </a:lnTo>
                <a:lnTo>
                  <a:pt x="1020" y="31700"/>
                </a:lnTo>
                <a:lnTo>
                  <a:pt x="878" y="31028"/>
                </a:lnTo>
                <a:lnTo>
                  <a:pt x="480" y="30304"/>
                </a:lnTo>
                <a:lnTo>
                  <a:pt x="487" y="29391"/>
                </a:lnTo>
                <a:lnTo>
                  <a:pt x="292" y="28130"/>
                </a:lnTo>
                <a:lnTo>
                  <a:pt x="53" y="26878"/>
                </a:lnTo>
                <a:lnTo>
                  <a:pt x="68" y="25066"/>
                </a:lnTo>
                <a:lnTo>
                  <a:pt x="92" y="19131"/>
                </a:lnTo>
                <a:lnTo>
                  <a:pt x="0" y="13227"/>
                </a:lnTo>
                <a:lnTo>
                  <a:pt x="245" y="11372"/>
                </a:lnTo>
                <a:lnTo>
                  <a:pt x="248" y="10028"/>
                </a:lnTo>
                <a:lnTo>
                  <a:pt x="438" y="8934"/>
                </a:lnTo>
                <a:lnTo>
                  <a:pt x="612" y="8138"/>
                </a:lnTo>
                <a:lnTo>
                  <a:pt x="860" y="7195"/>
                </a:lnTo>
                <a:lnTo>
                  <a:pt x="956" y="6486"/>
                </a:lnTo>
                <a:lnTo>
                  <a:pt x="1404" y="5869"/>
                </a:lnTo>
                <a:lnTo>
                  <a:pt x="1632" y="5329"/>
                </a:lnTo>
                <a:lnTo>
                  <a:pt x="2151" y="4676"/>
                </a:lnTo>
                <a:lnTo>
                  <a:pt x="2383" y="4241"/>
                </a:lnTo>
                <a:lnTo>
                  <a:pt x="2975" y="3837"/>
                </a:lnTo>
                <a:lnTo>
                  <a:pt x="3430" y="3390"/>
                </a:lnTo>
                <a:lnTo>
                  <a:pt x="4085" y="2839"/>
                </a:lnTo>
                <a:lnTo>
                  <a:pt x="4691" y="2671"/>
                </a:lnTo>
                <a:lnTo>
                  <a:pt x="5419" y="2117"/>
                </a:lnTo>
                <a:lnTo>
                  <a:pt x="6052" y="1948"/>
                </a:lnTo>
                <a:lnTo>
                  <a:pt x="7006" y="1627"/>
                </a:lnTo>
                <a:lnTo>
                  <a:pt x="7690" y="1306"/>
                </a:lnTo>
                <a:lnTo>
                  <a:pt x="8682" y="1130"/>
                </a:lnTo>
                <a:lnTo>
                  <a:pt x="9755" y="960"/>
                </a:lnTo>
                <a:lnTo>
                  <a:pt x="10926" y="753"/>
                </a:lnTo>
                <a:lnTo>
                  <a:pt x="11974" y="616"/>
                </a:lnTo>
                <a:lnTo>
                  <a:pt x="13285" y="576"/>
                </a:lnTo>
                <a:lnTo>
                  <a:pt x="14822" y="429"/>
                </a:lnTo>
                <a:lnTo>
                  <a:pt x="16572" y="139"/>
                </a:lnTo>
                <a:lnTo>
                  <a:pt x="18668" y="217"/>
                </a:lnTo>
                <a:lnTo>
                  <a:pt x="21118" y="128"/>
                </a:lnTo>
                <a:lnTo>
                  <a:pt x="24580" y="45"/>
                </a:lnTo>
                <a:lnTo>
                  <a:pt x="35692" y="194"/>
                </a:lnTo>
                <a:lnTo>
                  <a:pt x="46374" y="0"/>
                </a:lnTo>
                <a:lnTo>
                  <a:pt x="50076" y="90"/>
                </a:lnTo>
                <a:lnTo>
                  <a:pt x="52396" y="150"/>
                </a:lnTo>
                <a:lnTo>
                  <a:pt x="54465" y="143"/>
                </a:lnTo>
                <a:lnTo>
                  <a:pt x="56192" y="461"/>
                </a:lnTo>
                <a:lnTo>
                  <a:pt x="57755" y="518"/>
                </a:lnTo>
                <a:lnTo>
                  <a:pt x="59038" y="563"/>
                </a:lnTo>
                <a:lnTo>
                  <a:pt x="60445" y="852"/>
                </a:lnTo>
                <a:lnTo>
                  <a:pt x="61500" y="969"/>
                </a:lnTo>
                <a:lnTo>
                  <a:pt x="62586" y="1184"/>
                </a:lnTo>
                <a:lnTo>
                  <a:pt x="63400" y="1346"/>
                </a:lnTo>
                <a:lnTo>
                  <a:pt x="64132" y="1545"/>
                </a:lnTo>
                <a:lnTo>
                  <a:pt x="65136" y="1839"/>
                </a:lnTo>
                <a:lnTo>
                  <a:pt x="65800" y="2237"/>
                </a:lnTo>
                <a:lnTo>
                  <a:pt x="66453" y="2628"/>
                </a:lnTo>
                <a:lnTo>
                  <a:pt x="67030" y="3001"/>
                </a:lnTo>
                <a:lnTo>
                  <a:pt x="67545" y="3325"/>
                </a:lnTo>
                <a:lnTo>
                  <a:pt x="68132" y="3797"/>
                </a:lnTo>
                <a:lnTo>
                  <a:pt x="68719" y="4092"/>
                </a:lnTo>
                <a:lnTo>
                  <a:pt x="69026" y="4815"/>
                </a:lnTo>
                <a:lnTo>
                  <a:pt x="69560" y="5265"/>
                </a:lnTo>
                <a:lnTo>
                  <a:pt x="69878" y="5930"/>
                </a:lnTo>
                <a:lnTo>
                  <a:pt x="70205" y="6580"/>
                </a:lnTo>
                <a:lnTo>
                  <a:pt x="70399" y="7293"/>
                </a:lnTo>
                <a:lnTo>
                  <a:pt x="70656" y="8134"/>
                </a:lnTo>
                <a:lnTo>
                  <a:pt x="70723" y="9048"/>
                </a:lnTo>
                <a:lnTo>
                  <a:pt x="70852" y="10146"/>
                </a:lnTo>
                <a:lnTo>
                  <a:pt x="71028" y="11446"/>
                </a:lnTo>
                <a:lnTo>
                  <a:pt x="70982" y="13368"/>
                </a:lnTo>
                <a:lnTo>
                  <a:pt x="71109" y="19249"/>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7481072" y="3706886"/>
            <a:ext cx="6505865" cy="3495934"/>
          </a:xfrm>
          <a:custGeom>
            <a:avLst/>
            <a:gdLst/>
            <a:ahLst/>
            <a:cxnLst/>
            <a:rect l="l" t="t" r="r" b="b"/>
            <a:pathLst>
              <a:path w="71149" h="38232">
                <a:moveTo>
                  <a:pt x="70999" y="18958"/>
                </a:moveTo>
                <a:lnTo>
                  <a:pt x="70990" y="25002"/>
                </a:lnTo>
                <a:lnTo>
                  <a:pt x="71006" y="26699"/>
                </a:lnTo>
                <a:lnTo>
                  <a:pt x="70935" y="28131"/>
                </a:lnTo>
                <a:lnTo>
                  <a:pt x="70735" y="29335"/>
                </a:lnTo>
                <a:lnTo>
                  <a:pt x="70610" y="30165"/>
                </a:lnTo>
                <a:lnTo>
                  <a:pt x="70422" y="30939"/>
                </a:lnTo>
                <a:lnTo>
                  <a:pt x="70009" y="31706"/>
                </a:lnTo>
                <a:lnTo>
                  <a:pt x="69829" y="32320"/>
                </a:lnTo>
                <a:lnTo>
                  <a:pt x="69431" y="32897"/>
                </a:lnTo>
                <a:lnTo>
                  <a:pt x="69047" y="33431"/>
                </a:lnTo>
                <a:lnTo>
                  <a:pt x="68609" y="33922"/>
                </a:lnTo>
                <a:lnTo>
                  <a:pt x="68102" y="34377"/>
                </a:lnTo>
                <a:lnTo>
                  <a:pt x="67543" y="35015"/>
                </a:lnTo>
                <a:lnTo>
                  <a:pt x="67172" y="35243"/>
                </a:lnTo>
                <a:lnTo>
                  <a:pt x="66447" y="35709"/>
                </a:lnTo>
                <a:lnTo>
                  <a:pt x="65858" y="35928"/>
                </a:lnTo>
                <a:lnTo>
                  <a:pt x="65094" y="36351"/>
                </a:lnTo>
                <a:lnTo>
                  <a:pt x="64401" y="36686"/>
                </a:lnTo>
                <a:lnTo>
                  <a:pt x="63533" y="36901"/>
                </a:lnTo>
                <a:lnTo>
                  <a:pt x="62400" y="36970"/>
                </a:lnTo>
                <a:lnTo>
                  <a:pt x="61420" y="37341"/>
                </a:lnTo>
                <a:lnTo>
                  <a:pt x="60293" y="37526"/>
                </a:lnTo>
                <a:lnTo>
                  <a:pt x="59128" y="37582"/>
                </a:lnTo>
                <a:lnTo>
                  <a:pt x="57845" y="37667"/>
                </a:lnTo>
                <a:lnTo>
                  <a:pt x="56151" y="37838"/>
                </a:lnTo>
                <a:lnTo>
                  <a:pt x="54507" y="38040"/>
                </a:lnTo>
                <a:lnTo>
                  <a:pt x="52436" y="38113"/>
                </a:lnTo>
                <a:lnTo>
                  <a:pt x="49954" y="37982"/>
                </a:lnTo>
                <a:lnTo>
                  <a:pt x="46554" y="38045"/>
                </a:lnTo>
                <a:lnTo>
                  <a:pt x="35555" y="38232"/>
                </a:lnTo>
                <a:lnTo>
                  <a:pt x="24689" y="38024"/>
                </a:lnTo>
                <a:lnTo>
                  <a:pt x="21335" y="38160"/>
                </a:lnTo>
                <a:lnTo>
                  <a:pt x="18604" y="37945"/>
                </a:lnTo>
                <a:lnTo>
                  <a:pt x="16546" y="37900"/>
                </a:lnTo>
                <a:lnTo>
                  <a:pt x="15042" y="37980"/>
                </a:lnTo>
                <a:lnTo>
                  <a:pt x="13312" y="37826"/>
                </a:lnTo>
                <a:lnTo>
                  <a:pt x="12000" y="37559"/>
                </a:lnTo>
                <a:lnTo>
                  <a:pt x="10926" y="37558"/>
                </a:lnTo>
                <a:lnTo>
                  <a:pt x="9823" y="37201"/>
                </a:lnTo>
                <a:lnTo>
                  <a:pt x="8602" y="36980"/>
                </a:lnTo>
                <a:lnTo>
                  <a:pt x="7724" y="36849"/>
                </a:lnTo>
                <a:lnTo>
                  <a:pt x="6779" y="36660"/>
                </a:lnTo>
                <a:lnTo>
                  <a:pt x="6123" y="36268"/>
                </a:lnTo>
                <a:lnTo>
                  <a:pt x="5389" y="36116"/>
                </a:lnTo>
                <a:lnTo>
                  <a:pt x="4588" y="35689"/>
                </a:lnTo>
                <a:lnTo>
                  <a:pt x="4019" y="35291"/>
                </a:lnTo>
                <a:lnTo>
                  <a:pt x="3445" y="34866"/>
                </a:lnTo>
                <a:lnTo>
                  <a:pt x="2937" y="34444"/>
                </a:lnTo>
                <a:lnTo>
                  <a:pt x="2415" y="33975"/>
                </a:lnTo>
                <a:lnTo>
                  <a:pt x="1966" y="33578"/>
                </a:lnTo>
                <a:lnTo>
                  <a:pt x="1810" y="32929"/>
                </a:lnTo>
                <a:lnTo>
                  <a:pt x="1311" y="32266"/>
                </a:lnTo>
                <a:lnTo>
                  <a:pt x="1172" y="31606"/>
                </a:lnTo>
                <a:lnTo>
                  <a:pt x="742" y="30944"/>
                </a:lnTo>
                <a:lnTo>
                  <a:pt x="595" y="30219"/>
                </a:lnTo>
                <a:lnTo>
                  <a:pt x="536" y="29308"/>
                </a:lnTo>
                <a:lnTo>
                  <a:pt x="285" y="28189"/>
                </a:lnTo>
                <a:lnTo>
                  <a:pt x="191" y="26681"/>
                </a:lnTo>
                <a:lnTo>
                  <a:pt x="95" y="25042"/>
                </a:lnTo>
                <a:lnTo>
                  <a:pt x="0" y="19044"/>
                </a:lnTo>
                <a:lnTo>
                  <a:pt x="86" y="13240"/>
                </a:lnTo>
                <a:lnTo>
                  <a:pt x="191" y="11374"/>
                </a:lnTo>
                <a:lnTo>
                  <a:pt x="325" y="9903"/>
                </a:lnTo>
                <a:lnTo>
                  <a:pt x="355" y="8895"/>
                </a:lnTo>
                <a:lnTo>
                  <a:pt x="603" y="7852"/>
                </a:lnTo>
                <a:lnTo>
                  <a:pt x="923" y="7136"/>
                </a:lnTo>
                <a:lnTo>
                  <a:pt x="948" y="6494"/>
                </a:lnTo>
                <a:lnTo>
                  <a:pt x="1260" y="5766"/>
                </a:lnTo>
                <a:lnTo>
                  <a:pt x="1655" y="5194"/>
                </a:lnTo>
                <a:lnTo>
                  <a:pt x="1992" y="4699"/>
                </a:lnTo>
                <a:lnTo>
                  <a:pt x="2575" y="4082"/>
                </a:lnTo>
                <a:lnTo>
                  <a:pt x="3103" y="3540"/>
                </a:lnTo>
                <a:lnTo>
                  <a:pt x="3633" y="3124"/>
                </a:lnTo>
                <a:lnTo>
                  <a:pt x="4049" y="2781"/>
                </a:lnTo>
                <a:lnTo>
                  <a:pt x="4807" y="2366"/>
                </a:lnTo>
                <a:lnTo>
                  <a:pt x="5265" y="2080"/>
                </a:lnTo>
                <a:lnTo>
                  <a:pt x="6082" y="1861"/>
                </a:lnTo>
                <a:lnTo>
                  <a:pt x="6816" y="1573"/>
                </a:lnTo>
                <a:lnTo>
                  <a:pt x="7796" y="1386"/>
                </a:lnTo>
                <a:lnTo>
                  <a:pt x="8737" y="940"/>
                </a:lnTo>
                <a:lnTo>
                  <a:pt x="9825" y="846"/>
                </a:lnTo>
                <a:lnTo>
                  <a:pt x="10821" y="705"/>
                </a:lnTo>
                <a:lnTo>
                  <a:pt x="12104" y="386"/>
                </a:lnTo>
                <a:lnTo>
                  <a:pt x="13300" y="441"/>
                </a:lnTo>
                <a:lnTo>
                  <a:pt x="14977" y="296"/>
                </a:lnTo>
                <a:lnTo>
                  <a:pt x="16662" y="240"/>
                </a:lnTo>
                <a:lnTo>
                  <a:pt x="18594" y="101"/>
                </a:lnTo>
                <a:lnTo>
                  <a:pt x="21266" y="66"/>
                </a:lnTo>
                <a:lnTo>
                  <a:pt x="24735" y="0"/>
                </a:lnTo>
                <a:lnTo>
                  <a:pt x="35715" y="14"/>
                </a:lnTo>
                <a:lnTo>
                  <a:pt x="46540" y="94"/>
                </a:lnTo>
                <a:lnTo>
                  <a:pt x="49888" y="6"/>
                </a:lnTo>
                <a:lnTo>
                  <a:pt x="52546" y="128"/>
                </a:lnTo>
                <a:lnTo>
                  <a:pt x="54643" y="100"/>
                </a:lnTo>
                <a:lnTo>
                  <a:pt x="56376" y="250"/>
                </a:lnTo>
                <a:lnTo>
                  <a:pt x="57818" y="265"/>
                </a:lnTo>
                <a:lnTo>
                  <a:pt x="59013" y="406"/>
                </a:lnTo>
                <a:lnTo>
                  <a:pt x="60352" y="679"/>
                </a:lnTo>
                <a:lnTo>
                  <a:pt x="61561" y="835"/>
                </a:lnTo>
                <a:lnTo>
                  <a:pt x="62379" y="980"/>
                </a:lnTo>
                <a:lnTo>
                  <a:pt x="63343" y="1301"/>
                </a:lnTo>
                <a:lnTo>
                  <a:pt x="64230" y="1470"/>
                </a:lnTo>
                <a:lnTo>
                  <a:pt x="65010" y="1782"/>
                </a:lnTo>
                <a:lnTo>
                  <a:pt x="65903" y="2120"/>
                </a:lnTo>
                <a:lnTo>
                  <a:pt x="66369" y="2358"/>
                </a:lnTo>
                <a:lnTo>
                  <a:pt x="67035" y="2911"/>
                </a:lnTo>
                <a:lnTo>
                  <a:pt x="67570" y="3263"/>
                </a:lnTo>
                <a:lnTo>
                  <a:pt x="68214" y="3568"/>
                </a:lnTo>
                <a:lnTo>
                  <a:pt x="68639" y="4044"/>
                </a:lnTo>
                <a:lnTo>
                  <a:pt x="68969" y="4676"/>
                </a:lnTo>
                <a:lnTo>
                  <a:pt x="69392" y="5244"/>
                </a:lnTo>
                <a:lnTo>
                  <a:pt x="69756" y="5720"/>
                </a:lnTo>
                <a:lnTo>
                  <a:pt x="70016" y="6412"/>
                </a:lnTo>
                <a:lnTo>
                  <a:pt x="70421" y="7030"/>
                </a:lnTo>
                <a:lnTo>
                  <a:pt x="70511" y="7856"/>
                </a:lnTo>
                <a:lnTo>
                  <a:pt x="70650" y="8892"/>
                </a:lnTo>
                <a:lnTo>
                  <a:pt x="70820" y="9951"/>
                </a:lnTo>
                <a:lnTo>
                  <a:pt x="71068" y="11351"/>
                </a:lnTo>
                <a:lnTo>
                  <a:pt x="70963" y="13212"/>
                </a:lnTo>
                <a:lnTo>
                  <a:pt x="71149" y="19095"/>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13864133" y="6380683"/>
            <a:ext cx="86685" cy="286573"/>
          </a:xfrm>
          <a:custGeom>
            <a:avLst/>
            <a:gdLst/>
            <a:ahLst/>
            <a:cxnLst/>
            <a:rect l="l" t="t" r="r" b="b"/>
            <a:pathLst>
              <a:path w="948" h="3134">
                <a:moveTo>
                  <a:pt x="948" y="0"/>
                </a:moveTo>
                <a:lnTo>
                  <a:pt x="771" y="932"/>
                </a:lnTo>
                <a:lnTo>
                  <a:pt x="555" y="1748"/>
                </a:lnTo>
                <a:lnTo>
                  <a:pt x="298" y="2476"/>
                </a:lnTo>
                <a:lnTo>
                  <a:pt x="0" y="3134"/>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2887096" y="7075902"/>
            <a:ext cx="392186" cy="71323"/>
          </a:xfrm>
          <a:custGeom>
            <a:avLst/>
            <a:gdLst/>
            <a:ahLst/>
            <a:cxnLst/>
            <a:rect l="l" t="t" r="r" b="b"/>
            <a:pathLst>
              <a:path w="4289" h="780">
                <a:moveTo>
                  <a:pt x="4289" y="0"/>
                </a:moveTo>
                <a:lnTo>
                  <a:pt x="3354" y="230"/>
                </a:lnTo>
                <a:lnTo>
                  <a:pt x="2335" y="436"/>
                </a:lnTo>
                <a:lnTo>
                  <a:pt x="1223" y="619"/>
                </a:lnTo>
                <a:lnTo>
                  <a:pt x="0" y="78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8471184" y="7132503"/>
            <a:ext cx="533004" cy="46634"/>
          </a:xfrm>
          <a:custGeom>
            <a:avLst/>
            <a:gdLst/>
            <a:ahLst/>
            <a:cxnLst/>
            <a:rect l="l" t="t" r="r" b="b"/>
            <a:pathLst>
              <a:path w="5829" h="510">
                <a:moveTo>
                  <a:pt x="5829" y="510"/>
                </a:moveTo>
                <a:lnTo>
                  <a:pt x="4096" y="415"/>
                </a:lnTo>
                <a:lnTo>
                  <a:pt x="2577" y="299"/>
                </a:lnTo>
                <a:lnTo>
                  <a:pt x="1223" y="161"/>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7578730" y="6607089"/>
            <a:ext cx="132497" cy="210952"/>
          </a:xfrm>
          <a:custGeom>
            <a:avLst/>
            <a:gdLst/>
            <a:ahLst/>
            <a:cxnLst/>
            <a:rect l="l" t="t" r="r" b="b"/>
            <a:pathLst>
              <a:path w="1449" h="2307">
                <a:moveTo>
                  <a:pt x="1449" y="2307"/>
                </a:moveTo>
                <a:lnTo>
                  <a:pt x="1022" y="1804"/>
                </a:lnTo>
                <a:lnTo>
                  <a:pt x="639" y="1256"/>
                </a:lnTo>
                <a:lnTo>
                  <a:pt x="298" y="658"/>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7519294" y="4232392"/>
            <a:ext cx="86685" cy="286573"/>
          </a:xfrm>
          <a:custGeom>
            <a:avLst/>
            <a:gdLst/>
            <a:ahLst/>
            <a:cxnLst/>
            <a:rect l="l" t="t" r="r" b="b"/>
            <a:pathLst>
              <a:path w="948" h="3134">
                <a:moveTo>
                  <a:pt x="0" y="3134"/>
                </a:moveTo>
                <a:lnTo>
                  <a:pt x="177" y="2202"/>
                </a:lnTo>
                <a:lnTo>
                  <a:pt x="393" y="1386"/>
                </a:lnTo>
                <a:lnTo>
                  <a:pt x="650" y="658"/>
                </a:lnTo>
                <a:lnTo>
                  <a:pt x="948"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8190829" y="3752423"/>
            <a:ext cx="392186" cy="71323"/>
          </a:xfrm>
          <a:custGeom>
            <a:avLst/>
            <a:gdLst/>
            <a:ahLst/>
            <a:cxnLst/>
            <a:rect l="l" t="t" r="r" b="b"/>
            <a:pathLst>
              <a:path w="4289" h="780">
                <a:moveTo>
                  <a:pt x="0" y="780"/>
                </a:moveTo>
                <a:lnTo>
                  <a:pt x="935" y="550"/>
                </a:lnTo>
                <a:lnTo>
                  <a:pt x="1954" y="344"/>
                </a:lnTo>
                <a:lnTo>
                  <a:pt x="3066" y="161"/>
                </a:lnTo>
                <a:lnTo>
                  <a:pt x="4289"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12465924" y="3720511"/>
            <a:ext cx="533004" cy="46634"/>
          </a:xfrm>
          <a:custGeom>
            <a:avLst/>
            <a:gdLst/>
            <a:ahLst/>
            <a:cxnLst/>
            <a:rect l="l" t="t" r="r" b="b"/>
            <a:pathLst>
              <a:path w="5829" h="510">
                <a:moveTo>
                  <a:pt x="0" y="0"/>
                </a:moveTo>
                <a:lnTo>
                  <a:pt x="1733" y="95"/>
                </a:lnTo>
                <a:lnTo>
                  <a:pt x="3252" y="211"/>
                </a:lnTo>
                <a:lnTo>
                  <a:pt x="4606" y="349"/>
                </a:lnTo>
                <a:lnTo>
                  <a:pt x="5829" y="51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3758885" y="4081607"/>
            <a:ext cx="132497" cy="210952"/>
          </a:xfrm>
          <a:custGeom>
            <a:avLst/>
            <a:gdLst/>
            <a:ahLst/>
            <a:cxnLst/>
            <a:rect l="l" t="t" r="r" b="b"/>
            <a:pathLst>
              <a:path w="1449" h="2307">
                <a:moveTo>
                  <a:pt x="0" y="0"/>
                </a:moveTo>
                <a:lnTo>
                  <a:pt x="427" y="503"/>
                </a:lnTo>
                <a:lnTo>
                  <a:pt x="810" y="1051"/>
                </a:lnTo>
                <a:lnTo>
                  <a:pt x="1151" y="1649"/>
                </a:lnTo>
                <a:lnTo>
                  <a:pt x="1449" y="2307"/>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ody: Rules of the search"/>
          <p:cNvSpPr txBox="1"/>
          <p:nvPr/>
        </p:nvSpPr>
        <p:spPr>
          <a:xfrm>
            <a:off x="7836408" y="3972306"/>
            <a:ext cx="5797296"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AE6B55"/>
                </a:solidFill>
                <a:latin typeface="Chalkboard SE"/>
              </a:rPr>
              <a:t>Rules of the search</a:t>
            </a:r>
          </a:p>
        </p:txBody>
      </p:sp>
      <p:sp>
        <p:nvSpPr>
          <p:cNvPr id="55" name="Oval 54"/>
          <p:cNvSpPr/>
          <p:nvPr/>
        </p:nvSpPr>
        <p:spPr>
          <a:xfrm>
            <a:off x="7749540" y="5165407"/>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ody: Proposer sees aggregates only"/>
          <p:cNvSpPr txBox="1"/>
          <p:nvPr/>
        </p:nvSpPr>
        <p:spPr>
          <a:xfrm>
            <a:off x="7982711" y="5064823"/>
            <a:ext cx="5751576"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Proposer sees aggregates only</a:t>
            </a:r>
          </a:p>
        </p:txBody>
      </p:sp>
      <p:sp>
        <p:nvSpPr>
          <p:cNvPr id="57" name="Oval 56"/>
          <p:cNvSpPr/>
          <p:nvPr/>
        </p:nvSpPr>
        <p:spPr>
          <a:xfrm>
            <a:off x="7749540" y="572382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ody: Selection rule frozen before search"/>
          <p:cNvSpPr txBox="1"/>
          <p:nvPr/>
        </p:nvSpPr>
        <p:spPr>
          <a:xfrm>
            <a:off x="7982711" y="5623242"/>
            <a:ext cx="5751576"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Selection rule frozen before search</a:t>
            </a:r>
          </a:p>
        </p:txBody>
      </p:sp>
      <p:sp>
        <p:nvSpPr>
          <p:cNvPr id="59" name="Oval 58"/>
          <p:cNvSpPr/>
          <p:nvPr/>
        </p:nvSpPr>
        <p:spPr>
          <a:xfrm>
            <a:off x="7749540" y="6282245"/>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ody: Missing outcomes stay unknown"/>
          <p:cNvSpPr txBox="1"/>
          <p:nvPr/>
        </p:nvSpPr>
        <p:spPr>
          <a:xfrm>
            <a:off x="7982711" y="6181661"/>
            <a:ext cx="5751576"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Missing outcomes stay unknown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4 · COMPONENT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4 · COMPONENTS</a:t>
            </a:r>
          </a:p>
        </p:txBody>
      </p:sp>
      <p:sp>
        <p:nvSpPr>
          <p:cNvPr id="3" name="title: Component 5 · The policy optimizer"/>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Component 5 · The policy optimizer</a:t>
            </a:r>
          </a:p>
        </p:txBody>
      </p:sp>
      <p:sp>
        <p:nvSpPr>
          <p:cNvPr id="4" name="subtitle: Constrained search with a feedback ablation"/>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Constrained search with a feedback ablation</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rt: 2 / 2"/>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2 / 2</a:t>
            </a: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23"/>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23</a:t>
            </a:r>
          </a:p>
        </p:txBody>
      </p:sp>
      <p:sp>
        <p:nvSpPr>
          <p:cNvPr id="13" name="Rounded Rectangle 12"/>
          <p:cNvSpPr/>
          <p:nvPr/>
        </p:nvSpPr>
        <p:spPr>
          <a:xfrm>
            <a:off x="640080" y="1874519"/>
            <a:ext cx="13350240" cy="718798"/>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ody: Arm"/>
          <p:cNvSpPr txBox="1"/>
          <p:nvPr/>
        </p:nvSpPr>
        <p:spPr>
          <a:xfrm>
            <a:off x="777240" y="2046403"/>
            <a:ext cx="338328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Arm</a:t>
            </a:r>
          </a:p>
        </p:txBody>
      </p:sp>
      <p:sp>
        <p:nvSpPr>
          <p:cNvPr id="15" name="body: Selects on"/>
          <p:cNvSpPr txBox="1"/>
          <p:nvPr/>
        </p:nvSpPr>
        <p:spPr>
          <a:xfrm>
            <a:off x="4434840" y="2046403"/>
            <a:ext cx="9418319"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Selects on</a:t>
            </a:r>
          </a:p>
        </p:txBody>
      </p:sp>
      <p:sp>
        <p:nvSpPr>
          <p:cNvPr id="16" name="Rounded Rectangle 15"/>
          <p:cNvSpPr/>
          <p:nvPr/>
        </p:nvSpPr>
        <p:spPr>
          <a:xfrm>
            <a:off x="640080" y="2652754"/>
            <a:ext cx="13350240" cy="801602"/>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 B0 · upstream"/>
          <p:cNvSpPr txBox="1"/>
          <p:nvPr/>
        </p:nvSpPr>
        <p:spPr>
          <a:xfrm>
            <a:off x="777240" y="2833782"/>
            <a:ext cx="3383280" cy="439547"/>
          </a:xfrm>
          <a:prstGeom prst="rect">
            <a:avLst/>
          </a:prstGeom>
          <a:noFill/>
        </p:spPr>
        <p:txBody>
          <a:bodyPr wrap="none" lIns="0" rIns="0" tIns="0" bIns="0" anchor="t">
            <a:noAutofit/>
          </a:bodyPr>
          <a:lstStyle/>
          <a:p>
            <a:pPr algn="l">
              <a:lnSpc>
                <a:spcPts val="2921"/>
              </a:lnSpc>
              <a:spcBef>
                <a:spcPts val="0"/>
              </a:spcBef>
              <a:spcAft>
                <a:spcPts val="0"/>
              </a:spcAft>
            </a:pPr>
            <a:r>
              <a:rPr sz="2300" b="1">
                <a:solidFill>
                  <a:srgbClr val="4E7892"/>
                </a:solidFill>
                <a:latin typeface="Trebuchet MS"/>
              </a:rPr>
              <a:t>B0 · upstream</a:t>
            </a:r>
          </a:p>
        </p:txBody>
      </p:sp>
      <p:sp>
        <p:nvSpPr>
          <p:cNvPr id="18" name="body: nothing (reference)"/>
          <p:cNvSpPr txBox="1"/>
          <p:nvPr/>
        </p:nvSpPr>
        <p:spPr>
          <a:xfrm>
            <a:off x="4434840" y="2833782"/>
            <a:ext cx="9418319"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nothing (reference)</a:t>
            </a:r>
          </a:p>
        </p:txBody>
      </p:sp>
      <p:sp>
        <p:nvSpPr>
          <p:cNvPr id="19" name="Rounded Rectangle 18"/>
          <p:cNvSpPr/>
          <p:nvPr/>
        </p:nvSpPr>
        <p:spPr>
          <a:xfrm>
            <a:off x="640080" y="3513793"/>
            <a:ext cx="13350240" cy="801602"/>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dy: B1 · observation only"/>
          <p:cNvSpPr txBox="1"/>
          <p:nvPr/>
        </p:nvSpPr>
        <p:spPr>
          <a:xfrm>
            <a:off x="777240" y="3694821"/>
            <a:ext cx="3383280" cy="439547"/>
          </a:xfrm>
          <a:prstGeom prst="rect">
            <a:avLst/>
          </a:prstGeom>
          <a:noFill/>
        </p:spPr>
        <p:txBody>
          <a:bodyPr wrap="none" lIns="0" rIns="0" tIns="0" bIns="0" anchor="t">
            <a:noAutofit/>
          </a:bodyPr>
          <a:lstStyle/>
          <a:p>
            <a:pPr algn="l">
              <a:lnSpc>
                <a:spcPts val="2921"/>
              </a:lnSpc>
              <a:spcBef>
                <a:spcPts val="0"/>
              </a:spcBef>
              <a:spcAft>
                <a:spcPts val="0"/>
              </a:spcAft>
            </a:pPr>
            <a:r>
              <a:rPr sz="2300" b="1">
                <a:solidFill>
                  <a:srgbClr val="4E7892"/>
                </a:solidFill>
                <a:latin typeface="Trebuchet MS"/>
              </a:rPr>
              <a:t>B1 · observation only</a:t>
            </a:r>
          </a:p>
        </p:txBody>
      </p:sp>
      <p:sp>
        <p:nvSpPr>
          <p:cNvPr id="21" name="body: nothing; observer added"/>
          <p:cNvSpPr txBox="1"/>
          <p:nvPr/>
        </p:nvSpPr>
        <p:spPr>
          <a:xfrm>
            <a:off x="4434840" y="3694821"/>
            <a:ext cx="9418319"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nothing; observer added</a:t>
            </a:r>
          </a:p>
        </p:txBody>
      </p:sp>
      <p:sp>
        <p:nvSpPr>
          <p:cNvPr id="22" name="Rounded Rectangle 21"/>
          <p:cNvSpPr/>
          <p:nvPr/>
        </p:nvSpPr>
        <p:spPr>
          <a:xfrm>
            <a:off x="640080" y="4374832"/>
            <a:ext cx="13350240" cy="1172569"/>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B2 · established defence"/>
          <p:cNvSpPr txBox="1"/>
          <p:nvPr/>
        </p:nvSpPr>
        <p:spPr>
          <a:xfrm>
            <a:off x="777240" y="4555860"/>
            <a:ext cx="3383280" cy="810514"/>
          </a:xfrm>
          <a:prstGeom prst="rect">
            <a:avLst/>
          </a:prstGeom>
          <a:noFill/>
        </p:spPr>
        <p:txBody>
          <a:bodyPr wrap="none" lIns="0" rIns="0" tIns="0" bIns="0" anchor="t">
            <a:noAutofit/>
          </a:bodyPr>
          <a:lstStyle/>
          <a:p>
            <a:pPr algn="l">
              <a:lnSpc>
                <a:spcPts val="2921"/>
              </a:lnSpc>
              <a:spcBef>
                <a:spcPts val="0"/>
              </a:spcBef>
              <a:spcAft>
                <a:spcPts val="0"/>
              </a:spcAft>
            </a:pPr>
            <a:r>
              <a:rPr sz="2300" b="1">
                <a:solidFill>
                  <a:srgbClr val="4E7892"/>
                </a:solidFill>
                <a:latin typeface="Trebuchet MS"/>
              </a:rPr>
              <a:t>B2 · established</a:t>
            </a:r>
            <a:br/>
            <a:r>
              <a:rPr sz="2300" b="1">
                <a:solidFill>
                  <a:srgbClr val="4E7892"/>
                </a:solidFill>
                <a:latin typeface="Trebuchet MS"/>
              </a:rPr>
              <a:t>defence</a:t>
            </a:r>
          </a:p>
        </p:txBody>
      </p:sp>
      <p:sp>
        <p:nvSpPr>
          <p:cNvPr id="24" name="body: AgentDojo defences; AI Control protocols"/>
          <p:cNvSpPr txBox="1"/>
          <p:nvPr/>
        </p:nvSpPr>
        <p:spPr>
          <a:xfrm>
            <a:off x="4434840" y="4741343"/>
            <a:ext cx="9418319"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AgentDojo defences; AI Control protocols</a:t>
            </a:r>
          </a:p>
        </p:txBody>
      </p:sp>
      <p:sp>
        <p:nvSpPr>
          <p:cNvPr id="25" name="Rounded Rectangle 24"/>
          <p:cNvSpPr/>
          <p:nvPr/>
        </p:nvSpPr>
        <p:spPr>
          <a:xfrm>
            <a:off x="640080" y="5606838"/>
            <a:ext cx="13350240" cy="801602"/>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ody: B3 · proxy feedback"/>
          <p:cNvSpPr txBox="1"/>
          <p:nvPr/>
        </p:nvSpPr>
        <p:spPr>
          <a:xfrm>
            <a:off x="777240" y="5787866"/>
            <a:ext cx="3383280" cy="439547"/>
          </a:xfrm>
          <a:prstGeom prst="rect">
            <a:avLst/>
          </a:prstGeom>
          <a:noFill/>
        </p:spPr>
        <p:txBody>
          <a:bodyPr wrap="none" lIns="0" rIns="0" tIns="0" bIns="0" anchor="t">
            <a:noAutofit/>
          </a:bodyPr>
          <a:lstStyle/>
          <a:p>
            <a:pPr algn="l">
              <a:lnSpc>
                <a:spcPts val="2921"/>
              </a:lnSpc>
              <a:spcBef>
                <a:spcPts val="0"/>
              </a:spcBef>
              <a:spcAft>
                <a:spcPts val="0"/>
              </a:spcAft>
            </a:pPr>
            <a:r>
              <a:rPr sz="2300" b="1">
                <a:solidFill>
                  <a:srgbClr val="4E7892"/>
                </a:solidFill>
                <a:latin typeface="Trebuchet MS"/>
              </a:rPr>
              <a:t>B3 · proxy feedback</a:t>
            </a:r>
          </a:p>
        </p:txBody>
      </p:sp>
      <p:sp>
        <p:nvSpPr>
          <p:cNvPr id="27" name="body: utility + transcript judge"/>
          <p:cNvSpPr txBox="1"/>
          <p:nvPr/>
        </p:nvSpPr>
        <p:spPr>
          <a:xfrm>
            <a:off x="4434840" y="5787866"/>
            <a:ext cx="9418319"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utility + transcript judge</a:t>
            </a:r>
          </a:p>
        </p:txBody>
      </p:sp>
      <p:sp>
        <p:nvSpPr>
          <p:cNvPr id="28" name="Rounded Rectangle 27"/>
          <p:cNvSpPr/>
          <p:nvPr/>
        </p:nvSpPr>
        <p:spPr>
          <a:xfrm>
            <a:off x="640080" y="6467877"/>
            <a:ext cx="13350240" cy="801602"/>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B4 · incident feedback"/>
          <p:cNvSpPr txBox="1"/>
          <p:nvPr/>
        </p:nvSpPr>
        <p:spPr>
          <a:xfrm>
            <a:off x="777240" y="6648905"/>
            <a:ext cx="3383280" cy="439547"/>
          </a:xfrm>
          <a:prstGeom prst="rect">
            <a:avLst/>
          </a:prstGeom>
          <a:noFill/>
        </p:spPr>
        <p:txBody>
          <a:bodyPr wrap="none" lIns="0" rIns="0" tIns="0" bIns="0" anchor="t">
            <a:noAutofit/>
          </a:bodyPr>
          <a:lstStyle/>
          <a:p>
            <a:pPr algn="l">
              <a:lnSpc>
                <a:spcPts val="2921"/>
              </a:lnSpc>
              <a:spcBef>
                <a:spcPts val="0"/>
              </a:spcBef>
              <a:spcAft>
                <a:spcPts val="0"/>
              </a:spcAft>
            </a:pPr>
            <a:r>
              <a:rPr sz="2300" b="1">
                <a:solidFill>
                  <a:srgbClr val="4E7892"/>
                </a:solidFill>
                <a:latin typeface="Trebuchet MS"/>
              </a:rPr>
              <a:t>B4 · incident feedback</a:t>
            </a:r>
          </a:p>
        </p:txBody>
      </p:sp>
      <p:sp>
        <p:nvSpPr>
          <p:cNvPr id="30" name="body: utility + verified effects ← primary contrast: B4 vs B3"/>
          <p:cNvSpPr txBox="1"/>
          <p:nvPr/>
        </p:nvSpPr>
        <p:spPr>
          <a:xfrm>
            <a:off x="4434840" y="6648905"/>
            <a:ext cx="9418319" cy="439547"/>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utility + verified effects ← primary contrast: B4 vs B3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4 · COMPONENT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4 · COMPONENTS</a:t>
            </a:r>
          </a:p>
        </p:txBody>
      </p:sp>
      <p:sp>
        <p:nvSpPr>
          <p:cNvPr id="3" name="title: Component 6 · The action monitor"/>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Component 6 · The action monitor</a:t>
            </a:r>
          </a:p>
        </p:txBody>
      </p:sp>
      <p:sp>
        <p:nvSpPr>
          <p:cNvPr id="4" name="subtitle: The library at runtime, as an Inspect tool-call approver"/>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The library at runtime, as an Inspect tool-call approver</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24"/>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24</a:t>
            </a:r>
          </a:p>
        </p:txBody>
      </p:sp>
      <p:sp>
        <p:nvSpPr>
          <p:cNvPr id="12" name="Oval 11"/>
          <p:cNvSpPr/>
          <p:nvPr/>
        </p:nvSpPr>
        <p:spPr>
          <a:xfrm>
            <a:off x="640080" y="1783080"/>
            <a:ext cx="2340864" cy="1307592"/>
          </a:xfrm>
          <a:prstGeom prst="ellipse">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51601" y="1787195"/>
            <a:ext cx="2327148" cy="1301923"/>
          </a:xfrm>
          <a:custGeom>
            <a:avLst/>
            <a:gdLst/>
            <a:ahLst/>
            <a:cxnLst/>
            <a:rect l="l" t="t" r="r" b="b"/>
            <a:pathLst>
              <a:path w="25450" h="14238">
                <a:moveTo>
                  <a:pt x="25236" y="7020"/>
                </a:moveTo>
                <a:lnTo>
                  <a:pt x="25317" y="7368"/>
                </a:lnTo>
                <a:lnTo>
                  <a:pt x="25406" y="7820"/>
                </a:lnTo>
                <a:lnTo>
                  <a:pt x="25319" y="8095"/>
                </a:lnTo>
                <a:lnTo>
                  <a:pt x="25047" y="8481"/>
                </a:lnTo>
                <a:lnTo>
                  <a:pt x="24818" y="9029"/>
                </a:lnTo>
                <a:lnTo>
                  <a:pt x="24624" y="9386"/>
                </a:lnTo>
                <a:lnTo>
                  <a:pt x="24524" y="9713"/>
                </a:lnTo>
                <a:lnTo>
                  <a:pt x="24376" y="10002"/>
                </a:lnTo>
                <a:lnTo>
                  <a:pt x="24013" y="10280"/>
                </a:lnTo>
                <a:lnTo>
                  <a:pt x="23777" y="10717"/>
                </a:lnTo>
                <a:lnTo>
                  <a:pt x="23268" y="10885"/>
                </a:lnTo>
                <a:lnTo>
                  <a:pt x="22894" y="11338"/>
                </a:lnTo>
                <a:lnTo>
                  <a:pt x="22620" y="11520"/>
                </a:lnTo>
                <a:lnTo>
                  <a:pt x="22091" y="11807"/>
                </a:lnTo>
                <a:lnTo>
                  <a:pt x="21739" y="12172"/>
                </a:lnTo>
                <a:lnTo>
                  <a:pt x="21199" y="12229"/>
                </a:lnTo>
                <a:lnTo>
                  <a:pt x="20688" y="12508"/>
                </a:lnTo>
                <a:lnTo>
                  <a:pt x="20236" y="12746"/>
                </a:lnTo>
                <a:lnTo>
                  <a:pt x="19585" y="12943"/>
                </a:lnTo>
                <a:lnTo>
                  <a:pt x="18886" y="13153"/>
                </a:lnTo>
                <a:lnTo>
                  <a:pt x="18554" y="13452"/>
                </a:lnTo>
                <a:lnTo>
                  <a:pt x="17743" y="13422"/>
                </a:lnTo>
                <a:lnTo>
                  <a:pt x="17193" y="13765"/>
                </a:lnTo>
                <a:lnTo>
                  <a:pt x="16721" y="13673"/>
                </a:lnTo>
                <a:lnTo>
                  <a:pt x="16008" y="13869"/>
                </a:lnTo>
                <a:lnTo>
                  <a:pt x="15235" y="13978"/>
                </a:lnTo>
                <a:lnTo>
                  <a:pt x="14611" y="14158"/>
                </a:lnTo>
                <a:lnTo>
                  <a:pt x="14022" y="14182"/>
                </a:lnTo>
                <a:lnTo>
                  <a:pt x="13289" y="14238"/>
                </a:lnTo>
                <a:lnTo>
                  <a:pt x="12688" y="14148"/>
                </a:lnTo>
                <a:lnTo>
                  <a:pt x="11929" y="14238"/>
                </a:lnTo>
                <a:lnTo>
                  <a:pt x="11277" y="14030"/>
                </a:lnTo>
                <a:lnTo>
                  <a:pt x="10780" y="14044"/>
                </a:lnTo>
                <a:lnTo>
                  <a:pt x="10137" y="13906"/>
                </a:lnTo>
                <a:lnTo>
                  <a:pt x="9410" y="13884"/>
                </a:lnTo>
                <a:lnTo>
                  <a:pt x="8796" y="13701"/>
                </a:lnTo>
                <a:lnTo>
                  <a:pt x="8119" y="13780"/>
                </a:lnTo>
                <a:lnTo>
                  <a:pt x="7452" y="13627"/>
                </a:lnTo>
                <a:lnTo>
                  <a:pt x="6924" y="13347"/>
                </a:lnTo>
                <a:lnTo>
                  <a:pt x="6426" y="13248"/>
                </a:lnTo>
                <a:lnTo>
                  <a:pt x="5786" y="13054"/>
                </a:lnTo>
                <a:lnTo>
                  <a:pt x="5231" y="12791"/>
                </a:lnTo>
                <a:lnTo>
                  <a:pt x="4722" y="12467"/>
                </a:lnTo>
                <a:lnTo>
                  <a:pt x="4097" y="12419"/>
                </a:lnTo>
                <a:lnTo>
                  <a:pt x="3623" y="12190"/>
                </a:lnTo>
                <a:lnTo>
                  <a:pt x="3228" y="11867"/>
                </a:lnTo>
                <a:lnTo>
                  <a:pt x="2825" y="11511"/>
                </a:lnTo>
                <a:lnTo>
                  <a:pt x="2306" y="11300"/>
                </a:lnTo>
                <a:lnTo>
                  <a:pt x="2099" y="10878"/>
                </a:lnTo>
                <a:lnTo>
                  <a:pt x="1724" y="10684"/>
                </a:lnTo>
                <a:lnTo>
                  <a:pt x="1263" y="10185"/>
                </a:lnTo>
                <a:lnTo>
                  <a:pt x="1099" y="10054"/>
                </a:lnTo>
                <a:lnTo>
                  <a:pt x="901" y="9588"/>
                </a:lnTo>
                <a:lnTo>
                  <a:pt x="698" y="9178"/>
                </a:lnTo>
                <a:lnTo>
                  <a:pt x="472" y="9007"/>
                </a:lnTo>
                <a:lnTo>
                  <a:pt x="146" y="8515"/>
                </a:lnTo>
                <a:lnTo>
                  <a:pt x="102" y="8101"/>
                </a:lnTo>
                <a:lnTo>
                  <a:pt x="70" y="7934"/>
                </a:lnTo>
                <a:lnTo>
                  <a:pt x="44" y="7433"/>
                </a:lnTo>
                <a:lnTo>
                  <a:pt x="68" y="7053"/>
                </a:lnTo>
                <a:lnTo>
                  <a:pt x="0" y="6851"/>
                </a:lnTo>
                <a:lnTo>
                  <a:pt x="31" y="6290"/>
                </a:lnTo>
                <a:lnTo>
                  <a:pt x="178" y="6090"/>
                </a:lnTo>
                <a:lnTo>
                  <a:pt x="237" y="5622"/>
                </a:lnTo>
                <a:lnTo>
                  <a:pt x="501" y="5395"/>
                </a:lnTo>
                <a:lnTo>
                  <a:pt x="563" y="4912"/>
                </a:lnTo>
                <a:lnTo>
                  <a:pt x="757" y="4643"/>
                </a:lnTo>
                <a:lnTo>
                  <a:pt x="1219" y="4139"/>
                </a:lnTo>
                <a:lnTo>
                  <a:pt x="1346" y="3846"/>
                </a:lnTo>
                <a:lnTo>
                  <a:pt x="1633" y="3612"/>
                </a:lnTo>
                <a:lnTo>
                  <a:pt x="2114" y="3351"/>
                </a:lnTo>
                <a:lnTo>
                  <a:pt x="2484" y="2866"/>
                </a:lnTo>
                <a:lnTo>
                  <a:pt x="2726" y="2727"/>
                </a:lnTo>
                <a:lnTo>
                  <a:pt x="3267" y="2381"/>
                </a:lnTo>
                <a:lnTo>
                  <a:pt x="3764" y="2212"/>
                </a:lnTo>
                <a:lnTo>
                  <a:pt x="4104" y="1894"/>
                </a:lnTo>
                <a:lnTo>
                  <a:pt x="4696" y="1742"/>
                </a:lnTo>
                <a:lnTo>
                  <a:pt x="5136" y="1337"/>
                </a:lnTo>
                <a:lnTo>
                  <a:pt x="5796" y="1115"/>
                </a:lnTo>
                <a:lnTo>
                  <a:pt x="6371" y="1055"/>
                </a:lnTo>
                <a:lnTo>
                  <a:pt x="6802" y="893"/>
                </a:lnTo>
                <a:lnTo>
                  <a:pt x="7568" y="576"/>
                </a:lnTo>
                <a:lnTo>
                  <a:pt x="8057" y="574"/>
                </a:lnTo>
                <a:lnTo>
                  <a:pt x="8762" y="435"/>
                </a:lnTo>
                <a:lnTo>
                  <a:pt x="9302" y="269"/>
                </a:lnTo>
                <a:lnTo>
                  <a:pt x="9910" y="297"/>
                </a:lnTo>
                <a:lnTo>
                  <a:pt x="10755" y="67"/>
                </a:lnTo>
                <a:lnTo>
                  <a:pt x="11474" y="0"/>
                </a:lnTo>
                <a:lnTo>
                  <a:pt x="12126" y="200"/>
                </a:lnTo>
                <a:lnTo>
                  <a:pt x="12581" y="20"/>
                </a:lnTo>
                <a:lnTo>
                  <a:pt x="13452" y="29"/>
                </a:lnTo>
                <a:lnTo>
                  <a:pt x="13915" y="66"/>
                </a:lnTo>
                <a:lnTo>
                  <a:pt x="14597" y="75"/>
                </a:lnTo>
                <a:lnTo>
                  <a:pt x="15261" y="346"/>
                </a:lnTo>
                <a:lnTo>
                  <a:pt x="16032" y="257"/>
                </a:lnTo>
                <a:lnTo>
                  <a:pt x="16494" y="436"/>
                </a:lnTo>
                <a:lnTo>
                  <a:pt x="17101" y="429"/>
                </a:lnTo>
                <a:lnTo>
                  <a:pt x="17879" y="627"/>
                </a:lnTo>
                <a:lnTo>
                  <a:pt x="18539" y="853"/>
                </a:lnTo>
                <a:lnTo>
                  <a:pt x="18980" y="1071"/>
                </a:lnTo>
                <a:lnTo>
                  <a:pt x="19531" y="1225"/>
                </a:lnTo>
                <a:lnTo>
                  <a:pt x="20120" y="1426"/>
                </a:lnTo>
                <a:lnTo>
                  <a:pt x="20668" y="1657"/>
                </a:lnTo>
                <a:lnTo>
                  <a:pt x="21250" y="1945"/>
                </a:lnTo>
                <a:lnTo>
                  <a:pt x="21674" y="2224"/>
                </a:lnTo>
                <a:lnTo>
                  <a:pt x="22076" y="2296"/>
                </a:lnTo>
                <a:lnTo>
                  <a:pt x="22544" y="2776"/>
                </a:lnTo>
                <a:lnTo>
                  <a:pt x="22987" y="2957"/>
                </a:lnTo>
                <a:lnTo>
                  <a:pt x="23385" y="3207"/>
                </a:lnTo>
                <a:lnTo>
                  <a:pt x="23536" y="3661"/>
                </a:lnTo>
                <a:lnTo>
                  <a:pt x="24023" y="3976"/>
                </a:lnTo>
                <a:lnTo>
                  <a:pt x="24166" y="4203"/>
                </a:lnTo>
                <a:lnTo>
                  <a:pt x="24563" y="4585"/>
                </a:lnTo>
                <a:lnTo>
                  <a:pt x="24634" y="5001"/>
                </a:lnTo>
                <a:lnTo>
                  <a:pt x="24864" y="5170"/>
                </a:lnTo>
                <a:lnTo>
                  <a:pt x="25137" y="5544"/>
                </a:lnTo>
                <a:lnTo>
                  <a:pt x="25289" y="6012"/>
                </a:lnTo>
                <a:lnTo>
                  <a:pt x="25206" y="6378"/>
                </a:lnTo>
                <a:lnTo>
                  <a:pt x="25450" y="6635"/>
                </a:lnTo>
                <a:lnTo>
                  <a:pt x="25313" y="7164"/>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41452" y="1792315"/>
            <a:ext cx="2324222" cy="1297076"/>
          </a:xfrm>
          <a:custGeom>
            <a:avLst/>
            <a:gdLst/>
            <a:ahLst/>
            <a:cxnLst/>
            <a:rect l="l" t="t" r="r" b="b"/>
            <a:pathLst>
              <a:path w="25418" h="14185">
                <a:moveTo>
                  <a:pt x="25351" y="7106"/>
                </a:moveTo>
                <a:lnTo>
                  <a:pt x="25372" y="7443"/>
                </a:lnTo>
                <a:lnTo>
                  <a:pt x="25381" y="7730"/>
                </a:lnTo>
                <a:lnTo>
                  <a:pt x="25418" y="8073"/>
                </a:lnTo>
                <a:lnTo>
                  <a:pt x="25064" y="8543"/>
                </a:lnTo>
                <a:lnTo>
                  <a:pt x="25073" y="8821"/>
                </a:lnTo>
                <a:lnTo>
                  <a:pt x="24821" y="9149"/>
                </a:lnTo>
                <a:lnTo>
                  <a:pt x="24512" y="9553"/>
                </a:lnTo>
                <a:lnTo>
                  <a:pt x="24402" y="9924"/>
                </a:lnTo>
                <a:lnTo>
                  <a:pt x="24055" y="10158"/>
                </a:lnTo>
                <a:lnTo>
                  <a:pt x="23801" y="10494"/>
                </a:lnTo>
                <a:lnTo>
                  <a:pt x="23310" y="10759"/>
                </a:lnTo>
                <a:lnTo>
                  <a:pt x="23061" y="11094"/>
                </a:lnTo>
                <a:lnTo>
                  <a:pt x="22764" y="11506"/>
                </a:lnTo>
                <a:lnTo>
                  <a:pt x="22212" y="11748"/>
                </a:lnTo>
                <a:lnTo>
                  <a:pt x="21834" y="12126"/>
                </a:lnTo>
                <a:lnTo>
                  <a:pt x="21333" y="12383"/>
                </a:lnTo>
                <a:lnTo>
                  <a:pt x="20850" y="12439"/>
                </a:lnTo>
                <a:lnTo>
                  <a:pt x="20151" y="12798"/>
                </a:lnTo>
                <a:lnTo>
                  <a:pt x="19647" y="12986"/>
                </a:lnTo>
                <a:lnTo>
                  <a:pt x="19191" y="13152"/>
                </a:lnTo>
                <a:lnTo>
                  <a:pt x="18496" y="13422"/>
                </a:lnTo>
                <a:lnTo>
                  <a:pt x="18057" y="13471"/>
                </a:lnTo>
                <a:lnTo>
                  <a:pt x="17335" y="13504"/>
                </a:lnTo>
                <a:lnTo>
                  <a:pt x="16810" y="13725"/>
                </a:lnTo>
                <a:lnTo>
                  <a:pt x="15999" y="13922"/>
                </a:lnTo>
                <a:lnTo>
                  <a:pt x="15405" y="14039"/>
                </a:lnTo>
                <a:lnTo>
                  <a:pt x="14770" y="13992"/>
                </a:lnTo>
                <a:lnTo>
                  <a:pt x="14067" y="14044"/>
                </a:lnTo>
                <a:lnTo>
                  <a:pt x="13454" y="14159"/>
                </a:lnTo>
                <a:lnTo>
                  <a:pt x="12703" y="14185"/>
                </a:lnTo>
                <a:lnTo>
                  <a:pt x="12096" y="14136"/>
                </a:lnTo>
                <a:lnTo>
                  <a:pt x="11553" y="14157"/>
                </a:lnTo>
                <a:lnTo>
                  <a:pt x="10798" y="13989"/>
                </a:lnTo>
                <a:lnTo>
                  <a:pt x="10122" y="13912"/>
                </a:lnTo>
                <a:lnTo>
                  <a:pt x="9574" y="13906"/>
                </a:lnTo>
                <a:lnTo>
                  <a:pt x="8760" y="13788"/>
                </a:lnTo>
                <a:lnTo>
                  <a:pt x="8235" y="13509"/>
                </a:lnTo>
                <a:lnTo>
                  <a:pt x="7587" y="13370"/>
                </a:lnTo>
                <a:lnTo>
                  <a:pt x="7043" y="13372"/>
                </a:lnTo>
                <a:lnTo>
                  <a:pt x="6359" y="13105"/>
                </a:lnTo>
                <a:lnTo>
                  <a:pt x="5880" y="13063"/>
                </a:lnTo>
                <a:lnTo>
                  <a:pt x="5210" y="12835"/>
                </a:lnTo>
                <a:lnTo>
                  <a:pt x="4787" y="12441"/>
                </a:lnTo>
                <a:lnTo>
                  <a:pt x="4351" y="12162"/>
                </a:lnTo>
                <a:lnTo>
                  <a:pt x="3946" y="12103"/>
                </a:lnTo>
                <a:lnTo>
                  <a:pt x="3244" y="11843"/>
                </a:lnTo>
                <a:lnTo>
                  <a:pt x="2990" y="11379"/>
                </a:lnTo>
                <a:lnTo>
                  <a:pt x="2459" y="11087"/>
                </a:lnTo>
                <a:lnTo>
                  <a:pt x="2075" y="10890"/>
                </a:lnTo>
                <a:lnTo>
                  <a:pt x="1728" y="10570"/>
                </a:lnTo>
                <a:lnTo>
                  <a:pt x="1556" y="10169"/>
                </a:lnTo>
                <a:lnTo>
                  <a:pt x="1143" y="10011"/>
                </a:lnTo>
                <a:lnTo>
                  <a:pt x="830" y="9681"/>
                </a:lnTo>
                <a:lnTo>
                  <a:pt x="799" y="9178"/>
                </a:lnTo>
                <a:lnTo>
                  <a:pt x="666" y="8888"/>
                </a:lnTo>
                <a:lnTo>
                  <a:pt x="488" y="8445"/>
                </a:lnTo>
                <a:lnTo>
                  <a:pt x="387" y="8133"/>
                </a:lnTo>
                <a:lnTo>
                  <a:pt x="198" y="7784"/>
                </a:lnTo>
                <a:lnTo>
                  <a:pt x="9" y="7514"/>
                </a:lnTo>
                <a:lnTo>
                  <a:pt x="127" y="7157"/>
                </a:lnTo>
                <a:lnTo>
                  <a:pt x="0" y="6689"/>
                </a:lnTo>
                <a:lnTo>
                  <a:pt x="156" y="6404"/>
                </a:lnTo>
                <a:lnTo>
                  <a:pt x="384" y="5929"/>
                </a:lnTo>
                <a:lnTo>
                  <a:pt x="509" y="5490"/>
                </a:lnTo>
                <a:lnTo>
                  <a:pt x="646" y="5160"/>
                </a:lnTo>
                <a:lnTo>
                  <a:pt x="801" y="4975"/>
                </a:lnTo>
                <a:lnTo>
                  <a:pt x="912" y="4461"/>
                </a:lnTo>
                <a:lnTo>
                  <a:pt x="1235" y="4133"/>
                </a:lnTo>
                <a:lnTo>
                  <a:pt x="1609" y="3762"/>
                </a:lnTo>
                <a:lnTo>
                  <a:pt x="1779" y="3505"/>
                </a:lnTo>
                <a:lnTo>
                  <a:pt x="2067" y="3207"/>
                </a:lnTo>
                <a:lnTo>
                  <a:pt x="2420" y="3000"/>
                </a:lnTo>
                <a:lnTo>
                  <a:pt x="2854" y="2741"/>
                </a:lnTo>
                <a:lnTo>
                  <a:pt x="3441" y="2389"/>
                </a:lnTo>
                <a:lnTo>
                  <a:pt x="3743" y="2192"/>
                </a:lnTo>
                <a:lnTo>
                  <a:pt x="4213" y="1852"/>
                </a:lnTo>
                <a:lnTo>
                  <a:pt x="4898" y="1700"/>
                </a:lnTo>
                <a:lnTo>
                  <a:pt x="5438" y="1387"/>
                </a:lnTo>
                <a:lnTo>
                  <a:pt x="5943" y="1271"/>
                </a:lnTo>
                <a:lnTo>
                  <a:pt x="6448" y="937"/>
                </a:lnTo>
                <a:lnTo>
                  <a:pt x="6993" y="681"/>
                </a:lnTo>
                <a:lnTo>
                  <a:pt x="7618" y="727"/>
                </a:lnTo>
                <a:lnTo>
                  <a:pt x="8215" y="400"/>
                </a:lnTo>
                <a:lnTo>
                  <a:pt x="8870" y="285"/>
                </a:lnTo>
                <a:lnTo>
                  <a:pt x="9407" y="340"/>
                </a:lnTo>
                <a:lnTo>
                  <a:pt x="10044" y="289"/>
                </a:lnTo>
                <a:lnTo>
                  <a:pt x="10788" y="57"/>
                </a:lnTo>
                <a:lnTo>
                  <a:pt x="11512" y="25"/>
                </a:lnTo>
                <a:lnTo>
                  <a:pt x="12131" y="0"/>
                </a:lnTo>
                <a:lnTo>
                  <a:pt x="12849" y="109"/>
                </a:lnTo>
                <a:lnTo>
                  <a:pt x="13369" y="86"/>
                </a:lnTo>
                <a:lnTo>
                  <a:pt x="14162" y="10"/>
                </a:lnTo>
                <a:lnTo>
                  <a:pt x="14790" y="199"/>
                </a:lnTo>
                <a:lnTo>
                  <a:pt x="15481" y="223"/>
                </a:lnTo>
                <a:lnTo>
                  <a:pt x="16107" y="289"/>
                </a:lnTo>
                <a:lnTo>
                  <a:pt x="16593" y="250"/>
                </a:lnTo>
                <a:lnTo>
                  <a:pt x="17362" y="368"/>
                </a:lnTo>
                <a:lnTo>
                  <a:pt x="17897" y="538"/>
                </a:lnTo>
                <a:lnTo>
                  <a:pt x="18638" y="822"/>
                </a:lnTo>
                <a:lnTo>
                  <a:pt x="19155" y="867"/>
                </a:lnTo>
                <a:lnTo>
                  <a:pt x="19649" y="1083"/>
                </a:lnTo>
                <a:lnTo>
                  <a:pt x="20200" y="1430"/>
                </a:lnTo>
                <a:lnTo>
                  <a:pt x="20767" y="1477"/>
                </a:lnTo>
                <a:lnTo>
                  <a:pt x="21288" y="1865"/>
                </a:lnTo>
                <a:lnTo>
                  <a:pt x="21658" y="1966"/>
                </a:lnTo>
                <a:lnTo>
                  <a:pt x="22329" y="2334"/>
                </a:lnTo>
                <a:lnTo>
                  <a:pt x="22616" y="2698"/>
                </a:lnTo>
                <a:lnTo>
                  <a:pt x="23036" y="2857"/>
                </a:lnTo>
                <a:lnTo>
                  <a:pt x="23372" y="3146"/>
                </a:lnTo>
                <a:lnTo>
                  <a:pt x="23686" y="3428"/>
                </a:lnTo>
                <a:lnTo>
                  <a:pt x="24140" y="3837"/>
                </a:lnTo>
                <a:lnTo>
                  <a:pt x="24290" y="4214"/>
                </a:lnTo>
                <a:lnTo>
                  <a:pt x="24534" y="4527"/>
                </a:lnTo>
                <a:lnTo>
                  <a:pt x="24895" y="4901"/>
                </a:lnTo>
                <a:lnTo>
                  <a:pt x="25041" y="5333"/>
                </a:lnTo>
                <a:lnTo>
                  <a:pt x="25215" y="5595"/>
                </a:lnTo>
                <a:lnTo>
                  <a:pt x="25281" y="6046"/>
                </a:lnTo>
                <a:lnTo>
                  <a:pt x="25291" y="6228"/>
                </a:lnTo>
                <a:lnTo>
                  <a:pt x="25398" y="6595"/>
                </a:lnTo>
                <a:lnTo>
                  <a:pt x="25368" y="6942"/>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869753" y="2570561"/>
            <a:ext cx="74889" cy="127742"/>
          </a:xfrm>
          <a:custGeom>
            <a:avLst/>
            <a:gdLst/>
            <a:ahLst/>
            <a:cxnLst/>
            <a:rect l="l" t="t" r="r" b="b"/>
            <a:pathLst>
              <a:path w="819" h="1397">
                <a:moveTo>
                  <a:pt x="819" y="0"/>
                </a:moveTo>
                <a:lnTo>
                  <a:pt x="664" y="357"/>
                </a:lnTo>
                <a:lnTo>
                  <a:pt x="475" y="710"/>
                </a:lnTo>
                <a:lnTo>
                  <a:pt x="254" y="1057"/>
                </a:lnTo>
                <a:lnTo>
                  <a:pt x="0" y="139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226015" y="2976006"/>
            <a:ext cx="215981" cy="60990"/>
          </a:xfrm>
          <a:custGeom>
            <a:avLst/>
            <a:gdLst/>
            <a:ahLst/>
            <a:cxnLst/>
            <a:rect l="l" t="t" r="r" b="b"/>
            <a:pathLst>
              <a:path w="2362" h="667">
                <a:moveTo>
                  <a:pt x="2362" y="0"/>
                </a:moveTo>
                <a:lnTo>
                  <a:pt x="1796" y="192"/>
                </a:lnTo>
                <a:lnTo>
                  <a:pt x="1213" y="368"/>
                </a:lnTo>
                <a:lnTo>
                  <a:pt x="613" y="526"/>
                </a:lnTo>
                <a:lnTo>
                  <a:pt x="0" y="66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338956" y="3024104"/>
            <a:ext cx="230520" cy="41514"/>
          </a:xfrm>
          <a:custGeom>
            <a:avLst/>
            <a:gdLst/>
            <a:ahLst/>
            <a:cxnLst/>
            <a:rect l="l" t="t" r="r" b="b"/>
            <a:pathLst>
              <a:path w="2521" h="454">
                <a:moveTo>
                  <a:pt x="2521" y="454"/>
                </a:moveTo>
                <a:lnTo>
                  <a:pt x="1875" y="368"/>
                </a:lnTo>
                <a:lnTo>
                  <a:pt x="1239" y="264"/>
                </a:lnTo>
                <a:lnTo>
                  <a:pt x="613" y="141"/>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28045" y="2667213"/>
            <a:ext cx="110094" cy="119786"/>
          </a:xfrm>
          <a:custGeom>
            <a:avLst/>
            <a:gdLst/>
            <a:ahLst/>
            <a:cxnLst/>
            <a:rect l="l" t="t" r="r" b="b"/>
            <a:pathLst>
              <a:path w="1204" h="1310">
                <a:moveTo>
                  <a:pt x="1204" y="1310"/>
                </a:moveTo>
                <a:lnTo>
                  <a:pt x="857" y="996"/>
                </a:lnTo>
                <a:lnTo>
                  <a:pt x="540" y="673"/>
                </a:lnTo>
                <a:lnTo>
                  <a:pt x="254" y="340"/>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76382" y="2175449"/>
            <a:ext cx="74889" cy="127742"/>
          </a:xfrm>
          <a:custGeom>
            <a:avLst/>
            <a:gdLst/>
            <a:ahLst/>
            <a:cxnLst/>
            <a:rect l="l" t="t" r="r" b="b"/>
            <a:pathLst>
              <a:path w="819" h="1397">
                <a:moveTo>
                  <a:pt x="0" y="1397"/>
                </a:moveTo>
                <a:lnTo>
                  <a:pt x="155" y="1040"/>
                </a:lnTo>
                <a:lnTo>
                  <a:pt x="344" y="687"/>
                </a:lnTo>
                <a:lnTo>
                  <a:pt x="565" y="340"/>
                </a:lnTo>
                <a:lnTo>
                  <a:pt x="81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179027" y="1836755"/>
            <a:ext cx="215981" cy="60990"/>
          </a:xfrm>
          <a:custGeom>
            <a:avLst/>
            <a:gdLst/>
            <a:ahLst/>
            <a:cxnLst/>
            <a:rect l="l" t="t" r="r" b="b"/>
            <a:pathLst>
              <a:path w="2362" h="667">
                <a:moveTo>
                  <a:pt x="0" y="667"/>
                </a:moveTo>
                <a:lnTo>
                  <a:pt x="566" y="475"/>
                </a:lnTo>
                <a:lnTo>
                  <a:pt x="1149" y="299"/>
                </a:lnTo>
                <a:lnTo>
                  <a:pt x="1749" y="141"/>
                </a:lnTo>
                <a:lnTo>
                  <a:pt x="2362"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1548" y="1808135"/>
            <a:ext cx="230520" cy="41514"/>
          </a:xfrm>
          <a:custGeom>
            <a:avLst/>
            <a:gdLst/>
            <a:ahLst/>
            <a:cxnLst/>
            <a:rect l="l" t="t" r="r" b="b"/>
            <a:pathLst>
              <a:path w="2521" h="454">
                <a:moveTo>
                  <a:pt x="0" y="0"/>
                </a:moveTo>
                <a:lnTo>
                  <a:pt x="646" y="86"/>
                </a:lnTo>
                <a:lnTo>
                  <a:pt x="1282" y="190"/>
                </a:lnTo>
                <a:lnTo>
                  <a:pt x="1908" y="313"/>
                </a:lnTo>
                <a:lnTo>
                  <a:pt x="2521" y="45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782885" y="2086752"/>
            <a:ext cx="110094" cy="119786"/>
          </a:xfrm>
          <a:custGeom>
            <a:avLst/>
            <a:gdLst/>
            <a:ahLst/>
            <a:cxnLst/>
            <a:rect l="l" t="t" r="r" b="b"/>
            <a:pathLst>
              <a:path w="1204" h="1310">
                <a:moveTo>
                  <a:pt x="0" y="0"/>
                </a:moveTo>
                <a:lnTo>
                  <a:pt x="347" y="314"/>
                </a:lnTo>
                <a:lnTo>
                  <a:pt x="664" y="637"/>
                </a:lnTo>
                <a:lnTo>
                  <a:pt x="950" y="970"/>
                </a:lnTo>
                <a:lnTo>
                  <a:pt x="1204" y="131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Tool call"/>
          <p:cNvSpPr txBox="1"/>
          <p:nvPr/>
        </p:nvSpPr>
        <p:spPr>
          <a:xfrm>
            <a:off x="896112" y="2239676"/>
            <a:ext cx="182880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Tool call</a:t>
            </a:r>
          </a:p>
        </p:txBody>
      </p:sp>
      <p:sp>
        <p:nvSpPr>
          <p:cNvPr id="24" name="Freeform 23"/>
          <p:cNvSpPr/>
          <p:nvPr/>
        </p:nvSpPr>
        <p:spPr>
          <a:xfrm>
            <a:off x="3054096" y="2420417"/>
            <a:ext cx="228600" cy="11887"/>
          </a:xfrm>
          <a:custGeom>
            <a:avLst/>
            <a:gdLst/>
            <a:ahLst/>
            <a:cxnLst/>
            <a:rect l="l" t="t" r="r" b="b"/>
            <a:pathLst>
              <a:path w="2500" h="130">
                <a:moveTo>
                  <a:pt x="0" y="130"/>
                </a:moveTo>
                <a:lnTo>
                  <a:pt x="1250" y="0"/>
                </a:lnTo>
                <a:lnTo>
                  <a:pt x="2500" y="13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3200857" y="2432304"/>
            <a:ext cx="81839" cy="50201"/>
          </a:xfrm>
          <a:custGeom>
            <a:avLst/>
            <a:gdLst/>
            <a:ahLst/>
            <a:cxnLst/>
            <a:rect l="l" t="t" r="r" b="b"/>
            <a:pathLst>
              <a:path w="895" h="549">
                <a:moveTo>
                  <a:pt x="0" y="549"/>
                </a:moveTo>
                <a:lnTo>
                  <a:pt x="895" y="0"/>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3200857" y="2382103"/>
            <a:ext cx="81839" cy="50201"/>
          </a:xfrm>
          <a:custGeom>
            <a:avLst/>
            <a:gdLst/>
            <a:ahLst/>
            <a:cxnLst/>
            <a:rect l="l" t="t" r="r" b="b"/>
            <a:pathLst>
              <a:path w="895" h="549">
                <a:moveTo>
                  <a:pt x="0" y="0"/>
                </a:moveTo>
                <a:lnTo>
                  <a:pt x="895" y="549"/>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392424" y="1783080"/>
            <a:ext cx="2340864" cy="1307592"/>
          </a:xfrm>
          <a:prstGeom prst="ellipse">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3393156" y="1786098"/>
            <a:ext cx="2331720" cy="1295613"/>
          </a:xfrm>
          <a:custGeom>
            <a:avLst/>
            <a:gdLst/>
            <a:ahLst/>
            <a:cxnLst/>
            <a:rect l="l" t="t" r="r" b="b"/>
            <a:pathLst>
              <a:path w="25500" h="14169">
                <a:moveTo>
                  <a:pt x="25489" y="7056"/>
                </a:moveTo>
                <a:lnTo>
                  <a:pt x="25418" y="7440"/>
                </a:lnTo>
                <a:lnTo>
                  <a:pt x="25500" y="7817"/>
                </a:lnTo>
                <a:lnTo>
                  <a:pt x="25376" y="8235"/>
                </a:lnTo>
                <a:lnTo>
                  <a:pt x="25131" y="8571"/>
                </a:lnTo>
                <a:lnTo>
                  <a:pt x="25150" y="8999"/>
                </a:lnTo>
                <a:lnTo>
                  <a:pt x="24821" y="9200"/>
                </a:lnTo>
                <a:lnTo>
                  <a:pt x="24735" y="9527"/>
                </a:lnTo>
                <a:lnTo>
                  <a:pt x="24369" y="10026"/>
                </a:lnTo>
                <a:lnTo>
                  <a:pt x="23968" y="10227"/>
                </a:lnTo>
                <a:lnTo>
                  <a:pt x="23844" y="10718"/>
                </a:lnTo>
                <a:lnTo>
                  <a:pt x="23344" y="11019"/>
                </a:lnTo>
                <a:lnTo>
                  <a:pt x="23082" y="11237"/>
                </a:lnTo>
                <a:lnTo>
                  <a:pt x="22714" y="11579"/>
                </a:lnTo>
                <a:lnTo>
                  <a:pt x="22244" y="11701"/>
                </a:lnTo>
                <a:lnTo>
                  <a:pt x="21874" y="12174"/>
                </a:lnTo>
                <a:lnTo>
                  <a:pt x="21178" y="12459"/>
                </a:lnTo>
                <a:lnTo>
                  <a:pt x="20851" y="12700"/>
                </a:lnTo>
                <a:lnTo>
                  <a:pt x="20212" y="12883"/>
                </a:lnTo>
                <a:lnTo>
                  <a:pt x="19590" y="12904"/>
                </a:lnTo>
                <a:lnTo>
                  <a:pt x="19128" y="13251"/>
                </a:lnTo>
                <a:lnTo>
                  <a:pt x="18612" y="13306"/>
                </a:lnTo>
                <a:lnTo>
                  <a:pt x="17988" y="13521"/>
                </a:lnTo>
                <a:lnTo>
                  <a:pt x="17442" y="13598"/>
                </a:lnTo>
                <a:lnTo>
                  <a:pt x="16804" y="13919"/>
                </a:lnTo>
                <a:lnTo>
                  <a:pt x="16089" y="14004"/>
                </a:lnTo>
                <a:lnTo>
                  <a:pt x="15407" y="14066"/>
                </a:lnTo>
                <a:lnTo>
                  <a:pt x="14873" y="14121"/>
                </a:lnTo>
                <a:lnTo>
                  <a:pt x="14104" y="14078"/>
                </a:lnTo>
                <a:lnTo>
                  <a:pt x="13378" y="14039"/>
                </a:lnTo>
                <a:lnTo>
                  <a:pt x="12738" y="14169"/>
                </a:lnTo>
                <a:lnTo>
                  <a:pt x="12214" y="14137"/>
                </a:lnTo>
                <a:lnTo>
                  <a:pt x="11372" y="14169"/>
                </a:lnTo>
                <a:lnTo>
                  <a:pt x="10816" y="13973"/>
                </a:lnTo>
                <a:lnTo>
                  <a:pt x="10227" y="13962"/>
                </a:lnTo>
                <a:lnTo>
                  <a:pt x="9469" y="13976"/>
                </a:lnTo>
                <a:lnTo>
                  <a:pt x="8868" y="13907"/>
                </a:lnTo>
                <a:lnTo>
                  <a:pt x="8158" y="13664"/>
                </a:lnTo>
                <a:lnTo>
                  <a:pt x="7751" y="13645"/>
                </a:lnTo>
                <a:lnTo>
                  <a:pt x="7099" y="13446"/>
                </a:lnTo>
                <a:lnTo>
                  <a:pt x="6540" y="13126"/>
                </a:lnTo>
                <a:lnTo>
                  <a:pt x="5815" y="13041"/>
                </a:lnTo>
                <a:lnTo>
                  <a:pt x="5291" y="12735"/>
                </a:lnTo>
                <a:lnTo>
                  <a:pt x="4915" y="12553"/>
                </a:lnTo>
                <a:lnTo>
                  <a:pt x="4385" y="12344"/>
                </a:lnTo>
                <a:lnTo>
                  <a:pt x="3706" y="12015"/>
                </a:lnTo>
                <a:lnTo>
                  <a:pt x="3267" y="11898"/>
                </a:lnTo>
                <a:lnTo>
                  <a:pt x="2865" y="11553"/>
                </a:lnTo>
                <a:lnTo>
                  <a:pt x="2625" y="11205"/>
                </a:lnTo>
                <a:lnTo>
                  <a:pt x="2112" y="10887"/>
                </a:lnTo>
                <a:lnTo>
                  <a:pt x="1757" y="10533"/>
                </a:lnTo>
                <a:lnTo>
                  <a:pt x="1445" y="10271"/>
                </a:lnTo>
                <a:lnTo>
                  <a:pt x="1138" y="9857"/>
                </a:lnTo>
                <a:lnTo>
                  <a:pt x="1044" y="9718"/>
                </a:lnTo>
                <a:lnTo>
                  <a:pt x="633" y="9205"/>
                </a:lnTo>
                <a:lnTo>
                  <a:pt x="474" y="8965"/>
                </a:lnTo>
                <a:lnTo>
                  <a:pt x="401" y="8499"/>
                </a:lnTo>
                <a:lnTo>
                  <a:pt x="349" y="8127"/>
                </a:lnTo>
                <a:lnTo>
                  <a:pt x="232" y="7801"/>
                </a:lnTo>
                <a:lnTo>
                  <a:pt x="69" y="7436"/>
                </a:lnTo>
                <a:lnTo>
                  <a:pt x="170" y="7078"/>
                </a:lnTo>
                <a:lnTo>
                  <a:pt x="0" y="6770"/>
                </a:lnTo>
                <a:lnTo>
                  <a:pt x="168" y="6329"/>
                </a:lnTo>
                <a:lnTo>
                  <a:pt x="221" y="6066"/>
                </a:lnTo>
                <a:lnTo>
                  <a:pt x="280" y="5617"/>
                </a:lnTo>
                <a:lnTo>
                  <a:pt x="609" y="5194"/>
                </a:lnTo>
                <a:lnTo>
                  <a:pt x="674" y="4876"/>
                </a:lnTo>
                <a:lnTo>
                  <a:pt x="956" y="4547"/>
                </a:lnTo>
                <a:lnTo>
                  <a:pt x="1089" y="4328"/>
                </a:lnTo>
                <a:lnTo>
                  <a:pt x="1489" y="3936"/>
                </a:lnTo>
                <a:lnTo>
                  <a:pt x="1803" y="3600"/>
                </a:lnTo>
                <a:lnTo>
                  <a:pt x="2038" y="3208"/>
                </a:lnTo>
                <a:lnTo>
                  <a:pt x="2569" y="2967"/>
                </a:lnTo>
                <a:lnTo>
                  <a:pt x="3050" y="2741"/>
                </a:lnTo>
                <a:lnTo>
                  <a:pt x="3441" y="2366"/>
                </a:lnTo>
                <a:lnTo>
                  <a:pt x="3782" y="2151"/>
                </a:lnTo>
                <a:lnTo>
                  <a:pt x="4250" y="1847"/>
                </a:lnTo>
                <a:lnTo>
                  <a:pt x="4927" y="1656"/>
                </a:lnTo>
                <a:lnTo>
                  <a:pt x="5432" y="1334"/>
                </a:lnTo>
                <a:lnTo>
                  <a:pt x="5779" y="1263"/>
                </a:lnTo>
                <a:lnTo>
                  <a:pt x="6554" y="990"/>
                </a:lnTo>
                <a:lnTo>
                  <a:pt x="7026" y="956"/>
                </a:lnTo>
                <a:lnTo>
                  <a:pt x="7699" y="771"/>
                </a:lnTo>
                <a:lnTo>
                  <a:pt x="8171" y="492"/>
                </a:lnTo>
                <a:lnTo>
                  <a:pt x="8965" y="335"/>
                </a:lnTo>
                <a:lnTo>
                  <a:pt x="9451" y="318"/>
                </a:lnTo>
                <a:lnTo>
                  <a:pt x="10164" y="254"/>
                </a:lnTo>
                <a:lnTo>
                  <a:pt x="10707" y="132"/>
                </a:lnTo>
                <a:lnTo>
                  <a:pt x="11422" y="113"/>
                </a:lnTo>
                <a:lnTo>
                  <a:pt x="12117" y="0"/>
                </a:lnTo>
                <a:lnTo>
                  <a:pt x="12682" y="155"/>
                </a:lnTo>
                <a:lnTo>
                  <a:pt x="13503" y="87"/>
                </a:lnTo>
                <a:lnTo>
                  <a:pt x="14027" y="194"/>
                </a:lnTo>
                <a:lnTo>
                  <a:pt x="14720" y="125"/>
                </a:lnTo>
                <a:lnTo>
                  <a:pt x="15485" y="226"/>
                </a:lnTo>
                <a:lnTo>
                  <a:pt x="15971" y="318"/>
                </a:lnTo>
                <a:lnTo>
                  <a:pt x="16731" y="426"/>
                </a:lnTo>
                <a:lnTo>
                  <a:pt x="17214" y="623"/>
                </a:lnTo>
                <a:lnTo>
                  <a:pt x="17861" y="593"/>
                </a:lnTo>
                <a:lnTo>
                  <a:pt x="18675" y="746"/>
                </a:lnTo>
                <a:lnTo>
                  <a:pt x="19037" y="1106"/>
                </a:lnTo>
                <a:lnTo>
                  <a:pt x="19729" y="1234"/>
                </a:lnTo>
                <a:lnTo>
                  <a:pt x="20337" y="1497"/>
                </a:lnTo>
                <a:lnTo>
                  <a:pt x="20803" y="1738"/>
                </a:lnTo>
                <a:lnTo>
                  <a:pt x="21202" y="1907"/>
                </a:lnTo>
                <a:lnTo>
                  <a:pt x="21788" y="2251"/>
                </a:lnTo>
                <a:lnTo>
                  <a:pt x="22167" y="2410"/>
                </a:lnTo>
                <a:lnTo>
                  <a:pt x="22543" y="2681"/>
                </a:lnTo>
                <a:lnTo>
                  <a:pt x="22930" y="3096"/>
                </a:lnTo>
                <a:lnTo>
                  <a:pt x="23379" y="3288"/>
                </a:lnTo>
                <a:lnTo>
                  <a:pt x="23693" y="3616"/>
                </a:lnTo>
                <a:lnTo>
                  <a:pt x="24159" y="4001"/>
                </a:lnTo>
                <a:lnTo>
                  <a:pt x="24477" y="4195"/>
                </a:lnTo>
                <a:lnTo>
                  <a:pt x="24585" y="4695"/>
                </a:lnTo>
                <a:lnTo>
                  <a:pt x="24918" y="4988"/>
                </a:lnTo>
                <a:lnTo>
                  <a:pt x="25060" y="5333"/>
                </a:lnTo>
                <a:lnTo>
                  <a:pt x="25300" y="5579"/>
                </a:lnTo>
                <a:lnTo>
                  <a:pt x="25284" y="5898"/>
                </a:lnTo>
                <a:lnTo>
                  <a:pt x="25464" y="6433"/>
                </a:lnTo>
                <a:lnTo>
                  <a:pt x="25417" y="6687"/>
                </a:lnTo>
                <a:lnTo>
                  <a:pt x="25377" y="7035"/>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3401751" y="1791767"/>
            <a:ext cx="2324771" cy="1287475"/>
          </a:xfrm>
          <a:custGeom>
            <a:avLst/>
            <a:gdLst/>
            <a:ahLst/>
            <a:cxnLst/>
            <a:rect l="l" t="t" r="r" b="b"/>
            <a:pathLst>
              <a:path w="25424" h="14080">
                <a:moveTo>
                  <a:pt x="25414" y="7172"/>
                </a:moveTo>
                <a:lnTo>
                  <a:pt x="25243" y="7404"/>
                </a:lnTo>
                <a:lnTo>
                  <a:pt x="25242" y="7791"/>
                </a:lnTo>
                <a:lnTo>
                  <a:pt x="25333" y="8055"/>
                </a:lnTo>
                <a:lnTo>
                  <a:pt x="25176" y="8468"/>
                </a:lnTo>
                <a:lnTo>
                  <a:pt x="25042" y="8988"/>
                </a:lnTo>
                <a:lnTo>
                  <a:pt x="24769" y="9226"/>
                </a:lnTo>
                <a:lnTo>
                  <a:pt x="24606" y="9691"/>
                </a:lnTo>
                <a:lnTo>
                  <a:pt x="24214" y="9950"/>
                </a:lnTo>
                <a:lnTo>
                  <a:pt x="24022" y="10293"/>
                </a:lnTo>
                <a:lnTo>
                  <a:pt x="23609" y="10478"/>
                </a:lnTo>
                <a:lnTo>
                  <a:pt x="23334" y="10995"/>
                </a:lnTo>
                <a:lnTo>
                  <a:pt x="22853" y="11285"/>
                </a:lnTo>
                <a:lnTo>
                  <a:pt x="22487" y="11443"/>
                </a:lnTo>
                <a:lnTo>
                  <a:pt x="22085" y="11870"/>
                </a:lnTo>
                <a:lnTo>
                  <a:pt x="21666" y="12136"/>
                </a:lnTo>
                <a:lnTo>
                  <a:pt x="21287" y="12252"/>
                </a:lnTo>
                <a:lnTo>
                  <a:pt x="20643" y="12615"/>
                </a:lnTo>
                <a:lnTo>
                  <a:pt x="20167" y="12723"/>
                </a:lnTo>
                <a:lnTo>
                  <a:pt x="19493" y="13023"/>
                </a:lnTo>
                <a:lnTo>
                  <a:pt x="19035" y="13202"/>
                </a:lnTo>
                <a:lnTo>
                  <a:pt x="18353" y="13202"/>
                </a:lnTo>
                <a:lnTo>
                  <a:pt x="17801" y="13359"/>
                </a:lnTo>
                <a:lnTo>
                  <a:pt x="17288" y="13621"/>
                </a:lnTo>
                <a:lnTo>
                  <a:pt x="16689" y="13849"/>
                </a:lnTo>
                <a:lnTo>
                  <a:pt x="16026" y="13830"/>
                </a:lnTo>
                <a:lnTo>
                  <a:pt x="15448" y="13974"/>
                </a:lnTo>
                <a:lnTo>
                  <a:pt x="14783" y="14065"/>
                </a:lnTo>
                <a:lnTo>
                  <a:pt x="13943" y="13987"/>
                </a:lnTo>
                <a:lnTo>
                  <a:pt x="13324" y="13992"/>
                </a:lnTo>
                <a:lnTo>
                  <a:pt x="12821" y="14015"/>
                </a:lnTo>
                <a:lnTo>
                  <a:pt x="12134" y="13998"/>
                </a:lnTo>
                <a:lnTo>
                  <a:pt x="11404" y="14080"/>
                </a:lnTo>
                <a:lnTo>
                  <a:pt x="10806" y="14049"/>
                </a:lnTo>
                <a:lnTo>
                  <a:pt x="9956" y="13999"/>
                </a:lnTo>
                <a:lnTo>
                  <a:pt x="9385" y="13799"/>
                </a:lnTo>
                <a:lnTo>
                  <a:pt x="8874" y="13635"/>
                </a:lnTo>
                <a:lnTo>
                  <a:pt x="8246" y="13649"/>
                </a:lnTo>
                <a:lnTo>
                  <a:pt x="7528" y="13393"/>
                </a:lnTo>
                <a:lnTo>
                  <a:pt x="6910" y="13228"/>
                </a:lnTo>
                <a:lnTo>
                  <a:pt x="6401" y="13244"/>
                </a:lnTo>
                <a:lnTo>
                  <a:pt x="5765" y="12863"/>
                </a:lnTo>
                <a:lnTo>
                  <a:pt x="5342" y="12851"/>
                </a:lnTo>
                <a:lnTo>
                  <a:pt x="4789" y="12549"/>
                </a:lnTo>
                <a:lnTo>
                  <a:pt x="4122" y="12202"/>
                </a:lnTo>
                <a:lnTo>
                  <a:pt x="3831" y="12103"/>
                </a:lnTo>
                <a:lnTo>
                  <a:pt x="3371" y="11748"/>
                </a:lnTo>
                <a:lnTo>
                  <a:pt x="2849" y="11472"/>
                </a:lnTo>
                <a:lnTo>
                  <a:pt x="2487" y="11257"/>
                </a:lnTo>
                <a:lnTo>
                  <a:pt x="1938" y="10896"/>
                </a:lnTo>
                <a:lnTo>
                  <a:pt x="1592" y="10537"/>
                </a:lnTo>
                <a:lnTo>
                  <a:pt x="1430" y="10197"/>
                </a:lnTo>
                <a:lnTo>
                  <a:pt x="1051" y="9875"/>
                </a:lnTo>
                <a:lnTo>
                  <a:pt x="910" y="9692"/>
                </a:lnTo>
                <a:lnTo>
                  <a:pt x="714" y="9235"/>
                </a:lnTo>
                <a:lnTo>
                  <a:pt x="461" y="8991"/>
                </a:lnTo>
                <a:lnTo>
                  <a:pt x="358" y="8451"/>
                </a:lnTo>
                <a:lnTo>
                  <a:pt x="76" y="8201"/>
                </a:lnTo>
                <a:lnTo>
                  <a:pt x="0" y="7827"/>
                </a:lnTo>
                <a:lnTo>
                  <a:pt x="160" y="7333"/>
                </a:lnTo>
                <a:lnTo>
                  <a:pt x="131" y="7157"/>
                </a:lnTo>
                <a:lnTo>
                  <a:pt x="27" y="6689"/>
                </a:lnTo>
                <a:lnTo>
                  <a:pt x="156" y="6226"/>
                </a:lnTo>
                <a:lnTo>
                  <a:pt x="87" y="5989"/>
                </a:lnTo>
                <a:lnTo>
                  <a:pt x="224" y="5489"/>
                </a:lnTo>
                <a:lnTo>
                  <a:pt x="391" y="5187"/>
                </a:lnTo>
                <a:lnTo>
                  <a:pt x="722" y="4987"/>
                </a:lnTo>
                <a:lnTo>
                  <a:pt x="781" y="4426"/>
                </a:lnTo>
                <a:lnTo>
                  <a:pt x="1141" y="4215"/>
                </a:lnTo>
                <a:lnTo>
                  <a:pt x="1363" y="3896"/>
                </a:lnTo>
                <a:lnTo>
                  <a:pt x="1607" y="3656"/>
                </a:lnTo>
                <a:lnTo>
                  <a:pt x="2066" y="3220"/>
                </a:lnTo>
                <a:lnTo>
                  <a:pt x="2385" y="2899"/>
                </a:lnTo>
                <a:lnTo>
                  <a:pt x="2724" y="2552"/>
                </a:lnTo>
                <a:lnTo>
                  <a:pt x="3375" y="2458"/>
                </a:lnTo>
                <a:lnTo>
                  <a:pt x="3746" y="2075"/>
                </a:lnTo>
                <a:lnTo>
                  <a:pt x="4300" y="1901"/>
                </a:lnTo>
                <a:lnTo>
                  <a:pt x="4672" y="1543"/>
                </a:lnTo>
                <a:lnTo>
                  <a:pt x="5164" y="1473"/>
                </a:lnTo>
                <a:lnTo>
                  <a:pt x="5829" y="1167"/>
                </a:lnTo>
                <a:lnTo>
                  <a:pt x="6283" y="1031"/>
                </a:lnTo>
                <a:lnTo>
                  <a:pt x="6978" y="908"/>
                </a:lnTo>
                <a:lnTo>
                  <a:pt x="7574" y="579"/>
                </a:lnTo>
                <a:lnTo>
                  <a:pt x="8192" y="582"/>
                </a:lnTo>
                <a:lnTo>
                  <a:pt x="8849" y="380"/>
                </a:lnTo>
                <a:lnTo>
                  <a:pt x="9538" y="287"/>
                </a:lnTo>
                <a:lnTo>
                  <a:pt x="10068" y="258"/>
                </a:lnTo>
                <a:lnTo>
                  <a:pt x="10833" y="160"/>
                </a:lnTo>
                <a:lnTo>
                  <a:pt x="11300" y="93"/>
                </a:lnTo>
                <a:lnTo>
                  <a:pt x="12151" y="0"/>
                </a:lnTo>
                <a:lnTo>
                  <a:pt x="12618" y="117"/>
                </a:lnTo>
                <a:lnTo>
                  <a:pt x="13238" y="113"/>
                </a:lnTo>
                <a:lnTo>
                  <a:pt x="13934" y="31"/>
                </a:lnTo>
                <a:lnTo>
                  <a:pt x="14638" y="220"/>
                </a:lnTo>
                <a:lnTo>
                  <a:pt x="15215" y="118"/>
                </a:lnTo>
                <a:lnTo>
                  <a:pt x="15977" y="323"/>
                </a:lnTo>
                <a:lnTo>
                  <a:pt x="16612" y="375"/>
                </a:lnTo>
                <a:lnTo>
                  <a:pt x="17139" y="449"/>
                </a:lnTo>
                <a:lnTo>
                  <a:pt x="17838" y="708"/>
                </a:lnTo>
                <a:lnTo>
                  <a:pt x="18357" y="688"/>
                </a:lnTo>
                <a:lnTo>
                  <a:pt x="19031" y="990"/>
                </a:lnTo>
                <a:lnTo>
                  <a:pt x="19596" y="1247"/>
                </a:lnTo>
                <a:lnTo>
                  <a:pt x="20182" y="1463"/>
                </a:lnTo>
                <a:lnTo>
                  <a:pt x="20602" y="1650"/>
                </a:lnTo>
                <a:lnTo>
                  <a:pt x="21187" y="1729"/>
                </a:lnTo>
                <a:lnTo>
                  <a:pt x="21749" y="1973"/>
                </a:lnTo>
                <a:lnTo>
                  <a:pt x="22021" y="2379"/>
                </a:lnTo>
                <a:lnTo>
                  <a:pt x="22596" y="2743"/>
                </a:lnTo>
                <a:lnTo>
                  <a:pt x="23044" y="2985"/>
                </a:lnTo>
                <a:lnTo>
                  <a:pt x="23336" y="3128"/>
                </a:lnTo>
                <a:lnTo>
                  <a:pt x="23796" y="3495"/>
                </a:lnTo>
                <a:lnTo>
                  <a:pt x="24020" y="3858"/>
                </a:lnTo>
                <a:lnTo>
                  <a:pt x="24279" y="4160"/>
                </a:lnTo>
                <a:lnTo>
                  <a:pt x="24466" y="4541"/>
                </a:lnTo>
                <a:lnTo>
                  <a:pt x="24881" y="4898"/>
                </a:lnTo>
                <a:lnTo>
                  <a:pt x="25056" y="5222"/>
                </a:lnTo>
                <a:lnTo>
                  <a:pt x="25067" y="5542"/>
                </a:lnTo>
                <a:lnTo>
                  <a:pt x="25248" y="5894"/>
                </a:lnTo>
                <a:lnTo>
                  <a:pt x="25327" y="6376"/>
                </a:lnTo>
                <a:lnTo>
                  <a:pt x="25347" y="6789"/>
                </a:lnTo>
                <a:lnTo>
                  <a:pt x="25424" y="7168"/>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5622097" y="2570561"/>
            <a:ext cx="74889" cy="127742"/>
          </a:xfrm>
          <a:custGeom>
            <a:avLst/>
            <a:gdLst/>
            <a:ahLst/>
            <a:cxnLst/>
            <a:rect l="l" t="t" r="r" b="b"/>
            <a:pathLst>
              <a:path w="819" h="1397">
                <a:moveTo>
                  <a:pt x="819" y="0"/>
                </a:moveTo>
                <a:lnTo>
                  <a:pt x="664" y="357"/>
                </a:lnTo>
                <a:lnTo>
                  <a:pt x="475" y="710"/>
                </a:lnTo>
                <a:lnTo>
                  <a:pt x="254" y="1057"/>
                </a:lnTo>
                <a:lnTo>
                  <a:pt x="0" y="139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4978359" y="2976006"/>
            <a:ext cx="215981" cy="60990"/>
          </a:xfrm>
          <a:custGeom>
            <a:avLst/>
            <a:gdLst/>
            <a:ahLst/>
            <a:cxnLst/>
            <a:rect l="l" t="t" r="r" b="b"/>
            <a:pathLst>
              <a:path w="2362" h="667">
                <a:moveTo>
                  <a:pt x="2362" y="0"/>
                </a:moveTo>
                <a:lnTo>
                  <a:pt x="1796" y="192"/>
                </a:lnTo>
                <a:lnTo>
                  <a:pt x="1213" y="368"/>
                </a:lnTo>
                <a:lnTo>
                  <a:pt x="613" y="526"/>
                </a:lnTo>
                <a:lnTo>
                  <a:pt x="0" y="66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4091300" y="3024104"/>
            <a:ext cx="230520" cy="41514"/>
          </a:xfrm>
          <a:custGeom>
            <a:avLst/>
            <a:gdLst/>
            <a:ahLst/>
            <a:cxnLst/>
            <a:rect l="l" t="t" r="r" b="b"/>
            <a:pathLst>
              <a:path w="2521" h="454">
                <a:moveTo>
                  <a:pt x="2521" y="454"/>
                </a:moveTo>
                <a:lnTo>
                  <a:pt x="1875" y="368"/>
                </a:lnTo>
                <a:lnTo>
                  <a:pt x="1239" y="264"/>
                </a:lnTo>
                <a:lnTo>
                  <a:pt x="613" y="141"/>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480389" y="2667213"/>
            <a:ext cx="110094" cy="119786"/>
          </a:xfrm>
          <a:custGeom>
            <a:avLst/>
            <a:gdLst/>
            <a:ahLst/>
            <a:cxnLst/>
            <a:rect l="l" t="t" r="r" b="b"/>
            <a:pathLst>
              <a:path w="1204" h="1310">
                <a:moveTo>
                  <a:pt x="1204" y="1310"/>
                </a:moveTo>
                <a:lnTo>
                  <a:pt x="857" y="996"/>
                </a:lnTo>
                <a:lnTo>
                  <a:pt x="540" y="673"/>
                </a:lnTo>
                <a:lnTo>
                  <a:pt x="254" y="340"/>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428726" y="2175449"/>
            <a:ext cx="74889" cy="127742"/>
          </a:xfrm>
          <a:custGeom>
            <a:avLst/>
            <a:gdLst/>
            <a:ahLst/>
            <a:cxnLst/>
            <a:rect l="l" t="t" r="r" b="b"/>
            <a:pathLst>
              <a:path w="819" h="1397">
                <a:moveTo>
                  <a:pt x="0" y="1397"/>
                </a:moveTo>
                <a:lnTo>
                  <a:pt x="155" y="1040"/>
                </a:lnTo>
                <a:lnTo>
                  <a:pt x="344" y="687"/>
                </a:lnTo>
                <a:lnTo>
                  <a:pt x="565" y="340"/>
                </a:lnTo>
                <a:lnTo>
                  <a:pt x="81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3931371" y="1836755"/>
            <a:ext cx="215981" cy="60990"/>
          </a:xfrm>
          <a:custGeom>
            <a:avLst/>
            <a:gdLst/>
            <a:ahLst/>
            <a:cxnLst/>
            <a:rect l="l" t="t" r="r" b="b"/>
            <a:pathLst>
              <a:path w="2362" h="667">
                <a:moveTo>
                  <a:pt x="0" y="667"/>
                </a:moveTo>
                <a:lnTo>
                  <a:pt x="566" y="475"/>
                </a:lnTo>
                <a:lnTo>
                  <a:pt x="1149" y="299"/>
                </a:lnTo>
                <a:lnTo>
                  <a:pt x="1749" y="141"/>
                </a:lnTo>
                <a:lnTo>
                  <a:pt x="2362"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4803892" y="1808135"/>
            <a:ext cx="230520" cy="41514"/>
          </a:xfrm>
          <a:custGeom>
            <a:avLst/>
            <a:gdLst/>
            <a:ahLst/>
            <a:cxnLst/>
            <a:rect l="l" t="t" r="r" b="b"/>
            <a:pathLst>
              <a:path w="2521" h="454">
                <a:moveTo>
                  <a:pt x="0" y="0"/>
                </a:moveTo>
                <a:lnTo>
                  <a:pt x="646" y="86"/>
                </a:lnTo>
                <a:lnTo>
                  <a:pt x="1282" y="190"/>
                </a:lnTo>
                <a:lnTo>
                  <a:pt x="1908" y="313"/>
                </a:lnTo>
                <a:lnTo>
                  <a:pt x="2521" y="45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5535229" y="2086752"/>
            <a:ext cx="110094" cy="119786"/>
          </a:xfrm>
          <a:custGeom>
            <a:avLst/>
            <a:gdLst/>
            <a:ahLst/>
            <a:cxnLst/>
            <a:rect l="l" t="t" r="r" b="b"/>
            <a:pathLst>
              <a:path w="1204" h="1310">
                <a:moveTo>
                  <a:pt x="0" y="0"/>
                </a:moveTo>
                <a:lnTo>
                  <a:pt x="347" y="314"/>
                </a:lnTo>
                <a:lnTo>
                  <a:pt x="664" y="637"/>
                </a:lnTo>
                <a:lnTo>
                  <a:pt x="950" y="970"/>
                </a:lnTo>
                <a:lnTo>
                  <a:pt x="1204" y="131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ody: Scope contract"/>
          <p:cNvSpPr txBox="1"/>
          <p:nvPr/>
        </p:nvSpPr>
        <p:spPr>
          <a:xfrm>
            <a:off x="3648456" y="2239676"/>
            <a:ext cx="182880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Scope contract</a:t>
            </a:r>
          </a:p>
        </p:txBody>
      </p:sp>
      <p:sp>
        <p:nvSpPr>
          <p:cNvPr id="39" name="Freeform 38"/>
          <p:cNvSpPr/>
          <p:nvPr/>
        </p:nvSpPr>
        <p:spPr>
          <a:xfrm>
            <a:off x="5806440" y="2420417"/>
            <a:ext cx="228600" cy="11887"/>
          </a:xfrm>
          <a:custGeom>
            <a:avLst/>
            <a:gdLst/>
            <a:ahLst/>
            <a:cxnLst/>
            <a:rect l="l" t="t" r="r" b="b"/>
            <a:pathLst>
              <a:path w="2500" h="130">
                <a:moveTo>
                  <a:pt x="0" y="130"/>
                </a:moveTo>
                <a:lnTo>
                  <a:pt x="1250" y="0"/>
                </a:lnTo>
                <a:lnTo>
                  <a:pt x="2500" y="13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5953201" y="2432304"/>
            <a:ext cx="81839" cy="50201"/>
          </a:xfrm>
          <a:custGeom>
            <a:avLst/>
            <a:gdLst/>
            <a:ahLst/>
            <a:cxnLst/>
            <a:rect l="l" t="t" r="r" b="b"/>
            <a:pathLst>
              <a:path w="895" h="549">
                <a:moveTo>
                  <a:pt x="0" y="549"/>
                </a:moveTo>
                <a:lnTo>
                  <a:pt x="895" y="0"/>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5953201" y="2382103"/>
            <a:ext cx="81839" cy="50201"/>
          </a:xfrm>
          <a:custGeom>
            <a:avLst/>
            <a:gdLst/>
            <a:ahLst/>
            <a:cxnLst/>
            <a:rect l="l" t="t" r="r" b="b"/>
            <a:pathLst>
              <a:path w="895" h="549">
                <a:moveTo>
                  <a:pt x="0" y="0"/>
                </a:moveTo>
                <a:lnTo>
                  <a:pt x="895" y="549"/>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44768" y="1783080"/>
            <a:ext cx="2340864" cy="1307592"/>
          </a:xfrm>
          <a:prstGeom prst="ellipse">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6144677" y="1783812"/>
            <a:ext cx="2334829" cy="1301100"/>
          </a:xfrm>
          <a:custGeom>
            <a:avLst/>
            <a:gdLst/>
            <a:ahLst/>
            <a:cxnLst/>
            <a:rect l="l" t="t" r="r" b="b"/>
            <a:pathLst>
              <a:path w="25534" h="14229">
                <a:moveTo>
                  <a:pt x="25483" y="7230"/>
                </a:moveTo>
                <a:lnTo>
                  <a:pt x="25341" y="7422"/>
                </a:lnTo>
                <a:lnTo>
                  <a:pt x="25388" y="7902"/>
                </a:lnTo>
                <a:lnTo>
                  <a:pt x="25304" y="8306"/>
                </a:lnTo>
                <a:lnTo>
                  <a:pt x="25106" y="8526"/>
                </a:lnTo>
                <a:lnTo>
                  <a:pt x="25144" y="8944"/>
                </a:lnTo>
                <a:lnTo>
                  <a:pt x="24782" y="9247"/>
                </a:lnTo>
                <a:lnTo>
                  <a:pt x="24693" y="9719"/>
                </a:lnTo>
                <a:lnTo>
                  <a:pt x="24395" y="10003"/>
                </a:lnTo>
                <a:lnTo>
                  <a:pt x="24132" y="10379"/>
                </a:lnTo>
                <a:lnTo>
                  <a:pt x="23904" y="10601"/>
                </a:lnTo>
                <a:lnTo>
                  <a:pt x="23408" y="11076"/>
                </a:lnTo>
                <a:lnTo>
                  <a:pt x="23061" y="11171"/>
                </a:lnTo>
                <a:lnTo>
                  <a:pt x="22583" y="11493"/>
                </a:lnTo>
                <a:lnTo>
                  <a:pt x="22224" y="11874"/>
                </a:lnTo>
                <a:lnTo>
                  <a:pt x="21757" y="12230"/>
                </a:lnTo>
                <a:lnTo>
                  <a:pt x="21294" y="12296"/>
                </a:lnTo>
                <a:lnTo>
                  <a:pt x="20683" y="12686"/>
                </a:lnTo>
                <a:lnTo>
                  <a:pt x="20380" y="12833"/>
                </a:lnTo>
                <a:lnTo>
                  <a:pt x="19721" y="13052"/>
                </a:lnTo>
                <a:lnTo>
                  <a:pt x="19037" y="13313"/>
                </a:lnTo>
                <a:lnTo>
                  <a:pt x="18470" y="13508"/>
                </a:lnTo>
                <a:lnTo>
                  <a:pt x="18072" y="13463"/>
                </a:lnTo>
                <a:lnTo>
                  <a:pt x="17418" y="13631"/>
                </a:lnTo>
                <a:lnTo>
                  <a:pt x="16735" y="13784"/>
                </a:lnTo>
                <a:lnTo>
                  <a:pt x="16047" y="13865"/>
                </a:lnTo>
                <a:lnTo>
                  <a:pt x="15486" y="14087"/>
                </a:lnTo>
                <a:lnTo>
                  <a:pt x="14846" y="14139"/>
                </a:lnTo>
                <a:lnTo>
                  <a:pt x="14158" y="14192"/>
                </a:lnTo>
                <a:lnTo>
                  <a:pt x="13355" y="14154"/>
                </a:lnTo>
                <a:lnTo>
                  <a:pt x="12698" y="14095"/>
                </a:lnTo>
                <a:lnTo>
                  <a:pt x="12156" y="14229"/>
                </a:lnTo>
                <a:lnTo>
                  <a:pt x="11532" y="14041"/>
                </a:lnTo>
                <a:lnTo>
                  <a:pt x="10822" y="14020"/>
                </a:lnTo>
                <a:lnTo>
                  <a:pt x="10142" y="14069"/>
                </a:lnTo>
                <a:lnTo>
                  <a:pt x="9393" y="13957"/>
                </a:lnTo>
                <a:lnTo>
                  <a:pt x="8753" y="13884"/>
                </a:lnTo>
                <a:lnTo>
                  <a:pt x="8358" y="13642"/>
                </a:lnTo>
                <a:lnTo>
                  <a:pt x="7758" y="13499"/>
                </a:lnTo>
                <a:lnTo>
                  <a:pt x="7134" y="13316"/>
                </a:lnTo>
                <a:lnTo>
                  <a:pt x="6578" y="13340"/>
                </a:lnTo>
                <a:lnTo>
                  <a:pt x="5964" y="12993"/>
                </a:lnTo>
                <a:lnTo>
                  <a:pt x="5273" y="12765"/>
                </a:lnTo>
                <a:lnTo>
                  <a:pt x="4885" y="12684"/>
                </a:lnTo>
                <a:lnTo>
                  <a:pt x="4394" y="12345"/>
                </a:lnTo>
                <a:lnTo>
                  <a:pt x="3802" y="12064"/>
                </a:lnTo>
                <a:lnTo>
                  <a:pt x="3460" y="11955"/>
                </a:lnTo>
                <a:lnTo>
                  <a:pt x="2909" y="11596"/>
                </a:lnTo>
                <a:lnTo>
                  <a:pt x="2575" y="11390"/>
                </a:lnTo>
                <a:lnTo>
                  <a:pt x="2168" y="11084"/>
                </a:lnTo>
                <a:lnTo>
                  <a:pt x="1713" y="10610"/>
                </a:lnTo>
                <a:lnTo>
                  <a:pt x="1478" y="10434"/>
                </a:lnTo>
                <a:lnTo>
                  <a:pt x="1152" y="10052"/>
                </a:lnTo>
                <a:lnTo>
                  <a:pt x="854" y="9580"/>
                </a:lnTo>
                <a:lnTo>
                  <a:pt x="797" y="9413"/>
                </a:lnTo>
                <a:lnTo>
                  <a:pt x="437" y="9068"/>
                </a:lnTo>
                <a:lnTo>
                  <a:pt x="403" y="8607"/>
                </a:lnTo>
                <a:lnTo>
                  <a:pt x="170" y="8297"/>
                </a:lnTo>
                <a:lnTo>
                  <a:pt x="178" y="7788"/>
                </a:lnTo>
                <a:lnTo>
                  <a:pt x="54" y="7591"/>
                </a:lnTo>
                <a:lnTo>
                  <a:pt x="0" y="7232"/>
                </a:lnTo>
                <a:lnTo>
                  <a:pt x="95" y="6819"/>
                </a:lnTo>
                <a:lnTo>
                  <a:pt x="279" y="6307"/>
                </a:lnTo>
                <a:lnTo>
                  <a:pt x="325" y="6112"/>
                </a:lnTo>
                <a:lnTo>
                  <a:pt x="525" y="5667"/>
                </a:lnTo>
                <a:lnTo>
                  <a:pt x="588" y="5243"/>
                </a:lnTo>
                <a:lnTo>
                  <a:pt x="698" y="4879"/>
                </a:lnTo>
                <a:lnTo>
                  <a:pt x="944" y="4596"/>
                </a:lnTo>
                <a:lnTo>
                  <a:pt x="1260" y="4295"/>
                </a:lnTo>
                <a:lnTo>
                  <a:pt x="1487" y="4045"/>
                </a:lnTo>
                <a:lnTo>
                  <a:pt x="1945" y="3736"/>
                </a:lnTo>
                <a:lnTo>
                  <a:pt x="2134" y="3417"/>
                </a:lnTo>
                <a:lnTo>
                  <a:pt x="2583" y="2948"/>
                </a:lnTo>
                <a:lnTo>
                  <a:pt x="2886" y="2679"/>
                </a:lnTo>
                <a:lnTo>
                  <a:pt x="3276" y="2404"/>
                </a:lnTo>
                <a:lnTo>
                  <a:pt x="3818" y="2209"/>
                </a:lnTo>
                <a:lnTo>
                  <a:pt x="4366" y="1828"/>
                </a:lnTo>
                <a:lnTo>
                  <a:pt x="4815" y="1750"/>
                </a:lnTo>
                <a:lnTo>
                  <a:pt x="5372" y="1535"/>
                </a:lnTo>
                <a:lnTo>
                  <a:pt x="5962" y="1181"/>
                </a:lnTo>
                <a:lnTo>
                  <a:pt x="6510" y="1168"/>
                </a:lnTo>
                <a:lnTo>
                  <a:pt x="6978" y="822"/>
                </a:lnTo>
                <a:lnTo>
                  <a:pt x="7744" y="744"/>
                </a:lnTo>
                <a:lnTo>
                  <a:pt x="8371" y="514"/>
                </a:lnTo>
                <a:lnTo>
                  <a:pt x="8795" y="453"/>
                </a:lnTo>
                <a:lnTo>
                  <a:pt x="9633" y="417"/>
                </a:lnTo>
                <a:lnTo>
                  <a:pt x="10284" y="361"/>
                </a:lnTo>
                <a:lnTo>
                  <a:pt x="10912" y="269"/>
                </a:lnTo>
                <a:lnTo>
                  <a:pt x="11598" y="120"/>
                </a:lnTo>
                <a:lnTo>
                  <a:pt x="12194" y="21"/>
                </a:lnTo>
                <a:lnTo>
                  <a:pt x="12848" y="0"/>
                </a:lnTo>
                <a:lnTo>
                  <a:pt x="13423" y="12"/>
                </a:lnTo>
                <a:lnTo>
                  <a:pt x="14253" y="40"/>
                </a:lnTo>
                <a:lnTo>
                  <a:pt x="14665" y="172"/>
                </a:lnTo>
                <a:lnTo>
                  <a:pt x="15493" y="293"/>
                </a:lnTo>
                <a:lnTo>
                  <a:pt x="16196" y="417"/>
                </a:lnTo>
                <a:lnTo>
                  <a:pt x="16706" y="454"/>
                </a:lnTo>
                <a:lnTo>
                  <a:pt x="17353" y="607"/>
                </a:lnTo>
                <a:lnTo>
                  <a:pt x="18034" y="787"/>
                </a:lnTo>
                <a:lnTo>
                  <a:pt x="18679" y="922"/>
                </a:lnTo>
                <a:lnTo>
                  <a:pt x="19160" y="1011"/>
                </a:lnTo>
                <a:lnTo>
                  <a:pt x="19675" y="1280"/>
                </a:lnTo>
                <a:lnTo>
                  <a:pt x="20264" y="1371"/>
                </a:lnTo>
                <a:lnTo>
                  <a:pt x="20904" y="1731"/>
                </a:lnTo>
                <a:lnTo>
                  <a:pt x="21162" y="1877"/>
                </a:lnTo>
                <a:lnTo>
                  <a:pt x="21892" y="2114"/>
                </a:lnTo>
                <a:lnTo>
                  <a:pt x="22327" y="2377"/>
                </a:lnTo>
                <a:lnTo>
                  <a:pt x="22620" y="2800"/>
                </a:lnTo>
                <a:lnTo>
                  <a:pt x="22936" y="2986"/>
                </a:lnTo>
                <a:lnTo>
                  <a:pt x="23479" y="3207"/>
                </a:lnTo>
                <a:lnTo>
                  <a:pt x="23798" y="3532"/>
                </a:lnTo>
                <a:lnTo>
                  <a:pt x="24207" y="4058"/>
                </a:lnTo>
                <a:lnTo>
                  <a:pt x="24363" y="4228"/>
                </a:lnTo>
                <a:lnTo>
                  <a:pt x="24589" y="4661"/>
                </a:lnTo>
                <a:lnTo>
                  <a:pt x="24930" y="4879"/>
                </a:lnTo>
                <a:lnTo>
                  <a:pt x="25103" y="5397"/>
                </a:lnTo>
                <a:lnTo>
                  <a:pt x="25252" y="5582"/>
                </a:lnTo>
                <a:lnTo>
                  <a:pt x="25285" y="6099"/>
                </a:lnTo>
                <a:lnTo>
                  <a:pt x="25534" y="6387"/>
                </a:lnTo>
                <a:lnTo>
                  <a:pt x="25496" y="6853"/>
                </a:lnTo>
                <a:lnTo>
                  <a:pt x="25428" y="7232"/>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6152815" y="1786555"/>
            <a:ext cx="2331720" cy="1293236"/>
          </a:xfrm>
          <a:custGeom>
            <a:avLst/>
            <a:gdLst/>
            <a:ahLst/>
            <a:cxnLst/>
            <a:rect l="l" t="t" r="r" b="b"/>
            <a:pathLst>
              <a:path w="25500" h="14143">
                <a:moveTo>
                  <a:pt x="25464" y="7160"/>
                </a:moveTo>
                <a:lnTo>
                  <a:pt x="25500" y="7544"/>
                </a:lnTo>
                <a:lnTo>
                  <a:pt x="25359" y="7792"/>
                </a:lnTo>
                <a:lnTo>
                  <a:pt x="25293" y="8096"/>
                </a:lnTo>
                <a:lnTo>
                  <a:pt x="25012" y="8652"/>
                </a:lnTo>
                <a:lnTo>
                  <a:pt x="25052" y="8837"/>
                </a:lnTo>
                <a:lnTo>
                  <a:pt x="24731" y="9347"/>
                </a:lnTo>
                <a:lnTo>
                  <a:pt x="24655" y="9733"/>
                </a:lnTo>
                <a:lnTo>
                  <a:pt x="24276" y="10086"/>
                </a:lnTo>
                <a:lnTo>
                  <a:pt x="24130" y="10395"/>
                </a:lnTo>
                <a:lnTo>
                  <a:pt x="23743" y="10598"/>
                </a:lnTo>
                <a:lnTo>
                  <a:pt x="23297" y="10866"/>
                </a:lnTo>
                <a:lnTo>
                  <a:pt x="22958" y="11126"/>
                </a:lnTo>
                <a:lnTo>
                  <a:pt x="22642" y="11630"/>
                </a:lnTo>
                <a:lnTo>
                  <a:pt x="22060" y="11904"/>
                </a:lnTo>
                <a:lnTo>
                  <a:pt x="21700" y="11973"/>
                </a:lnTo>
                <a:lnTo>
                  <a:pt x="21317" y="12320"/>
                </a:lnTo>
                <a:lnTo>
                  <a:pt x="20618" y="12523"/>
                </a:lnTo>
                <a:lnTo>
                  <a:pt x="20211" y="12691"/>
                </a:lnTo>
                <a:lnTo>
                  <a:pt x="19734" y="13108"/>
                </a:lnTo>
                <a:lnTo>
                  <a:pt x="18960" y="13268"/>
                </a:lnTo>
                <a:lnTo>
                  <a:pt x="18427" y="13408"/>
                </a:lnTo>
                <a:lnTo>
                  <a:pt x="17938" y="13495"/>
                </a:lnTo>
                <a:lnTo>
                  <a:pt x="17351" y="13668"/>
                </a:lnTo>
                <a:lnTo>
                  <a:pt x="16613" y="13790"/>
                </a:lnTo>
                <a:lnTo>
                  <a:pt x="16046" y="14020"/>
                </a:lnTo>
                <a:lnTo>
                  <a:pt x="15284" y="13871"/>
                </a:lnTo>
                <a:lnTo>
                  <a:pt x="14568" y="14143"/>
                </a:lnTo>
                <a:lnTo>
                  <a:pt x="14164" y="14054"/>
                </a:lnTo>
                <a:lnTo>
                  <a:pt x="13264" y="14112"/>
                </a:lnTo>
                <a:lnTo>
                  <a:pt x="12821" y="14111"/>
                </a:lnTo>
                <a:lnTo>
                  <a:pt x="12083" y="14075"/>
                </a:lnTo>
                <a:lnTo>
                  <a:pt x="11379" y="14115"/>
                </a:lnTo>
                <a:lnTo>
                  <a:pt x="10856" y="14062"/>
                </a:lnTo>
                <a:lnTo>
                  <a:pt x="10075" y="13978"/>
                </a:lnTo>
                <a:lnTo>
                  <a:pt x="9430" y="13996"/>
                </a:lnTo>
                <a:lnTo>
                  <a:pt x="8863" y="13774"/>
                </a:lnTo>
                <a:lnTo>
                  <a:pt x="8088" y="13771"/>
                </a:lnTo>
                <a:lnTo>
                  <a:pt x="7667" y="13491"/>
                </a:lnTo>
                <a:lnTo>
                  <a:pt x="6848" y="13266"/>
                </a:lnTo>
                <a:lnTo>
                  <a:pt x="6380" y="13231"/>
                </a:lnTo>
                <a:lnTo>
                  <a:pt x="5733" y="13106"/>
                </a:lnTo>
                <a:lnTo>
                  <a:pt x="5168" y="12713"/>
                </a:lnTo>
                <a:lnTo>
                  <a:pt x="4769" y="12610"/>
                </a:lnTo>
                <a:lnTo>
                  <a:pt x="4179" y="12301"/>
                </a:lnTo>
                <a:lnTo>
                  <a:pt x="3785" y="12121"/>
                </a:lnTo>
                <a:lnTo>
                  <a:pt x="3202" y="11767"/>
                </a:lnTo>
                <a:lnTo>
                  <a:pt x="2914" y="11604"/>
                </a:lnTo>
                <a:lnTo>
                  <a:pt x="2492" y="11353"/>
                </a:lnTo>
                <a:lnTo>
                  <a:pt x="2138" y="11049"/>
                </a:lnTo>
                <a:lnTo>
                  <a:pt x="1752" y="10670"/>
                </a:lnTo>
                <a:lnTo>
                  <a:pt x="1458" y="10196"/>
                </a:lnTo>
                <a:lnTo>
                  <a:pt x="1077" y="9921"/>
                </a:lnTo>
                <a:lnTo>
                  <a:pt x="884" y="9671"/>
                </a:lnTo>
                <a:lnTo>
                  <a:pt x="751" y="9184"/>
                </a:lnTo>
                <a:lnTo>
                  <a:pt x="412" y="9048"/>
                </a:lnTo>
                <a:lnTo>
                  <a:pt x="208" y="8478"/>
                </a:lnTo>
                <a:lnTo>
                  <a:pt x="115" y="8243"/>
                </a:lnTo>
                <a:lnTo>
                  <a:pt x="0" y="7779"/>
                </a:lnTo>
                <a:lnTo>
                  <a:pt x="114" y="7408"/>
                </a:lnTo>
                <a:lnTo>
                  <a:pt x="155" y="7173"/>
                </a:lnTo>
                <a:lnTo>
                  <a:pt x="79" y="6829"/>
                </a:lnTo>
                <a:lnTo>
                  <a:pt x="147" y="6443"/>
                </a:lnTo>
                <a:lnTo>
                  <a:pt x="256" y="6115"/>
                </a:lnTo>
                <a:lnTo>
                  <a:pt x="422" y="5759"/>
                </a:lnTo>
                <a:lnTo>
                  <a:pt x="568" y="5378"/>
                </a:lnTo>
                <a:lnTo>
                  <a:pt x="607" y="4913"/>
                </a:lnTo>
                <a:lnTo>
                  <a:pt x="848" y="4674"/>
                </a:lnTo>
                <a:lnTo>
                  <a:pt x="1210" y="4161"/>
                </a:lnTo>
                <a:lnTo>
                  <a:pt x="1465" y="3914"/>
                </a:lnTo>
                <a:lnTo>
                  <a:pt x="1769" y="3602"/>
                </a:lnTo>
                <a:lnTo>
                  <a:pt x="2048" y="3218"/>
                </a:lnTo>
                <a:lnTo>
                  <a:pt x="2492" y="2947"/>
                </a:lnTo>
                <a:lnTo>
                  <a:pt x="2738" y="2612"/>
                </a:lnTo>
                <a:lnTo>
                  <a:pt x="3317" y="2394"/>
                </a:lnTo>
                <a:lnTo>
                  <a:pt x="3751" y="2152"/>
                </a:lnTo>
                <a:lnTo>
                  <a:pt x="4331" y="1945"/>
                </a:lnTo>
                <a:lnTo>
                  <a:pt x="4853" y="1723"/>
                </a:lnTo>
                <a:lnTo>
                  <a:pt x="5210" y="1319"/>
                </a:lnTo>
                <a:lnTo>
                  <a:pt x="5765" y="1141"/>
                </a:lnTo>
                <a:lnTo>
                  <a:pt x="6291" y="959"/>
                </a:lnTo>
                <a:lnTo>
                  <a:pt x="6949" y="886"/>
                </a:lnTo>
                <a:lnTo>
                  <a:pt x="7582" y="646"/>
                </a:lnTo>
                <a:lnTo>
                  <a:pt x="8241" y="538"/>
                </a:lnTo>
                <a:lnTo>
                  <a:pt x="8755" y="389"/>
                </a:lnTo>
                <a:lnTo>
                  <a:pt x="9305" y="224"/>
                </a:lnTo>
                <a:lnTo>
                  <a:pt x="10058" y="159"/>
                </a:lnTo>
                <a:lnTo>
                  <a:pt x="10698" y="100"/>
                </a:lnTo>
                <a:lnTo>
                  <a:pt x="11295" y="139"/>
                </a:lnTo>
                <a:lnTo>
                  <a:pt x="11988" y="0"/>
                </a:lnTo>
                <a:lnTo>
                  <a:pt x="12705" y="146"/>
                </a:lnTo>
                <a:lnTo>
                  <a:pt x="13318" y="101"/>
                </a:lnTo>
                <a:lnTo>
                  <a:pt x="14050" y="220"/>
                </a:lnTo>
                <a:lnTo>
                  <a:pt x="14807" y="249"/>
                </a:lnTo>
                <a:lnTo>
                  <a:pt x="15241" y="283"/>
                </a:lnTo>
                <a:lnTo>
                  <a:pt x="15914" y="257"/>
                </a:lnTo>
                <a:lnTo>
                  <a:pt x="16601" y="486"/>
                </a:lnTo>
                <a:lnTo>
                  <a:pt x="17190" y="587"/>
                </a:lnTo>
                <a:lnTo>
                  <a:pt x="17913" y="700"/>
                </a:lnTo>
                <a:lnTo>
                  <a:pt x="18535" y="732"/>
                </a:lnTo>
                <a:lnTo>
                  <a:pt x="19039" y="908"/>
                </a:lnTo>
                <a:lnTo>
                  <a:pt x="19697" y="1272"/>
                </a:lnTo>
                <a:lnTo>
                  <a:pt x="20104" y="1483"/>
                </a:lnTo>
                <a:lnTo>
                  <a:pt x="20608" y="1744"/>
                </a:lnTo>
                <a:lnTo>
                  <a:pt x="21159" y="1998"/>
                </a:lnTo>
                <a:lnTo>
                  <a:pt x="21724" y="2132"/>
                </a:lnTo>
                <a:lnTo>
                  <a:pt x="22127" y="2415"/>
                </a:lnTo>
                <a:lnTo>
                  <a:pt x="22570" y="2705"/>
                </a:lnTo>
                <a:lnTo>
                  <a:pt x="23025" y="2892"/>
                </a:lnTo>
                <a:lnTo>
                  <a:pt x="23461" y="3222"/>
                </a:lnTo>
                <a:lnTo>
                  <a:pt x="23688" y="3712"/>
                </a:lnTo>
                <a:lnTo>
                  <a:pt x="24098" y="3893"/>
                </a:lnTo>
                <a:lnTo>
                  <a:pt x="24418" y="4314"/>
                </a:lnTo>
                <a:lnTo>
                  <a:pt x="24445" y="4643"/>
                </a:lnTo>
                <a:lnTo>
                  <a:pt x="24799" y="4988"/>
                </a:lnTo>
                <a:lnTo>
                  <a:pt x="24835" y="5406"/>
                </a:lnTo>
                <a:lnTo>
                  <a:pt x="25029" y="5562"/>
                </a:lnTo>
                <a:lnTo>
                  <a:pt x="25274" y="6070"/>
                </a:lnTo>
                <a:lnTo>
                  <a:pt x="25377" y="6262"/>
                </a:lnTo>
                <a:lnTo>
                  <a:pt x="25332" y="6846"/>
                </a:lnTo>
                <a:lnTo>
                  <a:pt x="25352" y="7005"/>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8374441" y="2570561"/>
            <a:ext cx="74889" cy="127742"/>
          </a:xfrm>
          <a:custGeom>
            <a:avLst/>
            <a:gdLst/>
            <a:ahLst/>
            <a:cxnLst/>
            <a:rect l="l" t="t" r="r" b="b"/>
            <a:pathLst>
              <a:path w="819" h="1397">
                <a:moveTo>
                  <a:pt x="819" y="0"/>
                </a:moveTo>
                <a:lnTo>
                  <a:pt x="664" y="357"/>
                </a:lnTo>
                <a:lnTo>
                  <a:pt x="475" y="710"/>
                </a:lnTo>
                <a:lnTo>
                  <a:pt x="254" y="1057"/>
                </a:lnTo>
                <a:lnTo>
                  <a:pt x="0" y="139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7730703" y="2976006"/>
            <a:ext cx="215981" cy="60990"/>
          </a:xfrm>
          <a:custGeom>
            <a:avLst/>
            <a:gdLst/>
            <a:ahLst/>
            <a:cxnLst/>
            <a:rect l="l" t="t" r="r" b="b"/>
            <a:pathLst>
              <a:path w="2362" h="667">
                <a:moveTo>
                  <a:pt x="2362" y="0"/>
                </a:moveTo>
                <a:lnTo>
                  <a:pt x="1796" y="192"/>
                </a:lnTo>
                <a:lnTo>
                  <a:pt x="1213" y="368"/>
                </a:lnTo>
                <a:lnTo>
                  <a:pt x="613" y="526"/>
                </a:lnTo>
                <a:lnTo>
                  <a:pt x="0" y="66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6843644" y="3024104"/>
            <a:ext cx="230520" cy="41514"/>
          </a:xfrm>
          <a:custGeom>
            <a:avLst/>
            <a:gdLst/>
            <a:ahLst/>
            <a:cxnLst/>
            <a:rect l="l" t="t" r="r" b="b"/>
            <a:pathLst>
              <a:path w="2521" h="454">
                <a:moveTo>
                  <a:pt x="2521" y="454"/>
                </a:moveTo>
                <a:lnTo>
                  <a:pt x="1875" y="368"/>
                </a:lnTo>
                <a:lnTo>
                  <a:pt x="1239" y="264"/>
                </a:lnTo>
                <a:lnTo>
                  <a:pt x="613" y="141"/>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6232733" y="2667213"/>
            <a:ext cx="110094" cy="119786"/>
          </a:xfrm>
          <a:custGeom>
            <a:avLst/>
            <a:gdLst/>
            <a:ahLst/>
            <a:cxnLst/>
            <a:rect l="l" t="t" r="r" b="b"/>
            <a:pathLst>
              <a:path w="1204" h="1310">
                <a:moveTo>
                  <a:pt x="1204" y="1310"/>
                </a:moveTo>
                <a:lnTo>
                  <a:pt x="857" y="996"/>
                </a:lnTo>
                <a:lnTo>
                  <a:pt x="540" y="673"/>
                </a:lnTo>
                <a:lnTo>
                  <a:pt x="254" y="340"/>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6181070" y="2175449"/>
            <a:ext cx="74889" cy="127742"/>
          </a:xfrm>
          <a:custGeom>
            <a:avLst/>
            <a:gdLst/>
            <a:ahLst/>
            <a:cxnLst/>
            <a:rect l="l" t="t" r="r" b="b"/>
            <a:pathLst>
              <a:path w="819" h="1397">
                <a:moveTo>
                  <a:pt x="0" y="1397"/>
                </a:moveTo>
                <a:lnTo>
                  <a:pt x="155" y="1040"/>
                </a:lnTo>
                <a:lnTo>
                  <a:pt x="344" y="687"/>
                </a:lnTo>
                <a:lnTo>
                  <a:pt x="565" y="340"/>
                </a:lnTo>
                <a:lnTo>
                  <a:pt x="81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6683715" y="1836755"/>
            <a:ext cx="215981" cy="60990"/>
          </a:xfrm>
          <a:custGeom>
            <a:avLst/>
            <a:gdLst/>
            <a:ahLst/>
            <a:cxnLst/>
            <a:rect l="l" t="t" r="r" b="b"/>
            <a:pathLst>
              <a:path w="2362" h="667">
                <a:moveTo>
                  <a:pt x="0" y="667"/>
                </a:moveTo>
                <a:lnTo>
                  <a:pt x="566" y="475"/>
                </a:lnTo>
                <a:lnTo>
                  <a:pt x="1149" y="299"/>
                </a:lnTo>
                <a:lnTo>
                  <a:pt x="1749" y="141"/>
                </a:lnTo>
                <a:lnTo>
                  <a:pt x="2362"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7556236" y="1808135"/>
            <a:ext cx="230520" cy="41514"/>
          </a:xfrm>
          <a:custGeom>
            <a:avLst/>
            <a:gdLst/>
            <a:ahLst/>
            <a:cxnLst/>
            <a:rect l="l" t="t" r="r" b="b"/>
            <a:pathLst>
              <a:path w="2521" h="454">
                <a:moveTo>
                  <a:pt x="0" y="0"/>
                </a:moveTo>
                <a:lnTo>
                  <a:pt x="646" y="86"/>
                </a:lnTo>
                <a:lnTo>
                  <a:pt x="1282" y="190"/>
                </a:lnTo>
                <a:lnTo>
                  <a:pt x="1908" y="313"/>
                </a:lnTo>
                <a:lnTo>
                  <a:pt x="2521" y="45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8287573" y="2086752"/>
            <a:ext cx="110094" cy="119786"/>
          </a:xfrm>
          <a:custGeom>
            <a:avLst/>
            <a:gdLst/>
            <a:ahLst/>
            <a:cxnLst/>
            <a:rect l="l" t="t" r="r" b="b"/>
            <a:pathLst>
              <a:path w="1204" h="1310">
                <a:moveTo>
                  <a:pt x="0" y="0"/>
                </a:moveTo>
                <a:lnTo>
                  <a:pt x="347" y="314"/>
                </a:lnTo>
                <a:lnTo>
                  <a:pt x="664" y="637"/>
                </a:lnTo>
                <a:lnTo>
                  <a:pt x="950" y="970"/>
                </a:lnTo>
                <a:lnTo>
                  <a:pt x="1204" y="131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ody: Incident signatures"/>
          <p:cNvSpPr txBox="1"/>
          <p:nvPr/>
        </p:nvSpPr>
        <p:spPr>
          <a:xfrm>
            <a:off x="6400800" y="2090483"/>
            <a:ext cx="18288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Incident</a:t>
            </a:r>
            <a:br/>
            <a:r>
              <a:rPr sz="1850" b="1">
                <a:solidFill>
                  <a:srgbClr val="4E7892"/>
                </a:solidFill>
                <a:latin typeface="Trebuchet MS"/>
              </a:rPr>
              <a:t>signatures</a:t>
            </a:r>
          </a:p>
        </p:txBody>
      </p:sp>
      <p:sp>
        <p:nvSpPr>
          <p:cNvPr id="54" name="Freeform 53"/>
          <p:cNvSpPr/>
          <p:nvPr/>
        </p:nvSpPr>
        <p:spPr>
          <a:xfrm>
            <a:off x="8558784" y="2420417"/>
            <a:ext cx="228600" cy="11887"/>
          </a:xfrm>
          <a:custGeom>
            <a:avLst/>
            <a:gdLst/>
            <a:ahLst/>
            <a:cxnLst/>
            <a:rect l="l" t="t" r="r" b="b"/>
            <a:pathLst>
              <a:path w="2500" h="130">
                <a:moveTo>
                  <a:pt x="0" y="130"/>
                </a:moveTo>
                <a:lnTo>
                  <a:pt x="1250" y="0"/>
                </a:lnTo>
                <a:lnTo>
                  <a:pt x="2500" y="13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8705545" y="2432304"/>
            <a:ext cx="81839" cy="50201"/>
          </a:xfrm>
          <a:custGeom>
            <a:avLst/>
            <a:gdLst/>
            <a:ahLst/>
            <a:cxnLst/>
            <a:rect l="l" t="t" r="r" b="b"/>
            <a:pathLst>
              <a:path w="895" h="549">
                <a:moveTo>
                  <a:pt x="0" y="549"/>
                </a:moveTo>
                <a:lnTo>
                  <a:pt x="895" y="0"/>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8705545" y="2382103"/>
            <a:ext cx="81839" cy="50201"/>
          </a:xfrm>
          <a:custGeom>
            <a:avLst/>
            <a:gdLst/>
            <a:ahLst/>
            <a:cxnLst/>
            <a:rect l="l" t="t" r="r" b="b"/>
            <a:pathLst>
              <a:path w="895" h="549">
                <a:moveTo>
                  <a:pt x="0" y="0"/>
                </a:moveTo>
                <a:lnTo>
                  <a:pt x="895" y="549"/>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897111" y="1783080"/>
            <a:ext cx="2340864" cy="1307592"/>
          </a:xfrm>
          <a:prstGeom prst="ellipse">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8904244" y="1786646"/>
            <a:ext cx="2328611" cy="1299911"/>
          </a:xfrm>
          <a:custGeom>
            <a:avLst/>
            <a:gdLst/>
            <a:ahLst/>
            <a:cxnLst/>
            <a:rect l="l" t="t" r="r" b="b"/>
            <a:pathLst>
              <a:path w="25466" h="14216">
                <a:moveTo>
                  <a:pt x="25277" y="7166"/>
                </a:moveTo>
                <a:lnTo>
                  <a:pt x="25289" y="7421"/>
                </a:lnTo>
                <a:lnTo>
                  <a:pt x="25289" y="7918"/>
                </a:lnTo>
                <a:lnTo>
                  <a:pt x="25156" y="8305"/>
                </a:lnTo>
                <a:lnTo>
                  <a:pt x="25180" y="8492"/>
                </a:lnTo>
                <a:lnTo>
                  <a:pt x="24992" y="8865"/>
                </a:lnTo>
                <a:lnTo>
                  <a:pt x="24671" y="9199"/>
                </a:lnTo>
                <a:lnTo>
                  <a:pt x="24665" y="9721"/>
                </a:lnTo>
                <a:lnTo>
                  <a:pt x="24428" y="10019"/>
                </a:lnTo>
                <a:lnTo>
                  <a:pt x="23914" y="10405"/>
                </a:lnTo>
                <a:lnTo>
                  <a:pt x="23630" y="10545"/>
                </a:lnTo>
                <a:lnTo>
                  <a:pt x="23424" y="10967"/>
                </a:lnTo>
                <a:lnTo>
                  <a:pt x="22961" y="11337"/>
                </a:lnTo>
                <a:lnTo>
                  <a:pt x="22543" y="11442"/>
                </a:lnTo>
                <a:lnTo>
                  <a:pt x="22102" y="11907"/>
                </a:lnTo>
                <a:lnTo>
                  <a:pt x="21791" y="12172"/>
                </a:lnTo>
                <a:lnTo>
                  <a:pt x="21285" y="12359"/>
                </a:lnTo>
                <a:lnTo>
                  <a:pt x="20577" y="12592"/>
                </a:lnTo>
                <a:lnTo>
                  <a:pt x="20095" y="12851"/>
                </a:lnTo>
                <a:lnTo>
                  <a:pt x="19698" y="13034"/>
                </a:lnTo>
                <a:lnTo>
                  <a:pt x="19060" y="13238"/>
                </a:lnTo>
                <a:lnTo>
                  <a:pt x="18429" y="13331"/>
                </a:lnTo>
                <a:lnTo>
                  <a:pt x="17791" y="13540"/>
                </a:lnTo>
                <a:lnTo>
                  <a:pt x="17361" y="13648"/>
                </a:lnTo>
                <a:lnTo>
                  <a:pt x="16698" y="13783"/>
                </a:lnTo>
                <a:lnTo>
                  <a:pt x="16073" y="14017"/>
                </a:lnTo>
                <a:lnTo>
                  <a:pt x="15349" y="14106"/>
                </a:lnTo>
                <a:lnTo>
                  <a:pt x="14734" y="14167"/>
                </a:lnTo>
                <a:lnTo>
                  <a:pt x="14164" y="14040"/>
                </a:lnTo>
                <a:lnTo>
                  <a:pt x="13374" y="14052"/>
                </a:lnTo>
                <a:lnTo>
                  <a:pt x="12743" y="14216"/>
                </a:lnTo>
                <a:lnTo>
                  <a:pt x="12151" y="14089"/>
                </a:lnTo>
                <a:lnTo>
                  <a:pt x="11498" y="14156"/>
                </a:lnTo>
                <a:lnTo>
                  <a:pt x="10812" y="13958"/>
                </a:lnTo>
                <a:lnTo>
                  <a:pt x="10011" y="14010"/>
                </a:lnTo>
                <a:lnTo>
                  <a:pt x="9408" y="13845"/>
                </a:lnTo>
                <a:lnTo>
                  <a:pt x="8769" y="13867"/>
                </a:lnTo>
                <a:lnTo>
                  <a:pt x="8163" y="13771"/>
                </a:lnTo>
                <a:lnTo>
                  <a:pt x="7453" y="13537"/>
                </a:lnTo>
                <a:lnTo>
                  <a:pt x="6906" y="13270"/>
                </a:lnTo>
                <a:lnTo>
                  <a:pt x="6495" y="13141"/>
                </a:lnTo>
                <a:lnTo>
                  <a:pt x="5924" y="13009"/>
                </a:lnTo>
                <a:lnTo>
                  <a:pt x="5353" y="12709"/>
                </a:lnTo>
                <a:lnTo>
                  <a:pt x="4749" y="12580"/>
                </a:lnTo>
                <a:lnTo>
                  <a:pt x="4356" y="12338"/>
                </a:lnTo>
                <a:lnTo>
                  <a:pt x="3821" y="12075"/>
                </a:lnTo>
                <a:lnTo>
                  <a:pt x="3358" y="11823"/>
                </a:lnTo>
                <a:lnTo>
                  <a:pt x="2887" y="11481"/>
                </a:lnTo>
                <a:lnTo>
                  <a:pt x="2351" y="11195"/>
                </a:lnTo>
                <a:lnTo>
                  <a:pt x="2178" y="10917"/>
                </a:lnTo>
                <a:lnTo>
                  <a:pt x="1707" y="10580"/>
                </a:lnTo>
                <a:lnTo>
                  <a:pt x="1312" y="10189"/>
                </a:lnTo>
                <a:lnTo>
                  <a:pt x="1221" y="10016"/>
                </a:lnTo>
                <a:lnTo>
                  <a:pt x="915" y="9580"/>
                </a:lnTo>
                <a:lnTo>
                  <a:pt x="626" y="9250"/>
                </a:lnTo>
                <a:lnTo>
                  <a:pt x="421" y="8944"/>
                </a:lnTo>
                <a:lnTo>
                  <a:pt x="354" y="8605"/>
                </a:lnTo>
                <a:lnTo>
                  <a:pt x="280" y="8212"/>
                </a:lnTo>
                <a:lnTo>
                  <a:pt x="57" y="7753"/>
                </a:lnTo>
                <a:lnTo>
                  <a:pt x="0" y="7588"/>
                </a:lnTo>
                <a:lnTo>
                  <a:pt x="136" y="7102"/>
                </a:lnTo>
                <a:lnTo>
                  <a:pt x="112" y="6855"/>
                </a:lnTo>
                <a:lnTo>
                  <a:pt x="57" y="6495"/>
                </a:lnTo>
                <a:lnTo>
                  <a:pt x="187" y="6034"/>
                </a:lnTo>
                <a:lnTo>
                  <a:pt x="393" y="5750"/>
                </a:lnTo>
                <a:lnTo>
                  <a:pt x="386" y="5207"/>
                </a:lnTo>
                <a:lnTo>
                  <a:pt x="651" y="4985"/>
                </a:lnTo>
                <a:lnTo>
                  <a:pt x="985" y="4570"/>
                </a:lnTo>
                <a:lnTo>
                  <a:pt x="1124" y="4154"/>
                </a:lnTo>
                <a:lnTo>
                  <a:pt x="1347" y="3802"/>
                </a:lnTo>
                <a:lnTo>
                  <a:pt x="1775" y="3652"/>
                </a:lnTo>
                <a:lnTo>
                  <a:pt x="2170" y="3259"/>
                </a:lnTo>
                <a:lnTo>
                  <a:pt x="2566" y="2860"/>
                </a:lnTo>
                <a:lnTo>
                  <a:pt x="2901" y="2743"/>
                </a:lnTo>
                <a:lnTo>
                  <a:pt x="3221" y="2305"/>
                </a:lnTo>
                <a:lnTo>
                  <a:pt x="3840" y="2186"/>
                </a:lnTo>
                <a:lnTo>
                  <a:pt x="4203" y="1933"/>
                </a:lnTo>
                <a:lnTo>
                  <a:pt x="4798" y="1641"/>
                </a:lnTo>
                <a:lnTo>
                  <a:pt x="5372" y="1314"/>
                </a:lnTo>
                <a:lnTo>
                  <a:pt x="5858" y="1157"/>
                </a:lnTo>
                <a:lnTo>
                  <a:pt x="6301" y="1012"/>
                </a:lnTo>
                <a:lnTo>
                  <a:pt x="6879" y="881"/>
                </a:lnTo>
                <a:lnTo>
                  <a:pt x="7492" y="620"/>
                </a:lnTo>
                <a:lnTo>
                  <a:pt x="8183" y="480"/>
                </a:lnTo>
                <a:lnTo>
                  <a:pt x="8714" y="388"/>
                </a:lnTo>
                <a:lnTo>
                  <a:pt x="9550" y="253"/>
                </a:lnTo>
                <a:lnTo>
                  <a:pt x="10119" y="141"/>
                </a:lnTo>
                <a:lnTo>
                  <a:pt x="10754" y="126"/>
                </a:lnTo>
                <a:lnTo>
                  <a:pt x="11305" y="73"/>
                </a:lnTo>
                <a:lnTo>
                  <a:pt x="12005" y="170"/>
                </a:lnTo>
                <a:lnTo>
                  <a:pt x="12721" y="70"/>
                </a:lnTo>
                <a:lnTo>
                  <a:pt x="13284" y="0"/>
                </a:lnTo>
                <a:lnTo>
                  <a:pt x="13954" y="220"/>
                </a:lnTo>
                <a:lnTo>
                  <a:pt x="14654" y="165"/>
                </a:lnTo>
                <a:lnTo>
                  <a:pt x="15439" y="143"/>
                </a:lnTo>
                <a:lnTo>
                  <a:pt x="15988" y="316"/>
                </a:lnTo>
                <a:lnTo>
                  <a:pt x="16761" y="441"/>
                </a:lnTo>
                <a:lnTo>
                  <a:pt x="17309" y="665"/>
                </a:lnTo>
                <a:lnTo>
                  <a:pt x="17925" y="626"/>
                </a:lnTo>
                <a:lnTo>
                  <a:pt x="18417" y="743"/>
                </a:lnTo>
                <a:lnTo>
                  <a:pt x="19025" y="968"/>
                </a:lnTo>
                <a:lnTo>
                  <a:pt x="19742" y="1277"/>
                </a:lnTo>
                <a:lnTo>
                  <a:pt x="20133" y="1312"/>
                </a:lnTo>
                <a:lnTo>
                  <a:pt x="20764" y="1562"/>
                </a:lnTo>
                <a:lnTo>
                  <a:pt x="21154" y="1861"/>
                </a:lnTo>
                <a:lnTo>
                  <a:pt x="21638" y="2242"/>
                </a:lnTo>
                <a:lnTo>
                  <a:pt x="22263" y="2433"/>
                </a:lnTo>
                <a:lnTo>
                  <a:pt x="22574" y="2602"/>
                </a:lnTo>
                <a:lnTo>
                  <a:pt x="22971" y="2893"/>
                </a:lnTo>
                <a:lnTo>
                  <a:pt x="23339" y="3315"/>
                </a:lnTo>
                <a:lnTo>
                  <a:pt x="23826" y="3493"/>
                </a:lnTo>
                <a:lnTo>
                  <a:pt x="23903" y="3825"/>
                </a:lnTo>
                <a:lnTo>
                  <a:pt x="24181" y="4183"/>
                </a:lnTo>
                <a:lnTo>
                  <a:pt x="24604" y="4646"/>
                </a:lnTo>
                <a:lnTo>
                  <a:pt x="24871" y="4844"/>
                </a:lnTo>
                <a:lnTo>
                  <a:pt x="25039" y="5264"/>
                </a:lnTo>
                <a:lnTo>
                  <a:pt x="25167" y="5663"/>
                </a:lnTo>
                <a:lnTo>
                  <a:pt x="25129" y="5977"/>
                </a:lnTo>
                <a:lnTo>
                  <a:pt x="25394" y="6306"/>
                </a:lnTo>
                <a:lnTo>
                  <a:pt x="25379" y="6692"/>
                </a:lnTo>
                <a:lnTo>
                  <a:pt x="25466" y="7144"/>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8898666" y="1794601"/>
            <a:ext cx="2332269" cy="1294882"/>
          </a:xfrm>
          <a:custGeom>
            <a:avLst/>
            <a:gdLst/>
            <a:ahLst/>
            <a:cxnLst/>
            <a:rect l="l" t="t" r="r" b="b"/>
            <a:pathLst>
              <a:path w="25506" h="14161">
                <a:moveTo>
                  <a:pt x="25399" y="7135"/>
                </a:moveTo>
                <a:lnTo>
                  <a:pt x="25386" y="7483"/>
                </a:lnTo>
                <a:lnTo>
                  <a:pt x="25506" y="7730"/>
                </a:lnTo>
                <a:lnTo>
                  <a:pt x="25314" y="8219"/>
                </a:lnTo>
                <a:lnTo>
                  <a:pt x="25087" y="8601"/>
                </a:lnTo>
                <a:lnTo>
                  <a:pt x="24972" y="8893"/>
                </a:lnTo>
                <a:lnTo>
                  <a:pt x="24842" y="9100"/>
                </a:lnTo>
                <a:lnTo>
                  <a:pt x="24506" y="9558"/>
                </a:lnTo>
                <a:lnTo>
                  <a:pt x="24317" y="9863"/>
                </a:lnTo>
                <a:lnTo>
                  <a:pt x="24120" y="10260"/>
                </a:lnTo>
                <a:lnTo>
                  <a:pt x="23697" y="10569"/>
                </a:lnTo>
                <a:lnTo>
                  <a:pt x="23405" y="10741"/>
                </a:lnTo>
                <a:lnTo>
                  <a:pt x="23021" y="11078"/>
                </a:lnTo>
                <a:lnTo>
                  <a:pt x="22762" y="11457"/>
                </a:lnTo>
                <a:lnTo>
                  <a:pt x="22334" y="11777"/>
                </a:lnTo>
                <a:lnTo>
                  <a:pt x="21695" y="11979"/>
                </a:lnTo>
                <a:lnTo>
                  <a:pt x="21388" y="12261"/>
                </a:lnTo>
                <a:lnTo>
                  <a:pt x="20674" y="12572"/>
                </a:lnTo>
                <a:lnTo>
                  <a:pt x="20148" y="12667"/>
                </a:lnTo>
                <a:lnTo>
                  <a:pt x="19616" y="12894"/>
                </a:lnTo>
                <a:lnTo>
                  <a:pt x="19169" y="13198"/>
                </a:lnTo>
                <a:lnTo>
                  <a:pt x="18628" y="13240"/>
                </a:lnTo>
                <a:lnTo>
                  <a:pt x="17922" y="13565"/>
                </a:lnTo>
                <a:lnTo>
                  <a:pt x="17309" y="13620"/>
                </a:lnTo>
                <a:lnTo>
                  <a:pt x="16586" y="13607"/>
                </a:lnTo>
                <a:lnTo>
                  <a:pt x="16127" y="13907"/>
                </a:lnTo>
                <a:lnTo>
                  <a:pt x="15422" y="13904"/>
                </a:lnTo>
                <a:lnTo>
                  <a:pt x="14702" y="13993"/>
                </a:lnTo>
                <a:lnTo>
                  <a:pt x="14178" y="13976"/>
                </a:lnTo>
                <a:lnTo>
                  <a:pt x="13523" y="14064"/>
                </a:lnTo>
                <a:lnTo>
                  <a:pt x="12680" y="13962"/>
                </a:lnTo>
                <a:lnTo>
                  <a:pt x="12029" y="14161"/>
                </a:lnTo>
                <a:lnTo>
                  <a:pt x="11508" y="13947"/>
                </a:lnTo>
                <a:lnTo>
                  <a:pt x="10866" y="13996"/>
                </a:lnTo>
                <a:lnTo>
                  <a:pt x="10275" y="13945"/>
                </a:lnTo>
                <a:lnTo>
                  <a:pt x="9418" y="13804"/>
                </a:lnTo>
                <a:lnTo>
                  <a:pt x="8869" y="13749"/>
                </a:lnTo>
                <a:lnTo>
                  <a:pt x="8283" y="13703"/>
                </a:lnTo>
                <a:lnTo>
                  <a:pt x="7507" y="13376"/>
                </a:lnTo>
                <a:lnTo>
                  <a:pt x="7060" y="13255"/>
                </a:lnTo>
                <a:lnTo>
                  <a:pt x="6487" y="13123"/>
                </a:lnTo>
                <a:lnTo>
                  <a:pt x="5966" y="12941"/>
                </a:lnTo>
                <a:lnTo>
                  <a:pt x="5296" y="12683"/>
                </a:lnTo>
                <a:lnTo>
                  <a:pt x="4776" y="12589"/>
                </a:lnTo>
                <a:lnTo>
                  <a:pt x="4185" y="12284"/>
                </a:lnTo>
                <a:lnTo>
                  <a:pt x="3784" y="11913"/>
                </a:lnTo>
                <a:lnTo>
                  <a:pt x="3335" y="11684"/>
                </a:lnTo>
                <a:lnTo>
                  <a:pt x="2911" y="11466"/>
                </a:lnTo>
                <a:lnTo>
                  <a:pt x="2480" y="11117"/>
                </a:lnTo>
                <a:lnTo>
                  <a:pt x="2169" y="10761"/>
                </a:lnTo>
                <a:lnTo>
                  <a:pt x="1832" y="10468"/>
                </a:lnTo>
                <a:lnTo>
                  <a:pt x="1551" y="10175"/>
                </a:lnTo>
                <a:lnTo>
                  <a:pt x="1173" y="9804"/>
                </a:lnTo>
                <a:lnTo>
                  <a:pt x="832" y="9465"/>
                </a:lnTo>
                <a:lnTo>
                  <a:pt x="849" y="9181"/>
                </a:lnTo>
                <a:lnTo>
                  <a:pt x="551" y="8864"/>
                </a:lnTo>
                <a:lnTo>
                  <a:pt x="361" y="8572"/>
                </a:lnTo>
                <a:lnTo>
                  <a:pt x="222" y="8090"/>
                </a:lnTo>
                <a:lnTo>
                  <a:pt x="153" y="7678"/>
                </a:lnTo>
                <a:lnTo>
                  <a:pt x="0" y="7402"/>
                </a:lnTo>
                <a:lnTo>
                  <a:pt x="79" y="7028"/>
                </a:lnTo>
                <a:lnTo>
                  <a:pt x="240" y="6762"/>
                </a:lnTo>
                <a:lnTo>
                  <a:pt x="161" y="6280"/>
                </a:lnTo>
                <a:lnTo>
                  <a:pt x="241" y="5841"/>
                </a:lnTo>
                <a:lnTo>
                  <a:pt x="429" y="5596"/>
                </a:lnTo>
                <a:lnTo>
                  <a:pt x="543" y="5324"/>
                </a:lnTo>
                <a:lnTo>
                  <a:pt x="633" y="4870"/>
                </a:lnTo>
                <a:lnTo>
                  <a:pt x="1002" y="4486"/>
                </a:lnTo>
                <a:lnTo>
                  <a:pt x="1113" y="4059"/>
                </a:lnTo>
                <a:lnTo>
                  <a:pt x="1452" y="3798"/>
                </a:lnTo>
                <a:lnTo>
                  <a:pt x="1684" y="3483"/>
                </a:lnTo>
                <a:lnTo>
                  <a:pt x="2076" y="3212"/>
                </a:lnTo>
                <a:lnTo>
                  <a:pt x="2627" y="2835"/>
                </a:lnTo>
                <a:lnTo>
                  <a:pt x="2937" y="2500"/>
                </a:lnTo>
                <a:lnTo>
                  <a:pt x="3443" y="2321"/>
                </a:lnTo>
                <a:lnTo>
                  <a:pt x="3821" y="1966"/>
                </a:lnTo>
                <a:lnTo>
                  <a:pt x="4402" y="1849"/>
                </a:lnTo>
                <a:lnTo>
                  <a:pt x="4682" y="1454"/>
                </a:lnTo>
                <a:lnTo>
                  <a:pt x="5298" y="1409"/>
                </a:lnTo>
                <a:lnTo>
                  <a:pt x="5915" y="1118"/>
                </a:lnTo>
                <a:lnTo>
                  <a:pt x="6419" y="899"/>
                </a:lnTo>
                <a:lnTo>
                  <a:pt x="7002" y="828"/>
                </a:lnTo>
                <a:lnTo>
                  <a:pt x="7690" y="695"/>
                </a:lnTo>
                <a:lnTo>
                  <a:pt x="8218" y="480"/>
                </a:lnTo>
                <a:lnTo>
                  <a:pt x="8858" y="410"/>
                </a:lnTo>
                <a:lnTo>
                  <a:pt x="9626" y="155"/>
                </a:lnTo>
                <a:lnTo>
                  <a:pt x="10160" y="87"/>
                </a:lnTo>
                <a:lnTo>
                  <a:pt x="10925" y="0"/>
                </a:lnTo>
                <a:lnTo>
                  <a:pt x="11492" y="82"/>
                </a:lnTo>
                <a:lnTo>
                  <a:pt x="12195" y="53"/>
                </a:lnTo>
                <a:lnTo>
                  <a:pt x="12756" y="45"/>
                </a:lnTo>
                <a:lnTo>
                  <a:pt x="13399" y="42"/>
                </a:lnTo>
                <a:lnTo>
                  <a:pt x="14070" y="102"/>
                </a:lnTo>
                <a:lnTo>
                  <a:pt x="14687" y="151"/>
                </a:lnTo>
                <a:lnTo>
                  <a:pt x="15476" y="255"/>
                </a:lnTo>
                <a:lnTo>
                  <a:pt x="16194" y="208"/>
                </a:lnTo>
                <a:lnTo>
                  <a:pt x="16580" y="366"/>
                </a:lnTo>
                <a:lnTo>
                  <a:pt x="17423" y="342"/>
                </a:lnTo>
                <a:lnTo>
                  <a:pt x="17969" y="662"/>
                </a:lnTo>
                <a:lnTo>
                  <a:pt x="18434" y="851"/>
                </a:lnTo>
                <a:lnTo>
                  <a:pt x="19244" y="858"/>
                </a:lnTo>
                <a:lnTo>
                  <a:pt x="19582" y="1067"/>
                </a:lnTo>
                <a:lnTo>
                  <a:pt x="20294" y="1326"/>
                </a:lnTo>
                <a:lnTo>
                  <a:pt x="20784" y="1502"/>
                </a:lnTo>
                <a:lnTo>
                  <a:pt x="21345" y="1763"/>
                </a:lnTo>
                <a:lnTo>
                  <a:pt x="21652" y="2100"/>
                </a:lnTo>
                <a:lnTo>
                  <a:pt x="22254" y="2310"/>
                </a:lnTo>
                <a:lnTo>
                  <a:pt x="22636" y="2522"/>
                </a:lnTo>
                <a:lnTo>
                  <a:pt x="23070" y="2994"/>
                </a:lnTo>
                <a:lnTo>
                  <a:pt x="23334" y="3104"/>
                </a:lnTo>
                <a:lnTo>
                  <a:pt x="23692" y="3470"/>
                </a:lnTo>
                <a:lnTo>
                  <a:pt x="24162" y="3888"/>
                </a:lnTo>
                <a:lnTo>
                  <a:pt x="24386" y="4189"/>
                </a:lnTo>
                <a:lnTo>
                  <a:pt x="24622" y="4481"/>
                </a:lnTo>
                <a:lnTo>
                  <a:pt x="24891" y="4938"/>
                </a:lnTo>
                <a:lnTo>
                  <a:pt x="24925" y="5205"/>
                </a:lnTo>
                <a:lnTo>
                  <a:pt x="25135" y="5629"/>
                </a:lnTo>
                <a:lnTo>
                  <a:pt x="25256" y="5938"/>
                </a:lnTo>
                <a:lnTo>
                  <a:pt x="25275" y="6339"/>
                </a:lnTo>
                <a:lnTo>
                  <a:pt x="25410" y="6730"/>
                </a:lnTo>
                <a:lnTo>
                  <a:pt x="25494" y="7032"/>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11126785" y="2570561"/>
            <a:ext cx="74889" cy="127742"/>
          </a:xfrm>
          <a:custGeom>
            <a:avLst/>
            <a:gdLst/>
            <a:ahLst/>
            <a:cxnLst/>
            <a:rect l="l" t="t" r="r" b="b"/>
            <a:pathLst>
              <a:path w="819" h="1397">
                <a:moveTo>
                  <a:pt x="819" y="0"/>
                </a:moveTo>
                <a:lnTo>
                  <a:pt x="664" y="357"/>
                </a:lnTo>
                <a:lnTo>
                  <a:pt x="475" y="710"/>
                </a:lnTo>
                <a:lnTo>
                  <a:pt x="254" y="1057"/>
                </a:lnTo>
                <a:lnTo>
                  <a:pt x="0" y="139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10483047" y="2976006"/>
            <a:ext cx="215981" cy="60990"/>
          </a:xfrm>
          <a:custGeom>
            <a:avLst/>
            <a:gdLst/>
            <a:ahLst/>
            <a:cxnLst/>
            <a:rect l="l" t="t" r="r" b="b"/>
            <a:pathLst>
              <a:path w="2362" h="667">
                <a:moveTo>
                  <a:pt x="2362" y="0"/>
                </a:moveTo>
                <a:lnTo>
                  <a:pt x="1796" y="192"/>
                </a:lnTo>
                <a:lnTo>
                  <a:pt x="1213" y="368"/>
                </a:lnTo>
                <a:lnTo>
                  <a:pt x="613" y="526"/>
                </a:lnTo>
                <a:lnTo>
                  <a:pt x="0" y="66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9595988" y="3024104"/>
            <a:ext cx="230520" cy="41514"/>
          </a:xfrm>
          <a:custGeom>
            <a:avLst/>
            <a:gdLst/>
            <a:ahLst/>
            <a:cxnLst/>
            <a:rect l="l" t="t" r="r" b="b"/>
            <a:pathLst>
              <a:path w="2521" h="454">
                <a:moveTo>
                  <a:pt x="2521" y="454"/>
                </a:moveTo>
                <a:lnTo>
                  <a:pt x="1875" y="368"/>
                </a:lnTo>
                <a:lnTo>
                  <a:pt x="1239" y="264"/>
                </a:lnTo>
                <a:lnTo>
                  <a:pt x="613" y="141"/>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8985077" y="2667213"/>
            <a:ext cx="110094" cy="119786"/>
          </a:xfrm>
          <a:custGeom>
            <a:avLst/>
            <a:gdLst/>
            <a:ahLst/>
            <a:cxnLst/>
            <a:rect l="l" t="t" r="r" b="b"/>
            <a:pathLst>
              <a:path w="1204" h="1310">
                <a:moveTo>
                  <a:pt x="1204" y="1310"/>
                </a:moveTo>
                <a:lnTo>
                  <a:pt x="857" y="996"/>
                </a:lnTo>
                <a:lnTo>
                  <a:pt x="540" y="673"/>
                </a:lnTo>
                <a:lnTo>
                  <a:pt x="254" y="340"/>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8933414" y="2175449"/>
            <a:ext cx="74889" cy="127742"/>
          </a:xfrm>
          <a:custGeom>
            <a:avLst/>
            <a:gdLst/>
            <a:ahLst/>
            <a:cxnLst/>
            <a:rect l="l" t="t" r="r" b="b"/>
            <a:pathLst>
              <a:path w="819" h="1397">
                <a:moveTo>
                  <a:pt x="0" y="1397"/>
                </a:moveTo>
                <a:lnTo>
                  <a:pt x="155" y="1040"/>
                </a:lnTo>
                <a:lnTo>
                  <a:pt x="344" y="687"/>
                </a:lnTo>
                <a:lnTo>
                  <a:pt x="565" y="340"/>
                </a:lnTo>
                <a:lnTo>
                  <a:pt x="81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9436059" y="1836755"/>
            <a:ext cx="215981" cy="60990"/>
          </a:xfrm>
          <a:custGeom>
            <a:avLst/>
            <a:gdLst/>
            <a:ahLst/>
            <a:cxnLst/>
            <a:rect l="l" t="t" r="r" b="b"/>
            <a:pathLst>
              <a:path w="2362" h="667">
                <a:moveTo>
                  <a:pt x="0" y="667"/>
                </a:moveTo>
                <a:lnTo>
                  <a:pt x="566" y="475"/>
                </a:lnTo>
                <a:lnTo>
                  <a:pt x="1149" y="299"/>
                </a:lnTo>
                <a:lnTo>
                  <a:pt x="1749" y="141"/>
                </a:lnTo>
                <a:lnTo>
                  <a:pt x="2362"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10308580" y="1808135"/>
            <a:ext cx="230520" cy="41514"/>
          </a:xfrm>
          <a:custGeom>
            <a:avLst/>
            <a:gdLst/>
            <a:ahLst/>
            <a:cxnLst/>
            <a:rect l="l" t="t" r="r" b="b"/>
            <a:pathLst>
              <a:path w="2521" h="454">
                <a:moveTo>
                  <a:pt x="0" y="0"/>
                </a:moveTo>
                <a:lnTo>
                  <a:pt x="646" y="86"/>
                </a:lnTo>
                <a:lnTo>
                  <a:pt x="1282" y="190"/>
                </a:lnTo>
                <a:lnTo>
                  <a:pt x="1908" y="313"/>
                </a:lnTo>
                <a:lnTo>
                  <a:pt x="2521" y="45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11039917" y="2086752"/>
            <a:ext cx="110094" cy="119786"/>
          </a:xfrm>
          <a:custGeom>
            <a:avLst/>
            <a:gdLst/>
            <a:ahLst/>
            <a:cxnLst/>
            <a:rect l="l" t="t" r="r" b="b"/>
            <a:pathLst>
              <a:path w="1204" h="1310">
                <a:moveTo>
                  <a:pt x="0" y="0"/>
                </a:moveTo>
                <a:lnTo>
                  <a:pt x="347" y="314"/>
                </a:lnTo>
                <a:lnTo>
                  <a:pt x="664" y="637"/>
                </a:lnTo>
                <a:lnTo>
                  <a:pt x="950" y="970"/>
                </a:lnTo>
                <a:lnTo>
                  <a:pt x="1204" y="131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ody: ControlArena monitor"/>
          <p:cNvSpPr txBox="1"/>
          <p:nvPr/>
        </p:nvSpPr>
        <p:spPr>
          <a:xfrm>
            <a:off x="9153143" y="2090483"/>
            <a:ext cx="18288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ControlArena</a:t>
            </a:r>
            <a:br/>
            <a:r>
              <a:rPr sz="1850" b="1">
                <a:solidFill>
                  <a:srgbClr val="4E7892"/>
                </a:solidFill>
                <a:latin typeface="Trebuchet MS"/>
              </a:rPr>
              <a:t>monitor</a:t>
            </a:r>
          </a:p>
        </p:txBody>
      </p:sp>
      <p:sp>
        <p:nvSpPr>
          <p:cNvPr id="69" name="Freeform 68"/>
          <p:cNvSpPr/>
          <p:nvPr/>
        </p:nvSpPr>
        <p:spPr>
          <a:xfrm>
            <a:off x="11311128" y="2420417"/>
            <a:ext cx="228600" cy="11887"/>
          </a:xfrm>
          <a:custGeom>
            <a:avLst/>
            <a:gdLst/>
            <a:ahLst/>
            <a:cxnLst/>
            <a:rect l="l" t="t" r="r" b="b"/>
            <a:pathLst>
              <a:path w="2500" h="130">
                <a:moveTo>
                  <a:pt x="0" y="130"/>
                </a:moveTo>
                <a:lnTo>
                  <a:pt x="1250" y="0"/>
                </a:lnTo>
                <a:lnTo>
                  <a:pt x="2500" y="13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11457889" y="2432304"/>
            <a:ext cx="81839" cy="50201"/>
          </a:xfrm>
          <a:custGeom>
            <a:avLst/>
            <a:gdLst/>
            <a:ahLst/>
            <a:cxnLst/>
            <a:rect l="l" t="t" r="r" b="b"/>
            <a:pathLst>
              <a:path w="895" h="549">
                <a:moveTo>
                  <a:pt x="0" y="549"/>
                </a:moveTo>
                <a:lnTo>
                  <a:pt x="895" y="0"/>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11457889" y="2382103"/>
            <a:ext cx="81839" cy="50201"/>
          </a:xfrm>
          <a:custGeom>
            <a:avLst/>
            <a:gdLst/>
            <a:ahLst/>
            <a:cxnLst/>
            <a:rect l="l" t="t" r="r" b="b"/>
            <a:pathLst>
              <a:path w="895" h="549">
                <a:moveTo>
                  <a:pt x="0" y="0"/>
                </a:moveTo>
                <a:lnTo>
                  <a:pt x="895" y="549"/>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1649455" y="1783080"/>
            <a:ext cx="2340864" cy="1307592"/>
          </a:xfrm>
          <a:prstGeom prst="ellipse">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11655308" y="1787286"/>
            <a:ext cx="2333915" cy="1302014"/>
          </a:xfrm>
          <a:custGeom>
            <a:avLst/>
            <a:gdLst/>
            <a:ahLst/>
            <a:cxnLst/>
            <a:rect l="l" t="t" r="r" b="b"/>
            <a:pathLst>
              <a:path w="25524" h="14239">
                <a:moveTo>
                  <a:pt x="25419" y="7053"/>
                </a:moveTo>
                <a:lnTo>
                  <a:pt x="25378" y="7444"/>
                </a:lnTo>
                <a:lnTo>
                  <a:pt x="25304" y="7853"/>
                </a:lnTo>
                <a:lnTo>
                  <a:pt x="25163" y="8280"/>
                </a:lnTo>
                <a:lnTo>
                  <a:pt x="25150" y="8551"/>
                </a:lnTo>
                <a:lnTo>
                  <a:pt x="25023" y="8935"/>
                </a:lnTo>
                <a:lnTo>
                  <a:pt x="24682" y="9179"/>
                </a:lnTo>
                <a:lnTo>
                  <a:pt x="24486" y="9591"/>
                </a:lnTo>
                <a:lnTo>
                  <a:pt x="24290" y="9862"/>
                </a:lnTo>
                <a:lnTo>
                  <a:pt x="23938" y="10284"/>
                </a:lnTo>
                <a:lnTo>
                  <a:pt x="23733" y="10690"/>
                </a:lnTo>
                <a:lnTo>
                  <a:pt x="23326" y="10947"/>
                </a:lnTo>
                <a:lnTo>
                  <a:pt x="22964" y="11331"/>
                </a:lnTo>
                <a:lnTo>
                  <a:pt x="22600" y="11611"/>
                </a:lnTo>
                <a:lnTo>
                  <a:pt x="22126" y="11735"/>
                </a:lnTo>
                <a:lnTo>
                  <a:pt x="21734" y="12154"/>
                </a:lnTo>
                <a:lnTo>
                  <a:pt x="21246" y="12311"/>
                </a:lnTo>
                <a:lnTo>
                  <a:pt x="20838" y="12490"/>
                </a:lnTo>
                <a:lnTo>
                  <a:pt x="20127" y="12809"/>
                </a:lnTo>
                <a:lnTo>
                  <a:pt x="19753" y="13001"/>
                </a:lnTo>
                <a:lnTo>
                  <a:pt x="19160" y="13073"/>
                </a:lnTo>
                <a:lnTo>
                  <a:pt x="18544" y="13433"/>
                </a:lnTo>
                <a:lnTo>
                  <a:pt x="17864" y="13491"/>
                </a:lnTo>
                <a:lnTo>
                  <a:pt x="17259" y="13601"/>
                </a:lnTo>
                <a:lnTo>
                  <a:pt x="16541" y="13827"/>
                </a:lnTo>
                <a:lnTo>
                  <a:pt x="15955" y="13902"/>
                </a:lnTo>
                <a:lnTo>
                  <a:pt x="15458" y="14020"/>
                </a:lnTo>
                <a:lnTo>
                  <a:pt x="14653" y="14137"/>
                </a:lnTo>
                <a:lnTo>
                  <a:pt x="14151" y="14067"/>
                </a:lnTo>
                <a:lnTo>
                  <a:pt x="13506" y="14239"/>
                </a:lnTo>
                <a:lnTo>
                  <a:pt x="12786" y="14121"/>
                </a:lnTo>
                <a:lnTo>
                  <a:pt x="12110" y="14236"/>
                </a:lnTo>
                <a:lnTo>
                  <a:pt x="11344" y="14088"/>
                </a:lnTo>
                <a:lnTo>
                  <a:pt x="10878" y="14089"/>
                </a:lnTo>
                <a:lnTo>
                  <a:pt x="10193" y="14016"/>
                </a:lnTo>
                <a:lnTo>
                  <a:pt x="9582" y="13953"/>
                </a:lnTo>
                <a:lnTo>
                  <a:pt x="8912" y="13884"/>
                </a:lnTo>
                <a:lnTo>
                  <a:pt x="8126" y="13687"/>
                </a:lnTo>
                <a:lnTo>
                  <a:pt x="7707" y="13535"/>
                </a:lnTo>
                <a:lnTo>
                  <a:pt x="6883" y="13382"/>
                </a:lnTo>
                <a:lnTo>
                  <a:pt x="6321" y="13297"/>
                </a:lnTo>
                <a:lnTo>
                  <a:pt x="5954" y="12896"/>
                </a:lnTo>
                <a:lnTo>
                  <a:pt x="5253" y="12795"/>
                </a:lnTo>
                <a:lnTo>
                  <a:pt x="4842" y="12513"/>
                </a:lnTo>
                <a:lnTo>
                  <a:pt x="4380" y="12358"/>
                </a:lnTo>
                <a:lnTo>
                  <a:pt x="3683" y="12134"/>
                </a:lnTo>
                <a:lnTo>
                  <a:pt x="3214" y="11692"/>
                </a:lnTo>
                <a:lnTo>
                  <a:pt x="2909" y="11553"/>
                </a:lnTo>
                <a:lnTo>
                  <a:pt x="2377" y="11284"/>
                </a:lnTo>
                <a:lnTo>
                  <a:pt x="2073" y="11043"/>
                </a:lnTo>
                <a:lnTo>
                  <a:pt x="1693" y="10666"/>
                </a:lnTo>
                <a:lnTo>
                  <a:pt x="1422" y="10345"/>
                </a:lnTo>
                <a:lnTo>
                  <a:pt x="1240" y="10046"/>
                </a:lnTo>
                <a:lnTo>
                  <a:pt x="802" y="9650"/>
                </a:lnTo>
                <a:lnTo>
                  <a:pt x="763" y="9235"/>
                </a:lnTo>
                <a:lnTo>
                  <a:pt x="592" y="8822"/>
                </a:lnTo>
                <a:lnTo>
                  <a:pt x="398" y="8449"/>
                </a:lnTo>
                <a:lnTo>
                  <a:pt x="226" y="8257"/>
                </a:lnTo>
                <a:lnTo>
                  <a:pt x="224" y="7808"/>
                </a:lnTo>
                <a:lnTo>
                  <a:pt x="7" y="7588"/>
                </a:lnTo>
                <a:lnTo>
                  <a:pt x="180" y="7077"/>
                </a:lnTo>
                <a:lnTo>
                  <a:pt x="57" y="6674"/>
                </a:lnTo>
                <a:lnTo>
                  <a:pt x="0" y="6308"/>
                </a:lnTo>
                <a:lnTo>
                  <a:pt x="118" y="6100"/>
                </a:lnTo>
                <a:lnTo>
                  <a:pt x="323" y="5630"/>
                </a:lnTo>
                <a:lnTo>
                  <a:pt x="387" y="5219"/>
                </a:lnTo>
                <a:lnTo>
                  <a:pt x="559" y="4852"/>
                </a:lnTo>
                <a:lnTo>
                  <a:pt x="955" y="4477"/>
                </a:lnTo>
                <a:lnTo>
                  <a:pt x="1281" y="4343"/>
                </a:lnTo>
                <a:lnTo>
                  <a:pt x="1546" y="4032"/>
                </a:lnTo>
                <a:lnTo>
                  <a:pt x="1658" y="3509"/>
                </a:lnTo>
                <a:lnTo>
                  <a:pt x="2127" y="3334"/>
                </a:lnTo>
                <a:lnTo>
                  <a:pt x="2589" y="2957"/>
                </a:lnTo>
                <a:lnTo>
                  <a:pt x="3008" y="2561"/>
                </a:lnTo>
                <a:lnTo>
                  <a:pt x="3220" y="2479"/>
                </a:lnTo>
                <a:lnTo>
                  <a:pt x="3682" y="2054"/>
                </a:lnTo>
                <a:lnTo>
                  <a:pt x="4306" y="1799"/>
                </a:lnTo>
                <a:lnTo>
                  <a:pt x="4657" y="1660"/>
                </a:lnTo>
                <a:lnTo>
                  <a:pt x="5233" y="1482"/>
                </a:lnTo>
                <a:lnTo>
                  <a:pt x="5825" y="1305"/>
                </a:lnTo>
                <a:lnTo>
                  <a:pt x="6435" y="922"/>
                </a:lnTo>
                <a:lnTo>
                  <a:pt x="6946" y="743"/>
                </a:lnTo>
                <a:lnTo>
                  <a:pt x="7570" y="774"/>
                </a:lnTo>
                <a:lnTo>
                  <a:pt x="8259" y="582"/>
                </a:lnTo>
                <a:lnTo>
                  <a:pt x="8760" y="475"/>
                </a:lnTo>
                <a:lnTo>
                  <a:pt x="9375" y="333"/>
                </a:lnTo>
                <a:lnTo>
                  <a:pt x="10112" y="224"/>
                </a:lnTo>
                <a:lnTo>
                  <a:pt x="10706" y="100"/>
                </a:lnTo>
                <a:lnTo>
                  <a:pt x="11330" y="0"/>
                </a:lnTo>
                <a:lnTo>
                  <a:pt x="11975" y="2"/>
                </a:lnTo>
                <a:lnTo>
                  <a:pt x="12750" y="120"/>
                </a:lnTo>
                <a:lnTo>
                  <a:pt x="13397" y="100"/>
                </a:lnTo>
                <a:lnTo>
                  <a:pt x="14054" y="115"/>
                </a:lnTo>
                <a:lnTo>
                  <a:pt x="14781" y="90"/>
                </a:lnTo>
                <a:lnTo>
                  <a:pt x="15332" y="259"/>
                </a:lnTo>
                <a:lnTo>
                  <a:pt x="16031" y="273"/>
                </a:lnTo>
                <a:lnTo>
                  <a:pt x="16601" y="339"/>
                </a:lnTo>
                <a:lnTo>
                  <a:pt x="17383" y="463"/>
                </a:lnTo>
                <a:lnTo>
                  <a:pt x="17819" y="800"/>
                </a:lnTo>
                <a:lnTo>
                  <a:pt x="18537" y="804"/>
                </a:lnTo>
                <a:lnTo>
                  <a:pt x="18960" y="1132"/>
                </a:lnTo>
                <a:lnTo>
                  <a:pt x="19744" y="1321"/>
                </a:lnTo>
                <a:lnTo>
                  <a:pt x="20231" y="1475"/>
                </a:lnTo>
                <a:lnTo>
                  <a:pt x="20686" y="1668"/>
                </a:lnTo>
                <a:lnTo>
                  <a:pt x="21222" y="1917"/>
                </a:lnTo>
                <a:lnTo>
                  <a:pt x="21664" y="2061"/>
                </a:lnTo>
                <a:lnTo>
                  <a:pt x="22194" y="2369"/>
                </a:lnTo>
                <a:lnTo>
                  <a:pt x="22679" y="2603"/>
                </a:lnTo>
                <a:lnTo>
                  <a:pt x="23089" y="3090"/>
                </a:lnTo>
                <a:lnTo>
                  <a:pt x="23350" y="3334"/>
                </a:lnTo>
                <a:lnTo>
                  <a:pt x="23812" y="3603"/>
                </a:lnTo>
                <a:lnTo>
                  <a:pt x="24089" y="3810"/>
                </a:lnTo>
                <a:lnTo>
                  <a:pt x="24248" y="4166"/>
                </a:lnTo>
                <a:lnTo>
                  <a:pt x="24459" y="4653"/>
                </a:lnTo>
                <a:lnTo>
                  <a:pt x="24734" y="4945"/>
                </a:lnTo>
                <a:lnTo>
                  <a:pt x="24926" y="5219"/>
                </a:lnTo>
                <a:lnTo>
                  <a:pt x="25046" y="5571"/>
                </a:lnTo>
                <a:lnTo>
                  <a:pt x="25277" y="5964"/>
                </a:lnTo>
                <a:lnTo>
                  <a:pt x="25313" y="6359"/>
                </a:lnTo>
                <a:lnTo>
                  <a:pt x="25401" y="6710"/>
                </a:lnTo>
                <a:lnTo>
                  <a:pt x="25524" y="7054"/>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651833" y="1785640"/>
            <a:ext cx="2325594" cy="1298174"/>
          </a:xfrm>
          <a:custGeom>
            <a:avLst/>
            <a:gdLst/>
            <a:ahLst/>
            <a:cxnLst/>
            <a:rect l="l" t="t" r="r" b="b"/>
            <a:pathLst>
              <a:path w="25433" h="14197">
                <a:moveTo>
                  <a:pt x="25399" y="7054"/>
                </a:moveTo>
                <a:lnTo>
                  <a:pt x="25366" y="7425"/>
                </a:lnTo>
                <a:lnTo>
                  <a:pt x="25433" y="7830"/>
                </a:lnTo>
                <a:lnTo>
                  <a:pt x="25246" y="8144"/>
                </a:lnTo>
                <a:lnTo>
                  <a:pt x="25093" y="8470"/>
                </a:lnTo>
                <a:lnTo>
                  <a:pt x="25146" y="8844"/>
                </a:lnTo>
                <a:lnTo>
                  <a:pt x="24763" y="9362"/>
                </a:lnTo>
                <a:lnTo>
                  <a:pt x="24482" y="9583"/>
                </a:lnTo>
                <a:lnTo>
                  <a:pt x="24393" y="10048"/>
                </a:lnTo>
                <a:lnTo>
                  <a:pt x="24090" y="10311"/>
                </a:lnTo>
                <a:lnTo>
                  <a:pt x="23793" y="10618"/>
                </a:lnTo>
                <a:lnTo>
                  <a:pt x="23322" y="10948"/>
                </a:lnTo>
                <a:lnTo>
                  <a:pt x="22938" y="11196"/>
                </a:lnTo>
                <a:lnTo>
                  <a:pt x="22730" y="11500"/>
                </a:lnTo>
                <a:lnTo>
                  <a:pt x="22136" y="11933"/>
                </a:lnTo>
                <a:lnTo>
                  <a:pt x="21761" y="12172"/>
                </a:lnTo>
                <a:lnTo>
                  <a:pt x="21203" y="12344"/>
                </a:lnTo>
                <a:lnTo>
                  <a:pt x="20825" y="12668"/>
                </a:lnTo>
                <a:lnTo>
                  <a:pt x="20253" y="12708"/>
                </a:lnTo>
                <a:lnTo>
                  <a:pt x="19614" y="12998"/>
                </a:lnTo>
                <a:lnTo>
                  <a:pt x="19106" y="13177"/>
                </a:lnTo>
                <a:lnTo>
                  <a:pt x="18549" y="13496"/>
                </a:lnTo>
                <a:lnTo>
                  <a:pt x="18046" y="13533"/>
                </a:lnTo>
                <a:lnTo>
                  <a:pt x="17191" y="13789"/>
                </a:lnTo>
                <a:lnTo>
                  <a:pt x="16759" y="13691"/>
                </a:lnTo>
                <a:lnTo>
                  <a:pt x="16000" y="13904"/>
                </a:lnTo>
                <a:lnTo>
                  <a:pt x="15518" y="13950"/>
                </a:lnTo>
                <a:lnTo>
                  <a:pt x="14863" y="14097"/>
                </a:lnTo>
                <a:lnTo>
                  <a:pt x="14041" y="14102"/>
                </a:lnTo>
                <a:lnTo>
                  <a:pt x="13443" y="14158"/>
                </a:lnTo>
                <a:lnTo>
                  <a:pt x="12808" y="14063"/>
                </a:lnTo>
                <a:lnTo>
                  <a:pt x="12049" y="14035"/>
                </a:lnTo>
                <a:lnTo>
                  <a:pt x="11531" y="14197"/>
                </a:lnTo>
                <a:lnTo>
                  <a:pt x="10879" y="13979"/>
                </a:lnTo>
                <a:lnTo>
                  <a:pt x="10193" y="14048"/>
                </a:lnTo>
                <a:lnTo>
                  <a:pt x="9363" y="13866"/>
                </a:lnTo>
                <a:lnTo>
                  <a:pt x="8901" y="13782"/>
                </a:lnTo>
                <a:lnTo>
                  <a:pt x="8167" y="13712"/>
                </a:lnTo>
                <a:lnTo>
                  <a:pt x="7574" y="13661"/>
                </a:lnTo>
                <a:lnTo>
                  <a:pt x="6927" y="13288"/>
                </a:lnTo>
                <a:lnTo>
                  <a:pt x="6365" y="13228"/>
                </a:lnTo>
                <a:lnTo>
                  <a:pt x="5969" y="12916"/>
                </a:lnTo>
                <a:lnTo>
                  <a:pt x="5193" y="12849"/>
                </a:lnTo>
                <a:lnTo>
                  <a:pt x="4669" y="12565"/>
                </a:lnTo>
                <a:lnTo>
                  <a:pt x="4252" y="12239"/>
                </a:lnTo>
                <a:lnTo>
                  <a:pt x="3749" y="12147"/>
                </a:lnTo>
                <a:lnTo>
                  <a:pt x="3425" y="11711"/>
                </a:lnTo>
                <a:lnTo>
                  <a:pt x="2987" y="11530"/>
                </a:lnTo>
                <a:lnTo>
                  <a:pt x="2618" y="11214"/>
                </a:lnTo>
                <a:lnTo>
                  <a:pt x="2077" y="10840"/>
                </a:lnTo>
                <a:lnTo>
                  <a:pt x="1764" y="10686"/>
                </a:lnTo>
                <a:lnTo>
                  <a:pt x="1567" y="10314"/>
                </a:lnTo>
                <a:lnTo>
                  <a:pt x="1204" y="9941"/>
                </a:lnTo>
                <a:lnTo>
                  <a:pt x="1017" y="9609"/>
                </a:lnTo>
                <a:lnTo>
                  <a:pt x="756" y="9296"/>
                </a:lnTo>
                <a:lnTo>
                  <a:pt x="524" y="8964"/>
                </a:lnTo>
                <a:lnTo>
                  <a:pt x="249" y="8530"/>
                </a:lnTo>
                <a:lnTo>
                  <a:pt x="312" y="8273"/>
                </a:lnTo>
                <a:lnTo>
                  <a:pt x="58" y="7917"/>
                </a:lnTo>
                <a:lnTo>
                  <a:pt x="181" y="7508"/>
                </a:lnTo>
                <a:lnTo>
                  <a:pt x="174" y="7185"/>
                </a:lnTo>
                <a:lnTo>
                  <a:pt x="0" y="6760"/>
                </a:lnTo>
                <a:lnTo>
                  <a:pt x="53" y="6388"/>
                </a:lnTo>
                <a:lnTo>
                  <a:pt x="177" y="5993"/>
                </a:lnTo>
                <a:lnTo>
                  <a:pt x="463" y="5775"/>
                </a:lnTo>
                <a:lnTo>
                  <a:pt x="649" y="5420"/>
                </a:lnTo>
                <a:lnTo>
                  <a:pt x="711" y="5015"/>
                </a:lnTo>
                <a:lnTo>
                  <a:pt x="1056" y="4595"/>
                </a:lnTo>
                <a:lnTo>
                  <a:pt x="1208" y="4307"/>
                </a:lnTo>
                <a:lnTo>
                  <a:pt x="1397" y="3838"/>
                </a:lnTo>
                <a:lnTo>
                  <a:pt x="1844" y="3640"/>
                </a:lnTo>
                <a:lnTo>
                  <a:pt x="2055" y="3387"/>
                </a:lnTo>
                <a:lnTo>
                  <a:pt x="2487" y="3070"/>
                </a:lnTo>
                <a:lnTo>
                  <a:pt x="2961" y="2715"/>
                </a:lnTo>
                <a:lnTo>
                  <a:pt x="3295" y="2524"/>
                </a:lnTo>
                <a:lnTo>
                  <a:pt x="3740" y="2062"/>
                </a:lnTo>
                <a:lnTo>
                  <a:pt x="4344" y="1957"/>
                </a:lnTo>
                <a:lnTo>
                  <a:pt x="4684" y="1760"/>
                </a:lnTo>
                <a:lnTo>
                  <a:pt x="5334" y="1530"/>
                </a:lnTo>
                <a:lnTo>
                  <a:pt x="5899" y="1122"/>
                </a:lnTo>
                <a:lnTo>
                  <a:pt x="6415" y="1062"/>
                </a:lnTo>
                <a:lnTo>
                  <a:pt x="7010" y="863"/>
                </a:lnTo>
                <a:lnTo>
                  <a:pt x="7532" y="782"/>
                </a:lnTo>
                <a:lnTo>
                  <a:pt x="8343" y="614"/>
                </a:lnTo>
                <a:lnTo>
                  <a:pt x="8898" y="553"/>
                </a:lnTo>
                <a:lnTo>
                  <a:pt x="9569" y="288"/>
                </a:lnTo>
                <a:lnTo>
                  <a:pt x="10234" y="196"/>
                </a:lnTo>
                <a:lnTo>
                  <a:pt x="10796" y="196"/>
                </a:lnTo>
                <a:lnTo>
                  <a:pt x="11543" y="215"/>
                </a:lnTo>
                <a:lnTo>
                  <a:pt x="12131" y="31"/>
                </a:lnTo>
                <a:lnTo>
                  <a:pt x="12835" y="0"/>
                </a:lnTo>
                <a:lnTo>
                  <a:pt x="13344" y="222"/>
                </a:lnTo>
                <a:lnTo>
                  <a:pt x="14111" y="16"/>
                </a:lnTo>
                <a:lnTo>
                  <a:pt x="14797" y="158"/>
                </a:lnTo>
                <a:lnTo>
                  <a:pt x="15382" y="359"/>
                </a:lnTo>
                <a:lnTo>
                  <a:pt x="15953" y="239"/>
                </a:lnTo>
                <a:lnTo>
                  <a:pt x="16607" y="365"/>
                </a:lnTo>
                <a:lnTo>
                  <a:pt x="17291" y="494"/>
                </a:lnTo>
                <a:lnTo>
                  <a:pt x="17925" y="697"/>
                </a:lnTo>
                <a:lnTo>
                  <a:pt x="18560" y="908"/>
                </a:lnTo>
                <a:lnTo>
                  <a:pt x="19238" y="920"/>
                </a:lnTo>
                <a:lnTo>
                  <a:pt x="19775" y="1133"/>
                </a:lnTo>
                <a:lnTo>
                  <a:pt x="20257" y="1501"/>
                </a:lnTo>
                <a:lnTo>
                  <a:pt x="20881" y="1627"/>
                </a:lnTo>
                <a:lnTo>
                  <a:pt x="21247" y="1857"/>
                </a:lnTo>
                <a:lnTo>
                  <a:pt x="21678" y="2204"/>
                </a:lnTo>
                <a:lnTo>
                  <a:pt x="22162" y="2339"/>
                </a:lnTo>
                <a:lnTo>
                  <a:pt x="22635" y="2726"/>
                </a:lnTo>
                <a:lnTo>
                  <a:pt x="22960" y="2895"/>
                </a:lnTo>
                <a:lnTo>
                  <a:pt x="23488" y="3309"/>
                </a:lnTo>
                <a:lnTo>
                  <a:pt x="23729" y="3556"/>
                </a:lnTo>
                <a:lnTo>
                  <a:pt x="24145" y="3874"/>
                </a:lnTo>
                <a:lnTo>
                  <a:pt x="24343" y="4341"/>
                </a:lnTo>
                <a:lnTo>
                  <a:pt x="24619" y="4645"/>
                </a:lnTo>
                <a:lnTo>
                  <a:pt x="24841" y="4992"/>
                </a:lnTo>
                <a:lnTo>
                  <a:pt x="25096" y="5185"/>
                </a:lnTo>
                <a:lnTo>
                  <a:pt x="25127" y="5655"/>
                </a:lnTo>
                <a:lnTo>
                  <a:pt x="25238" y="6015"/>
                </a:lnTo>
                <a:lnTo>
                  <a:pt x="25297" y="6317"/>
                </a:lnTo>
                <a:lnTo>
                  <a:pt x="25421" y="6764"/>
                </a:lnTo>
                <a:lnTo>
                  <a:pt x="25342" y="7085"/>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13879129" y="2570561"/>
            <a:ext cx="74889" cy="127742"/>
          </a:xfrm>
          <a:custGeom>
            <a:avLst/>
            <a:gdLst/>
            <a:ahLst/>
            <a:cxnLst/>
            <a:rect l="l" t="t" r="r" b="b"/>
            <a:pathLst>
              <a:path w="819" h="1397">
                <a:moveTo>
                  <a:pt x="819" y="0"/>
                </a:moveTo>
                <a:lnTo>
                  <a:pt x="664" y="357"/>
                </a:lnTo>
                <a:lnTo>
                  <a:pt x="475" y="710"/>
                </a:lnTo>
                <a:lnTo>
                  <a:pt x="254" y="1057"/>
                </a:lnTo>
                <a:lnTo>
                  <a:pt x="0" y="1397"/>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13235391" y="2976006"/>
            <a:ext cx="215981" cy="60990"/>
          </a:xfrm>
          <a:custGeom>
            <a:avLst/>
            <a:gdLst/>
            <a:ahLst/>
            <a:cxnLst/>
            <a:rect l="l" t="t" r="r" b="b"/>
            <a:pathLst>
              <a:path w="2362" h="667">
                <a:moveTo>
                  <a:pt x="2362" y="0"/>
                </a:moveTo>
                <a:lnTo>
                  <a:pt x="1796" y="192"/>
                </a:lnTo>
                <a:lnTo>
                  <a:pt x="1213" y="368"/>
                </a:lnTo>
                <a:lnTo>
                  <a:pt x="613" y="526"/>
                </a:lnTo>
                <a:lnTo>
                  <a:pt x="0" y="667"/>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12348332" y="3024104"/>
            <a:ext cx="230520" cy="41514"/>
          </a:xfrm>
          <a:custGeom>
            <a:avLst/>
            <a:gdLst/>
            <a:ahLst/>
            <a:cxnLst/>
            <a:rect l="l" t="t" r="r" b="b"/>
            <a:pathLst>
              <a:path w="2521" h="454">
                <a:moveTo>
                  <a:pt x="2521" y="454"/>
                </a:moveTo>
                <a:lnTo>
                  <a:pt x="1875" y="368"/>
                </a:lnTo>
                <a:lnTo>
                  <a:pt x="1239" y="264"/>
                </a:lnTo>
                <a:lnTo>
                  <a:pt x="613" y="141"/>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11737421" y="2667213"/>
            <a:ext cx="110094" cy="119786"/>
          </a:xfrm>
          <a:custGeom>
            <a:avLst/>
            <a:gdLst/>
            <a:ahLst/>
            <a:cxnLst/>
            <a:rect l="l" t="t" r="r" b="b"/>
            <a:pathLst>
              <a:path w="1204" h="1310">
                <a:moveTo>
                  <a:pt x="1204" y="1310"/>
                </a:moveTo>
                <a:lnTo>
                  <a:pt x="857" y="996"/>
                </a:lnTo>
                <a:lnTo>
                  <a:pt x="540" y="673"/>
                </a:lnTo>
                <a:lnTo>
                  <a:pt x="254" y="340"/>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11685758" y="2175449"/>
            <a:ext cx="74889" cy="127742"/>
          </a:xfrm>
          <a:custGeom>
            <a:avLst/>
            <a:gdLst/>
            <a:ahLst/>
            <a:cxnLst/>
            <a:rect l="l" t="t" r="r" b="b"/>
            <a:pathLst>
              <a:path w="819" h="1397">
                <a:moveTo>
                  <a:pt x="0" y="1397"/>
                </a:moveTo>
                <a:lnTo>
                  <a:pt x="155" y="1040"/>
                </a:lnTo>
                <a:lnTo>
                  <a:pt x="344" y="687"/>
                </a:lnTo>
                <a:lnTo>
                  <a:pt x="565" y="340"/>
                </a:lnTo>
                <a:lnTo>
                  <a:pt x="819"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12188403" y="1836755"/>
            <a:ext cx="215981" cy="60990"/>
          </a:xfrm>
          <a:custGeom>
            <a:avLst/>
            <a:gdLst/>
            <a:ahLst/>
            <a:cxnLst/>
            <a:rect l="l" t="t" r="r" b="b"/>
            <a:pathLst>
              <a:path w="2362" h="667">
                <a:moveTo>
                  <a:pt x="0" y="667"/>
                </a:moveTo>
                <a:lnTo>
                  <a:pt x="566" y="475"/>
                </a:lnTo>
                <a:lnTo>
                  <a:pt x="1149" y="299"/>
                </a:lnTo>
                <a:lnTo>
                  <a:pt x="1749" y="141"/>
                </a:lnTo>
                <a:lnTo>
                  <a:pt x="2362"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13060924" y="1808135"/>
            <a:ext cx="230520" cy="41514"/>
          </a:xfrm>
          <a:custGeom>
            <a:avLst/>
            <a:gdLst/>
            <a:ahLst/>
            <a:cxnLst/>
            <a:rect l="l" t="t" r="r" b="b"/>
            <a:pathLst>
              <a:path w="2521" h="454">
                <a:moveTo>
                  <a:pt x="0" y="0"/>
                </a:moveTo>
                <a:lnTo>
                  <a:pt x="646" y="86"/>
                </a:lnTo>
                <a:lnTo>
                  <a:pt x="1282" y="190"/>
                </a:lnTo>
                <a:lnTo>
                  <a:pt x="1908" y="313"/>
                </a:lnTo>
                <a:lnTo>
                  <a:pt x="2521" y="454"/>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13792261" y="2086752"/>
            <a:ext cx="110094" cy="119786"/>
          </a:xfrm>
          <a:custGeom>
            <a:avLst/>
            <a:gdLst/>
            <a:ahLst/>
            <a:cxnLst/>
            <a:rect l="l" t="t" r="r" b="b"/>
            <a:pathLst>
              <a:path w="1204" h="1310">
                <a:moveTo>
                  <a:pt x="0" y="0"/>
                </a:moveTo>
                <a:lnTo>
                  <a:pt x="347" y="314"/>
                </a:lnTo>
                <a:lnTo>
                  <a:pt x="664" y="637"/>
                </a:lnTo>
                <a:lnTo>
                  <a:pt x="950" y="970"/>
                </a:lnTo>
                <a:lnTo>
                  <a:pt x="1204" y="131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ody: shadow → flag → defer → block"/>
          <p:cNvSpPr txBox="1"/>
          <p:nvPr/>
        </p:nvSpPr>
        <p:spPr>
          <a:xfrm>
            <a:off x="11905487" y="2090483"/>
            <a:ext cx="1828800" cy="665353"/>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557B65"/>
                </a:solidFill>
                <a:latin typeface="Trebuchet MS"/>
              </a:rPr>
              <a:t>shadow → flag →</a:t>
            </a:r>
            <a:br/>
            <a:r>
              <a:rPr sz="1850" b="1">
                <a:solidFill>
                  <a:srgbClr val="557B65"/>
                </a:solidFill>
                <a:latin typeface="Trebuchet MS"/>
              </a:rPr>
              <a:t>defer → block</a:t>
            </a:r>
          </a:p>
        </p:txBody>
      </p:sp>
      <p:sp>
        <p:nvSpPr>
          <p:cNvPr id="84" name="Rounded Rectangle 83"/>
          <p:cNvSpPr/>
          <p:nvPr/>
        </p:nvSpPr>
        <p:spPr>
          <a:xfrm>
            <a:off x="640080" y="3456432"/>
            <a:ext cx="6510528" cy="3977639"/>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651419" y="3463381"/>
            <a:ext cx="6495989" cy="3967764"/>
          </a:xfrm>
          <a:custGeom>
            <a:avLst/>
            <a:gdLst/>
            <a:ahLst/>
            <a:cxnLst/>
            <a:rect l="l" t="t" r="r" b="b"/>
            <a:pathLst>
              <a:path w="71041" h="43392">
                <a:moveTo>
                  <a:pt x="71041" y="21564"/>
                </a:moveTo>
                <a:lnTo>
                  <a:pt x="70881" y="28254"/>
                </a:lnTo>
                <a:lnTo>
                  <a:pt x="70867" y="30528"/>
                </a:lnTo>
                <a:lnTo>
                  <a:pt x="70864" y="32074"/>
                </a:lnTo>
                <a:lnTo>
                  <a:pt x="70528" y="33125"/>
                </a:lnTo>
                <a:lnTo>
                  <a:pt x="70582" y="34301"/>
                </a:lnTo>
                <a:lnTo>
                  <a:pt x="70377" y="35248"/>
                </a:lnTo>
                <a:lnTo>
                  <a:pt x="69920" y="36138"/>
                </a:lnTo>
                <a:lnTo>
                  <a:pt x="69758" y="36759"/>
                </a:lnTo>
                <a:lnTo>
                  <a:pt x="69297" y="37390"/>
                </a:lnTo>
                <a:lnTo>
                  <a:pt x="69044" y="38094"/>
                </a:lnTo>
                <a:lnTo>
                  <a:pt x="68544" y="38662"/>
                </a:lnTo>
                <a:lnTo>
                  <a:pt x="68193" y="39206"/>
                </a:lnTo>
                <a:lnTo>
                  <a:pt x="67543" y="39720"/>
                </a:lnTo>
                <a:lnTo>
                  <a:pt x="66909" y="39997"/>
                </a:lnTo>
                <a:lnTo>
                  <a:pt x="66390" y="40610"/>
                </a:lnTo>
                <a:lnTo>
                  <a:pt x="65739" y="40961"/>
                </a:lnTo>
                <a:lnTo>
                  <a:pt x="64972" y="41322"/>
                </a:lnTo>
                <a:lnTo>
                  <a:pt x="64236" y="41430"/>
                </a:lnTo>
                <a:lnTo>
                  <a:pt x="63206" y="41780"/>
                </a:lnTo>
                <a:lnTo>
                  <a:pt x="62331" y="42186"/>
                </a:lnTo>
                <a:lnTo>
                  <a:pt x="61234" y="42329"/>
                </a:lnTo>
                <a:lnTo>
                  <a:pt x="60214" y="42618"/>
                </a:lnTo>
                <a:lnTo>
                  <a:pt x="58936" y="42651"/>
                </a:lnTo>
                <a:lnTo>
                  <a:pt x="57693" y="42940"/>
                </a:lnTo>
                <a:lnTo>
                  <a:pt x="56136" y="42971"/>
                </a:lnTo>
                <a:lnTo>
                  <a:pt x="54286" y="43060"/>
                </a:lnTo>
                <a:lnTo>
                  <a:pt x="52265" y="43284"/>
                </a:lnTo>
                <a:lnTo>
                  <a:pt x="49863" y="43284"/>
                </a:lnTo>
                <a:lnTo>
                  <a:pt x="46464" y="43292"/>
                </a:lnTo>
                <a:lnTo>
                  <a:pt x="35560" y="43201"/>
                </a:lnTo>
                <a:lnTo>
                  <a:pt x="24504" y="43392"/>
                </a:lnTo>
                <a:lnTo>
                  <a:pt x="20977" y="43204"/>
                </a:lnTo>
                <a:lnTo>
                  <a:pt x="18477" y="43232"/>
                </a:lnTo>
                <a:lnTo>
                  <a:pt x="16593" y="43063"/>
                </a:lnTo>
                <a:lnTo>
                  <a:pt x="14745" y="43047"/>
                </a:lnTo>
                <a:lnTo>
                  <a:pt x="13199" y="42864"/>
                </a:lnTo>
                <a:lnTo>
                  <a:pt x="11896" y="42836"/>
                </a:lnTo>
                <a:lnTo>
                  <a:pt x="10787" y="42586"/>
                </a:lnTo>
                <a:lnTo>
                  <a:pt x="9477" y="42439"/>
                </a:lnTo>
                <a:lnTo>
                  <a:pt x="8639" y="42152"/>
                </a:lnTo>
                <a:lnTo>
                  <a:pt x="7569" y="41919"/>
                </a:lnTo>
                <a:lnTo>
                  <a:pt x="6904" y="41518"/>
                </a:lnTo>
                <a:lnTo>
                  <a:pt x="5920" y="41335"/>
                </a:lnTo>
                <a:lnTo>
                  <a:pt x="5296" y="40948"/>
                </a:lnTo>
                <a:lnTo>
                  <a:pt x="4525" y="40573"/>
                </a:lnTo>
                <a:lnTo>
                  <a:pt x="4059" y="39974"/>
                </a:lnTo>
                <a:lnTo>
                  <a:pt x="3425" y="39582"/>
                </a:lnTo>
                <a:lnTo>
                  <a:pt x="2753" y="39196"/>
                </a:lnTo>
                <a:lnTo>
                  <a:pt x="2311" y="38615"/>
                </a:lnTo>
                <a:lnTo>
                  <a:pt x="1852" y="38177"/>
                </a:lnTo>
                <a:lnTo>
                  <a:pt x="1526" y="37392"/>
                </a:lnTo>
                <a:lnTo>
                  <a:pt x="1156" y="36736"/>
                </a:lnTo>
                <a:lnTo>
                  <a:pt x="1083" y="36075"/>
                </a:lnTo>
                <a:lnTo>
                  <a:pt x="637" y="35078"/>
                </a:lnTo>
                <a:lnTo>
                  <a:pt x="612" y="34183"/>
                </a:lnTo>
                <a:lnTo>
                  <a:pt x="352" y="33247"/>
                </a:lnTo>
                <a:lnTo>
                  <a:pt x="184" y="31903"/>
                </a:lnTo>
                <a:lnTo>
                  <a:pt x="68" y="30392"/>
                </a:lnTo>
                <a:lnTo>
                  <a:pt x="76" y="28230"/>
                </a:lnTo>
                <a:lnTo>
                  <a:pt x="24" y="21758"/>
                </a:lnTo>
                <a:lnTo>
                  <a:pt x="0" y="15050"/>
                </a:lnTo>
                <a:lnTo>
                  <a:pt x="191" y="12822"/>
                </a:lnTo>
                <a:lnTo>
                  <a:pt x="159" y="11289"/>
                </a:lnTo>
                <a:lnTo>
                  <a:pt x="267" y="10110"/>
                </a:lnTo>
                <a:lnTo>
                  <a:pt x="372" y="8971"/>
                </a:lnTo>
                <a:lnTo>
                  <a:pt x="642" y="8173"/>
                </a:lnTo>
                <a:lnTo>
                  <a:pt x="1049" y="7242"/>
                </a:lnTo>
                <a:lnTo>
                  <a:pt x="1327" y="6488"/>
                </a:lnTo>
                <a:lnTo>
                  <a:pt x="1541" y="5861"/>
                </a:lnTo>
                <a:lnTo>
                  <a:pt x="1954" y="5165"/>
                </a:lnTo>
                <a:lnTo>
                  <a:pt x="2485" y="4608"/>
                </a:lnTo>
                <a:lnTo>
                  <a:pt x="2905" y="4182"/>
                </a:lnTo>
                <a:lnTo>
                  <a:pt x="3409" y="3799"/>
                </a:lnTo>
                <a:lnTo>
                  <a:pt x="3961" y="3318"/>
                </a:lnTo>
                <a:lnTo>
                  <a:pt x="4477" y="2743"/>
                </a:lnTo>
                <a:lnTo>
                  <a:pt x="5202" y="2432"/>
                </a:lnTo>
                <a:lnTo>
                  <a:pt x="5907" y="2211"/>
                </a:lnTo>
                <a:lnTo>
                  <a:pt x="6871" y="1849"/>
                </a:lnTo>
                <a:lnTo>
                  <a:pt x="7689" y="1484"/>
                </a:lnTo>
                <a:lnTo>
                  <a:pt x="8493" y="1357"/>
                </a:lnTo>
                <a:lnTo>
                  <a:pt x="9672" y="1107"/>
                </a:lnTo>
                <a:lnTo>
                  <a:pt x="10763" y="695"/>
                </a:lnTo>
                <a:lnTo>
                  <a:pt x="11811" y="589"/>
                </a:lnTo>
                <a:lnTo>
                  <a:pt x="13398" y="368"/>
                </a:lnTo>
                <a:lnTo>
                  <a:pt x="14720" y="395"/>
                </a:lnTo>
                <a:lnTo>
                  <a:pt x="16518" y="201"/>
                </a:lnTo>
                <a:lnTo>
                  <a:pt x="18462" y="230"/>
                </a:lnTo>
                <a:lnTo>
                  <a:pt x="21134" y="84"/>
                </a:lnTo>
                <a:lnTo>
                  <a:pt x="24614" y="49"/>
                </a:lnTo>
                <a:lnTo>
                  <a:pt x="35488" y="0"/>
                </a:lnTo>
                <a:lnTo>
                  <a:pt x="46364" y="123"/>
                </a:lnTo>
                <a:lnTo>
                  <a:pt x="49806" y="199"/>
                </a:lnTo>
                <a:lnTo>
                  <a:pt x="52399" y="261"/>
                </a:lnTo>
                <a:lnTo>
                  <a:pt x="54282" y="297"/>
                </a:lnTo>
                <a:lnTo>
                  <a:pt x="56147" y="268"/>
                </a:lnTo>
                <a:lnTo>
                  <a:pt x="57717" y="540"/>
                </a:lnTo>
                <a:lnTo>
                  <a:pt x="58901" y="515"/>
                </a:lnTo>
                <a:lnTo>
                  <a:pt x="60178" y="875"/>
                </a:lnTo>
                <a:lnTo>
                  <a:pt x="61461" y="1030"/>
                </a:lnTo>
                <a:lnTo>
                  <a:pt x="62474" y="1313"/>
                </a:lnTo>
                <a:lnTo>
                  <a:pt x="63172" y="1422"/>
                </a:lnTo>
                <a:lnTo>
                  <a:pt x="64269" y="1790"/>
                </a:lnTo>
                <a:lnTo>
                  <a:pt x="64971" y="2095"/>
                </a:lnTo>
                <a:lnTo>
                  <a:pt x="65580" y="2384"/>
                </a:lnTo>
                <a:lnTo>
                  <a:pt x="66278" y="2959"/>
                </a:lnTo>
                <a:lnTo>
                  <a:pt x="66981" y="3168"/>
                </a:lnTo>
                <a:lnTo>
                  <a:pt x="67439" y="3677"/>
                </a:lnTo>
                <a:lnTo>
                  <a:pt x="68075" y="4216"/>
                </a:lnTo>
                <a:lnTo>
                  <a:pt x="68501" y="4671"/>
                </a:lnTo>
                <a:lnTo>
                  <a:pt x="69011" y="5222"/>
                </a:lnTo>
                <a:lnTo>
                  <a:pt x="69423" y="6006"/>
                </a:lnTo>
                <a:lnTo>
                  <a:pt x="69802" y="6684"/>
                </a:lnTo>
                <a:lnTo>
                  <a:pt x="70070" y="7425"/>
                </a:lnTo>
                <a:lnTo>
                  <a:pt x="70338" y="8106"/>
                </a:lnTo>
                <a:lnTo>
                  <a:pt x="70509" y="9112"/>
                </a:lnTo>
                <a:lnTo>
                  <a:pt x="70756" y="10035"/>
                </a:lnTo>
                <a:lnTo>
                  <a:pt x="70695" y="11261"/>
                </a:lnTo>
                <a:lnTo>
                  <a:pt x="70880" y="12803"/>
                </a:lnTo>
                <a:lnTo>
                  <a:pt x="70854" y="15057"/>
                </a:lnTo>
                <a:lnTo>
                  <a:pt x="70829" y="21643"/>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652607" y="3464753"/>
            <a:ext cx="6497726" cy="3957432"/>
          </a:xfrm>
          <a:custGeom>
            <a:avLst/>
            <a:gdLst/>
            <a:ahLst/>
            <a:cxnLst/>
            <a:rect l="l" t="t" r="r" b="b"/>
            <a:pathLst>
              <a:path w="71060" h="43279">
                <a:moveTo>
                  <a:pt x="70946" y="21577"/>
                </a:moveTo>
                <a:lnTo>
                  <a:pt x="70848" y="28367"/>
                </a:lnTo>
                <a:lnTo>
                  <a:pt x="70898" y="30386"/>
                </a:lnTo>
                <a:lnTo>
                  <a:pt x="70827" y="32003"/>
                </a:lnTo>
                <a:lnTo>
                  <a:pt x="70541" y="33096"/>
                </a:lnTo>
                <a:lnTo>
                  <a:pt x="70582" y="34239"/>
                </a:lnTo>
                <a:lnTo>
                  <a:pt x="70147" y="35153"/>
                </a:lnTo>
                <a:lnTo>
                  <a:pt x="70060" y="36121"/>
                </a:lnTo>
                <a:lnTo>
                  <a:pt x="69565" y="36818"/>
                </a:lnTo>
                <a:lnTo>
                  <a:pt x="69248" y="37411"/>
                </a:lnTo>
                <a:lnTo>
                  <a:pt x="68984" y="38075"/>
                </a:lnTo>
                <a:lnTo>
                  <a:pt x="68582" y="38545"/>
                </a:lnTo>
                <a:lnTo>
                  <a:pt x="68007" y="39150"/>
                </a:lnTo>
                <a:lnTo>
                  <a:pt x="67433" y="39702"/>
                </a:lnTo>
                <a:lnTo>
                  <a:pt x="66951" y="40077"/>
                </a:lnTo>
                <a:lnTo>
                  <a:pt x="66475" y="40459"/>
                </a:lnTo>
                <a:lnTo>
                  <a:pt x="65663" y="40862"/>
                </a:lnTo>
                <a:lnTo>
                  <a:pt x="64977" y="41255"/>
                </a:lnTo>
                <a:lnTo>
                  <a:pt x="64070" y="41636"/>
                </a:lnTo>
                <a:lnTo>
                  <a:pt x="63182" y="41910"/>
                </a:lnTo>
                <a:lnTo>
                  <a:pt x="62289" y="42167"/>
                </a:lnTo>
                <a:lnTo>
                  <a:pt x="61270" y="42292"/>
                </a:lnTo>
                <a:lnTo>
                  <a:pt x="60137" y="42463"/>
                </a:lnTo>
                <a:lnTo>
                  <a:pt x="58977" y="42807"/>
                </a:lnTo>
                <a:lnTo>
                  <a:pt x="57551" y="42872"/>
                </a:lnTo>
                <a:lnTo>
                  <a:pt x="56186" y="42899"/>
                </a:lnTo>
                <a:lnTo>
                  <a:pt x="54446" y="43117"/>
                </a:lnTo>
                <a:lnTo>
                  <a:pt x="52258" y="43267"/>
                </a:lnTo>
                <a:lnTo>
                  <a:pt x="49853" y="43202"/>
                </a:lnTo>
                <a:lnTo>
                  <a:pt x="46269" y="43197"/>
                </a:lnTo>
                <a:lnTo>
                  <a:pt x="35349" y="43187"/>
                </a:lnTo>
                <a:lnTo>
                  <a:pt x="24684" y="43189"/>
                </a:lnTo>
                <a:lnTo>
                  <a:pt x="21121" y="43279"/>
                </a:lnTo>
                <a:lnTo>
                  <a:pt x="18624" y="43190"/>
                </a:lnTo>
                <a:lnTo>
                  <a:pt x="16484" y="43088"/>
                </a:lnTo>
                <a:lnTo>
                  <a:pt x="14739" y="42890"/>
                </a:lnTo>
                <a:lnTo>
                  <a:pt x="13328" y="42917"/>
                </a:lnTo>
                <a:lnTo>
                  <a:pt x="12041" y="42682"/>
                </a:lnTo>
                <a:lnTo>
                  <a:pt x="10739" y="42538"/>
                </a:lnTo>
                <a:lnTo>
                  <a:pt x="9517" y="42273"/>
                </a:lnTo>
                <a:lnTo>
                  <a:pt x="8699" y="42197"/>
                </a:lnTo>
                <a:lnTo>
                  <a:pt x="7641" y="41767"/>
                </a:lnTo>
                <a:lnTo>
                  <a:pt x="6654" y="41487"/>
                </a:lnTo>
                <a:lnTo>
                  <a:pt x="6016" y="41286"/>
                </a:lnTo>
                <a:lnTo>
                  <a:pt x="5132" y="40767"/>
                </a:lnTo>
                <a:lnTo>
                  <a:pt x="4584" y="40582"/>
                </a:lnTo>
                <a:lnTo>
                  <a:pt x="3915" y="39964"/>
                </a:lnTo>
                <a:lnTo>
                  <a:pt x="3285" y="39637"/>
                </a:lnTo>
                <a:lnTo>
                  <a:pt x="2897" y="39165"/>
                </a:lnTo>
                <a:lnTo>
                  <a:pt x="2386" y="38641"/>
                </a:lnTo>
                <a:lnTo>
                  <a:pt x="1966" y="37947"/>
                </a:lnTo>
                <a:lnTo>
                  <a:pt x="1575" y="37485"/>
                </a:lnTo>
                <a:lnTo>
                  <a:pt x="1264" y="36756"/>
                </a:lnTo>
                <a:lnTo>
                  <a:pt x="924" y="36031"/>
                </a:lnTo>
                <a:lnTo>
                  <a:pt x="677" y="35187"/>
                </a:lnTo>
                <a:lnTo>
                  <a:pt x="532" y="34140"/>
                </a:lnTo>
                <a:lnTo>
                  <a:pt x="224" y="33305"/>
                </a:lnTo>
                <a:lnTo>
                  <a:pt x="95" y="31853"/>
                </a:lnTo>
                <a:lnTo>
                  <a:pt x="87" y="30372"/>
                </a:lnTo>
                <a:lnTo>
                  <a:pt x="85" y="28189"/>
                </a:lnTo>
                <a:lnTo>
                  <a:pt x="0" y="21707"/>
                </a:lnTo>
                <a:lnTo>
                  <a:pt x="1" y="15130"/>
                </a:lnTo>
                <a:lnTo>
                  <a:pt x="101" y="12903"/>
                </a:lnTo>
                <a:lnTo>
                  <a:pt x="158" y="11241"/>
                </a:lnTo>
                <a:lnTo>
                  <a:pt x="413" y="10064"/>
                </a:lnTo>
                <a:lnTo>
                  <a:pt x="428" y="9014"/>
                </a:lnTo>
                <a:lnTo>
                  <a:pt x="690" y="8122"/>
                </a:lnTo>
                <a:lnTo>
                  <a:pt x="872" y="7231"/>
                </a:lnTo>
                <a:lnTo>
                  <a:pt x="1276" y="6561"/>
                </a:lnTo>
                <a:lnTo>
                  <a:pt x="1687" y="5799"/>
                </a:lnTo>
                <a:lnTo>
                  <a:pt x="2015" y="5162"/>
                </a:lnTo>
                <a:lnTo>
                  <a:pt x="2421" y="4686"/>
                </a:lnTo>
                <a:lnTo>
                  <a:pt x="2980" y="4227"/>
                </a:lnTo>
                <a:lnTo>
                  <a:pt x="3330" y="3575"/>
                </a:lnTo>
                <a:lnTo>
                  <a:pt x="3974" y="3293"/>
                </a:lnTo>
                <a:lnTo>
                  <a:pt x="4483" y="2786"/>
                </a:lnTo>
                <a:lnTo>
                  <a:pt x="5202" y="2494"/>
                </a:lnTo>
                <a:lnTo>
                  <a:pt x="6068" y="2122"/>
                </a:lnTo>
                <a:lnTo>
                  <a:pt x="6840" y="1822"/>
                </a:lnTo>
                <a:lnTo>
                  <a:pt x="7752" y="1383"/>
                </a:lnTo>
                <a:lnTo>
                  <a:pt x="8630" y="1165"/>
                </a:lnTo>
                <a:lnTo>
                  <a:pt x="9647" y="932"/>
                </a:lnTo>
                <a:lnTo>
                  <a:pt x="10791" y="750"/>
                </a:lnTo>
                <a:lnTo>
                  <a:pt x="12054" y="547"/>
                </a:lnTo>
                <a:lnTo>
                  <a:pt x="13181" y="496"/>
                </a:lnTo>
                <a:lnTo>
                  <a:pt x="14842" y="303"/>
                </a:lnTo>
                <a:lnTo>
                  <a:pt x="16609" y="284"/>
                </a:lnTo>
                <a:lnTo>
                  <a:pt x="18541" y="124"/>
                </a:lnTo>
                <a:lnTo>
                  <a:pt x="21158" y="59"/>
                </a:lnTo>
                <a:lnTo>
                  <a:pt x="24604" y="113"/>
                </a:lnTo>
                <a:lnTo>
                  <a:pt x="35434" y="0"/>
                </a:lnTo>
                <a:lnTo>
                  <a:pt x="46255" y="143"/>
                </a:lnTo>
                <a:lnTo>
                  <a:pt x="49739" y="18"/>
                </a:lnTo>
                <a:lnTo>
                  <a:pt x="52265" y="154"/>
                </a:lnTo>
                <a:lnTo>
                  <a:pt x="54447" y="322"/>
                </a:lnTo>
                <a:lnTo>
                  <a:pt x="56066" y="340"/>
                </a:lnTo>
                <a:lnTo>
                  <a:pt x="57650" y="342"/>
                </a:lnTo>
                <a:lnTo>
                  <a:pt x="59108" y="696"/>
                </a:lnTo>
                <a:lnTo>
                  <a:pt x="60257" y="860"/>
                </a:lnTo>
                <a:lnTo>
                  <a:pt x="61430" y="1118"/>
                </a:lnTo>
                <a:lnTo>
                  <a:pt x="62258" y="1127"/>
                </a:lnTo>
                <a:lnTo>
                  <a:pt x="63168" y="1389"/>
                </a:lnTo>
                <a:lnTo>
                  <a:pt x="64022" y="1736"/>
                </a:lnTo>
                <a:lnTo>
                  <a:pt x="65061" y="2153"/>
                </a:lnTo>
                <a:lnTo>
                  <a:pt x="65691" y="2423"/>
                </a:lnTo>
                <a:lnTo>
                  <a:pt x="66443" y="2738"/>
                </a:lnTo>
                <a:lnTo>
                  <a:pt x="66875" y="3356"/>
                </a:lnTo>
                <a:lnTo>
                  <a:pt x="67494" y="3675"/>
                </a:lnTo>
                <a:lnTo>
                  <a:pt x="68103" y="4259"/>
                </a:lnTo>
                <a:lnTo>
                  <a:pt x="68470" y="4632"/>
                </a:lnTo>
                <a:lnTo>
                  <a:pt x="68848" y="5318"/>
                </a:lnTo>
                <a:lnTo>
                  <a:pt x="69267" y="5853"/>
                </a:lnTo>
                <a:lnTo>
                  <a:pt x="69673" y="6579"/>
                </a:lnTo>
                <a:lnTo>
                  <a:pt x="69963" y="7419"/>
                </a:lnTo>
                <a:lnTo>
                  <a:pt x="70291" y="8255"/>
                </a:lnTo>
                <a:lnTo>
                  <a:pt x="70435" y="9160"/>
                </a:lnTo>
                <a:lnTo>
                  <a:pt x="70703" y="10048"/>
                </a:lnTo>
                <a:lnTo>
                  <a:pt x="70838" y="11263"/>
                </a:lnTo>
                <a:lnTo>
                  <a:pt x="70774" y="12891"/>
                </a:lnTo>
                <a:lnTo>
                  <a:pt x="70859" y="15106"/>
                </a:lnTo>
                <a:lnTo>
                  <a:pt x="71060" y="21594"/>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7024421" y="6500470"/>
            <a:ext cx="86685" cy="324886"/>
          </a:xfrm>
          <a:custGeom>
            <a:avLst/>
            <a:gdLst/>
            <a:ahLst/>
            <a:cxnLst/>
            <a:rect l="l" t="t" r="r" b="b"/>
            <a:pathLst>
              <a:path w="948" h="3553">
                <a:moveTo>
                  <a:pt x="948" y="0"/>
                </a:moveTo>
                <a:lnTo>
                  <a:pt x="771" y="1057"/>
                </a:lnTo>
                <a:lnTo>
                  <a:pt x="555" y="1982"/>
                </a:lnTo>
                <a:lnTo>
                  <a:pt x="298" y="2808"/>
                </a:lnTo>
                <a:lnTo>
                  <a:pt x="0" y="3553"/>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6047384" y="7288682"/>
            <a:ext cx="392186" cy="80742"/>
          </a:xfrm>
          <a:custGeom>
            <a:avLst/>
            <a:gdLst/>
            <a:ahLst/>
            <a:cxnLst/>
            <a:rect l="l" t="t" r="r" b="b"/>
            <a:pathLst>
              <a:path w="4289" h="883">
                <a:moveTo>
                  <a:pt x="4289" y="0"/>
                </a:moveTo>
                <a:lnTo>
                  <a:pt x="3354" y="261"/>
                </a:lnTo>
                <a:lnTo>
                  <a:pt x="2335" y="494"/>
                </a:lnTo>
                <a:lnTo>
                  <a:pt x="1223" y="702"/>
                </a:lnTo>
                <a:lnTo>
                  <a:pt x="0" y="883"/>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1631472" y="7352873"/>
            <a:ext cx="533004" cy="52852"/>
          </a:xfrm>
          <a:custGeom>
            <a:avLst/>
            <a:gdLst/>
            <a:ahLst/>
            <a:cxnLst/>
            <a:rect l="l" t="t" r="r" b="b"/>
            <a:pathLst>
              <a:path w="5829" h="578">
                <a:moveTo>
                  <a:pt x="5829" y="578"/>
                </a:moveTo>
                <a:lnTo>
                  <a:pt x="4096" y="470"/>
                </a:lnTo>
                <a:lnTo>
                  <a:pt x="2577" y="338"/>
                </a:lnTo>
                <a:lnTo>
                  <a:pt x="1223" y="181"/>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739018" y="6757233"/>
            <a:ext cx="132497" cy="239116"/>
          </a:xfrm>
          <a:custGeom>
            <a:avLst/>
            <a:gdLst/>
            <a:ahLst/>
            <a:cxnLst/>
            <a:rect l="l" t="t" r="r" b="b"/>
            <a:pathLst>
              <a:path w="1449" h="2615">
                <a:moveTo>
                  <a:pt x="1449" y="2615"/>
                </a:moveTo>
                <a:lnTo>
                  <a:pt x="1022" y="2044"/>
                </a:lnTo>
                <a:lnTo>
                  <a:pt x="639" y="1424"/>
                </a:lnTo>
                <a:lnTo>
                  <a:pt x="298" y="745"/>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679582" y="4065148"/>
            <a:ext cx="86685" cy="324886"/>
          </a:xfrm>
          <a:custGeom>
            <a:avLst/>
            <a:gdLst/>
            <a:ahLst/>
            <a:cxnLst/>
            <a:rect l="l" t="t" r="r" b="b"/>
            <a:pathLst>
              <a:path w="948" h="3553">
                <a:moveTo>
                  <a:pt x="0" y="3553"/>
                </a:moveTo>
                <a:lnTo>
                  <a:pt x="177" y="2496"/>
                </a:lnTo>
                <a:lnTo>
                  <a:pt x="393" y="1571"/>
                </a:lnTo>
                <a:lnTo>
                  <a:pt x="650" y="745"/>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1351117" y="3521080"/>
            <a:ext cx="392186" cy="80742"/>
          </a:xfrm>
          <a:custGeom>
            <a:avLst/>
            <a:gdLst/>
            <a:ahLst/>
            <a:cxnLst/>
            <a:rect l="l" t="t" r="r" b="b"/>
            <a:pathLst>
              <a:path w="4289" h="883">
                <a:moveTo>
                  <a:pt x="0" y="883"/>
                </a:moveTo>
                <a:lnTo>
                  <a:pt x="935" y="622"/>
                </a:lnTo>
                <a:lnTo>
                  <a:pt x="1954" y="389"/>
                </a:lnTo>
                <a:lnTo>
                  <a:pt x="3066" y="181"/>
                </a:lnTo>
                <a:lnTo>
                  <a:pt x="428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5626212" y="3484778"/>
            <a:ext cx="533004" cy="52852"/>
          </a:xfrm>
          <a:custGeom>
            <a:avLst/>
            <a:gdLst/>
            <a:ahLst/>
            <a:cxnLst/>
            <a:rect l="l" t="t" r="r" b="b"/>
            <a:pathLst>
              <a:path w="5829" h="578">
                <a:moveTo>
                  <a:pt x="0" y="0"/>
                </a:moveTo>
                <a:lnTo>
                  <a:pt x="1733" y="108"/>
                </a:lnTo>
                <a:lnTo>
                  <a:pt x="3252" y="240"/>
                </a:lnTo>
                <a:lnTo>
                  <a:pt x="4606" y="397"/>
                </a:lnTo>
                <a:lnTo>
                  <a:pt x="5829" y="578"/>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6919173" y="3894155"/>
            <a:ext cx="132497" cy="239116"/>
          </a:xfrm>
          <a:custGeom>
            <a:avLst/>
            <a:gdLst/>
            <a:ahLst/>
            <a:cxnLst/>
            <a:rect l="l" t="t" r="r" b="b"/>
            <a:pathLst>
              <a:path w="1449" h="2615">
                <a:moveTo>
                  <a:pt x="0" y="0"/>
                </a:moveTo>
                <a:lnTo>
                  <a:pt x="427" y="571"/>
                </a:lnTo>
                <a:lnTo>
                  <a:pt x="810" y="1191"/>
                </a:lnTo>
                <a:lnTo>
                  <a:pt x="1151" y="1870"/>
                </a:lnTo>
                <a:lnTo>
                  <a:pt x="1449" y="261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body: Built on"/>
          <p:cNvSpPr txBox="1"/>
          <p:nvPr/>
        </p:nvSpPr>
        <p:spPr>
          <a:xfrm>
            <a:off x="996695" y="3734562"/>
            <a:ext cx="5797296"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Built on</a:t>
            </a:r>
          </a:p>
        </p:txBody>
      </p:sp>
      <p:sp>
        <p:nvSpPr>
          <p:cNvPr id="96" name="Oval 95"/>
          <p:cNvSpPr/>
          <p:nvPr/>
        </p:nvSpPr>
        <p:spPr>
          <a:xfrm>
            <a:off x="909828" y="4550981"/>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body: Inspect tool-call approvers: approve, modify, reject, escalate, "/>
          <p:cNvSpPr txBox="1"/>
          <p:nvPr/>
        </p:nvSpPr>
        <p:spPr>
          <a:xfrm>
            <a:off x="1143000" y="4450397"/>
            <a:ext cx="5751576"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Inspect tool-call approvers: approve, modify,</a:t>
            </a:r>
            <a:br/>
            <a:r>
              <a:rPr sz="1900" b="0">
                <a:solidFill>
                  <a:srgbClr val="293E46"/>
                </a:solidFill>
                <a:latin typeface="Trebuchet MS"/>
              </a:rPr>
              <a:t>reject, escalate, terminate</a:t>
            </a:r>
          </a:p>
        </p:txBody>
      </p:sp>
      <p:sp>
        <p:nvSpPr>
          <p:cNvPr id="98" name="Oval 97"/>
          <p:cNvSpPr/>
          <p:nvPr/>
        </p:nvSpPr>
        <p:spPr>
          <a:xfrm>
            <a:off x="909828" y="5351335"/>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ody: ControlArena monitors with suspicion scores"/>
          <p:cNvSpPr txBox="1"/>
          <p:nvPr/>
        </p:nvSpPr>
        <p:spPr>
          <a:xfrm>
            <a:off x="1143000" y="5250751"/>
            <a:ext cx="5751576" cy="37503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ControlArena monitors with suspicion scores</a:t>
            </a:r>
          </a:p>
        </p:txBody>
      </p:sp>
      <p:sp>
        <p:nvSpPr>
          <p:cNvPr id="100" name="Oval 99"/>
          <p:cNvSpPr/>
          <p:nvPr/>
        </p:nvSpPr>
        <p:spPr>
          <a:xfrm>
            <a:off x="909828" y="584523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body: AI Control micro-protocols: trusted monitoring, defer-to-trusted"/>
          <p:cNvSpPr txBox="1"/>
          <p:nvPr/>
        </p:nvSpPr>
        <p:spPr>
          <a:xfrm>
            <a:off x="1143000" y="5744654"/>
            <a:ext cx="5751576"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AI Control micro-protocols: trusted monitoring,</a:t>
            </a:r>
            <a:br/>
            <a:r>
              <a:rPr sz="1900" b="0">
                <a:solidFill>
                  <a:srgbClr val="293E46"/>
                </a:solidFill>
                <a:latin typeface="Trebuchet MS"/>
              </a:rPr>
              <a:t>defer-to-trusted, resampling (Ctrl-Z)</a:t>
            </a:r>
          </a:p>
        </p:txBody>
      </p:sp>
      <p:sp>
        <p:nvSpPr>
          <p:cNvPr id="102" name="Oval 101"/>
          <p:cNvSpPr/>
          <p:nvPr/>
        </p:nvSpPr>
        <p:spPr>
          <a:xfrm>
            <a:off x="909828" y="664559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body: Hawk's lesson: a monitor with less context than the agent is a k"/>
          <p:cNvSpPr txBox="1"/>
          <p:nvPr/>
        </p:nvSpPr>
        <p:spPr>
          <a:xfrm>
            <a:off x="1143000" y="6545008"/>
            <a:ext cx="5751576"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Hawk's lesson: a monitor with less context than</a:t>
            </a:r>
            <a:br/>
            <a:r>
              <a:rPr sz="1900" b="0">
                <a:solidFill>
                  <a:srgbClr val="293E46"/>
                </a:solidFill>
                <a:latin typeface="Trebuchet MS"/>
              </a:rPr>
              <a:t>the agent is a known failure</a:t>
            </a:r>
          </a:p>
        </p:txBody>
      </p:sp>
      <p:sp>
        <p:nvSpPr>
          <p:cNvPr id="104" name="Rounded Rectangle 103"/>
          <p:cNvSpPr/>
          <p:nvPr/>
        </p:nvSpPr>
        <p:spPr>
          <a:xfrm>
            <a:off x="7479792" y="3456432"/>
            <a:ext cx="6510528" cy="3977639"/>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7485096" y="3461095"/>
            <a:ext cx="6499830" cy="3956243"/>
          </a:xfrm>
          <a:custGeom>
            <a:avLst/>
            <a:gdLst/>
            <a:ahLst/>
            <a:cxnLst/>
            <a:rect l="l" t="t" r="r" b="b"/>
            <a:pathLst>
              <a:path w="71083" h="43266">
                <a:moveTo>
                  <a:pt x="71021" y="21688"/>
                </a:moveTo>
                <a:lnTo>
                  <a:pt x="71052" y="28358"/>
                </a:lnTo>
                <a:lnTo>
                  <a:pt x="71017" y="30542"/>
                </a:lnTo>
                <a:lnTo>
                  <a:pt x="70944" y="31975"/>
                </a:lnTo>
                <a:lnTo>
                  <a:pt x="70644" y="33238"/>
                </a:lnTo>
                <a:lnTo>
                  <a:pt x="70484" y="34318"/>
                </a:lnTo>
                <a:lnTo>
                  <a:pt x="70249" y="35275"/>
                </a:lnTo>
                <a:lnTo>
                  <a:pt x="70037" y="36164"/>
                </a:lnTo>
                <a:lnTo>
                  <a:pt x="69890" y="36747"/>
                </a:lnTo>
                <a:lnTo>
                  <a:pt x="69412" y="37489"/>
                </a:lnTo>
                <a:lnTo>
                  <a:pt x="69151" y="38121"/>
                </a:lnTo>
                <a:lnTo>
                  <a:pt x="68545" y="38717"/>
                </a:lnTo>
                <a:lnTo>
                  <a:pt x="68074" y="39130"/>
                </a:lnTo>
                <a:lnTo>
                  <a:pt x="67605" y="39604"/>
                </a:lnTo>
                <a:lnTo>
                  <a:pt x="66959" y="40228"/>
                </a:lnTo>
                <a:lnTo>
                  <a:pt x="66427" y="40471"/>
                </a:lnTo>
                <a:lnTo>
                  <a:pt x="65738" y="40992"/>
                </a:lnTo>
                <a:lnTo>
                  <a:pt x="65130" y="41295"/>
                </a:lnTo>
                <a:lnTo>
                  <a:pt x="64118" y="41550"/>
                </a:lnTo>
                <a:lnTo>
                  <a:pt x="63471" y="41863"/>
                </a:lnTo>
                <a:lnTo>
                  <a:pt x="62520" y="42186"/>
                </a:lnTo>
                <a:lnTo>
                  <a:pt x="61488" y="42282"/>
                </a:lnTo>
                <a:lnTo>
                  <a:pt x="60180" y="42478"/>
                </a:lnTo>
                <a:lnTo>
                  <a:pt x="59111" y="42821"/>
                </a:lnTo>
                <a:lnTo>
                  <a:pt x="57628" y="42860"/>
                </a:lnTo>
                <a:lnTo>
                  <a:pt x="56213" y="43030"/>
                </a:lnTo>
                <a:lnTo>
                  <a:pt x="54450" y="43150"/>
                </a:lnTo>
                <a:lnTo>
                  <a:pt x="52360" y="43157"/>
                </a:lnTo>
                <a:lnTo>
                  <a:pt x="49829" y="43206"/>
                </a:lnTo>
                <a:lnTo>
                  <a:pt x="46348" y="43229"/>
                </a:lnTo>
                <a:lnTo>
                  <a:pt x="35475" y="43266"/>
                </a:lnTo>
                <a:lnTo>
                  <a:pt x="24580" y="43211"/>
                </a:lnTo>
                <a:lnTo>
                  <a:pt x="21264" y="43175"/>
                </a:lnTo>
                <a:lnTo>
                  <a:pt x="18628" y="43152"/>
                </a:lnTo>
                <a:lnTo>
                  <a:pt x="16671" y="43237"/>
                </a:lnTo>
                <a:lnTo>
                  <a:pt x="14801" y="43106"/>
                </a:lnTo>
                <a:lnTo>
                  <a:pt x="13349" y="42971"/>
                </a:lnTo>
                <a:lnTo>
                  <a:pt x="11976" y="42852"/>
                </a:lnTo>
                <a:lnTo>
                  <a:pt x="10861" y="42671"/>
                </a:lnTo>
                <a:lnTo>
                  <a:pt x="9749" y="42390"/>
                </a:lnTo>
                <a:lnTo>
                  <a:pt x="8690" y="42162"/>
                </a:lnTo>
                <a:lnTo>
                  <a:pt x="7761" y="41975"/>
                </a:lnTo>
                <a:lnTo>
                  <a:pt x="6955" y="41688"/>
                </a:lnTo>
                <a:lnTo>
                  <a:pt x="6072" y="41363"/>
                </a:lnTo>
                <a:lnTo>
                  <a:pt x="5379" y="40903"/>
                </a:lnTo>
                <a:lnTo>
                  <a:pt x="4631" y="40628"/>
                </a:lnTo>
                <a:lnTo>
                  <a:pt x="3965" y="40034"/>
                </a:lnTo>
                <a:lnTo>
                  <a:pt x="3386" y="39599"/>
                </a:lnTo>
                <a:lnTo>
                  <a:pt x="2834" y="39229"/>
                </a:lnTo>
                <a:lnTo>
                  <a:pt x="2468" y="38678"/>
                </a:lnTo>
                <a:lnTo>
                  <a:pt x="1982" y="38156"/>
                </a:lnTo>
                <a:lnTo>
                  <a:pt x="1573" y="37576"/>
                </a:lnTo>
                <a:lnTo>
                  <a:pt x="1200" y="36818"/>
                </a:lnTo>
                <a:lnTo>
                  <a:pt x="1077" y="36130"/>
                </a:lnTo>
                <a:lnTo>
                  <a:pt x="737" y="35268"/>
                </a:lnTo>
                <a:lnTo>
                  <a:pt x="496" y="34210"/>
                </a:lnTo>
                <a:lnTo>
                  <a:pt x="436" y="33122"/>
                </a:lnTo>
                <a:lnTo>
                  <a:pt x="140" y="32078"/>
                </a:lnTo>
                <a:lnTo>
                  <a:pt x="38" y="30380"/>
                </a:lnTo>
                <a:lnTo>
                  <a:pt x="62" y="28252"/>
                </a:lnTo>
                <a:lnTo>
                  <a:pt x="143" y="21747"/>
                </a:lnTo>
                <a:lnTo>
                  <a:pt x="0" y="15027"/>
                </a:lnTo>
                <a:lnTo>
                  <a:pt x="111" y="12973"/>
                </a:lnTo>
                <a:lnTo>
                  <a:pt x="323" y="11432"/>
                </a:lnTo>
                <a:lnTo>
                  <a:pt x="461" y="10262"/>
                </a:lnTo>
                <a:lnTo>
                  <a:pt x="607" y="9111"/>
                </a:lnTo>
                <a:lnTo>
                  <a:pt x="758" y="8180"/>
                </a:lnTo>
                <a:lnTo>
                  <a:pt x="1124" y="7307"/>
                </a:lnTo>
                <a:lnTo>
                  <a:pt x="1218" y="6623"/>
                </a:lnTo>
                <a:lnTo>
                  <a:pt x="1635" y="6039"/>
                </a:lnTo>
                <a:lnTo>
                  <a:pt x="2027" y="5401"/>
                </a:lnTo>
                <a:lnTo>
                  <a:pt x="2592" y="4696"/>
                </a:lnTo>
                <a:lnTo>
                  <a:pt x="2846" y="4158"/>
                </a:lnTo>
                <a:lnTo>
                  <a:pt x="3383" y="3700"/>
                </a:lnTo>
                <a:lnTo>
                  <a:pt x="4065" y="3270"/>
                </a:lnTo>
                <a:lnTo>
                  <a:pt x="4756" y="2820"/>
                </a:lnTo>
                <a:lnTo>
                  <a:pt x="5249" y="2472"/>
                </a:lnTo>
                <a:lnTo>
                  <a:pt x="6189" y="2064"/>
                </a:lnTo>
                <a:lnTo>
                  <a:pt x="6907" y="1769"/>
                </a:lnTo>
                <a:lnTo>
                  <a:pt x="7696" y="1658"/>
                </a:lnTo>
                <a:lnTo>
                  <a:pt x="8664" y="1368"/>
                </a:lnTo>
                <a:lnTo>
                  <a:pt x="9578" y="1090"/>
                </a:lnTo>
                <a:lnTo>
                  <a:pt x="10762" y="852"/>
                </a:lnTo>
                <a:lnTo>
                  <a:pt x="12124" y="591"/>
                </a:lnTo>
                <a:lnTo>
                  <a:pt x="13429" y="479"/>
                </a:lnTo>
                <a:lnTo>
                  <a:pt x="14952" y="443"/>
                </a:lnTo>
                <a:lnTo>
                  <a:pt x="16527" y="337"/>
                </a:lnTo>
                <a:lnTo>
                  <a:pt x="18685" y="95"/>
                </a:lnTo>
                <a:lnTo>
                  <a:pt x="21078" y="30"/>
                </a:lnTo>
                <a:lnTo>
                  <a:pt x="24730" y="27"/>
                </a:lnTo>
                <a:lnTo>
                  <a:pt x="35531" y="0"/>
                </a:lnTo>
                <a:lnTo>
                  <a:pt x="46522" y="163"/>
                </a:lnTo>
                <a:lnTo>
                  <a:pt x="49878" y="25"/>
                </a:lnTo>
                <a:lnTo>
                  <a:pt x="52482" y="96"/>
                </a:lnTo>
                <a:lnTo>
                  <a:pt x="54342" y="304"/>
                </a:lnTo>
                <a:lnTo>
                  <a:pt x="56212" y="380"/>
                </a:lnTo>
                <a:lnTo>
                  <a:pt x="57642" y="557"/>
                </a:lnTo>
                <a:lnTo>
                  <a:pt x="59093" y="536"/>
                </a:lnTo>
                <a:lnTo>
                  <a:pt x="60208" y="752"/>
                </a:lnTo>
                <a:lnTo>
                  <a:pt x="61387" y="1026"/>
                </a:lnTo>
                <a:lnTo>
                  <a:pt x="62455" y="1293"/>
                </a:lnTo>
                <a:lnTo>
                  <a:pt x="63324" y="1483"/>
                </a:lnTo>
                <a:lnTo>
                  <a:pt x="64176" y="1832"/>
                </a:lnTo>
                <a:lnTo>
                  <a:pt x="65078" y="2025"/>
                </a:lnTo>
                <a:lnTo>
                  <a:pt x="65831" y="2389"/>
                </a:lnTo>
                <a:lnTo>
                  <a:pt x="66496" y="2962"/>
                </a:lnTo>
                <a:lnTo>
                  <a:pt x="67031" y="3217"/>
                </a:lnTo>
                <a:lnTo>
                  <a:pt x="67588" y="3679"/>
                </a:lnTo>
                <a:lnTo>
                  <a:pt x="68047" y="4226"/>
                </a:lnTo>
                <a:lnTo>
                  <a:pt x="68496" y="4704"/>
                </a:lnTo>
                <a:lnTo>
                  <a:pt x="69096" y="5210"/>
                </a:lnTo>
                <a:lnTo>
                  <a:pt x="69388" y="5968"/>
                </a:lnTo>
                <a:lnTo>
                  <a:pt x="69656" y="6715"/>
                </a:lnTo>
                <a:lnTo>
                  <a:pt x="70077" y="7309"/>
                </a:lnTo>
                <a:lnTo>
                  <a:pt x="70413" y="8095"/>
                </a:lnTo>
                <a:lnTo>
                  <a:pt x="70482" y="9200"/>
                </a:lnTo>
                <a:lnTo>
                  <a:pt x="70673" y="10244"/>
                </a:lnTo>
                <a:lnTo>
                  <a:pt x="70877" y="11512"/>
                </a:lnTo>
                <a:lnTo>
                  <a:pt x="71021" y="12912"/>
                </a:lnTo>
                <a:lnTo>
                  <a:pt x="71041" y="14942"/>
                </a:lnTo>
                <a:lnTo>
                  <a:pt x="71083" y="21714"/>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7482444" y="3463473"/>
            <a:ext cx="6507053" cy="3963650"/>
          </a:xfrm>
          <a:custGeom>
            <a:avLst/>
            <a:gdLst/>
            <a:ahLst/>
            <a:cxnLst/>
            <a:rect l="l" t="t" r="r" b="b"/>
            <a:pathLst>
              <a:path w="71162" h="43347">
                <a:moveTo>
                  <a:pt x="70989" y="21557"/>
                </a:moveTo>
                <a:lnTo>
                  <a:pt x="71122" y="28361"/>
                </a:lnTo>
                <a:lnTo>
                  <a:pt x="71017" y="30470"/>
                </a:lnTo>
                <a:lnTo>
                  <a:pt x="70890" y="32027"/>
                </a:lnTo>
                <a:lnTo>
                  <a:pt x="70777" y="33205"/>
                </a:lnTo>
                <a:lnTo>
                  <a:pt x="70558" y="34270"/>
                </a:lnTo>
                <a:lnTo>
                  <a:pt x="70274" y="35148"/>
                </a:lnTo>
                <a:lnTo>
                  <a:pt x="70035" y="35978"/>
                </a:lnTo>
                <a:lnTo>
                  <a:pt x="69918" y="36784"/>
                </a:lnTo>
                <a:lnTo>
                  <a:pt x="69373" y="37531"/>
                </a:lnTo>
                <a:lnTo>
                  <a:pt x="69123" y="38101"/>
                </a:lnTo>
                <a:lnTo>
                  <a:pt x="68672" y="38584"/>
                </a:lnTo>
                <a:lnTo>
                  <a:pt x="68096" y="39117"/>
                </a:lnTo>
                <a:lnTo>
                  <a:pt x="67613" y="39731"/>
                </a:lnTo>
                <a:lnTo>
                  <a:pt x="67152" y="40135"/>
                </a:lnTo>
                <a:lnTo>
                  <a:pt x="66406" y="40434"/>
                </a:lnTo>
                <a:lnTo>
                  <a:pt x="65721" y="40947"/>
                </a:lnTo>
                <a:lnTo>
                  <a:pt x="65153" y="41338"/>
                </a:lnTo>
                <a:lnTo>
                  <a:pt x="64171" y="41624"/>
                </a:lnTo>
                <a:lnTo>
                  <a:pt x="63435" y="41727"/>
                </a:lnTo>
                <a:lnTo>
                  <a:pt x="62564" y="42204"/>
                </a:lnTo>
                <a:lnTo>
                  <a:pt x="61453" y="42440"/>
                </a:lnTo>
                <a:lnTo>
                  <a:pt x="60350" y="42624"/>
                </a:lnTo>
                <a:lnTo>
                  <a:pt x="59181" y="42698"/>
                </a:lnTo>
                <a:lnTo>
                  <a:pt x="57731" y="42964"/>
                </a:lnTo>
                <a:lnTo>
                  <a:pt x="56125" y="42908"/>
                </a:lnTo>
                <a:lnTo>
                  <a:pt x="54437" y="43225"/>
                </a:lnTo>
                <a:lnTo>
                  <a:pt x="52548" y="43082"/>
                </a:lnTo>
                <a:lnTo>
                  <a:pt x="49824" y="43329"/>
                </a:lnTo>
                <a:lnTo>
                  <a:pt x="46543" y="43347"/>
                </a:lnTo>
                <a:lnTo>
                  <a:pt x="35686" y="43293"/>
                </a:lnTo>
                <a:lnTo>
                  <a:pt x="24747" y="43340"/>
                </a:lnTo>
                <a:lnTo>
                  <a:pt x="21084" y="43269"/>
                </a:lnTo>
                <a:lnTo>
                  <a:pt x="18739" y="43140"/>
                </a:lnTo>
                <a:lnTo>
                  <a:pt x="16567" y="43048"/>
                </a:lnTo>
                <a:lnTo>
                  <a:pt x="14975" y="42895"/>
                </a:lnTo>
                <a:lnTo>
                  <a:pt x="13414" y="42981"/>
                </a:lnTo>
                <a:lnTo>
                  <a:pt x="12090" y="42769"/>
                </a:lnTo>
                <a:lnTo>
                  <a:pt x="10932" y="42517"/>
                </a:lnTo>
                <a:lnTo>
                  <a:pt x="9681" y="42349"/>
                </a:lnTo>
                <a:lnTo>
                  <a:pt x="8805" y="42168"/>
                </a:lnTo>
                <a:lnTo>
                  <a:pt x="7872" y="41935"/>
                </a:lnTo>
                <a:lnTo>
                  <a:pt x="6823" y="41591"/>
                </a:lnTo>
                <a:lnTo>
                  <a:pt x="6152" y="41292"/>
                </a:lnTo>
                <a:lnTo>
                  <a:pt x="5364" y="40917"/>
                </a:lnTo>
                <a:lnTo>
                  <a:pt x="4685" y="40518"/>
                </a:lnTo>
                <a:lnTo>
                  <a:pt x="3950" y="40086"/>
                </a:lnTo>
                <a:lnTo>
                  <a:pt x="3487" y="39588"/>
                </a:lnTo>
                <a:lnTo>
                  <a:pt x="3039" y="39057"/>
                </a:lnTo>
                <a:lnTo>
                  <a:pt x="2377" y="38552"/>
                </a:lnTo>
                <a:lnTo>
                  <a:pt x="2162" y="38159"/>
                </a:lnTo>
                <a:lnTo>
                  <a:pt x="1786" y="37362"/>
                </a:lnTo>
                <a:lnTo>
                  <a:pt x="1260" y="36772"/>
                </a:lnTo>
                <a:lnTo>
                  <a:pt x="1001" y="36114"/>
                </a:lnTo>
                <a:lnTo>
                  <a:pt x="864" y="35203"/>
                </a:lnTo>
                <a:lnTo>
                  <a:pt x="522" y="34213"/>
                </a:lnTo>
                <a:lnTo>
                  <a:pt x="276" y="33270"/>
                </a:lnTo>
                <a:lnTo>
                  <a:pt x="336" y="32009"/>
                </a:lnTo>
                <a:lnTo>
                  <a:pt x="79" y="30473"/>
                </a:lnTo>
                <a:lnTo>
                  <a:pt x="182" y="28407"/>
                </a:lnTo>
                <a:lnTo>
                  <a:pt x="0" y="21565"/>
                </a:lnTo>
                <a:lnTo>
                  <a:pt x="22" y="15073"/>
                </a:lnTo>
                <a:lnTo>
                  <a:pt x="52" y="13012"/>
                </a:lnTo>
                <a:lnTo>
                  <a:pt x="183" y="11474"/>
                </a:lnTo>
                <a:lnTo>
                  <a:pt x="465" y="10214"/>
                </a:lnTo>
                <a:lnTo>
                  <a:pt x="456" y="9068"/>
                </a:lnTo>
                <a:lnTo>
                  <a:pt x="785" y="8247"/>
                </a:lnTo>
                <a:lnTo>
                  <a:pt x="977" y="7250"/>
                </a:lnTo>
                <a:lnTo>
                  <a:pt x="1261" y="6506"/>
                </a:lnTo>
                <a:lnTo>
                  <a:pt x="1572" y="5995"/>
                </a:lnTo>
                <a:lnTo>
                  <a:pt x="1989" y="5192"/>
                </a:lnTo>
                <a:lnTo>
                  <a:pt x="2619" y="4748"/>
                </a:lnTo>
                <a:lnTo>
                  <a:pt x="2873" y="4086"/>
                </a:lnTo>
                <a:lnTo>
                  <a:pt x="3534" y="3788"/>
                </a:lnTo>
                <a:lnTo>
                  <a:pt x="4137" y="3144"/>
                </a:lnTo>
                <a:lnTo>
                  <a:pt x="4683" y="2848"/>
                </a:lnTo>
                <a:lnTo>
                  <a:pt x="5472" y="2385"/>
                </a:lnTo>
                <a:lnTo>
                  <a:pt x="6062" y="2160"/>
                </a:lnTo>
                <a:lnTo>
                  <a:pt x="6862" y="1918"/>
                </a:lnTo>
                <a:lnTo>
                  <a:pt x="7656" y="1599"/>
                </a:lnTo>
                <a:lnTo>
                  <a:pt x="8602" y="1268"/>
                </a:lnTo>
                <a:lnTo>
                  <a:pt x="9612" y="1061"/>
                </a:lnTo>
                <a:lnTo>
                  <a:pt x="10923" y="916"/>
                </a:lnTo>
                <a:lnTo>
                  <a:pt x="12132" y="738"/>
                </a:lnTo>
                <a:lnTo>
                  <a:pt x="13370" y="431"/>
                </a:lnTo>
                <a:lnTo>
                  <a:pt x="15039" y="370"/>
                </a:lnTo>
                <a:lnTo>
                  <a:pt x="16553" y="115"/>
                </a:lnTo>
                <a:lnTo>
                  <a:pt x="18794" y="63"/>
                </a:lnTo>
                <a:lnTo>
                  <a:pt x="21286" y="112"/>
                </a:lnTo>
                <a:lnTo>
                  <a:pt x="24603" y="118"/>
                </a:lnTo>
                <a:lnTo>
                  <a:pt x="35551" y="60"/>
                </a:lnTo>
                <a:lnTo>
                  <a:pt x="46510" y="0"/>
                </a:lnTo>
                <a:lnTo>
                  <a:pt x="49871" y="202"/>
                </a:lnTo>
                <a:lnTo>
                  <a:pt x="52481" y="174"/>
                </a:lnTo>
                <a:lnTo>
                  <a:pt x="54396" y="287"/>
                </a:lnTo>
                <a:lnTo>
                  <a:pt x="56121" y="223"/>
                </a:lnTo>
                <a:lnTo>
                  <a:pt x="57641" y="464"/>
                </a:lnTo>
                <a:lnTo>
                  <a:pt x="58980" y="706"/>
                </a:lnTo>
                <a:lnTo>
                  <a:pt x="60354" y="854"/>
                </a:lnTo>
                <a:lnTo>
                  <a:pt x="61555" y="1025"/>
                </a:lnTo>
                <a:lnTo>
                  <a:pt x="62383" y="1292"/>
                </a:lnTo>
                <a:lnTo>
                  <a:pt x="63390" y="1553"/>
                </a:lnTo>
                <a:lnTo>
                  <a:pt x="64369" y="1796"/>
                </a:lnTo>
                <a:lnTo>
                  <a:pt x="65043" y="2163"/>
                </a:lnTo>
                <a:lnTo>
                  <a:pt x="65849" y="2375"/>
                </a:lnTo>
                <a:lnTo>
                  <a:pt x="66538" y="2939"/>
                </a:lnTo>
                <a:lnTo>
                  <a:pt x="66982" y="3166"/>
                </a:lnTo>
                <a:lnTo>
                  <a:pt x="67657" y="3656"/>
                </a:lnTo>
                <a:lnTo>
                  <a:pt x="68214" y="4068"/>
                </a:lnTo>
                <a:lnTo>
                  <a:pt x="68537" y="4648"/>
                </a:lnTo>
                <a:lnTo>
                  <a:pt x="69012" y="5298"/>
                </a:lnTo>
                <a:lnTo>
                  <a:pt x="69401" y="5800"/>
                </a:lnTo>
                <a:lnTo>
                  <a:pt x="69765" y="6478"/>
                </a:lnTo>
                <a:lnTo>
                  <a:pt x="70156" y="7376"/>
                </a:lnTo>
                <a:lnTo>
                  <a:pt x="70351" y="8083"/>
                </a:lnTo>
                <a:lnTo>
                  <a:pt x="70567" y="8992"/>
                </a:lnTo>
                <a:lnTo>
                  <a:pt x="70811" y="10094"/>
                </a:lnTo>
                <a:lnTo>
                  <a:pt x="70804" y="11313"/>
                </a:lnTo>
                <a:lnTo>
                  <a:pt x="71081" y="12800"/>
                </a:lnTo>
                <a:lnTo>
                  <a:pt x="71020" y="14977"/>
                </a:lnTo>
                <a:lnTo>
                  <a:pt x="71162" y="21570"/>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3864133" y="6500470"/>
            <a:ext cx="86685" cy="324886"/>
          </a:xfrm>
          <a:custGeom>
            <a:avLst/>
            <a:gdLst/>
            <a:ahLst/>
            <a:cxnLst/>
            <a:rect l="l" t="t" r="r" b="b"/>
            <a:pathLst>
              <a:path w="948" h="3553">
                <a:moveTo>
                  <a:pt x="948" y="0"/>
                </a:moveTo>
                <a:lnTo>
                  <a:pt x="771" y="1057"/>
                </a:lnTo>
                <a:lnTo>
                  <a:pt x="555" y="1982"/>
                </a:lnTo>
                <a:lnTo>
                  <a:pt x="298" y="2808"/>
                </a:lnTo>
                <a:lnTo>
                  <a:pt x="0" y="3553"/>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12887096" y="7288682"/>
            <a:ext cx="392186" cy="80742"/>
          </a:xfrm>
          <a:custGeom>
            <a:avLst/>
            <a:gdLst/>
            <a:ahLst/>
            <a:cxnLst/>
            <a:rect l="l" t="t" r="r" b="b"/>
            <a:pathLst>
              <a:path w="4289" h="883">
                <a:moveTo>
                  <a:pt x="4289" y="0"/>
                </a:moveTo>
                <a:lnTo>
                  <a:pt x="3354" y="261"/>
                </a:lnTo>
                <a:lnTo>
                  <a:pt x="2335" y="494"/>
                </a:lnTo>
                <a:lnTo>
                  <a:pt x="1223" y="702"/>
                </a:lnTo>
                <a:lnTo>
                  <a:pt x="0" y="883"/>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8471184" y="7352873"/>
            <a:ext cx="533004" cy="52852"/>
          </a:xfrm>
          <a:custGeom>
            <a:avLst/>
            <a:gdLst/>
            <a:ahLst/>
            <a:cxnLst/>
            <a:rect l="l" t="t" r="r" b="b"/>
            <a:pathLst>
              <a:path w="5829" h="578">
                <a:moveTo>
                  <a:pt x="5829" y="578"/>
                </a:moveTo>
                <a:lnTo>
                  <a:pt x="4096" y="470"/>
                </a:lnTo>
                <a:lnTo>
                  <a:pt x="2577" y="338"/>
                </a:lnTo>
                <a:lnTo>
                  <a:pt x="1223" y="181"/>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7578730" y="6757233"/>
            <a:ext cx="132497" cy="239116"/>
          </a:xfrm>
          <a:custGeom>
            <a:avLst/>
            <a:gdLst/>
            <a:ahLst/>
            <a:cxnLst/>
            <a:rect l="l" t="t" r="r" b="b"/>
            <a:pathLst>
              <a:path w="1449" h="2615">
                <a:moveTo>
                  <a:pt x="1449" y="2615"/>
                </a:moveTo>
                <a:lnTo>
                  <a:pt x="1022" y="2044"/>
                </a:lnTo>
                <a:lnTo>
                  <a:pt x="639" y="1424"/>
                </a:lnTo>
                <a:lnTo>
                  <a:pt x="298" y="745"/>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7519294" y="4065148"/>
            <a:ext cx="86685" cy="324886"/>
          </a:xfrm>
          <a:custGeom>
            <a:avLst/>
            <a:gdLst/>
            <a:ahLst/>
            <a:cxnLst/>
            <a:rect l="l" t="t" r="r" b="b"/>
            <a:pathLst>
              <a:path w="948" h="3553">
                <a:moveTo>
                  <a:pt x="0" y="3553"/>
                </a:moveTo>
                <a:lnTo>
                  <a:pt x="177" y="2496"/>
                </a:lnTo>
                <a:lnTo>
                  <a:pt x="393" y="1571"/>
                </a:lnTo>
                <a:lnTo>
                  <a:pt x="650" y="745"/>
                </a:lnTo>
                <a:lnTo>
                  <a:pt x="948"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8190829" y="3521080"/>
            <a:ext cx="392186" cy="80742"/>
          </a:xfrm>
          <a:custGeom>
            <a:avLst/>
            <a:gdLst/>
            <a:ahLst/>
            <a:cxnLst/>
            <a:rect l="l" t="t" r="r" b="b"/>
            <a:pathLst>
              <a:path w="4289" h="883">
                <a:moveTo>
                  <a:pt x="0" y="883"/>
                </a:moveTo>
                <a:lnTo>
                  <a:pt x="935" y="622"/>
                </a:lnTo>
                <a:lnTo>
                  <a:pt x="1954" y="389"/>
                </a:lnTo>
                <a:lnTo>
                  <a:pt x="3066" y="181"/>
                </a:lnTo>
                <a:lnTo>
                  <a:pt x="4289"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reeform 112"/>
          <p:cNvSpPr/>
          <p:nvPr/>
        </p:nvSpPr>
        <p:spPr>
          <a:xfrm>
            <a:off x="12465924" y="3484778"/>
            <a:ext cx="533004" cy="52852"/>
          </a:xfrm>
          <a:custGeom>
            <a:avLst/>
            <a:gdLst/>
            <a:ahLst/>
            <a:cxnLst/>
            <a:rect l="l" t="t" r="r" b="b"/>
            <a:pathLst>
              <a:path w="5829" h="578">
                <a:moveTo>
                  <a:pt x="0" y="0"/>
                </a:moveTo>
                <a:lnTo>
                  <a:pt x="1733" y="108"/>
                </a:lnTo>
                <a:lnTo>
                  <a:pt x="3252" y="240"/>
                </a:lnTo>
                <a:lnTo>
                  <a:pt x="4606" y="397"/>
                </a:lnTo>
                <a:lnTo>
                  <a:pt x="5829" y="578"/>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13758885" y="3894155"/>
            <a:ext cx="132497" cy="239116"/>
          </a:xfrm>
          <a:custGeom>
            <a:avLst/>
            <a:gdLst/>
            <a:ahLst/>
            <a:cxnLst/>
            <a:rect l="l" t="t" r="r" b="b"/>
            <a:pathLst>
              <a:path w="1449" h="2615">
                <a:moveTo>
                  <a:pt x="0" y="0"/>
                </a:moveTo>
                <a:lnTo>
                  <a:pt x="427" y="571"/>
                </a:lnTo>
                <a:lnTo>
                  <a:pt x="810" y="1191"/>
                </a:lnTo>
                <a:lnTo>
                  <a:pt x="1151" y="1870"/>
                </a:lnTo>
                <a:lnTo>
                  <a:pt x="1449" y="2615"/>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body: What we add"/>
          <p:cNvSpPr txBox="1"/>
          <p:nvPr/>
        </p:nvSpPr>
        <p:spPr>
          <a:xfrm>
            <a:off x="7836408" y="3734562"/>
            <a:ext cx="5797296"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557B65"/>
                </a:solidFill>
                <a:latin typeface="Chalkboard SE"/>
              </a:rPr>
              <a:t>What we add</a:t>
            </a:r>
          </a:p>
        </p:txBody>
      </p:sp>
      <p:sp>
        <p:nvSpPr>
          <p:cNvPr id="116" name="Oval 115"/>
          <p:cNvSpPr/>
          <p:nvPr/>
        </p:nvSpPr>
        <p:spPr>
          <a:xfrm>
            <a:off x="7749540" y="4579207"/>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body: Every rule links to the incident and replay behind it"/>
          <p:cNvSpPr txBox="1"/>
          <p:nvPr/>
        </p:nvSpPr>
        <p:spPr>
          <a:xfrm>
            <a:off x="7982711" y="4478623"/>
            <a:ext cx="5751576" cy="366966"/>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Every rule links to the incident and replay behind it</a:t>
            </a:r>
          </a:p>
        </p:txBody>
      </p:sp>
      <p:sp>
        <p:nvSpPr>
          <p:cNvPr id="118" name="Oval 117"/>
          <p:cNvSpPr/>
          <p:nvPr/>
        </p:nvSpPr>
        <p:spPr>
          <a:xfrm>
            <a:off x="7749540" y="5065045"/>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body: Thresholds from benign calibration at a fixed false-positive rat"/>
          <p:cNvSpPr txBox="1"/>
          <p:nvPr/>
        </p:nvSpPr>
        <p:spPr>
          <a:xfrm>
            <a:off x="7982711" y="4964461"/>
            <a:ext cx="5751576"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Thresholds from benign calibration at a fixed</a:t>
            </a:r>
            <a:br/>
            <a:r>
              <a:rPr sz="1850" b="0">
                <a:solidFill>
                  <a:srgbClr val="293E46"/>
                </a:solidFill>
                <a:latin typeface="Trebuchet MS"/>
              </a:rPr>
              <a:t>false-positive rate</a:t>
            </a:r>
          </a:p>
        </p:txBody>
      </p:sp>
      <p:sp>
        <p:nvSpPr>
          <p:cNvPr id="120" name="Oval 119"/>
          <p:cNvSpPr/>
          <p:nvPr/>
        </p:nvSpPr>
        <p:spPr>
          <a:xfrm>
            <a:off x="7749540" y="584927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body: Shadow mode first, so observation itself is measured"/>
          <p:cNvSpPr txBox="1"/>
          <p:nvPr/>
        </p:nvSpPr>
        <p:spPr>
          <a:xfrm>
            <a:off x="7982711" y="5748686"/>
            <a:ext cx="5751576"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Shadow mode first, so observation itself is</a:t>
            </a:r>
            <a:br/>
            <a:r>
              <a:rPr sz="1850" b="0">
                <a:solidFill>
                  <a:srgbClr val="293E46"/>
                </a:solidFill>
                <a:latin typeface="Trebuchet MS"/>
              </a:rPr>
              <a:t>measured</a:t>
            </a:r>
          </a:p>
        </p:txBody>
      </p:sp>
      <p:sp>
        <p:nvSpPr>
          <p:cNvPr id="122" name="Oval 121"/>
          <p:cNvSpPr/>
          <p:nvPr/>
        </p:nvSpPr>
        <p:spPr>
          <a:xfrm>
            <a:off x="7749540" y="6633495"/>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body: Monitor cost counts in C(θ); ships inside each release"/>
          <p:cNvSpPr txBox="1"/>
          <p:nvPr/>
        </p:nvSpPr>
        <p:spPr>
          <a:xfrm>
            <a:off x="7982711" y="6532911"/>
            <a:ext cx="5751576"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Monitor cost counts in C(θ); ships inside each</a:t>
            </a:r>
            <a:br/>
            <a:r>
              <a:rPr sz="1850" b="0">
                <a:solidFill>
                  <a:srgbClr val="293E46"/>
                </a:solidFill>
                <a:latin typeface="Trebuchet MS"/>
              </a:rPr>
              <a:t>release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4 · COMPONENT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4 · COMPONENTS</a:t>
            </a:r>
          </a:p>
        </p:txBody>
      </p:sp>
      <p:sp>
        <p:nvSpPr>
          <p:cNvPr id="3" name="title: Component 7 · Automatic update and release"/>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Component 7 · Automatic update and release</a:t>
            </a:r>
          </a:p>
        </p:txBody>
      </p:sp>
      <p:sp>
        <p:nvSpPr>
          <p:cNvPr id="4" name="subtitle: CI for safety policies: scheduled, gated, diffable, reversible"/>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CI for safety policies: scheduled, gated, diffable, reversible</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25"/>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25</a:t>
            </a:r>
          </a:p>
        </p:txBody>
      </p:sp>
      <p:sp>
        <p:nvSpPr>
          <p:cNvPr id="12" name="Oval 11"/>
          <p:cNvSpPr/>
          <p:nvPr/>
        </p:nvSpPr>
        <p:spPr>
          <a:xfrm>
            <a:off x="640080" y="1773936"/>
            <a:ext cx="2706624" cy="1014984"/>
          </a:xfrm>
          <a:prstGeom prst="ellipse">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2092" y="1774759"/>
            <a:ext cx="2701869" cy="1010778"/>
          </a:xfrm>
          <a:custGeom>
            <a:avLst/>
            <a:gdLst/>
            <a:ahLst/>
            <a:cxnLst/>
            <a:rect l="l" t="t" r="r" b="b"/>
            <a:pathLst>
              <a:path w="29548" h="11054">
                <a:moveTo>
                  <a:pt x="29548" y="5615"/>
                </a:moveTo>
                <a:lnTo>
                  <a:pt x="29417" y="5771"/>
                </a:lnTo>
                <a:lnTo>
                  <a:pt x="29378" y="6045"/>
                </a:lnTo>
                <a:lnTo>
                  <a:pt x="29331" y="6329"/>
                </a:lnTo>
                <a:lnTo>
                  <a:pt x="29160" y="6591"/>
                </a:lnTo>
                <a:lnTo>
                  <a:pt x="28979" y="6967"/>
                </a:lnTo>
                <a:lnTo>
                  <a:pt x="28820" y="7236"/>
                </a:lnTo>
                <a:lnTo>
                  <a:pt x="28549" y="7605"/>
                </a:lnTo>
                <a:lnTo>
                  <a:pt x="28161" y="7707"/>
                </a:lnTo>
                <a:lnTo>
                  <a:pt x="27847" y="8114"/>
                </a:lnTo>
                <a:lnTo>
                  <a:pt x="27490" y="8219"/>
                </a:lnTo>
                <a:lnTo>
                  <a:pt x="26970" y="8603"/>
                </a:lnTo>
                <a:lnTo>
                  <a:pt x="26611" y="8703"/>
                </a:lnTo>
                <a:lnTo>
                  <a:pt x="26209" y="8937"/>
                </a:lnTo>
                <a:lnTo>
                  <a:pt x="25644" y="9205"/>
                </a:lnTo>
                <a:lnTo>
                  <a:pt x="25040" y="9345"/>
                </a:lnTo>
                <a:lnTo>
                  <a:pt x="24504" y="9625"/>
                </a:lnTo>
                <a:lnTo>
                  <a:pt x="24058" y="9793"/>
                </a:lnTo>
                <a:lnTo>
                  <a:pt x="23510" y="9902"/>
                </a:lnTo>
                <a:lnTo>
                  <a:pt x="22676" y="9985"/>
                </a:lnTo>
                <a:lnTo>
                  <a:pt x="22221" y="10257"/>
                </a:lnTo>
                <a:lnTo>
                  <a:pt x="21316" y="10494"/>
                </a:lnTo>
                <a:lnTo>
                  <a:pt x="20772" y="10432"/>
                </a:lnTo>
                <a:lnTo>
                  <a:pt x="19944" y="10639"/>
                </a:lnTo>
                <a:lnTo>
                  <a:pt x="19427" y="10812"/>
                </a:lnTo>
                <a:lnTo>
                  <a:pt x="18633" y="10787"/>
                </a:lnTo>
                <a:lnTo>
                  <a:pt x="17809" y="10965"/>
                </a:lnTo>
                <a:lnTo>
                  <a:pt x="16968" y="10792"/>
                </a:lnTo>
                <a:lnTo>
                  <a:pt x="16331" y="11054"/>
                </a:lnTo>
                <a:lnTo>
                  <a:pt x="15514" y="11025"/>
                </a:lnTo>
                <a:lnTo>
                  <a:pt x="14726" y="10979"/>
                </a:lnTo>
                <a:lnTo>
                  <a:pt x="14070" y="10854"/>
                </a:lnTo>
                <a:lnTo>
                  <a:pt x="13119" y="10856"/>
                </a:lnTo>
                <a:lnTo>
                  <a:pt x="12527" y="10843"/>
                </a:lnTo>
                <a:lnTo>
                  <a:pt x="11789" y="10971"/>
                </a:lnTo>
                <a:lnTo>
                  <a:pt x="11084" y="10805"/>
                </a:lnTo>
                <a:lnTo>
                  <a:pt x="10164" y="10638"/>
                </a:lnTo>
                <a:lnTo>
                  <a:pt x="9477" y="10680"/>
                </a:lnTo>
                <a:lnTo>
                  <a:pt x="8849" y="10615"/>
                </a:lnTo>
                <a:lnTo>
                  <a:pt x="8157" y="10383"/>
                </a:lnTo>
                <a:lnTo>
                  <a:pt x="7389" y="10139"/>
                </a:lnTo>
                <a:lnTo>
                  <a:pt x="6681" y="10190"/>
                </a:lnTo>
                <a:lnTo>
                  <a:pt x="6243" y="9998"/>
                </a:lnTo>
                <a:lnTo>
                  <a:pt x="5626" y="9786"/>
                </a:lnTo>
                <a:lnTo>
                  <a:pt x="5027" y="9570"/>
                </a:lnTo>
                <a:lnTo>
                  <a:pt x="4320" y="9304"/>
                </a:lnTo>
                <a:lnTo>
                  <a:pt x="3788" y="9176"/>
                </a:lnTo>
                <a:lnTo>
                  <a:pt x="3453" y="8873"/>
                </a:lnTo>
                <a:lnTo>
                  <a:pt x="2981" y="8616"/>
                </a:lnTo>
                <a:lnTo>
                  <a:pt x="2585" y="8614"/>
                </a:lnTo>
                <a:lnTo>
                  <a:pt x="2054" y="8307"/>
                </a:lnTo>
                <a:lnTo>
                  <a:pt x="1737" y="8113"/>
                </a:lnTo>
                <a:lnTo>
                  <a:pt x="1251" y="7663"/>
                </a:lnTo>
                <a:lnTo>
                  <a:pt x="1152" y="7380"/>
                </a:lnTo>
                <a:lnTo>
                  <a:pt x="799" y="7335"/>
                </a:lnTo>
                <a:lnTo>
                  <a:pt x="545" y="6889"/>
                </a:lnTo>
                <a:lnTo>
                  <a:pt x="307" y="6720"/>
                </a:lnTo>
                <a:lnTo>
                  <a:pt x="278" y="6290"/>
                </a:lnTo>
                <a:lnTo>
                  <a:pt x="147" y="6126"/>
                </a:lnTo>
                <a:lnTo>
                  <a:pt x="98" y="5764"/>
                </a:lnTo>
                <a:lnTo>
                  <a:pt x="0" y="5642"/>
                </a:lnTo>
                <a:lnTo>
                  <a:pt x="170" y="5158"/>
                </a:lnTo>
                <a:lnTo>
                  <a:pt x="115" y="5035"/>
                </a:lnTo>
                <a:lnTo>
                  <a:pt x="313" y="4803"/>
                </a:lnTo>
                <a:lnTo>
                  <a:pt x="512" y="4485"/>
                </a:lnTo>
                <a:lnTo>
                  <a:pt x="613" y="4247"/>
                </a:lnTo>
                <a:lnTo>
                  <a:pt x="918" y="3792"/>
                </a:lnTo>
                <a:lnTo>
                  <a:pt x="1138" y="3585"/>
                </a:lnTo>
                <a:lnTo>
                  <a:pt x="1449" y="3278"/>
                </a:lnTo>
                <a:lnTo>
                  <a:pt x="1738" y="3117"/>
                </a:lnTo>
                <a:lnTo>
                  <a:pt x="1948" y="2927"/>
                </a:lnTo>
                <a:lnTo>
                  <a:pt x="2535" y="2539"/>
                </a:lnTo>
                <a:lnTo>
                  <a:pt x="2866" y="2377"/>
                </a:lnTo>
                <a:lnTo>
                  <a:pt x="3296" y="2211"/>
                </a:lnTo>
                <a:lnTo>
                  <a:pt x="3885" y="2003"/>
                </a:lnTo>
                <a:lnTo>
                  <a:pt x="4310" y="1778"/>
                </a:lnTo>
                <a:lnTo>
                  <a:pt x="4996" y="1513"/>
                </a:lnTo>
                <a:lnTo>
                  <a:pt x="5602" y="1369"/>
                </a:lnTo>
                <a:lnTo>
                  <a:pt x="6132" y="1100"/>
                </a:lnTo>
                <a:lnTo>
                  <a:pt x="6685" y="1076"/>
                </a:lnTo>
                <a:lnTo>
                  <a:pt x="7435" y="822"/>
                </a:lnTo>
                <a:lnTo>
                  <a:pt x="8141" y="738"/>
                </a:lnTo>
                <a:lnTo>
                  <a:pt x="8692" y="646"/>
                </a:lnTo>
                <a:lnTo>
                  <a:pt x="9565" y="372"/>
                </a:lnTo>
                <a:lnTo>
                  <a:pt x="10118" y="271"/>
                </a:lnTo>
                <a:lnTo>
                  <a:pt x="11070" y="221"/>
                </a:lnTo>
                <a:lnTo>
                  <a:pt x="11826" y="330"/>
                </a:lnTo>
                <a:lnTo>
                  <a:pt x="12533" y="72"/>
                </a:lnTo>
                <a:lnTo>
                  <a:pt x="13126" y="258"/>
                </a:lnTo>
                <a:lnTo>
                  <a:pt x="13995" y="41"/>
                </a:lnTo>
                <a:lnTo>
                  <a:pt x="14869" y="0"/>
                </a:lnTo>
                <a:lnTo>
                  <a:pt x="15529" y="55"/>
                </a:lnTo>
                <a:lnTo>
                  <a:pt x="16245" y="136"/>
                </a:lnTo>
                <a:lnTo>
                  <a:pt x="16978" y="219"/>
                </a:lnTo>
                <a:lnTo>
                  <a:pt x="17950" y="133"/>
                </a:lnTo>
                <a:lnTo>
                  <a:pt x="18607" y="343"/>
                </a:lnTo>
                <a:lnTo>
                  <a:pt x="19376" y="298"/>
                </a:lnTo>
                <a:lnTo>
                  <a:pt x="20014" y="561"/>
                </a:lnTo>
                <a:lnTo>
                  <a:pt x="20853" y="563"/>
                </a:lnTo>
                <a:lnTo>
                  <a:pt x="21486" y="770"/>
                </a:lnTo>
                <a:lnTo>
                  <a:pt x="22167" y="781"/>
                </a:lnTo>
                <a:lnTo>
                  <a:pt x="22766" y="917"/>
                </a:lnTo>
                <a:lnTo>
                  <a:pt x="23331" y="1134"/>
                </a:lnTo>
                <a:lnTo>
                  <a:pt x="24074" y="1437"/>
                </a:lnTo>
                <a:lnTo>
                  <a:pt x="24533" y="1446"/>
                </a:lnTo>
                <a:lnTo>
                  <a:pt x="25206" y="1667"/>
                </a:lnTo>
                <a:lnTo>
                  <a:pt x="25768" y="1902"/>
                </a:lnTo>
                <a:lnTo>
                  <a:pt x="26220" y="2059"/>
                </a:lnTo>
                <a:lnTo>
                  <a:pt x="26571" y="2379"/>
                </a:lnTo>
                <a:lnTo>
                  <a:pt x="27194" y="2479"/>
                </a:lnTo>
                <a:lnTo>
                  <a:pt x="27390" y="2800"/>
                </a:lnTo>
                <a:lnTo>
                  <a:pt x="27917" y="3092"/>
                </a:lnTo>
                <a:lnTo>
                  <a:pt x="28162" y="3433"/>
                </a:lnTo>
                <a:lnTo>
                  <a:pt x="28585" y="3481"/>
                </a:lnTo>
                <a:lnTo>
                  <a:pt x="28645" y="3747"/>
                </a:lnTo>
                <a:lnTo>
                  <a:pt x="28992" y="4163"/>
                </a:lnTo>
                <a:lnTo>
                  <a:pt x="29078" y="4345"/>
                </a:lnTo>
                <a:lnTo>
                  <a:pt x="29397" y="4623"/>
                </a:lnTo>
                <a:lnTo>
                  <a:pt x="29355" y="4986"/>
                </a:lnTo>
                <a:lnTo>
                  <a:pt x="29320" y="5186"/>
                </a:lnTo>
                <a:lnTo>
                  <a:pt x="29475" y="5595"/>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45475" y="1782257"/>
            <a:ext cx="2696657" cy="1005200"/>
          </a:xfrm>
          <a:custGeom>
            <a:avLst/>
            <a:gdLst/>
            <a:ahLst/>
            <a:cxnLst/>
            <a:rect l="l" t="t" r="r" b="b"/>
            <a:pathLst>
              <a:path w="29491" h="10993">
                <a:moveTo>
                  <a:pt x="29417" y="5412"/>
                </a:moveTo>
                <a:lnTo>
                  <a:pt x="29491" y="5850"/>
                </a:lnTo>
                <a:lnTo>
                  <a:pt x="29423" y="6140"/>
                </a:lnTo>
                <a:lnTo>
                  <a:pt x="29159" y="6297"/>
                </a:lnTo>
                <a:lnTo>
                  <a:pt x="29130" y="6553"/>
                </a:lnTo>
                <a:lnTo>
                  <a:pt x="28809" y="6747"/>
                </a:lnTo>
                <a:lnTo>
                  <a:pt x="28598" y="7176"/>
                </a:lnTo>
                <a:lnTo>
                  <a:pt x="28395" y="7406"/>
                </a:lnTo>
                <a:lnTo>
                  <a:pt x="28252" y="7750"/>
                </a:lnTo>
                <a:lnTo>
                  <a:pt x="27798" y="7896"/>
                </a:lnTo>
                <a:lnTo>
                  <a:pt x="27559" y="8136"/>
                </a:lnTo>
                <a:lnTo>
                  <a:pt x="26980" y="8334"/>
                </a:lnTo>
                <a:lnTo>
                  <a:pt x="26659" y="8542"/>
                </a:lnTo>
                <a:lnTo>
                  <a:pt x="26259" y="8951"/>
                </a:lnTo>
                <a:lnTo>
                  <a:pt x="25556" y="9137"/>
                </a:lnTo>
                <a:lnTo>
                  <a:pt x="25116" y="9311"/>
                </a:lnTo>
                <a:lnTo>
                  <a:pt x="24528" y="9556"/>
                </a:lnTo>
                <a:lnTo>
                  <a:pt x="23886" y="9648"/>
                </a:lnTo>
                <a:lnTo>
                  <a:pt x="23353" y="9851"/>
                </a:lnTo>
                <a:lnTo>
                  <a:pt x="22642" y="9996"/>
                </a:lnTo>
                <a:lnTo>
                  <a:pt x="22174" y="10130"/>
                </a:lnTo>
                <a:lnTo>
                  <a:pt x="21444" y="10374"/>
                </a:lnTo>
                <a:lnTo>
                  <a:pt x="20630" y="10351"/>
                </a:lnTo>
                <a:lnTo>
                  <a:pt x="19996" y="10501"/>
                </a:lnTo>
                <a:lnTo>
                  <a:pt x="19289" y="10656"/>
                </a:lnTo>
                <a:lnTo>
                  <a:pt x="18491" y="10800"/>
                </a:lnTo>
                <a:lnTo>
                  <a:pt x="17716" y="10827"/>
                </a:lnTo>
                <a:lnTo>
                  <a:pt x="17032" y="10739"/>
                </a:lnTo>
                <a:lnTo>
                  <a:pt x="16298" y="10855"/>
                </a:lnTo>
                <a:lnTo>
                  <a:pt x="15628" y="10867"/>
                </a:lnTo>
                <a:lnTo>
                  <a:pt x="14697" y="10993"/>
                </a:lnTo>
                <a:lnTo>
                  <a:pt x="14062" y="10993"/>
                </a:lnTo>
                <a:lnTo>
                  <a:pt x="13328" y="10957"/>
                </a:lnTo>
                <a:lnTo>
                  <a:pt x="12506" y="10851"/>
                </a:lnTo>
                <a:lnTo>
                  <a:pt x="11623" y="10652"/>
                </a:lnTo>
                <a:lnTo>
                  <a:pt x="10926" y="10776"/>
                </a:lnTo>
                <a:lnTo>
                  <a:pt x="10140" y="10527"/>
                </a:lnTo>
                <a:lnTo>
                  <a:pt x="9531" y="10633"/>
                </a:lnTo>
                <a:lnTo>
                  <a:pt x="8762" y="10461"/>
                </a:lnTo>
                <a:lnTo>
                  <a:pt x="8116" y="10227"/>
                </a:lnTo>
                <a:lnTo>
                  <a:pt x="7392" y="10195"/>
                </a:lnTo>
                <a:lnTo>
                  <a:pt x="6852" y="10108"/>
                </a:lnTo>
                <a:lnTo>
                  <a:pt x="6211" y="9832"/>
                </a:lnTo>
                <a:lnTo>
                  <a:pt x="5384" y="9639"/>
                </a:lnTo>
                <a:lnTo>
                  <a:pt x="4973" y="9411"/>
                </a:lnTo>
                <a:lnTo>
                  <a:pt x="4485" y="9198"/>
                </a:lnTo>
                <a:lnTo>
                  <a:pt x="3719" y="9114"/>
                </a:lnTo>
                <a:lnTo>
                  <a:pt x="3342" y="8932"/>
                </a:lnTo>
                <a:lnTo>
                  <a:pt x="2816" y="8708"/>
                </a:lnTo>
                <a:lnTo>
                  <a:pt x="2328" y="8308"/>
                </a:lnTo>
                <a:lnTo>
                  <a:pt x="2041" y="8076"/>
                </a:lnTo>
                <a:lnTo>
                  <a:pt x="1751" y="7946"/>
                </a:lnTo>
                <a:lnTo>
                  <a:pt x="1299" y="7699"/>
                </a:lnTo>
                <a:lnTo>
                  <a:pt x="912" y="7484"/>
                </a:lnTo>
                <a:lnTo>
                  <a:pt x="731" y="7090"/>
                </a:lnTo>
                <a:lnTo>
                  <a:pt x="504" y="6802"/>
                </a:lnTo>
                <a:lnTo>
                  <a:pt x="321" y="6578"/>
                </a:lnTo>
                <a:lnTo>
                  <a:pt x="116" y="6348"/>
                </a:lnTo>
                <a:lnTo>
                  <a:pt x="55" y="5999"/>
                </a:lnTo>
                <a:lnTo>
                  <a:pt x="0" y="5843"/>
                </a:lnTo>
                <a:lnTo>
                  <a:pt x="155" y="5501"/>
                </a:lnTo>
                <a:lnTo>
                  <a:pt x="72" y="5161"/>
                </a:lnTo>
                <a:lnTo>
                  <a:pt x="73" y="4865"/>
                </a:lnTo>
                <a:lnTo>
                  <a:pt x="292" y="4601"/>
                </a:lnTo>
                <a:lnTo>
                  <a:pt x="292" y="4221"/>
                </a:lnTo>
                <a:lnTo>
                  <a:pt x="513" y="3966"/>
                </a:lnTo>
                <a:lnTo>
                  <a:pt x="834" y="3724"/>
                </a:lnTo>
                <a:lnTo>
                  <a:pt x="977" y="3445"/>
                </a:lnTo>
                <a:lnTo>
                  <a:pt x="1419" y="3315"/>
                </a:lnTo>
                <a:lnTo>
                  <a:pt x="1749" y="2921"/>
                </a:lnTo>
                <a:lnTo>
                  <a:pt x="2125" y="2818"/>
                </a:lnTo>
                <a:lnTo>
                  <a:pt x="2332" y="2559"/>
                </a:lnTo>
                <a:lnTo>
                  <a:pt x="2853" y="2249"/>
                </a:lnTo>
                <a:lnTo>
                  <a:pt x="3327" y="1974"/>
                </a:lnTo>
                <a:lnTo>
                  <a:pt x="3732" y="1940"/>
                </a:lnTo>
                <a:lnTo>
                  <a:pt x="4254" y="1518"/>
                </a:lnTo>
                <a:lnTo>
                  <a:pt x="4880" y="1399"/>
                </a:lnTo>
                <a:lnTo>
                  <a:pt x="5623" y="1218"/>
                </a:lnTo>
                <a:lnTo>
                  <a:pt x="6163" y="1027"/>
                </a:lnTo>
                <a:lnTo>
                  <a:pt x="6699" y="964"/>
                </a:lnTo>
                <a:lnTo>
                  <a:pt x="7434" y="821"/>
                </a:lnTo>
                <a:lnTo>
                  <a:pt x="8000" y="694"/>
                </a:lnTo>
                <a:lnTo>
                  <a:pt x="8875" y="560"/>
                </a:lnTo>
                <a:lnTo>
                  <a:pt x="9421" y="293"/>
                </a:lnTo>
                <a:lnTo>
                  <a:pt x="10302" y="369"/>
                </a:lnTo>
                <a:lnTo>
                  <a:pt x="10933" y="149"/>
                </a:lnTo>
                <a:lnTo>
                  <a:pt x="11782" y="73"/>
                </a:lnTo>
                <a:lnTo>
                  <a:pt x="12536" y="105"/>
                </a:lnTo>
                <a:lnTo>
                  <a:pt x="13241" y="19"/>
                </a:lnTo>
                <a:lnTo>
                  <a:pt x="13951" y="42"/>
                </a:lnTo>
                <a:lnTo>
                  <a:pt x="14817" y="0"/>
                </a:lnTo>
                <a:lnTo>
                  <a:pt x="15624" y="139"/>
                </a:lnTo>
                <a:lnTo>
                  <a:pt x="16149" y="173"/>
                </a:lnTo>
                <a:lnTo>
                  <a:pt x="17098" y="3"/>
                </a:lnTo>
                <a:lnTo>
                  <a:pt x="17711" y="55"/>
                </a:lnTo>
                <a:lnTo>
                  <a:pt x="18415" y="240"/>
                </a:lnTo>
                <a:lnTo>
                  <a:pt x="19206" y="195"/>
                </a:lnTo>
                <a:lnTo>
                  <a:pt x="20019" y="371"/>
                </a:lnTo>
                <a:lnTo>
                  <a:pt x="20797" y="425"/>
                </a:lnTo>
                <a:lnTo>
                  <a:pt x="21481" y="670"/>
                </a:lnTo>
                <a:lnTo>
                  <a:pt x="22182" y="755"/>
                </a:lnTo>
                <a:lnTo>
                  <a:pt x="22775" y="879"/>
                </a:lnTo>
                <a:lnTo>
                  <a:pt x="23440" y="1099"/>
                </a:lnTo>
                <a:lnTo>
                  <a:pt x="23878" y="1286"/>
                </a:lnTo>
                <a:lnTo>
                  <a:pt x="24637" y="1327"/>
                </a:lnTo>
                <a:lnTo>
                  <a:pt x="25171" y="1689"/>
                </a:lnTo>
                <a:lnTo>
                  <a:pt x="25543" y="1776"/>
                </a:lnTo>
                <a:lnTo>
                  <a:pt x="26172" y="2049"/>
                </a:lnTo>
                <a:lnTo>
                  <a:pt x="26547" y="2215"/>
                </a:lnTo>
                <a:lnTo>
                  <a:pt x="27106" y="2576"/>
                </a:lnTo>
                <a:lnTo>
                  <a:pt x="27542" y="2726"/>
                </a:lnTo>
                <a:lnTo>
                  <a:pt x="27820" y="3081"/>
                </a:lnTo>
                <a:lnTo>
                  <a:pt x="28028" y="3312"/>
                </a:lnTo>
                <a:lnTo>
                  <a:pt x="28357" y="3436"/>
                </a:lnTo>
                <a:lnTo>
                  <a:pt x="28620" y="3728"/>
                </a:lnTo>
                <a:lnTo>
                  <a:pt x="28872" y="4101"/>
                </a:lnTo>
                <a:lnTo>
                  <a:pt x="29155" y="4403"/>
                </a:lnTo>
                <a:lnTo>
                  <a:pt x="29112" y="4719"/>
                </a:lnTo>
                <a:lnTo>
                  <a:pt x="29353" y="4825"/>
                </a:lnTo>
                <a:lnTo>
                  <a:pt x="29386" y="5102"/>
                </a:lnTo>
                <a:lnTo>
                  <a:pt x="29341" y="5397"/>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3219694" y="2384664"/>
            <a:ext cx="86685" cy="98755"/>
          </a:xfrm>
          <a:custGeom>
            <a:avLst/>
            <a:gdLst/>
            <a:ahLst/>
            <a:cxnLst/>
            <a:rect l="l" t="t" r="r" b="b"/>
            <a:pathLst>
              <a:path w="948" h="1080">
                <a:moveTo>
                  <a:pt x="948" y="0"/>
                </a:moveTo>
                <a:lnTo>
                  <a:pt x="769" y="276"/>
                </a:lnTo>
                <a:lnTo>
                  <a:pt x="551" y="549"/>
                </a:lnTo>
                <a:lnTo>
                  <a:pt x="294" y="817"/>
                </a:lnTo>
                <a:lnTo>
                  <a:pt x="0" y="108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474458" y="2697846"/>
            <a:ext cx="249997" cy="47092"/>
          </a:xfrm>
          <a:custGeom>
            <a:avLst/>
            <a:gdLst/>
            <a:ahLst/>
            <a:cxnLst/>
            <a:rect l="l" t="t" r="r" b="b"/>
            <a:pathLst>
              <a:path w="2734" h="515">
                <a:moveTo>
                  <a:pt x="2734" y="0"/>
                </a:moveTo>
                <a:lnTo>
                  <a:pt x="2079" y="149"/>
                </a:lnTo>
                <a:lnTo>
                  <a:pt x="1404" y="284"/>
                </a:lnTo>
                <a:lnTo>
                  <a:pt x="710" y="407"/>
                </a:lnTo>
                <a:lnTo>
                  <a:pt x="0" y="51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447404" y="2735062"/>
            <a:ext cx="266913" cy="32004"/>
          </a:xfrm>
          <a:custGeom>
            <a:avLst/>
            <a:gdLst/>
            <a:ahLst/>
            <a:cxnLst/>
            <a:rect l="l" t="t" r="r" b="b"/>
            <a:pathLst>
              <a:path w="2919" h="350">
                <a:moveTo>
                  <a:pt x="2919" y="350"/>
                </a:moveTo>
                <a:lnTo>
                  <a:pt x="2172" y="284"/>
                </a:lnTo>
                <a:lnTo>
                  <a:pt x="1435" y="203"/>
                </a:lnTo>
                <a:lnTo>
                  <a:pt x="710" y="108"/>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40207" y="2459370"/>
            <a:ext cx="127376" cy="92446"/>
          </a:xfrm>
          <a:custGeom>
            <a:avLst/>
            <a:gdLst/>
            <a:ahLst/>
            <a:cxnLst/>
            <a:rect l="l" t="t" r="r" b="b"/>
            <a:pathLst>
              <a:path w="1393" h="1011">
                <a:moveTo>
                  <a:pt x="1393" y="1011"/>
                </a:moveTo>
                <a:lnTo>
                  <a:pt x="992" y="769"/>
                </a:lnTo>
                <a:lnTo>
                  <a:pt x="625" y="519"/>
                </a:lnTo>
                <a:lnTo>
                  <a:pt x="294" y="263"/>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80405" y="2079437"/>
            <a:ext cx="86685" cy="98755"/>
          </a:xfrm>
          <a:custGeom>
            <a:avLst/>
            <a:gdLst/>
            <a:ahLst/>
            <a:cxnLst/>
            <a:rect l="l" t="t" r="r" b="b"/>
            <a:pathLst>
              <a:path w="948" h="1080">
                <a:moveTo>
                  <a:pt x="0" y="1080"/>
                </a:moveTo>
                <a:lnTo>
                  <a:pt x="179" y="804"/>
                </a:lnTo>
                <a:lnTo>
                  <a:pt x="397" y="531"/>
                </a:lnTo>
                <a:lnTo>
                  <a:pt x="654" y="263"/>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262329" y="1817919"/>
            <a:ext cx="249997" cy="47092"/>
          </a:xfrm>
          <a:custGeom>
            <a:avLst/>
            <a:gdLst/>
            <a:ahLst/>
            <a:cxnLst/>
            <a:rect l="l" t="t" r="r" b="b"/>
            <a:pathLst>
              <a:path w="2734" h="515">
                <a:moveTo>
                  <a:pt x="0" y="515"/>
                </a:moveTo>
                <a:lnTo>
                  <a:pt x="655" y="366"/>
                </a:lnTo>
                <a:lnTo>
                  <a:pt x="1330" y="231"/>
                </a:lnTo>
                <a:lnTo>
                  <a:pt x="2024" y="108"/>
                </a:lnTo>
                <a:lnTo>
                  <a:pt x="2734"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272467" y="1795790"/>
            <a:ext cx="266913" cy="32004"/>
          </a:xfrm>
          <a:custGeom>
            <a:avLst/>
            <a:gdLst/>
            <a:ahLst/>
            <a:cxnLst/>
            <a:rect l="l" t="t" r="r" b="b"/>
            <a:pathLst>
              <a:path w="2919" h="350">
                <a:moveTo>
                  <a:pt x="0" y="0"/>
                </a:moveTo>
                <a:lnTo>
                  <a:pt x="747" y="66"/>
                </a:lnTo>
                <a:lnTo>
                  <a:pt x="1484" y="147"/>
                </a:lnTo>
                <a:lnTo>
                  <a:pt x="2209" y="242"/>
                </a:lnTo>
                <a:lnTo>
                  <a:pt x="2919" y="35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3119201" y="2011040"/>
            <a:ext cx="127376" cy="92446"/>
          </a:xfrm>
          <a:custGeom>
            <a:avLst/>
            <a:gdLst/>
            <a:ahLst/>
            <a:cxnLst/>
            <a:rect l="l" t="t" r="r" b="b"/>
            <a:pathLst>
              <a:path w="1393" h="1011">
                <a:moveTo>
                  <a:pt x="0" y="0"/>
                </a:moveTo>
                <a:lnTo>
                  <a:pt x="401" y="242"/>
                </a:lnTo>
                <a:lnTo>
                  <a:pt x="768" y="492"/>
                </a:lnTo>
                <a:lnTo>
                  <a:pt x="1099" y="748"/>
                </a:lnTo>
                <a:lnTo>
                  <a:pt x="1393" y="1011"/>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ingest"/>
          <p:cNvSpPr txBox="1"/>
          <p:nvPr/>
        </p:nvSpPr>
        <p:spPr>
          <a:xfrm>
            <a:off x="896112" y="2065782"/>
            <a:ext cx="2194560"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ingest</a:t>
            </a:r>
          </a:p>
        </p:txBody>
      </p:sp>
      <p:sp>
        <p:nvSpPr>
          <p:cNvPr id="24" name="Freeform 23"/>
          <p:cNvSpPr/>
          <p:nvPr/>
        </p:nvSpPr>
        <p:spPr>
          <a:xfrm>
            <a:off x="3465576" y="2264969"/>
            <a:ext cx="557784" cy="11887"/>
          </a:xfrm>
          <a:custGeom>
            <a:avLst/>
            <a:gdLst/>
            <a:ahLst/>
            <a:cxnLst/>
            <a:rect l="l" t="t" r="r" b="b"/>
            <a:pathLst>
              <a:path w="6100" h="130">
                <a:moveTo>
                  <a:pt x="0" y="130"/>
                </a:moveTo>
                <a:lnTo>
                  <a:pt x="3050" y="0"/>
                </a:lnTo>
                <a:lnTo>
                  <a:pt x="6100" y="13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3941521" y="2276856"/>
            <a:ext cx="81839" cy="50201"/>
          </a:xfrm>
          <a:custGeom>
            <a:avLst/>
            <a:gdLst/>
            <a:ahLst/>
            <a:cxnLst/>
            <a:rect l="l" t="t" r="r" b="b"/>
            <a:pathLst>
              <a:path w="895" h="549">
                <a:moveTo>
                  <a:pt x="0" y="549"/>
                </a:moveTo>
                <a:lnTo>
                  <a:pt x="895" y="0"/>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3941521" y="2226655"/>
            <a:ext cx="81839" cy="50201"/>
          </a:xfrm>
          <a:custGeom>
            <a:avLst/>
            <a:gdLst/>
            <a:ahLst/>
            <a:cxnLst/>
            <a:rect l="l" t="t" r="r" b="b"/>
            <a:pathLst>
              <a:path w="895" h="549">
                <a:moveTo>
                  <a:pt x="0" y="0"/>
                </a:moveTo>
                <a:lnTo>
                  <a:pt x="895" y="549"/>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187952" y="1773936"/>
            <a:ext cx="2706624" cy="1014984"/>
          </a:xfrm>
          <a:prstGeom prst="ellipse">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4198925" y="1779057"/>
            <a:ext cx="2683124" cy="1003554"/>
          </a:xfrm>
          <a:custGeom>
            <a:avLst/>
            <a:gdLst/>
            <a:ahLst/>
            <a:cxnLst/>
            <a:rect l="l" t="t" r="r" b="b"/>
            <a:pathLst>
              <a:path w="29343" h="10975">
                <a:moveTo>
                  <a:pt x="29338" y="5478"/>
                </a:moveTo>
                <a:lnTo>
                  <a:pt x="29340" y="5802"/>
                </a:lnTo>
                <a:lnTo>
                  <a:pt x="29338" y="6173"/>
                </a:lnTo>
                <a:lnTo>
                  <a:pt x="29292" y="6460"/>
                </a:lnTo>
                <a:lnTo>
                  <a:pt x="28994" y="6565"/>
                </a:lnTo>
                <a:lnTo>
                  <a:pt x="28786" y="6923"/>
                </a:lnTo>
                <a:lnTo>
                  <a:pt x="28665" y="7139"/>
                </a:lnTo>
                <a:lnTo>
                  <a:pt x="28281" y="7410"/>
                </a:lnTo>
                <a:lnTo>
                  <a:pt x="27996" y="7728"/>
                </a:lnTo>
                <a:lnTo>
                  <a:pt x="27882" y="7919"/>
                </a:lnTo>
                <a:lnTo>
                  <a:pt x="27337" y="8117"/>
                </a:lnTo>
                <a:lnTo>
                  <a:pt x="26877" y="8341"/>
                </a:lnTo>
                <a:lnTo>
                  <a:pt x="26652" y="8635"/>
                </a:lnTo>
                <a:lnTo>
                  <a:pt x="26024" y="8840"/>
                </a:lnTo>
                <a:lnTo>
                  <a:pt x="25649" y="9148"/>
                </a:lnTo>
                <a:lnTo>
                  <a:pt x="25119" y="9255"/>
                </a:lnTo>
                <a:lnTo>
                  <a:pt x="24448" y="9478"/>
                </a:lnTo>
                <a:lnTo>
                  <a:pt x="23863" y="9598"/>
                </a:lnTo>
                <a:lnTo>
                  <a:pt x="23236" y="9809"/>
                </a:lnTo>
                <a:lnTo>
                  <a:pt x="22774" y="10104"/>
                </a:lnTo>
                <a:lnTo>
                  <a:pt x="22073" y="10110"/>
                </a:lnTo>
                <a:lnTo>
                  <a:pt x="21308" y="10298"/>
                </a:lnTo>
                <a:lnTo>
                  <a:pt x="20538" y="10433"/>
                </a:lnTo>
                <a:lnTo>
                  <a:pt x="19868" y="10565"/>
                </a:lnTo>
                <a:lnTo>
                  <a:pt x="19200" y="10738"/>
                </a:lnTo>
                <a:lnTo>
                  <a:pt x="18594" y="10715"/>
                </a:lnTo>
                <a:lnTo>
                  <a:pt x="17791" y="10750"/>
                </a:lnTo>
                <a:lnTo>
                  <a:pt x="16854" y="10741"/>
                </a:lnTo>
                <a:lnTo>
                  <a:pt x="16225" y="10798"/>
                </a:lnTo>
                <a:lnTo>
                  <a:pt x="15352" y="10975"/>
                </a:lnTo>
                <a:lnTo>
                  <a:pt x="14588" y="10806"/>
                </a:lnTo>
                <a:lnTo>
                  <a:pt x="13810" y="10961"/>
                </a:lnTo>
                <a:lnTo>
                  <a:pt x="13238" y="10897"/>
                </a:lnTo>
                <a:lnTo>
                  <a:pt x="12322" y="10823"/>
                </a:lnTo>
                <a:lnTo>
                  <a:pt x="11662" y="10924"/>
                </a:lnTo>
                <a:lnTo>
                  <a:pt x="10871" y="10680"/>
                </a:lnTo>
                <a:lnTo>
                  <a:pt x="10119" y="10611"/>
                </a:lnTo>
                <a:lnTo>
                  <a:pt x="9335" y="10554"/>
                </a:lnTo>
                <a:lnTo>
                  <a:pt x="8585" y="10549"/>
                </a:lnTo>
                <a:lnTo>
                  <a:pt x="8116" y="10388"/>
                </a:lnTo>
                <a:lnTo>
                  <a:pt x="7355" y="10285"/>
                </a:lnTo>
                <a:lnTo>
                  <a:pt x="6622" y="9955"/>
                </a:lnTo>
                <a:lnTo>
                  <a:pt x="6166" y="9793"/>
                </a:lnTo>
                <a:lnTo>
                  <a:pt x="5464" y="9713"/>
                </a:lnTo>
                <a:lnTo>
                  <a:pt x="4855" y="9563"/>
                </a:lnTo>
                <a:lnTo>
                  <a:pt x="4189" y="9260"/>
                </a:lnTo>
                <a:lnTo>
                  <a:pt x="3666" y="9105"/>
                </a:lnTo>
                <a:lnTo>
                  <a:pt x="3342" y="8937"/>
                </a:lnTo>
                <a:lnTo>
                  <a:pt x="2811" y="8729"/>
                </a:lnTo>
                <a:lnTo>
                  <a:pt x="2397" y="8558"/>
                </a:lnTo>
                <a:lnTo>
                  <a:pt x="1999" y="8102"/>
                </a:lnTo>
                <a:lnTo>
                  <a:pt x="1630" y="7921"/>
                </a:lnTo>
                <a:lnTo>
                  <a:pt x="1212" y="7774"/>
                </a:lnTo>
                <a:lnTo>
                  <a:pt x="1086" y="7416"/>
                </a:lnTo>
                <a:lnTo>
                  <a:pt x="750" y="7133"/>
                </a:lnTo>
                <a:lnTo>
                  <a:pt x="432" y="6968"/>
                </a:lnTo>
                <a:lnTo>
                  <a:pt x="217" y="6734"/>
                </a:lnTo>
                <a:lnTo>
                  <a:pt x="277" y="6429"/>
                </a:lnTo>
                <a:lnTo>
                  <a:pt x="0" y="6116"/>
                </a:lnTo>
                <a:lnTo>
                  <a:pt x="0" y="5890"/>
                </a:lnTo>
                <a:lnTo>
                  <a:pt x="102" y="5609"/>
                </a:lnTo>
                <a:lnTo>
                  <a:pt x="144" y="5230"/>
                </a:lnTo>
                <a:lnTo>
                  <a:pt x="37" y="4914"/>
                </a:lnTo>
                <a:lnTo>
                  <a:pt x="309" y="4740"/>
                </a:lnTo>
                <a:lnTo>
                  <a:pt x="334" y="4257"/>
                </a:lnTo>
                <a:lnTo>
                  <a:pt x="386" y="4010"/>
                </a:lnTo>
                <a:lnTo>
                  <a:pt x="595" y="3935"/>
                </a:lnTo>
                <a:lnTo>
                  <a:pt x="912" y="3434"/>
                </a:lnTo>
                <a:lnTo>
                  <a:pt x="1395" y="3204"/>
                </a:lnTo>
                <a:lnTo>
                  <a:pt x="1641" y="3024"/>
                </a:lnTo>
                <a:lnTo>
                  <a:pt x="2033" y="2873"/>
                </a:lnTo>
                <a:lnTo>
                  <a:pt x="2445" y="2600"/>
                </a:lnTo>
                <a:lnTo>
                  <a:pt x="2897" y="2286"/>
                </a:lnTo>
                <a:lnTo>
                  <a:pt x="3303" y="2181"/>
                </a:lnTo>
                <a:lnTo>
                  <a:pt x="3769" y="1755"/>
                </a:lnTo>
                <a:lnTo>
                  <a:pt x="4173" y="1709"/>
                </a:lnTo>
                <a:lnTo>
                  <a:pt x="4831" y="1513"/>
                </a:lnTo>
                <a:lnTo>
                  <a:pt x="5474" y="1290"/>
                </a:lnTo>
                <a:lnTo>
                  <a:pt x="6130" y="1004"/>
                </a:lnTo>
                <a:lnTo>
                  <a:pt x="6754" y="849"/>
                </a:lnTo>
                <a:lnTo>
                  <a:pt x="7396" y="851"/>
                </a:lnTo>
                <a:lnTo>
                  <a:pt x="8028" y="764"/>
                </a:lnTo>
                <a:lnTo>
                  <a:pt x="8598" y="652"/>
                </a:lnTo>
                <a:lnTo>
                  <a:pt x="9307" y="425"/>
                </a:lnTo>
                <a:lnTo>
                  <a:pt x="10073" y="431"/>
                </a:lnTo>
                <a:lnTo>
                  <a:pt x="10751" y="340"/>
                </a:lnTo>
                <a:lnTo>
                  <a:pt x="11542" y="263"/>
                </a:lnTo>
                <a:lnTo>
                  <a:pt x="12377" y="125"/>
                </a:lnTo>
                <a:lnTo>
                  <a:pt x="13160" y="27"/>
                </a:lnTo>
                <a:lnTo>
                  <a:pt x="13912" y="132"/>
                </a:lnTo>
                <a:lnTo>
                  <a:pt x="14700" y="16"/>
                </a:lnTo>
                <a:lnTo>
                  <a:pt x="15532" y="26"/>
                </a:lnTo>
                <a:lnTo>
                  <a:pt x="16331" y="0"/>
                </a:lnTo>
                <a:lnTo>
                  <a:pt x="16975" y="114"/>
                </a:lnTo>
                <a:lnTo>
                  <a:pt x="17640" y="202"/>
                </a:lnTo>
                <a:lnTo>
                  <a:pt x="18570" y="240"/>
                </a:lnTo>
                <a:lnTo>
                  <a:pt x="19098" y="285"/>
                </a:lnTo>
                <a:lnTo>
                  <a:pt x="19830" y="376"/>
                </a:lnTo>
                <a:lnTo>
                  <a:pt x="20643" y="433"/>
                </a:lnTo>
                <a:lnTo>
                  <a:pt x="21301" y="656"/>
                </a:lnTo>
                <a:lnTo>
                  <a:pt x="22019" y="678"/>
                </a:lnTo>
                <a:lnTo>
                  <a:pt x="22699" y="935"/>
                </a:lnTo>
                <a:lnTo>
                  <a:pt x="23266" y="1020"/>
                </a:lnTo>
                <a:lnTo>
                  <a:pt x="23790" y="1360"/>
                </a:lnTo>
                <a:lnTo>
                  <a:pt x="24578" y="1351"/>
                </a:lnTo>
                <a:lnTo>
                  <a:pt x="25057" y="1642"/>
                </a:lnTo>
                <a:lnTo>
                  <a:pt x="25519" y="1827"/>
                </a:lnTo>
                <a:lnTo>
                  <a:pt x="26218" y="2140"/>
                </a:lnTo>
                <a:lnTo>
                  <a:pt x="26451" y="2322"/>
                </a:lnTo>
                <a:lnTo>
                  <a:pt x="27035" y="2541"/>
                </a:lnTo>
                <a:lnTo>
                  <a:pt x="27400" y="2695"/>
                </a:lnTo>
                <a:lnTo>
                  <a:pt x="27739" y="2964"/>
                </a:lnTo>
                <a:lnTo>
                  <a:pt x="28075" y="3190"/>
                </a:lnTo>
                <a:lnTo>
                  <a:pt x="28393" y="3430"/>
                </a:lnTo>
                <a:lnTo>
                  <a:pt x="28544" y="3770"/>
                </a:lnTo>
                <a:lnTo>
                  <a:pt x="28904" y="3986"/>
                </a:lnTo>
                <a:lnTo>
                  <a:pt x="28930" y="4382"/>
                </a:lnTo>
                <a:lnTo>
                  <a:pt x="29226" y="4586"/>
                </a:lnTo>
                <a:lnTo>
                  <a:pt x="29249" y="4852"/>
                </a:lnTo>
                <a:lnTo>
                  <a:pt x="29343" y="5234"/>
                </a:lnTo>
                <a:lnTo>
                  <a:pt x="29343" y="5431"/>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4190238" y="1776954"/>
            <a:ext cx="2703789" cy="1005749"/>
          </a:xfrm>
          <a:custGeom>
            <a:avLst/>
            <a:gdLst/>
            <a:ahLst/>
            <a:cxnLst/>
            <a:rect l="l" t="t" r="r" b="b"/>
            <a:pathLst>
              <a:path w="29569" h="10999">
                <a:moveTo>
                  <a:pt x="29474" y="5552"/>
                </a:moveTo>
                <a:lnTo>
                  <a:pt x="29503" y="5815"/>
                </a:lnTo>
                <a:lnTo>
                  <a:pt x="29299" y="6123"/>
                </a:lnTo>
                <a:lnTo>
                  <a:pt x="29164" y="6409"/>
                </a:lnTo>
                <a:lnTo>
                  <a:pt x="29180" y="6731"/>
                </a:lnTo>
                <a:lnTo>
                  <a:pt x="29003" y="6880"/>
                </a:lnTo>
                <a:lnTo>
                  <a:pt x="28804" y="7150"/>
                </a:lnTo>
                <a:lnTo>
                  <a:pt x="28584" y="7388"/>
                </a:lnTo>
                <a:lnTo>
                  <a:pt x="28244" y="7837"/>
                </a:lnTo>
                <a:lnTo>
                  <a:pt x="27794" y="8080"/>
                </a:lnTo>
                <a:lnTo>
                  <a:pt x="27610" y="8137"/>
                </a:lnTo>
                <a:lnTo>
                  <a:pt x="27066" y="8511"/>
                </a:lnTo>
                <a:lnTo>
                  <a:pt x="26765" y="8712"/>
                </a:lnTo>
                <a:lnTo>
                  <a:pt x="26083" y="8959"/>
                </a:lnTo>
                <a:lnTo>
                  <a:pt x="25764" y="9259"/>
                </a:lnTo>
                <a:lnTo>
                  <a:pt x="25056" y="9405"/>
                </a:lnTo>
                <a:lnTo>
                  <a:pt x="24482" y="9626"/>
                </a:lnTo>
                <a:lnTo>
                  <a:pt x="24093" y="9695"/>
                </a:lnTo>
                <a:lnTo>
                  <a:pt x="23441" y="9802"/>
                </a:lnTo>
                <a:lnTo>
                  <a:pt x="22708" y="9976"/>
                </a:lnTo>
                <a:lnTo>
                  <a:pt x="22123" y="10325"/>
                </a:lnTo>
                <a:lnTo>
                  <a:pt x="21364" y="10407"/>
                </a:lnTo>
                <a:lnTo>
                  <a:pt x="20846" y="10464"/>
                </a:lnTo>
                <a:lnTo>
                  <a:pt x="20099" y="10554"/>
                </a:lnTo>
                <a:lnTo>
                  <a:pt x="19251" y="10685"/>
                </a:lnTo>
                <a:lnTo>
                  <a:pt x="18631" y="10743"/>
                </a:lnTo>
                <a:lnTo>
                  <a:pt x="17777" y="10782"/>
                </a:lnTo>
                <a:lnTo>
                  <a:pt x="17180" y="10974"/>
                </a:lnTo>
                <a:lnTo>
                  <a:pt x="16257" y="10945"/>
                </a:lnTo>
                <a:lnTo>
                  <a:pt x="15481" y="10999"/>
                </a:lnTo>
                <a:lnTo>
                  <a:pt x="14815" y="10885"/>
                </a:lnTo>
                <a:lnTo>
                  <a:pt x="13904" y="10903"/>
                </a:lnTo>
                <a:lnTo>
                  <a:pt x="13132" y="10955"/>
                </a:lnTo>
                <a:lnTo>
                  <a:pt x="12546" y="10849"/>
                </a:lnTo>
                <a:lnTo>
                  <a:pt x="11624" y="10709"/>
                </a:lnTo>
                <a:lnTo>
                  <a:pt x="10970" y="10860"/>
                </a:lnTo>
                <a:lnTo>
                  <a:pt x="10321" y="10751"/>
                </a:lnTo>
                <a:lnTo>
                  <a:pt x="9532" y="10490"/>
                </a:lnTo>
                <a:lnTo>
                  <a:pt x="8721" y="10362"/>
                </a:lnTo>
                <a:lnTo>
                  <a:pt x="8019" y="10263"/>
                </a:lnTo>
                <a:lnTo>
                  <a:pt x="7347" y="10288"/>
                </a:lnTo>
                <a:lnTo>
                  <a:pt x="6734" y="10041"/>
                </a:lnTo>
                <a:lnTo>
                  <a:pt x="6274" y="10018"/>
                </a:lnTo>
                <a:lnTo>
                  <a:pt x="5626" y="9682"/>
                </a:lnTo>
                <a:lnTo>
                  <a:pt x="4931" y="9518"/>
                </a:lnTo>
                <a:lnTo>
                  <a:pt x="4511" y="9441"/>
                </a:lnTo>
                <a:lnTo>
                  <a:pt x="3915" y="9203"/>
                </a:lnTo>
                <a:lnTo>
                  <a:pt x="3453" y="8915"/>
                </a:lnTo>
                <a:lnTo>
                  <a:pt x="2938" y="8798"/>
                </a:lnTo>
                <a:lnTo>
                  <a:pt x="2531" y="8567"/>
                </a:lnTo>
                <a:lnTo>
                  <a:pt x="2093" y="8246"/>
                </a:lnTo>
                <a:lnTo>
                  <a:pt x="1575" y="7927"/>
                </a:lnTo>
                <a:lnTo>
                  <a:pt x="1380" y="7710"/>
                </a:lnTo>
                <a:lnTo>
                  <a:pt x="1085" y="7391"/>
                </a:lnTo>
                <a:lnTo>
                  <a:pt x="884" y="7250"/>
                </a:lnTo>
                <a:lnTo>
                  <a:pt x="714" y="6963"/>
                </a:lnTo>
                <a:lnTo>
                  <a:pt x="371" y="6701"/>
                </a:lnTo>
                <a:lnTo>
                  <a:pt x="302" y="6419"/>
                </a:lnTo>
                <a:lnTo>
                  <a:pt x="73" y="6015"/>
                </a:lnTo>
                <a:lnTo>
                  <a:pt x="156" y="5779"/>
                </a:lnTo>
                <a:lnTo>
                  <a:pt x="0" y="5465"/>
                </a:lnTo>
                <a:lnTo>
                  <a:pt x="4" y="5311"/>
                </a:lnTo>
                <a:lnTo>
                  <a:pt x="292" y="4919"/>
                </a:lnTo>
                <a:lnTo>
                  <a:pt x="186" y="4692"/>
                </a:lnTo>
                <a:lnTo>
                  <a:pt x="537" y="4494"/>
                </a:lnTo>
                <a:lnTo>
                  <a:pt x="619" y="4124"/>
                </a:lnTo>
                <a:lnTo>
                  <a:pt x="805" y="3855"/>
                </a:lnTo>
                <a:lnTo>
                  <a:pt x="1134" y="3502"/>
                </a:lnTo>
                <a:lnTo>
                  <a:pt x="1303" y="3330"/>
                </a:lnTo>
                <a:lnTo>
                  <a:pt x="1795" y="3020"/>
                </a:lnTo>
                <a:lnTo>
                  <a:pt x="1961" y="2815"/>
                </a:lnTo>
                <a:lnTo>
                  <a:pt x="2402" y="2536"/>
                </a:lnTo>
                <a:lnTo>
                  <a:pt x="2825" y="2242"/>
                </a:lnTo>
                <a:lnTo>
                  <a:pt x="3332" y="2204"/>
                </a:lnTo>
                <a:lnTo>
                  <a:pt x="3995" y="1792"/>
                </a:lnTo>
                <a:lnTo>
                  <a:pt x="4428" y="1652"/>
                </a:lnTo>
                <a:lnTo>
                  <a:pt x="4994" y="1558"/>
                </a:lnTo>
                <a:lnTo>
                  <a:pt x="5595" y="1308"/>
                </a:lnTo>
                <a:lnTo>
                  <a:pt x="6134" y="1025"/>
                </a:lnTo>
                <a:lnTo>
                  <a:pt x="6813" y="872"/>
                </a:lnTo>
                <a:lnTo>
                  <a:pt x="7515" y="873"/>
                </a:lnTo>
                <a:lnTo>
                  <a:pt x="7996" y="698"/>
                </a:lnTo>
                <a:lnTo>
                  <a:pt x="8820" y="471"/>
                </a:lnTo>
                <a:lnTo>
                  <a:pt x="9401" y="547"/>
                </a:lnTo>
                <a:lnTo>
                  <a:pt x="10262" y="421"/>
                </a:lnTo>
                <a:lnTo>
                  <a:pt x="10942" y="335"/>
                </a:lnTo>
                <a:lnTo>
                  <a:pt x="11815" y="136"/>
                </a:lnTo>
                <a:lnTo>
                  <a:pt x="12576" y="154"/>
                </a:lnTo>
                <a:lnTo>
                  <a:pt x="13244" y="21"/>
                </a:lnTo>
                <a:lnTo>
                  <a:pt x="14022" y="163"/>
                </a:lnTo>
                <a:lnTo>
                  <a:pt x="14865" y="0"/>
                </a:lnTo>
                <a:lnTo>
                  <a:pt x="15517" y="116"/>
                </a:lnTo>
                <a:lnTo>
                  <a:pt x="16227" y="222"/>
                </a:lnTo>
                <a:lnTo>
                  <a:pt x="17015" y="203"/>
                </a:lnTo>
                <a:lnTo>
                  <a:pt x="17951" y="307"/>
                </a:lnTo>
                <a:lnTo>
                  <a:pt x="18598" y="217"/>
                </a:lnTo>
                <a:lnTo>
                  <a:pt x="19261" y="399"/>
                </a:lnTo>
                <a:lnTo>
                  <a:pt x="19919" y="409"/>
                </a:lnTo>
                <a:lnTo>
                  <a:pt x="20660" y="636"/>
                </a:lnTo>
                <a:lnTo>
                  <a:pt x="21387" y="693"/>
                </a:lnTo>
                <a:lnTo>
                  <a:pt x="22214" y="823"/>
                </a:lnTo>
                <a:lnTo>
                  <a:pt x="22785" y="969"/>
                </a:lnTo>
                <a:lnTo>
                  <a:pt x="23354" y="1098"/>
                </a:lnTo>
                <a:lnTo>
                  <a:pt x="23947" y="1261"/>
                </a:lnTo>
                <a:lnTo>
                  <a:pt x="24483" y="1481"/>
                </a:lnTo>
                <a:lnTo>
                  <a:pt x="25108" y="1650"/>
                </a:lnTo>
                <a:lnTo>
                  <a:pt x="25800" y="1894"/>
                </a:lnTo>
                <a:lnTo>
                  <a:pt x="26214" y="2214"/>
                </a:lnTo>
                <a:lnTo>
                  <a:pt x="26760" y="2258"/>
                </a:lnTo>
                <a:lnTo>
                  <a:pt x="27190" y="2495"/>
                </a:lnTo>
                <a:lnTo>
                  <a:pt x="27431" y="2864"/>
                </a:lnTo>
                <a:lnTo>
                  <a:pt x="27941" y="3059"/>
                </a:lnTo>
                <a:lnTo>
                  <a:pt x="28094" y="3336"/>
                </a:lnTo>
                <a:lnTo>
                  <a:pt x="28384" y="3640"/>
                </a:lnTo>
                <a:lnTo>
                  <a:pt x="28716" y="3762"/>
                </a:lnTo>
                <a:lnTo>
                  <a:pt x="28890" y="4109"/>
                </a:lnTo>
                <a:lnTo>
                  <a:pt x="29103" y="4377"/>
                </a:lnTo>
                <a:lnTo>
                  <a:pt x="29152" y="4723"/>
                </a:lnTo>
                <a:lnTo>
                  <a:pt x="29356" y="5023"/>
                </a:lnTo>
                <a:lnTo>
                  <a:pt x="29561" y="5148"/>
                </a:lnTo>
                <a:lnTo>
                  <a:pt x="29569" y="5473"/>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767566" y="2384664"/>
            <a:ext cx="86685" cy="98755"/>
          </a:xfrm>
          <a:custGeom>
            <a:avLst/>
            <a:gdLst/>
            <a:ahLst/>
            <a:cxnLst/>
            <a:rect l="l" t="t" r="r" b="b"/>
            <a:pathLst>
              <a:path w="948" h="1080">
                <a:moveTo>
                  <a:pt x="948" y="0"/>
                </a:moveTo>
                <a:lnTo>
                  <a:pt x="769" y="276"/>
                </a:lnTo>
                <a:lnTo>
                  <a:pt x="551" y="549"/>
                </a:lnTo>
                <a:lnTo>
                  <a:pt x="294" y="817"/>
                </a:lnTo>
                <a:lnTo>
                  <a:pt x="0" y="108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6022330" y="2697846"/>
            <a:ext cx="249997" cy="47092"/>
          </a:xfrm>
          <a:custGeom>
            <a:avLst/>
            <a:gdLst/>
            <a:ahLst/>
            <a:cxnLst/>
            <a:rect l="l" t="t" r="r" b="b"/>
            <a:pathLst>
              <a:path w="2734" h="515">
                <a:moveTo>
                  <a:pt x="2734" y="0"/>
                </a:moveTo>
                <a:lnTo>
                  <a:pt x="2079" y="149"/>
                </a:lnTo>
                <a:lnTo>
                  <a:pt x="1404" y="284"/>
                </a:lnTo>
                <a:lnTo>
                  <a:pt x="710" y="407"/>
                </a:lnTo>
                <a:lnTo>
                  <a:pt x="0" y="51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4995276" y="2735062"/>
            <a:ext cx="266913" cy="32004"/>
          </a:xfrm>
          <a:custGeom>
            <a:avLst/>
            <a:gdLst/>
            <a:ahLst/>
            <a:cxnLst/>
            <a:rect l="l" t="t" r="r" b="b"/>
            <a:pathLst>
              <a:path w="2919" h="350">
                <a:moveTo>
                  <a:pt x="2919" y="350"/>
                </a:moveTo>
                <a:lnTo>
                  <a:pt x="2172" y="284"/>
                </a:lnTo>
                <a:lnTo>
                  <a:pt x="1435" y="203"/>
                </a:lnTo>
                <a:lnTo>
                  <a:pt x="710" y="108"/>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4288079" y="2459370"/>
            <a:ext cx="127376" cy="92446"/>
          </a:xfrm>
          <a:custGeom>
            <a:avLst/>
            <a:gdLst/>
            <a:ahLst/>
            <a:cxnLst/>
            <a:rect l="l" t="t" r="r" b="b"/>
            <a:pathLst>
              <a:path w="1393" h="1011">
                <a:moveTo>
                  <a:pt x="1393" y="1011"/>
                </a:moveTo>
                <a:lnTo>
                  <a:pt x="992" y="769"/>
                </a:lnTo>
                <a:lnTo>
                  <a:pt x="625" y="519"/>
                </a:lnTo>
                <a:lnTo>
                  <a:pt x="294" y="263"/>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4228277" y="2079437"/>
            <a:ext cx="86685" cy="98755"/>
          </a:xfrm>
          <a:custGeom>
            <a:avLst/>
            <a:gdLst/>
            <a:ahLst/>
            <a:cxnLst/>
            <a:rect l="l" t="t" r="r" b="b"/>
            <a:pathLst>
              <a:path w="948" h="1080">
                <a:moveTo>
                  <a:pt x="0" y="1080"/>
                </a:moveTo>
                <a:lnTo>
                  <a:pt x="179" y="804"/>
                </a:lnTo>
                <a:lnTo>
                  <a:pt x="397" y="531"/>
                </a:lnTo>
                <a:lnTo>
                  <a:pt x="654" y="263"/>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4810201" y="1817919"/>
            <a:ext cx="249997" cy="47092"/>
          </a:xfrm>
          <a:custGeom>
            <a:avLst/>
            <a:gdLst/>
            <a:ahLst/>
            <a:cxnLst/>
            <a:rect l="l" t="t" r="r" b="b"/>
            <a:pathLst>
              <a:path w="2734" h="515">
                <a:moveTo>
                  <a:pt x="0" y="515"/>
                </a:moveTo>
                <a:lnTo>
                  <a:pt x="655" y="366"/>
                </a:lnTo>
                <a:lnTo>
                  <a:pt x="1330" y="231"/>
                </a:lnTo>
                <a:lnTo>
                  <a:pt x="2024" y="108"/>
                </a:lnTo>
                <a:lnTo>
                  <a:pt x="2734"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5820339" y="1795790"/>
            <a:ext cx="266913" cy="32004"/>
          </a:xfrm>
          <a:custGeom>
            <a:avLst/>
            <a:gdLst/>
            <a:ahLst/>
            <a:cxnLst/>
            <a:rect l="l" t="t" r="r" b="b"/>
            <a:pathLst>
              <a:path w="2919" h="350">
                <a:moveTo>
                  <a:pt x="0" y="0"/>
                </a:moveTo>
                <a:lnTo>
                  <a:pt x="747" y="66"/>
                </a:lnTo>
                <a:lnTo>
                  <a:pt x="1484" y="147"/>
                </a:lnTo>
                <a:lnTo>
                  <a:pt x="2209" y="242"/>
                </a:lnTo>
                <a:lnTo>
                  <a:pt x="2919" y="35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6667073" y="2011040"/>
            <a:ext cx="127376" cy="92446"/>
          </a:xfrm>
          <a:custGeom>
            <a:avLst/>
            <a:gdLst/>
            <a:ahLst/>
            <a:cxnLst/>
            <a:rect l="l" t="t" r="r" b="b"/>
            <a:pathLst>
              <a:path w="1393" h="1011">
                <a:moveTo>
                  <a:pt x="0" y="0"/>
                </a:moveTo>
                <a:lnTo>
                  <a:pt x="401" y="242"/>
                </a:lnTo>
                <a:lnTo>
                  <a:pt x="768" y="492"/>
                </a:lnTo>
                <a:lnTo>
                  <a:pt x="1099" y="748"/>
                </a:lnTo>
                <a:lnTo>
                  <a:pt x="1393" y="1011"/>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ody: synthesize"/>
          <p:cNvSpPr txBox="1"/>
          <p:nvPr/>
        </p:nvSpPr>
        <p:spPr>
          <a:xfrm>
            <a:off x="4443984" y="2065782"/>
            <a:ext cx="2194560"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synthesize</a:t>
            </a:r>
          </a:p>
        </p:txBody>
      </p:sp>
      <p:sp>
        <p:nvSpPr>
          <p:cNvPr id="39" name="Freeform 38"/>
          <p:cNvSpPr/>
          <p:nvPr/>
        </p:nvSpPr>
        <p:spPr>
          <a:xfrm>
            <a:off x="7013448" y="2264969"/>
            <a:ext cx="557784" cy="11887"/>
          </a:xfrm>
          <a:custGeom>
            <a:avLst/>
            <a:gdLst/>
            <a:ahLst/>
            <a:cxnLst/>
            <a:rect l="l" t="t" r="r" b="b"/>
            <a:pathLst>
              <a:path w="6100" h="130">
                <a:moveTo>
                  <a:pt x="0" y="130"/>
                </a:moveTo>
                <a:lnTo>
                  <a:pt x="3050" y="0"/>
                </a:lnTo>
                <a:lnTo>
                  <a:pt x="6100" y="13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7489393" y="2276856"/>
            <a:ext cx="81839" cy="50201"/>
          </a:xfrm>
          <a:custGeom>
            <a:avLst/>
            <a:gdLst/>
            <a:ahLst/>
            <a:cxnLst/>
            <a:rect l="l" t="t" r="r" b="b"/>
            <a:pathLst>
              <a:path w="895" h="549">
                <a:moveTo>
                  <a:pt x="0" y="549"/>
                </a:moveTo>
                <a:lnTo>
                  <a:pt x="895" y="0"/>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7489393" y="2226655"/>
            <a:ext cx="81839" cy="50201"/>
          </a:xfrm>
          <a:custGeom>
            <a:avLst/>
            <a:gdLst/>
            <a:ahLst/>
            <a:cxnLst/>
            <a:rect l="l" t="t" r="r" b="b"/>
            <a:pathLst>
              <a:path w="895" h="549">
                <a:moveTo>
                  <a:pt x="0" y="0"/>
                </a:moveTo>
                <a:lnTo>
                  <a:pt x="895" y="549"/>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735823" y="1773936"/>
            <a:ext cx="2706624" cy="1014984"/>
          </a:xfrm>
          <a:prstGeom prst="ellipse">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7739024" y="1781160"/>
            <a:ext cx="2702601" cy="1001634"/>
          </a:xfrm>
          <a:custGeom>
            <a:avLst/>
            <a:gdLst/>
            <a:ahLst/>
            <a:cxnLst/>
            <a:rect l="l" t="t" r="r" b="b"/>
            <a:pathLst>
              <a:path w="29556" h="10954">
                <a:moveTo>
                  <a:pt x="29556" y="5506"/>
                </a:moveTo>
                <a:lnTo>
                  <a:pt x="29544" y="5764"/>
                </a:lnTo>
                <a:lnTo>
                  <a:pt x="29288" y="6118"/>
                </a:lnTo>
                <a:lnTo>
                  <a:pt x="29251" y="6229"/>
                </a:lnTo>
                <a:lnTo>
                  <a:pt x="29152" y="6595"/>
                </a:lnTo>
                <a:lnTo>
                  <a:pt x="28846" y="6939"/>
                </a:lnTo>
                <a:lnTo>
                  <a:pt x="28608" y="7069"/>
                </a:lnTo>
                <a:lnTo>
                  <a:pt x="28477" y="7382"/>
                </a:lnTo>
                <a:lnTo>
                  <a:pt x="28087" y="7680"/>
                </a:lnTo>
                <a:lnTo>
                  <a:pt x="27751" y="7899"/>
                </a:lnTo>
                <a:lnTo>
                  <a:pt x="27368" y="8087"/>
                </a:lnTo>
                <a:lnTo>
                  <a:pt x="27127" y="8394"/>
                </a:lnTo>
                <a:lnTo>
                  <a:pt x="26747" y="8620"/>
                </a:lnTo>
                <a:lnTo>
                  <a:pt x="26119" y="8823"/>
                </a:lnTo>
                <a:lnTo>
                  <a:pt x="25725" y="9040"/>
                </a:lnTo>
                <a:lnTo>
                  <a:pt x="25086" y="9298"/>
                </a:lnTo>
                <a:lnTo>
                  <a:pt x="24712" y="9530"/>
                </a:lnTo>
                <a:lnTo>
                  <a:pt x="24030" y="9676"/>
                </a:lnTo>
                <a:lnTo>
                  <a:pt x="23276" y="9769"/>
                </a:lnTo>
                <a:lnTo>
                  <a:pt x="22723" y="9920"/>
                </a:lnTo>
                <a:lnTo>
                  <a:pt x="22064" y="10252"/>
                </a:lnTo>
                <a:lnTo>
                  <a:pt x="21555" y="10227"/>
                </a:lnTo>
                <a:lnTo>
                  <a:pt x="20803" y="10349"/>
                </a:lnTo>
                <a:lnTo>
                  <a:pt x="20084" y="10613"/>
                </a:lnTo>
                <a:lnTo>
                  <a:pt x="19293" y="10619"/>
                </a:lnTo>
                <a:lnTo>
                  <a:pt x="18441" y="10797"/>
                </a:lnTo>
                <a:lnTo>
                  <a:pt x="17906" y="10699"/>
                </a:lnTo>
                <a:lnTo>
                  <a:pt x="16998" y="10729"/>
                </a:lnTo>
                <a:lnTo>
                  <a:pt x="16181" y="10771"/>
                </a:lnTo>
                <a:lnTo>
                  <a:pt x="15502" y="10874"/>
                </a:lnTo>
                <a:lnTo>
                  <a:pt x="14838" y="10913"/>
                </a:lnTo>
                <a:lnTo>
                  <a:pt x="14012" y="10838"/>
                </a:lnTo>
                <a:lnTo>
                  <a:pt x="13357" y="10954"/>
                </a:lnTo>
                <a:lnTo>
                  <a:pt x="12570" y="10878"/>
                </a:lnTo>
                <a:lnTo>
                  <a:pt x="11623" y="10829"/>
                </a:lnTo>
                <a:lnTo>
                  <a:pt x="11072" y="10794"/>
                </a:lnTo>
                <a:lnTo>
                  <a:pt x="10352" y="10581"/>
                </a:lnTo>
                <a:lnTo>
                  <a:pt x="9431" y="10448"/>
                </a:lnTo>
                <a:lnTo>
                  <a:pt x="8734" y="10327"/>
                </a:lnTo>
                <a:lnTo>
                  <a:pt x="8039" y="10340"/>
                </a:lnTo>
                <a:lnTo>
                  <a:pt x="7454" y="10292"/>
                </a:lnTo>
                <a:lnTo>
                  <a:pt x="6875" y="9931"/>
                </a:lnTo>
                <a:lnTo>
                  <a:pt x="6128" y="9929"/>
                </a:lnTo>
                <a:lnTo>
                  <a:pt x="5518" y="9581"/>
                </a:lnTo>
                <a:lnTo>
                  <a:pt x="4823" y="9498"/>
                </a:lnTo>
                <a:lnTo>
                  <a:pt x="4398" y="9427"/>
                </a:lnTo>
                <a:lnTo>
                  <a:pt x="3950" y="8989"/>
                </a:lnTo>
                <a:lnTo>
                  <a:pt x="3353" y="9007"/>
                </a:lnTo>
                <a:lnTo>
                  <a:pt x="3001" y="8680"/>
                </a:lnTo>
                <a:lnTo>
                  <a:pt x="2499" y="8442"/>
                </a:lnTo>
                <a:lnTo>
                  <a:pt x="1970" y="8305"/>
                </a:lnTo>
                <a:lnTo>
                  <a:pt x="1729" y="7887"/>
                </a:lnTo>
                <a:lnTo>
                  <a:pt x="1434" y="7775"/>
                </a:lnTo>
                <a:lnTo>
                  <a:pt x="1005" y="7403"/>
                </a:lnTo>
                <a:lnTo>
                  <a:pt x="853" y="7129"/>
                </a:lnTo>
                <a:lnTo>
                  <a:pt x="535" y="6823"/>
                </a:lnTo>
                <a:lnTo>
                  <a:pt x="279" y="6689"/>
                </a:lnTo>
                <a:lnTo>
                  <a:pt x="357" y="6335"/>
                </a:lnTo>
                <a:lnTo>
                  <a:pt x="167" y="5968"/>
                </a:lnTo>
                <a:lnTo>
                  <a:pt x="129" y="5636"/>
                </a:lnTo>
                <a:lnTo>
                  <a:pt x="0" y="5505"/>
                </a:lnTo>
                <a:lnTo>
                  <a:pt x="108" y="5120"/>
                </a:lnTo>
                <a:lnTo>
                  <a:pt x="266" y="4838"/>
                </a:lnTo>
                <a:lnTo>
                  <a:pt x="379" y="4660"/>
                </a:lnTo>
                <a:lnTo>
                  <a:pt x="467" y="4264"/>
                </a:lnTo>
                <a:lnTo>
                  <a:pt x="577" y="4020"/>
                </a:lnTo>
                <a:lnTo>
                  <a:pt x="767" y="3803"/>
                </a:lnTo>
                <a:lnTo>
                  <a:pt x="941" y="3410"/>
                </a:lnTo>
                <a:lnTo>
                  <a:pt x="1273" y="3226"/>
                </a:lnTo>
                <a:lnTo>
                  <a:pt x="1575" y="2976"/>
                </a:lnTo>
                <a:lnTo>
                  <a:pt x="2046" y="2755"/>
                </a:lnTo>
                <a:lnTo>
                  <a:pt x="2336" y="2490"/>
                </a:lnTo>
                <a:lnTo>
                  <a:pt x="2990" y="2200"/>
                </a:lnTo>
                <a:lnTo>
                  <a:pt x="3473" y="1950"/>
                </a:lnTo>
                <a:lnTo>
                  <a:pt x="3942" y="1855"/>
                </a:lnTo>
                <a:lnTo>
                  <a:pt x="4510" y="1702"/>
                </a:lnTo>
                <a:lnTo>
                  <a:pt x="5014" y="1330"/>
                </a:lnTo>
                <a:lnTo>
                  <a:pt x="5471" y="1294"/>
                </a:lnTo>
                <a:lnTo>
                  <a:pt x="6082" y="1058"/>
                </a:lnTo>
                <a:lnTo>
                  <a:pt x="6664" y="933"/>
                </a:lnTo>
                <a:lnTo>
                  <a:pt x="7306" y="850"/>
                </a:lnTo>
                <a:lnTo>
                  <a:pt x="8218" y="621"/>
                </a:lnTo>
                <a:lnTo>
                  <a:pt x="8869" y="547"/>
                </a:lnTo>
                <a:lnTo>
                  <a:pt x="9515" y="418"/>
                </a:lnTo>
                <a:lnTo>
                  <a:pt x="10222" y="408"/>
                </a:lnTo>
                <a:lnTo>
                  <a:pt x="10992" y="171"/>
                </a:lnTo>
                <a:lnTo>
                  <a:pt x="11655" y="124"/>
                </a:lnTo>
                <a:lnTo>
                  <a:pt x="12485" y="21"/>
                </a:lnTo>
                <a:lnTo>
                  <a:pt x="13293" y="89"/>
                </a:lnTo>
                <a:lnTo>
                  <a:pt x="13928" y="151"/>
                </a:lnTo>
                <a:lnTo>
                  <a:pt x="14882" y="110"/>
                </a:lnTo>
                <a:lnTo>
                  <a:pt x="15480" y="167"/>
                </a:lnTo>
                <a:lnTo>
                  <a:pt x="16309" y="171"/>
                </a:lnTo>
                <a:lnTo>
                  <a:pt x="16962" y="0"/>
                </a:lnTo>
                <a:lnTo>
                  <a:pt x="17843" y="160"/>
                </a:lnTo>
                <a:lnTo>
                  <a:pt x="18513" y="184"/>
                </a:lnTo>
                <a:lnTo>
                  <a:pt x="19371" y="271"/>
                </a:lnTo>
                <a:lnTo>
                  <a:pt x="20113" y="448"/>
                </a:lnTo>
                <a:lnTo>
                  <a:pt x="20840" y="628"/>
                </a:lnTo>
                <a:lnTo>
                  <a:pt x="21478" y="696"/>
                </a:lnTo>
                <a:lnTo>
                  <a:pt x="22058" y="824"/>
                </a:lnTo>
                <a:lnTo>
                  <a:pt x="22882" y="973"/>
                </a:lnTo>
                <a:lnTo>
                  <a:pt x="23505" y="989"/>
                </a:lnTo>
                <a:lnTo>
                  <a:pt x="23887" y="1314"/>
                </a:lnTo>
                <a:lnTo>
                  <a:pt x="24609" y="1433"/>
                </a:lnTo>
                <a:lnTo>
                  <a:pt x="25129" y="1733"/>
                </a:lnTo>
                <a:lnTo>
                  <a:pt x="25595" y="1724"/>
                </a:lnTo>
                <a:lnTo>
                  <a:pt x="26081" y="2000"/>
                </a:lnTo>
                <a:lnTo>
                  <a:pt x="26519" y="2287"/>
                </a:lnTo>
                <a:lnTo>
                  <a:pt x="26971" y="2512"/>
                </a:lnTo>
                <a:lnTo>
                  <a:pt x="27402" y="2681"/>
                </a:lnTo>
                <a:lnTo>
                  <a:pt x="27816" y="2917"/>
                </a:lnTo>
                <a:lnTo>
                  <a:pt x="28087" y="3146"/>
                </a:lnTo>
                <a:lnTo>
                  <a:pt x="28539" y="3405"/>
                </a:lnTo>
                <a:lnTo>
                  <a:pt x="28759" y="3715"/>
                </a:lnTo>
                <a:lnTo>
                  <a:pt x="28885" y="3991"/>
                </a:lnTo>
                <a:lnTo>
                  <a:pt x="29188" y="4407"/>
                </a:lnTo>
                <a:lnTo>
                  <a:pt x="29334" y="4727"/>
                </a:lnTo>
                <a:lnTo>
                  <a:pt x="29453" y="4988"/>
                </a:lnTo>
                <a:lnTo>
                  <a:pt x="29476" y="5196"/>
                </a:lnTo>
                <a:lnTo>
                  <a:pt x="29527" y="5401"/>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746340" y="1776588"/>
            <a:ext cx="2692725" cy="999622"/>
          </a:xfrm>
          <a:custGeom>
            <a:avLst/>
            <a:gdLst/>
            <a:ahLst/>
            <a:cxnLst/>
            <a:rect l="l" t="t" r="r" b="b"/>
            <a:pathLst>
              <a:path w="29448" h="10932">
                <a:moveTo>
                  <a:pt x="29350" y="5605"/>
                </a:moveTo>
                <a:lnTo>
                  <a:pt x="29261" y="5878"/>
                </a:lnTo>
                <a:lnTo>
                  <a:pt x="29406" y="6167"/>
                </a:lnTo>
                <a:lnTo>
                  <a:pt x="29165" y="6401"/>
                </a:lnTo>
                <a:lnTo>
                  <a:pt x="28961" y="6641"/>
                </a:lnTo>
                <a:lnTo>
                  <a:pt x="28793" y="6937"/>
                </a:lnTo>
                <a:lnTo>
                  <a:pt x="28703" y="7092"/>
                </a:lnTo>
                <a:lnTo>
                  <a:pt x="28442" y="7464"/>
                </a:lnTo>
                <a:lnTo>
                  <a:pt x="28027" y="7612"/>
                </a:lnTo>
                <a:lnTo>
                  <a:pt x="27740" y="7930"/>
                </a:lnTo>
                <a:lnTo>
                  <a:pt x="27524" y="8344"/>
                </a:lnTo>
                <a:lnTo>
                  <a:pt x="27112" y="8393"/>
                </a:lnTo>
                <a:lnTo>
                  <a:pt x="26489" y="8724"/>
                </a:lnTo>
                <a:lnTo>
                  <a:pt x="26124" y="8930"/>
                </a:lnTo>
                <a:lnTo>
                  <a:pt x="25697" y="9240"/>
                </a:lnTo>
                <a:lnTo>
                  <a:pt x="25169" y="9401"/>
                </a:lnTo>
                <a:lnTo>
                  <a:pt x="24430" y="9438"/>
                </a:lnTo>
                <a:lnTo>
                  <a:pt x="24039" y="9669"/>
                </a:lnTo>
                <a:lnTo>
                  <a:pt x="23303" y="9862"/>
                </a:lnTo>
                <a:lnTo>
                  <a:pt x="22734" y="10175"/>
                </a:lnTo>
                <a:lnTo>
                  <a:pt x="22040" y="10220"/>
                </a:lnTo>
                <a:lnTo>
                  <a:pt x="21451" y="10276"/>
                </a:lnTo>
                <a:lnTo>
                  <a:pt x="20639" y="10591"/>
                </a:lnTo>
                <a:lnTo>
                  <a:pt x="19889" y="10631"/>
                </a:lnTo>
                <a:lnTo>
                  <a:pt x="19339" y="10746"/>
                </a:lnTo>
                <a:lnTo>
                  <a:pt x="18507" y="10675"/>
                </a:lnTo>
                <a:lnTo>
                  <a:pt x="17823" y="10754"/>
                </a:lnTo>
                <a:lnTo>
                  <a:pt x="17108" y="10855"/>
                </a:lnTo>
                <a:lnTo>
                  <a:pt x="16231" y="10824"/>
                </a:lnTo>
                <a:lnTo>
                  <a:pt x="15496" y="10932"/>
                </a:lnTo>
                <a:lnTo>
                  <a:pt x="14802" y="10886"/>
                </a:lnTo>
                <a:lnTo>
                  <a:pt x="13992" y="10918"/>
                </a:lnTo>
                <a:lnTo>
                  <a:pt x="13254" y="10806"/>
                </a:lnTo>
                <a:lnTo>
                  <a:pt x="12448" y="10800"/>
                </a:lnTo>
                <a:lnTo>
                  <a:pt x="11745" y="10772"/>
                </a:lnTo>
                <a:lnTo>
                  <a:pt x="10995" y="10847"/>
                </a:lnTo>
                <a:lnTo>
                  <a:pt x="10128" y="10741"/>
                </a:lnTo>
                <a:lnTo>
                  <a:pt x="9448" y="10583"/>
                </a:lnTo>
                <a:lnTo>
                  <a:pt x="8612" y="10438"/>
                </a:lnTo>
                <a:lnTo>
                  <a:pt x="8059" y="10302"/>
                </a:lnTo>
                <a:lnTo>
                  <a:pt x="7384" y="10144"/>
                </a:lnTo>
                <a:lnTo>
                  <a:pt x="6717" y="9980"/>
                </a:lnTo>
                <a:lnTo>
                  <a:pt x="6058" y="9985"/>
                </a:lnTo>
                <a:lnTo>
                  <a:pt x="5492" y="9815"/>
                </a:lnTo>
                <a:lnTo>
                  <a:pt x="4853" y="9602"/>
                </a:lnTo>
                <a:lnTo>
                  <a:pt x="4187" y="9267"/>
                </a:lnTo>
                <a:lnTo>
                  <a:pt x="3783" y="9106"/>
                </a:lnTo>
                <a:lnTo>
                  <a:pt x="3308" y="8877"/>
                </a:lnTo>
                <a:lnTo>
                  <a:pt x="2762" y="8823"/>
                </a:lnTo>
                <a:lnTo>
                  <a:pt x="2330" y="8520"/>
                </a:lnTo>
                <a:lnTo>
                  <a:pt x="1880" y="8174"/>
                </a:lnTo>
                <a:lnTo>
                  <a:pt x="1612" y="8086"/>
                </a:lnTo>
                <a:lnTo>
                  <a:pt x="1214" y="7657"/>
                </a:lnTo>
                <a:lnTo>
                  <a:pt x="1056" y="7459"/>
                </a:lnTo>
                <a:lnTo>
                  <a:pt x="604" y="7198"/>
                </a:lnTo>
                <a:lnTo>
                  <a:pt x="499" y="7009"/>
                </a:lnTo>
                <a:lnTo>
                  <a:pt x="454" y="6598"/>
                </a:lnTo>
                <a:lnTo>
                  <a:pt x="69" y="6321"/>
                </a:lnTo>
                <a:lnTo>
                  <a:pt x="0" y="6058"/>
                </a:lnTo>
                <a:lnTo>
                  <a:pt x="81" y="5883"/>
                </a:lnTo>
                <a:lnTo>
                  <a:pt x="81" y="5421"/>
                </a:lnTo>
                <a:lnTo>
                  <a:pt x="11" y="5332"/>
                </a:lnTo>
                <a:lnTo>
                  <a:pt x="157" y="4868"/>
                </a:lnTo>
                <a:lnTo>
                  <a:pt x="75" y="4585"/>
                </a:lnTo>
                <a:lnTo>
                  <a:pt x="455" y="4325"/>
                </a:lnTo>
                <a:lnTo>
                  <a:pt x="388" y="4046"/>
                </a:lnTo>
                <a:lnTo>
                  <a:pt x="848" y="3906"/>
                </a:lnTo>
                <a:lnTo>
                  <a:pt x="877" y="3537"/>
                </a:lnTo>
                <a:lnTo>
                  <a:pt x="1314" y="3387"/>
                </a:lnTo>
                <a:lnTo>
                  <a:pt x="1590" y="3019"/>
                </a:lnTo>
                <a:lnTo>
                  <a:pt x="2075" y="2746"/>
                </a:lnTo>
                <a:lnTo>
                  <a:pt x="2304" y="2491"/>
                </a:lnTo>
                <a:lnTo>
                  <a:pt x="2861" y="2444"/>
                </a:lnTo>
                <a:lnTo>
                  <a:pt x="3305" y="2167"/>
                </a:lnTo>
                <a:lnTo>
                  <a:pt x="3757" y="1909"/>
                </a:lnTo>
                <a:lnTo>
                  <a:pt x="4302" y="1754"/>
                </a:lnTo>
                <a:lnTo>
                  <a:pt x="4911" y="1559"/>
                </a:lnTo>
                <a:lnTo>
                  <a:pt x="5520" y="1391"/>
                </a:lnTo>
                <a:lnTo>
                  <a:pt x="5943" y="1111"/>
                </a:lnTo>
                <a:lnTo>
                  <a:pt x="6723" y="1017"/>
                </a:lnTo>
                <a:lnTo>
                  <a:pt x="7266" y="733"/>
                </a:lnTo>
                <a:lnTo>
                  <a:pt x="8054" y="785"/>
                </a:lnTo>
                <a:lnTo>
                  <a:pt x="8683" y="638"/>
                </a:lnTo>
                <a:lnTo>
                  <a:pt x="9466" y="351"/>
                </a:lnTo>
                <a:lnTo>
                  <a:pt x="10101" y="333"/>
                </a:lnTo>
                <a:lnTo>
                  <a:pt x="10921" y="325"/>
                </a:lnTo>
                <a:lnTo>
                  <a:pt x="11747" y="211"/>
                </a:lnTo>
                <a:lnTo>
                  <a:pt x="12270" y="226"/>
                </a:lnTo>
                <a:lnTo>
                  <a:pt x="13181" y="133"/>
                </a:lnTo>
                <a:lnTo>
                  <a:pt x="14021" y="200"/>
                </a:lnTo>
                <a:lnTo>
                  <a:pt x="14753" y="0"/>
                </a:lnTo>
                <a:lnTo>
                  <a:pt x="15485" y="183"/>
                </a:lnTo>
                <a:lnTo>
                  <a:pt x="16254" y="36"/>
                </a:lnTo>
                <a:lnTo>
                  <a:pt x="16875" y="223"/>
                </a:lnTo>
                <a:lnTo>
                  <a:pt x="17758" y="278"/>
                </a:lnTo>
                <a:lnTo>
                  <a:pt x="18461" y="209"/>
                </a:lnTo>
                <a:lnTo>
                  <a:pt x="19250" y="423"/>
                </a:lnTo>
                <a:lnTo>
                  <a:pt x="19945" y="570"/>
                </a:lnTo>
                <a:lnTo>
                  <a:pt x="20675" y="552"/>
                </a:lnTo>
                <a:lnTo>
                  <a:pt x="21257" y="615"/>
                </a:lnTo>
                <a:lnTo>
                  <a:pt x="22140" y="873"/>
                </a:lnTo>
                <a:lnTo>
                  <a:pt x="22579" y="1019"/>
                </a:lnTo>
                <a:lnTo>
                  <a:pt x="23244" y="1222"/>
                </a:lnTo>
                <a:lnTo>
                  <a:pt x="23864" y="1184"/>
                </a:lnTo>
                <a:lnTo>
                  <a:pt x="24483" y="1377"/>
                </a:lnTo>
                <a:lnTo>
                  <a:pt x="25120" y="1658"/>
                </a:lnTo>
                <a:lnTo>
                  <a:pt x="25553" y="2001"/>
                </a:lnTo>
                <a:lnTo>
                  <a:pt x="26214" y="2137"/>
                </a:lnTo>
                <a:lnTo>
                  <a:pt x="26523" y="2258"/>
                </a:lnTo>
                <a:lnTo>
                  <a:pt x="26943" y="2580"/>
                </a:lnTo>
                <a:lnTo>
                  <a:pt x="27483" y="2734"/>
                </a:lnTo>
                <a:lnTo>
                  <a:pt x="27753" y="3140"/>
                </a:lnTo>
                <a:lnTo>
                  <a:pt x="28056" y="3220"/>
                </a:lnTo>
                <a:lnTo>
                  <a:pt x="28426" y="3648"/>
                </a:lnTo>
                <a:lnTo>
                  <a:pt x="28522" y="3824"/>
                </a:lnTo>
                <a:lnTo>
                  <a:pt x="28883" y="4133"/>
                </a:lnTo>
                <a:lnTo>
                  <a:pt x="28994" y="4363"/>
                </a:lnTo>
                <a:lnTo>
                  <a:pt x="29136" y="4785"/>
                </a:lnTo>
                <a:lnTo>
                  <a:pt x="29239" y="5061"/>
                </a:lnTo>
                <a:lnTo>
                  <a:pt x="29313" y="5220"/>
                </a:lnTo>
                <a:lnTo>
                  <a:pt x="29448" y="5516"/>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10315438" y="2384664"/>
            <a:ext cx="86685" cy="98755"/>
          </a:xfrm>
          <a:custGeom>
            <a:avLst/>
            <a:gdLst/>
            <a:ahLst/>
            <a:cxnLst/>
            <a:rect l="l" t="t" r="r" b="b"/>
            <a:pathLst>
              <a:path w="948" h="1080">
                <a:moveTo>
                  <a:pt x="948" y="0"/>
                </a:moveTo>
                <a:lnTo>
                  <a:pt x="769" y="276"/>
                </a:lnTo>
                <a:lnTo>
                  <a:pt x="551" y="549"/>
                </a:lnTo>
                <a:lnTo>
                  <a:pt x="294" y="817"/>
                </a:lnTo>
                <a:lnTo>
                  <a:pt x="0" y="108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9570202" y="2697846"/>
            <a:ext cx="249997" cy="47092"/>
          </a:xfrm>
          <a:custGeom>
            <a:avLst/>
            <a:gdLst/>
            <a:ahLst/>
            <a:cxnLst/>
            <a:rect l="l" t="t" r="r" b="b"/>
            <a:pathLst>
              <a:path w="2734" h="515">
                <a:moveTo>
                  <a:pt x="2734" y="0"/>
                </a:moveTo>
                <a:lnTo>
                  <a:pt x="2079" y="149"/>
                </a:lnTo>
                <a:lnTo>
                  <a:pt x="1404" y="284"/>
                </a:lnTo>
                <a:lnTo>
                  <a:pt x="710" y="407"/>
                </a:lnTo>
                <a:lnTo>
                  <a:pt x="0" y="51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8543148" y="2735062"/>
            <a:ext cx="266913" cy="32004"/>
          </a:xfrm>
          <a:custGeom>
            <a:avLst/>
            <a:gdLst/>
            <a:ahLst/>
            <a:cxnLst/>
            <a:rect l="l" t="t" r="r" b="b"/>
            <a:pathLst>
              <a:path w="2919" h="350">
                <a:moveTo>
                  <a:pt x="2919" y="350"/>
                </a:moveTo>
                <a:lnTo>
                  <a:pt x="2172" y="284"/>
                </a:lnTo>
                <a:lnTo>
                  <a:pt x="1435" y="203"/>
                </a:lnTo>
                <a:lnTo>
                  <a:pt x="710" y="108"/>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7835951" y="2459370"/>
            <a:ext cx="127376" cy="92446"/>
          </a:xfrm>
          <a:custGeom>
            <a:avLst/>
            <a:gdLst/>
            <a:ahLst/>
            <a:cxnLst/>
            <a:rect l="l" t="t" r="r" b="b"/>
            <a:pathLst>
              <a:path w="1393" h="1011">
                <a:moveTo>
                  <a:pt x="1393" y="1011"/>
                </a:moveTo>
                <a:lnTo>
                  <a:pt x="992" y="769"/>
                </a:lnTo>
                <a:lnTo>
                  <a:pt x="625" y="519"/>
                </a:lnTo>
                <a:lnTo>
                  <a:pt x="294" y="263"/>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7776149" y="2079437"/>
            <a:ext cx="86685" cy="98755"/>
          </a:xfrm>
          <a:custGeom>
            <a:avLst/>
            <a:gdLst/>
            <a:ahLst/>
            <a:cxnLst/>
            <a:rect l="l" t="t" r="r" b="b"/>
            <a:pathLst>
              <a:path w="948" h="1080">
                <a:moveTo>
                  <a:pt x="0" y="1080"/>
                </a:moveTo>
                <a:lnTo>
                  <a:pt x="179" y="804"/>
                </a:lnTo>
                <a:lnTo>
                  <a:pt x="397" y="531"/>
                </a:lnTo>
                <a:lnTo>
                  <a:pt x="654" y="263"/>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8358073" y="1817919"/>
            <a:ext cx="249997" cy="47092"/>
          </a:xfrm>
          <a:custGeom>
            <a:avLst/>
            <a:gdLst/>
            <a:ahLst/>
            <a:cxnLst/>
            <a:rect l="l" t="t" r="r" b="b"/>
            <a:pathLst>
              <a:path w="2734" h="515">
                <a:moveTo>
                  <a:pt x="0" y="515"/>
                </a:moveTo>
                <a:lnTo>
                  <a:pt x="655" y="366"/>
                </a:lnTo>
                <a:lnTo>
                  <a:pt x="1330" y="231"/>
                </a:lnTo>
                <a:lnTo>
                  <a:pt x="2024" y="108"/>
                </a:lnTo>
                <a:lnTo>
                  <a:pt x="2734"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9368211" y="1795790"/>
            <a:ext cx="266913" cy="32004"/>
          </a:xfrm>
          <a:custGeom>
            <a:avLst/>
            <a:gdLst/>
            <a:ahLst/>
            <a:cxnLst/>
            <a:rect l="l" t="t" r="r" b="b"/>
            <a:pathLst>
              <a:path w="2919" h="350">
                <a:moveTo>
                  <a:pt x="0" y="0"/>
                </a:moveTo>
                <a:lnTo>
                  <a:pt x="747" y="66"/>
                </a:lnTo>
                <a:lnTo>
                  <a:pt x="1484" y="147"/>
                </a:lnTo>
                <a:lnTo>
                  <a:pt x="2209" y="242"/>
                </a:lnTo>
                <a:lnTo>
                  <a:pt x="2919" y="35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10214945" y="2011040"/>
            <a:ext cx="127376" cy="92446"/>
          </a:xfrm>
          <a:custGeom>
            <a:avLst/>
            <a:gdLst/>
            <a:ahLst/>
            <a:cxnLst/>
            <a:rect l="l" t="t" r="r" b="b"/>
            <a:pathLst>
              <a:path w="1393" h="1011">
                <a:moveTo>
                  <a:pt x="0" y="0"/>
                </a:moveTo>
                <a:lnTo>
                  <a:pt x="401" y="242"/>
                </a:lnTo>
                <a:lnTo>
                  <a:pt x="768" y="492"/>
                </a:lnTo>
                <a:lnTo>
                  <a:pt x="1099" y="748"/>
                </a:lnTo>
                <a:lnTo>
                  <a:pt x="1393" y="1011"/>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ody: run"/>
          <p:cNvSpPr txBox="1"/>
          <p:nvPr/>
        </p:nvSpPr>
        <p:spPr>
          <a:xfrm>
            <a:off x="7991855" y="2065782"/>
            <a:ext cx="2194560"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run</a:t>
            </a:r>
          </a:p>
        </p:txBody>
      </p:sp>
      <p:sp>
        <p:nvSpPr>
          <p:cNvPr id="54" name="Freeform 53"/>
          <p:cNvSpPr/>
          <p:nvPr/>
        </p:nvSpPr>
        <p:spPr>
          <a:xfrm>
            <a:off x="10561320" y="2264969"/>
            <a:ext cx="557784" cy="11887"/>
          </a:xfrm>
          <a:custGeom>
            <a:avLst/>
            <a:gdLst/>
            <a:ahLst/>
            <a:cxnLst/>
            <a:rect l="l" t="t" r="r" b="b"/>
            <a:pathLst>
              <a:path w="6100" h="130">
                <a:moveTo>
                  <a:pt x="0" y="130"/>
                </a:moveTo>
                <a:lnTo>
                  <a:pt x="3050" y="0"/>
                </a:lnTo>
                <a:lnTo>
                  <a:pt x="6100" y="13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11037265" y="2276856"/>
            <a:ext cx="81839" cy="50201"/>
          </a:xfrm>
          <a:custGeom>
            <a:avLst/>
            <a:gdLst/>
            <a:ahLst/>
            <a:cxnLst/>
            <a:rect l="l" t="t" r="r" b="b"/>
            <a:pathLst>
              <a:path w="895" h="549">
                <a:moveTo>
                  <a:pt x="0" y="549"/>
                </a:moveTo>
                <a:lnTo>
                  <a:pt x="895" y="0"/>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11037265" y="2226655"/>
            <a:ext cx="81839" cy="50201"/>
          </a:xfrm>
          <a:custGeom>
            <a:avLst/>
            <a:gdLst/>
            <a:ahLst/>
            <a:cxnLst/>
            <a:rect l="l" t="t" r="r" b="b"/>
            <a:pathLst>
              <a:path w="895" h="549">
                <a:moveTo>
                  <a:pt x="0" y="0"/>
                </a:moveTo>
                <a:lnTo>
                  <a:pt x="895" y="549"/>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1283696" y="1773936"/>
            <a:ext cx="2706624" cy="1014984"/>
          </a:xfrm>
          <a:prstGeom prst="ellipse">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11299515" y="1776405"/>
            <a:ext cx="2682850" cy="1010503"/>
          </a:xfrm>
          <a:custGeom>
            <a:avLst/>
            <a:gdLst/>
            <a:ahLst/>
            <a:cxnLst/>
            <a:rect l="l" t="t" r="r" b="b"/>
            <a:pathLst>
              <a:path w="29340" h="11051">
                <a:moveTo>
                  <a:pt x="29327" y="5569"/>
                </a:moveTo>
                <a:lnTo>
                  <a:pt x="29327" y="5852"/>
                </a:lnTo>
                <a:lnTo>
                  <a:pt x="29340" y="6090"/>
                </a:lnTo>
                <a:lnTo>
                  <a:pt x="29075" y="6277"/>
                </a:lnTo>
                <a:lnTo>
                  <a:pt x="28982" y="6653"/>
                </a:lnTo>
                <a:lnTo>
                  <a:pt x="28709" y="6937"/>
                </a:lnTo>
                <a:lnTo>
                  <a:pt x="28663" y="7251"/>
                </a:lnTo>
                <a:lnTo>
                  <a:pt x="28276" y="7560"/>
                </a:lnTo>
                <a:lnTo>
                  <a:pt x="28119" y="7772"/>
                </a:lnTo>
                <a:lnTo>
                  <a:pt x="27802" y="7880"/>
                </a:lnTo>
                <a:lnTo>
                  <a:pt x="27384" y="8178"/>
                </a:lnTo>
                <a:lnTo>
                  <a:pt x="26974" y="8436"/>
                </a:lnTo>
                <a:lnTo>
                  <a:pt x="26563" y="8629"/>
                </a:lnTo>
                <a:lnTo>
                  <a:pt x="26098" y="9030"/>
                </a:lnTo>
                <a:lnTo>
                  <a:pt x="25612" y="9235"/>
                </a:lnTo>
                <a:lnTo>
                  <a:pt x="24899" y="9421"/>
                </a:lnTo>
                <a:lnTo>
                  <a:pt x="24361" y="9560"/>
                </a:lnTo>
                <a:lnTo>
                  <a:pt x="23922" y="9742"/>
                </a:lnTo>
                <a:lnTo>
                  <a:pt x="23206" y="9957"/>
                </a:lnTo>
                <a:lnTo>
                  <a:pt x="22495" y="10063"/>
                </a:lnTo>
                <a:lnTo>
                  <a:pt x="22035" y="10182"/>
                </a:lnTo>
                <a:lnTo>
                  <a:pt x="21387" y="10325"/>
                </a:lnTo>
                <a:lnTo>
                  <a:pt x="20470" y="10394"/>
                </a:lnTo>
                <a:lnTo>
                  <a:pt x="19947" y="10581"/>
                </a:lnTo>
                <a:lnTo>
                  <a:pt x="19142" y="10621"/>
                </a:lnTo>
                <a:lnTo>
                  <a:pt x="18397" y="10688"/>
                </a:lnTo>
                <a:lnTo>
                  <a:pt x="17794" y="10926"/>
                </a:lnTo>
                <a:lnTo>
                  <a:pt x="16860" y="10915"/>
                </a:lnTo>
                <a:lnTo>
                  <a:pt x="16109" y="10900"/>
                </a:lnTo>
                <a:lnTo>
                  <a:pt x="15443" y="10899"/>
                </a:lnTo>
                <a:lnTo>
                  <a:pt x="14536" y="11051"/>
                </a:lnTo>
                <a:lnTo>
                  <a:pt x="13823" y="10842"/>
                </a:lnTo>
                <a:lnTo>
                  <a:pt x="13155" y="11004"/>
                </a:lnTo>
                <a:lnTo>
                  <a:pt x="12276" y="10996"/>
                </a:lnTo>
                <a:lnTo>
                  <a:pt x="11520" y="10938"/>
                </a:lnTo>
                <a:lnTo>
                  <a:pt x="10745" y="10755"/>
                </a:lnTo>
                <a:lnTo>
                  <a:pt x="10047" y="10697"/>
                </a:lnTo>
                <a:lnTo>
                  <a:pt x="9493" y="10612"/>
                </a:lnTo>
                <a:lnTo>
                  <a:pt x="8683" y="10414"/>
                </a:lnTo>
                <a:lnTo>
                  <a:pt x="8086" y="10270"/>
                </a:lnTo>
                <a:lnTo>
                  <a:pt x="7172" y="10233"/>
                </a:lnTo>
                <a:lnTo>
                  <a:pt x="6749" y="10107"/>
                </a:lnTo>
                <a:lnTo>
                  <a:pt x="6088" y="9966"/>
                </a:lnTo>
                <a:lnTo>
                  <a:pt x="5427" y="9676"/>
                </a:lnTo>
                <a:lnTo>
                  <a:pt x="4912" y="9614"/>
                </a:lnTo>
                <a:lnTo>
                  <a:pt x="4177" y="9258"/>
                </a:lnTo>
                <a:lnTo>
                  <a:pt x="3621" y="9123"/>
                </a:lnTo>
                <a:lnTo>
                  <a:pt x="3114" y="8849"/>
                </a:lnTo>
                <a:lnTo>
                  <a:pt x="2718" y="8796"/>
                </a:lnTo>
                <a:lnTo>
                  <a:pt x="2343" y="8516"/>
                </a:lnTo>
                <a:lnTo>
                  <a:pt x="1846" y="8315"/>
                </a:lnTo>
                <a:lnTo>
                  <a:pt x="1527" y="7884"/>
                </a:lnTo>
                <a:lnTo>
                  <a:pt x="1172" y="7798"/>
                </a:lnTo>
                <a:lnTo>
                  <a:pt x="895" y="7366"/>
                </a:lnTo>
                <a:lnTo>
                  <a:pt x="706" y="7243"/>
                </a:lnTo>
                <a:lnTo>
                  <a:pt x="465" y="6880"/>
                </a:lnTo>
                <a:lnTo>
                  <a:pt x="314" y="6593"/>
                </a:lnTo>
                <a:lnTo>
                  <a:pt x="19" y="6334"/>
                </a:lnTo>
                <a:lnTo>
                  <a:pt x="0" y="6026"/>
                </a:lnTo>
                <a:lnTo>
                  <a:pt x="61" y="5744"/>
                </a:lnTo>
                <a:lnTo>
                  <a:pt x="76" y="5573"/>
                </a:lnTo>
                <a:lnTo>
                  <a:pt x="70" y="5128"/>
                </a:lnTo>
                <a:lnTo>
                  <a:pt x="85" y="5075"/>
                </a:lnTo>
                <a:lnTo>
                  <a:pt x="222" y="4607"/>
                </a:lnTo>
                <a:lnTo>
                  <a:pt x="245" y="4355"/>
                </a:lnTo>
                <a:lnTo>
                  <a:pt x="492" y="4200"/>
                </a:lnTo>
                <a:lnTo>
                  <a:pt x="540" y="3877"/>
                </a:lnTo>
                <a:lnTo>
                  <a:pt x="1049" y="3465"/>
                </a:lnTo>
                <a:lnTo>
                  <a:pt x="1155" y="3321"/>
                </a:lnTo>
                <a:lnTo>
                  <a:pt x="1631" y="3091"/>
                </a:lnTo>
                <a:lnTo>
                  <a:pt x="1993" y="2819"/>
                </a:lnTo>
                <a:lnTo>
                  <a:pt x="2234" y="2683"/>
                </a:lnTo>
                <a:lnTo>
                  <a:pt x="2858" y="2260"/>
                </a:lnTo>
                <a:lnTo>
                  <a:pt x="3344" y="2156"/>
                </a:lnTo>
                <a:lnTo>
                  <a:pt x="3837" y="1978"/>
                </a:lnTo>
                <a:lnTo>
                  <a:pt x="4254" y="1566"/>
                </a:lnTo>
                <a:lnTo>
                  <a:pt x="4925" y="1582"/>
                </a:lnTo>
                <a:lnTo>
                  <a:pt x="5290" y="1208"/>
                </a:lnTo>
                <a:lnTo>
                  <a:pt x="6057" y="1197"/>
                </a:lnTo>
                <a:lnTo>
                  <a:pt x="6761" y="1078"/>
                </a:lnTo>
                <a:lnTo>
                  <a:pt x="7167" y="900"/>
                </a:lnTo>
                <a:lnTo>
                  <a:pt x="7855" y="755"/>
                </a:lnTo>
                <a:lnTo>
                  <a:pt x="8695" y="648"/>
                </a:lnTo>
                <a:lnTo>
                  <a:pt x="9410" y="453"/>
                </a:lnTo>
                <a:lnTo>
                  <a:pt x="10120" y="390"/>
                </a:lnTo>
                <a:lnTo>
                  <a:pt x="10752" y="354"/>
                </a:lnTo>
                <a:lnTo>
                  <a:pt x="11535" y="135"/>
                </a:lnTo>
                <a:lnTo>
                  <a:pt x="12330" y="143"/>
                </a:lnTo>
                <a:lnTo>
                  <a:pt x="13066" y="174"/>
                </a:lnTo>
                <a:lnTo>
                  <a:pt x="13732" y="218"/>
                </a:lnTo>
                <a:lnTo>
                  <a:pt x="14708" y="0"/>
                </a:lnTo>
                <a:lnTo>
                  <a:pt x="15513" y="157"/>
                </a:lnTo>
                <a:lnTo>
                  <a:pt x="16074" y="181"/>
                </a:lnTo>
                <a:lnTo>
                  <a:pt x="16920" y="115"/>
                </a:lnTo>
                <a:lnTo>
                  <a:pt x="17737" y="153"/>
                </a:lnTo>
                <a:lnTo>
                  <a:pt x="18543" y="290"/>
                </a:lnTo>
                <a:lnTo>
                  <a:pt x="19219" y="347"/>
                </a:lnTo>
                <a:lnTo>
                  <a:pt x="19862" y="513"/>
                </a:lnTo>
                <a:lnTo>
                  <a:pt x="20669" y="523"/>
                </a:lnTo>
                <a:lnTo>
                  <a:pt x="21357" y="772"/>
                </a:lnTo>
                <a:lnTo>
                  <a:pt x="22042" y="918"/>
                </a:lnTo>
                <a:lnTo>
                  <a:pt x="22624" y="914"/>
                </a:lnTo>
                <a:lnTo>
                  <a:pt x="23251" y="1012"/>
                </a:lnTo>
                <a:lnTo>
                  <a:pt x="23978" y="1368"/>
                </a:lnTo>
                <a:lnTo>
                  <a:pt x="24416" y="1571"/>
                </a:lnTo>
                <a:lnTo>
                  <a:pt x="24938" y="1711"/>
                </a:lnTo>
                <a:lnTo>
                  <a:pt x="25423" y="1794"/>
                </a:lnTo>
                <a:lnTo>
                  <a:pt x="26115" y="1994"/>
                </a:lnTo>
                <a:lnTo>
                  <a:pt x="26564" y="2391"/>
                </a:lnTo>
                <a:lnTo>
                  <a:pt x="26857" y="2665"/>
                </a:lnTo>
                <a:lnTo>
                  <a:pt x="27358" y="2921"/>
                </a:lnTo>
                <a:lnTo>
                  <a:pt x="27644" y="3023"/>
                </a:lnTo>
                <a:lnTo>
                  <a:pt x="27956" y="3263"/>
                </a:lnTo>
                <a:lnTo>
                  <a:pt x="28218" y="3526"/>
                </a:lnTo>
                <a:lnTo>
                  <a:pt x="28557" y="3816"/>
                </a:lnTo>
                <a:lnTo>
                  <a:pt x="28884" y="4070"/>
                </a:lnTo>
                <a:lnTo>
                  <a:pt x="28966" y="4458"/>
                </a:lnTo>
                <a:lnTo>
                  <a:pt x="29156" y="4713"/>
                </a:lnTo>
                <a:lnTo>
                  <a:pt x="29339" y="5059"/>
                </a:lnTo>
                <a:lnTo>
                  <a:pt x="29196" y="5242"/>
                </a:lnTo>
                <a:lnTo>
                  <a:pt x="29301" y="5599"/>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11290005" y="1782257"/>
            <a:ext cx="2696840" cy="1003645"/>
          </a:xfrm>
          <a:custGeom>
            <a:avLst/>
            <a:gdLst/>
            <a:ahLst/>
            <a:cxnLst/>
            <a:rect l="l" t="t" r="r" b="b"/>
            <a:pathLst>
              <a:path w="29493" h="10976">
                <a:moveTo>
                  <a:pt x="29345" y="5485"/>
                </a:moveTo>
                <a:lnTo>
                  <a:pt x="29372" y="5862"/>
                </a:lnTo>
                <a:lnTo>
                  <a:pt x="29449" y="6113"/>
                </a:lnTo>
                <a:lnTo>
                  <a:pt x="29229" y="6381"/>
                </a:lnTo>
                <a:lnTo>
                  <a:pt x="29120" y="6572"/>
                </a:lnTo>
                <a:lnTo>
                  <a:pt x="28839" y="6843"/>
                </a:lnTo>
                <a:lnTo>
                  <a:pt x="28771" y="7208"/>
                </a:lnTo>
                <a:lnTo>
                  <a:pt x="28444" y="7453"/>
                </a:lnTo>
                <a:lnTo>
                  <a:pt x="28067" y="7689"/>
                </a:lnTo>
                <a:lnTo>
                  <a:pt x="27737" y="7812"/>
                </a:lnTo>
                <a:lnTo>
                  <a:pt x="27470" y="8234"/>
                </a:lnTo>
                <a:lnTo>
                  <a:pt x="27094" y="8305"/>
                </a:lnTo>
                <a:lnTo>
                  <a:pt x="26503" y="8531"/>
                </a:lnTo>
                <a:lnTo>
                  <a:pt x="26096" y="8994"/>
                </a:lnTo>
                <a:lnTo>
                  <a:pt x="25769" y="9004"/>
                </a:lnTo>
                <a:lnTo>
                  <a:pt x="25204" y="9284"/>
                </a:lnTo>
                <a:lnTo>
                  <a:pt x="24478" y="9581"/>
                </a:lnTo>
                <a:lnTo>
                  <a:pt x="23985" y="9695"/>
                </a:lnTo>
                <a:lnTo>
                  <a:pt x="23283" y="9969"/>
                </a:lnTo>
                <a:lnTo>
                  <a:pt x="22666" y="10102"/>
                </a:lnTo>
                <a:lnTo>
                  <a:pt x="22060" y="10223"/>
                </a:lnTo>
                <a:lnTo>
                  <a:pt x="21339" y="10320"/>
                </a:lnTo>
                <a:lnTo>
                  <a:pt x="20742" y="10410"/>
                </a:lnTo>
                <a:lnTo>
                  <a:pt x="19949" y="10497"/>
                </a:lnTo>
                <a:lnTo>
                  <a:pt x="19381" y="10540"/>
                </a:lnTo>
                <a:lnTo>
                  <a:pt x="18408" y="10640"/>
                </a:lnTo>
                <a:lnTo>
                  <a:pt x="17662" y="10840"/>
                </a:lnTo>
                <a:lnTo>
                  <a:pt x="17010" y="10941"/>
                </a:lnTo>
                <a:lnTo>
                  <a:pt x="16158" y="10895"/>
                </a:lnTo>
                <a:lnTo>
                  <a:pt x="15391" y="10823"/>
                </a:lnTo>
                <a:lnTo>
                  <a:pt x="14736" y="10799"/>
                </a:lnTo>
                <a:lnTo>
                  <a:pt x="13858" y="10803"/>
                </a:lnTo>
                <a:lnTo>
                  <a:pt x="13112" y="10976"/>
                </a:lnTo>
                <a:lnTo>
                  <a:pt x="12360" y="10834"/>
                </a:lnTo>
                <a:lnTo>
                  <a:pt x="11628" y="10788"/>
                </a:lnTo>
                <a:lnTo>
                  <a:pt x="10951" y="10609"/>
                </a:lnTo>
                <a:lnTo>
                  <a:pt x="10225" y="10512"/>
                </a:lnTo>
                <a:lnTo>
                  <a:pt x="9472" y="10423"/>
                </a:lnTo>
                <a:lnTo>
                  <a:pt x="8823" y="10389"/>
                </a:lnTo>
                <a:lnTo>
                  <a:pt x="7944" y="10347"/>
                </a:lnTo>
                <a:lnTo>
                  <a:pt x="7391" y="10072"/>
                </a:lnTo>
                <a:lnTo>
                  <a:pt x="6747" y="10116"/>
                </a:lnTo>
                <a:lnTo>
                  <a:pt x="6176" y="9735"/>
                </a:lnTo>
                <a:lnTo>
                  <a:pt x="5494" y="9721"/>
                </a:lnTo>
                <a:lnTo>
                  <a:pt x="4818" y="9611"/>
                </a:lnTo>
                <a:lnTo>
                  <a:pt x="4281" y="9258"/>
                </a:lnTo>
                <a:lnTo>
                  <a:pt x="3817" y="8991"/>
                </a:lnTo>
                <a:lnTo>
                  <a:pt x="3266" y="8974"/>
                </a:lnTo>
                <a:lnTo>
                  <a:pt x="2728" y="8734"/>
                </a:lnTo>
                <a:lnTo>
                  <a:pt x="2310" y="8522"/>
                </a:lnTo>
                <a:lnTo>
                  <a:pt x="1943" y="8156"/>
                </a:lnTo>
                <a:lnTo>
                  <a:pt x="1674" y="7837"/>
                </a:lnTo>
                <a:lnTo>
                  <a:pt x="1302" y="7585"/>
                </a:lnTo>
                <a:lnTo>
                  <a:pt x="930" y="7302"/>
                </a:lnTo>
                <a:lnTo>
                  <a:pt x="766" y="7151"/>
                </a:lnTo>
                <a:lnTo>
                  <a:pt x="599" y="6780"/>
                </a:lnTo>
                <a:lnTo>
                  <a:pt x="494" y="6631"/>
                </a:lnTo>
                <a:lnTo>
                  <a:pt x="138" y="6283"/>
                </a:lnTo>
                <a:lnTo>
                  <a:pt x="117" y="5956"/>
                </a:lnTo>
                <a:lnTo>
                  <a:pt x="42" y="5682"/>
                </a:lnTo>
                <a:lnTo>
                  <a:pt x="0" y="5370"/>
                </a:lnTo>
                <a:lnTo>
                  <a:pt x="99" y="5207"/>
                </a:lnTo>
                <a:lnTo>
                  <a:pt x="255" y="4957"/>
                </a:lnTo>
                <a:lnTo>
                  <a:pt x="348" y="4720"/>
                </a:lnTo>
                <a:lnTo>
                  <a:pt x="266" y="4213"/>
                </a:lnTo>
                <a:lnTo>
                  <a:pt x="629" y="4054"/>
                </a:lnTo>
                <a:lnTo>
                  <a:pt x="680" y="3849"/>
                </a:lnTo>
                <a:lnTo>
                  <a:pt x="1122" y="3414"/>
                </a:lnTo>
                <a:lnTo>
                  <a:pt x="1426" y="3258"/>
                </a:lnTo>
                <a:lnTo>
                  <a:pt x="1612" y="2885"/>
                </a:lnTo>
                <a:lnTo>
                  <a:pt x="2117" y="2820"/>
                </a:lnTo>
                <a:lnTo>
                  <a:pt x="2489" y="2599"/>
                </a:lnTo>
                <a:lnTo>
                  <a:pt x="2932" y="2231"/>
                </a:lnTo>
                <a:lnTo>
                  <a:pt x="3452" y="2157"/>
                </a:lnTo>
                <a:lnTo>
                  <a:pt x="3793" y="1729"/>
                </a:lnTo>
                <a:lnTo>
                  <a:pt x="4414" y="1524"/>
                </a:lnTo>
                <a:lnTo>
                  <a:pt x="4928" y="1429"/>
                </a:lnTo>
                <a:lnTo>
                  <a:pt x="5548" y="1157"/>
                </a:lnTo>
                <a:lnTo>
                  <a:pt x="6208" y="957"/>
                </a:lnTo>
                <a:lnTo>
                  <a:pt x="6679" y="833"/>
                </a:lnTo>
                <a:lnTo>
                  <a:pt x="7356" y="834"/>
                </a:lnTo>
                <a:lnTo>
                  <a:pt x="8184" y="566"/>
                </a:lnTo>
                <a:lnTo>
                  <a:pt x="8743" y="395"/>
                </a:lnTo>
                <a:lnTo>
                  <a:pt x="9436" y="460"/>
                </a:lnTo>
                <a:lnTo>
                  <a:pt x="10112" y="314"/>
                </a:lnTo>
                <a:lnTo>
                  <a:pt x="11000" y="252"/>
                </a:lnTo>
                <a:lnTo>
                  <a:pt x="11651" y="141"/>
                </a:lnTo>
                <a:lnTo>
                  <a:pt x="12401" y="7"/>
                </a:lnTo>
                <a:lnTo>
                  <a:pt x="13287" y="92"/>
                </a:lnTo>
                <a:lnTo>
                  <a:pt x="13945" y="0"/>
                </a:lnTo>
                <a:lnTo>
                  <a:pt x="14702" y="122"/>
                </a:lnTo>
                <a:lnTo>
                  <a:pt x="15449" y="7"/>
                </a:lnTo>
                <a:lnTo>
                  <a:pt x="16263" y="38"/>
                </a:lnTo>
                <a:lnTo>
                  <a:pt x="17067" y="68"/>
                </a:lnTo>
                <a:lnTo>
                  <a:pt x="17778" y="169"/>
                </a:lnTo>
                <a:lnTo>
                  <a:pt x="18531" y="161"/>
                </a:lnTo>
                <a:lnTo>
                  <a:pt x="19159" y="313"/>
                </a:lnTo>
                <a:lnTo>
                  <a:pt x="20093" y="471"/>
                </a:lnTo>
                <a:lnTo>
                  <a:pt x="20708" y="415"/>
                </a:lnTo>
                <a:lnTo>
                  <a:pt x="21351" y="689"/>
                </a:lnTo>
                <a:lnTo>
                  <a:pt x="22190" y="872"/>
                </a:lnTo>
                <a:lnTo>
                  <a:pt x="22649" y="896"/>
                </a:lnTo>
                <a:lnTo>
                  <a:pt x="23244" y="1056"/>
                </a:lnTo>
                <a:lnTo>
                  <a:pt x="23970" y="1336"/>
                </a:lnTo>
                <a:lnTo>
                  <a:pt x="24633" y="1347"/>
                </a:lnTo>
                <a:lnTo>
                  <a:pt x="25154" y="1590"/>
                </a:lnTo>
                <a:lnTo>
                  <a:pt x="25580" y="1944"/>
                </a:lnTo>
                <a:lnTo>
                  <a:pt x="26010" y="1970"/>
                </a:lnTo>
                <a:lnTo>
                  <a:pt x="26623" y="2156"/>
                </a:lnTo>
                <a:lnTo>
                  <a:pt x="26982" y="2571"/>
                </a:lnTo>
                <a:lnTo>
                  <a:pt x="27404" y="2711"/>
                </a:lnTo>
                <a:lnTo>
                  <a:pt x="27713" y="3109"/>
                </a:lnTo>
                <a:lnTo>
                  <a:pt x="28199" y="3223"/>
                </a:lnTo>
                <a:lnTo>
                  <a:pt x="28341" y="3550"/>
                </a:lnTo>
                <a:lnTo>
                  <a:pt x="28772" y="3886"/>
                </a:lnTo>
                <a:lnTo>
                  <a:pt x="28841" y="3957"/>
                </a:lnTo>
                <a:lnTo>
                  <a:pt x="29050" y="4290"/>
                </a:lnTo>
                <a:lnTo>
                  <a:pt x="29212" y="4534"/>
                </a:lnTo>
                <a:lnTo>
                  <a:pt x="29367" y="5009"/>
                </a:lnTo>
                <a:lnTo>
                  <a:pt x="29282" y="5276"/>
                </a:lnTo>
                <a:lnTo>
                  <a:pt x="29493" y="5484"/>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13863310" y="2384664"/>
            <a:ext cx="86685" cy="98755"/>
          </a:xfrm>
          <a:custGeom>
            <a:avLst/>
            <a:gdLst/>
            <a:ahLst/>
            <a:cxnLst/>
            <a:rect l="l" t="t" r="r" b="b"/>
            <a:pathLst>
              <a:path w="948" h="1080">
                <a:moveTo>
                  <a:pt x="948" y="0"/>
                </a:moveTo>
                <a:lnTo>
                  <a:pt x="769" y="276"/>
                </a:lnTo>
                <a:lnTo>
                  <a:pt x="551" y="549"/>
                </a:lnTo>
                <a:lnTo>
                  <a:pt x="294" y="817"/>
                </a:lnTo>
                <a:lnTo>
                  <a:pt x="0" y="108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13118074" y="2697846"/>
            <a:ext cx="249997" cy="47092"/>
          </a:xfrm>
          <a:custGeom>
            <a:avLst/>
            <a:gdLst/>
            <a:ahLst/>
            <a:cxnLst/>
            <a:rect l="l" t="t" r="r" b="b"/>
            <a:pathLst>
              <a:path w="2734" h="515">
                <a:moveTo>
                  <a:pt x="2734" y="0"/>
                </a:moveTo>
                <a:lnTo>
                  <a:pt x="2079" y="149"/>
                </a:lnTo>
                <a:lnTo>
                  <a:pt x="1404" y="284"/>
                </a:lnTo>
                <a:lnTo>
                  <a:pt x="710" y="407"/>
                </a:lnTo>
                <a:lnTo>
                  <a:pt x="0" y="51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12091020" y="2735062"/>
            <a:ext cx="266913" cy="32004"/>
          </a:xfrm>
          <a:custGeom>
            <a:avLst/>
            <a:gdLst/>
            <a:ahLst/>
            <a:cxnLst/>
            <a:rect l="l" t="t" r="r" b="b"/>
            <a:pathLst>
              <a:path w="2919" h="350">
                <a:moveTo>
                  <a:pt x="2919" y="350"/>
                </a:moveTo>
                <a:lnTo>
                  <a:pt x="2172" y="284"/>
                </a:lnTo>
                <a:lnTo>
                  <a:pt x="1435" y="203"/>
                </a:lnTo>
                <a:lnTo>
                  <a:pt x="710" y="108"/>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11383823" y="2459370"/>
            <a:ext cx="127376" cy="92446"/>
          </a:xfrm>
          <a:custGeom>
            <a:avLst/>
            <a:gdLst/>
            <a:ahLst/>
            <a:cxnLst/>
            <a:rect l="l" t="t" r="r" b="b"/>
            <a:pathLst>
              <a:path w="1393" h="1011">
                <a:moveTo>
                  <a:pt x="1393" y="1011"/>
                </a:moveTo>
                <a:lnTo>
                  <a:pt x="992" y="769"/>
                </a:lnTo>
                <a:lnTo>
                  <a:pt x="625" y="519"/>
                </a:lnTo>
                <a:lnTo>
                  <a:pt x="294" y="263"/>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11324021" y="2079437"/>
            <a:ext cx="86685" cy="98755"/>
          </a:xfrm>
          <a:custGeom>
            <a:avLst/>
            <a:gdLst/>
            <a:ahLst/>
            <a:cxnLst/>
            <a:rect l="l" t="t" r="r" b="b"/>
            <a:pathLst>
              <a:path w="948" h="1080">
                <a:moveTo>
                  <a:pt x="0" y="1080"/>
                </a:moveTo>
                <a:lnTo>
                  <a:pt x="179" y="804"/>
                </a:lnTo>
                <a:lnTo>
                  <a:pt x="397" y="531"/>
                </a:lnTo>
                <a:lnTo>
                  <a:pt x="654" y="263"/>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11905945" y="1817919"/>
            <a:ext cx="249997" cy="47092"/>
          </a:xfrm>
          <a:custGeom>
            <a:avLst/>
            <a:gdLst/>
            <a:ahLst/>
            <a:cxnLst/>
            <a:rect l="l" t="t" r="r" b="b"/>
            <a:pathLst>
              <a:path w="2734" h="515">
                <a:moveTo>
                  <a:pt x="0" y="515"/>
                </a:moveTo>
                <a:lnTo>
                  <a:pt x="655" y="366"/>
                </a:lnTo>
                <a:lnTo>
                  <a:pt x="1330" y="231"/>
                </a:lnTo>
                <a:lnTo>
                  <a:pt x="2024" y="108"/>
                </a:lnTo>
                <a:lnTo>
                  <a:pt x="2734"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12916083" y="1795790"/>
            <a:ext cx="266913" cy="32004"/>
          </a:xfrm>
          <a:custGeom>
            <a:avLst/>
            <a:gdLst/>
            <a:ahLst/>
            <a:cxnLst/>
            <a:rect l="l" t="t" r="r" b="b"/>
            <a:pathLst>
              <a:path w="2919" h="350">
                <a:moveTo>
                  <a:pt x="0" y="0"/>
                </a:moveTo>
                <a:lnTo>
                  <a:pt x="747" y="66"/>
                </a:lnTo>
                <a:lnTo>
                  <a:pt x="1484" y="147"/>
                </a:lnTo>
                <a:lnTo>
                  <a:pt x="2209" y="242"/>
                </a:lnTo>
                <a:lnTo>
                  <a:pt x="2919" y="35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13762817" y="2011040"/>
            <a:ext cx="127376" cy="92446"/>
          </a:xfrm>
          <a:custGeom>
            <a:avLst/>
            <a:gdLst/>
            <a:ahLst/>
            <a:cxnLst/>
            <a:rect l="l" t="t" r="r" b="b"/>
            <a:pathLst>
              <a:path w="1393" h="1011">
                <a:moveTo>
                  <a:pt x="0" y="0"/>
                </a:moveTo>
                <a:lnTo>
                  <a:pt x="401" y="242"/>
                </a:lnTo>
                <a:lnTo>
                  <a:pt x="768" y="492"/>
                </a:lnTo>
                <a:lnTo>
                  <a:pt x="1099" y="748"/>
                </a:lnTo>
                <a:lnTo>
                  <a:pt x="1393" y="1011"/>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ody: diagnose"/>
          <p:cNvSpPr txBox="1"/>
          <p:nvPr/>
        </p:nvSpPr>
        <p:spPr>
          <a:xfrm>
            <a:off x="11539728" y="2065782"/>
            <a:ext cx="2194560"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diagnose</a:t>
            </a:r>
          </a:p>
        </p:txBody>
      </p:sp>
      <p:sp>
        <p:nvSpPr>
          <p:cNvPr id="69" name="Oval 68"/>
          <p:cNvSpPr/>
          <p:nvPr/>
        </p:nvSpPr>
        <p:spPr>
          <a:xfrm>
            <a:off x="11283696" y="3182112"/>
            <a:ext cx="2706624" cy="1014984"/>
          </a:xfrm>
          <a:prstGeom prst="ellipse">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11286256" y="3190616"/>
            <a:ext cx="2690439" cy="1003645"/>
          </a:xfrm>
          <a:custGeom>
            <a:avLst/>
            <a:gdLst/>
            <a:ahLst/>
            <a:cxnLst/>
            <a:rect l="l" t="t" r="r" b="b"/>
            <a:pathLst>
              <a:path w="29423" h="10976">
                <a:moveTo>
                  <a:pt x="29423" y="5347"/>
                </a:moveTo>
                <a:lnTo>
                  <a:pt x="29368" y="5707"/>
                </a:lnTo>
                <a:lnTo>
                  <a:pt x="29402" y="6001"/>
                </a:lnTo>
                <a:lnTo>
                  <a:pt x="29343" y="6356"/>
                </a:lnTo>
                <a:lnTo>
                  <a:pt x="29136" y="6682"/>
                </a:lnTo>
                <a:lnTo>
                  <a:pt x="28904" y="6886"/>
                </a:lnTo>
                <a:lnTo>
                  <a:pt x="28756" y="7207"/>
                </a:lnTo>
                <a:lnTo>
                  <a:pt x="28528" y="7369"/>
                </a:lnTo>
                <a:lnTo>
                  <a:pt x="28114" y="7668"/>
                </a:lnTo>
                <a:lnTo>
                  <a:pt x="27795" y="7891"/>
                </a:lnTo>
                <a:lnTo>
                  <a:pt x="27579" y="8190"/>
                </a:lnTo>
                <a:lnTo>
                  <a:pt x="27070" y="8517"/>
                </a:lnTo>
                <a:lnTo>
                  <a:pt x="26662" y="8681"/>
                </a:lnTo>
                <a:lnTo>
                  <a:pt x="26098" y="8894"/>
                </a:lnTo>
                <a:lnTo>
                  <a:pt x="25652" y="9094"/>
                </a:lnTo>
                <a:lnTo>
                  <a:pt x="25226" y="9348"/>
                </a:lnTo>
                <a:lnTo>
                  <a:pt x="24495" y="9565"/>
                </a:lnTo>
                <a:lnTo>
                  <a:pt x="24140" y="9714"/>
                </a:lnTo>
                <a:lnTo>
                  <a:pt x="23310" y="9837"/>
                </a:lnTo>
                <a:lnTo>
                  <a:pt x="22645" y="9958"/>
                </a:lnTo>
                <a:lnTo>
                  <a:pt x="22204" y="10165"/>
                </a:lnTo>
                <a:lnTo>
                  <a:pt x="21423" y="10365"/>
                </a:lnTo>
                <a:lnTo>
                  <a:pt x="20765" y="10459"/>
                </a:lnTo>
                <a:lnTo>
                  <a:pt x="20002" y="10602"/>
                </a:lnTo>
                <a:lnTo>
                  <a:pt x="19307" y="10601"/>
                </a:lnTo>
                <a:lnTo>
                  <a:pt x="18565" y="10641"/>
                </a:lnTo>
                <a:lnTo>
                  <a:pt x="17710" y="10826"/>
                </a:lnTo>
                <a:lnTo>
                  <a:pt x="16973" y="10731"/>
                </a:lnTo>
                <a:lnTo>
                  <a:pt x="16250" y="10965"/>
                </a:lnTo>
                <a:lnTo>
                  <a:pt x="15449" y="10895"/>
                </a:lnTo>
                <a:lnTo>
                  <a:pt x="14643" y="10907"/>
                </a:lnTo>
                <a:lnTo>
                  <a:pt x="14096" y="10976"/>
                </a:lnTo>
                <a:lnTo>
                  <a:pt x="13269" y="10958"/>
                </a:lnTo>
                <a:lnTo>
                  <a:pt x="12555" y="10871"/>
                </a:lnTo>
                <a:lnTo>
                  <a:pt x="11697" y="10702"/>
                </a:lnTo>
                <a:lnTo>
                  <a:pt x="10969" y="10809"/>
                </a:lnTo>
                <a:lnTo>
                  <a:pt x="10147" y="10515"/>
                </a:lnTo>
                <a:lnTo>
                  <a:pt x="9552" y="10585"/>
                </a:lnTo>
                <a:lnTo>
                  <a:pt x="8751" y="10359"/>
                </a:lnTo>
                <a:lnTo>
                  <a:pt x="8193" y="10233"/>
                </a:lnTo>
                <a:lnTo>
                  <a:pt x="7483" y="10128"/>
                </a:lnTo>
                <a:lnTo>
                  <a:pt x="6788" y="9991"/>
                </a:lnTo>
                <a:lnTo>
                  <a:pt x="6046" y="9851"/>
                </a:lnTo>
                <a:lnTo>
                  <a:pt x="5495" y="9777"/>
                </a:lnTo>
                <a:lnTo>
                  <a:pt x="4921" y="9608"/>
                </a:lnTo>
                <a:lnTo>
                  <a:pt x="4478" y="9184"/>
                </a:lnTo>
                <a:lnTo>
                  <a:pt x="3943" y="9060"/>
                </a:lnTo>
                <a:lnTo>
                  <a:pt x="3379" y="8942"/>
                </a:lnTo>
                <a:lnTo>
                  <a:pt x="2857" y="8678"/>
                </a:lnTo>
                <a:lnTo>
                  <a:pt x="2523" y="8375"/>
                </a:lnTo>
                <a:lnTo>
                  <a:pt x="2146" y="8147"/>
                </a:lnTo>
                <a:lnTo>
                  <a:pt x="1764" y="7977"/>
                </a:lnTo>
                <a:lnTo>
                  <a:pt x="1238" y="7691"/>
                </a:lnTo>
                <a:lnTo>
                  <a:pt x="1139" y="7397"/>
                </a:lnTo>
                <a:lnTo>
                  <a:pt x="780" y="7178"/>
                </a:lnTo>
                <a:lnTo>
                  <a:pt x="671" y="6814"/>
                </a:lnTo>
                <a:lnTo>
                  <a:pt x="341" y="6690"/>
                </a:lnTo>
                <a:lnTo>
                  <a:pt x="224" y="6239"/>
                </a:lnTo>
                <a:lnTo>
                  <a:pt x="126" y="6110"/>
                </a:lnTo>
                <a:lnTo>
                  <a:pt x="0" y="5787"/>
                </a:lnTo>
                <a:lnTo>
                  <a:pt x="22" y="5397"/>
                </a:lnTo>
                <a:lnTo>
                  <a:pt x="21" y="5066"/>
                </a:lnTo>
                <a:lnTo>
                  <a:pt x="229" y="4990"/>
                </a:lnTo>
                <a:lnTo>
                  <a:pt x="230" y="4694"/>
                </a:lnTo>
                <a:lnTo>
                  <a:pt x="335" y="4268"/>
                </a:lnTo>
                <a:lnTo>
                  <a:pt x="529" y="3984"/>
                </a:lnTo>
                <a:lnTo>
                  <a:pt x="899" y="3791"/>
                </a:lnTo>
                <a:lnTo>
                  <a:pt x="1185" y="3442"/>
                </a:lnTo>
                <a:lnTo>
                  <a:pt x="1273" y="3194"/>
                </a:lnTo>
                <a:lnTo>
                  <a:pt x="1721" y="2945"/>
                </a:lnTo>
                <a:lnTo>
                  <a:pt x="1946" y="2706"/>
                </a:lnTo>
                <a:lnTo>
                  <a:pt x="2522" y="2504"/>
                </a:lnTo>
                <a:lnTo>
                  <a:pt x="2928" y="2298"/>
                </a:lnTo>
                <a:lnTo>
                  <a:pt x="3280" y="1943"/>
                </a:lnTo>
                <a:lnTo>
                  <a:pt x="3834" y="1843"/>
                </a:lnTo>
                <a:lnTo>
                  <a:pt x="4318" y="1670"/>
                </a:lnTo>
                <a:lnTo>
                  <a:pt x="4947" y="1309"/>
                </a:lnTo>
                <a:lnTo>
                  <a:pt x="5457" y="1131"/>
                </a:lnTo>
                <a:lnTo>
                  <a:pt x="6050" y="1150"/>
                </a:lnTo>
                <a:lnTo>
                  <a:pt x="6882" y="857"/>
                </a:lnTo>
                <a:lnTo>
                  <a:pt x="7409" y="802"/>
                </a:lnTo>
                <a:lnTo>
                  <a:pt x="8132" y="673"/>
                </a:lnTo>
                <a:lnTo>
                  <a:pt x="8705" y="449"/>
                </a:lnTo>
                <a:lnTo>
                  <a:pt x="9479" y="429"/>
                </a:lnTo>
                <a:lnTo>
                  <a:pt x="10187" y="175"/>
                </a:lnTo>
                <a:lnTo>
                  <a:pt x="11071" y="95"/>
                </a:lnTo>
                <a:lnTo>
                  <a:pt x="11592" y="203"/>
                </a:lnTo>
                <a:lnTo>
                  <a:pt x="12597" y="213"/>
                </a:lnTo>
                <a:lnTo>
                  <a:pt x="13119" y="5"/>
                </a:lnTo>
                <a:lnTo>
                  <a:pt x="14132" y="98"/>
                </a:lnTo>
                <a:lnTo>
                  <a:pt x="14658" y="11"/>
                </a:lnTo>
                <a:lnTo>
                  <a:pt x="15625" y="84"/>
                </a:lnTo>
                <a:lnTo>
                  <a:pt x="16417" y="79"/>
                </a:lnTo>
                <a:lnTo>
                  <a:pt x="17069" y="0"/>
                </a:lnTo>
                <a:lnTo>
                  <a:pt x="17749" y="206"/>
                </a:lnTo>
                <a:lnTo>
                  <a:pt x="18593" y="157"/>
                </a:lnTo>
                <a:lnTo>
                  <a:pt x="19397" y="313"/>
                </a:lnTo>
                <a:lnTo>
                  <a:pt x="20133" y="468"/>
                </a:lnTo>
                <a:lnTo>
                  <a:pt x="20614" y="561"/>
                </a:lnTo>
                <a:lnTo>
                  <a:pt x="21546" y="591"/>
                </a:lnTo>
                <a:lnTo>
                  <a:pt x="22169" y="707"/>
                </a:lnTo>
                <a:lnTo>
                  <a:pt x="22814" y="884"/>
                </a:lnTo>
                <a:lnTo>
                  <a:pt x="23404" y="1077"/>
                </a:lnTo>
                <a:lnTo>
                  <a:pt x="24082" y="1212"/>
                </a:lnTo>
                <a:lnTo>
                  <a:pt x="24720" y="1318"/>
                </a:lnTo>
                <a:lnTo>
                  <a:pt x="25168" y="1552"/>
                </a:lnTo>
                <a:lnTo>
                  <a:pt x="25567" y="1930"/>
                </a:lnTo>
                <a:lnTo>
                  <a:pt x="26229" y="2025"/>
                </a:lnTo>
                <a:lnTo>
                  <a:pt x="26534" y="2215"/>
                </a:lnTo>
                <a:lnTo>
                  <a:pt x="27081" y="2429"/>
                </a:lnTo>
                <a:lnTo>
                  <a:pt x="27460" y="2751"/>
                </a:lnTo>
                <a:lnTo>
                  <a:pt x="27796" y="3072"/>
                </a:lnTo>
                <a:lnTo>
                  <a:pt x="28191" y="3213"/>
                </a:lnTo>
                <a:lnTo>
                  <a:pt x="28386" y="3399"/>
                </a:lnTo>
                <a:lnTo>
                  <a:pt x="28849" y="3757"/>
                </a:lnTo>
                <a:lnTo>
                  <a:pt x="29052" y="4054"/>
                </a:lnTo>
                <a:lnTo>
                  <a:pt x="29191" y="4297"/>
                </a:lnTo>
                <a:lnTo>
                  <a:pt x="29339" y="4655"/>
                </a:lnTo>
                <a:lnTo>
                  <a:pt x="29345" y="4898"/>
                </a:lnTo>
                <a:lnTo>
                  <a:pt x="29317" y="5272"/>
                </a:lnTo>
                <a:lnTo>
                  <a:pt x="29412" y="5370"/>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11293206" y="3187964"/>
            <a:ext cx="2693822" cy="1005200"/>
          </a:xfrm>
          <a:custGeom>
            <a:avLst/>
            <a:gdLst/>
            <a:ahLst/>
            <a:cxnLst/>
            <a:rect l="l" t="t" r="r" b="b"/>
            <a:pathLst>
              <a:path w="29460" h="10993">
                <a:moveTo>
                  <a:pt x="29387" y="5423"/>
                </a:moveTo>
                <a:lnTo>
                  <a:pt x="29367" y="5666"/>
                </a:lnTo>
                <a:lnTo>
                  <a:pt x="29211" y="6056"/>
                </a:lnTo>
                <a:lnTo>
                  <a:pt x="29195" y="6220"/>
                </a:lnTo>
                <a:lnTo>
                  <a:pt x="29060" y="6622"/>
                </a:lnTo>
                <a:lnTo>
                  <a:pt x="28809" y="6833"/>
                </a:lnTo>
                <a:lnTo>
                  <a:pt x="28730" y="7092"/>
                </a:lnTo>
                <a:lnTo>
                  <a:pt x="28474" y="7370"/>
                </a:lnTo>
                <a:lnTo>
                  <a:pt x="28068" y="7727"/>
                </a:lnTo>
                <a:lnTo>
                  <a:pt x="27804" y="7906"/>
                </a:lnTo>
                <a:lnTo>
                  <a:pt x="27285" y="8268"/>
                </a:lnTo>
                <a:lnTo>
                  <a:pt x="27080" y="8506"/>
                </a:lnTo>
                <a:lnTo>
                  <a:pt x="26691" y="8655"/>
                </a:lnTo>
                <a:lnTo>
                  <a:pt x="26155" y="9006"/>
                </a:lnTo>
                <a:lnTo>
                  <a:pt x="25492" y="9070"/>
                </a:lnTo>
                <a:lnTo>
                  <a:pt x="25011" y="9222"/>
                </a:lnTo>
                <a:lnTo>
                  <a:pt x="24575" y="9428"/>
                </a:lnTo>
                <a:lnTo>
                  <a:pt x="23968" y="9597"/>
                </a:lnTo>
                <a:lnTo>
                  <a:pt x="23295" y="9878"/>
                </a:lnTo>
                <a:lnTo>
                  <a:pt x="22697" y="10140"/>
                </a:lnTo>
                <a:lnTo>
                  <a:pt x="22032" y="10151"/>
                </a:lnTo>
                <a:lnTo>
                  <a:pt x="21299" y="10271"/>
                </a:lnTo>
                <a:lnTo>
                  <a:pt x="20570" y="10547"/>
                </a:lnTo>
                <a:lnTo>
                  <a:pt x="19900" y="10654"/>
                </a:lnTo>
                <a:lnTo>
                  <a:pt x="19281" y="10538"/>
                </a:lnTo>
                <a:lnTo>
                  <a:pt x="18521" y="10727"/>
                </a:lnTo>
                <a:lnTo>
                  <a:pt x="17665" y="10708"/>
                </a:lnTo>
                <a:lnTo>
                  <a:pt x="16973" y="10965"/>
                </a:lnTo>
                <a:lnTo>
                  <a:pt x="16232" y="10943"/>
                </a:lnTo>
                <a:lnTo>
                  <a:pt x="15569" y="10929"/>
                </a:lnTo>
                <a:lnTo>
                  <a:pt x="14626" y="10887"/>
                </a:lnTo>
                <a:lnTo>
                  <a:pt x="13827" y="10993"/>
                </a:lnTo>
                <a:lnTo>
                  <a:pt x="13247" y="10962"/>
                </a:lnTo>
                <a:lnTo>
                  <a:pt x="12333" y="10788"/>
                </a:lnTo>
                <a:lnTo>
                  <a:pt x="11657" y="10733"/>
                </a:lnTo>
                <a:lnTo>
                  <a:pt x="11026" y="10787"/>
                </a:lnTo>
                <a:lnTo>
                  <a:pt x="10057" y="10590"/>
                </a:lnTo>
                <a:lnTo>
                  <a:pt x="9404" y="10547"/>
                </a:lnTo>
                <a:lnTo>
                  <a:pt x="8794" y="10420"/>
                </a:lnTo>
                <a:lnTo>
                  <a:pt x="7929" y="10358"/>
                </a:lnTo>
                <a:lnTo>
                  <a:pt x="7439" y="10078"/>
                </a:lnTo>
                <a:lnTo>
                  <a:pt x="6782" y="10148"/>
                </a:lnTo>
                <a:lnTo>
                  <a:pt x="6157" y="9842"/>
                </a:lnTo>
                <a:lnTo>
                  <a:pt x="5536" y="9723"/>
                </a:lnTo>
                <a:lnTo>
                  <a:pt x="4744" y="9451"/>
                </a:lnTo>
                <a:lnTo>
                  <a:pt x="4441" y="9411"/>
                </a:lnTo>
                <a:lnTo>
                  <a:pt x="3766" y="9141"/>
                </a:lnTo>
                <a:lnTo>
                  <a:pt x="3403" y="8904"/>
                </a:lnTo>
                <a:lnTo>
                  <a:pt x="2748" y="8742"/>
                </a:lnTo>
                <a:lnTo>
                  <a:pt x="2498" y="8419"/>
                </a:lnTo>
                <a:lnTo>
                  <a:pt x="1907" y="8111"/>
                </a:lnTo>
                <a:lnTo>
                  <a:pt x="1742" y="8054"/>
                </a:lnTo>
                <a:lnTo>
                  <a:pt x="1237" y="7758"/>
                </a:lnTo>
                <a:lnTo>
                  <a:pt x="970" y="7366"/>
                </a:lnTo>
                <a:lnTo>
                  <a:pt x="752" y="7108"/>
                </a:lnTo>
                <a:lnTo>
                  <a:pt x="530" y="6997"/>
                </a:lnTo>
                <a:lnTo>
                  <a:pt x="323" y="6547"/>
                </a:lnTo>
                <a:lnTo>
                  <a:pt x="104" y="6326"/>
                </a:lnTo>
                <a:lnTo>
                  <a:pt x="25" y="5965"/>
                </a:lnTo>
                <a:lnTo>
                  <a:pt x="0" y="5721"/>
                </a:lnTo>
                <a:lnTo>
                  <a:pt x="104" y="5416"/>
                </a:lnTo>
                <a:lnTo>
                  <a:pt x="50" y="5149"/>
                </a:lnTo>
                <a:lnTo>
                  <a:pt x="152" y="4859"/>
                </a:lnTo>
                <a:lnTo>
                  <a:pt x="140" y="4731"/>
                </a:lnTo>
                <a:lnTo>
                  <a:pt x="381" y="4278"/>
                </a:lnTo>
                <a:lnTo>
                  <a:pt x="397" y="4114"/>
                </a:lnTo>
                <a:lnTo>
                  <a:pt x="780" y="3898"/>
                </a:lnTo>
                <a:lnTo>
                  <a:pt x="993" y="3424"/>
                </a:lnTo>
                <a:lnTo>
                  <a:pt x="1236" y="3322"/>
                </a:lnTo>
                <a:lnTo>
                  <a:pt x="1716" y="2902"/>
                </a:lnTo>
                <a:lnTo>
                  <a:pt x="2026" y="2808"/>
                </a:lnTo>
                <a:lnTo>
                  <a:pt x="2503" y="2623"/>
                </a:lnTo>
                <a:lnTo>
                  <a:pt x="2747" y="2275"/>
                </a:lnTo>
                <a:lnTo>
                  <a:pt x="3201" y="2040"/>
                </a:lnTo>
                <a:lnTo>
                  <a:pt x="3798" y="1972"/>
                </a:lnTo>
                <a:lnTo>
                  <a:pt x="4336" y="1530"/>
                </a:lnTo>
                <a:lnTo>
                  <a:pt x="4989" y="1334"/>
                </a:lnTo>
                <a:lnTo>
                  <a:pt x="5344" y="1165"/>
                </a:lnTo>
                <a:lnTo>
                  <a:pt x="6190" y="1205"/>
                </a:lnTo>
                <a:lnTo>
                  <a:pt x="6818" y="975"/>
                </a:lnTo>
                <a:lnTo>
                  <a:pt x="7357" y="877"/>
                </a:lnTo>
                <a:lnTo>
                  <a:pt x="7973" y="643"/>
                </a:lnTo>
                <a:lnTo>
                  <a:pt x="8714" y="625"/>
                </a:lnTo>
                <a:lnTo>
                  <a:pt x="9527" y="528"/>
                </a:lnTo>
                <a:lnTo>
                  <a:pt x="10267" y="277"/>
                </a:lnTo>
                <a:lnTo>
                  <a:pt x="10770" y="135"/>
                </a:lnTo>
                <a:lnTo>
                  <a:pt x="11558" y="216"/>
                </a:lnTo>
                <a:lnTo>
                  <a:pt x="12314" y="150"/>
                </a:lnTo>
                <a:lnTo>
                  <a:pt x="13224" y="0"/>
                </a:lnTo>
                <a:lnTo>
                  <a:pt x="14005" y="104"/>
                </a:lnTo>
                <a:lnTo>
                  <a:pt x="14627" y="27"/>
                </a:lnTo>
                <a:lnTo>
                  <a:pt x="15391" y="35"/>
                </a:lnTo>
                <a:lnTo>
                  <a:pt x="16137" y="131"/>
                </a:lnTo>
                <a:lnTo>
                  <a:pt x="16937" y="165"/>
                </a:lnTo>
                <a:lnTo>
                  <a:pt x="17685" y="222"/>
                </a:lnTo>
                <a:lnTo>
                  <a:pt x="18367" y="320"/>
                </a:lnTo>
                <a:lnTo>
                  <a:pt x="19333" y="220"/>
                </a:lnTo>
                <a:lnTo>
                  <a:pt x="20006" y="472"/>
                </a:lnTo>
                <a:lnTo>
                  <a:pt x="20641" y="464"/>
                </a:lnTo>
                <a:lnTo>
                  <a:pt x="21336" y="746"/>
                </a:lnTo>
                <a:lnTo>
                  <a:pt x="21944" y="732"/>
                </a:lnTo>
                <a:lnTo>
                  <a:pt x="22587" y="868"/>
                </a:lnTo>
                <a:lnTo>
                  <a:pt x="23341" y="1108"/>
                </a:lnTo>
                <a:lnTo>
                  <a:pt x="23897" y="1155"/>
                </a:lnTo>
                <a:lnTo>
                  <a:pt x="24528" y="1498"/>
                </a:lnTo>
                <a:lnTo>
                  <a:pt x="25051" y="1652"/>
                </a:lnTo>
                <a:lnTo>
                  <a:pt x="25735" y="1932"/>
                </a:lnTo>
                <a:lnTo>
                  <a:pt x="26075" y="1991"/>
                </a:lnTo>
                <a:lnTo>
                  <a:pt x="26554" y="2261"/>
                </a:lnTo>
                <a:lnTo>
                  <a:pt x="26980" y="2458"/>
                </a:lnTo>
                <a:lnTo>
                  <a:pt x="27385" y="2777"/>
                </a:lnTo>
                <a:lnTo>
                  <a:pt x="27900" y="3035"/>
                </a:lnTo>
                <a:lnTo>
                  <a:pt x="28032" y="3271"/>
                </a:lnTo>
                <a:lnTo>
                  <a:pt x="28331" y="3611"/>
                </a:lnTo>
                <a:lnTo>
                  <a:pt x="28751" y="3908"/>
                </a:lnTo>
                <a:lnTo>
                  <a:pt x="28784" y="4018"/>
                </a:lnTo>
                <a:lnTo>
                  <a:pt x="29048" y="4388"/>
                </a:lnTo>
                <a:lnTo>
                  <a:pt x="29194" y="4718"/>
                </a:lnTo>
                <a:lnTo>
                  <a:pt x="29389" y="4925"/>
                </a:lnTo>
                <a:lnTo>
                  <a:pt x="29460" y="5135"/>
                </a:lnTo>
                <a:lnTo>
                  <a:pt x="29365" y="5582"/>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13863310" y="3792840"/>
            <a:ext cx="86685" cy="98755"/>
          </a:xfrm>
          <a:custGeom>
            <a:avLst/>
            <a:gdLst/>
            <a:ahLst/>
            <a:cxnLst/>
            <a:rect l="l" t="t" r="r" b="b"/>
            <a:pathLst>
              <a:path w="948" h="1080">
                <a:moveTo>
                  <a:pt x="948" y="0"/>
                </a:moveTo>
                <a:lnTo>
                  <a:pt x="769" y="276"/>
                </a:lnTo>
                <a:lnTo>
                  <a:pt x="551" y="549"/>
                </a:lnTo>
                <a:lnTo>
                  <a:pt x="294" y="817"/>
                </a:lnTo>
                <a:lnTo>
                  <a:pt x="0" y="108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13118074" y="4106022"/>
            <a:ext cx="249997" cy="47092"/>
          </a:xfrm>
          <a:custGeom>
            <a:avLst/>
            <a:gdLst/>
            <a:ahLst/>
            <a:cxnLst/>
            <a:rect l="l" t="t" r="r" b="b"/>
            <a:pathLst>
              <a:path w="2734" h="515">
                <a:moveTo>
                  <a:pt x="2734" y="0"/>
                </a:moveTo>
                <a:lnTo>
                  <a:pt x="2079" y="149"/>
                </a:lnTo>
                <a:lnTo>
                  <a:pt x="1404" y="284"/>
                </a:lnTo>
                <a:lnTo>
                  <a:pt x="710" y="407"/>
                </a:lnTo>
                <a:lnTo>
                  <a:pt x="0" y="51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2091020" y="4143238"/>
            <a:ext cx="266913" cy="32004"/>
          </a:xfrm>
          <a:custGeom>
            <a:avLst/>
            <a:gdLst/>
            <a:ahLst/>
            <a:cxnLst/>
            <a:rect l="l" t="t" r="r" b="b"/>
            <a:pathLst>
              <a:path w="2919" h="350">
                <a:moveTo>
                  <a:pt x="2919" y="350"/>
                </a:moveTo>
                <a:lnTo>
                  <a:pt x="2172" y="284"/>
                </a:lnTo>
                <a:lnTo>
                  <a:pt x="1435" y="203"/>
                </a:lnTo>
                <a:lnTo>
                  <a:pt x="710" y="108"/>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11383823" y="3867546"/>
            <a:ext cx="127376" cy="92446"/>
          </a:xfrm>
          <a:custGeom>
            <a:avLst/>
            <a:gdLst/>
            <a:ahLst/>
            <a:cxnLst/>
            <a:rect l="l" t="t" r="r" b="b"/>
            <a:pathLst>
              <a:path w="1393" h="1011">
                <a:moveTo>
                  <a:pt x="1393" y="1011"/>
                </a:moveTo>
                <a:lnTo>
                  <a:pt x="992" y="769"/>
                </a:lnTo>
                <a:lnTo>
                  <a:pt x="625" y="519"/>
                </a:lnTo>
                <a:lnTo>
                  <a:pt x="294" y="263"/>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11324021" y="3487613"/>
            <a:ext cx="86685" cy="98755"/>
          </a:xfrm>
          <a:custGeom>
            <a:avLst/>
            <a:gdLst/>
            <a:ahLst/>
            <a:cxnLst/>
            <a:rect l="l" t="t" r="r" b="b"/>
            <a:pathLst>
              <a:path w="948" h="1080">
                <a:moveTo>
                  <a:pt x="0" y="1080"/>
                </a:moveTo>
                <a:lnTo>
                  <a:pt x="179" y="804"/>
                </a:lnTo>
                <a:lnTo>
                  <a:pt x="397" y="531"/>
                </a:lnTo>
                <a:lnTo>
                  <a:pt x="654" y="263"/>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11905945" y="3226095"/>
            <a:ext cx="249997" cy="47092"/>
          </a:xfrm>
          <a:custGeom>
            <a:avLst/>
            <a:gdLst/>
            <a:ahLst/>
            <a:cxnLst/>
            <a:rect l="l" t="t" r="r" b="b"/>
            <a:pathLst>
              <a:path w="2734" h="515">
                <a:moveTo>
                  <a:pt x="0" y="515"/>
                </a:moveTo>
                <a:lnTo>
                  <a:pt x="655" y="366"/>
                </a:lnTo>
                <a:lnTo>
                  <a:pt x="1330" y="231"/>
                </a:lnTo>
                <a:lnTo>
                  <a:pt x="2024" y="108"/>
                </a:lnTo>
                <a:lnTo>
                  <a:pt x="2734"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12916083" y="3203966"/>
            <a:ext cx="266913" cy="32004"/>
          </a:xfrm>
          <a:custGeom>
            <a:avLst/>
            <a:gdLst/>
            <a:ahLst/>
            <a:cxnLst/>
            <a:rect l="l" t="t" r="r" b="b"/>
            <a:pathLst>
              <a:path w="2919" h="350">
                <a:moveTo>
                  <a:pt x="0" y="0"/>
                </a:moveTo>
                <a:lnTo>
                  <a:pt x="747" y="66"/>
                </a:lnTo>
                <a:lnTo>
                  <a:pt x="1484" y="147"/>
                </a:lnTo>
                <a:lnTo>
                  <a:pt x="2209" y="242"/>
                </a:lnTo>
                <a:lnTo>
                  <a:pt x="2919" y="35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13762817" y="3419216"/>
            <a:ext cx="127376" cy="92446"/>
          </a:xfrm>
          <a:custGeom>
            <a:avLst/>
            <a:gdLst/>
            <a:ahLst/>
            <a:cxnLst/>
            <a:rect l="l" t="t" r="r" b="b"/>
            <a:pathLst>
              <a:path w="1393" h="1011">
                <a:moveTo>
                  <a:pt x="0" y="0"/>
                </a:moveTo>
                <a:lnTo>
                  <a:pt x="401" y="242"/>
                </a:lnTo>
                <a:lnTo>
                  <a:pt x="768" y="492"/>
                </a:lnTo>
                <a:lnTo>
                  <a:pt x="1099" y="748"/>
                </a:lnTo>
                <a:lnTo>
                  <a:pt x="1393" y="1011"/>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ody: revise"/>
          <p:cNvSpPr txBox="1"/>
          <p:nvPr/>
        </p:nvSpPr>
        <p:spPr>
          <a:xfrm>
            <a:off x="11539728" y="3473958"/>
            <a:ext cx="2194560"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revise</a:t>
            </a:r>
          </a:p>
        </p:txBody>
      </p:sp>
      <p:sp>
        <p:nvSpPr>
          <p:cNvPr id="81" name="Freeform 80"/>
          <p:cNvSpPr/>
          <p:nvPr/>
        </p:nvSpPr>
        <p:spPr>
          <a:xfrm>
            <a:off x="10597896" y="3673145"/>
            <a:ext cx="548640" cy="11887"/>
          </a:xfrm>
          <a:custGeom>
            <a:avLst/>
            <a:gdLst/>
            <a:ahLst/>
            <a:cxnLst/>
            <a:rect l="l" t="t" r="r" b="b"/>
            <a:pathLst>
              <a:path w="6000" h="130">
                <a:moveTo>
                  <a:pt x="6000" y="130"/>
                </a:moveTo>
                <a:lnTo>
                  <a:pt x="3000" y="0"/>
                </a:lnTo>
                <a:lnTo>
                  <a:pt x="0" y="13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10597896" y="3634831"/>
            <a:ext cx="81839" cy="50201"/>
          </a:xfrm>
          <a:custGeom>
            <a:avLst/>
            <a:gdLst/>
            <a:ahLst/>
            <a:cxnLst/>
            <a:rect l="l" t="t" r="r" b="b"/>
            <a:pathLst>
              <a:path w="895" h="549">
                <a:moveTo>
                  <a:pt x="895" y="0"/>
                </a:moveTo>
                <a:lnTo>
                  <a:pt x="0" y="549"/>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10597896" y="3685032"/>
            <a:ext cx="81839" cy="50201"/>
          </a:xfrm>
          <a:custGeom>
            <a:avLst/>
            <a:gdLst/>
            <a:ahLst/>
            <a:cxnLst/>
            <a:rect l="l" t="t" r="r" b="b"/>
            <a:pathLst>
              <a:path w="895" h="549">
                <a:moveTo>
                  <a:pt x="895" y="549"/>
                </a:moveTo>
                <a:lnTo>
                  <a:pt x="0" y="0"/>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735823" y="3182112"/>
            <a:ext cx="2706624" cy="1014984"/>
          </a:xfrm>
          <a:prstGeom prst="ellipse">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7740122" y="3185404"/>
            <a:ext cx="2701046" cy="1002274"/>
          </a:xfrm>
          <a:custGeom>
            <a:avLst/>
            <a:gdLst/>
            <a:ahLst/>
            <a:cxnLst/>
            <a:rect l="l" t="t" r="r" b="b"/>
            <a:pathLst>
              <a:path w="29539" h="10961">
                <a:moveTo>
                  <a:pt x="29539" y="5544"/>
                </a:moveTo>
                <a:lnTo>
                  <a:pt x="29460" y="5761"/>
                </a:lnTo>
                <a:lnTo>
                  <a:pt x="29442" y="6176"/>
                </a:lnTo>
                <a:lnTo>
                  <a:pt x="29187" y="6347"/>
                </a:lnTo>
                <a:lnTo>
                  <a:pt x="29093" y="6696"/>
                </a:lnTo>
                <a:lnTo>
                  <a:pt x="28899" y="6934"/>
                </a:lnTo>
                <a:lnTo>
                  <a:pt x="28667" y="7178"/>
                </a:lnTo>
                <a:lnTo>
                  <a:pt x="28434" y="7577"/>
                </a:lnTo>
                <a:lnTo>
                  <a:pt x="28049" y="7780"/>
                </a:lnTo>
                <a:lnTo>
                  <a:pt x="27911" y="7944"/>
                </a:lnTo>
                <a:lnTo>
                  <a:pt x="27478" y="8329"/>
                </a:lnTo>
                <a:lnTo>
                  <a:pt x="27148" y="8501"/>
                </a:lnTo>
                <a:lnTo>
                  <a:pt x="26653" y="8599"/>
                </a:lnTo>
                <a:lnTo>
                  <a:pt x="26183" y="9012"/>
                </a:lnTo>
                <a:lnTo>
                  <a:pt x="25716" y="9226"/>
                </a:lnTo>
                <a:lnTo>
                  <a:pt x="25200" y="9327"/>
                </a:lnTo>
                <a:lnTo>
                  <a:pt x="24616" y="9579"/>
                </a:lnTo>
                <a:lnTo>
                  <a:pt x="23951" y="9775"/>
                </a:lnTo>
                <a:lnTo>
                  <a:pt x="23347" y="10022"/>
                </a:lnTo>
                <a:lnTo>
                  <a:pt x="22788" y="10100"/>
                </a:lnTo>
                <a:lnTo>
                  <a:pt x="21992" y="10172"/>
                </a:lnTo>
                <a:lnTo>
                  <a:pt x="21413" y="10312"/>
                </a:lnTo>
                <a:lnTo>
                  <a:pt x="20781" y="10583"/>
                </a:lnTo>
                <a:lnTo>
                  <a:pt x="19966" y="10611"/>
                </a:lnTo>
                <a:lnTo>
                  <a:pt x="19181" y="10568"/>
                </a:lnTo>
                <a:lnTo>
                  <a:pt x="18564" y="10861"/>
                </a:lnTo>
                <a:lnTo>
                  <a:pt x="17845" y="10853"/>
                </a:lnTo>
                <a:lnTo>
                  <a:pt x="17046" y="10772"/>
                </a:lnTo>
                <a:lnTo>
                  <a:pt x="16362" y="10893"/>
                </a:lnTo>
                <a:lnTo>
                  <a:pt x="15483" y="10950"/>
                </a:lnTo>
                <a:lnTo>
                  <a:pt x="14633" y="10961"/>
                </a:lnTo>
                <a:lnTo>
                  <a:pt x="13972" y="10819"/>
                </a:lnTo>
                <a:lnTo>
                  <a:pt x="13212" y="10924"/>
                </a:lnTo>
                <a:lnTo>
                  <a:pt x="12368" y="10854"/>
                </a:lnTo>
                <a:lnTo>
                  <a:pt x="11597" y="10732"/>
                </a:lnTo>
                <a:lnTo>
                  <a:pt x="10945" y="10666"/>
                </a:lnTo>
                <a:lnTo>
                  <a:pt x="10173" y="10584"/>
                </a:lnTo>
                <a:lnTo>
                  <a:pt x="9576" y="10655"/>
                </a:lnTo>
                <a:lnTo>
                  <a:pt x="8792" y="10551"/>
                </a:lnTo>
                <a:lnTo>
                  <a:pt x="8050" y="10288"/>
                </a:lnTo>
                <a:lnTo>
                  <a:pt x="7410" y="10100"/>
                </a:lnTo>
                <a:lnTo>
                  <a:pt x="6880" y="10089"/>
                </a:lnTo>
                <a:lnTo>
                  <a:pt x="6189" y="9878"/>
                </a:lnTo>
                <a:lnTo>
                  <a:pt x="5401" y="9618"/>
                </a:lnTo>
                <a:lnTo>
                  <a:pt x="5013" y="9659"/>
                </a:lnTo>
                <a:lnTo>
                  <a:pt x="4439" y="9387"/>
                </a:lnTo>
                <a:lnTo>
                  <a:pt x="3843" y="9163"/>
                </a:lnTo>
                <a:lnTo>
                  <a:pt x="3364" y="9003"/>
                </a:lnTo>
                <a:lnTo>
                  <a:pt x="2792" y="8685"/>
                </a:lnTo>
                <a:lnTo>
                  <a:pt x="2520" y="8398"/>
                </a:lnTo>
                <a:lnTo>
                  <a:pt x="2051" y="8239"/>
                </a:lnTo>
                <a:lnTo>
                  <a:pt x="1587" y="8031"/>
                </a:lnTo>
                <a:lnTo>
                  <a:pt x="1331" y="7771"/>
                </a:lnTo>
                <a:lnTo>
                  <a:pt x="964" y="7398"/>
                </a:lnTo>
                <a:lnTo>
                  <a:pt x="907" y="7153"/>
                </a:lnTo>
                <a:lnTo>
                  <a:pt x="638" y="6870"/>
                </a:lnTo>
                <a:lnTo>
                  <a:pt x="402" y="6672"/>
                </a:lnTo>
                <a:lnTo>
                  <a:pt x="239" y="6376"/>
                </a:lnTo>
                <a:lnTo>
                  <a:pt x="125" y="6186"/>
                </a:lnTo>
                <a:lnTo>
                  <a:pt x="130" y="5728"/>
                </a:lnTo>
                <a:lnTo>
                  <a:pt x="0" y="5585"/>
                </a:lnTo>
                <a:lnTo>
                  <a:pt x="100" y="5206"/>
                </a:lnTo>
                <a:lnTo>
                  <a:pt x="154" y="4944"/>
                </a:lnTo>
                <a:lnTo>
                  <a:pt x="264" y="4636"/>
                </a:lnTo>
                <a:lnTo>
                  <a:pt x="439" y="4412"/>
                </a:lnTo>
                <a:lnTo>
                  <a:pt x="684" y="4163"/>
                </a:lnTo>
                <a:lnTo>
                  <a:pt x="886" y="3832"/>
                </a:lnTo>
                <a:lnTo>
                  <a:pt x="1067" y="3510"/>
                </a:lnTo>
                <a:lnTo>
                  <a:pt x="1419" y="3229"/>
                </a:lnTo>
                <a:lnTo>
                  <a:pt x="1737" y="3033"/>
                </a:lnTo>
                <a:lnTo>
                  <a:pt x="2060" y="2719"/>
                </a:lnTo>
                <a:lnTo>
                  <a:pt x="2561" y="2448"/>
                </a:lnTo>
                <a:lnTo>
                  <a:pt x="2906" y="2261"/>
                </a:lnTo>
                <a:lnTo>
                  <a:pt x="3235" y="2005"/>
                </a:lnTo>
                <a:lnTo>
                  <a:pt x="3908" y="1938"/>
                </a:lnTo>
                <a:lnTo>
                  <a:pt x="4417" y="1774"/>
                </a:lnTo>
                <a:lnTo>
                  <a:pt x="4910" y="1367"/>
                </a:lnTo>
                <a:lnTo>
                  <a:pt x="5427" y="1213"/>
                </a:lnTo>
                <a:lnTo>
                  <a:pt x="6000" y="1052"/>
                </a:lnTo>
                <a:lnTo>
                  <a:pt x="6789" y="918"/>
                </a:lnTo>
                <a:lnTo>
                  <a:pt x="7337" y="698"/>
                </a:lnTo>
                <a:lnTo>
                  <a:pt x="8104" y="734"/>
                </a:lnTo>
                <a:lnTo>
                  <a:pt x="8891" y="664"/>
                </a:lnTo>
                <a:lnTo>
                  <a:pt x="9597" y="429"/>
                </a:lnTo>
                <a:lnTo>
                  <a:pt x="10323" y="442"/>
                </a:lnTo>
                <a:lnTo>
                  <a:pt x="10943" y="179"/>
                </a:lnTo>
                <a:lnTo>
                  <a:pt x="11603" y="306"/>
                </a:lnTo>
                <a:lnTo>
                  <a:pt x="12537" y="73"/>
                </a:lnTo>
                <a:lnTo>
                  <a:pt x="13155" y="110"/>
                </a:lnTo>
                <a:lnTo>
                  <a:pt x="14086" y="105"/>
                </a:lnTo>
                <a:lnTo>
                  <a:pt x="14796" y="128"/>
                </a:lnTo>
                <a:lnTo>
                  <a:pt x="15430" y="148"/>
                </a:lnTo>
                <a:lnTo>
                  <a:pt x="16194" y="0"/>
                </a:lnTo>
                <a:lnTo>
                  <a:pt x="16927" y="151"/>
                </a:lnTo>
                <a:lnTo>
                  <a:pt x="17865" y="117"/>
                </a:lnTo>
                <a:lnTo>
                  <a:pt x="18666" y="381"/>
                </a:lnTo>
                <a:lnTo>
                  <a:pt x="19419" y="325"/>
                </a:lnTo>
                <a:lnTo>
                  <a:pt x="19927" y="525"/>
                </a:lnTo>
                <a:lnTo>
                  <a:pt x="20810" y="445"/>
                </a:lnTo>
                <a:lnTo>
                  <a:pt x="21402" y="642"/>
                </a:lnTo>
                <a:lnTo>
                  <a:pt x="22084" y="809"/>
                </a:lnTo>
                <a:lnTo>
                  <a:pt x="22855" y="911"/>
                </a:lnTo>
                <a:lnTo>
                  <a:pt x="23476" y="1185"/>
                </a:lnTo>
                <a:lnTo>
                  <a:pt x="24095" y="1376"/>
                </a:lnTo>
                <a:lnTo>
                  <a:pt x="24552" y="1369"/>
                </a:lnTo>
                <a:lnTo>
                  <a:pt x="25023" y="1687"/>
                </a:lnTo>
                <a:lnTo>
                  <a:pt x="25587" y="1890"/>
                </a:lnTo>
                <a:lnTo>
                  <a:pt x="26132" y="2152"/>
                </a:lnTo>
                <a:lnTo>
                  <a:pt x="26624" y="2219"/>
                </a:lnTo>
                <a:lnTo>
                  <a:pt x="27115" y="2504"/>
                </a:lnTo>
                <a:lnTo>
                  <a:pt x="27431" y="2749"/>
                </a:lnTo>
                <a:lnTo>
                  <a:pt x="27865" y="3140"/>
                </a:lnTo>
                <a:lnTo>
                  <a:pt x="28278" y="3382"/>
                </a:lnTo>
                <a:lnTo>
                  <a:pt x="28528" y="3639"/>
                </a:lnTo>
                <a:lnTo>
                  <a:pt x="28701" y="3732"/>
                </a:lnTo>
                <a:lnTo>
                  <a:pt x="28894" y="4180"/>
                </a:lnTo>
                <a:lnTo>
                  <a:pt x="29224" y="4452"/>
                </a:lnTo>
                <a:lnTo>
                  <a:pt x="29352" y="4678"/>
                </a:lnTo>
                <a:lnTo>
                  <a:pt x="29443" y="5048"/>
                </a:lnTo>
                <a:lnTo>
                  <a:pt x="29494" y="5269"/>
                </a:lnTo>
                <a:lnTo>
                  <a:pt x="29480" y="5626"/>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7743596" y="3185770"/>
            <a:ext cx="2692451" cy="1007852"/>
          </a:xfrm>
          <a:custGeom>
            <a:avLst/>
            <a:gdLst/>
            <a:ahLst/>
            <a:cxnLst/>
            <a:rect l="l" t="t" r="r" b="b"/>
            <a:pathLst>
              <a:path w="29445" h="11022">
                <a:moveTo>
                  <a:pt x="29328" y="5584"/>
                </a:moveTo>
                <a:lnTo>
                  <a:pt x="29409" y="5732"/>
                </a:lnTo>
                <a:lnTo>
                  <a:pt x="29300" y="6186"/>
                </a:lnTo>
                <a:lnTo>
                  <a:pt x="29296" y="6391"/>
                </a:lnTo>
                <a:lnTo>
                  <a:pt x="29089" y="6736"/>
                </a:lnTo>
                <a:lnTo>
                  <a:pt x="28839" y="7003"/>
                </a:lnTo>
                <a:lnTo>
                  <a:pt x="28667" y="7190"/>
                </a:lnTo>
                <a:lnTo>
                  <a:pt x="28472" y="7432"/>
                </a:lnTo>
                <a:lnTo>
                  <a:pt x="28101" y="7630"/>
                </a:lnTo>
                <a:lnTo>
                  <a:pt x="27869" y="8052"/>
                </a:lnTo>
                <a:lnTo>
                  <a:pt x="27429" y="8301"/>
                </a:lnTo>
                <a:lnTo>
                  <a:pt x="27078" y="8509"/>
                </a:lnTo>
                <a:lnTo>
                  <a:pt x="26620" y="8811"/>
                </a:lnTo>
                <a:lnTo>
                  <a:pt x="26146" y="8839"/>
                </a:lnTo>
                <a:lnTo>
                  <a:pt x="25531" y="9046"/>
                </a:lnTo>
                <a:lnTo>
                  <a:pt x="25029" y="9463"/>
                </a:lnTo>
                <a:lnTo>
                  <a:pt x="24511" y="9481"/>
                </a:lnTo>
                <a:lnTo>
                  <a:pt x="23902" y="9666"/>
                </a:lnTo>
                <a:lnTo>
                  <a:pt x="23354" y="9886"/>
                </a:lnTo>
                <a:lnTo>
                  <a:pt x="22620" y="10054"/>
                </a:lnTo>
                <a:lnTo>
                  <a:pt x="22134" y="10169"/>
                </a:lnTo>
                <a:lnTo>
                  <a:pt x="21488" y="10390"/>
                </a:lnTo>
                <a:lnTo>
                  <a:pt x="20558" y="10546"/>
                </a:lnTo>
                <a:lnTo>
                  <a:pt x="19902" y="10578"/>
                </a:lnTo>
                <a:lnTo>
                  <a:pt x="19339" y="10638"/>
                </a:lnTo>
                <a:lnTo>
                  <a:pt x="18634" y="10753"/>
                </a:lnTo>
                <a:lnTo>
                  <a:pt x="17687" y="10770"/>
                </a:lnTo>
                <a:lnTo>
                  <a:pt x="16953" y="10787"/>
                </a:lnTo>
                <a:lnTo>
                  <a:pt x="16173" y="10977"/>
                </a:lnTo>
                <a:lnTo>
                  <a:pt x="15384" y="11022"/>
                </a:lnTo>
                <a:lnTo>
                  <a:pt x="14786" y="10863"/>
                </a:lnTo>
                <a:lnTo>
                  <a:pt x="13902" y="10913"/>
                </a:lnTo>
                <a:lnTo>
                  <a:pt x="13297" y="10879"/>
                </a:lnTo>
                <a:lnTo>
                  <a:pt x="12451" y="10782"/>
                </a:lnTo>
                <a:lnTo>
                  <a:pt x="11757" y="10710"/>
                </a:lnTo>
                <a:lnTo>
                  <a:pt x="10975" y="10724"/>
                </a:lnTo>
                <a:lnTo>
                  <a:pt x="10231" y="10791"/>
                </a:lnTo>
                <a:lnTo>
                  <a:pt x="9482" y="10675"/>
                </a:lnTo>
                <a:lnTo>
                  <a:pt x="8774" y="10581"/>
                </a:lnTo>
                <a:lnTo>
                  <a:pt x="7959" y="10274"/>
                </a:lnTo>
                <a:lnTo>
                  <a:pt x="7368" y="10265"/>
                </a:lnTo>
                <a:lnTo>
                  <a:pt x="6601" y="10074"/>
                </a:lnTo>
                <a:lnTo>
                  <a:pt x="5980" y="9847"/>
                </a:lnTo>
                <a:lnTo>
                  <a:pt x="5412" y="9682"/>
                </a:lnTo>
                <a:lnTo>
                  <a:pt x="4977" y="9617"/>
                </a:lnTo>
                <a:lnTo>
                  <a:pt x="4289" y="9461"/>
                </a:lnTo>
                <a:lnTo>
                  <a:pt x="3905" y="9174"/>
                </a:lnTo>
                <a:lnTo>
                  <a:pt x="3266" y="9001"/>
                </a:lnTo>
                <a:lnTo>
                  <a:pt x="2944" y="8695"/>
                </a:lnTo>
                <a:lnTo>
                  <a:pt x="2298" y="8462"/>
                </a:lnTo>
                <a:lnTo>
                  <a:pt x="1935" y="8305"/>
                </a:lnTo>
                <a:lnTo>
                  <a:pt x="1734" y="7948"/>
                </a:lnTo>
                <a:lnTo>
                  <a:pt x="1235" y="7760"/>
                </a:lnTo>
                <a:lnTo>
                  <a:pt x="1016" y="7567"/>
                </a:lnTo>
                <a:lnTo>
                  <a:pt x="726" y="7178"/>
                </a:lnTo>
                <a:lnTo>
                  <a:pt x="586" y="7020"/>
                </a:lnTo>
                <a:lnTo>
                  <a:pt x="286" y="6642"/>
                </a:lnTo>
                <a:lnTo>
                  <a:pt x="213" y="6462"/>
                </a:lnTo>
                <a:lnTo>
                  <a:pt x="0" y="5998"/>
                </a:lnTo>
                <a:lnTo>
                  <a:pt x="10" y="5724"/>
                </a:lnTo>
                <a:lnTo>
                  <a:pt x="96" y="5491"/>
                </a:lnTo>
                <a:lnTo>
                  <a:pt x="159" y="5304"/>
                </a:lnTo>
                <a:lnTo>
                  <a:pt x="115" y="4940"/>
                </a:lnTo>
                <a:lnTo>
                  <a:pt x="162" y="4571"/>
                </a:lnTo>
                <a:lnTo>
                  <a:pt x="345" y="4310"/>
                </a:lnTo>
                <a:lnTo>
                  <a:pt x="487" y="4042"/>
                </a:lnTo>
                <a:lnTo>
                  <a:pt x="825" y="3728"/>
                </a:lnTo>
                <a:lnTo>
                  <a:pt x="927" y="3648"/>
                </a:lnTo>
                <a:lnTo>
                  <a:pt x="1355" y="3182"/>
                </a:lnTo>
                <a:lnTo>
                  <a:pt x="1670" y="3017"/>
                </a:lnTo>
                <a:lnTo>
                  <a:pt x="2093" y="2912"/>
                </a:lnTo>
                <a:lnTo>
                  <a:pt x="2496" y="2537"/>
                </a:lnTo>
                <a:lnTo>
                  <a:pt x="2836" y="2360"/>
                </a:lnTo>
                <a:lnTo>
                  <a:pt x="3179" y="2144"/>
                </a:lnTo>
                <a:lnTo>
                  <a:pt x="3728" y="1821"/>
                </a:lnTo>
                <a:lnTo>
                  <a:pt x="4384" y="1735"/>
                </a:lnTo>
                <a:lnTo>
                  <a:pt x="4988" y="1402"/>
                </a:lnTo>
                <a:lnTo>
                  <a:pt x="5584" y="1315"/>
                </a:lnTo>
                <a:lnTo>
                  <a:pt x="6061" y="1013"/>
                </a:lnTo>
                <a:lnTo>
                  <a:pt x="6747" y="957"/>
                </a:lnTo>
                <a:lnTo>
                  <a:pt x="7295" y="832"/>
                </a:lnTo>
                <a:lnTo>
                  <a:pt x="7996" y="746"/>
                </a:lnTo>
                <a:lnTo>
                  <a:pt x="8652" y="506"/>
                </a:lnTo>
                <a:lnTo>
                  <a:pt x="9334" y="429"/>
                </a:lnTo>
                <a:lnTo>
                  <a:pt x="10228" y="297"/>
                </a:lnTo>
                <a:lnTo>
                  <a:pt x="10936" y="212"/>
                </a:lnTo>
                <a:lnTo>
                  <a:pt x="11758" y="196"/>
                </a:lnTo>
                <a:lnTo>
                  <a:pt x="12333" y="231"/>
                </a:lnTo>
                <a:lnTo>
                  <a:pt x="13216" y="0"/>
                </a:lnTo>
                <a:lnTo>
                  <a:pt x="13823" y="137"/>
                </a:lnTo>
                <a:lnTo>
                  <a:pt x="14634" y="170"/>
                </a:lnTo>
                <a:lnTo>
                  <a:pt x="15510" y="150"/>
                </a:lnTo>
                <a:lnTo>
                  <a:pt x="16178" y="115"/>
                </a:lnTo>
                <a:lnTo>
                  <a:pt x="16883" y="111"/>
                </a:lnTo>
                <a:lnTo>
                  <a:pt x="17826" y="275"/>
                </a:lnTo>
                <a:lnTo>
                  <a:pt x="18616" y="259"/>
                </a:lnTo>
                <a:lnTo>
                  <a:pt x="19190" y="309"/>
                </a:lnTo>
                <a:lnTo>
                  <a:pt x="19901" y="405"/>
                </a:lnTo>
                <a:lnTo>
                  <a:pt x="20704" y="599"/>
                </a:lnTo>
                <a:lnTo>
                  <a:pt x="21503" y="624"/>
                </a:lnTo>
                <a:lnTo>
                  <a:pt x="22076" y="724"/>
                </a:lnTo>
                <a:lnTo>
                  <a:pt x="22669" y="1057"/>
                </a:lnTo>
                <a:lnTo>
                  <a:pt x="23296" y="1181"/>
                </a:lnTo>
                <a:lnTo>
                  <a:pt x="24010" y="1208"/>
                </a:lnTo>
                <a:lnTo>
                  <a:pt x="24429" y="1457"/>
                </a:lnTo>
                <a:lnTo>
                  <a:pt x="25141" y="1675"/>
                </a:lnTo>
                <a:lnTo>
                  <a:pt x="25586" y="1763"/>
                </a:lnTo>
                <a:lnTo>
                  <a:pt x="26206" y="2084"/>
                </a:lnTo>
                <a:lnTo>
                  <a:pt x="26655" y="2376"/>
                </a:lnTo>
                <a:lnTo>
                  <a:pt x="27060" y="2433"/>
                </a:lnTo>
                <a:lnTo>
                  <a:pt x="27501" y="2863"/>
                </a:lnTo>
                <a:lnTo>
                  <a:pt x="27811" y="3075"/>
                </a:lnTo>
                <a:lnTo>
                  <a:pt x="28206" y="3204"/>
                </a:lnTo>
                <a:lnTo>
                  <a:pt x="28486" y="3654"/>
                </a:lnTo>
                <a:lnTo>
                  <a:pt x="28696" y="3712"/>
                </a:lnTo>
                <a:lnTo>
                  <a:pt x="28846" y="3994"/>
                </a:lnTo>
                <a:lnTo>
                  <a:pt x="29000" y="4376"/>
                </a:lnTo>
                <a:lnTo>
                  <a:pt x="29268" y="4739"/>
                </a:lnTo>
                <a:lnTo>
                  <a:pt x="29304" y="4911"/>
                </a:lnTo>
                <a:lnTo>
                  <a:pt x="29422" y="5316"/>
                </a:lnTo>
                <a:lnTo>
                  <a:pt x="29445" y="5557"/>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10315438" y="3792840"/>
            <a:ext cx="86685" cy="98755"/>
          </a:xfrm>
          <a:custGeom>
            <a:avLst/>
            <a:gdLst/>
            <a:ahLst/>
            <a:cxnLst/>
            <a:rect l="l" t="t" r="r" b="b"/>
            <a:pathLst>
              <a:path w="948" h="1080">
                <a:moveTo>
                  <a:pt x="948" y="0"/>
                </a:moveTo>
                <a:lnTo>
                  <a:pt x="769" y="276"/>
                </a:lnTo>
                <a:lnTo>
                  <a:pt x="551" y="549"/>
                </a:lnTo>
                <a:lnTo>
                  <a:pt x="294" y="817"/>
                </a:lnTo>
                <a:lnTo>
                  <a:pt x="0" y="108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9570202" y="4106022"/>
            <a:ext cx="249997" cy="47092"/>
          </a:xfrm>
          <a:custGeom>
            <a:avLst/>
            <a:gdLst/>
            <a:ahLst/>
            <a:cxnLst/>
            <a:rect l="l" t="t" r="r" b="b"/>
            <a:pathLst>
              <a:path w="2734" h="515">
                <a:moveTo>
                  <a:pt x="2734" y="0"/>
                </a:moveTo>
                <a:lnTo>
                  <a:pt x="2079" y="149"/>
                </a:lnTo>
                <a:lnTo>
                  <a:pt x="1404" y="284"/>
                </a:lnTo>
                <a:lnTo>
                  <a:pt x="710" y="407"/>
                </a:lnTo>
                <a:lnTo>
                  <a:pt x="0" y="515"/>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8543148" y="4143238"/>
            <a:ext cx="266913" cy="32004"/>
          </a:xfrm>
          <a:custGeom>
            <a:avLst/>
            <a:gdLst/>
            <a:ahLst/>
            <a:cxnLst/>
            <a:rect l="l" t="t" r="r" b="b"/>
            <a:pathLst>
              <a:path w="2919" h="350">
                <a:moveTo>
                  <a:pt x="2919" y="350"/>
                </a:moveTo>
                <a:lnTo>
                  <a:pt x="2172" y="284"/>
                </a:lnTo>
                <a:lnTo>
                  <a:pt x="1435" y="203"/>
                </a:lnTo>
                <a:lnTo>
                  <a:pt x="710" y="108"/>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7835951" y="3867546"/>
            <a:ext cx="127376" cy="92446"/>
          </a:xfrm>
          <a:custGeom>
            <a:avLst/>
            <a:gdLst/>
            <a:ahLst/>
            <a:cxnLst/>
            <a:rect l="l" t="t" r="r" b="b"/>
            <a:pathLst>
              <a:path w="1393" h="1011">
                <a:moveTo>
                  <a:pt x="1393" y="1011"/>
                </a:moveTo>
                <a:lnTo>
                  <a:pt x="992" y="769"/>
                </a:lnTo>
                <a:lnTo>
                  <a:pt x="625" y="519"/>
                </a:lnTo>
                <a:lnTo>
                  <a:pt x="294" y="263"/>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7776149" y="3487613"/>
            <a:ext cx="86685" cy="98755"/>
          </a:xfrm>
          <a:custGeom>
            <a:avLst/>
            <a:gdLst/>
            <a:ahLst/>
            <a:cxnLst/>
            <a:rect l="l" t="t" r="r" b="b"/>
            <a:pathLst>
              <a:path w="948" h="1080">
                <a:moveTo>
                  <a:pt x="0" y="1080"/>
                </a:moveTo>
                <a:lnTo>
                  <a:pt x="179" y="804"/>
                </a:lnTo>
                <a:lnTo>
                  <a:pt x="397" y="531"/>
                </a:lnTo>
                <a:lnTo>
                  <a:pt x="654" y="263"/>
                </a:lnTo>
                <a:lnTo>
                  <a:pt x="948"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8358073" y="3226095"/>
            <a:ext cx="249997" cy="47092"/>
          </a:xfrm>
          <a:custGeom>
            <a:avLst/>
            <a:gdLst/>
            <a:ahLst/>
            <a:cxnLst/>
            <a:rect l="l" t="t" r="r" b="b"/>
            <a:pathLst>
              <a:path w="2734" h="515">
                <a:moveTo>
                  <a:pt x="0" y="515"/>
                </a:moveTo>
                <a:lnTo>
                  <a:pt x="655" y="366"/>
                </a:lnTo>
                <a:lnTo>
                  <a:pt x="1330" y="231"/>
                </a:lnTo>
                <a:lnTo>
                  <a:pt x="2024" y="108"/>
                </a:lnTo>
                <a:lnTo>
                  <a:pt x="2734"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9368211" y="3203966"/>
            <a:ext cx="266913" cy="32004"/>
          </a:xfrm>
          <a:custGeom>
            <a:avLst/>
            <a:gdLst/>
            <a:ahLst/>
            <a:cxnLst/>
            <a:rect l="l" t="t" r="r" b="b"/>
            <a:pathLst>
              <a:path w="2919" h="350">
                <a:moveTo>
                  <a:pt x="0" y="0"/>
                </a:moveTo>
                <a:lnTo>
                  <a:pt x="747" y="66"/>
                </a:lnTo>
                <a:lnTo>
                  <a:pt x="1484" y="147"/>
                </a:lnTo>
                <a:lnTo>
                  <a:pt x="2209" y="242"/>
                </a:lnTo>
                <a:lnTo>
                  <a:pt x="2919" y="35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10214945" y="3419216"/>
            <a:ext cx="127376" cy="92446"/>
          </a:xfrm>
          <a:custGeom>
            <a:avLst/>
            <a:gdLst/>
            <a:ahLst/>
            <a:cxnLst/>
            <a:rect l="l" t="t" r="r" b="b"/>
            <a:pathLst>
              <a:path w="1393" h="1011">
                <a:moveTo>
                  <a:pt x="0" y="0"/>
                </a:moveTo>
                <a:lnTo>
                  <a:pt x="401" y="242"/>
                </a:lnTo>
                <a:lnTo>
                  <a:pt x="768" y="492"/>
                </a:lnTo>
                <a:lnTo>
                  <a:pt x="1099" y="748"/>
                </a:lnTo>
                <a:lnTo>
                  <a:pt x="1393" y="1011"/>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body: regression gate"/>
          <p:cNvSpPr txBox="1"/>
          <p:nvPr/>
        </p:nvSpPr>
        <p:spPr>
          <a:xfrm>
            <a:off x="7991855" y="3473958"/>
            <a:ext cx="2194560"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AE6B55"/>
                </a:solidFill>
                <a:latin typeface="Chalkboard SE"/>
              </a:rPr>
              <a:t>regression gate</a:t>
            </a:r>
          </a:p>
        </p:txBody>
      </p:sp>
      <p:sp>
        <p:nvSpPr>
          <p:cNvPr id="96" name="Freeform 95"/>
          <p:cNvSpPr/>
          <p:nvPr/>
        </p:nvSpPr>
        <p:spPr>
          <a:xfrm>
            <a:off x="7050024" y="3673145"/>
            <a:ext cx="548640" cy="11887"/>
          </a:xfrm>
          <a:custGeom>
            <a:avLst/>
            <a:gdLst/>
            <a:ahLst/>
            <a:cxnLst/>
            <a:rect l="l" t="t" r="r" b="b"/>
            <a:pathLst>
              <a:path w="6000" h="130">
                <a:moveTo>
                  <a:pt x="6000" y="130"/>
                </a:moveTo>
                <a:lnTo>
                  <a:pt x="3000" y="0"/>
                </a:lnTo>
                <a:lnTo>
                  <a:pt x="0" y="13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Freeform 96"/>
          <p:cNvSpPr/>
          <p:nvPr/>
        </p:nvSpPr>
        <p:spPr>
          <a:xfrm>
            <a:off x="7050024" y="3634831"/>
            <a:ext cx="81839" cy="50201"/>
          </a:xfrm>
          <a:custGeom>
            <a:avLst/>
            <a:gdLst/>
            <a:ahLst/>
            <a:cxnLst/>
            <a:rect l="l" t="t" r="r" b="b"/>
            <a:pathLst>
              <a:path w="895" h="549">
                <a:moveTo>
                  <a:pt x="895" y="0"/>
                </a:moveTo>
                <a:lnTo>
                  <a:pt x="0" y="549"/>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7050024" y="3685032"/>
            <a:ext cx="81839" cy="50201"/>
          </a:xfrm>
          <a:custGeom>
            <a:avLst/>
            <a:gdLst/>
            <a:ahLst/>
            <a:cxnLst/>
            <a:rect l="l" t="t" r="r" b="b"/>
            <a:pathLst>
              <a:path w="895" h="549">
                <a:moveTo>
                  <a:pt x="895" y="549"/>
                </a:moveTo>
                <a:lnTo>
                  <a:pt x="0" y="0"/>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4187952" y="3182112"/>
            <a:ext cx="2706624" cy="1014984"/>
          </a:xfrm>
          <a:prstGeom prst="ellipse">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4200205" y="3185770"/>
            <a:ext cx="2690348" cy="1009132"/>
          </a:xfrm>
          <a:custGeom>
            <a:avLst/>
            <a:gdLst/>
            <a:ahLst/>
            <a:cxnLst/>
            <a:rect l="l" t="t" r="r" b="b"/>
            <a:pathLst>
              <a:path w="29422" h="11036">
                <a:moveTo>
                  <a:pt x="29264" y="5394"/>
                </a:moveTo>
                <a:lnTo>
                  <a:pt x="29422" y="5837"/>
                </a:lnTo>
                <a:lnTo>
                  <a:pt x="29262" y="6042"/>
                </a:lnTo>
                <a:lnTo>
                  <a:pt x="29122" y="6381"/>
                </a:lnTo>
                <a:lnTo>
                  <a:pt x="28946" y="6745"/>
                </a:lnTo>
                <a:lnTo>
                  <a:pt x="28821" y="6936"/>
                </a:lnTo>
                <a:lnTo>
                  <a:pt x="28670" y="7295"/>
                </a:lnTo>
                <a:lnTo>
                  <a:pt x="28301" y="7542"/>
                </a:lnTo>
                <a:lnTo>
                  <a:pt x="28103" y="7745"/>
                </a:lnTo>
                <a:lnTo>
                  <a:pt x="27778" y="7916"/>
                </a:lnTo>
                <a:lnTo>
                  <a:pt x="27465" y="8250"/>
                </a:lnTo>
                <a:lnTo>
                  <a:pt x="26979" y="8452"/>
                </a:lnTo>
                <a:lnTo>
                  <a:pt x="26438" y="8769"/>
                </a:lnTo>
                <a:lnTo>
                  <a:pt x="26192" y="8985"/>
                </a:lnTo>
                <a:lnTo>
                  <a:pt x="25645" y="9036"/>
                </a:lnTo>
                <a:lnTo>
                  <a:pt x="24987" y="9255"/>
                </a:lnTo>
                <a:lnTo>
                  <a:pt x="24564" y="9596"/>
                </a:lnTo>
                <a:lnTo>
                  <a:pt x="23909" y="9757"/>
                </a:lnTo>
                <a:lnTo>
                  <a:pt x="23382" y="10007"/>
                </a:lnTo>
                <a:lnTo>
                  <a:pt x="22745" y="9961"/>
                </a:lnTo>
                <a:lnTo>
                  <a:pt x="22012" y="10139"/>
                </a:lnTo>
                <a:lnTo>
                  <a:pt x="21264" y="10271"/>
                </a:lnTo>
                <a:lnTo>
                  <a:pt x="20690" y="10389"/>
                </a:lnTo>
                <a:lnTo>
                  <a:pt x="20054" y="10651"/>
                </a:lnTo>
                <a:lnTo>
                  <a:pt x="19099" y="10577"/>
                </a:lnTo>
                <a:lnTo>
                  <a:pt x="18354" y="10833"/>
                </a:lnTo>
                <a:lnTo>
                  <a:pt x="17645" y="10924"/>
                </a:lnTo>
                <a:lnTo>
                  <a:pt x="17035" y="10909"/>
                </a:lnTo>
                <a:lnTo>
                  <a:pt x="16297" y="11019"/>
                </a:lnTo>
                <a:lnTo>
                  <a:pt x="15420" y="11036"/>
                </a:lnTo>
                <a:lnTo>
                  <a:pt x="14757" y="11025"/>
                </a:lnTo>
                <a:lnTo>
                  <a:pt x="13916" y="11018"/>
                </a:lnTo>
                <a:lnTo>
                  <a:pt x="13151" y="10814"/>
                </a:lnTo>
                <a:lnTo>
                  <a:pt x="12303" y="10843"/>
                </a:lnTo>
                <a:lnTo>
                  <a:pt x="11606" y="10729"/>
                </a:lnTo>
                <a:lnTo>
                  <a:pt x="10748" y="10836"/>
                </a:lnTo>
                <a:lnTo>
                  <a:pt x="10056" y="10760"/>
                </a:lnTo>
                <a:lnTo>
                  <a:pt x="9408" y="10618"/>
                </a:lnTo>
                <a:lnTo>
                  <a:pt x="8814" y="10410"/>
                </a:lnTo>
                <a:lnTo>
                  <a:pt x="8112" y="10355"/>
                </a:lnTo>
                <a:lnTo>
                  <a:pt x="7250" y="10188"/>
                </a:lnTo>
                <a:lnTo>
                  <a:pt x="6783" y="10112"/>
                </a:lnTo>
                <a:lnTo>
                  <a:pt x="5992" y="9993"/>
                </a:lnTo>
                <a:lnTo>
                  <a:pt x="5373" y="9754"/>
                </a:lnTo>
                <a:lnTo>
                  <a:pt x="4803" y="9591"/>
                </a:lnTo>
                <a:lnTo>
                  <a:pt x="4234" y="9324"/>
                </a:lnTo>
                <a:lnTo>
                  <a:pt x="3885" y="9066"/>
                </a:lnTo>
                <a:lnTo>
                  <a:pt x="3203" y="8829"/>
                </a:lnTo>
                <a:lnTo>
                  <a:pt x="2808" y="8763"/>
                </a:lnTo>
                <a:lnTo>
                  <a:pt x="2461" y="8402"/>
                </a:lnTo>
                <a:lnTo>
                  <a:pt x="2038" y="8297"/>
                </a:lnTo>
                <a:lnTo>
                  <a:pt x="1497" y="8005"/>
                </a:lnTo>
                <a:lnTo>
                  <a:pt x="1145" y="7804"/>
                </a:lnTo>
                <a:lnTo>
                  <a:pt x="1075" y="7363"/>
                </a:lnTo>
                <a:lnTo>
                  <a:pt x="762" y="7194"/>
                </a:lnTo>
                <a:lnTo>
                  <a:pt x="454" y="6998"/>
                </a:lnTo>
                <a:lnTo>
                  <a:pt x="178" y="6634"/>
                </a:lnTo>
                <a:lnTo>
                  <a:pt x="88" y="6347"/>
                </a:lnTo>
                <a:lnTo>
                  <a:pt x="105" y="6186"/>
                </a:lnTo>
                <a:lnTo>
                  <a:pt x="104" y="5696"/>
                </a:lnTo>
                <a:lnTo>
                  <a:pt x="0" y="5513"/>
                </a:lnTo>
                <a:lnTo>
                  <a:pt x="106" y="5155"/>
                </a:lnTo>
                <a:lnTo>
                  <a:pt x="59" y="4859"/>
                </a:lnTo>
                <a:lnTo>
                  <a:pt x="258" y="4571"/>
                </a:lnTo>
                <a:lnTo>
                  <a:pt x="320" y="4303"/>
                </a:lnTo>
                <a:lnTo>
                  <a:pt x="611" y="4133"/>
                </a:lnTo>
                <a:lnTo>
                  <a:pt x="669" y="3853"/>
                </a:lnTo>
                <a:lnTo>
                  <a:pt x="980" y="3673"/>
                </a:lnTo>
                <a:lnTo>
                  <a:pt x="1202" y="3335"/>
                </a:lnTo>
                <a:lnTo>
                  <a:pt x="1501" y="3114"/>
                </a:lnTo>
                <a:lnTo>
                  <a:pt x="1864" y="2838"/>
                </a:lnTo>
                <a:lnTo>
                  <a:pt x="2398" y="2567"/>
                </a:lnTo>
                <a:lnTo>
                  <a:pt x="2886" y="2218"/>
                </a:lnTo>
                <a:lnTo>
                  <a:pt x="3364" y="2091"/>
                </a:lnTo>
                <a:lnTo>
                  <a:pt x="3871" y="1834"/>
                </a:lnTo>
                <a:lnTo>
                  <a:pt x="4322" y="1753"/>
                </a:lnTo>
                <a:lnTo>
                  <a:pt x="4737" y="1520"/>
                </a:lnTo>
                <a:lnTo>
                  <a:pt x="5332" y="1363"/>
                </a:lnTo>
                <a:lnTo>
                  <a:pt x="6032" y="1042"/>
                </a:lnTo>
                <a:lnTo>
                  <a:pt x="6783" y="1050"/>
                </a:lnTo>
                <a:lnTo>
                  <a:pt x="7326" y="798"/>
                </a:lnTo>
                <a:lnTo>
                  <a:pt x="8094" y="667"/>
                </a:lnTo>
                <a:lnTo>
                  <a:pt x="8789" y="480"/>
                </a:lnTo>
                <a:lnTo>
                  <a:pt x="9333" y="529"/>
                </a:lnTo>
                <a:lnTo>
                  <a:pt x="10148" y="423"/>
                </a:lnTo>
                <a:lnTo>
                  <a:pt x="10784" y="319"/>
                </a:lnTo>
                <a:lnTo>
                  <a:pt x="11676" y="220"/>
                </a:lnTo>
                <a:lnTo>
                  <a:pt x="12324" y="267"/>
                </a:lnTo>
                <a:lnTo>
                  <a:pt x="13222" y="0"/>
                </a:lnTo>
                <a:lnTo>
                  <a:pt x="13953" y="46"/>
                </a:lnTo>
                <a:lnTo>
                  <a:pt x="14775" y="109"/>
                </a:lnTo>
                <a:lnTo>
                  <a:pt x="15363" y="131"/>
                </a:lnTo>
                <a:lnTo>
                  <a:pt x="16128" y="114"/>
                </a:lnTo>
                <a:lnTo>
                  <a:pt x="16865" y="154"/>
                </a:lnTo>
                <a:lnTo>
                  <a:pt x="17786" y="296"/>
                </a:lnTo>
                <a:lnTo>
                  <a:pt x="18463" y="180"/>
                </a:lnTo>
                <a:lnTo>
                  <a:pt x="19097" y="307"/>
                </a:lnTo>
                <a:lnTo>
                  <a:pt x="20042" y="525"/>
                </a:lnTo>
                <a:lnTo>
                  <a:pt x="20557" y="449"/>
                </a:lnTo>
                <a:lnTo>
                  <a:pt x="21354" y="571"/>
                </a:lnTo>
                <a:lnTo>
                  <a:pt x="21929" y="767"/>
                </a:lnTo>
                <a:lnTo>
                  <a:pt x="22601" y="980"/>
                </a:lnTo>
                <a:lnTo>
                  <a:pt x="23318" y="1136"/>
                </a:lnTo>
                <a:lnTo>
                  <a:pt x="23961" y="1172"/>
                </a:lnTo>
                <a:lnTo>
                  <a:pt x="24555" y="1528"/>
                </a:lnTo>
                <a:lnTo>
                  <a:pt x="25130" y="1697"/>
                </a:lnTo>
                <a:lnTo>
                  <a:pt x="25564" y="1975"/>
                </a:lnTo>
                <a:lnTo>
                  <a:pt x="26164" y="2081"/>
                </a:lnTo>
                <a:lnTo>
                  <a:pt x="26501" y="2369"/>
                </a:lnTo>
                <a:lnTo>
                  <a:pt x="27098" y="2641"/>
                </a:lnTo>
                <a:lnTo>
                  <a:pt x="27272" y="2906"/>
                </a:lnTo>
                <a:lnTo>
                  <a:pt x="27839" y="3053"/>
                </a:lnTo>
                <a:lnTo>
                  <a:pt x="27954" y="3266"/>
                </a:lnTo>
                <a:lnTo>
                  <a:pt x="28423" y="3665"/>
                </a:lnTo>
                <a:lnTo>
                  <a:pt x="28616" y="3895"/>
                </a:lnTo>
                <a:lnTo>
                  <a:pt x="28779" y="4212"/>
                </a:lnTo>
                <a:lnTo>
                  <a:pt x="29031" y="4345"/>
                </a:lnTo>
                <a:lnTo>
                  <a:pt x="29292" y="4645"/>
                </a:lnTo>
                <a:lnTo>
                  <a:pt x="29320" y="4826"/>
                </a:lnTo>
                <a:lnTo>
                  <a:pt x="29227" y="5301"/>
                </a:lnTo>
                <a:lnTo>
                  <a:pt x="29270" y="5415"/>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4188318" y="3183301"/>
            <a:ext cx="2706075" cy="1006206"/>
          </a:xfrm>
          <a:custGeom>
            <a:avLst/>
            <a:gdLst/>
            <a:ahLst/>
            <a:cxnLst/>
            <a:rect l="l" t="t" r="r" b="b"/>
            <a:pathLst>
              <a:path w="29594" h="11004">
                <a:moveTo>
                  <a:pt x="29358" y="5563"/>
                </a:moveTo>
                <a:lnTo>
                  <a:pt x="29465" y="5786"/>
                </a:lnTo>
                <a:lnTo>
                  <a:pt x="29474" y="6151"/>
                </a:lnTo>
                <a:lnTo>
                  <a:pt x="29297" y="6442"/>
                </a:lnTo>
                <a:lnTo>
                  <a:pt x="29128" y="6605"/>
                </a:lnTo>
                <a:lnTo>
                  <a:pt x="28969" y="7016"/>
                </a:lnTo>
                <a:lnTo>
                  <a:pt x="28878" y="7263"/>
                </a:lnTo>
                <a:lnTo>
                  <a:pt x="28417" y="7575"/>
                </a:lnTo>
                <a:lnTo>
                  <a:pt x="28336" y="7730"/>
                </a:lnTo>
                <a:lnTo>
                  <a:pt x="27951" y="7899"/>
                </a:lnTo>
                <a:lnTo>
                  <a:pt x="27491" y="8330"/>
                </a:lnTo>
                <a:lnTo>
                  <a:pt x="27005" y="8429"/>
                </a:lnTo>
                <a:lnTo>
                  <a:pt x="26605" y="8631"/>
                </a:lnTo>
                <a:lnTo>
                  <a:pt x="26083" y="8936"/>
                </a:lnTo>
                <a:lnTo>
                  <a:pt x="25721" y="9206"/>
                </a:lnTo>
                <a:lnTo>
                  <a:pt x="25265" y="9416"/>
                </a:lnTo>
                <a:lnTo>
                  <a:pt x="24615" y="9550"/>
                </a:lnTo>
                <a:lnTo>
                  <a:pt x="24038" y="9725"/>
                </a:lnTo>
                <a:lnTo>
                  <a:pt x="23524" y="9889"/>
                </a:lnTo>
                <a:lnTo>
                  <a:pt x="22670" y="9976"/>
                </a:lnTo>
                <a:lnTo>
                  <a:pt x="22145" y="10247"/>
                </a:lnTo>
                <a:lnTo>
                  <a:pt x="21414" y="10343"/>
                </a:lnTo>
                <a:lnTo>
                  <a:pt x="20817" y="10472"/>
                </a:lnTo>
                <a:lnTo>
                  <a:pt x="20084" y="10630"/>
                </a:lnTo>
                <a:lnTo>
                  <a:pt x="19272" y="10815"/>
                </a:lnTo>
                <a:lnTo>
                  <a:pt x="18655" y="10861"/>
                </a:lnTo>
                <a:lnTo>
                  <a:pt x="17798" y="10829"/>
                </a:lnTo>
                <a:lnTo>
                  <a:pt x="17013" y="10856"/>
                </a:lnTo>
                <a:lnTo>
                  <a:pt x="16354" y="10853"/>
                </a:lnTo>
                <a:lnTo>
                  <a:pt x="15493" y="10919"/>
                </a:lnTo>
                <a:lnTo>
                  <a:pt x="14706" y="10859"/>
                </a:lnTo>
                <a:lnTo>
                  <a:pt x="14139" y="11004"/>
                </a:lnTo>
                <a:lnTo>
                  <a:pt x="13265" y="10924"/>
                </a:lnTo>
                <a:lnTo>
                  <a:pt x="12565" y="10819"/>
                </a:lnTo>
                <a:lnTo>
                  <a:pt x="11829" y="10859"/>
                </a:lnTo>
                <a:lnTo>
                  <a:pt x="10981" y="10689"/>
                </a:lnTo>
                <a:lnTo>
                  <a:pt x="10243" y="10763"/>
                </a:lnTo>
                <a:lnTo>
                  <a:pt x="9455" y="10607"/>
                </a:lnTo>
                <a:lnTo>
                  <a:pt x="8747" y="10594"/>
                </a:lnTo>
                <a:lnTo>
                  <a:pt x="8035" y="10284"/>
                </a:lnTo>
                <a:lnTo>
                  <a:pt x="7425" y="10216"/>
                </a:lnTo>
                <a:lnTo>
                  <a:pt x="6754" y="10210"/>
                </a:lnTo>
                <a:lnTo>
                  <a:pt x="6098" y="9916"/>
                </a:lnTo>
                <a:lnTo>
                  <a:pt x="5522" y="9874"/>
                </a:lnTo>
                <a:lnTo>
                  <a:pt x="5083" y="9530"/>
                </a:lnTo>
                <a:lnTo>
                  <a:pt x="4298" y="9414"/>
                </a:lnTo>
                <a:lnTo>
                  <a:pt x="3820" y="9184"/>
                </a:lnTo>
                <a:lnTo>
                  <a:pt x="3283" y="8925"/>
                </a:lnTo>
                <a:lnTo>
                  <a:pt x="3033" y="8794"/>
                </a:lnTo>
                <a:lnTo>
                  <a:pt x="2571" y="8602"/>
                </a:lnTo>
                <a:lnTo>
                  <a:pt x="2203" y="8244"/>
                </a:lnTo>
                <a:lnTo>
                  <a:pt x="1761" y="7960"/>
                </a:lnTo>
                <a:lnTo>
                  <a:pt x="1455" y="7865"/>
                </a:lnTo>
                <a:lnTo>
                  <a:pt x="1104" y="7486"/>
                </a:lnTo>
                <a:lnTo>
                  <a:pt x="868" y="7226"/>
                </a:lnTo>
                <a:lnTo>
                  <a:pt x="592" y="6856"/>
                </a:lnTo>
                <a:lnTo>
                  <a:pt x="447" y="6600"/>
                </a:lnTo>
                <a:lnTo>
                  <a:pt x="383" y="6425"/>
                </a:lnTo>
                <a:lnTo>
                  <a:pt x="239" y="6111"/>
                </a:lnTo>
                <a:lnTo>
                  <a:pt x="80" y="5932"/>
                </a:lnTo>
                <a:lnTo>
                  <a:pt x="0" y="5448"/>
                </a:lnTo>
                <a:lnTo>
                  <a:pt x="96" y="5210"/>
                </a:lnTo>
                <a:lnTo>
                  <a:pt x="77" y="4964"/>
                </a:lnTo>
                <a:lnTo>
                  <a:pt x="234" y="4778"/>
                </a:lnTo>
                <a:lnTo>
                  <a:pt x="543" y="4416"/>
                </a:lnTo>
                <a:lnTo>
                  <a:pt x="736" y="4235"/>
                </a:lnTo>
                <a:lnTo>
                  <a:pt x="869" y="3923"/>
                </a:lnTo>
                <a:lnTo>
                  <a:pt x="1177" y="3685"/>
                </a:lnTo>
                <a:lnTo>
                  <a:pt x="1476" y="3417"/>
                </a:lnTo>
                <a:lnTo>
                  <a:pt x="1725" y="3088"/>
                </a:lnTo>
                <a:lnTo>
                  <a:pt x="2091" y="2902"/>
                </a:lnTo>
                <a:lnTo>
                  <a:pt x="2562" y="2503"/>
                </a:lnTo>
                <a:lnTo>
                  <a:pt x="2953" y="2271"/>
                </a:lnTo>
                <a:lnTo>
                  <a:pt x="3346" y="2071"/>
                </a:lnTo>
                <a:lnTo>
                  <a:pt x="3801" y="1842"/>
                </a:lnTo>
                <a:lnTo>
                  <a:pt x="4312" y="1790"/>
                </a:lnTo>
                <a:lnTo>
                  <a:pt x="4954" y="1466"/>
                </a:lnTo>
                <a:lnTo>
                  <a:pt x="5573" y="1325"/>
                </a:lnTo>
                <a:lnTo>
                  <a:pt x="6065" y="1070"/>
                </a:lnTo>
                <a:lnTo>
                  <a:pt x="6811" y="900"/>
                </a:lnTo>
                <a:lnTo>
                  <a:pt x="7542" y="927"/>
                </a:lnTo>
                <a:lnTo>
                  <a:pt x="8246" y="649"/>
                </a:lnTo>
                <a:lnTo>
                  <a:pt x="8865" y="547"/>
                </a:lnTo>
                <a:lnTo>
                  <a:pt x="9500" y="453"/>
                </a:lnTo>
                <a:lnTo>
                  <a:pt x="10361" y="349"/>
                </a:lnTo>
                <a:lnTo>
                  <a:pt x="10959" y="401"/>
                </a:lnTo>
                <a:lnTo>
                  <a:pt x="11720" y="162"/>
                </a:lnTo>
                <a:lnTo>
                  <a:pt x="12378" y="248"/>
                </a:lnTo>
                <a:lnTo>
                  <a:pt x="13178" y="218"/>
                </a:lnTo>
                <a:lnTo>
                  <a:pt x="13974" y="124"/>
                </a:lnTo>
                <a:lnTo>
                  <a:pt x="14925" y="162"/>
                </a:lnTo>
                <a:lnTo>
                  <a:pt x="15514" y="0"/>
                </a:lnTo>
                <a:lnTo>
                  <a:pt x="16380" y="132"/>
                </a:lnTo>
                <a:lnTo>
                  <a:pt x="17192" y="186"/>
                </a:lnTo>
                <a:lnTo>
                  <a:pt x="17954" y="226"/>
                </a:lnTo>
                <a:lnTo>
                  <a:pt x="18483" y="408"/>
                </a:lnTo>
                <a:lnTo>
                  <a:pt x="19462" y="353"/>
                </a:lnTo>
                <a:lnTo>
                  <a:pt x="20172" y="551"/>
                </a:lnTo>
                <a:lnTo>
                  <a:pt x="20743" y="523"/>
                </a:lnTo>
                <a:lnTo>
                  <a:pt x="21387" y="641"/>
                </a:lnTo>
                <a:lnTo>
                  <a:pt x="22085" y="757"/>
                </a:lnTo>
                <a:lnTo>
                  <a:pt x="22684" y="982"/>
                </a:lnTo>
                <a:lnTo>
                  <a:pt x="23536" y="1203"/>
                </a:lnTo>
                <a:lnTo>
                  <a:pt x="24132" y="1290"/>
                </a:lnTo>
                <a:lnTo>
                  <a:pt x="24625" y="1471"/>
                </a:lnTo>
                <a:lnTo>
                  <a:pt x="25248" y="1701"/>
                </a:lnTo>
                <a:lnTo>
                  <a:pt x="25641" y="2019"/>
                </a:lnTo>
                <a:lnTo>
                  <a:pt x="26237" y="2023"/>
                </a:lnTo>
                <a:lnTo>
                  <a:pt x="26793" y="2312"/>
                </a:lnTo>
                <a:lnTo>
                  <a:pt x="27037" y="2578"/>
                </a:lnTo>
                <a:lnTo>
                  <a:pt x="27608" y="2912"/>
                </a:lnTo>
                <a:lnTo>
                  <a:pt x="27825" y="3086"/>
                </a:lnTo>
                <a:lnTo>
                  <a:pt x="28087" y="3313"/>
                </a:lnTo>
                <a:lnTo>
                  <a:pt x="28454" y="3565"/>
                </a:lnTo>
                <a:lnTo>
                  <a:pt x="28683" y="3746"/>
                </a:lnTo>
                <a:lnTo>
                  <a:pt x="28966" y="4090"/>
                </a:lnTo>
                <a:lnTo>
                  <a:pt x="29039" y="4424"/>
                </a:lnTo>
                <a:lnTo>
                  <a:pt x="29390" y="4653"/>
                </a:lnTo>
                <a:lnTo>
                  <a:pt x="29320" y="5012"/>
                </a:lnTo>
                <a:lnTo>
                  <a:pt x="29403" y="5321"/>
                </a:lnTo>
                <a:lnTo>
                  <a:pt x="29594" y="5574"/>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767566" y="3792840"/>
            <a:ext cx="86685" cy="98755"/>
          </a:xfrm>
          <a:custGeom>
            <a:avLst/>
            <a:gdLst/>
            <a:ahLst/>
            <a:cxnLst/>
            <a:rect l="l" t="t" r="r" b="b"/>
            <a:pathLst>
              <a:path w="948" h="1080">
                <a:moveTo>
                  <a:pt x="948" y="0"/>
                </a:moveTo>
                <a:lnTo>
                  <a:pt x="769" y="276"/>
                </a:lnTo>
                <a:lnTo>
                  <a:pt x="551" y="549"/>
                </a:lnTo>
                <a:lnTo>
                  <a:pt x="294" y="817"/>
                </a:lnTo>
                <a:lnTo>
                  <a:pt x="0" y="108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6022330" y="4106022"/>
            <a:ext cx="249997" cy="47092"/>
          </a:xfrm>
          <a:custGeom>
            <a:avLst/>
            <a:gdLst/>
            <a:ahLst/>
            <a:cxnLst/>
            <a:rect l="l" t="t" r="r" b="b"/>
            <a:pathLst>
              <a:path w="2734" h="515">
                <a:moveTo>
                  <a:pt x="2734" y="0"/>
                </a:moveTo>
                <a:lnTo>
                  <a:pt x="2079" y="149"/>
                </a:lnTo>
                <a:lnTo>
                  <a:pt x="1404" y="284"/>
                </a:lnTo>
                <a:lnTo>
                  <a:pt x="710" y="407"/>
                </a:lnTo>
                <a:lnTo>
                  <a:pt x="0" y="515"/>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4995276" y="4143238"/>
            <a:ext cx="266913" cy="32004"/>
          </a:xfrm>
          <a:custGeom>
            <a:avLst/>
            <a:gdLst/>
            <a:ahLst/>
            <a:cxnLst/>
            <a:rect l="l" t="t" r="r" b="b"/>
            <a:pathLst>
              <a:path w="2919" h="350">
                <a:moveTo>
                  <a:pt x="2919" y="350"/>
                </a:moveTo>
                <a:lnTo>
                  <a:pt x="2172" y="284"/>
                </a:lnTo>
                <a:lnTo>
                  <a:pt x="1435" y="203"/>
                </a:lnTo>
                <a:lnTo>
                  <a:pt x="710" y="108"/>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4288079" y="3867546"/>
            <a:ext cx="127376" cy="92446"/>
          </a:xfrm>
          <a:custGeom>
            <a:avLst/>
            <a:gdLst/>
            <a:ahLst/>
            <a:cxnLst/>
            <a:rect l="l" t="t" r="r" b="b"/>
            <a:pathLst>
              <a:path w="1393" h="1011">
                <a:moveTo>
                  <a:pt x="1393" y="1011"/>
                </a:moveTo>
                <a:lnTo>
                  <a:pt x="992" y="769"/>
                </a:lnTo>
                <a:lnTo>
                  <a:pt x="625" y="519"/>
                </a:lnTo>
                <a:lnTo>
                  <a:pt x="294" y="263"/>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4228277" y="3487613"/>
            <a:ext cx="86685" cy="98755"/>
          </a:xfrm>
          <a:custGeom>
            <a:avLst/>
            <a:gdLst/>
            <a:ahLst/>
            <a:cxnLst/>
            <a:rect l="l" t="t" r="r" b="b"/>
            <a:pathLst>
              <a:path w="948" h="1080">
                <a:moveTo>
                  <a:pt x="0" y="1080"/>
                </a:moveTo>
                <a:lnTo>
                  <a:pt x="179" y="804"/>
                </a:lnTo>
                <a:lnTo>
                  <a:pt x="397" y="531"/>
                </a:lnTo>
                <a:lnTo>
                  <a:pt x="654" y="263"/>
                </a:lnTo>
                <a:lnTo>
                  <a:pt x="948"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4810201" y="3226095"/>
            <a:ext cx="249997" cy="47092"/>
          </a:xfrm>
          <a:custGeom>
            <a:avLst/>
            <a:gdLst/>
            <a:ahLst/>
            <a:cxnLst/>
            <a:rect l="l" t="t" r="r" b="b"/>
            <a:pathLst>
              <a:path w="2734" h="515">
                <a:moveTo>
                  <a:pt x="0" y="515"/>
                </a:moveTo>
                <a:lnTo>
                  <a:pt x="655" y="366"/>
                </a:lnTo>
                <a:lnTo>
                  <a:pt x="1330" y="231"/>
                </a:lnTo>
                <a:lnTo>
                  <a:pt x="2024" y="108"/>
                </a:lnTo>
                <a:lnTo>
                  <a:pt x="2734"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5820339" y="3203966"/>
            <a:ext cx="266913" cy="32004"/>
          </a:xfrm>
          <a:custGeom>
            <a:avLst/>
            <a:gdLst/>
            <a:ahLst/>
            <a:cxnLst/>
            <a:rect l="l" t="t" r="r" b="b"/>
            <a:pathLst>
              <a:path w="2919" h="350">
                <a:moveTo>
                  <a:pt x="0" y="0"/>
                </a:moveTo>
                <a:lnTo>
                  <a:pt x="747" y="66"/>
                </a:lnTo>
                <a:lnTo>
                  <a:pt x="1484" y="147"/>
                </a:lnTo>
                <a:lnTo>
                  <a:pt x="2209" y="242"/>
                </a:lnTo>
                <a:lnTo>
                  <a:pt x="2919" y="35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6667073" y="3419216"/>
            <a:ext cx="127376" cy="92446"/>
          </a:xfrm>
          <a:custGeom>
            <a:avLst/>
            <a:gdLst/>
            <a:ahLst/>
            <a:cxnLst/>
            <a:rect l="l" t="t" r="r" b="b"/>
            <a:pathLst>
              <a:path w="1393" h="1011">
                <a:moveTo>
                  <a:pt x="0" y="0"/>
                </a:moveTo>
                <a:lnTo>
                  <a:pt x="401" y="242"/>
                </a:lnTo>
                <a:lnTo>
                  <a:pt x="768" y="492"/>
                </a:lnTo>
                <a:lnTo>
                  <a:pt x="1099" y="748"/>
                </a:lnTo>
                <a:lnTo>
                  <a:pt x="1393" y="1011"/>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body: human approval"/>
          <p:cNvSpPr txBox="1"/>
          <p:nvPr/>
        </p:nvSpPr>
        <p:spPr>
          <a:xfrm>
            <a:off x="4443984" y="3473958"/>
            <a:ext cx="2194560"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AE6B55"/>
                </a:solidFill>
                <a:latin typeface="Chalkboard SE"/>
              </a:rPr>
              <a:t>human approval</a:t>
            </a:r>
          </a:p>
        </p:txBody>
      </p:sp>
      <p:sp>
        <p:nvSpPr>
          <p:cNvPr id="111" name="Freeform 110"/>
          <p:cNvSpPr/>
          <p:nvPr/>
        </p:nvSpPr>
        <p:spPr>
          <a:xfrm>
            <a:off x="3502152" y="3673145"/>
            <a:ext cx="548640" cy="11887"/>
          </a:xfrm>
          <a:custGeom>
            <a:avLst/>
            <a:gdLst/>
            <a:ahLst/>
            <a:cxnLst/>
            <a:rect l="l" t="t" r="r" b="b"/>
            <a:pathLst>
              <a:path w="6000" h="130">
                <a:moveTo>
                  <a:pt x="6000" y="130"/>
                </a:moveTo>
                <a:lnTo>
                  <a:pt x="3000" y="0"/>
                </a:lnTo>
                <a:lnTo>
                  <a:pt x="0" y="13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3502152" y="3634831"/>
            <a:ext cx="81839" cy="50201"/>
          </a:xfrm>
          <a:custGeom>
            <a:avLst/>
            <a:gdLst/>
            <a:ahLst/>
            <a:cxnLst/>
            <a:rect l="l" t="t" r="r" b="b"/>
            <a:pathLst>
              <a:path w="895" h="549">
                <a:moveTo>
                  <a:pt x="895" y="0"/>
                </a:moveTo>
                <a:lnTo>
                  <a:pt x="0" y="549"/>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reeform 112"/>
          <p:cNvSpPr/>
          <p:nvPr/>
        </p:nvSpPr>
        <p:spPr>
          <a:xfrm>
            <a:off x="3502152" y="3685032"/>
            <a:ext cx="81839" cy="50201"/>
          </a:xfrm>
          <a:custGeom>
            <a:avLst/>
            <a:gdLst/>
            <a:ahLst/>
            <a:cxnLst/>
            <a:rect l="l" t="t" r="r" b="b"/>
            <a:pathLst>
              <a:path w="895" h="549">
                <a:moveTo>
                  <a:pt x="895" y="549"/>
                </a:moveTo>
                <a:lnTo>
                  <a:pt x="0" y="0"/>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640080" y="3182112"/>
            <a:ext cx="2706624" cy="1014984"/>
          </a:xfrm>
          <a:prstGeom prst="ellipse">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642092" y="3184215"/>
            <a:ext cx="2699400" cy="1009680"/>
          </a:xfrm>
          <a:custGeom>
            <a:avLst/>
            <a:gdLst/>
            <a:ahLst/>
            <a:cxnLst/>
            <a:rect l="l" t="t" r="r" b="b"/>
            <a:pathLst>
              <a:path w="29521" h="11042">
                <a:moveTo>
                  <a:pt x="29499" y="5448"/>
                </a:moveTo>
                <a:lnTo>
                  <a:pt x="29419" y="5900"/>
                </a:lnTo>
                <a:lnTo>
                  <a:pt x="29254" y="6054"/>
                </a:lnTo>
                <a:lnTo>
                  <a:pt x="29221" y="6259"/>
                </a:lnTo>
                <a:lnTo>
                  <a:pt x="29257" y="6691"/>
                </a:lnTo>
                <a:lnTo>
                  <a:pt x="28935" y="6911"/>
                </a:lnTo>
                <a:lnTo>
                  <a:pt x="28723" y="7286"/>
                </a:lnTo>
                <a:lnTo>
                  <a:pt x="28429" y="7400"/>
                </a:lnTo>
                <a:lnTo>
                  <a:pt x="28147" y="7798"/>
                </a:lnTo>
                <a:lnTo>
                  <a:pt x="27857" y="8093"/>
                </a:lnTo>
                <a:lnTo>
                  <a:pt x="27565" y="8125"/>
                </a:lnTo>
                <a:lnTo>
                  <a:pt x="27120" y="8450"/>
                </a:lnTo>
                <a:lnTo>
                  <a:pt x="26654" y="8699"/>
                </a:lnTo>
                <a:lnTo>
                  <a:pt x="26069" y="8869"/>
                </a:lnTo>
                <a:lnTo>
                  <a:pt x="25755" y="9220"/>
                </a:lnTo>
                <a:lnTo>
                  <a:pt x="25145" y="9324"/>
                </a:lnTo>
                <a:lnTo>
                  <a:pt x="24572" y="9501"/>
                </a:lnTo>
                <a:lnTo>
                  <a:pt x="23897" y="9699"/>
                </a:lnTo>
                <a:lnTo>
                  <a:pt x="23429" y="9841"/>
                </a:lnTo>
                <a:lnTo>
                  <a:pt x="22887" y="10037"/>
                </a:lnTo>
                <a:lnTo>
                  <a:pt x="22109" y="10125"/>
                </a:lnTo>
                <a:lnTo>
                  <a:pt x="21411" y="10430"/>
                </a:lnTo>
                <a:lnTo>
                  <a:pt x="20855" y="10402"/>
                </a:lnTo>
                <a:lnTo>
                  <a:pt x="20117" y="10657"/>
                </a:lnTo>
                <a:lnTo>
                  <a:pt x="19270" y="10713"/>
                </a:lnTo>
                <a:lnTo>
                  <a:pt x="18450" y="10860"/>
                </a:lnTo>
                <a:lnTo>
                  <a:pt x="17724" y="10903"/>
                </a:lnTo>
                <a:lnTo>
                  <a:pt x="17101" y="10993"/>
                </a:lnTo>
                <a:lnTo>
                  <a:pt x="16209" y="11042"/>
                </a:lnTo>
                <a:lnTo>
                  <a:pt x="15536" y="10947"/>
                </a:lnTo>
                <a:lnTo>
                  <a:pt x="14669" y="10936"/>
                </a:lnTo>
                <a:lnTo>
                  <a:pt x="13902" y="10888"/>
                </a:lnTo>
                <a:lnTo>
                  <a:pt x="13295" y="11008"/>
                </a:lnTo>
                <a:lnTo>
                  <a:pt x="12381" y="10842"/>
                </a:lnTo>
                <a:lnTo>
                  <a:pt x="11611" y="10896"/>
                </a:lnTo>
                <a:lnTo>
                  <a:pt x="10975" y="10692"/>
                </a:lnTo>
                <a:lnTo>
                  <a:pt x="10247" y="10704"/>
                </a:lnTo>
                <a:lnTo>
                  <a:pt x="9425" y="10568"/>
                </a:lnTo>
                <a:lnTo>
                  <a:pt x="8863" y="10469"/>
                </a:lnTo>
                <a:lnTo>
                  <a:pt x="8012" y="10451"/>
                </a:lnTo>
                <a:lnTo>
                  <a:pt x="7315" y="10342"/>
                </a:lnTo>
                <a:lnTo>
                  <a:pt x="6822" y="10142"/>
                </a:lnTo>
                <a:lnTo>
                  <a:pt x="6026" y="9937"/>
                </a:lnTo>
                <a:lnTo>
                  <a:pt x="5631" y="9642"/>
                </a:lnTo>
                <a:lnTo>
                  <a:pt x="5012" y="9444"/>
                </a:lnTo>
                <a:lnTo>
                  <a:pt x="4513" y="9357"/>
                </a:lnTo>
                <a:lnTo>
                  <a:pt x="3844" y="9182"/>
                </a:lnTo>
                <a:lnTo>
                  <a:pt x="3354" y="8891"/>
                </a:lnTo>
                <a:lnTo>
                  <a:pt x="2868" y="8711"/>
                </a:lnTo>
                <a:lnTo>
                  <a:pt x="2442" y="8517"/>
                </a:lnTo>
                <a:lnTo>
                  <a:pt x="2093" y="8201"/>
                </a:lnTo>
                <a:lnTo>
                  <a:pt x="1643" y="7897"/>
                </a:lnTo>
                <a:lnTo>
                  <a:pt x="1237" y="7734"/>
                </a:lnTo>
                <a:lnTo>
                  <a:pt x="962" y="7516"/>
                </a:lnTo>
                <a:lnTo>
                  <a:pt x="855" y="7188"/>
                </a:lnTo>
                <a:lnTo>
                  <a:pt x="630" y="6903"/>
                </a:lnTo>
                <a:lnTo>
                  <a:pt x="518" y="6647"/>
                </a:lnTo>
                <a:lnTo>
                  <a:pt x="351" y="6277"/>
                </a:lnTo>
                <a:lnTo>
                  <a:pt x="261" y="6142"/>
                </a:lnTo>
                <a:lnTo>
                  <a:pt x="220" y="5714"/>
                </a:lnTo>
                <a:lnTo>
                  <a:pt x="0" y="5529"/>
                </a:lnTo>
                <a:lnTo>
                  <a:pt x="177" y="5175"/>
                </a:lnTo>
                <a:lnTo>
                  <a:pt x="78" y="4984"/>
                </a:lnTo>
                <a:lnTo>
                  <a:pt x="341" y="4560"/>
                </a:lnTo>
                <a:lnTo>
                  <a:pt x="354" y="4368"/>
                </a:lnTo>
                <a:lnTo>
                  <a:pt x="654" y="4103"/>
                </a:lnTo>
                <a:lnTo>
                  <a:pt x="888" y="3925"/>
                </a:lnTo>
                <a:lnTo>
                  <a:pt x="1011" y="3541"/>
                </a:lnTo>
                <a:lnTo>
                  <a:pt x="1403" y="3400"/>
                </a:lnTo>
                <a:lnTo>
                  <a:pt x="1652" y="3029"/>
                </a:lnTo>
                <a:lnTo>
                  <a:pt x="2117" y="2805"/>
                </a:lnTo>
                <a:lnTo>
                  <a:pt x="2378" y="2630"/>
                </a:lnTo>
                <a:lnTo>
                  <a:pt x="2896" y="2223"/>
                </a:lnTo>
                <a:lnTo>
                  <a:pt x="3477" y="2229"/>
                </a:lnTo>
                <a:lnTo>
                  <a:pt x="3909" y="1943"/>
                </a:lnTo>
                <a:lnTo>
                  <a:pt x="4380" y="1707"/>
                </a:lnTo>
                <a:lnTo>
                  <a:pt x="4841" y="1515"/>
                </a:lnTo>
                <a:lnTo>
                  <a:pt x="5410" y="1227"/>
                </a:lnTo>
                <a:lnTo>
                  <a:pt x="6204" y="1037"/>
                </a:lnTo>
                <a:lnTo>
                  <a:pt x="6775" y="951"/>
                </a:lnTo>
                <a:lnTo>
                  <a:pt x="7402" y="879"/>
                </a:lnTo>
                <a:lnTo>
                  <a:pt x="8122" y="751"/>
                </a:lnTo>
                <a:lnTo>
                  <a:pt x="8818" y="596"/>
                </a:lnTo>
                <a:lnTo>
                  <a:pt x="9622" y="467"/>
                </a:lnTo>
                <a:lnTo>
                  <a:pt x="10257" y="305"/>
                </a:lnTo>
                <a:lnTo>
                  <a:pt x="10940" y="231"/>
                </a:lnTo>
                <a:lnTo>
                  <a:pt x="11812" y="134"/>
                </a:lnTo>
                <a:lnTo>
                  <a:pt x="12609" y="57"/>
                </a:lnTo>
                <a:lnTo>
                  <a:pt x="13357" y="180"/>
                </a:lnTo>
                <a:lnTo>
                  <a:pt x="13912" y="0"/>
                </a:lnTo>
                <a:lnTo>
                  <a:pt x="14735" y="99"/>
                </a:lnTo>
                <a:lnTo>
                  <a:pt x="15613" y="209"/>
                </a:lnTo>
                <a:lnTo>
                  <a:pt x="16348" y="126"/>
                </a:lnTo>
                <a:lnTo>
                  <a:pt x="17154" y="110"/>
                </a:lnTo>
                <a:lnTo>
                  <a:pt x="17772" y="125"/>
                </a:lnTo>
                <a:lnTo>
                  <a:pt x="18677" y="280"/>
                </a:lnTo>
                <a:lnTo>
                  <a:pt x="19417" y="255"/>
                </a:lnTo>
                <a:lnTo>
                  <a:pt x="20164" y="348"/>
                </a:lnTo>
                <a:lnTo>
                  <a:pt x="20690" y="559"/>
                </a:lnTo>
                <a:lnTo>
                  <a:pt x="21423" y="693"/>
                </a:lnTo>
                <a:lnTo>
                  <a:pt x="22121" y="886"/>
                </a:lnTo>
                <a:lnTo>
                  <a:pt x="22685" y="1055"/>
                </a:lnTo>
                <a:lnTo>
                  <a:pt x="23520" y="1078"/>
                </a:lnTo>
                <a:lnTo>
                  <a:pt x="23968" y="1379"/>
                </a:lnTo>
                <a:lnTo>
                  <a:pt x="24550" y="1520"/>
                </a:lnTo>
                <a:lnTo>
                  <a:pt x="25123" y="1674"/>
                </a:lnTo>
                <a:lnTo>
                  <a:pt x="25806" y="1796"/>
                </a:lnTo>
                <a:lnTo>
                  <a:pt x="26083" y="2108"/>
                </a:lnTo>
                <a:lnTo>
                  <a:pt x="26727" y="2430"/>
                </a:lnTo>
                <a:lnTo>
                  <a:pt x="27031" y="2544"/>
                </a:lnTo>
                <a:lnTo>
                  <a:pt x="27579" y="2846"/>
                </a:lnTo>
                <a:lnTo>
                  <a:pt x="27988" y="3104"/>
                </a:lnTo>
                <a:lnTo>
                  <a:pt x="28209" y="3203"/>
                </a:lnTo>
                <a:lnTo>
                  <a:pt x="28529" y="3647"/>
                </a:lnTo>
                <a:lnTo>
                  <a:pt x="28809" y="3912"/>
                </a:lnTo>
                <a:lnTo>
                  <a:pt x="28996" y="4130"/>
                </a:lnTo>
                <a:lnTo>
                  <a:pt x="29215" y="4419"/>
                </a:lnTo>
                <a:lnTo>
                  <a:pt x="29274" y="4754"/>
                </a:lnTo>
                <a:lnTo>
                  <a:pt x="29357" y="4850"/>
                </a:lnTo>
                <a:lnTo>
                  <a:pt x="29521" y="5224"/>
                </a:lnTo>
                <a:lnTo>
                  <a:pt x="29502" y="5545"/>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643189" y="3184124"/>
            <a:ext cx="2696383" cy="1011966"/>
          </a:xfrm>
          <a:custGeom>
            <a:avLst/>
            <a:gdLst/>
            <a:ahLst/>
            <a:cxnLst/>
            <a:rect l="l" t="t" r="r" b="b"/>
            <a:pathLst>
              <a:path w="29488" h="11067">
                <a:moveTo>
                  <a:pt x="29380" y="5558"/>
                </a:moveTo>
                <a:lnTo>
                  <a:pt x="29356" y="5861"/>
                </a:lnTo>
                <a:lnTo>
                  <a:pt x="29413" y="6128"/>
                </a:lnTo>
                <a:lnTo>
                  <a:pt x="29321" y="6403"/>
                </a:lnTo>
                <a:lnTo>
                  <a:pt x="29015" y="6620"/>
                </a:lnTo>
                <a:lnTo>
                  <a:pt x="29003" y="7023"/>
                </a:lnTo>
                <a:lnTo>
                  <a:pt x="28787" y="7168"/>
                </a:lnTo>
                <a:lnTo>
                  <a:pt x="28403" y="7490"/>
                </a:lnTo>
                <a:lnTo>
                  <a:pt x="28139" y="7816"/>
                </a:lnTo>
                <a:lnTo>
                  <a:pt x="27910" y="7987"/>
                </a:lnTo>
                <a:lnTo>
                  <a:pt x="27421" y="8171"/>
                </a:lnTo>
                <a:lnTo>
                  <a:pt x="27167" y="8389"/>
                </a:lnTo>
                <a:lnTo>
                  <a:pt x="26637" y="8624"/>
                </a:lnTo>
                <a:lnTo>
                  <a:pt x="26226" y="8967"/>
                </a:lnTo>
                <a:lnTo>
                  <a:pt x="25726" y="9205"/>
                </a:lnTo>
                <a:lnTo>
                  <a:pt x="25261" y="9348"/>
                </a:lnTo>
                <a:lnTo>
                  <a:pt x="24502" y="9643"/>
                </a:lnTo>
                <a:lnTo>
                  <a:pt x="24047" y="9709"/>
                </a:lnTo>
                <a:lnTo>
                  <a:pt x="23474" y="10029"/>
                </a:lnTo>
                <a:lnTo>
                  <a:pt x="22829" y="10140"/>
                </a:lnTo>
                <a:lnTo>
                  <a:pt x="22229" y="10189"/>
                </a:lnTo>
                <a:lnTo>
                  <a:pt x="21542" y="10277"/>
                </a:lnTo>
                <a:lnTo>
                  <a:pt x="20797" y="10545"/>
                </a:lnTo>
                <a:lnTo>
                  <a:pt x="20091" y="10538"/>
                </a:lnTo>
                <a:lnTo>
                  <a:pt x="19200" y="10684"/>
                </a:lnTo>
                <a:lnTo>
                  <a:pt x="18441" y="10657"/>
                </a:lnTo>
                <a:lnTo>
                  <a:pt x="17699" y="10957"/>
                </a:lnTo>
                <a:lnTo>
                  <a:pt x="16979" y="10789"/>
                </a:lnTo>
                <a:lnTo>
                  <a:pt x="16182" y="10962"/>
                </a:lnTo>
                <a:lnTo>
                  <a:pt x="15555" y="10842"/>
                </a:lnTo>
                <a:lnTo>
                  <a:pt x="14819" y="10839"/>
                </a:lnTo>
                <a:lnTo>
                  <a:pt x="14095" y="11067"/>
                </a:lnTo>
                <a:lnTo>
                  <a:pt x="13155" y="10932"/>
                </a:lnTo>
                <a:lnTo>
                  <a:pt x="12345" y="10956"/>
                </a:lnTo>
                <a:lnTo>
                  <a:pt x="11651" y="10832"/>
                </a:lnTo>
                <a:lnTo>
                  <a:pt x="11012" y="10877"/>
                </a:lnTo>
                <a:lnTo>
                  <a:pt x="10252" y="10624"/>
                </a:lnTo>
                <a:lnTo>
                  <a:pt x="9601" y="10542"/>
                </a:lnTo>
                <a:lnTo>
                  <a:pt x="8841" y="10409"/>
                </a:lnTo>
                <a:lnTo>
                  <a:pt x="8128" y="10263"/>
                </a:lnTo>
                <a:lnTo>
                  <a:pt x="7479" y="10320"/>
                </a:lnTo>
                <a:lnTo>
                  <a:pt x="6654" y="10075"/>
                </a:lnTo>
                <a:lnTo>
                  <a:pt x="6065" y="9921"/>
                </a:lnTo>
                <a:lnTo>
                  <a:pt x="5430" y="9632"/>
                </a:lnTo>
                <a:lnTo>
                  <a:pt x="4916" y="9665"/>
                </a:lnTo>
                <a:lnTo>
                  <a:pt x="4289" y="9310"/>
                </a:lnTo>
                <a:lnTo>
                  <a:pt x="3769" y="9264"/>
                </a:lnTo>
                <a:lnTo>
                  <a:pt x="3299" y="8987"/>
                </a:lnTo>
                <a:lnTo>
                  <a:pt x="2936" y="8712"/>
                </a:lnTo>
                <a:lnTo>
                  <a:pt x="2435" y="8402"/>
                </a:lnTo>
                <a:lnTo>
                  <a:pt x="2141" y="8127"/>
                </a:lnTo>
                <a:lnTo>
                  <a:pt x="1762" y="7939"/>
                </a:lnTo>
                <a:lnTo>
                  <a:pt x="1271" y="7728"/>
                </a:lnTo>
                <a:lnTo>
                  <a:pt x="950" y="7558"/>
                </a:lnTo>
                <a:lnTo>
                  <a:pt x="793" y="7091"/>
                </a:lnTo>
                <a:lnTo>
                  <a:pt x="612" y="6873"/>
                </a:lnTo>
                <a:lnTo>
                  <a:pt x="514" y="6577"/>
                </a:lnTo>
                <a:lnTo>
                  <a:pt x="348" y="6263"/>
                </a:lnTo>
                <a:lnTo>
                  <a:pt x="176" y="6054"/>
                </a:lnTo>
                <a:lnTo>
                  <a:pt x="0" y="5903"/>
                </a:lnTo>
                <a:lnTo>
                  <a:pt x="42" y="5560"/>
                </a:lnTo>
                <a:lnTo>
                  <a:pt x="42" y="5258"/>
                </a:lnTo>
                <a:lnTo>
                  <a:pt x="158" y="5041"/>
                </a:lnTo>
                <a:lnTo>
                  <a:pt x="276" y="4609"/>
                </a:lnTo>
                <a:lnTo>
                  <a:pt x="515" y="4452"/>
                </a:lnTo>
                <a:lnTo>
                  <a:pt x="468" y="4215"/>
                </a:lnTo>
                <a:lnTo>
                  <a:pt x="838" y="3743"/>
                </a:lnTo>
                <a:lnTo>
                  <a:pt x="980" y="3565"/>
                </a:lnTo>
                <a:lnTo>
                  <a:pt x="1277" y="3334"/>
                </a:lnTo>
                <a:lnTo>
                  <a:pt x="1670" y="3170"/>
                </a:lnTo>
                <a:lnTo>
                  <a:pt x="1955" y="2757"/>
                </a:lnTo>
                <a:lnTo>
                  <a:pt x="2348" y="2577"/>
                </a:lnTo>
                <a:lnTo>
                  <a:pt x="2914" y="2420"/>
                </a:lnTo>
                <a:lnTo>
                  <a:pt x="3351" y="2154"/>
                </a:lnTo>
                <a:lnTo>
                  <a:pt x="3740" y="1786"/>
                </a:lnTo>
                <a:lnTo>
                  <a:pt x="4357" y="1703"/>
                </a:lnTo>
                <a:lnTo>
                  <a:pt x="4903" y="1570"/>
                </a:lnTo>
                <a:lnTo>
                  <a:pt x="5445" y="1192"/>
                </a:lnTo>
                <a:lnTo>
                  <a:pt x="6239" y="1192"/>
                </a:lnTo>
                <a:lnTo>
                  <a:pt x="6896" y="889"/>
                </a:lnTo>
                <a:lnTo>
                  <a:pt x="7506" y="893"/>
                </a:lnTo>
                <a:lnTo>
                  <a:pt x="8164" y="591"/>
                </a:lnTo>
                <a:lnTo>
                  <a:pt x="8915" y="535"/>
                </a:lnTo>
                <a:lnTo>
                  <a:pt x="9385" y="457"/>
                </a:lnTo>
                <a:lnTo>
                  <a:pt x="10223" y="295"/>
                </a:lnTo>
                <a:lnTo>
                  <a:pt x="10934" y="375"/>
                </a:lnTo>
                <a:lnTo>
                  <a:pt x="11713" y="156"/>
                </a:lnTo>
                <a:lnTo>
                  <a:pt x="12402" y="45"/>
                </a:lnTo>
                <a:lnTo>
                  <a:pt x="13253" y="222"/>
                </a:lnTo>
                <a:lnTo>
                  <a:pt x="13885" y="190"/>
                </a:lnTo>
                <a:lnTo>
                  <a:pt x="14872" y="0"/>
                </a:lnTo>
                <a:lnTo>
                  <a:pt x="15518" y="71"/>
                </a:lnTo>
                <a:lnTo>
                  <a:pt x="16240" y="94"/>
                </a:lnTo>
                <a:lnTo>
                  <a:pt x="17140" y="237"/>
                </a:lnTo>
                <a:lnTo>
                  <a:pt x="17773" y="317"/>
                </a:lnTo>
                <a:lnTo>
                  <a:pt x="18520" y="252"/>
                </a:lnTo>
                <a:lnTo>
                  <a:pt x="19315" y="424"/>
                </a:lnTo>
                <a:lnTo>
                  <a:pt x="19985" y="355"/>
                </a:lnTo>
                <a:lnTo>
                  <a:pt x="20622" y="671"/>
                </a:lnTo>
                <a:lnTo>
                  <a:pt x="21320" y="803"/>
                </a:lnTo>
                <a:lnTo>
                  <a:pt x="22152" y="741"/>
                </a:lnTo>
                <a:lnTo>
                  <a:pt x="22744" y="926"/>
                </a:lnTo>
                <a:lnTo>
                  <a:pt x="23463" y="1129"/>
                </a:lnTo>
                <a:lnTo>
                  <a:pt x="24021" y="1248"/>
                </a:lnTo>
                <a:lnTo>
                  <a:pt x="24486" y="1600"/>
                </a:lnTo>
                <a:lnTo>
                  <a:pt x="25019" y="1790"/>
                </a:lnTo>
                <a:lnTo>
                  <a:pt x="25734" y="2005"/>
                </a:lnTo>
                <a:lnTo>
                  <a:pt x="26259" y="2045"/>
                </a:lnTo>
                <a:lnTo>
                  <a:pt x="26586" y="2233"/>
                </a:lnTo>
                <a:lnTo>
                  <a:pt x="26959" y="2499"/>
                </a:lnTo>
                <a:lnTo>
                  <a:pt x="27537" y="2883"/>
                </a:lnTo>
                <a:lnTo>
                  <a:pt x="27911" y="2996"/>
                </a:lnTo>
                <a:lnTo>
                  <a:pt x="28136" y="3227"/>
                </a:lnTo>
                <a:lnTo>
                  <a:pt x="28568" y="3671"/>
                </a:lnTo>
                <a:lnTo>
                  <a:pt x="28609" y="3919"/>
                </a:lnTo>
                <a:lnTo>
                  <a:pt x="28901" y="4231"/>
                </a:lnTo>
                <a:lnTo>
                  <a:pt x="29161" y="4514"/>
                </a:lnTo>
                <a:lnTo>
                  <a:pt x="29182" y="4646"/>
                </a:lnTo>
                <a:lnTo>
                  <a:pt x="29241" y="5037"/>
                </a:lnTo>
                <a:lnTo>
                  <a:pt x="29488" y="5303"/>
                </a:lnTo>
                <a:lnTo>
                  <a:pt x="29480" y="5477"/>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3219694" y="3792840"/>
            <a:ext cx="86685" cy="98755"/>
          </a:xfrm>
          <a:custGeom>
            <a:avLst/>
            <a:gdLst/>
            <a:ahLst/>
            <a:cxnLst/>
            <a:rect l="l" t="t" r="r" b="b"/>
            <a:pathLst>
              <a:path w="948" h="1080">
                <a:moveTo>
                  <a:pt x="948" y="0"/>
                </a:moveTo>
                <a:lnTo>
                  <a:pt x="769" y="276"/>
                </a:lnTo>
                <a:lnTo>
                  <a:pt x="551" y="549"/>
                </a:lnTo>
                <a:lnTo>
                  <a:pt x="294" y="817"/>
                </a:lnTo>
                <a:lnTo>
                  <a:pt x="0" y="108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2474458" y="4106022"/>
            <a:ext cx="249997" cy="47092"/>
          </a:xfrm>
          <a:custGeom>
            <a:avLst/>
            <a:gdLst/>
            <a:ahLst/>
            <a:cxnLst/>
            <a:rect l="l" t="t" r="r" b="b"/>
            <a:pathLst>
              <a:path w="2734" h="515">
                <a:moveTo>
                  <a:pt x="2734" y="0"/>
                </a:moveTo>
                <a:lnTo>
                  <a:pt x="2079" y="149"/>
                </a:lnTo>
                <a:lnTo>
                  <a:pt x="1404" y="284"/>
                </a:lnTo>
                <a:lnTo>
                  <a:pt x="710" y="407"/>
                </a:lnTo>
                <a:lnTo>
                  <a:pt x="0" y="515"/>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Freeform 118"/>
          <p:cNvSpPr/>
          <p:nvPr/>
        </p:nvSpPr>
        <p:spPr>
          <a:xfrm>
            <a:off x="1447404" y="4143238"/>
            <a:ext cx="266913" cy="32004"/>
          </a:xfrm>
          <a:custGeom>
            <a:avLst/>
            <a:gdLst/>
            <a:ahLst/>
            <a:cxnLst/>
            <a:rect l="l" t="t" r="r" b="b"/>
            <a:pathLst>
              <a:path w="2919" h="350">
                <a:moveTo>
                  <a:pt x="2919" y="350"/>
                </a:moveTo>
                <a:lnTo>
                  <a:pt x="2172" y="284"/>
                </a:lnTo>
                <a:lnTo>
                  <a:pt x="1435" y="203"/>
                </a:lnTo>
                <a:lnTo>
                  <a:pt x="710" y="108"/>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740207" y="3867546"/>
            <a:ext cx="127376" cy="92446"/>
          </a:xfrm>
          <a:custGeom>
            <a:avLst/>
            <a:gdLst/>
            <a:ahLst/>
            <a:cxnLst/>
            <a:rect l="l" t="t" r="r" b="b"/>
            <a:pathLst>
              <a:path w="1393" h="1011">
                <a:moveTo>
                  <a:pt x="1393" y="1011"/>
                </a:moveTo>
                <a:lnTo>
                  <a:pt x="992" y="769"/>
                </a:lnTo>
                <a:lnTo>
                  <a:pt x="625" y="519"/>
                </a:lnTo>
                <a:lnTo>
                  <a:pt x="294" y="263"/>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680405" y="3487613"/>
            <a:ext cx="86685" cy="98755"/>
          </a:xfrm>
          <a:custGeom>
            <a:avLst/>
            <a:gdLst/>
            <a:ahLst/>
            <a:cxnLst/>
            <a:rect l="l" t="t" r="r" b="b"/>
            <a:pathLst>
              <a:path w="948" h="1080">
                <a:moveTo>
                  <a:pt x="0" y="1080"/>
                </a:moveTo>
                <a:lnTo>
                  <a:pt x="179" y="804"/>
                </a:lnTo>
                <a:lnTo>
                  <a:pt x="397" y="531"/>
                </a:lnTo>
                <a:lnTo>
                  <a:pt x="654" y="263"/>
                </a:lnTo>
                <a:lnTo>
                  <a:pt x="948"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1262329" y="3226095"/>
            <a:ext cx="249997" cy="47092"/>
          </a:xfrm>
          <a:custGeom>
            <a:avLst/>
            <a:gdLst/>
            <a:ahLst/>
            <a:cxnLst/>
            <a:rect l="l" t="t" r="r" b="b"/>
            <a:pathLst>
              <a:path w="2734" h="515">
                <a:moveTo>
                  <a:pt x="0" y="515"/>
                </a:moveTo>
                <a:lnTo>
                  <a:pt x="655" y="366"/>
                </a:lnTo>
                <a:lnTo>
                  <a:pt x="1330" y="231"/>
                </a:lnTo>
                <a:lnTo>
                  <a:pt x="2024" y="108"/>
                </a:lnTo>
                <a:lnTo>
                  <a:pt x="2734"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Freeform 122"/>
          <p:cNvSpPr/>
          <p:nvPr/>
        </p:nvSpPr>
        <p:spPr>
          <a:xfrm>
            <a:off x="2272467" y="3203966"/>
            <a:ext cx="266913" cy="32004"/>
          </a:xfrm>
          <a:custGeom>
            <a:avLst/>
            <a:gdLst/>
            <a:ahLst/>
            <a:cxnLst/>
            <a:rect l="l" t="t" r="r" b="b"/>
            <a:pathLst>
              <a:path w="2919" h="350">
                <a:moveTo>
                  <a:pt x="0" y="0"/>
                </a:moveTo>
                <a:lnTo>
                  <a:pt x="747" y="66"/>
                </a:lnTo>
                <a:lnTo>
                  <a:pt x="1484" y="147"/>
                </a:lnTo>
                <a:lnTo>
                  <a:pt x="2209" y="242"/>
                </a:lnTo>
                <a:lnTo>
                  <a:pt x="2919" y="35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3119201" y="3419216"/>
            <a:ext cx="127376" cy="92446"/>
          </a:xfrm>
          <a:custGeom>
            <a:avLst/>
            <a:gdLst/>
            <a:ahLst/>
            <a:cxnLst/>
            <a:rect l="l" t="t" r="r" b="b"/>
            <a:pathLst>
              <a:path w="1393" h="1011">
                <a:moveTo>
                  <a:pt x="0" y="0"/>
                </a:moveTo>
                <a:lnTo>
                  <a:pt x="401" y="242"/>
                </a:lnTo>
                <a:lnTo>
                  <a:pt x="768" y="492"/>
                </a:lnTo>
                <a:lnTo>
                  <a:pt x="1099" y="748"/>
                </a:lnTo>
                <a:lnTo>
                  <a:pt x="1393" y="1011"/>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body: release vN"/>
          <p:cNvSpPr txBox="1"/>
          <p:nvPr/>
        </p:nvSpPr>
        <p:spPr>
          <a:xfrm>
            <a:off x="896112" y="3473958"/>
            <a:ext cx="2194560"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557B65"/>
                </a:solidFill>
                <a:latin typeface="Chalkboard SE"/>
              </a:rPr>
              <a:t>release vN</a:t>
            </a:r>
          </a:p>
        </p:txBody>
      </p:sp>
      <p:sp>
        <p:nvSpPr>
          <p:cNvPr id="126" name="Freeform 125"/>
          <p:cNvSpPr/>
          <p:nvPr/>
        </p:nvSpPr>
        <p:spPr>
          <a:xfrm>
            <a:off x="13112496" y="2852928"/>
            <a:ext cx="183" cy="228600"/>
          </a:xfrm>
          <a:custGeom>
            <a:avLst/>
            <a:gdLst/>
            <a:ahLst/>
            <a:cxnLst/>
            <a:rect l="l" t="t" r="r" b="b"/>
            <a:pathLst>
              <a:path w="2" h="2500">
                <a:moveTo>
                  <a:pt x="0" y="0"/>
                </a:moveTo>
                <a:lnTo>
                  <a:pt x="0" y="1120"/>
                </a:lnTo>
                <a:lnTo>
                  <a:pt x="2" y="2500"/>
                </a:lnTo>
              </a:path>
            </a:pathLst>
          </a:custGeom>
          <a:noFill/>
          <a:ln w="22225" cap="rnd">
            <a:solidFill>
              <a:srgbClr val="4E7892">
                <a:alpha val="8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13062295" y="2999689"/>
            <a:ext cx="50201" cy="81839"/>
          </a:xfrm>
          <a:custGeom>
            <a:avLst/>
            <a:gdLst/>
            <a:ahLst/>
            <a:cxnLst/>
            <a:rect l="l" t="t" r="r" b="b"/>
            <a:pathLst>
              <a:path w="549" h="895">
                <a:moveTo>
                  <a:pt x="0" y="0"/>
                </a:moveTo>
                <a:lnTo>
                  <a:pt x="549" y="895"/>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Freeform 127"/>
          <p:cNvSpPr/>
          <p:nvPr/>
        </p:nvSpPr>
        <p:spPr>
          <a:xfrm>
            <a:off x="13112496" y="2999689"/>
            <a:ext cx="50201" cy="81839"/>
          </a:xfrm>
          <a:custGeom>
            <a:avLst/>
            <a:gdLst/>
            <a:ahLst/>
            <a:cxnLst/>
            <a:rect l="l" t="t" r="r" b="b"/>
            <a:pathLst>
              <a:path w="549" h="895">
                <a:moveTo>
                  <a:pt x="549" y="0"/>
                </a:moveTo>
                <a:lnTo>
                  <a:pt x="0" y="895"/>
                </a:lnTo>
              </a:path>
            </a:pathLst>
          </a:custGeom>
          <a:noFill/>
          <a:ln w="19050" cap="rnd">
            <a:solidFill>
              <a:srgbClr val="4E78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019556" y="498246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body: A release ships clauses, monitor rules, the eval pack and eviden"/>
          <p:cNvSpPr txBox="1"/>
          <p:nvPr/>
        </p:nvSpPr>
        <p:spPr>
          <a:xfrm>
            <a:off x="1252728" y="4881880"/>
            <a:ext cx="12371832"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A release ships clauses, monitor rules, the eval pack and evidence per change</a:t>
            </a:r>
          </a:p>
        </p:txBody>
      </p:sp>
      <p:sp>
        <p:nvSpPr>
          <p:cNvPr id="131" name="Oval 130"/>
          <p:cNvSpPr/>
          <p:nvPr/>
        </p:nvSpPr>
        <p:spPr>
          <a:xfrm>
            <a:off x="1019556" y="558876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body: Gate: every grade-A case replays without a new incident; refusal"/>
          <p:cNvSpPr txBox="1"/>
          <p:nvPr/>
        </p:nvSpPr>
        <p:spPr>
          <a:xfrm>
            <a:off x="1252728" y="5488177"/>
            <a:ext cx="12371832"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Gate: every grade-A case replays without a new incident; refusals stay under the limit</a:t>
            </a:r>
          </a:p>
        </p:txBody>
      </p:sp>
      <p:sp>
        <p:nvSpPr>
          <p:cNvPr id="133" name="Oval 132"/>
          <p:cNvSpPr/>
          <p:nvPr/>
        </p:nvSpPr>
        <p:spPr>
          <a:xfrm>
            <a:off x="1019556" y="619505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body: Nothing auto-deploys; a human approves"/>
          <p:cNvSpPr txBox="1"/>
          <p:nvPr/>
        </p:nvSpPr>
        <p:spPr>
          <a:xfrm>
            <a:off x="1252728" y="6094475"/>
            <a:ext cx="12371832"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Nothing auto-deploys; a human approves</a:t>
            </a:r>
          </a:p>
        </p:txBody>
      </p:sp>
      <p:sp>
        <p:nvSpPr>
          <p:cNvPr id="135" name="Oval 134"/>
          <p:cNvSpPr/>
          <p:nvPr/>
        </p:nvSpPr>
        <p:spPr>
          <a:xfrm>
            <a:off x="1019556" y="6801357"/>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body: &quot;No eligible candidate&quot; is a valid, reported outcome"/>
          <p:cNvSpPr txBox="1"/>
          <p:nvPr/>
        </p:nvSpPr>
        <p:spPr>
          <a:xfrm>
            <a:off x="1252728" y="6700773"/>
            <a:ext cx="12371832"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"No eligible candidate" is a valid, reported outcome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5 · FEATURE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5 · FEATURES</a:t>
            </a:r>
          </a:p>
        </p:txBody>
      </p:sp>
      <p:sp>
        <p:nvSpPr>
          <p:cNvPr id="3" name="title: What makes this more than a prompt optimizer"/>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What makes this more than a prompt optimizer</a:t>
            </a:r>
          </a:p>
        </p:txBody>
      </p:sp>
      <p:sp>
        <p:nvSpPr>
          <p:cNvPr id="4" name="Freeform 3"/>
          <p:cNvSpPr/>
          <p:nvPr/>
        </p:nvSpPr>
        <p:spPr>
          <a:xfrm>
            <a:off x="6263640" y="1360993"/>
            <a:ext cx="2103120" cy="38953"/>
          </a:xfrm>
          <a:custGeom>
            <a:avLst/>
            <a:gdLst/>
            <a:ahLst/>
            <a:cxnLst/>
            <a:rect l="l" t="t" r="r" b="b"/>
            <a:pathLst>
              <a:path w="23000" h="426">
                <a:moveTo>
                  <a:pt x="0" y="197"/>
                </a:moveTo>
                <a:lnTo>
                  <a:pt x="958" y="365"/>
                </a:lnTo>
                <a:lnTo>
                  <a:pt x="1917" y="360"/>
                </a:lnTo>
                <a:lnTo>
                  <a:pt x="2875" y="276"/>
                </a:lnTo>
                <a:lnTo>
                  <a:pt x="3833" y="182"/>
                </a:lnTo>
                <a:lnTo>
                  <a:pt x="4792" y="99"/>
                </a:lnTo>
                <a:lnTo>
                  <a:pt x="5750" y="7"/>
                </a:lnTo>
                <a:lnTo>
                  <a:pt x="6708" y="171"/>
                </a:lnTo>
                <a:lnTo>
                  <a:pt x="7667" y="251"/>
                </a:lnTo>
                <a:lnTo>
                  <a:pt x="8625" y="304"/>
                </a:lnTo>
                <a:lnTo>
                  <a:pt x="9583" y="317"/>
                </a:lnTo>
                <a:lnTo>
                  <a:pt x="10542" y="318"/>
                </a:lnTo>
                <a:lnTo>
                  <a:pt x="11500" y="126"/>
                </a:lnTo>
                <a:lnTo>
                  <a:pt x="12458" y="6"/>
                </a:lnTo>
                <a:lnTo>
                  <a:pt x="13417" y="99"/>
                </a:lnTo>
                <a:lnTo>
                  <a:pt x="14375" y="187"/>
                </a:lnTo>
                <a:lnTo>
                  <a:pt x="15333" y="281"/>
                </a:lnTo>
                <a:lnTo>
                  <a:pt x="16292" y="385"/>
                </a:lnTo>
                <a:lnTo>
                  <a:pt x="17250" y="426"/>
                </a:lnTo>
                <a:lnTo>
                  <a:pt x="18208" y="321"/>
                </a:lnTo>
                <a:lnTo>
                  <a:pt x="19167" y="85"/>
                </a:lnTo>
                <a:lnTo>
                  <a:pt x="20125" y="104"/>
                </a:lnTo>
                <a:lnTo>
                  <a:pt x="21083" y="0"/>
                </a:lnTo>
                <a:lnTo>
                  <a:pt x="22042" y="183"/>
                </a:lnTo>
                <a:lnTo>
                  <a:pt x="23000" y="290"/>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7452"/>
            <a:ext cx="2103120" cy="38953"/>
          </a:xfrm>
          <a:custGeom>
            <a:avLst/>
            <a:gdLst/>
            <a:ahLst/>
            <a:cxnLst/>
            <a:rect l="l" t="t" r="r" b="b"/>
            <a:pathLst>
              <a:path w="23000" h="426">
                <a:moveTo>
                  <a:pt x="0" y="197"/>
                </a:moveTo>
                <a:lnTo>
                  <a:pt x="958" y="365"/>
                </a:lnTo>
                <a:lnTo>
                  <a:pt x="1917" y="360"/>
                </a:lnTo>
                <a:lnTo>
                  <a:pt x="2875" y="276"/>
                </a:lnTo>
                <a:lnTo>
                  <a:pt x="3833" y="182"/>
                </a:lnTo>
                <a:lnTo>
                  <a:pt x="4792" y="99"/>
                </a:lnTo>
                <a:lnTo>
                  <a:pt x="5750" y="7"/>
                </a:lnTo>
                <a:lnTo>
                  <a:pt x="6708" y="171"/>
                </a:lnTo>
                <a:lnTo>
                  <a:pt x="7667" y="251"/>
                </a:lnTo>
                <a:lnTo>
                  <a:pt x="8625" y="304"/>
                </a:lnTo>
                <a:lnTo>
                  <a:pt x="9583" y="317"/>
                </a:lnTo>
                <a:lnTo>
                  <a:pt x="10542" y="318"/>
                </a:lnTo>
                <a:lnTo>
                  <a:pt x="11500" y="126"/>
                </a:lnTo>
                <a:lnTo>
                  <a:pt x="12458" y="6"/>
                </a:lnTo>
                <a:lnTo>
                  <a:pt x="13417" y="99"/>
                </a:lnTo>
                <a:lnTo>
                  <a:pt x="14375" y="187"/>
                </a:lnTo>
                <a:lnTo>
                  <a:pt x="15333" y="281"/>
                </a:lnTo>
                <a:lnTo>
                  <a:pt x="16292" y="385"/>
                </a:lnTo>
                <a:lnTo>
                  <a:pt x="17250" y="426"/>
                </a:lnTo>
                <a:lnTo>
                  <a:pt x="18208" y="321"/>
                </a:lnTo>
                <a:lnTo>
                  <a:pt x="19167" y="85"/>
                </a:lnTo>
                <a:lnTo>
                  <a:pt x="20125" y="104"/>
                </a:lnTo>
                <a:lnTo>
                  <a:pt x="21083" y="0"/>
                </a:lnTo>
                <a:lnTo>
                  <a:pt x="22042" y="183"/>
                </a:lnTo>
                <a:lnTo>
                  <a:pt x="23000" y="290"/>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26"/>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26</a:t>
            </a:r>
          </a:p>
        </p:txBody>
      </p:sp>
      <p:sp>
        <p:nvSpPr>
          <p:cNvPr id="13" name="Rounded Rectangle 12"/>
          <p:cNvSpPr/>
          <p:nvPr/>
        </p:nvSpPr>
        <p:spPr>
          <a:xfrm>
            <a:off x="640080" y="1810512"/>
            <a:ext cx="3104388" cy="2715768"/>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40629" y="1821119"/>
            <a:ext cx="3102285" cy="2700772"/>
          </a:xfrm>
          <a:custGeom>
            <a:avLst/>
            <a:gdLst/>
            <a:ahLst/>
            <a:cxnLst/>
            <a:rect l="l" t="t" r="r" b="b"/>
            <a:pathLst>
              <a:path w="33927" h="29536">
                <a:moveTo>
                  <a:pt x="33899" y="14759"/>
                </a:moveTo>
                <a:lnTo>
                  <a:pt x="33708" y="19318"/>
                </a:lnTo>
                <a:lnTo>
                  <a:pt x="33758" y="20607"/>
                </a:lnTo>
                <a:lnTo>
                  <a:pt x="33858" y="21646"/>
                </a:lnTo>
                <a:lnTo>
                  <a:pt x="33684" y="22544"/>
                </a:lnTo>
                <a:lnTo>
                  <a:pt x="33575" y="23388"/>
                </a:lnTo>
                <a:lnTo>
                  <a:pt x="33598" y="23936"/>
                </a:lnTo>
                <a:lnTo>
                  <a:pt x="33426" y="24411"/>
                </a:lnTo>
                <a:lnTo>
                  <a:pt x="33195" y="25049"/>
                </a:lnTo>
                <a:lnTo>
                  <a:pt x="33113" y="25477"/>
                </a:lnTo>
                <a:lnTo>
                  <a:pt x="32843" y="25995"/>
                </a:lnTo>
                <a:lnTo>
                  <a:pt x="32715" y="26394"/>
                </a:lnTo>
                <a:lnTo>
                  <a:pt x="32402" y="26751"/>
                </a:lnTo>
                <a:lnTo>
                  <a:pt x="32326" y="26967"/>
                </a:lnTo>
                <a:lnTo>
                  <a:pt x="32038" y="27342"/>
                </a:lnTo>
                <a:lnTo>
                  <a:pt x="31574" y="27532"/>
                </a:lnTo>
                <a:lnTo>
                  <a:pt x="31376" y="27812"/>
                </a:lnTo>
                <a:lnTo>
                  <a:pt x="30909" y="28089"/>
                </a:lnTo>
                <a:lnTo>
                  <a:pt x="30596" y="28225"/>
                </a:lnTo>
                <a:lnTo>
                  <a:pt x="30187" y="28462"/>
                </a:lnTo>
                <a:lnTo>
                  <a:pt x="29738" y="28572"/>
                </a:lnTo>
                <a:lnTo>
                  <a:pt x="29156" y="28732"/>
                </a:lnTo>
                <a:lnTo>
                  <a:pt x="28622" y="28884"/>
                </a:lnTo>
                <a:lnTo>
                  <a:pt x="28187" y="29059"/>
                </a:lnTo>
                <a:lnTo>
                  <a:pt x="27554" y="29066"/>
                </a:lnTo>
                <a:lnTo>
                  <a:pt x="26722" y="29347"/>
                </a:lnTo>
                <a:lnTo>
                  <a:pt x="26081" y="29330"/>
                </a:lnTo>
                <a:lnTo>
                  <a:pt x="24986" y="29470"/>
                </a:lnTo>
                <a:lnTo>
                  <a:pt x="23875" y="29398"/>
                </a:lnTo>
                <a:lnTo>
                  <a:pt x="22115" y="29399"/>
                </a:lnTo>
                <a:lnTo>
                  <a:pt x="16959" y="29517"/>
                </a:lnTo>
                <a:lnTo>
                  <a:pt x="11781" y="29440"/>
                </a:lnTo>
                <a:lnTo>
                  <a:pt x="10097" y="29536"/>
                </a:lnTo>
                <a:lnTo>
                  <a:pt x="8893" y="29472"/>
                </a:lnTo>
                <a:lnTo>
                  <a:pt x="7922" y="29383"/>
                </a:lnTo>
                <a:lnTo>
                  <a:pt x="7210" y="29254"/>
                </a:lnTo>
                <a:lnTo>
                  <a:pt x="6539" y="29264"/>
                </a:lnTo>
                <a:lnTo>
                  <a:pt x="5850" y="28964"/>
                </a:lnTo>
                <a:lnTo>
                  <a:pt x="5181" y="29028"/>
                </a:lnTo>
                <a:lnTo>
                  <a:pt x="4751" y="28773"/>
                </a:lnTo>
                <a:lnTo>
                  <a:pt x="4083" y="28700"/>
                </a:lnTo>
                <a:lnTo>
                  <a:pt x="3675" y="28402"/>
                </a:lnTo>
                <a:lnTo>
                  <a:pt x="3291" y="28153"/>
                </a:lnTo>
                <a:lnTo>
                  <a:pt x="3054" y="27998"/>
                </a:lnTo>
                <a:lnTo>
                  <a:pt x="2630" y="27750"/>
                </a:lnTo>
                <a:lnTo>
                  <a:pt x="2282" y="27629"/>
                </a:lnTo>
                <a:lnTo>
                  <a:pt x="1896" y="27161"/>
                </a:lnTo>
                <a:lnTo>
                  <a:pt x="1842" y="26933"/>
                </a:lnTo>
                <a:lnTo>
                  <a:pt x="1376" y="26730"/>
                </a:lnTo>
                <a:lnTo>
                  <a:pt x="1272" y="26218"/>
                </a:lnTo>
                <a:lnTo>
                  <a:pt x="1024" y="25973"/>
                </a:lnTo>
                <a:lnTo>
                  <a:pt x="840" y="25446"/>
                </a:lnTo>
                <a:lnTo>
                  <a:pt x="618" y="25129"/>
                </a:lnTo>
                <a:lnTo>
                  <a:pt x="562" y="24445"/>
                </a:lnTo>
                <a:lnTo>
                  <a:pt x="561" y="23903"/>
                </a:lnTo>
                <a:lnTo>
                  <a:pt x="412" y="23357"/>
                </a:lnTo>
                <a:lnTo>
                  <a:pt x="137" y="22695"/>
                </a:lnTo>
                <a:lnTo>
                  <a:pt x="230" y="21753"/>
                </a:lnTo>
                <a:lnTo>
                  <a:pt x="31" y="20662"/>
                </a:lnTo>
                <a:lnTo>
                  <a:pt x="0" y="19369"/>
                </a:lnTo>
                <a:lnTo>
                  <a:pt x="96" y="14647"/>
                </a:lnTo>
                <a:lnTo>
                  <a:pt x="74" y="10311"/>
                </a:lnTo>
                <a:lnTo>
                  <a:pt x="269" y="8699"/>
                </a:lnTo>
                <a:lnTo>
                  <a:pt x="165" y="7735"/>
                </a:lnTo>
                <a:lnTo>
                  <a:pt x="298" y="6872"/>
                </a:lnTo>
                <a:lnTo>
                  <a:pt x="429" y="6095"/>
                </a:lnTo>
                <a:lnTo>
                  <a:pt x="402" y="5494"/>
                </a:lnTo>
                <a:lnTo>
                  <a:pt x="469" y="5055"/>
                </a:lnTo>
                <a:lnTo>
                  <a:pt x="636" y="4391"/>
                </a:lnTo>
                <a:lnTo>
                  <a:pt x="870" y="4087"/>
                </a:lnTo>
                <a:lnTo>
                  <a:pt x="1150" y="3653"/>
                </a:lnTo>
                <a:lnTo>
                  <a:pt x="1340" y="3223"/>
                </a:lnTo>
                <a:lnTo>
                  <a:pt x="1452" y="2939"/>
                </a:lnTo>
                <a:lnTo>
                  <a:pt x="1791" y="2408"/>
                </a:lnTo>
                <a:lnTo>
                  <a:pt x="2050" y="2273"/>
                </a:lnTo>
                <a:lnTo>
                  <a:pt x="2193" y="1992"/>
                </a:lnTo>
                <a:lnTo>
                  <a:pt x="2493" y="1679"/>
                </a:lnTo>
                <a:lnTo>
                  <a:pt x="2934" y="1517"/>
                </a:lnTo>
                <a:lnTo>
                  <a:pt x="3358" y="1215"/>
                </a:lnTo>
                <a:lnTo>
                  <a:pt x="3732" y="1116"/>
                </a:lnTo>
                <a:lnTo>
                  <a:pt x="4302" y="839"/>
                </a:lnTo>
                <a:lnTo>
                  <a:pt x="4672" y="620"/>
                </a:lnTo>
                <a:lnTo>
                  <a:pt x="5273" y="444"/>
                </a:lnTo>
                <a:lnTo>
                  <a:pt x="5904" y="355"/>
                </a:lnTo>
                <a:lnTo>
                  <a:pt x="6518" y="351"/>
                </a:lnTo>
                <a:lnTo>
                  <a:pt x="7100" y="271"/>
                </a:lnTo>
                <a:lnTo>
                  <a:pt x="7885" y="93"/>
                </a:lnTo>
                <a:lnTo>
                  <a:pt x="8951" y="141"/>
                </a:lnTo>
                <a:lnTo>
                  <a:pt x="10201" y="106"/>
                </a:lnTo>
                <a:lnTo>
                  <a:pt x="11753" y="42"/>
                </a:lnTo>
                <a:lnTo>
                  <a:pt x="17083" y="79"/>
                </a:lnTo>
                <a:lnTo>
                  <a:pt x="22067" y="60"/>
                </a:lnTo>
                <a:lnTo>
                  <a:pt x="23797" y="145"/>
                </a:lnTo>
                <a:lnTo>
                  <a:pt x="24954" y="0"/>
                </a:lnTo>
                <a:lnTo>
                  <a:pt x="26047" y="159"/>
                </a:lnTo>
                <a:lnTo>
                  <a:pt x="26697" y="100"/>
                </a:lnTo>
                <a:lnTo>
                  <a:pt x="27483" y="256"/>
                </a:lnTo>
                <a:lnTo>
                  <a:pt x="28076" y="515"/>
                </a:lnTo>
                <a:lnTo>
                  <a:pt x="28617" y="642"/>
                </a:lnTo>
                <a:lnTo>
                  <a:pt x="29287" y="569"/>
                </a:lnTo>
                <a:lnTo>
                  <a:pt x="29702" y="811"/>
                </a:lnTo>
                <a:lnTo>
                  <a:pt x="30106" y="1091"/>
                </a:lnTo>
                <a:lnTo>
                  <a:pt x="30488" y="1248"/>
                </a:lnTo>
                <a:lnTo>
                  <a:pt x="30876" y="1418"/>
                </a:lnTo>
                <a:lnTo>
                  <a:pt x="31432" y="1564"/>
                </a:lnTo>
                <a:lnTo>
                  <a:pt x="31585" y="1818"/>
                </a:lnTo>
                <a:lnTo>
                  <a:pt x="31981" y="2152"/>
                </a:lnTo>
                <a:lnTo>
                  <a:pt x="32199" y="2540"/>
                </a:lnTo>
                <a:lnTo>
                  <a:pt x="32450" y="2746"/>
                </a:lnTo>
                <a:lnTo>
                  <a:pt x="32647" y="3221"/>
                </a:lnTo>
                <a:lnTo>
                  <a:pt x="32958" y="3628"/>
                </a:lnTo>
                <a:lnTo>
                  <a:pt x="33176" y="4086"/>
                </a:lnTo>
                <a:lnTo>
                  <a:pt x="33106" y="4418"/>
                </a:lnTo>
                <a:lnTo>
                  <a:pt x="33474" y="5013"/>
                </a:lnTo>
                <a:lnTo>
                  <a:pt x="33566" y="5425"/>
                </a:lnTo>
                <a:lnTo>
                  <a:pt x="33466" y="6245"/>
                </a:lnTo>
                <a:lnTo>
                  <a:pt x="33801" y="6959"/>
                </a:lnTo>
                <a:lnTo>
                  <a:pt x="33810" y="7652"/>
                </a:lnTo>
                <a:lnTo>
                  <a:pt x="33738" y="8729"/>
                </a:lnTo>
                <a:lnTo>
                  <a:pt x="33927" y="10287"/>
                </a:lnTo>
                <a:lnTo>
                  <a:pt x="33768" y="14668"/>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644743" y="1811426"/>
            <a:ext cx="3096341" cy="2711105"/>
          </a:xfrm>
          <a:custGeom>
            <a:avLst/>
            <a:gdLst/>
            <a:ahLst/>
            <a:cxnLst/>
            <a:rect l="l" t="t" r="r" b="b"/>
            <a:pathLst>
              <a:path w="33862" h="29649">
                <a:moveTo>
                  <a:pt x="33670" y="14772"/>
                </a:moveTo>
                <a:lnTo>
                  <a:pt x="33829" y="19344"/>
                </a:lnTo>
                <a:lnTo>
                  <a:pt x="33862" y="20736"/>
                </a:lnTo>
                <a:lnTo>
                  <a:pt x="33669" y="21739"/>
                </a:lnTo>
                <a:lnTo>
                  <a:pt x="33711" y="22703"/>
                </a:lnTo>
                <a:lnTo>
                  <a:pt x="33655" y="23414"/>
                </a:lnTo>
                <a:lnTo>
                  <a:pt x="33348" y="24046"/>
                </a:lnTo>
                <a:lnTo>
                  <a:pt x="33253" y="24586"/>
                </a:lnTo>
                <a:lnTo>
                  <a:pt x="33127" y="25170"/>
                </a:lnTo>
                <a:lnTo>
                  <a:pt x="32914" y="25650"/>
                </a:lnTo>
                <a:lnTo>
                  <a:pt x="32941" y="26026"/>
                </a:lnTo>
                <a:lnTo>
                  <a:pt x="32631" y="26350"/>
                </a:lnTo>
                <a:lnTo>
                  <a:pt x="32331" y="26699"/>
                </a:lnTo>
                <a:lnTo>
                  <a:pt x="32211" y="27186"/>
                </a:lnTo>
                <a:lnTo>
                  <a:pt x="31789" y="27391"/>
                </a:lnTo>
                <a:lnTo>
                  <a:pt x="31575" y="27609"/>
                </a:lnTo>
                <a:lnTo>
                  <a:pt x="31195" y="27906"/>
                </a:lnTo>
                <a:lnTo>
                  <a:pt x="30843" y="28132"/>
                </a:lnTo>
                <a:lnTo>
                  <a:pt x="30477" y="28264"/>
                </a:lnTo>
                <a:lnTo>
                  <a:pt x="30141" y="28496"/>
                </a:lnTo>
                <a:lnTo>
                  <a:pt x="29701" y="28673"/>
                </a:lnTo>
                <a:lnTo>
                  <a:pt x="29130" y="29005"/>
                </a:lnTo>
                <a:lnTo>
                  <a:pt x="28679" y="29040"/>
                </a:lnTo>
                <a:lnTo>
                  <a:pt x="28066" y="29226"/>
                </a:lnTo>
                <a:lnTo>
                  <a:pt x="27581" y="29341"/>
                </a:lnTo>
                <a:lnTo>
                  <a:pt x="26619" y="29403"/>
                </a:lnTo>
                <a:lnTo>
                  <a:pt x="25886" y="29407"/>
                </a:lnTo>
                <a:lnTo>
                  <a:pt x="25043" y="29442"/>
                </a:lnTo>
                <a:lnTo>
                  <a:pt x="23678" y="29649"/>
                </a:lnTo>
                <a:lnTo>
                  <a:pt x="22047" y="29639"/>
                </a:lnTo>
                <a:lnTo>
                  <a:pt x="16969" y="29628"/>
                </a:lnTo>
                <a:lnTo>
                  <a:pt x="11867" y="29610"/>
                </a:lnTo>
                <a:lnTo>
                  <a:pt x="10029" y="29428"/>
                </a:lnTo>
                <a:lnTo>
                  <a:pt x="8854" y="29592"/>
                </a:lnTo>
                <a:lnTo>
                  <a:pt x="7962" y="29327"/>
                </a:lnTo>
                <a:lnTo>
                  <a:pt x="7118" y="29323"/>
                </a:lnTo>
                <a:lnTo>
                  <a:pt x="6437" y="29386"/>
                </a:lnTo>
                <a:lnTo>
                  <a:pt x="5803" y="29056"/>
                </a:lnTo>
                <a:lnTo>
                  <a:pt x="5218" y="29105"/>
                </a:lnTo>
                <a:lnTo>
                  <a:pt x="4652" y="28903"/>
                </a:lnTo>
                <a:lnTo>
                  <a:pt x="4082" y="28804"/>
                </a:lnTo>
                <a:lnTo>
                  <a:pt x="3660" y="28477"/>
                </a:lnTo>
                <a:lnTo>
                  <a:pt x="3237" y="28340"/>
                </a:lnTo>
                <a:lnTo>
                  <a:pt x="2987" y="28264"/>
                </a:lnTo>
                <a:lnTo>
                  <a:pt x="2528" y="27925"/>
                </a:lnTo>
                <a:lnTo>
                  <a:pt x="2298" y="27594"/>
                </a:lnTo>
                <a:lnTo>
                  <a:pt x="1881" y="27362"/>
                </a:lnTo>
                <a:lnTo>
                  <a:pt x="1801" y="27031"/>
                </a:lnTo>
                <a:lnTo>
                  <a:pt x="1331" y="26842"/>
                </a:lnTo>
                <a:lnTo>
                  <a:pt x="1203" y="26508"/>
                </a:lnTo>
                <a:lnTo>
                  <a:pt x="1121" y="26096"/>
                </a:lnTo>
                <a:lnTo>
                  <a:pt x="881" y="25505"/>
                </a:lnTo>
                <a:lnTo>
                  <a:pt x="681" y="25087"/>
                </a:lnTo>
                <a:lnTo>
                  <a:pt x="454" y="24531"/>
                </a:lnTo>
                <a:lnTo>
                  <a:pt x="417" y="24037"/>
                </a:lnTo>
                <a:lnTo>
                  <a:pt x="394" y="23314"/>
                </a:lnTo>
                <a:lnTo>
                  <a:pt x="259" y="22687"/>
                </a:lnTo>
                <a:lnTo>
                  <a:pt x="147" y="21934"/>
                </a:lnTo>
                <a:lnTo>
                  <a:pt x="191" y="20700"/>
                </a:lnTo>
                <a:lnTo>
                  <a:pt x="135" y="19310"/>
                </a:lnTo>
                <a:lnTo>
                  <a:pt x="90" y="14888"/>
                </a:lnTo>
                <a:lnTo>
                  <a:pt x="175" y="10424"/>
                </a:lnTo>
                <a:lnTo>
                  <a:pt x="0" y="8761"/>
                </a:lnTo>
                <a:lnTo>
                  <a:pt x="71" y="7792"/>
                </a:lnTo>
                <a:lnTo>
                  <a:pt x="334" y="6908"/>
                </a:lnTo>
                <a:lnTo>
                  <a:pt x="402" y="6322"/>
                </a:lnTo>
                <a:lnTo>
                  <a:pt x="509" y="5698"/>
                </a:lnTo>
                <a:lnTo>
                  <a:pt x="436" y="5038"/>
                </a:lnTo>
                <a:lnTo>
                  <a:pt x="701" y="4541"/>
                </a:lnTo>
                <a:lnTo>
                  <a:pt x="797" y="4078"/>
                </a:lnTo>
                <a:lnTo>
                  <a:pt x="1089" y="3790"/>
                </a:lnTo>
                <a:lnTo>
                  <a:pt x="1208" y="3263"/>
                </a:lnTo>
                <a:lnTo>
                  <a:pt x="1396" y="2977"/>
                </a:lnTo>
                <a:lnTo>
                  <a:pt x="1690" y="2586"/>
                </a:lnTo>
                <a:lnTo>
                  <a:pt x="1833" y="2193"/>
                </a:lnTo>
                <a:lnTo>
                  <a:pt x="2138" y="2027"/>
                </a:lnTo>
                <a:lnTo>
                  <a:pt x="2698" y="1800"/>
                </a:lnTo>
                <a:lnTo>
                  <a:pt x="2904" y="1501"/>
                </a:lnTo>
                <a:lnTo>
                  <a:pt x="3411" y="1341"/>
                </a:lnTo>
                <a:lnTo>
                  <a:pt x="3792" y="1041"/>
                </a:lnTo>
                <a:lnTo>
                  <a:pt x="4152" y="848"/>
                </a:lnTo>
                <a:lnTo>
                  <a:pt x="4691" y="823"/>
                </a:lnTo>
                <a:lnTo>
                  <a:pt x="5246" y="626"/>
                </a:lnTo>
                <a:lnTo>
                  <a:pt x="5653" y="599"/>
                </a:lnTo>
                <a:lnTo>
                  <a:pt x="6327" y="314"/>
                </a:lnTo>
                <a:lnTo>
                  <a:pt x="7033" y="297"/>
                </a:lnTo>
                <a:lnTo>
                  <a:pt x="7969" y="141"/>
                </a:lnTo>
                <a:lnTo>
                  <a:pt x="8794" y="181"/>
                </a:lnTo>
                <a:lnTo>
                  <a:pt x="10071" y="123"/>
                </a:lnTo>
                <a:lnTo>
                  <a:pt x="11755" y="37"/>
                </a:lnTo>
                <a:lnTo>
                  <a:pt x="16949" y="73"/>
                </a:lnTo>
                <a:lnTo>
                  <a:pt x="21996" y="0"/>
                </a:lnTo>
                <a:lnTo>
                  <a:pt x="23745" y="196"/>
                </a:lnTo>
                <a:lnTo>
                  <a:pt x="24942" y="128"/>
                </a:lnTo>
                <a:lnTo>
                  <a:pt x="25946" y="241"/>
                </a:lnTo>
                <a:lnTo>
                  <a:pt x="26637" y="380"/>
                </a:lnTo>
                <a:lnTo>
                  <a:pt x="27504" y="329"/>
                </a:lnTo>
                <a:lnTo>
                  <a:pt x="28132" y="475"/>
                </a:lnTo>
                <a:lnTo>
                  <a:pt x="28592" y="527"/>
                </a:lnTo>
                <a:lnTo>
                  <a:pt x="29131" y="859"/>
                </a:lnTo>
                <a:lnTo>
                  <a:pt x="29618" y="868"/>
                </a:lnTo>
                <a:lnTo>
                  <a:pt x="30067" y="1178"/>
                </a:lnTo>
                <a:lnTo>
                  <a:pt x="30596" y="1277"/>
                </a:lnTo>
                <a:lnTo>
                  <a:pt x="30892" y="1450"/>
                </a:lnTo>
                <a:lnTo>
                  <a:pt x="31307" y="1728"/>
                </a:lnTo>
                <a:lnTo>
                  <a:pt x="31479" y="2025"/>
                </a:lnTo>
                <a:lnTo>
                  <a:pt x="31876" y="2328"/>
                </a:lnTo>
                <a:lnTo>
                  <a:pt x="32247" y="2694"/>
                </a:lnTo>
                <a:lnTo>
                  <a:pt x="32448" y="2880"/>
                </a:lnTo>
                <a:lnTo>
                  <a:pt x="32712" y="3299"/>
                </a:lnTo>
                <a:lnTo>
                  <a:pt x="32757" y="3614"/>
                </a:lnTo>
                <a:lnTo>
                  <a:pt x="32905" y="4139"/>
                </a:lnTo>
                <a:lnTo>
                  <a:pt x="33217" y="4645"/>
                </a:lnTo>
                <a:lnTo>
                  <a:pt x="33355" y="4973"/>
                </a:lnTo>
                <a:lnTo>
                  <a:pt x="33354" y="5679"/>
                </a:lnTo>
                <a:lnTo>
                  <a:pt x="33477" y="6279"/>
                </a:lnTo>
                <a:lnTo>
                  <a:pt x="33660" y="6957"/>
                </a:lnTo>
                <a:lnTo>
                  <a:pt x="33595" y="7773"/>
                </a:lnTo>
                <a:lnTo>
                  <a:pt x="33683" y="8910"/>
                </a:lnTo>
                <a:lnTo>
                  <a:pt x="33719" y="10255"/>
                </a:lnTo>
                <a:lnTo>
                  <a:pt x="33749" y="14846"/>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3678723" y="3887023"/>
            <a:ext cx="41239" cy="221193"/>
          </a:xfrm>
          <a:custGeom>
            <a:avLst/>
            <a:gdLst/>
            <a:ahLst/>
            <a:cxnLst/>
            <a:rect l="l" t="t" r="r" b="b"/>
            <a:pathLst>
              <a:path w="451" h="2419">
                <a:moveTo>
                  <a:pt x="451" y="0"/>
                </a:moveTo>
                <a:lnTo>
                  <a:pt x="367" y="719"/>
                </a:lnTo>
                <a:lnTo>
                  <a:pt x="264" y="1350"/>
                </a:lnTo>
                <a:lnTo>
                  <a:pt x="142" y="1912"/>
                </a:lnTo>
                <a:lnTo>
                  <a:pt x="0" y="241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214573" y="4423776"/>
            <a:ext cx="186355" cy="55047"/>
          </a:xfrm>
          <a:custGeom>
            <a:avLst/>
            <a:gdLst/>
            <a:ahLst/>
            <a:cxnLst/>
            <a:rect l="l" t="t" r="r" b="b"/>
            <a:pathLst>
              <a:path w="2038" h="602">
                <a:moveTo>
                  <a:pt x="2038" y="0"/>
                </a:moveTo>
                <a:lnTo>
                  <a:pt x="1594" y="177"/>
                </a:lnTo>
                <a:lnTo>
                  <a:pt x="1110" y="336"/>
                </a:lnTo>
                <a:lnTo>
                  <a:pt x="581" y="478"/>
                </a:lnTo>
                <a:lnTo>
                  <a:pt x="0" y="60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116848" y="4467484"/>
            <a:ext cx="253197" cy="35936"/>
          </a:xfrm>
          <a:custGeom>
            <a:avLst/>
            <a:gdLst/>
            <a:ahLst/>
            <a:cxnLst/>
            <a:rect l="l" t="t" r="r" b="b"/>
            <a:pathLst>
              <a:path w="2769" h="393">
                <a:moveTo>
                  <a:pt x="2769" y="393"/>
                </a:moveTo>
                <a:lnTo>
                  <a:pt x="1945" y="320"/>
                </a:lnTo>
                <a:lnTo>
                  <a:pt x="1224" y="230"/>
                </a:lnTo>
                <a:lnTo>
                  <a:pt x="581" y="124"/>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92841" y="4061856"/>
            <a:ext cx="62911" cy="162855"/>
          </a:xfrm>
          <a:custGeom>
            <a:avLst/>
            <a:gdLst/>
            <a:ahLst/>
            <a:cxnLst/>
            <a:rect l="l" t="t" r="r" b="b"/>
            <a:pathLst>
              <a:path w="688" h="1781">
                <a:moveTo>
                  <a:pt x="688" y="1781"/>
                </a:moveTo>
                <a:lnTo>
                  <a:pt x="485" y="1392"/>
                </a:lnTo>
                <a:lnTo>
                  <a:pt x="303" y="969"/>
                </a:lnTo>
                <a:lnTo>
                  <a:pt x="142" y="507"/>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664586" y="2228576"/>
            <a:ext cx="41239" cy="221193"/>
          </a:xfrm>
          <a:custGeom>
            <a:avLst/>
            <a:gdLst/>
            <a:ahLst/>
            <a:cxnLst/>
            <a:rect l="l" t="t" r="r" b="b"/>
            <a:pathLst>
              <a:path w="451" h="2419">
                <a:moveTo>
                  <a:pt x="0" y="2419"/>
                </a:moveTo>
                <a:lnTo>
                  <a:pt x="84" y="1700"/>
                </a:lnTo>
                <a:lnTo>
                  <a:pt x="187" y="1069"/>
                </a:lnTo>
                <a:lnTo>
                  <a:pt x="309" y="507"/>
                </a:lnTo>
                <a:lnTo>
                  <a:pt x="451"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983620" y="1857969"/>
            <a:ext cx="186355" cy="55047"/>
          </a:xfrm>
          <a:custGeom>
            <a:avLst/>
            <a:gdLst/>
            <a:ahLst/>
            <a:cxnLst/>
            <a:rect l="l" t="t" r="r" b="b"/>
            <a:pathLst>
              <a:path w="2038" h="602">
                <a:moveTo>
                  <a:pt x="0" y="602"/>
                </a:moveTo>
                <a:lnTo>
                  <a:pt x="444" y="425"/>
                </a:lnTo>
                <a:lnTo>
                  <a:pt x="928" y="266"/>
                </a:lnTo>
                <a:lnTo>
                  <a:pt x="1457" y="124"/>
                </a:lnTo>
                <a:lnTo>
                  <a:pt x="203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3014502" y="1833372"/>
            <a:ext cx="253197" cy="35936"/>
          </a:xfrm>
          <a:custGeom>
            <a:avLst/>
            <a:gdLst/>
            <a:ahLst/>
            <a:cxnLst/>
            <a:rect l="l" t="t" r="r" b="b"/>
            <a:pathLst>
              <a:path w="2769" h="393">
                <a:moveTo>
                  <a:pt x="0" y="0"/>
                </a:moveTo>
                <a:lnTo>
                  <a:pt x="824" y="73"/>
                </a:lnTo>
                <a:lnTo>
                  <a:pt x="1545" y="163"/>
                </a:lnTo>
                <a:lnTo>
                  <a:pt x="2188" y="269"/>
                </a:lnTo>
                <a:lnTo>
                  <a:pt x="2769" y="393"/>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3628796" y="2112081"/>
            <a:ext cx="62911" cy="162855"/>
          </a:xfrm>
          <a:custGeom>
            <a:avLst/>
            <a:gdLst/>
            <a:ahLst/>
            <a:cxnLst/>
            <a:rect l="l" t="t" r="r" b="b"/>
            <a:pathLst>
              <a:path w="688" h="1781">
                <a:moveTo>
                  <a:pt x="0" y="0"/>
                </a:moveTo>
                <a:lnTo>
                  <a:pt x="203" y="389"/>
                </a:lnTo>
                <a:lnTo>
                  <a:pt x="385" y="812"/>
                </a:lnTo>
                <a:lnTo>
                  <a:pt x="546" y="1274"/>
                </a:lnTo>
                <a:lnTo>
                  <a:pt x="688" y="1781"/>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1"/>
          <p:cNvSpPr txBox="1"/>
          <p:nvPr/>
        </p:nvSpPr>
        <p:spPr>
          <a:xfrm>
            <a:off x="804671" y="1995995"/>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4E7892"/>
                </a:solidFill>
                <a:latin typeface="Trebuchet MS"/>
              </a:rPr>
              <a:t>1</a:t>
            </a:r>
          </a:p>
        </p:txBody>
      </p:sp>
      <p:sp>
        <p:nvSpPr>
          <p:cNvPr id="25" name="body: Time-split evaluation"/>
          <p:cNvSpPr txBox="1"/>
          <p:nvPr/>
        </p:nvSpPr>
        <p:spPr>
          <a:xfrm>
            <a:off x="1325880" y="1984248"/>
            <a:ext cx="1997964" cy="707644"/>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4E7892"/>
                </a:solidFill>
                <a:latin typeface="Chalkboard SE"/>
              </a:rPr>
              <a:t>Time-split</a:t>
            </a:r>
            <a:br/>
            <a:r>
              <a:rPr sz="1850" b="1">
                <a:solidFill>
                  <a:srgbClr val="4E7892"/>
                </a:solidFill>
                <a:latin typeface="Chalkboard SE"/>
              </a:rPr>
              <a:t>evaluation</a:t>
            </a:r>
          </a:p>
        </p:txBody>
      </p:sp>
      <p:sp>
        <p:nvSpPr>
          <p:cNvPr id="26" name="body: Tune on incidents before T; test on those after T."/>
          <p:cNvSpPr txBox="1"/>
          <p:nvPr/>
        </p:nvSpPr>
        <p:spPr>
          <a:xfrm>
            <a:off x="896112" y="3101403"/>
            <a:ext cx="2592324" cy="987932"/>
          </a:xfrm>
          <a:prstGeom prst="rect">
            <a:avLst/>
          </a:prstGeom>
          <a:noFill/>
        </p:spPr>
        <p:txBody>
          <a:bodyPr wrap="none" lIns="0" rIns="0" tIns="0" bIns="0" anchor="t">
            <a:noAutofit/>
          </a:bodyPr>
          <a:lstStyle/>
          <a:p>
            <a:pPr algn="ctr">
              <a:lnSpc>
                <a:spcPts val="2413"/>
              </a:lnSpc>
              <a:spcBef>
                <a:spcPts val="0"/>
              </a:spcBef>
              <a:spcAft>
                <a:spcPts val="0"/>
              </a:spcAft>
            </a:pPr>
            <a:r>
              <a:rPr sz="1900" b="0">
                <a:solidFill>
                  <a:srgbClr val="293E46"/>
                </a:solidFill>
                <a:latin typeface="Trebuchet MS"/>
              </a:rPr>
              <a:t>Tune on incidents</a:t>
            </a:r>
            <a:br/>
            <a:r>
              <a:rPr sz="1900" b="0">
                <a:solidFill>
                  <a:srgbClr val="293E46"/>
                </a:solidFill>
                <a:latin typeface="Trebuchet MS"/>
              </a:rPr>
              <a:t>before T; test on</a:t>
            </a:r>
            <a:br/>
            <a:r>
              <a:rPr sz="1900" b="0">
                <a:solidFill>
                  <a:srgbClr val="293E46"/>
                </a:solidFill>
                <a:latin typeface="Trebuchet MS"/>
              </a:rPr>
              <a:t>those after T.</a:t>
            </a:r>
          </a:p>
        </p:txBody>
      </p:sp>
      <p:sp>
        <p:nvSpPr>
          <p:cNvPr id="27" name="Rounded Rectangle 26"/>
          <p:cNvSpPr/>
          <p:nvPr/>
        </p:nvSpPr>
        <p:spPr>
          <a:xfrm>
            <a:off x="4055363" y="1810512"/>
            <a:ext cx="3104388" cy="2715768"/>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4062679" y="1813895"/>
            <a:ext cx="3097164" cy="2706624"/>
          </a:xfrm>
          <a:custGeom>
            <a:avLst/>
            <a:gdLst/>
            <a:ahLst/>
            <a:cxnLst/>
            <a:rect l="l" t="t" r="r" b="b"/>
            <a:pathLst>
              <a:path w="33871" h="29600">
                <a:moveTo>
                  <a:pt x="33798" y="14882"/>
                </a:moveTo>
                <a:lnTo>
                  <a:pt x="33669" y="19393"/>
                </a:lnTo>
                <a:lnTo>
                  <a:pt x="33644" y="20722"/>
                </a:lnTo>
                <a:lnTo>
                  <a:pt x="33564" y="21775"/>
                </a:lnTo>
                <a:lnTo>
                  <a:pt x="33715" y="22652"/>
                </a:lnTo>
                <a:lnTo>
                  <a:pt x="33414" y="23480"/>
                </a:lnTo>
                <a:lnTo>
                  <a:pt x="33459" y="24087"/>
                </a:lnTo>
                <a:lnTo>
                  <a:pt x="33362" y="24544"/>
                </a:lnTo>
                <a:lnTo>
                  <a:pt x="33246" y="25090"/>
                </a:lnTo>
                <a:lnTo>
                  <a:pt x="32919" y="25474"/>
                </a:lnTo>
                <a:lnTo>
                  <a:pt x="32937" y="26090"/>
                </a:lnTo>
                <a:lnTo>
                  <a:pt x="32589" y="26307"/>
                </a:lnTo>
                <a:lnTo>
                  <a:pt x="32482" y="26746"/>
                </a:lnTo>
                <a:lnTo>
                  <a:pt x="32247" y="27072"/>
                </a:lnTo>
                <a:lnTo>
                  <a:pt x="31916" y="27388"/>
                </a:lnTo>
                <a:lnTo>
                  <a:pt x="31638" y="27695"/>
                </a:lnTo>
                <a:lnTo>
                  <a:pt x="31337" y="27904"/>
                </a:lnTo>
                <a:lnTo>
                  <a:pt x="30979" y="28118"/>
                </a:lnTo>
                <a:lnTo>
                  <a:pt x="30515" y="28241"/>
                </a:lnTo>
                <a:lnTo>
                  <a:pt x="30091" y="28505"/>
                </a:lnTo>
                <a:lnTo>
                  <a:pt x="29593" y="28785"/>
                </a:lnTo>
                <a:lnTo>
                  <a:pt x="29262" y="28986"/>
                </a:lnTo>
                <a:lnTo>
                  <a:pt x="28591" y="28921"/>
                </a:lnTo>
                <a:lnTo>
                  <a:pt x="27963" y="29244"/>
                </a:lnTo>
                <a:lnTo>
                  <a:pt x="27457" y="29194"/>
                </a:lnTo>
                <a:lnTo>
                  <a:pt x="26640" y="29353"/>
                </a:lnTo>
                <a:lnTo>
                  <a:pt x="25905" y="29424"/>
                </a:lnTo>
                <a:lnTo>
                  <a:pt x="25018" y="29517"/>
                </a:lnTo>
                <a:lnTo>
                  <a:pt x="23610" y="29527"/>
                </a:lnTo>
                <a:lnTo>
                  <a:pt x="22149" y="29600"/>
                </a:lnTo>
                <a:lnTo>
                  <a:pt x="16792" y="29515"/>
                </a:lnTo>
                <a:lnTo>
                  <a:pt x="11646" y="29557"/>
                </a:lnTo>
                <a:lnTo>
                  <a:pt x="10018" y="29449"/>
                </a:lnTo>
                <a:lnTo>
                  <a:pt x="8933" y="29460"/>
                </a:lnTo>
                <a:lnTo>
                  <a:pt x="7827" y="29304"/>
                </a:lnTo>
                <a:lnTo>
                  <a:pt x="7108" y="29307"/>
                </a:lnTo>
                <a:lnTo>
                  <a:pt x="6385" y="29311"/>
                </a:lnTo>
                <a:lnTo>
                  <a:pt x="5655" y="29210"/>
                </a:lnTo>
                <a:lnTo>
                  <a:pt x="5207" y="28999"/>
                </a:lnTo>
                <a:lnTo>
                  <a:pt x="4696" y="28789"/>
                </a:lnTo>
                <a:lnTo>
                  <a:pt x="4165" y="28746"/>
                </a:lnTo>
                <a:lnTo>
                  <a:pt x="3600" y="28636"/>
                </a:lnTo>
                <a:lnTo>
                  <a:pt x="3205" y="28271"/>
                </a:lnTo>
                <a:lnTo>
                  <a:pt x="2965" y="28071"/>
                </a:lnTo>
                <a:lnTo>
                  <a:pt x="2617" y="27975"/>
                </a:lnTo>
                <a:lnTo>
                  <a:pt x="2325" y="27741"/>
                </a:lnTo>
                <a:lnTo>
                  <a:pt x="2006" y="27372"/>
                </a:lnTo>
                <a:lnTo>
                  <a:pt x="1674" y="27133"/>
                </a:lnTo>
                <a:lnTo>
                  <a:pt x="1281" y="26637"/>
                </a:lnTo>
                <a:lnTo>
                  <a:pt x="1272" y="26430"/>
                </a:lnTo>
                <a:lnTo>
                  <a:pt x="878" y="25946"/>
                </a:lnTo>
                <a:lnTo>
                  <a:pt x="749" y="25573"/>
                </a:lnTo>
                <a:lnTo>
                  <a:pt x="514" y="25192"/>
                </a:lnTo>
                <a:lnTo>
                  <a:pt x="591" y="24510"/>
                </a:lnTo>
                <a:lnTo>
                  <a:pt x="474" y="23943"/>
                </a:lnTo>
                <a:lnTo>
                  <a:pt x="251" y="23409"/>
                </a:lnTo>
                <a:lnTo>
                  <a:pt x="200" y="22778"/>
                </a:lnTo>
                <a:lnTo>
                  <a:pt x="0" y="21933"/>
                </a:lnTo>
                <a:lnTo>
                  <a:pt x="100" y="20826"/>
                </a:lnTo>
                <a:lnTo>
                  <a:pt x="104" y="19351"/>
                </a:lnTo>
                <a:lnTo>
                  <a:pt x="160" y="14764"/>
                </a:lnTo>
                <a:lnTo>
                  <a:pt x="89" y="10217"/>
                </a:lnTo>
                <a:lnTo>
                  <a:pt x="114" y="8958"/>
                </a:lnTo>
                <a:lnTo>
                  <a:pt x="139" y="7844"/>
                </a:lnTo>
                <a:lnTo>
                  <a:pt x="94" y="6993"/>
                </a:lnTo>
                <a:lnTo>
                  <a:pt x="235" y="6123"/>
                </a:lnTo>
                <a:lnTo>
                  <a:pt x="271" y="5508"/>
                </a:lnTo>
                <a:lnTo>
                  <a:pt x="486" y="5085"/>
                </a:lnTo>
                <a:lnTo>
                  <a:pt x="767" y="4513"/>
                </a:lnTo>
                <a:lnTo>
                  <a:pt x="915" y="3983"/>
                </a:lnTo>
                <a:lnTo>
                  <a:pt x="986" y="3560"/>
                </a:lnTo>
                <a:lnTo>
                  <a:pt x="1132" y="3215"/>
                </a:lnTo>
                <a:lnTo>
                  <a:pt x="1357" y="2805"/>
                </a:lnTo>
                <a:lnTo>
                  <a:pt x="1623" y="2680"/>
                </a:lnTo>
                <a:lnTo>
                  <a:pt x="1954" y="2289"/>
                </a:lnTo>
                <a:lnTo>
                  <a:pt x="2346" y="1963"/>
                </a:lnTo>
                <a:lnTo>
                  <a:pt x="2537" y="1758"/>
                </a:lnTo>
                <a:lnTo>
                  <a:pt x="2801" y="1396"/>
                </a:lnTo>
                <a:lnTo>
                  <a:pt x="3202" y="1216"/>
                </a:lnTo>
                <a:lnTo>
                  <a:pt x="3719" y="973"/>
                </a:lnTo>
                <a:lnTo>
                  <a:pt x="4091" y="856"/>
                </a:lnTo>
                <a:lnTo>
                  <a:pt x="4521" y="804"/>
                </a:lnTo>
                <a:lnTo>
                  <a:pt x="5071" y="619"/>
                </a:lnTo>
                <a:lnTo>
                  <a:pt x="5770" y="395"/>
                </a:lnTo>
                <a:lnTo>
                  <a:pt x="6451" y="322"/>
                </a:lnTo>
                <a:lnTo>
                  <a:pt x="7101" y="227"/>
                </a:lnTo>
                <a:lnTo>
                  <a:pt x="7988" y="255"/>
                </a:lnTo>
                <a:lnTo>
                  <a:pt x="8999" y="86"/>
                </a:lnTo>
                <a:lnTo>
                  <a:pt x="9937" y="44"/>
                </a:lnTo>
                <a:lnTo>
                  <a:pt x="11792" y="0"/>
                </a:lnTo>
                <a:lnTo>
                  <a:pt x="16782" y="161"/>
                </a:lnTo>
                <a:lnTo>
                  <a:pt x="21966" y="95"/>
                </a:lnTo>
                <a:lnTo>
                  <a:pt x="23779" y="160"/>
                </a:lnTo>
                <a:lnTo>
                  <a:pt x="24965" y="122"/>
                </a:lnTo>
                <a:lnTo>
                  <a:pt x="25946" y="248"/>
                </a:lnTo>
                <a:lnTo>
                  <a:pt x="26616" y="247"/>
                </a:lnTo>
                <a:lnTo>
                  <a:pt x="27345" y="481"/>
                </a:lnTo>
                <a:lnTo>
                  <a:pt x="28149" y="526"/>
                </a:lnTo>
                <a:lnTo>
                  <a:pt x="28780" y="675"/>
                </a:lnTo>
                <a:lnTo>
                  <a:pt x="29128" y="769"/>
                </a:lnTo>
                <a:lnTo>
                  <a:pt x="29795" y="816"/>
                </a:lnTo>
                <a:lnTo>
                  <a:pt x="30206" y="1105"/>
                </a:lnTo>
                <a:lnTo>
                  <a:pt x="30571" y="1235"/>
                </a:lnTo>
                <a:lnTo>
                  <a:pt x="30929" y="1594"/>
                </a:lnTo>
                <a:lnTo>
                  <a:pt x="31364" y="1701"/>
                </a:lnTo>
                <a:lnTo>
                  <a:pt x="31684" y="1981"/>
                </a:lnTo>
                <a:lnTo>
                  <a:pt x="31819" y="2234"/>
                </a:lnTo>
                <a:lnTo>
                  <a:pt x="32194" y="2494"/>
                </a:lnTo>
                <a:lnTo>
                  <a:pt x="32272" y="3018"/>
                </a:lnTo>
                <a:lnTo>
                  <a:pt x="32552" y="3227"/>
                </a:lnTo>
                <a:lnTo>
                  <a:pt x="32884" y="3763"/>
                </a:lnTo>
                <a:lnTo>
                  <a:pt x="33069" y="3986"/>
                </a:lnTo>
                <a:lnTo>
                  <a:pt x="33116" y="4644"/>
                </a:lnTo>
                <a:lnTo>
                  <a:pt x="33398" y="5099"/>
                </a:lnTo>
                <a:lnTo>
                  <a:pt x="33545" y="5698"/>
                </a:lnTo>
                <a:lnTo>
                  <a:pt x="33445" y="6213"/>
                </a:lnTo>
                <a:lnTo>
                  <a:pt x="33663" y="6906"/>
                </a:lnTo>
                <a:lnTo>
                  <a:pt x="33638" y="7808"/>
                </a:lnTo>
                <a:lnTo>
                  <a:pt x="33776" y="8949"/>
                </a:lnTo>
                <a:lnTo>
                  <a:pt x="33749" y="10352"/>
                </a:lnTo>
                <a:lnTo>
                  <a:pt x="33871" y="14921"/>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4067891" y="1813987"/>
            <a:ext cx="3087746" cy="2711470"/>
          </a:xfrm>
          <a:custGeom>
            <a:avLst/>
            <a:gdLst/>
            <a:ahLst/>
            <a:cxnLst/>
            <a:rect l="l" t="t" r="r" b="b"/>
            <a:pathLst>
              <a:path w="33768" h="29653">
                <a:moveTo>
                  <a:pt x="33768" y="14910"/>
                </a:moveTo>
                <a:lnTo>
                  <a:pt x="33628" y="19419"/>
                </a:lnTo>
                <a:lnTo>
                  <a:pt x="33752" y="20714"/>
                </a:lnTo>
                <a:lnTo>
                  <a:pt x="33500" y="21768"/>
                </a:lnTo>
                <a:lnTo>
                  <a:pt x="33583" y="22608"/>
                </a:lnTo>
                <a:lnTo>
                  <a:pt x="33386" y="23495"/>
                </a:lnTo>
                <a:lnTo>
                  <a:pt x="33262" y="24116"/>
                </a:lnTo>
                <a:lnTo>
                  <a:pt x="33317" y="24618"/>
                </a:lnTo>
                <a:lnTo>
                  <a:pt x="33006" y="24990"/>
                </a:lnTo>
                <a:lnTo>
                  <a:pt x="32981" y="25446"/>
                </a:lnTo>
                <a:lnTo>
                  <a:pt x="32763" y="26094"/>
                </a:lnTo>
                <a:lnTo>
                  <a:pt x="32494" y="26436"/>
                </a:lnTo>
                <a:lnTo>
                  <a:pt x="32244" y="26674"/>
                </a:lnTo>
                <a:lnTo>
                  <a:pt x="32031" y="27076"/>
                </a:lnTo>
                <a:lnTo>
                  <a:pt x="31703" y="27457"/>
                </a:lnTo>
                <a:lnTo>
                  <a:pt x="31468" y="27709"/>
                </a:lnTo>
                <a:lnTo>
                  <a:pt x="31109" y="27841"/>
                </a:lnTo>
                <a:lnTo>
                  <a:pt x="30783" y="28012"/>
                </a:lnTo>
                <a:lnTo>
                  <a:pt x="30467" y="28300"/>
                </a:lnTo>
                <a:lnTo>
                  <a:pt x="29935" y="28483"/>
                </a:lnTo>
                <a:lnTo>
                  <a:pt x="29692" y="28687"/>
                </a:lnTo>
                <a:lnTo>
                  <a:pt x="29038" y="28905"/>
                </a:lnTo>
                <a:lnTo>
                  <a:pt x="28671" y="29000"/>
                </a:lnTo>
                <a:lnTo>
                  <a:pt x="27977" y="29218"/>
                </a:lnTo>
                <a:lnTo>
                  <a:pt x="27348" y="29359"/>
                </a:lnTo>
                <a:lnTo>
                  <a:pt x="26568" y="29431"/>
                </a:lnTo>
                <a:lnTo>
                  <a:pt x="25815" y="29510"/>
                </a:lnTo>
                <a:lnTo>
                  <a:pt x="24951" y="29373"/>
                </a:lnTo>
                <a:lnTo>
                  <a:pt x="23724" y="29616"/>
                </a:lnTo>
                <a:lnTo>
                  <a:pt x="22105" y="29653"/>
                </a:lnTo>
                <a:lnTo>
                  <a:pt x="16858" y="29639"/>
                </a:lnTo>
                <a:lnTo>
                  <a:pt x="11737" y="29635"/>
                </a:lnTo>
                <a:lnTo>
                  <a:pt x="9955" y="29394"/>
                </a:lnTo>
                <a:lnTo>
                  <a:pt x="8790" y="29454"/>
                </a:lnTo>
                <a:lnTo>
                  <a:pt x="7973" y="29308"/>
                </a:lnTo>
                <a:lnTo>
                  <a:pt x="6956" y="29332"/>
                </a:lnTo>
                <a:lnTo>
                  <a:pt x="6183" y="29349"/>
                </a:lnTo>
                <a:lnTo>
                  <a:pt x="5694" y="29103"/>
                </a:lnTo>
                <a:lnTo>
                  <a:pt x="5068" y="29019"/>
                </a:lnTo>
                <a:lnTo>
                  <a:pt x="4668" y="28845"/>
                </a:lnTo>
                <a:lnTo>
                  <a:pt x="4168" y="28607"/>
                </a:lnTo>
                <a:lnTo>
                  <a:pt x="3615" y="28489"/>
                </a:lnTo>
                <a:lnTo>
                  <a:pt x="3336" y="28278"/>
                </a:lnTo>
                <a:lnTo>
                  <a:pt x="2761" y="28195"/>
                </a:lnTo>
                <a:lnTo>
                  <a:pt x="2508" y="27985"/>
                </a:lnTo>
                <a:lnTo>
                  <a:pt x="2203" y="27537"/>
                </a:lnTo>
                <a:lnTo>
                  <a:pt x="1810" y="27378"/>
                </a:lnTo>
                <a:lnTo>
                  <a:pt x="1489" y="27166"/>
                </a:lnTo>
                <a:lnTo>
                  <a:pt x="1398" y="26608"/>
                </a:lnTo>
                <a:lnTo>
                  <a:pt x="1199" y="26308"/>
                </a:lnTo>
                <a:lnTo>
                  <a:pt x="918" y="25960"/>
                </a:lnTo>
                <a:lnTo>
                  <a:pt x="648" y="25523"/>
                </a:lnTo>
                <a:lnTo>
                  <a:pt x="482" y="25199"/>
                </a:lnTo>
                <a:lnTo>
                  <a:pt x="452" y="24669"/>
                </a:lnTo>
                <a:lnTo>
                  <a:pt x="191" y="24012"/>
                </a:lnTo>
                <a:lnTo>
                  <a:pt x="164" y="23387"/>
                </a:lnTo>
                <a:lnTo>
                  <a:pt x="206" y="22560"/>
                </a:lnTo>
                <a:lnTo>
                  <a:pt x="52" y="21921"/>
                </a:lnTo>
                <a:lnTo>
                  <a:pt x="0" y="20806"/>
                </a:lnTo>
                <a:lnTo>
                  <a:pt x="35" y="19398"/>
                </a:lnTo>
                <a:lnTo>
                  <a:pt x="53" y="14851"/>
                </a:lnTo>
                <a:lnTo>
                  <a:pt x="73" y="10354"/>
                </a:lnTo>
                <a:lnTo>
                  <a:pt x="141" y="8947"/>
                </a:lnTo>
                <a:lnTo>
                  <a:pt x="0" y="7837"/>
                </a:lnTo>
                <a:lnTo>
                  <a:pt x="148" y="6853"/>
                </a:lnTo>
                <a:lnTo>
                  <a:pt x="177" y="6218"/>
                </a:lnTo>
                <a:lnTo>
                  <a:pt x="424" y="5640"/>
                </a:lnTo>
                <a:lnTo>
                  <a:pt x="462" y="5036"/>
                </a:lnTo>
                <a:lnTo>
                  <a:pt x="676" y="4436"/>
                </a:lnTo>
                <a:lnTo>
                  <a:pt x="855" y="4034"/>
                </a:lnTo>
                <a:lnTo>
                  <a:pt x="842" y="3601"/>
                </a:lnTo>
                <a:lnTo>
                  <a:pt x="1231" y="3299"/>
                </a:lnTo>
                <a:lnTo>
                  <a:pt x="1437" y="2997"/>
                </a:lnTo>
                <a:lnTo>
                  <a:pt x="1695" y="2537"/>
                </a:lnTo>
                <a:lnTo>
                  <a:pt x="1911" y="2223"/>
                </a:lnTo>
                <a:lnTo>
                  <a:pt x="2248" y="2053"/>
                </a:lnTo>
                <a:lnTo>
                  <a:pt x="2480" y="1617"/>
                </a:lnTo>
                <a:lnTo>
                  <a:pt x="2745" y="1591"/>
                </a:lnTo>
                <a:lnTo>
                  <a:pt x="3253" y="1228"/>
                </a:lnTo>
                <a:lnTo>
                  <a:pt x="3697" y="1183"/>
                </a:lnTo>
                <a:lnTo>
                  <a:pt x="3983" y="1004"/>
                </a:lnTo>
                <a:lnTo>
                  <a:pt x="4597" y="666"/>
                </a:lnTo>
                <a:lnTo>
                  <a:pt x="4971" y="676"/>
                </a:lnTo>
                <a:lnTo>
                  <a:pt x="5539" y="418"/>
                </a:lnTo>
                <a:lnTo>
                  <a:pt x="6387" y="409"/>
                </a:lnTo>
                <a:lnTo>
                  <a:pt x="6932" y="272"/>
                </a:lnTo>
                <a:lnTo>
                  <a:pt x="7759" y="197"/>
                </a:lnTo>
                <a:lnTo>
                  <a:pt x="8693" y="44"/>
                </a:lnTo>
                <a:lnTo>
                  <a:pt x="9927" y="146"/>
                </a:lnTo>
                <a:lnTo>
                  <a:pt x="11656" y="0"/>
                </a:lnTo>
                <a:lnTo>
                  <a:pt x="16854" y="199"/>
                </a:lnTo>
                <a:lnTo>
                  <a:pt x="21897" y="84"/>
                </a:lnTo>
                <a:lnTo>
                  <a:pt x="23788" y="137"/>
                </a:lnTo>
                <a:lnTo>
                  <a:pt x="24801" y="176"/>
                </a:lnTo>
                <a:lnTo>
                  <a:pt x="25715" y="213"/>
                </a:lnTo>
                <a:lnTo>
                  <a:pt x="26702" y="173"/>
                </a:lnTo>
                <a:lnTo>
                  <a:pt x="27374" y="318"/>
                </a:lnTo>
                <a:lnTo>
                  <a:pt x="28021" y="546"/>
                </a:lnTo>
                <a:lnTo>
                  <a:pt x="28614" y="635"/>
                </a:lnTo>
                <a:lnTo>
                  <a:pt x="29134" y="746"/>
                </a:lnTo>
                <a:lnTo>
                  <a:pt x="29612" y="943"/>
                </a:lnTo>
                <a:lnTo>
                  <a:pt x="30066" y="1194"/>
                </a:lnTo>
                <a:lnTo>
                  <a:pt x="30489" y="1382"/>
                </a:lnTo>
                <a:lnTo>
                  <a:pt x="30891" y="1502"/>
                </a:lnTo>
                <a:lnTo>
                  <a:pt x="31116" y="1805"/>
                </a:lnTo>
                <a:lnTo>
                  <a:pt x="31445" y="2040"/>
                </a:lnTo>
                <a:lnTo>
                  <a:pt x="31883" y="2347"/>
                </a:lnTo>
                <a:lnTo>
                  <a:pt x="32116" y="2477"/>
                </a:lnTo>
                <a:lnTo>
                  <a:pt x="32433" y="2814"/>
                </a:lnTo>
                <a:lnTo>
                  <a:pt x="32475" y="3254"/>
                </a:lnTo>
                <a:lnTo>
                  <a:pt x="32686" y="3564"/>
                </a:lnTo>
                <a:lnTo>
                  <a:pt x="33049" y="4058"/>
                </a:lnTo>
                <a:lnTo>
                  <a:pt x="33031" y="4478"/>
                </a:lnTo>
                <a:lnTo>
                  <a:pt x="33355" y="5157"/>
                </a:lnTo>
                <a:lnTo>
                  <a:pt x="33415" y="5668"/>
                </a:lnTo>
                <a:lnTo>
                  <a:pt x="33580" y="6196"/>
                </a:lnTo>
                <a:lnTo>
                  <a:pt x="33450" y="6936"/>
                </a:lnTo>
                <a:lnTo>
                  <a:pt x="33582" y="7739"/>
                </a:lnTo>
                <a:lnTo>
                  <a:pt x="33649" y="8803"/>
                </a:lnTo>
                <a:lnTo>
                  <a:pt x="33574" y="10394"/>
                </a:lnTo>
                <a:lnTo>
                  <a:pt x="33729" y="14839"/>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7094007" y="3887023"/>
            <a:ext cx="41239" cy="221193"/>
          </a:xfrm>
          <a:custGeom>
            <a:avLst/>
            <a:gdLst/>
            <a:ahLst/>
            <a:cxnLst/>
            <a:rect l="l" t="t" r="r" b="b"/>
            <a:pathLst>
              <a:path w="451" h="2419">
                <a:moveTo>
                  <a:pt x="451" y="0"/>
                </a:moveTo>
                <a:lnTo>
                  <a:pt x="367" y="719"/>
                </a:lnTo>
                <a:lnTo>
                  <a:pt x="264" y="1350"/>
                </a:lnTo>
                <a:lnTo>
                  <a:pt x="142" y="1912"/>
                </a:lnTo>
                <a:lnTo>
                  <a:pt x="0" y="2419"/>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6629857" y="4423776"/>
            <a:ext cx="186355" cy="55047"/>
          </a:xfrm>
          <a:custGeom>
            <a:avLst/>
            <a:gdLst/>
            <a:ahLst/>
            <a:cxnLst/>
            <a:rect l="l" t="t" r="r" b="b"/>
            <a:pathLst>
              <a:path w="2038" h="602">
                <a:moveTo>
                  <a:pt x="2038" y="0"/>
                </a:moveTo>
                <a:lnTo>
                  <a:pt x="1594" y="177"/>
                </a:lnTo>
                <a:lnTo>
                  <a:pt x="1110" y="336"/>
                </a:lnTo>
                <a:lnTo>
                  <a:pt x="581" y="478"/>
                </a:lnTo>
                <a:lnTo>
                  <a:pt x="0" y="602"/>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4532132" y="4467484"/>
            <a:ext cx="253197" cy="35936"/>
          </a:xfrm>
          <a:custGeom>
            <a:avLst/>
            <a:gdLst/>
            <a:ahLst/>
            <a:cxnLst/>
            <a:rect l="l" t="t" r="r" b="b"/>
            <a:pathLst>
              <a:path w="2769" h="393">
                <a:moveTo>
                  <a:pt x="2769" y="393"/>
                </a:moveTo>
                <a:lnTo>
                  <a:pt x="1945" y="320"/>
                </a:lnTo>
                <a:lnTo>
                  <a:pt x="1224" y="230"/>
                </a:lnTo>
                <a:lnTo>
                  <a:pt x="581" y="124"/>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4108125" y="4061856"/>
            <a:ext cx="62911" cy="162855"/>
          </a:xfrm>
          <a:custGeom>
            <a:avLst/>
            <a:gdLst/>
            <a:ahLst/>
            <a:cxnLst/>
            <a:rect l="l" t="t" r="r" b="b"/>
            <a:pathLst>
              <a:path w="688" h="1781">
                <a:moveTo>
                  <a:pt x="688" y="1781"/>
                </a:moveTo>
                <a:lnTo>
                  <a:pt x="485" y="1392"/>
                </a:lnTo>
                <a:lnTo>
                  <a:pt x="303" y="969"/>
                </a:lnTo>
                <a:lnTo>
                  <a:pt x="142" y="507"/>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4079870" y="2228576"/>
            <a:ext cx="41239" cy="221193"/>
          </a:xfrm>
          <a:custGeom>
            <a:avLst/>
            <a:gdLst/>
            <a:ahLst/>
            <a:cxnLst/>
            <a:rect l="l" t="t" r="r" b="b"/>
            <a:pathLst>
              <a:path w="451" h="2419">
                <a:moveTo>
                  <a:pt x="0" y="2419"/>
                </a:moveTo>
                <a:lnTo>
                  <a:pt x="84" y="1700"/>
                </a:lnTo>
                <a:lnTo>
                  <a:pt x="187" y="1069"/>
                </a:lnTo>
                <a:lnTo>
                  <a:pt x="309" y="507"/>
                </a:lnTo>
                <a:lnTo>
                  <a:pt x="451"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4398904" y="1857969"/>
            <a:ext cx="186355" cy="55047"/>
          </a:xfrm>
          <a:custGeom>
            <a:avLst/>
            <a:gdLst/>
            <a:ahLst/>
            <a:cxnLst/>
            <a:rect l="l" t="t" r="r" b="b"/>
            <a:pathLst>
              <a:path w="2038" h="602">
                <a:moveTo>
                  <a:pt x="0" y="602"/>
                </a:moveTo>
                <a:lnTo>
                  <a:pt x="444" y="425"/>
                </a:lnTo>
                <a:lnTo>
                  <a:pt x="928" y="266"/>
                </a:lnTo>
                <a:lnTo>
                  <a:pt x="1457" y="124"/>
                </a:lnTo>
                <a:lnTo>
                  <a:pt x="2038"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6429786" y="1833372"/>
            <a:ext cx="253197" cy="35936"/>
          </a:xfrm>
          <a:custGeom>
            <a:avLst/>
            <a:gdLst/>
            <a:ahLst/>
            <a:cxnLst/>
            <a:rect l="l" t="t" r="r" b="b"/>
            <a:pathLst>
              <a:path w="2769" h="393">
                <a:moveTo>
                  <a:pt x="0" y="0"/>
                </a:moveTo>
                <a:lnTo>
                  <a:pt x="824" y="73"/>
                </a:lnTo>
                <a:lnTo>
                  <a:pt x="1545" y="163"/>
                </a:lnTo>
                <a:lnTo>
                  <a:pt x="2188" y="269"/>
                </a:lnTo>
                <a:lnTo>
                  <a:pt x="2769" y="393"/>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7044080" y="2112081"/>
            <a:ext cx="62911" cy="162855"/>
          </a:xfrm>
          <a:custGeom>
            <a:avLst/>
            <a:gdLst/>
            <a:ahLst/>
            <a:cxnLst/>
            <a:rect l="l" t="t" r="r" b="b"/>
            <a:pathLst>
              <a:path w="688" h="1781">
                <a:moveTo>
                  <a:pt x="0" y="0"/>
                </a:moveTo>
                <a:lnTo>
                  <a:pt x="203" y="389"/>
                </a:lnTo>
                <a:lnTo>
                  <a:pt x="385" y="812"/>
                </a:lnTo>
                <a:lnTo>
                  <a:pt x="546" y="1274"/>
                </a:lnTo>
                <a:lnTo>
                  <a:pt x="688" y="1781"/>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ody: 2"/>
          <p:cNvSpPr txBox="1"/>
          <p:nvPr/>
        </p:nvSpPr>
        <p:spPr>
          <a:xfrm>
            <a:off x="4219955" y="1995995"/>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557B65"/>
                </a:solidFill>
                <a:latin typeface="Trebuchet MS"/>
              </a:rPr>
              <a:t>2</a:t>
            </a:r>
          </a:p>
        </p:txBody>
      </p:sp>
      <p:sp>
        <p:nvSpPr>
          <p:cNvPr id="39" name="body: Benign twins"/>
          <p:cNvSpPr txBox="1"/>
          <p:nvPr/>
        </p:nvSpPr>
        <p:spPr>
          <a:xfrm>
            <a:off x="4741164" y="1945640"/>
            <a:ext cx="1997964"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557B65"/>
                </a:solidFill>
                <a:latin typeface="Chalkboard SE"/>
              </a:rPr>
              <a:t>Benign twins</a:t>
            </a:r>
          </a:p>
        </p:txBody>
      </p:sp>
      <p:sp>
        <p:nvSpPr>
          <p:cNvPr id="40" name="body: False refusals measured on the same object."/>
          <p:cNvSpPr txBox="1"/>
          <p:nvPr/>
        </p:nvSpPr>
        <p:spPr>
          <a:xfrm>
            <a:off x="4311396" y="2957893"/>
            <a:ext cx="2592324" cy="987932"/>
          </a:xfrm>
          <a:prstGeom prst="rect">
            <a:avLst/>
          </a:prstGeom>
          <a:noFill/>
        </p:spPr>
        <p:txBody>
          <a:bodyPr wrap="none" lIns="0" rIns="0" tIns="0" bIns="0" anchor="t">
            <a:noAutofit/>
          </a:bodyPr>
          <a:lstStyle/>
          <a:p>
            <a:pPr algn="ctr">
              <a:lnSpc>
                <a:spcPts val="2413"/>
              </a:lnSpc>
              <a:spcBef>
                <a:spcPts val="0"/>
              </a:spcBef>
              <a:spcAft>
                <a:spcPts val="0"/>
              </a:spcAft>
            </a:pPr>
            <a:r>
              <a:rPr sz="1900" b="0">
                <a:solidFill>
                  <a:srgbClr val="293E46"/>
                </a:solidFill>
                <a:latin typeface="Trebuchet MS"/>
              </a:rPr>
              <a:t>False refusals</a:t>
            </a:r>
            <a:br/>
            <a:r>
              <a:rPr sz="1900" b="0">
                <a:solidFill>
                  <a:srgbClr val="293E46"/>
                </a:solidFill>
                <a:latin typeface="Trebuchet MS"/>
              </a:rPr>
              <a:t>measured on the same</a:t>
            </a:r>
            <a:br/>
            <a:r>
              <a:rPr sz="1900" b="0">
                <a:solidFill>
                  <a:srgbClr val="293E46"/>
                </a:solidFill>
                <a:latin typeface="Trebuchet MS"/>
              </a:rPr>
              <a:t>object.</a:t>
            </a:r>
          </a:p>
        </p:txBody>
      </p:sp>
      <p:sp>
        <p:nvSpPr>
          <p:cNvPr id="41" name="Rounded Rectangle 40"/>
          <p:cNvSpPr/>
          <p:nvPr/>
        </p:nvSpPr>
        <p:spPr>
          <a:xfrm>
            <a:off x="7470648" y="1810512"/>
            <a:ext cx="3104388" cy="2715768"/>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7479883" y="1813712"/>
            <a:ext cx="3092318" cy="2709276"/>
          </a:xfrm>
          <a:custGeom>
            <a:avLst/>
            <a:gdLst/>
            <a:ahLst/>
            <a:cxnLst/>
            <a:rect l="l" t="t" r="r" b="b"/>
            <a:pathLst>
              <a:path w="33818" h="29629">
                <a:moveTo>
                  <a:pt x="33632" y="14862"/>
                </a:moveTo>
                <a:lnTo>
                  <a:pt x="33818" y="19264"/>
                </a:lnTo>
                <a:lnTo>
                  <a:pt x="33773" y="20817"/>
                </a:lnTo>
                <a:lnTo>
                  <a:pt x="33725" y="21903"/>
                </a:lnTo>
                <a:lnTo>
                  <a:pt x="33587" y="22584"/>
                </a:lnTo>
                <a:lnTo>
                  <a:pt x="33538" y="23466"/>
                </a:lnTo>
                <a:lnTo>
                  <a:pt x="33318" y="23953"/>
                </a:lnTo>
                <a:lnTo>
                  <a:pt x="33392" y="24520"/>
                </a:lnTo>
                <a:lnTo>
                  <a:pt x="33161" y="25137"/>
                </a:lnTo>
                <a:lnTo>
                  <a:pt x="32952" y="25595"/>
                </a:lnTo>
                <a:lnTo>
                  <a:pt x="32692" y="25928"/>
                </a:lnTo>
                <a:lnTo>
                  <a:pt x="32520" y="26468"/>
                </a:lnTo>
                <a:lnTo>
                  <a:pt x="32257" y="26808"/>
                </a:lnTo>
                <a:lnTo>
                  <a:pt x="32073" y="27068"/>
                </a:lnTo>
                <a:lnTo>
                  <a:pt x="31806" y="27257"/>
                </a:lnTo>
                <a:lnTo>
                  <a:pt x="31605" y="27575"/>
                </a:lnTo>
                <a:lnTo>
                  <a:pt x="31270" y="27902"/>
                </a:lnTo>
                <a:lnTo>
                  <a:pt x="30865" y="28062"/>
                </a:lnTo>
                <a:lnTo>
                  <a:pt x="30578" y="28376"/>
                </a:lnTo>
                <a:lnTo>
                  <a:pt x="30024" y="28625"/>
                </a:lnTo>
                <a:lnTo>
                  <a:pt x="29554" y="28718"/>
                </a:lnTo>
                <a:lnTo>
                  <a:pt x="29173" y="28938"/>
                </a:lnTo>
                <a:lnTo>
                  <a:pt x="28747" y="28959"/>
                </a:lnTo>
                <a:lnTo>
                  <a:pt x="28143" y="29067"/>
                </a:lnTo>
                <a:lnTo>
                  <a:pt x="27504" y="29158"/>
                </a:lnTo>
                <a:lnTo>
                  <a:pt x="26581" y="29256"/>
                </a:lnTo>
                <a:lnTo>
                  <a:pt x="25811" y="29355"/>
                </a:lnTo>
                <a:lnTo>
                  <a:pt x="24966" y="29591"/>
                </a:lnTo>
                <a:lnTo>
                  <a:pt x="23603" y="29415"/>
                </a:lnTo>
                <a:lnTo>
                  <a:pt x="21980" y="29598"/>
                </a:lnTo>
                <a:lnTo>
                  <a:pt x="16893" y="29629"/>
                </a:lnTo>
                <a:lnTo>
                  <a:pt x="11593" y="29544"/>
                </a:lnTo>
                <a:lnTo>
                  <a:pt x="10092" y="29537"/>
                </a:lnTo>
                <a:lnTo>
                  <a:pt x="8861" y="29501"/>
                </a:lnTo>
                <a:lnTo>
                  <a:pt x="7978" y="29353"/>
                </a:lnTo>
                <a:lnTo>
                  <a:pt x="7090" y="29296"/>
                </a:lnTo>
                <a:lnTo>
                  <a:pt x="6393" y="29276"/>
                </a:lnTo>
                <a:lnTo>
                  <a:pt x="5780" y="29089"/>
                </a:lnTo>
                <a:lnTo>
                  <a:pt x="5058" y="29065"/>
                </a:lnTo>
                <a:lnTo>
                  <a:pt x="4561" y="28784"/>
                </a:lnTo>
                <a:lnTo>
                  <a:pt x="4174" y="28610"/>
                </a:lnTo>
                <a:lnTo>
                  <a:pt x="3641" y="28434"/>
                </a:lnTo>
                <a:lnTo>
                  <a:pt x="3178" y="28385"/>
                </a:lnTo>
                <a:lnTo>
                  <a:pt x="2773" y="28017"/>
                </a:lnTo>
                <a:lnTo>
                  <a:pt x="2495" y="27838"/>
                </a:lnTo>
                <a:lnTo>
                  <a:pt x="2237" y="27528"/>
                </a:lnTo>
                <a:lnTo>
                  <a:pt x="1841" y="27429"/>
                </a:lnTo>
                <a:lnTo>
                  <a:pt x="1667" y="27155"/>
                </a:lnTo>
                <a:lnTo>
                  <a:pt x="1284" y="26633"/>
                </a:lnTo>
                <a:lnTo>
                  <a:pt x="1292" y="26396"/>
                </a:lnTo>
                <a:lnTo>
                  <a:pt x="1071" y="25920"/>
                </a:lnTo>
                <a:lnTo>
                  <a:pt x="719" y="25630"/>
                </a:lnTo>
                <a:lnTo>
                  <a:pt x="708" y="25055"/>
                </a:lnTo>
                <a:lnTo>
                  <a:pt x="499" y="24560"/>
                </a:lnTo>
                <a:lnTo>
                  <a:pt x="466" y="24015"/>
                </a:lnTo>
                <a:lnTo>
                  <a:pt x="333" y="23292"/>
                </a:lnTo>
                <a:lnTo>
                  <a:pt x="78" y="22756"/>
                </a:lnTo>
                <a:lnTo>
                  <a:pt x="196" y="21740"/>
                </a:lnTo>
                <a:lnTo>
                  <a:pt x="0" y="20803"/>
                </a:lnTo>
                <a:lnTo>
                  <a:pt x="25" y="19276"/>
                </a:lnTo>
                <a:lnTo>
                  <a:pt x="56" y="14729"/>
                </a:lnTo>
                <a:lnTo>
                  <a:pt x="115" y="10278"/>
                </a:lnTo>
                <a:lnTo>
                  <a:pt x="4" y="8814"/>
                </a:lnTo>
                <a:lnTo>
                  <a:pt x="6" y="7819"/>
                </a:lnTo>
                <a:lnTo>
                  <a:pt x="265" y="6963"/>
                </a:lnTo>
                <a:lnTo>
                  <a:pt x="122" y="6174"/>
                </a:lnTo>
                <a:lnTo>
                  <a:pt x="379" y="5611"/>
                </a:lnTo>
                <a:lnTo>
                  <a:pt x="459" y="5097"/>
                </a:lnTo>
                <a:lnTo>
                  <a:pt x="673" y="4592"/>
                </a:lnTo>
                <a:lnTo>
                  <a:pt x="806" y="4147"/>
                </a:lnTo>
                <a:lnTo>
                  <a:pt x="902" y="3684"/>
                </a:lnTo>
                <a:lnTo>
                  <a:pt x="1179" y="3375"/>
                </a:lnTo>
                <a:lnTo>
                  <a:pt x="1506" y="2847"/>
                </a:lnTo>
                <a:lnTo>
                  <a:pt x="1747" y="2479"/>
                </a:lnTo>
                <a:lnTo>
                  <a:pt x="2009" y="2381"/>
                </a:lnTo>
                <a:lnTo>
                  <a:pt x="2085" y="1982"/>
                </a:lnTo>
                <a:lnTo>
                  <a:pt x="2531" y="1625"/>
                </a:lnTo>
                <a:lnTo>
                  <a:pt x="2900" y="1392"/>
                </a:lnTo>
                <a:lnTo>
                  <a:pt x="3146" y="1330"/>
                </a:lnTo>
                <a:lnTo>
                  <a:pt x="3557" y="1097"/>
                </a:lnTo>
                <a:lnTo>
                  <a:pt x="4093" y="981"/>
                </a:lnTo>
                <a:lnTo>
                  <a:pt x="4604" y="635"/>
                </a:lnTo>
                <a:lnTo>
                  <a:pt x="5132" y="677"/>
                </a:lnTo>
                <a:lnTo>
                  <a:pt x="5575" y="456"/>
                </a:lnTo>
                <a:lnTo>
                  <a:pt x="6375" y="393"/>
                </a:lnTo>
                <a:lnTo>
                  <a:pt x="7122" y="325"/>
                </a:lnTo>
                <a:lnTo>
                  <a:pt x="7979" y="100"/>
                </a:lnTo>
                <a:lnTo>
                  <a:pt x="8730" y="41"/>
                </a:lnTo>
                <a:lnTo>
                  <a:pt x="10115" y="0"/>
                </a:lnTo>
                <a:lnTo>
                  <a:pt x="11714" y="210"/>
                </a:lnTo>
                <a:lnTo>
                  <a:pt x="16957" y="123"/>
                </a:lnTo>
                <a:lnTo>
                  <a:pt x="22077" y="138"/>
                </a:lnTo>
                <a:lnTo>
                  <a:pt x="23649" y="71"/>
                </a:lnTo>
                <a:lnTo>
                  <a:pt x="24997" y="88"/>
                </a:lnTo>
                <a:lnTo>
                  <a:pt x="25899" y="192"/>
                </a:lnTo>
                <a:lnTo>
                  <a:pt x="26601" y="314"/>
                </a:lnTo>
                <a:lnTo>
                  <a:pt x="27516" y="417"/>
                </a:lnTo>
                <a:lnTo>
                  <a:pt x="27941" y="378"/>
                </a:lnTo>
                <a:lnTo>
                  <a:pt x="28560" y="507"/>
                </a:lnTo>
                <a:lnTo>
                  <a:pt x="29273" y="682"/>
                </a:lnTo>
                <a:lnTo>
                  <a:pt x="29736" y="796"/>
                </a:lnTo>
                <a:lnTo>
                  <a:pt x="29999" y="1034"/>
                </a:lnTo>
                <a:lnTo>
                  <a:pt x="30612" y="1222"/>
                </a:lnTo>
                <a:lnTo>
                  <a:pt x="30863" y="1574"/>
                </a:lnTo>
                <a:lnTo>
                  <a:pt x="31182" y="1692"/>
                </a:lnTo>
                <a:lnTo>
                  <a:pt x="31565" y="2091"/>
                </a:lnTo>
                <a:lnTo>
                  <a:pt x="31758" y="2182"/>
                </a:lnTo>
                <a:lnTo>
                  <a:pt x="32166" y="2547"/>
                </a:lnTo>
                <a:lnTo>
                  <a:pt x="32472" y="2822"/>
                </a:lnTo>
                <a:lnTo>
                  <a:pt x="32638" y="3303"/>
                </a:lnTo>
                <a:lnTo>
                  <a:pt x="32891" y="3579"/>
                </a:lnTo>
                <a:lnTo>
                  <a:pt x="32873" y="4035"/>
                </a:lnTo>
                <a:lnTo>
                  <a:pt x="33142" y="4621"/>
                </a:lnTo>
                <a:lnTo>
                  <a:pt x="33314" y="5034"/>
                </a:lnTo>
                <a:lnTo>
                  <a:pt x="33343" y="5714"/>
                </a:lnTo>
                <a:lnTo>
                  <a:pt x="33444" y="6159"/>
                </a:lnTo>
                <a:lnTo>
                  <a:pt x="33466" y="7001"/>
                </a:lnTo>
                <a:lnTo>
                  <a:pt x="33743" y="7707"/>
                </a:lnTo>
                <a:lnTo>
                  <a:pt x="33719" y="8921"/>
                </a:lnTo>
                <a:lnTo>
                  <a:pt x="33645" y="10362"/>
                </a:lnTo>
                <a:lnTo>
                  <a:pt x="33676" y="14900"/>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7473940" y="1817004"/>
            <a:ext cx="3097256" cy="2706715"/>
          </a:xfrm>
          <a:custGeom>
            <a:avLst/>
            <a:gdLst/>
            <a:ahLst/>
            <a:cxnLst/>
            <a:rect l="l" t="t" r="r" b="b"/>
            <a:pathLst>
              <a:path w="33872" h="29601">
                <a:moveTo>
                  <a:pt x="33872" y="14721"/>
                </a:moveTo>
                <a:lnTo>
                  <a:pt x="33762" y="19322"/>
                </a:lnTo>
                <a:lnTo>
                  <a:pt x="33770" y="20765"/>
                </a:lnTo>
                <a:lnTo>
                  <a:pt x="33770" y="21769"/>
                </a:lnTo>
                <a:lnTo>
                  <a:pt x="33667" y="22706"/>
                </a:lnTo>
                <a:lnTo>
                  <a:pt x="33578" y="23268"/>
                </a:lnTo>
                <a:lnTo>
                  <a:pt x="33526" y="23951"/>
                </a:lnTo>
                <a:lnTo>
                  <a:pt x="33332" y="24597"/>
                </a:lnTo>
                <a:lnTo>
                  <a:pt x="33297" y="25104"/>
                </a:lnTo>
                <a:lnTo>
                  <a:pt x="33144" y="25558"/>
                </a:lnTo>
                <a:lnTo>
                  <a:pt x="32849" y="25837"/>
                </a:lnTo>
                <a:lnTo>
                  <a:pt x="32680" y="26316"/>
                </a:lnTo>
                <a:lnTo>
                  <a:pt x="32533" y="26616"/>
                </a:lnTo>
                <a:lnTo>
                  <a:pt x="32229" y="26938"/>
                </a:lnTo>
                <a:lnTo>
                  <a:pt x="31793" y="27243"/>
                </a:lnTo>
                <a:lnTo>
                  <a:pt x="31490" y="27671"/>
                </a:lnTo>
                <a:lnTo>
                  <a:pt x="31399" y="27798"/>
                </a:lnTo>
                <a:lnTo>
                  <a:pt x="30841" y="28003"/>
                </a:lnTo>
                <a:lnTo>
                  <a:pt x="30454" y="28227"/>
                </a:lnTo>
                <a:lnTo>
                  <a:pt x="30066" y="28457"/>
                </a:lnTo>
                <a:lnTo>
                  <a:pt x="29639" y="28587"/>
                </a:lnTo>
                <a:lnTo>
                  <a:pt x="29153" y="28732"/>
                </a:lnTo>
                <a:lnTo>
                  <a:pt x="28733" y="28957"/>
                </a:lnTo>
                <a:lnTo>
                  <a:pt x="28079" y="29062"/>
                </a:lnTo>
                <a:lnTo>
                  <a:pt x="27427" y="29189"/>
                </a:lnTo>
                <a:lnTo>
                  <a:pt x="26856" y="29422"/>
                </a:lnTo>
                <a:lnTo>
                  <a:pt x="25971" y="29465"/>
                </a:lnTo>
                <a:lnTo>
                  <a:pt x="25048" y="29501"/>
                </a:lnTo>
                <a:lnTo>
                  <a:pt x="23735" y="29539"/>
                </a:lnTo>
                <a:lnTo>
                  <a:pt x="22174" y="29518"/>
                </a:lnTo>
                <a:lnTo>
                  <a:pt x="16910" y="29416"/>
                </a:lnTo>
                <a:lnTo>
                  <a:pt x="11675" y="29601"/>
                </a:lnTo>
                <a:lnTo>
                  <a:pt x="10188" y="29501"/>
                </a:lnTo>
                <a:lnTo>
                  <a:pt x="9033" y="29370"/>
                </a:lnTo>
                <a:lnTo>
                  <a:pt x="7930" y="29382"/>
                </a:lnTo>
                <a:lnTo>
                  <a:pt x="7052" y="29238"/>
                </a:lnTo>
                <a:lnTo>
                  <a:pt x="6458" y="29122"/>
                </a:lnTo>
                <a:lnTo>
                  <a:pt x="5653" y="29217"/>
                </a:lnTo>
                <a:lnTo>
                  <a:pt x="5291" y="28953"/>
                </a:lnTo>
                <a:lnTo>
                  <a:pt x="4558" y="28915"/>
                </a:lnTo>
                <a:lnTo>
                  <a:pt x="4164" y="28586"/>
                </a:lnTo>
                <a:lnTo>
                  <a:pt x="3847" y="28614"/>
                </a:lnTo>
                <a:lnTo>
                  <a:pt x="3420" y="28276"/>
                </a:lnTo>
                <a:lnTo>
                  <a:pt x="2909" y="28166"/>
                </a:lnTo>
                <a:lnTo>
                  <a:pt x="2489" y="27937"/>
                </a:lnTo>
                <a:lnTo>
                  <a:pt x="2232" y="27581"/>
                </a:lnTo>
                <a:lnTo>
                  <a:pt x="1934" y="27411"/>
                </a:lnTo>
                <a:lnTo>
                  <a:pt x="1668" y="26943"/>
                </a:lnTo>
                <a:lnTo>
                  <a:pt x="1401" y="26792"/>
                </a:lnTo>
                <a:lnTo>
                  <a:pt x="1330" y="26260"/>
                </a:lnTo>
                <a:lnTo>
                  <a:pt x="1030" y="25863"/>
                </a:lnTo>
                <a:lnTo>
                  <a:pt x="758" y="25548"/>
                </a:lnTo>
                <a:lnTo>
                  <a:pt x="702" y="25042"/>
                </a:lnTo>
                <a:lnTo>
                  <a:pt x="493" y="24650"/>
                </a:lnTo>
                <a:lnTo>
                  <a:pt x="489" y="23972"/>
                </a:lnTo>
                <a:lnTo>
                  <a:pt x="361" y="23363"/>
                </a:lnTo>
                <a:lnTo>
                  <a:pt x="174" y="22564"/>
                </a:lnTo>
                <a:lnTo>
                  <a:pt x="155" y="21726"/>
                </a:lnTo>
                <a:lnTo>
                  <a:pt x="17" y="20677"/>
                </a:lnTo>
                <a:lnTo>
                  <a:pt x="193" y="19345"/>
                </a:lnTo>
                <a:lnTo>
                  <a:pt x="155" y="14822"/>
                </a:lnTo>
                <a:lnTo>
                  <a:pt x="0" y="10177"/>
                </a:lnTo>
                <a:lnTo>
                  <a:pt x="107" y="8897"/>
                </a:lnTo>
                <a:lnTo>
                  <a:pt x="129" y="7736"/>
                </a:lnTo>
                <a:lnTo>
                  <a:pt x="229" y="7039"/>
                </a:lnTo>
                <a:lnTo>
                  <a:pt x="373" y="6255"/>
                </a:lnTo>
                <a:lnTo>
                  <a:pt x="392" y="5580"/>
                </a:lnTo>
                <a:lnTo>
                  <a:pt x="568" y="5092"/>
                </a:lnTo>
                <a:lnTo>
                  <a:pt x="568" y="4485"/>
                </a:lnTo>
                <a:lnTo>
                  <a:pt x="950" y="3984"/>
                </a:lnTo>
                <a:lnTo>
                  <a:pt x="963" y="3720"/>
                </a:lnTo>
                <a:lnTo>
                  <a:pt x="1208" y="3324"/>
                </a:lnTo>
                <a:lnTo>
                  <a:pt x="1409" y="2839"/>
                </a:lnTo>
                <a:lnTo>
                  <a:pt x="1803" y="2499"/>
                </a:lnTo>
                <a:lnTo>
                  <a:pt x="1930" y="2122"/>
                </a:lnTo>
                <a:lnTo>
                  <a:pt x="2283" y="2041"/>
                </a:lnTo>
                <a:lnTo>
                  <a:pt x="2672" y="1642"/>
                </a:lnTo>
                <a:lnTo>
                  <a:pt x="2825" y="1562"/>
                </a:lnTo>
                <a:lnTo>
                  <a:pt x="3345" y="1213"/>
                </a:lnTo>
                <a:lnTo>
                  <a:pt x="3799" y="1067"/>
                </a:lnTo>
                <a:lnTo>
                  <a:pt x="4207" y="827"/>
                </a:lnTo>
                <a:lnTo>
                  <a:pt x="4578" y="751"/>
                </a:lnTo>
                <a:lnTo>
                  <a:pt x="5097" y="643"/>
                </a:lnTo>
                <a:lnTo>
                  <a:pt x="5817" y="383"/>
                </a:lnTo>
                <a:lnTo>
                  <a:pt x="6515" y="253"/>
                </a:lnTo>
                <a:lnTo>
                  <a:pt x="7204" y="194"/>
                </a:lnTo>
                <a:lnTo>
                  <a:pt x="8035" y="219"/>
                </a:lnTo>
                <a:lnTo>
                  <a:pt x="8865" y="70"/>
                </a:lnTo>
                <a:lnTo>
                  <a:pt x="10082" y="190"/>
                </a:lnTo>
                <a:lnTo>
                  <a:pt x="11660" y="0"/>
                </a:lnTo>
                <a:lnTo>
                  <a:pt x="16859" y="34"/>
                </a:lnTo>
                <a:lnTo>
                  <a:pt x="22038" y="20"/>
                </a:lnTo>
                <a:lnTo>
                  <a:pt x="23898" y="185"/>
                </a:lnTo>
                <a:lnTo>
                  <a:pt x="25034" y="93"/>
                </a:lnTo>
                <a:lnTo>
                  <a:pt x="25951" y="267"/>
                </a:lnTo>
                <a:lnTo>
                  <a:pt x="26746" y="263"/>
                </a:lnTo>
                <a:lnTo>
                  <a:pt x="27418" y="418"/>
                </a:lnTo>
                <a:lnTo>
                  <a:pt x="28115" y="458"/>
                </a:lnTo>
                <a:lnTo>
                  <a:pt x="28763" y="470"/>
                </a:lnTo>
                <a:lnTo>
                  <a:pt x="29358" y="815"/>
                </a:lnTo>
                <a:lnTo>
                  <a:pt x="29789" y="757"/>
                </a:lnTo>
                <a:lnTo>
                  <a:pt x="30207" y="964"/>
                </a:lnTo>
                <a:lnTo>
                  <a:pt x="30487" y="1294"/>
                </a:lnTo>
                <a:lnTo>
                  <a:pt x="30966" y="1427"/>
                </a:lnTo>
                <a:lnTo>
                  <a:pt x="31288" y="1743"/>
                </a:lnTo>
                <a:lnTo>
                  <a:pt x="31512" y="1964"/>
                </a:lnTo>
                <a:lnTo>
                  <a:pt x="31927" y="2118"/>
                </a:lnTo>
                <a:lnTo>
                  <a:pt x="32239" y="2427"/>
                </a:lnTo>
                <a:lnTo>
                  <a:pt x="32354" y="2988"/>
                </a:lnTo>
                <a:lnTo>
                  <a:pt x="32744" y="3335"/>
                </a:lnTo>
                <a:lnTo>
                  <a:pt x="32804" y="3530"/>
                </a:lnTo>
                <a:lnTo>
                  <a:pt x="33006" y="4094"/>
                </a:lnTo>
                <a:lnTo>
                  <a:pt x="33314" y="4568"/>
                </a:lnTo>
                <a:lnTo>
                  <a:pt x="33301" y="5037"/>
                </a:lnTo>
                <a:lnTo>
                  <a:pt x="33502" y="5632"/>
                </a:lnTo>
                <a:lnTo>
                  <a:pt x="33567" y="6178"/>
                </a:lnTo>
                <a:lnTo>
                  <a:pt x="33749" y="6985"/>
                </a:lnTo>
                <a:lnTo>
                  <a:pt x="33805" y="7688"/>
                </a:lnTo>
                <a:lnTo>
                  <a:pt x="33746" y="8717"/>
                </a:lnTo>
                <a:lnTo>
                  <a:pt x="33784" y="10186"/>
                </a:lnTo>
                <a:lnTo>
                  <a:pt x="33847" y="14799"/>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10509291" y="3887023"/>
            <a:ext cx="41239" cy="221193"/>
          </a:xfrm>
          <a:custGeom>
            <a:avLst/>
            <a:gdLst/>
            <a:ahLst/>
            <a:cxnLst/>
            <a:rect l="l" t="t" r="r" b="b"/>
            <a:pathLst>
              <a:path w="451" h="2419">
                <a:moveTo>
                  <a:pt x="451" y="0"/>
                </a:moveTo>
                <a:lnTo>
                  <a:pt x="367" y="719"/>
                </a:lnTo>
                <a:lnTo>
                  <a:pt x="264" y="1350"/>
                </a:lnTo>
                <a:lnTo>
                  <a:pt x="142" y="1912"/>
                </a:lnTo>
                <a:lnTo>
                  <a:pt x="0" y="241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10045141" y="4423776"/>
            <a:ext cx="186355" cy="55047"/>
          </a:xfrm>
          <a:custGeom>
            <a:avLst/>
            <a:gdLst/>
            <a:ahLst/>
            <a:cxnLst/>
            <a:rect l="l" t="t" r="r" b="b"/>
            <a:pathLst>
              <a:path w="2038" h="602">
                <a:moveTo>
                  <a:pt x="2038" y="0"/>
                </a:moveTo>
                <a:lnTo>
                  <a:pt x="1594" y="177"/>
                </a:lnTo>
                <a:lnTo>
                  <a:pt x="1110" y="336"/>
                </a:lnTo>
                <a:lnTo>
                  <a:pt x="581" y="478"/>
                </a:lnTo>
                <a:lnTo>
                  <a:pt x="0" y="602"/>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7947416" y="4467484"/>
            <a:ext cx="253197" cy="35936"/>
          </a:xfrm>
          <a:custGeom>
            <a:avLst/>
            <a:gdLst/>
            <a:ahLst/>
            <a:cxnLst/>
            <a:rect l="l" t="t" r="r" b="b"/>
            <a:pathLst>
              <a:path w="2769" h="393">
                <a:moveTo>
                  <a:pt x="2769" y="393"/>
                </a:moveTo>
                <a:lnTo>
                  <a:pt x="1945" y="320"/>
                </a:lnTo>
                <a:lnTo>
                  <a:pt x="1224" y="230"/>
                </a:lnTo>
                <a:lnTo>
                  <a:pt x="581" y="124"/>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7523409" y="4061856"/>
            <a:ext cx="62911" cy="162855"/>
          </a:xfrm>
          <a:custGeom>
            <a:avLst/>
            <a:gdLst/>
            <a:ahLst/>
            <a:cxnLst/>
            <a:rect l="l" t="t" r="r" b="b"/>
            <a:pathLst>
              <a:path w="688" h="1781">
                <a:moveTo>
                  <a:pt x="688" y="1781"/>
                </a:moveTo>
                <a:lnTo>
                  <a:pt x="485" y="1392"/>
                </a:lnTo>
                <a:lnTo>
                  <a:pt x="303" y="969"/>
                </a:lnTo>
                <a:lnTo>
                  <a:pt x="142" y="507"/>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7495154" y="2228576"/>
            <a:ext cx="41239" cy="221193"/>
          </a:xfrm>
          <a:custGeom>
            <a:avLst/>
            <a:gdLst/>
            <a:ahLst/>
            <a:cxnLst/>
            <a:rect l="l" t="t" r="r" b="b"/>
            <a:pathLst>
              <a:path w="451" h="2419">
                <a:moveTo>
                  <a:pt x="0" y="2419"/>
                </a:moveTo>
                <a:lnTo>
                  <a:pt x="84" y="1700"/>
                </a:lnTo>
                <a:lnTo>
                  <a:pt x="187" y="1069"/>
                </a:lnTo>
                <a:lnTo>
                  <a:pt x="309" y="507"/>
                </a:lnTo>
                <a:lnTo>
                  <a:pt x="451"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7814188" y="1857969"/>
            <a:ext cx="186355" cy="55047"/>
          </a:xfrm>
          <a:custGeom>
            <a:avLst/>
            <a:gdLst/>
            <a:ahLst/>
            <a:cxnLst/>
            <a:rect l="l" t="t" r="r" b="b"/>
            <a:pathLst>
              <a:path w="2038" h="602">
                <a:moveTo>
                  <a:pt x="0" y="602"/>
                </a:moveTo>
                <a:lnTo>
                  <a:pt x="444" y="425"/>
                </a:lnTo>
                <a:lnTo>
                  <a:pt x="928" y="266"/>
                </a:lnTo>
                <a:lnTo>
                  <a:pt x="1457" y="124"/>
                </a:lnTo>
                <a:lnTo>
                  <a:pt x="2038"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9845070" y="1833372"/>
            <a:ext cx="253197" cy="35936"/>
          </a:xfrm>
          <a:custGeom>
            <a:avLst/>
            <a:gdLst/>
            <a:ahLst/>
            <a:cxnLst/>
            <a:rect l="l" t="t" r="r" b="b"/>
            <a:pathLst>
              <a:path w="2769" h="393">
                <a:moveTo>
                  <a:pt x="0" y="0"/>
                </a:moveTo>
                <a:lnTo>
                  <a:pt x="824" y="73"/>
                </a:lnTo>
                <a:lnTo>
                  <a:pt x="1545" y="163"/>
                </a:lnTo>
                <a:lnTo>
                  <a:pt x="2188" y="269"/>
                </a:lnTo>
                <a:lnTo>
                  <a:pt x="2769" y="393"/>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0459364" y="2112081"/>
            <a:ext cx="62911" cy="162855"/>
          </a:xfrm>
          <a:custGeom>
            <a:avLst/>
            <a:gdLst/>
            <a:ahLst/>
            <a:cxnLst/>
            <a:rect l="l" t="t" r="r" b="b"/>
            <a:pathLst>
              <a:path w="688" h="1781">
                <a:moveTo>
                  <a:pt x="0" y="0"/>
                </a:moveTo>
                <a:lnTo>
                  <a:pt x="203" y="389"/>
                </a:lnTo>
                <a:lnTo>
                  <a:pt x="385" y="812"/>
                </a:lnTo>
                <a:lnTo>
                  <a:pt x="546" y="1274"/>
                </a:lnTo>
                <a:lnTo>
                  <a:pt x="688" y="1781"/>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 3"/>
          <p:cNvSpPr txBox="1"/>
          <p:nvPr/>
        </p:nvSpPr>
        <p:spPr>
          <a:xfrm>
            <a:off x="7635240" y="1995995"/>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9D7B35"/>
                </a:solidFill>
                <a:latin typeface="Trebuchet MS"/>
              </a:rPr>
              <a:t>3</a:t>
            </a:r>
          </a:p>
        </p:txBody>
      </p:sp>
      <p:sp>
        <p:nvSpPr>
          <p:cNvPr id="53" name="body: Poisoning defence"/>
          <p:cNvSpPr txBox="1"/>
          <p:nvPr/>
        </p:nvSpPr>
        <p:spPr>
          <a:xfrm>
            <a:off x="8156448" y="1984248"/>
            <a:ext cx="1997964" cy="707644"/>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9D7B35"/>
                </a:solidFill>
                <a:latin typeface="Chalkboard SE"/>
              </a:rPr>
              <a:t>Poisoning</a:t>
            </a:r>
            <a:br/>
            <a:r>
              <a:rPr sz="1850" b="1">
                <a:solidFill>
                  <a:srgbClr val="9D7B35"/>
                </a:solidFill>
                <a:latin typeface="Chalkboard SE"/>
              </a:rPr>
              <a:t>defence</a:t>
            </a:r>
          </a:p>
        </p:txBody>
      </p:sp>
      <p:sp>
        <p:nvSpPr>
          <p:cNvPr id="54" name="body: No report changes policy without a reproduction."/>
          <p:cNvSpPr txBox="1"/>
          <p:nvPr/>
        </p:nvSpPr>
        <p:spPr>
          <a:xfrm>
            <a:off x="7726679" y="3101403"/>
            <a:ext cx="2592324" cy="987932"/>
          </a:xfrm>
          <a:prstGeom prst="rect">
            <a:avLst/>
          </a:prstGeom>
          <a:noFill/>
        </p:spPr>
        <p:txBody>
          <a:bodyPr wrap="none" lIns="0" rIns="0" tIns="0" bIns="0" anchor="t">
            <a:noAutofit/>
          </a:bodyPr>
          <a:lstStyle/>
          <a:p>
            <a:pPr algn="ctr">
              <a:lnSpc>
                <a:spcPts val="2413"/>
              </a:lnSpc>
              <a:spcBef>
                <a:spcPts val="0"/>
              </a:spcBef>
              <a:spcAft>
                <a:spcPts val="0"/>
              </a:spcAft>
            </a:pPr>
            <a:r>
              <a:rPr sz="1900" b="0">
                <a:solidFill>
                  <a:srgbClr val="293E46"/>
                </a:solidFill>
                <a:latin typeface="Trebuchet MS"/>
              </a:rPr>
              <a:t>No report changes</a:t>
            </a:r>
            <a:br/>
            <a:r>
              <a:rPr sz="1900" b="0">
                <a:solidFill>
                  <a:srgbClr val="293E46"/>
                </a:solidFill>
                <a:latin typeface="Trebuchet MS"/>
              </a:rPr>
              <a:t>policy without a</a:t>
            </a:r>
            <a:br/>
            <a:r>
              <a:rPr sz="1900" b="0">
                <a:solidFill>
                  <a:srgbClr val="293E46"/>
                </a:solidFill>
                <a:latin typeface="Trebuchet MS"/>
              </a:rPr>
              <a:t>reproduction.</a:t>
            </a:r>
          </a:p>
        </p:txBody>
      </p:sp>
      <p:sp>
        <p:nvSpPr>
          <p:cNvPr id="55" name="Rounded Rectangle 54"/>
          <p:cNvSpPr/>
          <p:nvPr/>
        </p:nvSpPr>
        <p:spPr>
          <a:xfrm>
            <a:off x="10885932" y="1810512"/>
            <a:ext cx="3104388" cy="2715768"/>
          </a:xfrm>
          <a:prstGeom prst="roundRect">
            <a:avLst>
              <a:gd name="adj" fmla="val 18000"/>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10887304" y="1816090"/>
            <a:ext cx="3103016" cy="2709001"/>
          </a:xfrm>
          <a:custGeom>
            <a:avLst/>
            <a:gdLst/>
            <a:ahLst/>
            <a:cxnLst/>
            <a:rect l="l" t="t" r="r" b="b"/>
            <a:pathLst>
              <a:path w="33935" h="29626">
                <a:moveTo>
                  <a:pt x="33935" y="14854"/>
                </a:moveTo>
                <a:lnTo>
                  <a:pt x="33806" y="19368"/>
                </a:lnTo>
                <a:lnTo>
                  <a:pt x="33828" y="20695"/>
                </a:lnTo>
                <a:lnTo>
                  <a:pt x="33821" y="21745"/>
                </a:lnTo>
                <a:lnTo>
                  <a:pt x="33604" y="22566"/>
                </a:lnTo>
                <a:lnTo>
                  <a:pt x="33594" y="23473"/>
                </a:lnTo>
                <a:lnTo>
                  <a:pt x="33367" y="23961"/>
                </a:lnTo>
                <a:lnTo>
                  <a:pt x="33282" y="24649"/>
                </a:lnTo>
                <a:lnTo>
                  <a:pt x="33277" y="25085"/>
                </a:lnTo>
                <a:lnTo>
                  <a:pt x="32928" y="25484"/>
                </a:lnTo>
                <a:lnTo>
                  <a:pt x="32980" y="26035"/>
                </a:lnTo>
                <a:lnTo>
                  <a:pt x="32628" y="26284"/>
                </a:lnTo>
                <a:lnTo>
                  <a:pt x="32362" y="26643"/>
                </a:lnTo>
                <a:lnTo>
                  <a:pt x="32241" y="27132"/>
                </a:lnTo>
                <a:lnTo>
                  <a:pt x="31842" y="27276"/>
                </a:lnTo>
                <a:lnTo>
                  <a:pt x="31712" y="27700"/>
                </a:lnTo>
                <a:lnTo>
                  <a:pt x="31297" y="27816"/>
                </a:lnTo>
                <a:lnTo>
                  <a:pt x="30959" y="28089"/>
                </a:lnTo>
                <a:lnTo>
                  <a:pt x="30615" y="28274"/>
                </a:lnTo>
                <a:lnTo>
                  <a:pt x="30079" y="28446"/>
                </a:lnTo>
                <a:lnTo>
                  <a:pt x="29643" y="28627"/>
                </a:lnTo>
                <a:lnTo>
                  <a:pt x="29353" y="28921"/>
                </a:lnTo>
                <a:lnTo>
                  <a:pt x="28639" y="29104"/>
                </a:lnTo>
                <a:lnTo>
                  <a:pt x="28029" y="29197"/>
                </a:lnTo>
                <a:lnTo>
                  <a:pt x="27590" y="29288"/>
                </a:lnTo>
                <a:lnTo>
                  <a:pt x="26864" y="29238"/>
                </a:lnTo>
                <a:lnTo>
                  <a:pt x="25960" y="29460"/>
                </a:lnTo>
                <a:lnTo>
                  <a:pt x="25100" y="29475"/>
                </a:lnTo>
                <a:lnTo>
                  <a:pt x="23912" y="29410"/>
                </a:lnTo>
                <a:lnTo>
                  <a:pt x="22191" y="29626"/>
                </a:lnTo>
                <a:lnTo>
                  <a:pt x="16993" y="29431"/>
                </a:lnTo>
                <a:lnTo>
                  <a:pt x="11906" y="29487"/>
                </a:lnTo>
                <a:lnTo>
                  <a:pt x="10224" y="29403"/>
                </a:lnTo>
                <a:lnTo>
                  <a:pt x="8840" y="29537"/>
                </a:lnTo>
                <a:lnTo>
                  <a:pt x="7981" y="29360"/>
                </a:lnTo>
                <a:lnTo>
                  <a:pt x="7118" y="29228"/>
                </a:lnTo>
                <a:lnTo>
                  <a:pt x="6540" y="29171"/>
                </a:lnTo>
                <a:lnTo>
                  <a:pt x="5801" y="29000"/>
                </a:lnTo>
                <a:lnTo>
                  <a:pt x="5127" y="28997"/>
                </a:lnTo>
                <a:lnTo>
                  <a:pt x="4677" y="28902"/>
                </a:lnTo>
                <a:lnTo>
                  <a:pt x="4288" y="28640"/>
                </a:lnTo>
                <a:lnTo>
                  <a:pt x="3696" y="28418"/>
                </a:lnTo>
                <a:lnTo>
                  <a:pt x="3227" y="28205"/>
                </a:lnTo>
                <a:lnTo>
                  <a:pt x="3030" y="28217"/>
                </a:lnTo>
                <a:lnTo>
                  <a:pt x="2611" y="27773"/>
                </a:lnTo>
                <a:lnTo>
                  <a:pt x="2163" y="27686"/>
                </a:lnTo>
                <a:lnTo>
                  <a:pt x="2001" y="27387"/>
                </a:lnTo>
                <a:lnTo>
                  <a:pt x="1649" y="27064"/>
                </a:lnTo>
                <a:lnTo>
                  <a:pt x="1495" y="26679"/>
                </a:lnTo>
                <a:lnTo>
                  <a:pt x="1274" y="26363"/>
                </a:lnTo>
                <a:lnTo>
                  <a:pt x="983" y="25951"/>
                </a:lnTo>
                <a:lnTo>
                  <a:pt x="835" y="25467"/>
                </a:lnTo>
                <a:lnTo>
                  <a:pt x="576" y="25127"/>
                </a:lnTo>
                <a:lnTo>
                  <a:pt x="451" y="24481"/>
                </a:lnTo>
                <a:lnTo>
                  <a:pt x="559" y="24017"/>
                </a:lnTo>
                <a:lnTo>
                  <a:pt x="283" y="23251"/>
                </a:lnTo>
                <a:lnTo>
                  <a:pt x="361" y="22718"/>
                </a:lnTo>
                <a:lnTo>
                  <a:pt x="196" y="21762"/>
                </a:lnTo>
                <a:lnTo>
                  <a:pt x="70" y="20741"/>
                </a:lnTo>
                <a:lnTo>
                  <a:pt x="198" y="19211"/>
                </a:lnTo>
                <a:lnTo>
                  <a:pt x="92" y="14811"/>
                </a:lnTo>
                <a:lnTo>
                  <a:pt x="0" y="10326"/>
                </a:lnTo>
                <a:lnTo>
                  <a:pt x="33" y="8899"/>
                </a:lnTo>
                <a:lnTo>
                  <a:pt x="244" y="7865"/>
                </a:lnTo>
                <a:lnTo>
                  <a:pt x="252" y="6913"/>
                </a:lnTo>
                <a:lnTo>
                  <a:pt x="309" y="6304"/>
                </a:lnTo>
                <a:lnTo>
                  <a:pt x="553" y="5678"/>
                </a:lnTo>
                <a:lnTo>
                  <a:pt x="562" y="4920"/>
                </a:lnTo>
                <a:lnTo>
                  <a:pt x="577" y="4602"/>
                </a:lnTo>
                <a:lnTo>
                  <a:pt x="752" y="3941"/>
                </a:lnTo>
                <a:lnTo>
                  <a:pt x="991" y="3712"/>
                </a:lnTo>
                <a:lnTo>
                  <a:pt x="1368" y="3283"/>
                </a:lnTo>
                <a:lnTo>
                  <a:pt x="1603" y="2777"/>
                </a:lnTo>
                <a:lnTo>
                  <a:pt x="1638" y="2532"/>
                </a:lnTo>
                <a:lnTo>
                  <a:pt x="1999" y="2338"/>
                </a:lnTo>
                <a:lnTo>
                  <a:pt x="2385" y="2075"/>
                </a:lnTo>
                <a:lnTo>
                  <a:pt x="2691" y="1699"/>
                </a:lnTo>
                <a:lnTo>
                  <a:pt x="2939" y="1505"/>
                </a:lnTo>
                <a:lnTo>
                  <a:pt x="3386" y="1158"/>
                </a:lnTo>
                <a:lnTo>
                  <a:pt x="3626" y="1083"/>
                </a:lnTo>
                <a:lnTo>
                  <a:pt x="4103" y="1001"/>
                </a:lnTo>
                <a:lnTo>
                  <a:pt x="4611" y="691"/>
                </a:lnTo>
                <a:lnTo>
                  <a:pt x="5216" y="502"/>
                </a:lnTo>
                <a:lnTo>
                  <a:pt x="5756" y="475"/>
                </a:lnTo>
                <a:lnTo>
                  <a:pt x="6432" y="462"/>
                </a:lnTo>
                <a:lnTo>
                  <a:pt x="7024" y="204"/>
                </a:lnTo>
                <a:lnTo>
                  <a:pt x="7860" y="274"/>
                </a:lnTo>
                <a:lnTo>
                  <a:pt x="9046" y="27"/>
                </a:lnTo>
                <a:lnTo>
                  <a:pt x="10101" y="91"/>
                </a:lnTo>
                <a:lnTo>
                  <a:pt x="11652" y="103"/>
                </a:lnTo>
                <a:lnTo>
                  <a:pt x="16848" y="0"/>
                </a:lnTo>
                <a:lnTo>
                  <a:pt x="22018" y="46"/>
                </a:lnTo>
                <a:lnTo>
                  <a:pt x="23883" y="132"/>
                </a:lnTo>
                <a:lnTo>
                  <a:pt x="25063" y="55"/>
                </a:lnTo>
                <a:lnTo>
                  <a:pt x="25996" y="271"/>
                </a:lnTo>
                <a:lnTo>
                  <a:pt x="26678" y="313"/>
                </a:lnTo>
                <a:lnTo>
                  <a:pt x="27611" y="289"/>
                </a:lnTo>
                <a:lnTo>
                  <a:pt x="28033" y="521"/>
                </a:lnTo>
                <a:lnTo>
                  <a:pt x="28742" y="641"/>
                </a:lnTo>
                <a:lnTo>
                  <a:pt x="29294" y="777"/>
                </a:lnTo>
                <a:lnTo>
                  <a:pt x="29861" y="973"/>
                </a:lnTo>
                <a:lnTo>
                  <a:pt x="30053" y="1105"/>
                </a:lnTo>
                <a:lnTo>
                  <a:pt x="30488" y="1328"/>
                </a:lnTo>
                <a:lnTo>
                  <a:pt x="30874" y="1575"/>
                </a:lnTo>
                <a:lnTo>
                  <a:pt x="31269" y="1808"/>
                </a:lnTo>
                <a:lnTo>
                  <a:pt x="31730" y="1893"/>
                </a:lnTo>
                <a:lnTo>
                  <a:pt x="31813" y="2233"/>
                </a:lnTo>
                <a:lnTo>
                  <a:pt x="32304" y="2621"/>
                </a:lnTo>
                <a:lnTo>
                  <a:pt x="32524" y="2941"/>
                </a:lnTo>
                <a:lnTo>
                  <a:pt x="32716" y="3187"/>
                </a:lnTo>
                <a:lnTo>
                  <a:pt x="32842" y="3618"/>
                </a:lnTo>
                <a:lnTo>
                  <a:pt x="33162" y="3969"/>
                </a:lnTo>
                <a:lnTo>
                  <a:pt x="33297" y="4588"/>
                </a:lnTo>
                <a:lnTo>
                  <a:pt x="33371" y="5031"/>
                </a:lnTo>
                <a:lnTo>
                  <a:pt x="33596" y="5497"/>
                </a:lnTo>
                <a:lnTo>
                  <a:pt x="33663" y="6263"/>
                </a:lnTo>
                <a:lnTo>
                  <a:pt x="33601" y="6851"/>
                </a:lnTo>
                <a:lnTo>
                  <a:pt x="33652" y="7731"/>
                </a:lnTo>
                <a:lnTo>
                  <a:pt x="33769" y="8783"/>
                </a:lnTo>
                <a:lnTo>
                  <a:pt x="33813" y="10274"/>
                </a:lnTo>
                <a:lnTo>
                  <a:pt x="33704" y="14831"/>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10892333" y="1819290"/>
            <a:ext cx="3095610" cy="2699309"/>
          </a:xfrm>
          <a:custGeom>
            <a:avLst/>
            <a:gdLst/>
            <a:ahLst/>
            <a:cxnLst/>
            <a:rect l="l" t="t" r="r" b="b"/>
            <a:pathLst>
              <a:path w="33854" h="29520">
                <a:moveTo>
                  <a:pt x="33783" y="14767"/>
                </a:moveTo>
                <a:lnTo>
                  <a:pt x="33854" y="19225"/>
                </a:lnTo>
                <a:lnTo>
                  <a:pt x="33820" y="20633"/>
                </a:lnTo>
                <a:lnTo>
                  <a:pt x="33581" y="21723"/>
                </a:lnTo>
                <a:lnTo>
                  <a:pt x="33596" y="22548"/>
                </a:lnTo>
                <a:lnTo>
                  <a:pt x="33525" y="23452"/>
                </a:lnTo>
                <a:lnTo>
                  <a:pt x="33469" y="24073"/>
                </a:lnTo>
                <a:lnTo>
                  <a:pt x="33221" y="24469"/>
                </a:lnTo>
                <a:lnTo>
                  <a:pt x="33174" y="24923"/>
                </a:lnTo>
                <a:lnTo>
                  <a:pt x="33110" y="25483"/>
                </a:lnTo>
                <a:lnTo>
                  <a:pt x="32787" y="25805"/>
                </a:lnTo>
                <a:lnTo>
                  <a:pt x="32681" y="26278"/>
                </a:lnTo>
                <a:lnTo>
                  <a:pt x="32466" y="26694"/>
                </a:lnTo>
                <a:lnTo>
                  <a:pt x="32252" y="26969"/>
                </a:lnTo>
                <a:lnTo>
                  <a:pt x="31971" y="27362"/>
                </a:lnTo>
                <a:lnTo>
                  <a:pt x="31676" y="27569"/>
                </a:lnTo>
                <a:lnTo>
                  <a:pt x="31333" y="27924"/>
                </a:lnTo>
                <a:lnTo>
                  <a:pt x="30969" y="28191"/>
                </a:lnTo>
                <a:lnTo>
                  <a:pt x="30475" y="28372"/>
                </a:lnTo>
                <a:lnTo>
                  <a:pt x="30097" y="28397"/>
                </a:lnTo>
                <a:lnTo>
                  <a:pt x="29675" y="28645"/>
                </a:lnTo>
                <a:lnTo>
                  <a:pt x="29155" y="28789"/>
                </a:lnTo>
                <a:lnTo>
                  <a:pt x="28731" y="29056"/>
                </a:lnTo>
                <a:lnTo>
                  <a:pt x="28089" y="29162"/>
                </a:lnTo>
                <a:lnTo>
                  <a:pt x="27551" y="29140"/>
                </a:lnTo>
                <a:lnTo>
                  <a:pt x="26778" y="29327"/>
                </a:lnTo>
                <a:lnTo>
                  <a:pt x="25868" y="29345"/>
                </a:lnTo>
                <a:lnTo>
                  <a:pt x="24928" y="29407"/>
                </a:lnTo>
                <a:lnTo>
                  <a:pt x="23842" y="29475"/>
                </a:lnTo>
                <a:lnTo>
                  <a:pt x="22121" y="29520"/>
                </a:lnTo>
                <a:lnTo>
                  <a:pt x="16969" y="29461"/>
                </a:lnTo>
                <a:lnTo>
                  <a:pt x="11743" y="29520"/>
                </a:lnTo>
                <a:lnTo>
                  <a:pt x="10048" y="29371"/>
                </a:lnTo>
                <a:lnTo>
                  <a:pt x="8783" y="29407"/>
                </a:lnTo>
                <a:lnTo>
                  <a:pt x="8040" y="29457"/>
                </a:lnTo>
                <a:lnTo>
                  <a:pt x="7189" y="29355"/>
                </a:lnTo>
                <a:lnTo>
                  <a:pt x="6322" y="29113"/>
                </a:lnTo>
                <a:lnTo>
                  <a:pt x="5782" y="29050"/>
                </a:lnTo>
                <a:lnTo>
                  <a:pt x="5247" y="28972"/>
                </a:lnTo>
                <a:lnTo>
                  <a:pt x="4528" y="28897"/>
                </a:lnTo>
                <a:lnTo>
                  <a:pt x="4120" y="28672"/>
                </a:lnTo>
                <a:lnTo>
                  <a:pt x="3688" y="28480"/>
                </a:lnTo>
                <a:lnTo>
                  <a:pt x="3162" y="28198"/>
                </a:lnTo>
                <a:lnTo>
                  <a:pt x="2880" y="28182"/>
                </a:lnTo>
                <a:lnTo>
                  <a:pt x="2667" y="27900"/>
                </a:lnTo>
                <a:lnTo>
                  <a:pt x="2122" y="27485"/>
                </a:lnTo>
                <a:lnTo>
                  <a:pt x="2004" y="27180"/>
                </a:lnTo>
                <a:lnTo>
                  <a:pt x="1636" y="26908"/>
                </a:lnTo>
                <a:lnTo>
                  <a:pt x="1455" y="26642"/>
                </a:lnTo>
                <a:lnTo>
                  <a:pt x="1285" y="26198"/>
                </a:lnTo>
                <a:lnTo>
                  <a:pt x="872" y="26025"/>
                </a:lnTo>
                <a:lnTo>
                  <a:pt x="888" y="25440"/>
                </a:lnTo>
                <a:lnTo>
                  <a:pt x="670" y="25041"/>
                </a:lnTo>
                <a:lnTo>
                  <a:pt x="557" y="24438"/>
                </a:lnTo>
                <a:lnTo>
                  <a:pt x="328" y="23926"/>
                </a:lnTo>
                <a:lnTo>
                  <a:pt x="281" y="23333"/>
                </a:lnTo>
                <a:lnTo>
                  <a:pt x="317" y="22640"/>
                </a:lnTo>
                <a:lnTo>
                  <a:pt x="37" y="21779"/>
                </a:lnTo>
                <a:lnTo>
                  <a:pt x="101" y="20681"/>
                </a:lnTo>
                <a:lnTo>
                  <a:pt x="0" y="19383"/>
                </a:lnTo>
                <a:lnTo>
                  <a:pt x="2" y="14746"/>
                </a:lnTo>
                <a:lnTo>
                  <a:pt x="133" y="10242"/>
                </a:lnTo>
                <a:lnTo>
                  <a:pt x="161" y="8857"/>
                </a:lnTo>
                <a:lnTo>
                  <a:pt x="150" y="7791"/>
                </a:lnTo>
                <a:lnTo>
                  <a:pt x="291" y="7005"/>
                </a:lnTo>
                <a:lnTo>
                  <a:pt x="347" y="6235"/>
                </a:lnTo>
                <a:lnTo>
                  <a:pt x="318" y="5631"/>
                </a:lnTo>
                <a:lnTo>
                  <a:pt x="411" y="4888"/>
                </a:lnTo>
                <a:lnTo>
                  <a:pt x="575" y="4464"/>
                </a:lnTo>
                <a:lnTo>
                  <a:pt x="877" y="3919"/>
                </a:lnTo>
                <a:lnTo>
                  <a:pt x="1018" y="3505"/>
                </a:lnTo>
                <a:lnTo>
                  <a:pt x="1190" y="3195"/>
                </a:lnTo>
                <a:lnTo>
                  <a:pt x="1505" y="2733"/>
                </a:lnTo>
                <a:lnTo>
                  <a:pt x="1561" y="2408"/>
                </a:lnTo>
                <a:lnTo>
                  <a:pt x="2063" y="2263"/>
                </a:lnTo>
                <a:lnTo>
                  <a:pt x="2361" y="1967"/>
                </a:lnTo>
                <a:lnTo>
                  <a:pt x="2643" y="1779"/>
                </a:lnTo>
                <a:lnTo>
                  <a:pt x="2894" y="1491"/>
                </a:lnTo>
                <a:lnTo>
                  <a:pt x="3275" y="1166"/>
                </a:lnTo>
                <a:lnTo>
                  <a:pt x="3693" y="1089"/>
                </a:lnTo>
                <a:lnTo>
                  <a:pt x="4069" y="788"/>
                </a:lnTo>
                <a:lnTo>
                  <a:pt x="4503" y="765"/>
                </a:lnTo>
                <a:lnTo>
                  <a:pt x="5154" y="636"/>
                </a:lnTo>
                <a:lnTo>
                  <a:pt x="5716" y="326"/>
                </a:lnTo>
                <a:lnTo>
                  <a:pt x="6364" y="288"/>
                </a:lnTo>
                <a:lnTo>
                  <a:pt x="7154" y="180"/>
                </a:lnTo>
                <a:lnTo>
                  <a:pt x="7892" y="118"/>
                </a:lnTo>
                <a:lnTo>
                  <a:pt x="9003" y="188"/>
                </a:lnTo>
                <a:lnTo>
                  <a:pt x="10020" y="170"/>
                </a:lnTo>
                <a:lnTo>
                  <a:pt x="11671" y="88"/>
                </a:lnTo>
                <a:lnTo>
                  <a:pt x="16843" y="140"/>
                </a:lnTo>
                <a:lnTo>
                  <a:pt x="22127" y="41"/>
                </a:lnTo>
                <a:lnTo>
                  <a:pt x="23674" y="0"/>
                </a:lnTo>
                <a:lnTo>
                  <a:pt x="24958" y="35"/>
                </a:lnTo>
                <a:lnTo>
                  <a:pt x="25949" y="255"/>
                </a:lnTo>
                <a:lnTo>
                  <a:pt x="26791" y="337"/>
                </a:lnTo>
                <a:lnTo>
                  <a:pt x="27421" y="288"/>
                </a:lnTo>
                <a:lnTo>
                  <a:pt x="27987" y="307"/>
                </a:lnTo>
                <a:lnTo>
                  <a:pt x="28704" y="602"/>
                </a:lnTo>
                <a:lnTo>
                  <a:pt x="29089" y="651"/>
                </a:lnTo>
                <a:lnTo>
                  <a:pt x="29566" y="945"/>
                </a:lnTo>
                <a:lnTo>
                  <a:pt x="30054" y="919"/>
                </a:lnTo>
                <a:lnTo>
                  <a:pt x="30584" y="1162"/>
                </a:lnTo>
                <a:lnTo>
                  <a:pt x="30865" y="1447"/>
                </a:lnTo>
                <a:lnTo>
                  <a:pt x="31151" y="1725"/>
                </a:lnTo>
                <a:lnTo>
                  <a:pt x="31538" y="1900"/>
                </a:lnTo>
                <a:lnTo>
                  <a:pt x="31769" y="2104"/>
                </a:lnTo>
                <a:lnTo>
                  <a:pt x="32118" y="2532"/>
                </a:lnTo>
                <a:lnTo>
                  <a:pt x="32354" y="2925"/>
                </a:lnTo>
                <a:lnTo>
                  <a:pt x="32677" y="3142"/>
                </a:lnTo>
                <a:lnTo>
                  <a:pt x="32882" y="3609"/>
                </a:lnTo>
                <a:lnTo>
                  <a:pt x="33036" y="3967"/>
                </a:lnTo>
                <a:lnTo>
                  <a:pt x="33164" y="4591"/>
                </a:lnTo>
                <a:lnTo>
                  <a:pt x="33207" y="4988"/>
                </a:lnTo>
                <a:lnTo>
                  <a:pt x="33298" y="5528"/>
                </a:lnTo>
                <a:lnTo>
                  <a:pt x="33631" y="6292"/>
                </a:lnTo>
                <a:lnTo>
                  <a:pt x="33728" y="6790"/>
                </a:lnTo>
                <a:lnTo>
                  <a:pt x="33732" y="7757"/>
                </a:lnTo>
                <a:lnTo>
                  <a:pt x="33796" y="8827"/>
                </a:lnTo>
                <a:lnTo>
                  <a:pt x="33640" y="10196"/>
                </a:lnTo>
                <a:lnTo>
                  <a:pt x="33742" y="14833"/>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13924575" y="3887023"/>
            <a:ext cx="41239" cy="221193"/>
          </a:xfrm>
          <a:custGeom>
            <a:avLst/>
            <a:gdLst/>
            <a:ahLst/>
            <a:cxnLst/>
            <a:rect l="l" t="t" r="r" b="b"/>
            <a:pathLst>
              <a:path w="451" h="2419">
                <a:moveTo>
                  <a:pt x="451" y="0"/>
                </a:moveTo>
                <a:lnTo>
                  <a:pt x="367" y="719"/>
                </a:lnTo>
                <a:lnTo>
                  <a:pt x="264" y="1350"/>
                </a:lnTo>
                <a:lnTo>
                  <a:pt x="142" y="1912"/>
                </a:lnTo>
                <a:lnTo>
                  <a:pt x="0" y="2419"/>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13460425" y="4423776"/>
            <a:ext cx="186355" cy="55047"/>
          </a:xfrm>
          <a:custGeom>
            <a:avLst/>
            <a:gdLst/>
            <a:ahLst/>
            <a:cxnLst/>
            <a:rect l="l" t="t" r="r" b="b"/>
            <a:pathLst>
              <a:path w="2038" h="602">
                <a:moveTo>
                  <a:pt x="2038" y="0"/>
                </a:moveTo>
                <a:lnTo>
                  <a:pt x="1594" y="177"/>
                </a:lnTo>
                <a:lnTo>
                  <a:pt x="1110" y="336"/>
                </a:lnTo>
                <a:lnTo>
                  <a:pt x="581" y="478"/>
                </a:lnTo>
                <a:lnTo>
                  <a:pt x="0" y="602"/>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11362700" y="4467484"/>
            <a:ext cx="253197" cy="35936"/>
          </a:xfrm>
          <a:custGeom>
            <a:avLst/>
            <a:gdLst/>
            <a:ahLst/>
            <a:cxnLst/>
            <a:rect l="l" t="t" r="r" b="b"/>
            <a:pathLst>
              <a:path w="2769" h="393">
                <a:moveTo>
                  <a:pt x="2769" y="393"/>
                </a:moveTo>
                <a:lnTo>
                  <a:pt x="1945" y="320"/>
                </a:lnTo>
                <a:lnTo>
                  <a:pt x="1224" y="230"/>
                </a:lnTo>
                <a:lnTo>
                  <a:pt x="581" y="124"/>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10938693" y="4061856"/>
            <a:ext cx="62911" cy="162855"/>
          </a:xfrm>
          <a:custGeom>
            <a:avLst/>
            <a:gdLst/>
            <a:ahLst/>
            <a:cxnLst/>
            <a:rect l="l" t="t" r="r" b="b"/>
            <a:pathLst>
              <a:path w="688" h="1781">
                <a:moveTo>
                  <a:pt x="688" y="1781"/>
                </a:moveTo>
                <a:lnTo>
                  <a:pt x="485" y="1392"/>
                </a:lnTo>
                <a:lnTo>
                  <a:pt x="303" y="969"/>
                </a:lnTo>
                <a:lnTo>
                  <a:pt x="142" y="507"/>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10910438" y="2228576"/>
            <a:ext cx="41239" cy="221193"/>
          </a:xfrm>
          <a:custGeom>
            <a:avLst/>
            <a:gdLst/>
            <a:ahLst/>
            <a:cxnLst/>
            <a:rect l="l" t="t" r="r" b="b"/>
            <a:pathLst>
              <a:path w="451" h="2419">
                <a:moveTo>
                  <a:pt x="0" y="2419"/>
                </a:moveTo>
                <a:lnTo>
                  <a:pt x="84" y="1700"/>
                </a:lnTo>
                <a:lnTo>
                  <a:pt x="187" y="1069"/>
                </a:lnTo>
                <a:lnTo>
                  <a:pt x="309" y="507"/>
                </a:lnTo>
                <a:lnTo>
                  <a:pt x="451"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11229472" y="1857969"/>
            <a:ext cx="186355" cy="55047"/>
          </a:xfrm>
          <a:custGeom>
            <a:avLst/>
            <a:gdLst/>
            <a:ahLst/>
            <a:cxnLst/>
            <a:rect l="l" t="t" r="r" b="b"/>
            <a:pathLst>
              <a:path w="2038" h="602">
                <a:moveTo>
                  <a:pt x="0" y="602"/>
                </a:moveTo>
                <a:lnTo>
                  <a:pt x="444" y="425"/>
                </a:lnTo>
                <a:lnTo>
                  <a:pt x="928" y="266"/>
                </a:lnTo>
                <a:lnTo>
                  <a:pt x="1457" y="124"/>
                </a:lnTo>
                <a:lnTo>
                  <a:pt x="2038"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13260354" y="1833372"/>
            <a:ext cx="253197" cy="35936"/>
          </a:xfrm>
          <a:custGeom>
            <a:avLst/>
            <a:gdLst/>
            <a:ahLst/>
            <a:cxnLst/>
            <a:rect l="l" t="t" r="r" b="b"/>
            <a:pathLst>
              <a:path w="2769" h="393">
                <a:moveTo>
                  <a:pt x="0" y="0"/>
                </a:moveTo>
                <a:lnTo>
                  <a:pt x="824" y="73"/>
                </a:lnTo>
                <a:lnTo>
                  <a:pt x="1545" y="163"/>
                </a:lnTo>
                <a:lnTo>
                  <a:pt x="2188" y="269"/>
                </a:lnTo>
                <a:lnTo>
                  <a:pt x="2769" y="393"/>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13874648" y="2112081"/>
            <a:ext cx="62911" cy="162855"/>
          </a:xfrm>
          <a:custGeom>
            <a:avLst/>
            <a:gdLst/>
            <a:ahLst/>
            <a:cxnLst/>
            <a:rect l="l" t="t" r="r" b="b"/>
            <a:pathLst>
              <a:path w="688" h="1781">
                <a:moveTo>
                  <a:pt x="0" y="0"/>
                </a:moveTo>
                <a:lnTo>
                  <a:pt x="203" y="389"/>
                </a:lnTo>
                <a:lnTo>
                  <a:pt x="385" y="812"/>
                </a:lnTo>
                <a:lnTo>
                  <a:pt x="546" y="1274"/>
                </a:lnTo>
                <a:lnTo>
                  <a:pt x="688" y="1781"/>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 4"/>
          <p:cNvSpPr txBox="1"/>
          <p:nvPr/>
        </p:nvSpPr>
        <p:spPr>
          <a:xfrm>
            <a:off x="11050524" y="1995995"/>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AE6B55"/>
                </a:solidFill>
                <a:latin typeface="Trebuchet MS"/>
              </a:rPr>
              <a:t>4</a:t>
            </a:r>
          </a:p>
        </p:txBody>
      </p:sp>
      <p:sp>
        <p:nvSpPr>
          <p:cNvPr id="67" name="body: Cross-benchmark reuse"/>
          <p:cNvSpPr txBox="1"/>
          <p:nvPr/>
        </p:nvSpPr>
        <p:spPr>
          <a:xfrm>
            <a:off x="11571732" y="1984248"/>
            <a:ext cx="1997964" cy="707644"/>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AE6B55"/>
                </a:solidFill>
                <a:latin typeface="Chalkboard SE"/>
              </a:rPr>
              <a:t>Cross-benchmark</a:t>
            </a:r>
            <a:br/>
            <a:r>
              <a:rPr sz="1850" b="1">
                <a:solidFill>
                  <a:srgbClr val="AE6B55"/>
                </a:solidFill>
                <a:latin typeface="Chalkboard SE"/>
              </a:rPr>
              <a:t>reuse</a:t>
            </a:r>
          </a:p>
        </p:txBody>
      </p:sp>
      <p:sp>
        <p:nvSpPr>
          <p:cNvPr id="68" name="body: One fingerprint, probes in several benchmarks."/>
          <p:cNvSpPr txBox="1"/>
          <p:nvPr/>
        </p:nvSpPr>
        <p:spPr>
          <a:xfrm>
            <a:off x="11141963" y="3101403"/>
            <a:ext cx="2592324" cy="987932"/>
          </a:xfrm>
          <a:prstGeom prst="rect">
            <a:avLst/>
          </a:prstGeom>
          <a:noFill/>
        </p:spPr>
        <p:txBody>
          <a:bodyPr wrap="none" lIns="0" rIns="0" tIns="0" bIns="0" anchor="t">
            <a:noAutofit/>
          </a:bodyPr>
          <a:lstStyle/>
          <a:p>
            <a:pPr algn="ctr">
              <a:lnSpc>
                <a:spcPts val="2413"/>
              </a:lnSpc>
              <a:spcBef>
                <a:spcPts val="0"/>
              </a:spcBef>
              <a:spcAft>
                <a:spcPts val="0"/>
              </a:spcAft>
            </a:pPr>
            <a:r>
              <a:rPr sz="1900" b="0">
                <a:solidFill>
                  <a:srgbClr val="293E46"/>
                </a:solidFill>
                <a:latin typeface="Trebuchet MS"/>
              </a:rPr>
              <a:t>One fingerprint,</a:t>
            </a:r>
            <a:br/>
            <a:r>
              <a:rPr sz="1900" b="0">
                <a:solidFill>
                  <a:srgbClr val="293E46"/>
                </a:solidFill>
                <a:latin typeface="Trebuchet MS"/>
              </a:rPr>
              <a:t>probes in several</a:t>
            </a:r>
            <a:br/>
            <a:r>
              <a:rPr sz="1900" b="0">
                <a:solidFill>
                  <a:srgbClr val="293E46"/>
                </a:solidFill>
                <a:latin typeface="Trebuchet MS"/>
              </a:rPr>
              <a:t>benchmarks.</a:t>
            </a:r>
          </a:p>
        </p:txBody>
      </p:sp>
      <p:sp>
        <p:nvSpPr>
          <p:cNvPr id="69" name="Rounded Rectangle 68"/>
          <p:cNvSpPr/>
          <p:nvPr/>
        </p:nvSpPr>
        <p:spPr>
          <a:xfrm>
            <a:off x="640080" y="4727448"/>
            <a:ext cx="3104388" cy="2715768"/>
          </a:xfrm>
          <a:prstGeom prst="roundRect">
            <a:avLst>
              <a:gd name="adj" fmla="val 18000"/>
            </a:avLst>
          </a:prstGeom>
          <a:solidFill>
            <a:srgbClr val="F0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643280" y="4728362"/>
            <a:ext cx="3096250" cy="2711745"/>
          </a:xfrm>
          <a:custGeom>
            <a:avLst/>
            <a:gdLst/>
            <a:ahLst/>
            <a:cxnLst/>
            <a:rect l="l" t="t" r="r" b="b"/>
            <a:pathLst>
              <a:path w="33861" h="29656">
                <a:moveTo>
                  <a:pt x="33829" y="14914"/>
                </a:moveTo>
                <a:lnTo>
                  <a:pt x="33797" y="19353"/>
                </a:lnTo>
                <a:lnTo>
                  <a:pt x="33782" y="20699"/>
                </a:lnTo>
                <a:lnTo>
                  <a:pt x="33600" y="21795"/>
                </a:lnTo>
                <a:lnTo>
                  <a:pt x="33692" y="22723"/>
                </a:lnTo>
                <a:lnTo>
                  <a:pt x="33655" y="23517"/>
                </a:lnTo>
                <a:lnTo>
                  <a:pt x="33579" y="24130"/>
                </a:lnTo>
                <a:lnTo>
                  <a:pt x="33414" y="24662"/>
                </a:lnTo>
                <a:lnTo>
                  <a:pt x="33307" y="25121"/>
                </a:lnTo>
                <a:lnTo>
                  <a:pt x="33087" y="25549"/>
                </a:lnTo>
                <a:lnTo>
                  <a:pt x="32795" y="26095"/>
                </a:lnTo>
                <a:lnTo>
                  <a:pt x="32756" y="26504"/>
                </a:lnTo>
                <a:lnTo>
                  <a:pt x="32422" y="26783"/>
                </a:lnTo>
                <a:lnTo>
                  <a:pt x="32196" y="27181"/>
                </a:lnTo>
                <a:lnTo>
                  <a:pt x="31984" y="27451"/>
                </a:lnTo>
                <a:lnTo>
                  <a:pt x="31655" y="27603"/>
                </a:lnTo>
                <a:lnTo>
                  <a:pt x="31366" y="27909"/>
                </a:lnTo>
                <a:lnTo>
                  <a:pt x="30906" y="28221"/>
                </a:lnTo>
                <a:lnTo>
                  <a:pt x="30591" y="28307"/>
                </a:lnTo>
                <a:lnTo>
                  <a:pt x="30184" y="28622"/>
                </a:lnTo>
                <a:lnTo>
                  <a:pt x="29690" y="28745"/>
                </a:lnTo>
                <a:lnTo>
                  <a:pt x="29112" y="28802"/>
                </a:lnTo>
                <a:lnTo>
                  <a:pt x="28644" y="29117"/>
                </a:lnTo>
                <a:lnTo>
                  <a:pt x="27998" y="29151"/>
                </a:lnTo>
                <a:lnTo>
                  <a:pt x="27377" y="29350"/>
                </a:lnTo>
                <a:lnTo>
                  <a:pt x="26870" y="29368"/>
                </a:lnTo>
                <a:lnTo>
                  <a:pt x="25861" y="29396"/>
                </a:lnTo>
                <a:lnTo>
                  <a:pt x="24845" y="29505"/>
                </a:lnTo>
                <a:lnTo>
                  <a:pt x="23777" y="29504"/>
                </a:lnTo>
                <a:lnTo>
                  <a:pt x="22126" y="29630"/>
                </a:lnTo>
                <a:lnTo>
                  <a:pt x="16943" y="29656"/>
                </a:lnTo>
                <a:lnTo>
                  <a:pt x="11819" y="29615"/>
                </a:lnTo>
                <a:lnTo>
                  <a:pt x="10005" y="29616"/>
                </a:lnTo>
                <a:lnTo>
                  <a:pt x="8977" y="29597"/>
                </a:lnTo>
                <a:lnTo>
                  <a:pt x="7836" y="29533"/>
                </a:lnTo>
                <a:lnTo>
                  <a:pt x="7108" y="29253"/>
                </a:lnTo>
                <a:lnTo>
                  <a:pt x="6452" y="29175"/>
                </a:lnTo>
                <a:lnTo>
                  <a:pt x="5687" y="29255"/>
                </a:lnTo>
                <a:lnTo>
                  <a:pt x="5116" y="29022"/>
                </a:lnTo>
                <a:lnTo>
                  <a:pt x="4544" y="28815"/>
                </a:lnTo>
                <a:lnTo>
                  <a:pt x="4155" y="28705"/>
                </a:lnTo>
                <a:lnTo>
                  <a:pt x="3818" y="28608"/>
                </a:lnTo>
                <a:lnTo>
                  <a:pt x="3281" y="28464"/>
                </a:lnTo>
                <a:lnTo>
                  <a:pt x="2916" y="28261"/>
                </a:lnTo>
                <a:lnTo>
                  <a:pt x="2676" y="27997"/>
                </a:lnTo>
                <a:lnTo>
                  <a:pt x="2294" y="27731"/>
                </a:lnTo>
                <a:lnTo>
                  <a:pt x="2096" y="27307"/>
                </a:lnTo>
                <a:lnTo>
                  <a:pt x="1577" y="27125"/>
                </a:lnTo>
                <a:lnTo>
                  <a:pt x="1523" y="26757"/>
                </a:lnTo>
                <a:lnTo>
                  <a:pt x="1186" y="26339"/>
                </a:lnTo>
                <a:lnTo>
                  <a:pt x="952" y="26061"/>
                </a:lnTo>
                <a:lnTo>
                  <a:pt x="906" y="25634"/>
                </a:lnTo>
                <a:lnTo>
                  <a:pt x="759" y="25125"/>
                </a:lnTo>
                <a:lnTo>
                  <a:pt x="552" y="24553"/>
                </a:lnTo>
                <a:lnTo>
                  <a:pt x="355" y="24151"/>
                </a:lnTo>
                <a:lnTo>
                  <a:pt x="197" y="23319"/>
                </a:lnTo>
                <a:lnTo>
                  <a:pt x="243" y="22722"/>
                </a:lnTo>
                <a:lnTo>
                  <a:pt x="237" y="21929"/>
                </a:lnTo>
                <a:lnTo>
                  <a:pt x="158" y="20692"/>
                </a:lnTo>
                <a:lnTo>
                  <a:pt x="7" y="19455"/>
                </a:lnTo>
                <a:lnTo>
                  <a:pt x="0" y="14960"/>
                </a:lnTo>
                <a:lnTo>
                  <a:pt x="32" y="10236"/>
                </a:lnTo>
                <a:lnTo>
                  <a:pt x="34" y="8921"/>
                </a:lnTo>
                <a:lnTo>
                  <a:pt x="296" y="7864"/>
                </a:lnTo>
                <a:lnTo>
                  <a:pt x="308" y="6959"/>
                </a:lnTo>
                <a:lnTo>
                  <a:pt x="363" y="6351"/>
                </a:lnTo>
                <a:lnTo>
                  <a:pt x="376" y="5559"/>
                </a:lnTo>
                <a:lnTo>
                  <a:pt x="478" y="5090"/>
                </a:lnTo>
                <a:lnTo>
                  <a:pt x="736" y="4606"/>
                </a:lnTo>
                <a:lnTo>
                  <a:pt x="805" y="4096"/>
                </a:lnTo>
                <a:lnTo>
                  <a:pt x="1060" y="3590"/>
                </a:lnTo>
                <a:lnTo>
                  <a:pt x="1350" y="3243"/>
                </a:lnTo>
                <a:lnTo>
                  <a:pt x="1450" y="3033"/>
                </a:lnTo>
                <a:lnTo>
                  <a:pt x="1744" y="2658"/>
                </a:lnTo>
                <a:lnTo>
                  <a:pt x="1999" y="2330"/>
                </a:lnTo>
                <a:lnTo>
                  <a:pt x="2253" y="2004"/>
                </a:lnTo>
                <a:lnTo>
                  <a:pt x="2637" y="1778"/>
                </a:lnTo>
                <a:lnTo>
                  <a:pt x="2824" y="1486"/>
                </a:lnTo>
                <a:lnTo>
                  <a:pt x="3431" y="1190"/>
                </a:lnTo>
                <a:lnTo>
                  <a:pt x="3718" y="1076"/>
                </a:lnTo>
                <a:lnTo>
                  <a:pt x="4163" y="956"/>
                </a:lnTo>
                <a:lnTo>
                  <a:pt x="4733" y="804"/>
                </a:lnTo>
                <a:lnTo>
                  <a:pt x="5181" y="689"/>
                </a:lnTo>
                <a:lnTo>
                  <a:pt x="5791" y="483"/>
                </a:lnTo>
                <a:lnTo>
                  <a:pt x="6379" y="440"/>
                </a:lnTo>
                <a:lnTo>
                  <a:pt x="7152" y="372"/>
                </a:lnTo>
                <a:lnTo>
                  <a:pt x="7977" y="307"/>
                </a:lnTo>
                <a:lnTo>
                  <a:pt x="8912" y="137"/>
                </a:lnTo>
                <a:lnTo>
                  <a:pt x="10160" y="236"/>
                </a:lnTo>
                <a:lnTo>
                  <a:pt x="11756" y="229"/>
                </a:lnTo>
                <a:lnTo>
                  <a:pt x="17060" y="5"/>
                </a:lnTo>
                <a:lnTo>
                  <a:pt x="22073" y="0"/>
                </a:lnTo>
                <a:lnTo>
                  <a:pt x="23780" y="140"/>
                </a:lnTo>
                <a:lnTo>
                  <a:pt x="24987" y="251"/>
                </a:lnTo>
                <a:lnTo>
                  <a:pt x="25812" y="190"/>
                </a:lnTo>
                <a:lnTo>
                  <a:pt x="26861" y="242"/>
                </a:lnTo>
                <a:lnTo>
                  <a:pt x="27453" y="513"/>
                </a:lnTo>
                <a:lnTo>
                  <a:pt x="28150" y="522"/>
                </a:lnTo>
                <a:lnTo>
                  <a:pt x="28714" y="574"/>
                </a:lnTo>
                <a:lnTo>
                  <a:pt x="29115" y="709"/>
                </a:lnTo>
                <a:lnTo>
                  <a:pt x="29831" y="828"/>
                </a:lnTo>
                <a:lnTo>
                  <a:pt x="30040" y="1190"/>
                </a:lnTo>
                <a:lnTo>
                  <a:pt x="30537" y="1271"/>
                </a:lnTo>
                <a:lnTo>
                  <a:pt x="30837" y="1495"/>
                </a:lnTo>
                <a:lnTo>
                  <a:pt x="31291" y="1803"/>
                </a:lnTo>
                <a:lnTo>
                  <a:pt x="31568" y="1925"/>
                </a:lnTo>
                <a:lnTo>
                  <a:pt x="31968" y="2263"/>
                </a:lnTo>
                <a:lnTo>
                  <a:pt x="32106" y="2656"/>
                </a:lnTo>
                <a:lnTo>
                  <a:pt x="32304" y="2974"/>
                </a:lnTo>
                <a:lnTo>
                  <a:pt x="32603" y="3201"/>
                </a:lnTo>
                <a:lnTo>
                  <a:pt x="32967" y="3651"/>
                </a:lnTo>
                <a:lnTo>
                  <a:pt x="32966" y="3980"/>
                </a:lnTo>
                <a:lnTo>
                  <a:pt x="33242" y="4512"/>
                </a:lnTo>
                <a:lnTo>
                  <a:pt x="33443" y="5129"/>
                </a:lnTo>
                <a:lnTo>
                  <a:pt x="33568" y="5571"/>
                </a:lnTo>
                <a:lnTo>
                  <a:pt x="33471" y="6144"/>
                </a:lnTo>
                <a:lnTo>
                  <a:pt x="33676" y="7026"/>
                </a:lnTo>
                <a:lnTo>
                  <a:pt x="33780" y="7844"/>
                </a:lnTo>
                <a:lnTo>
                  <a:pt x="33825" y="8946"/>
                </a:lnTo>
                <a:lnTo>
                  <a:pt x="33708" y="10258"/>
                </a:lnTo>
                <a:lnTo>
                  <a:pt x="33861" y="14740"/>
                </a:lnTo>
                <a:close/>
              </a:path>
            </a:pathLst>
          </a:custGeom>
          <a:noFill/>
          <a:ln w="19685" cap="rnd">
            <a:solidFill>
              <a:srgbClr val="7C7196">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644926" y="4728180"/>
            <a:ext cx="3098719" cy="2711562"/>
          </a:xfrm>
          <a:custGeom>
            <a:avLst/>
            <a:gdLst/>
            <a:ahLst/>
            <a:cxnLst/>
            <a:rect l="l" t="t" r="r" b="b"/>
            <a:pathLst>
              <a:path w="33888" h="29654">
                <a:moveTo>
                  <a:pt x="33888" y="14812"/>
                </a:moveTo>
                <a:lnTo>
                  <a:pt x="33795" y="19280"/>
                </a:lnTo>
                <a:lnTo>
                  <a:pt x="33702" y="20812"/>
                </a:lnTo>
                <a:lnTo>
                  <a:pt x="33786" y="21789"/>
                </a:lnTo>
                <a:lnTo>
                  <a:pt x="33682" y="22678"/>
                </a:lnTo>
                <a:lnTo>
                  <a:pt x="33652" y="23478"/>
                </a:lnTo>
                <a:lnTo>
                  <a:pt x="33372" y="24164"/>
                </a:lnTo>
                <a:lnTo>
                  <a:pt x="33342" y="24682"/>
                </a:lnTo>
                <a:lnTo>
                  <a:pt x="33167" y="25062"/>
                </a:lnTo>
                <a:lnTo>
                  <a:pt x="33136" y="25494"/>
                </a:lnTo>
                <a:lnTo>
                  <a:pt x="32948" y="26092"/>
                </a:lnTo>
                <a:lnTo>
                  <a:pt x="32525" y="26383"/>
                </a:lnTo>
                <a:lnTo>
                  <a:pt x="32302" y="26777"/>
                </a:lnTo>
                <a:lnTo>
                  <a:pt x="32264" y="27047"/>
                </a:lnTo>
                <a:lnTo>
                  <a:pt x="31910" y="27415"/>
                </a:lnTo>
                <a:lnTo>
                  <a:pt x="31656" y="27642"/>
                </a:lnTo>
                <a:lnTo>
                  <a:pt x="31177" y="28022"/>
                </a:lnTo>
                <a:lnTo>
                  <a:pt x="30870" y="28244"/>
                </a:lnTo>
                <a:lnTo>
                  <a:pt x="30674" y="28379"/>
                </a:lnTo>
                <a:lnTo>
                  <a:pt x="30265" y="28558"/>
                </a:lnTo>
                <a:lnTo>
                  <a:pt x="29720" y="28648"/>
                </a:lnTo>
                <a:lnTo>
                  <a:pt x="29197" y="28969"/>
                </a:lnTo>
                <a:lnTo>
                  <a:pt x="28601" y="29045"/>
                </a:lnTo>
                <a:lnTo>
                  <a:pt x="28134" y="29141"/>
                </a:lnTo>
                <a:lnTo>
                  <a:pt x="27567" y="29292"/>
                </a:lnTo>
                <a:lnTo>
                  <a:pt x="26610" y="29257"/>
                </a:lnTo>
                <a:lnTo>
                  <a:pt x="26003" y="29384"/>
                </a:lnTo>
                <a:lnTo>
                  <a:pt x="24886" y="29446"/>
                </a:lnTo>
                <a:lnTo>
                  <a:pt x="23682" y="29595"/>
                </a:lnTo>
                <a:lnTo>
                  <a:pt x="21978" y="29543"/>
                </a:lnTo>
                <a:lnTo>
                  <a:pt x="16873" y="29654"/>
                </a:lnTo>
                <a:lnTo>
                  <a:pt x="11798" y="29515"/>
                </a:lnTo>
                <a:lnTo>
                  <a:pt x="10059" y="29503"/>
                </a:lnTo>
                <a:lnTo>
                  <a:pt x="8908" y="29583"/>
                </a:lnTo>
                <a:lnTo>
                  <a:pt x="7822" y="29383"/>
                </a:lnTo>
                <a:lnTo>
                  <a:pt x="7042" y="29453"/>
                </a:lnTo>
                <a:lnTo>
                  <a:pt x="6314" y="29330"/>
                </a:lnTo>
                <a:lnTo>
                  <a:pt x="5677" y="29107"/>
                </a:lnTo>
                <a:lnTo>
                  <a:pt x="5046" y="29031"/>
                </a:lnTo>
                <a:lnTo>
                  <a:pt x="4744" y="28853"/>
                </a:lnTo>
                <a:lnTo>
                  <a:pt x="4063" y="28676"/>
                </a:lnTo>
                <a:lnTo>
                  <a:pt x="3790" y="28529"/>
                </a:lnTo>
                <a:lnTo>
                  <a:pt x="3331" y="28398"/>
                </a:lnTo>
                <a:lnTo>
                  <a:pt x="3015" y="28184"/>
                </a:lnTo>
                <a:lnTo>
                  <a:pt x="2445" y="27921"/>
                </a:lnTo>
                <a:lnTo>
                  <a:pt x="2369" y="27752"/>
                </a:lnTo>
                <a:lnTo>
                  <a:pt x="2051" y="27403"/>
                </a:lnTo>
                <a:lnTo>
                  <a:pt x="1793" y="27003"/>
                </a:lnTo>
                <a:lnTo>
                  <a:pt x="1376" y="26733"/>
                </a:lnTo>
                <a:lnTo>
                  <a:pt x="1140" y="26337"/>
                </a:lnTo>
                <a:lnTo>
                  <a:pt x="943" y="26050"/>
                </a:lnTo>
                <a:lnTo>
                  <a:pt x="867" y="25549"/>
                </a:lnTo>
                <a:lnTo>
                  <a:pt x="621" y="25108"/>
                </a:lnTo>
                <a:lnTo>
                  <a:pt x="550" y="24672"/>
                </a:lnTo>
                <a:lnTo>
                  <a:pt x="320" y="24110"/>
                </a:lnTo>
                <a:lnTo>
                  <a:pt x="351" y="23529"/>
                </a:lnTo>
                <a:lnTo>
                  <a:pt x="152" y="22791"/>
                </a:lnTo>
                <a:lnTo>
                  <a:pt x="261" y="21857"/>
                </a:lnTo>
                <a:lnTo>
                  <a:pt x="230" y="20900"/>
                </a:lnTo>
                <a:lnTo>
                  <a:pt x="193" y="19355"/>
                </a:lnTo>
                <a:lnTo>
                  <a:pt x="173" y="14745"/>
                </a:lnTo>
                <a:lnTo>
                  <a:pt x="0" y="10209"/>
                </a:lnTo>
                <a:lnTo>
                  <a:pt x="191" y="8945"/>
                </a:lnTo>
                <a:lnTo>
                  <a:pt x="119" y="7781"/>
                </a:lnTo>
                <a:lnTo>
                  <a:pt x="113" y="6910"/>
                </a:lnTo>
                <a:lnTo>
                  <a:pt x="283" y="6375"/>
                </a:lnTo>
                <a:lnTo>
                  <a:pt x="279" y="5599"/>
                </a:lnTo>
                <a:lnTo>
                  <a:pt x="573" y="5000"/>
                </a:lnTo>
                <a:lnTo>
                  <a:pt x="740" y="4521"/>
                </a:lnTo>
                <a:lnTo>
                  <a:pt x="735" y="4187"/>
                </a:lnTo>
                <a:lnTo>
                  <a:pt x="985" y="3725"/>
                </a:lnTo>
                <a:lnTo>
                  <a:pt x="1193" y="3333"/>
                </a:lnTo>
                <a:lnTo>
                  <a:pt x="1358" y="3007"/>
                </a:lnTo>
                <a:lnTo>
                  <a:pt x="1576" y="2524"/>
                </a:lnTo>
                <a:lnTo>
                  <a:pt x="1949" y="2296"/>
                </a:lnTo>
                <a:lnTo>
                  <a:pt x="2313" y="2128"/>
                </a:lnTo>
                <a:lnTo>
                  <a:pt x="2543" y="1742"/>
                </a:lnTo>
                <a:lnTo>
                  <a:pt x="2926" y="1551"/>
                </a:lnTo>
                <a:lnTo>
                  <a:pt x="3327" y="1335"/>
                </a:lnTo>
                <a:lnTo>
                  <a:pt x="3626" y="1132"/>
                </a:lnTo>
                <a:lnTo>
                  <a:pt x="4026" y="957"/>
                </a:lnTo>
                <a:lnTo>
                  <a:pt x="4615" y="844"/>
                </a:lnTo>
                <a:lnTo>
                  <a:pt x="5072" y="568"/>
                </a:lnTo>
                <a:lnTo>
                  <a:pt x="5720" y="441"/>
                </a:lnTo>
                <a:lnTo>
                  <a:pt x="6496" y="401"/>
                </a:lnTo>
                <a:lnTo>
                  <a:pt x="7169" y="306"/>
                </a:lnTo>
                <a:lnTo>
                  <a:pt x="8038" y="205"/>
                </a:lnTo>
                <a:lnTo>
                  <a:pt x="8848" y="259"/>
                </a:lnTo>
                <a:lnTo>
                  <a:pt x="10007" y="176"/>
                </a:lnTo>
                <a:lnTo>
                  <a:pt x="11871" y="0"/>
                </a:lnTo>
                <a:lnTo>
                  <a:pt x="16853" y="2"/>
                </a:lnTo>
                <a:lnTo>
                  <a:pt x="22073" y="31"/>
                </a:lnTo>
                <a:lnTo>
                  <a:pt x="23852" y="76"/>
                </a:lnTo>
                <a:lnTo>
                  <a:pt x="25064" y="145"/>
                </a:lnTo>
                <a:lnTo>
                  <a:pt x="25979" y="254"/>
                </a:lnTo>
                <a:lnTo>
                  <a:pt x="26616" y="324"/>
                </a:lnTo>
                <a:lnTo>
                  <a:pt x="27411" y="494"/>
                </a:lnTo>
                <a:lnTo>
                  <a:pt x="27994" y="422"/>
                </a:lnTo>
                <a:lnTo>
                  <a:pt x="28808" y="522"/>
                </a:lnTo>
                <a:lnTo>
                  <a:pt x="29211" y="857"/>
                </a:lnTo>
                <a:lnTo>
                  <a:pt x="29723" y="938"/>
                </a:lnTo>
                <a:lnTo>
                  <a:pt x="30127" y="1165"/>
                </a:lnTo>
                <a:lnTo>
                  <a:pt x="30663" y="1201"/>
                </a:lnTo>
                <a:lnTo>
                  <a:pt x="31046" y="1534"/>
                </a:lnTo>
                <a:lnTo>
                  <a:pt x="31387" y="1656"/>
                </a:lnTo>
                <a:lnTo>
                  <a:pt x="31633" y="1934"/>
                </a:lnTo>
                <a:lnTo>
                  <a:pt x="31808" y="2297"/>
                </a:lnTo>
                <a:lnTo>
                  <a:pt x="32239" y="2633"/>
                </a:lnTo>
                <a:lnTo>
                  <a:pt x="32305" y="2818"/>
                </a:lnTo>
                <a:lnTo>
                  <a:pt x="32595" y="3401"/>
                </a:lnTo>
                <a:lnTo>
                  <a:pt x="32856" y="3758"/>
                </a:lnTo>
                <a:lnTo>
                  <a:pt x="32951" y="4124"/>
                </a:lnTo>
                <a:lnTo>
                  <a:pt x="33095" y="4553"/>
                </a:lnTo>
                <a:lnTo>
                  <a:pt x="33405" y="4968"/>
                </a:lnTo>
                <a:lnTo>
                  <a:pt x="33514" y="5604"/>
                </a:lnTo>
                <a:lnTo>
                  <a:pt x="33511" y="6206"/>
                </a:lnTo>
                <a:lnTo>
                  <a:pt x="33659" y="7025"/>
                </a:lnTo>
                <a:lnTo>
                  <a:pt x="33690" y="7847"/>
                </a:lnTo>
                <a:lnTo>
                  <a:pt x="33843" y="8792"/>
                </a:lnTo>
                <a:lnTo>
                  <a:pt x="33839" y="10199"/>
                </a:lnTo>
                <a:lnTo>
                  <a:pt x="33791" y="14873"/>
                </a:lnTo>
                <a:close/>
              </a:path>
            </a:pathLst>
          </a:custGeom>
          <a:noFill/>
          <a:ln w="7620" cap="rnd">
            <a:solidFill>
              <a:srgbClr val="7C7196">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3678723" y="6803959"/>
            <a:ext cx="41239" cy="221193"/>
          </a:xfrm>
          <a:custGeom>
            <a:avLst/>
            <a:gdLst/>
            <a:ahLst/>
            <a:cxnLst/>
            <a:rect l="l" t="t" r="r" b="b"/>
            <a:pathLst>
              <a:path w="451" h="2419">
                <a:moveTo>
                  <a:pt x="451" y="0"/>
                </a:moveTo>
                <a:lnTo>
                  <a:pt x="367" y="719"/>
                </a:lnTo>
                <a:lnTo>
                  <a:pt x="264" y="1350"/>
                </a:lnTo>
                <a:lnTo>
                  <a:pt x="142" y="1912"/>
                </a:lnTo>
                <a:lnTo>
                  <a:pt x="0" y="2419"/>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3214573" y="7340712"/>
            <a:ext cx="186355" cy="55047"/>
          </a:xfrm>
          <a:custGeom>
            <a:avLst/>
            <a:gdLst/>
            <a:ahLst/>
            <a:cxnLst/>
            <a:rect l="l" t="t" r="r" b="b"/>
            <a:pathLst>
              <a:path w="2038" h="602">
                <a:moveTo>
                  <a:pt x="2038" y="0"/>
                </a:moveTo>
                <a:lnTo>
                  <a:pt x="1594" y="177"/>
                </a:lnTo>
                <a:lnTo>
                  <a:pt x="1110" y="336"/>
                </a:lnTo>
                <a:lnTo>
                  <a:pt x="581" y="478"/>
                </a:lnTo>
                <a:lnTo>
                  <a:pt x="0" y="602"/>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16848" y="7384420"/>
            <a:ext cx="253197" cy="35936"/>
          </a:xfrm>
          <a:custGeom>
            <a:avLst/>
            <a:gdLst/>
            <a:ahLst/>
            <a:cxnLst/>
            <a:rect l="l" t="t" r="r" b="b"/>
            <a:pathLst>
              <a:path w="2769" h="393">
                <a:moveTo>
                  <a:pt x="2769" y="393"/>
                </a:moveTo>
                <a:lnTo>
                  <a:pt x="1945" y="320"/>
                </a:lnTo>
                <a:lnTo>
                  <a:pt x="1224" y="230"/>
                </a:lnTo>
                <a:lnTo>
                  <a:pt x="581" y="124"/>
                </a:lnTo>
                <a:lnTo>
                  <a:pt x="0"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692841" y="6978792"/>
            <a:ext cx="62911" cy="162855"/>
          </a:xfrm>
          <a:custGeom>
            <a:avLst/>
            <a:gdLst/>
            <a:ahLst/>
            <a:cxnLst/>
            <a:rect l="l" t="t" r="r" b="b"/>
            <a:pathLst>
              <a:path w="688" h="1781">
                <a:moveTo>
                  <a:pt x="688" y="1781"/>
                </a:moveTo>
                <a:lnTo>
                  <a:pt x="485" y="1392"/>
                </a:lnTo>
                <a:lnTo>
                  <a:pt x="303" y="969"/>
                </a:lnTo>
                <a:lnTo>
                  <a:pt x="142" y="507"/>
                </a:lnTo>
                <a:lnTo>
                  <a:pt x="0"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664586" y="5145512"/>
            <a:ext cx="41239" cy="221193"/>
          </a:xfrm>
          <a:custGeom>
            <a:avLst/>
            <a:gdLst/>
            <a:ahLst/>
            <a:cxnLst/>
            <a:rect l="l" t="t" r="r" b="b"/>
            <a:pathLst>
              <a:path w="451" h="2419">
                <a:moveTo>
                  <a:pt x="0" y="2419"/>
                </a:moveTo>
                <a:lnTo>
                  <a:pt x="84" y="1700"/>
                </a:lnTo>
                <a:lnTo>
                  <a:pt x="187" y="1069"/>
                </a:lnTo>
                <a:lnTo>
                  <a:pt x="309" y="507"/>
                </a:lnTo>
                <a:lnTo>
                  <a:pt x="451"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983620" y="4774905"/>
            <a:ext cx="186355" cy="55047"/>
          </a:xfrm>
          <a:custGeom>
            <a:avLst/>
            <a:gdLst/>
            <a:ahLst/>
            <a:cxnLst/>
            <a:rect l="l" t="t" r="r" b="b"/>
            <a:pathLst>
              <a:path w="2038" h="602">
                <a:moveTo>
                  <a:pt x="0" y="602"/>
                </a:moveTo>
                <a:lnTo>
                  <a:pt x="444" y="425"/>
                </a:lnTo>
                <a:lnTo>
                  <a:pt x="928" y="266"/>
                </a:lnTo>
                <a:lnTo>
                  <a:pt x="1457" y="124"/>
                </a:lnTo>
                <a:lnTo>
                  <a:pt x="2038" y="0"/>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3014502" y="4750308"/>
            <a:ext cx="253197" cy="35936"/>
          </a:xfrm>
          <a:custGeom>
            <a:avLst/>
            <a:gdLst/>
            <a:ahLst/>
            <a:cxnLst/>
            <a:rect l="l" t="t" r="r" b="b"/>
            <a:pathLst>
              <a:path w="2769" h="393">
                <a:moveTo>
                  <a:pt x="0" y="0"/>
                </a:moveTo>
                <a:lnTo>
                  <a:pt x="824" y="73"/>
                </a:lnTo>
                <a:lnTo>
                  <a:pt x="1545" y="163"/>
                </a:lnTo>
                <a:lnTo>
                  <a:pt x="2188" y="269"/>
                </a:lnTo>
                <a:lnTo>
                  <a:pt x="2769" y="393"/>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3628796" y="5029017"/>
            <a:ext cx="62911" cy="162855"/>
          </a:xfrm>
          <a:custGeom>
            <a:avLst/>
            <a:gdLst/>
            <a:ahLst/>
            <a:cxnLst/>
            <a:rect l="l" t="t" r="r" b="b"/>
            <a:pathLst>
              <a:path w="688" h="1781">
                <a:moveTo>
                  <a:pt x="0" y="0"/>
                </a:moveTo>
                <a:lnTo>
                  <a:pt x="203" y="389"/>
                </a:lnTo>
                <a:lnTo>
                  <a:pt x="385" y="812"/>
                </a:lnTo>
                <a:lnTo>
                  <a:pt x="546" y="1274"/>
                </a:lnTo>
                <a:lnTo>
                  <a:pt x="688" y="1781"/>
                </a:lnTo>
              </a:path>
            </a:pathLst>
          </a:custGeom>
          <a:noFill/>
          <a:ln w="27940" cap="rnd">
            <a:solidFill>
              <a:srgbClr val="7C7196">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ody: 5"/>
          <p:cNvSpPr txBox="1"/>
          <p:nvPr/>
        </p:nvSpPr>
        <p:spPr>
          <a:xfrm>
            <a:off x="804671" y="4912931"/>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7C7196"/>
                </a:solidFill>
                <a:latin typeface="Trebuchet MS"/>
              </a:rPr>
              <a:t>5</a:t>
            </a:r>
          </a:p>
        </p:txBody>
      </p:sp>
      <p:sp>
        <p:nvSpPr>
          <p:cNvPr id="81" name="body: Counterfactual blame"/>
          <p:cNvSpPr txBox="1"/>
          <p:nvPr/>
        </p:nvSpPr>
        <p:spPr>
          <a:xfrm>
            <a:off x="1325880" y="4901183"/>
            <a:ext cx="1997964" cy="707644"/>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7C7196"/>
                </a:solidFill>
                <a:latin typeface="Chalkboard SE"/>
              </a:rPr>
              <a:t>Counterfactual</a:t>
            </a:r>
            <a:br/>
            <a:r>
              <a:rPr sz="1850" b="1">
                <a:solidFill>
                  <a:srgbClr val="7C7196"/>
                </a:solidFill>
                <a:latin typeface="Chalkboard SE"/>
              </a:rPr>
              <a:t>blame</a:t>
            </a:r>
          </a:p>
        </p:txBody>
      </p:sp>
      <p:sp>
        <p:nvSpPr>
          <p:cNvPr id="82" name="body: Every rule carries the replay that justified it."/>
          <p:cNvSpPr txBox="1"/>
          <p:nvPr/>
        </p:nvSpPr>
        <p:spPr>
          <a:xfrm>
            <a:off x="896112" y="6018339"/>
            <a:ext cx="2592324" cy="987932"/>
          </a:xfrm>
          <a:prstGeom prst="rect">
            <a:avLst/>
          </a:prstGeom>
          <a:noFill/>
        </p:spPr>
        <p:txBody>
          <a:bodyPr wrap="none" lIns="0" rIns="0" tIns="0" bIns="0" anchor="t">
            <a:noAutofit/>
          </a:bodyPr>
          <a:lstStyle/>
          <a:p>
            <a:pPr algn="ctr">
              <a:lnSpc>
                <a:spcPts val="2413"/>
              </a:lnSpc>
              <a:spcBef>
                <a:spcPts val="0"/>
              </a:spcBef>
              <a:spcAft>
                <a:spcPts val="0"/>
              </a:spcAft>
            </a:pPr>
            <a:r>
              <a:rPr sz="1900" b="0">
                <a:solidFill>
                  <a:srgbClr val="293E46"/>
                </a:solidFill>
                <a:latin typeface="Trebuchet MS"/>
              </a:rPr>
              <a:t>Every rule carries the</a:t>
            </a:r>
            <a:br/>
            <a:r>
              <a:rPr sz="1900" b="0">
                <a:solidFill>
                  <a:srgbClr val="293E46"/>
                </a:solidFill>
                <a:latin typeface="Trebuchet MS"/>
              </a:rPr>
              <a:t>replay that justified</a:t>
            </a:r>
            <a:br/>
            <a:r>
              <a:rPr sz="1900" b="0">
                <a:solidFill>
                  <a:srgbClr val="293E46"/>
                </a:solidFill>
                <a:latin typeface="Trebuchet MS"/>
              </a:rPr>
              <a:t>it.</a:t>
            </a:r>
          </a:p>
        </p:txBody>
      </p:sp>
      <p:sp>
        <p:nvSpPr>
          <p:cNvPr id="83" name="Rounded Rectangle 82"/>
          <p:cNvSpPr/>
          <p:nvPr/>
        </p:nvSpPr>
        <p:spPr>
          <a:xfrm>
            <a:off x="4055363" y="4727448"/>
            <a:ext cx="3104388" cy="2715768"/>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4058747" y="4731197"/>
            <a:ext cx="3097164" cy="2709550"/>
          </a:xfrm>
          <a:custGeom>
            <a:avLst/>
            <a:gdLst/>
            <a:ahLst/>
            <a:cxnLst/>
            <a:rect l="l" t="t" r="r" b="b"/>
            <a:pathLst>
              <a:path w="33871" h="29632">
                <a:moveTo>
                  <a:pt x="33871" y="14900"/>
                </a:moveTo>
                <a:lnTo>
                  <a:pt x="33771" y="19432"/>
                </a:lnTo>
                <a:lnTo>
                  <a:pt x="33736" y="20825"/>
                </a:lnTo>
                <a:lnTo>
                  <a:pt x="33622" y="21832"/>
                </a:lnTo>
                <a:lnTo>
                  <a:pt x="33720" y="22695"/>
                </a:lnTo>
                <a:lnTo>
                  <a:pt x="33674" y="23469"/>
                </a:lnTo>
                <a:lnTo>
                  <a:pt x="33508" y="24087"/>
                </a:lnTo>
                <a:lnTo>
                  <a:pt x="33356" y="24515"/>
                </a:lnTo>
                <a:lnTo>
                  <a:pt x="33295" y="24976"/>
                </a:lnTo>
                <a:lnTo>
                  <a:pt x="32982" y="25523"/>
                </a:lnTo>
                <a:lnTo>
                  <a:pt x="32761" y="25895"/>
                </a:lnTo>
                <a:lnTo>
                  <a:pt x="32606" y="26296"/>
                </a:lnTo>
                <a:lnTo>
                  <a:pt x="32511" y="26779"/>
                </a:lnTo>
                <a:lnTo>
                  <a:pt x="32196" y="27148"/>
                </a:lnTo>
                <a:lnTo>
                  <a:pt x="31959" y="27379"/>
                </a:lnTo>
                <a:lnTo>
                  <a:pt x="31648" y="27740"/>
                </a:lnTo>
                <a:lnTo>
                  <a:pt x="31199" y="27904"/>
                </a:lnTo>
                <a:lnTo>
                  <a:pt x="31004" y="28226"/>
                </a:lnTo>
                <a:lnTo>
                  <a:pt x="30654" y="28339"/>
                </a:lnTo>
                <a:lnTo>
                  <a:pt x="30204" y="28583"/>
                </a:lnTo>
                <a:lnTo>
                  <a:pt x="29617" y="28795"/>
                </a:lnTo>
                <a:lnTo>
                  <a:pt x="29138" y="28873"/>
                </a:lnTo>
                <a:lnTo>
                  <a:pt x="28789" y="29134"/>
                </a:lnTo>
                <a:lnTo>
                  <a:pt x="28213" y="29237"/>
                </a:lnTo>
                <a:lnTo>
                  <a:pt x="27541" y="29178"/>
                </a:lnTo>
                <a:lnTo>
                  <a:pt x="26665" y="29289"/>
                </a:lnTo>
                <a:lnTo>
                  <a:pt x="25983" y="29407"/>
                </a:lnTo>
                <a:lnTo>
                  <a:pt x="24972" y="29481"/>
                </a:lnTo>
                <a:lnTo>
                  <a:pt x="23744" y="29580"/>
                </a:lnTo>
                <a:lnTo>
                  <a:pt x="22075" y="29430"/>
                </a:lnTo>
                <a:lnTo>
                  <a:pt x="16998" y="29632"/>
                </a:lnTo>
                <a:lnTo>
                  <a:pt x="11692" y="29594"/>
                </a:lnTo>
                <a:lnTo>
                  <a:pt x="10124" y="29430"/>
                </a:lnTo>
                <a:lnTo>
                  <a:pt x="9032" y="29585"/>
                </a:lnTo>
                <a:lnTo>
                  <a:pt x="8031" y="29295"/>
                </a:lnTo>
                <a:lnTo>
                  <a:pt x="7194" y="29434"/>
                </a:lnTo>
                <a:lnTo>
                  <a:pt x="6430" y="29348"/>
                </a:lnTo>
                <a:lnTo>
                  <a:pt x="5795" y="29140"/>
                </a:lnTo>
                <a:lnTo>
                  <a:pt x="5105" y="29093"/>
                </a:lnTo>
                <a:lnTo>
                  <a:pt x="4705" y="28795"/>
                </a:lnTo>
                <a:lnTo>
                  <a:pt x="4240" y="28807"/>
                </a:lnTo>
                <a:lnTo>
                  <a:pt x="3820" y="28448"/>
                </a:lnTo>
                <a:lnTo>
                  <a:pt x="3226" y="28410"/>
                </a:lnTo>
                <a:lnTo>
                  <a:pt x="2810" y="28040"/>
                </a:lnTo>
                <a:lnTo>
                  <a:pt x="2472" y="27990"/>
                </a:lnTo>
                <a:lnTo>
                  <a:pt x="2236" y="27685"/>
                </a:lnTo>
                <a:lnTo>
                  <a:pt x="1907" y="27416"/>
                </a:lnTo>
                <a:lnTo>
                  <a:pt x="1820" y="26962"/>
                </a:lnTo>
                <a:lnTo>
                  <a:pt x="1458" y="26662"/>
                </a:lnTo>
                <a:lnTo>
                  <a:pt x="1254" y="26363"/>
                </a:lnTo>
                <a:lnTo>
                  <a:pt x="1125" y="25913"/>
                </a:lnTo>
                <a:lnTo>
                  <a:pt x="909" y="25492"/>
                </a:lnTo>
                <a:lnTo>
                  <a:pt x="578" y="25115"/>
                </a:lnTo>
                <a:lnTo>
                  <a:pt x="460" y="24657"/>
                </a:lnTo>
                <a:lnTo>
                  <a:pt x="506" y="24053"/>
                </a:lnTo>
                <a:lnTo>
                  <a:pt x="275" y="23456"/>
                </a:lnTo>
                <a:lnTo>
                  <a:pt x="267" y="22568"/>
                </a:lnTo>
                <a:lnTo>
                  <a:pt x="124" y="21781"/>
                </a:lnTo>
                <a:lnTo>
                  <a:pt x="175" y="20727"/>
                </a:lnTo>
                <a:lnTo>
                  <a:pt x="127" y="19388"/>
                </a:lnTo>
                <a:lnTo>
                  <a:pt x="0" y="14818"/>
                </a:lnTo>
                <a:lnTo>
                  <a:pt x="114" y="10395"/>
                </a:lnTo>
                <a:lnTo>
                  <a:pt x="158" y="8822"/>
                </a:lnTo>
                <a:lnTo>
                  <a:pt x="250" y="7713"/>
                </a:lnTo>
                <a:lnTo>
                  <a:pt x="133" y="6885"/>
                </a:lnTo>
                <a:lnTo>
                  <a:pt x="315" y="6237"/>
                </a:lnTo>
                <a:lnTo>
                  <a:pt x="357" y="5662"/>
                </a:lnTo>
                <a:lnTo>
                  <a:pt x="436" y="5001"/>
                </a:lnTo>
                <a:lnTo>
                  <a:pt x="599" y="4555"/>
                </a:lnTo>
                <a:lnTo>
                  <a:pt x="835" y="4137"/>
                </a:lnTo>
                <a:lnTo>
                  <a:pt x="952" y="3577"/>
                </a:lnTo>
                <a:lnTo>
                  <a:pt x="1339" y="3184"/>
                </a:lnTo>
                <a:lnTo>
                  <a:pt x="1485" y="2955"/>
                </a:lnTo>
                <a:lnTo>
                  <a:pt x="1799" y="2616"/>
                </a:lnTo>
                <a:lnTo>
                  <a:pt x="1842" y="2206"/>
                </a:lnTo>
                <a:lnTo>
                  <a:pt x="2150" y="2052"/>
                </a:lnTo>
                <a:lnTo>
                  <a:pt x="2544" y="1774"/>
                </a:lnTo>
                <a:lnTo>
                  <a:pt x="2877" y="1597"/>
                </a:lnTo>
                <a:lnTo>
                  <a:pt x="3383" y="1340"/>
                </a:lnTo>
                <a:lnTo>
                  <a:pt x="3652" y="981"/>
                </a:lnTo>
                <a:lnTo>
                  <a:pt x="4099" y="925"/>
                </a:lnTo>
                <a:lnTo>
                  <a:pt x="4721" y="784"/>
                </a:lnTo>
                <a:lnTo>
                  <a:pt x="5139" y="627"/>
                </a:lnTo>
                <a:lnTo>
                  <a:pt x="5808" y="548"/>
                </a:lnTo>
                <a:lnTo>
                  <a:pt x="6450" y="343"/>
                </a:lnTo>
                <a:lnTo>
                  <a:pt x="7221" y="269"/>
                </a:lnTo>
                <a:lnTo>
                  <a:pt x="8032" y="168"/>
                </a:lnTo>
                <a:lnTo>
                  <a:pt x="8994" y="160"/>
                </a:lnTo>
                <a:lnTo>
                  <a:pt x="10059" y="4"/>
                </a:lnTo>
                <a:lnTo>
                  <a:pt x="11864" y="0"/>
                </a:lnTo>
                <a:lnTo>
                  <a:pt x="16978" y="67"/>
                </a:lnTo>
                <a:lnTo>
                  <a:pt x="22225" y="75"/>
                </a:lnTo>
                <a:lnTo>
                  <a:pt x="23820" y="151"/>
                </a:lnTo>
                <a:lnTo>
                  <a:pt x="24861" y="62"/>
                </a:lnTo>
                <a:lnTo>
                  <a:pt x="25864" y="169"/>
                </a:lnTo>
                <a:lnTo>
                  <a:pt x="26629" y="205"/>
                </a:lnTo>
                <a:lnTo>
                  <a:pt x="27369" y="466"/>
                </a:lnTo>
                <a:lnTo>
                  <a:pt x="28122" y="550"/>
                </a:lnTo>
                <a:lnTo>
                  <a:pt x="28716" y="518"/>
                </a:lnTo>
                <a:lnTo>
                  <a:pt x="29224" y="736"/>
                </a:lnTo>
                <a:lnTo>
                  <a:pt x="29583" y="1015"/>
                </a:lnTo>
                <a:lnTo>
                  <a:pt x="30160" y="1026"/>
                </a:lnTo>
                <a:lnTo>
                  <a:pt x="30619" y="1348"/>
                </a:lnTo>
                <a:lnTo>
                  <a:pt x="30889" y="1455"/>
                </a:lnTo>
                <a:lnTo>
                  <a:pt x="31414" y="1791"/>
                </a:lnTo>
                <a:lnTo>
                  <a:pt x="31626" y="1953"/>
                </a:lnTo>
                <a:lnTo>
                  <a:pt x="31789" y="2248"/>
                </a:lnTo>
                <a:lnTo>
                  <a:pt x="32248" y="2513"/>
                </a:lnTo>
                <a:lnTo>
                  <a:pt x="32347" y="2827"/>
                </a:lnTo>
                <a:lnTo>
                  <a:pt x="32559" y="3258"/>
                </a:lnTo>
                <a:lnTo>
                  <a:pt x="32778" y="3617"/>
                </a:lnTo>
                <a:lnTo>
                  <a:pt x="33152" y="4153"/>
                </a:lnTo>
                <a:lnTo>
                  <a:pt x="33114" y="4502"/>
                </a:lnTo>
                <a:lnTo>
                  <a:pt x="33385" y="5082"/>
                </a:lnTo>
                <a:lnTo>
                  <a:pt x="33539" y="5516"/>
                </a:lnTo>
                <a:lnTo>
                  <a:pt x="33637" y="6153"/>
                </a:lnTo>
                <a:lnTo>
                  <a:pt x="33610" y="6947"/>
                </a:lnTo>
                <a:lnTo>
                  <a:pt x="33796" y="7733"/>
                </a:lnTo>
                <a:lnTo>
                  <a:pt x="33637" y="8853"/>
                </a:lnTo>
                <a:lnTo>
                  <a:pt x="33720" y="10179"/>
                </a:lnTo>
                <a:lnTo>
                  <a:pt x="33797" y="14852"/>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4060210" y="4731837"/>
            <a:ext cx="3098627" cy="2705618"/>
          </a:xfrm>
          <a:custGeom>
            <a:avLst/>
            <a:gdLst/>
            <a:ahLst/>
            <a:cxnLst/>
            <a:rect l="l" t="t" r="r" b="b"/>
            <a:pathLst>
              <a:path w="33887" h="29589">
                <a:moveTo>
                  <a:pt x="33827" y="14727"/>
                </a:moveTo>
                <a:lnTo>
                  <a:pt x="33887" y="19426"/>
                </a:lnTo>
                <a:lnTo>
                  <a:pt x="33632" y="20668"/>
                </a:lnTo>
                <a:lnTo>
                  <a:pt x="33796" y="21932"/>
                </a:lnTo>
                <a:lnTo>
                  <a:pt x="33540" y="22705"/>
                </a:lnTo>
                <a:lnTo>
                  <a:pt x="33598" y="23302"/>
                </a:lnTo>
                <a:lnTo>
                  <a:pt x="33556" y="24035"/>
                </a:lnTo>
                <a:lnTo>
                  <a:pt x="33329" y="24633"/>
                </a:lnTo>
                <a:lnTo>
                  <a:pt x="33280" y="24965"/>
                </a:lnTo>
                <a:lnTo>
                  <a:pt x="32986" y="25495"/>
                </a:lnTo>
                <a:lnTo>
                  <a:pt x="32906" y="25994"/>
                </a:lnTo>
                <a:lnTo>
                  <a:pt x="32628" y="26448"/>
                </a:lnTo>
                <a:lnTo>
                  <a:pt x="32341" y="26605"/>
                </a:lnTo>
                <a:lnTo>
                  <a:pt x="32114" y="26923"/>
                </a:lnTo>
                <a:lnTo>
                  <a:pt x="31803" y="27403"/>
                </a:lnTo>
                <a:lnTo>
                  <a:pt x="31679" y="27663"/>
                </a:lnTo>
                <a:lnTo>
                  <a:pt x="31331" y="27878"/>
                </a:lnTo>
                <a:lnTo>
                  <a:pt x="30989" y="28050"/>
                </a:lnTo>
                <a:lnTo>
                  <a:pt x="30494" y="28423"/>
                </a:lnTo>
                <a:lnTo>
                  <a:pt x="30223" y="28586"/>
                </a:lnTo>
                <a:lnTo>
                  <a:pt x="29816" y="28781"/>
                </a:lnTo>
                <a:lnTo>
                  <a:pt x="29274" y="28872"/>
                </a:lnTo>
                <a:lnTo>
                  <a:pt x="28810" y="28980"/>
                </a:lnTo>
                <a:lnTo>
                  <a:pt x="28067" y="29113"/>
                </a:lnTo>
                <a:lnTo>
                  <a:pt x="27570" y="29130"/>
                </a:lnTo>
                <a:lnTo>
                  <a:pt x="26723" y="29441"/>
                </a:lnTo>
                <a:lnTo>
                  <a:pt x="25950" y="29374"/>
                </a:lnTo>
                <a:lnTo>
                  <a:pt x="24823" y="29372"/>
                </a:lnTo>
                <a:lnTo>
                  <a:pt x="23856" y="29396"/>
                </a:lnTo>
                <a:lnTo>
                  <a:pt x="22061" y="29525"/>
                </a:lnTo>
                <a:lnTo>
                  <a:pt x="16793" y="29589"/>
                </a:lnTo>
                <a:lnTo>
                  <a:pt x="11693" y="29522"/>
                </a:lnTo>
                <a:lnTo>
                  <a:pt x="10162" y="29511"/>
                </a:lnTo>
                <a:lnTo>
                  <a:pt x="8904" y="29538"/>
                </a:lnTo>
                <a:lnTo>
                  <a:pt x="8051" y="29330"/>
                </a:lnTo>
                <a:lnTo>
                  <a:pt x="7133" y="29254"/>
                </a:lnTo>
                <a:lnTo>
                  <a:pt x="6405" y="29153"/>
                </a:lnTo>
                <a:lnTo>
                  <a:pt x="5744" y="29226"/>
                </a:lnTo>
                <a:lnTo>
                  <a:pt x="5278" y="29037"/>
                </a:lnTo>
                <a:lnTo>
                  <a:pt x="4538" y="28958"/>
                </a:lnTo>
                <a:lnTo>
                  <a:pt x="4021" y="28795"/>
                </a:lnTo>
                <a:lnTo>
                  <a:pt x="3690" y="28438"/>
                </a:lnTo>
                <a:lnTo>
                  <a:pt x="3371" y="28374"/>
                </a:lnTo>
                <a:lnTo>
                  <a:pt x="2875" y="28181"/>
                </a:lnTo>
                <a:lnTo>
                  <a:pt x="2648" y="27799"/>
                </a:lnTo>
                <a:lnTo>
                  <a:pt x="2323" y="27661"/>
                </a:lnTo>
                <a:lnTo>
                  <a:pt x="2041" y="27406"/>
                </a:lnTo>
                <a:lnTo>
                  <a:pt x="1795" y="27080"/>
                </a:lnTo>
                <a:lnTo>
                  <a:pt x="1386" y="26700"/>
                </a:lnTo>
                <a:lnTo>
                  <a:pt x="1109" y="26246"/>
                </a:lnTo>
                <a:lnTo>
                  <a:pt x="1062" y="25959"/>
                </a:lnTo>
                <a:lnTo>
                  <a:pt x="724" y="25626"/>
                </a:lnTo>
                <a:lnTo>
                  <a:pt x="645" y="25097"/>
                </a:lnTo>
                <a:lnTo>
                  <a:pt x="573" y="24684"/>
                </a:lnTo>
                <a:lnTo>
                  <a:pt x="353" y="24076"/>
                </a:lnTo>
                <a:lnTo>
                  <a:pt x="263" y="23406"/>
                </a:lnTo>
                <a:lnTo>
                  <a:pt x="343" y="22602"/>
                </a:lnTo>
                <a:lnTo>
                  <a:pt x="164" y="21823"/>
                </a:lnTo>
                <a:lnTo>
                  <a:pt x="171" y="20871"/>
                </a:lnTo>
                <a:lnTo>
                  <a:pt x="122" y="19403"/>
                </a:lnTo>
                <a:lnTo>
                  <a:pt x="62" y="14765"/>
                </a:lnTo>
                <a:lnTo>
                  <a:pt x="0" y="10251"/>
                </a:lnTo>
                <a:lnTo>
                  <a:pt x="32" y="8947"/>
                </a:lnTo>
                <a:lnTo>
                  <a:pt x="191" y="7724"/>
                </a:lnTo>
                <a:lnTo>
                  <a:pt x="188" y="7038"/>
                </a:lnTo>
                <a:lnTo>
                  <a:pt x="326" y="6323"/>
                </a:lnTo>
                <a:lnTo>
                  <a:pt x="473" y="5707"/>
                </a:lnTo>
                <a:lnTo>
                  <a:pt x="417" y="4961"/>
                </a:lnTo>
                <a:lnTo>
                  <a:pt x="586" y="4606"/>
                </a:lnTo>
                <a:lnTo>
                  <a:pt x="834" y="4079"/>
                </a:lnTo>
                <a:lnTo>
                  <a:pt x="1026" y="3720"/>
                </a:lnTo>
                <a:lnTo>
                  <a:pt x="1194" y="3136"/>
                </a:lnTo>
                <a:lnTo>
                  <a:pt x="1526" y="2812"/>
                </a:lnTo>
                <a:lnTo>
                  <a:pt x="1766" y="2535"/>
                </a:lnTo>
                <a:lnTo>
                  <a:pt x="2065" y="2191"/>
                </a:lnTo>
                <a:lnTo>
                  <a:pt x="2235" y="2005"/>
                </a:lnTo>
                <a:lnTo>
                  <a:pt x="2484" y="1767"/>
                </a:lnTo>
                <a:lnTo>
                  <a:pt x="3040" y="1514"/>
                </a:lnTo>
                <a:lnTo>
                  <a:pt x="3374" y="1223"/>
                </a:lnTo>
                <a:lnTo>
                  <a:pt x="3708" y="986"/>
                </a:lnTo>
                <a:lnTo>
                  <a:pt x="4144" y="952"/>
                </a:lnTo>
                <a:lnTo>
                  <a:pt x="4712" y="792"/>
                </a:lnTo>
                <a:lnTo>
                  <a:pt x="5177" y="626"/>
                </a:lnTo>
                <a:lnTo>
                  <a:pt x="5778" y="387"/>
                </a:lnTo>
                <a:lnTo>
                  <a:pt x="6507" y="400"/>
                </a:lnTo>
                <a:lnTo>
                  <a:pt x="7214" y="361"/>
                </a:lnTo>
                <a:lnTo>
                  <a:pt x="7810" y="184"/>
                </a:lnTo>
                <a:lnTo>
                  <a:pt x="8907" y="228"/>
                </a:lnTo>
                <a:lnTo>
                  <a:pt x="10066" y="126"/>
                </a:lnTo>
                <a:lnTo>
                  <a:pt x="11631" y="59"/>
                </a:lnTo>
                <a:lnTo>
                  <a:pt x="16890" y="179"/>
                </a:lnTo>
                <a:lnTo>
                  <a:pt x="22116" y="135"/>
                </a:lnTo>
                <a:lnTo>
                  <a:pt x="23869" y="0"/>
                </a:lnTo>
                <a:lnTo>
                  <a:pt x="25017" y="260"/>
                </a:lnTo>
                <a:lnTo>
                  <a:pt x="25902" y="306"/>
                </a:lnTo>
                <a:lnTo>
                  <a:pt x="26754" y="314"/>
                </a:lnTo>
                <a:lnTo>
                  <a:pt x="27481" y="432"/>
                </a:lnTo>
                <a:lnTo>
                  <a:pt x="28071" y="377"/>
                </a:lnTo>
                <a:lnTo>
                  <a:pt x="28715" y="597"/>
                </a:lnTo>
                <a:lnTo>
                  <a:pt x="29254" y="626"/>
                </a:lnTo>
                <a:lnTo>
                  <a:pt x="29635" y="936"/>
                </a:lnTo>
                <a:lnTo>
                  <a:pt x="30250" y="990"/>
                </a:lnTo>
                <a:lnTo>
                  <a:pt x="30677" y="1196"/>
                </a:lnTo>
                <a:lnTo>
                  <a:pt x="30910" y="1572"/>
                </a:lnTo>
                <a:lnTo>
                  <a:pt x="31390" y="1780"/>
                </a:lnTo>
                <a:lnTo>
                  <a:pt x="31565" y="2015"/>
                </a:lnTo>
                <a:lnTo>
                  <a:pt x="31936" y="2335"/>
                </a:lnTo>
                <a:lnTo>
                  <a:pt x="32224" y="2554"/>
                </a:lnTo>
                <a:lnTo>
                  <a:pt x="32462" y="2834"/>
                </a:lnTo>
                <a:lnTo>
                  <a:pt x="32610" y="3246"/>
                </a:lnTo>
                <a:lnTo>
                  <a:pt x="32925" y="3607"/>
                </a:lnTo>
                <a:lnTo>
                  <a:pt x="33097" y="3958"/>
                </a:lnTo>
                <a:lnTo>
                  <a:pt x="33222" y="4622"/>
                </a:lnTo>
                <a:lnTo>
                  <a:pt x="33342" y="5138"/>
                </a:lnTo>
                <a:lnTo>
                  <a:pt x="33429" y="5601"/>
                </a:lnTo>
                <a:lnTo>
                  <a:pt x="33652" y="6335"/>
                </a:lnTo>
                <a:lnTo>
                  <a:pt x="33509" y="6861"/>
                </a:lnTo>
                <a:lnTo>
                  <a:pt x="33699" y="7867"/>
                </a:lnTo>
                <a:lnTo>
                  <a:pt x="33675" y="8810"/>
                </a:lnTo>
                <a:lnTo>
                  <a:pt x="33793" y="10220"/>
                </a:lnTo>
                <a:lnTo>
                  <a:pt x="33671" y="14706"/>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7094007" y="6803959"/>
            <a:ext cx="41239" cy="221193"/>
          </a:xfrm>
          <a:custGeom>
            <a:avLst/>
            <a:gdLst/>
            <a:ahLst/>
            <a:cxnLst/>
            <a:rect l="l" t="t" r="r" b="b"/>
            <a:pathLst>
              <a:path w="451" h="2419">
                <a:moveTo>
                  <a:pt x="451" y="0"/>
                </a:moveTo>
                <a:lnTo>
                  <a:pt x="367" y="719"/>
                </a:lnTo>
                <a:lnTo>
                  <a:pt x="264" y="1350"/>
                </a:lnTo>
                <a:lnTo>
                  <a:pt x="142" y="1912"/>
                </a:lnTo>
                <a:lnTo>
                  <a:pt x="0" y="241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6629857" y="7340712"/>
            <a:ext cx="186355" cy="55047"/>
          </a:xfrm>
          <a:custGeom>
            <a:avLst/>
            <a:gdLst/>
            <a:ahLst/>
            <a:cxnLst/>
            <a:rect l="l" t="t" r="r" b="b"/>
            <a:pathLst>
              <a:path w="2038" h="602">
                <a:moveTo>
                  <a:pt x="2038" y="0"/>
                </a:moveTo>
                <a:lnTo>
                  <a:pt x="1594" y="177"/>
                </a:lnTo>
                <a:lnTo>
                  <a:pt x="1110" y="336"/>
                </a:lnTo>
                <a:lnTo>
                  <a:pt x="581" y="478"/>
                </a:lnTo>
                <a:lnTo>
                  <a:pt x="0" y="60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4532132" y="7384420"/>
            <a:ext cx="253197" cy="35936"/>
          </a:xfrm>
          <a:custGeom>
            <a:avLst/>
            <a:gdLst/>
            <a:ahLst/>
            <a:cxnLst/>
            <a:rect l="l" t="t" r="r" b="b"/>
            <a:pathLst>
              <a:path w="2769" h="393">
                <a:moveTo>
                  <a:pt x="2769" y="393"/>
                </a:moveTo>
                <a:lnTo>
                  <a:pt x="1945" y="320"/>
                </a:lnTo>
                <a:lnTo>
                  <a:pt x="1224" y="230"/>
                </a:lnTo>
                <a:lnTo>
                  <a:pt x="581" y="124"/>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4108125" y="6978792"/>
            <a:ext cx="62911" cy="162855"/>
          </a:xfrm>
          <a:custGeom>
            <a:avLst/>
            <a:gdLst/>
            <a:ahLst/>
            <a:cxnLst/>
            <a:rect l="l" t="t" r="r" b="b"/>
            <a:pathLst>
              <a:path w="688" h="1781">
                <a:moveTo>
                  <a:pt x="688" y="1781"/>
                </a:moveTo>
                <a:lnTo>
                  <a:pt x="485" y="1392"/>
                </a:lnTo>
                <a:lnTo>
                  <a:pt x="303" y="969"/>
                </a:lnTo>
                <a:lnTo>
                  <a:pt x="142" y="507"/>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4079870" y="5145512"/>
            <a:ext cx="41239" cy="221193"/>
          </a:xfrm>
          <a:custGeom>
            <a:avLst/>
            <a:gdLst/>
            <a:ahLst/>
            <a:cxnLst/>
            <a:rect l="l" t="t" r="r" b="b"/>
            <a:pathLst>
              <a:path w="451" h="2419">
                <a:moveTo>
                  <a:pt x="0" y="2419"/>
                </a:moveTo>
                <a:lnTo>
                  <a:pt x="84" y="1700"/>
                </a:lnTo>
                <a:lnTo>
                  <a:pt x="187" y="1069"/>
                </a:lnTo>
                <a:lnTo>
                  <a:pt x="309" y="507"/>
                </a:lnTo>
                <a:lnTo>
                  <a:pt x="451"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4398904" y="4774905"/>
            <a:ext cx="186355" cy="55047"/>
          </a:xfrm>
          <a:custGeom>
            <a:avLst/>
            <a:gdLst/>
            <a:ahLst/>
            <a:cxnLst/>
            <a:rect l="l" t="t" r="r" b="b"/>
            <a:pathLst>
              <a:path w="2038" h="602">
                <a:moveTo>
                  <a:pt x="0" y="602"/>
                </a:moveTo>
                <a:lnTo>
                  <a:pt x="444" y="425"/>
                </a:lnTo>
                <a:lnTo>
                  <a:pt x="928" y="266"/>
                </a:lnTo>
                <a:lnTo>
                  <a:pt x="1457" y="124"/>
                </a:lnTo>
                <a:lnTo>
                  <a:pt x="203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6429786" y="4750308"/>
            <a:ext cx="253197" cy="35936"/>
          </a:xfrm>
          <a:custGeom>
            <a:avLst/>
            <a:gdLst/>
            <a:ahLst/>
            <a:cxnLst/>
            <a:rect l="l" t="t" r="r" b="b"/>
            <a:pathLst>
              <a:path w="2769" h="393">
                <a:moveTo>
                  <a:pt x="0" y="0"/>
                </a:moveTo>
                <a:lnTo>
                  <a:pt x="824" y="73"/>
                </a:lnTo>
                <a:lnTo>
                  <a:pt x="1545" y="163"/>
                </a:lnTo>
                <a:lnTo>
                  <a:pt x="2188" y="269"/>
                </a:lnTo>
                <a:lnTo>
                  <a:pt x="2769" y="393"/>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7044080" y="5029017"/>
            <a:ext cx="62911" cy="162855"/>
          </a:xfrm>
          <a:custGeom>
            <a:avLst/>
            <a:gdLst/>
            <a:ahLst/>
            <a:cxnLst/>
            <a:rect l="l" t="t" r="r" b="b"/>
            <a:pathLst>
              <a:path w="688" h="1781">
                <a:moveTo>
                  <a:pt x="0" y="0"/>
                </a:moveTo>
                <a:lnTo>
                  <a:pt x="203" y="389"/>
                </a:lnTo>
                <a:lnTo>
                  <a:pt x="385" y="812"/>
                </a:lnTo>
                <a:lnTo>
                  <a:pt x="546" y="1274"/>
                </a:lnTo>
                <a:lnTo>
                  <a:pt x="688" y="1781"/>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body: 6"/>
          <p:cNvSpPr txBox="1"/>
          <p:nvPr/>
        </p:nvSpPr>
        <p:spPr>
          <a:xfrm>
            <a:off x="4219955" y="4912931"/>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4E7892"/>
                </a:solidFill>
                <a:latin typeface="Trebuchet MS"/>
              </a:rPr>
              <a:t>6</a:t>
            </a:r>
          </a:p>
        </p:txBody>
      </p:sp>
      <p:sp>
        <p:nvSpPr>
          <p:cNvPr id="95" name="body: Federated sharing"/>
          <p:cNvSpPr txBox="1"/>
          <p:nvPr/>
        </p:nvSpPr>
        <p:spPr>
          <a:xfrm>
            <a:off x="4741164" y="4901183"/>
            <a:ext cx="1997964" cy="707644"/>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4E7892"/>
                </a:solidFill>
                <a:latin typeface="Chalkboard SE"/>
              </a:rPr>
              <a:t>Federated</a:t>
            </a:r>
            <a:br/>
            <a:r>
              <a:rPr sz="1850" b="1">
                <a:solidFill>
                  <a:srgbClr val="4E7892"/>
                </a:solidFill>
                <a:latin typeface="Chalkboard SE"/>
              </a:rPr>
              <a:t>sharing</a:t>
            </a:r>
          </a:p>
        </p:txBody>
      </p:sp>
      <p:sp>
        <p:nvSpPr>
          <p:cNvPr id="96" name="body: Share signatures and cases, never raw traces."/>
          <p:cNvSpPr txBox="1"/>
          <p:nvPr/>
        </p:nvSpPr>
        <p:spPr>
          <a:xfrm>
            <a:off x="4311396" y="6018339"/>
            <a:ext cx="2592324" cy="987932"/>
          </a:xfrm>
          <a:prstGeom prst="rect">
            <a:avLst/>
          </a:prstGeom>
          <a:noFill/>
        </p:spPr>
        <p:txBody>
          <a:bodyPr wrap="none" lIns="0" rIns="0" tIns="0" bIns="0" anchor="t">
            <a:noAutofit/>
          </a:bodyPr>
          <a:lstStyle/>
          <a:p>
            <a:pPr algn="ctr">
              <a:lnSpc>
                <a:spcPts val="2413"/>
              </a:lnSpc>
              <a:spcBef>
                <a:spcPts val="0"/>
              </a:spcBef>
              <a:spcAft>
                <a:spcPts val="0"/>
              </a:spcAft>
            </a:pPr>
            <a:r>
              <a:rPr sz="1900" b="0">
                <a:solidFill>
                  <a:srgbClr val="293E46"/>
                </a:solidFill>
                <a:latin typeface="Trebuchet MS"/>
              </a:rPr>
              <a:t>Share signatures and</a:t>
            </a:r>
            <a:br/>
            <a:r>
              <a:rPr sz="1900" b="0">
                <a:solidFill>
                  <a:srgbClr val="293E46"/>
                </a:solidFill>
                <a:latin typeface="Trebuchet MS"/>
              </a:rPr>
              <a:t>cases, never raw</a:t>
            </a:r>
            <a:br/>
            <a:r>
              <a:rPr sz="1900" b="0">
                <a:solidFill>
                  <a:srgbClr val="293E46"/>
                </a:solidFill>
                <a:latin typeface="Trebuchet MS"/>
              </a:rPr>
              <a:t>traces.</a:t>
            </a:r>
          </a:p>
        </p:txBody>
      </p:sp>
      <p:sp>
        <p:nvSpPr>
          <p:cNvPr id="97" name="Rounded Rectangle 96"/>
          <p:cNvSpPr/>
          <p:nvPr/>
        </p:nvSpPr>
        <p:spPr>
          <a:xfrm>
            <a:off x="7470648" y="4727448"/>
            <a:ext cx="3104388" cy="2715768"/>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7473483" y="4729002"/>
            <a:ext cx="3101645" cy="2713025"/>
          </a:xfrm>
          <a:custGeom>
            <a:avLst/>
            <a:gdLst/>
            <a:ahLst/>
            <a:cxnLst/>
            <a:rect l="l" t="t" r="r" b="b"/>
            <a:pathLst>
              <a:path w="33920" h="29670">
                <a:moveTo>
                  <a:pt x="33920" y="14837"/>
                </a:moveTo>
                <a:lnTo>
                  <a:pt x="33837" y="19343"/>
                </a:lnTo>
                <a:lnTo>
                  <a:pt x="33745" y="20918"/>
                </a:lnTo>
                <a:lnTo>
                  <a:pt x="33594" y="21802"/>
                </a:lnTo>
                <a:lnTo>
                  <a:pt x="33726" y="22749"/>
                </a:lnTo>
                <a:lnTo>
                  <a:pt x="33444" y="23327"/>
                </a:lnTo>
                <a:lnTo>
                  <a:pt x="33467" y="24086"/>
                </a:lnTo>
                <a:lnTo>
                  <a:pt x="33254" y="24698"/>
                </a:lnTo>
                <a:lnTo>
                  <a:pt x="33202" y="25101"/>
                </a:lnTo>
                <a:lnTo>
                  <a:pt x="33020" y="25575"/>
                </a:lnTo>
                <a:lnTo>
                  <a:pt x="32828" y="26053"/>
                </a:lnTo>
                <a:lnTo>
                  <a:pt x="32530" y="26285"/>
                </a:lnTo>
                <a:lnTo>
                  <a:pt x="32460" y="26687"/>
                </a:lnTo>
                <a:lnTo>
                  <a:pt x="32124" y="27018"/>
                </a:lnTo>
                <a:lnTo>
                  <a:pt x="31966" y="27446"/>
                </a:lnTo>
                <a:lnTo>
                  <a:pt x="31583" y="27552"/>
                </a:lnTo>
                <a:lnTo>
                  <a:pt x="31297" y="28005"/>
                </a:lnTo>
                <a:lnTo>
                  <a:pt x="30866" y="28202"/>
                </a:lnTo>
                <a:lnTo>
                  <a:pt x="30591" y="28472"/>
                </a:lnTo>
                <a:lnTo>
                  <a:pt x="30064" y="28552"/>
                </a:lnTo>
                <a:lnTo>
                  <a:pt x="29768" y="28820"/>
                </a:lnTo>
                <a:lnTo>
                  <a:pt x="29253" y="28797"/>
                </a:lnTo>
                <a:lnTo>
                  <a:pt x="28704" y="29068"/>
                </a:lnTo>
                <a:lnTo>
                  <a:pt x="28155" y="29044"/>
                </a:lnTo>
                <a:lnTo>
                  <a:pt x="27436" y="29195"/>
                </a:lnTo>
                <a:lnTo>
                  <a:pt x="26756" y="29315"/>
                </a:lnTo>
                <a:lnTo>
                  <a:pt x="25938" y="29397"/>
                </a:lnTo>
                <a:lnTo>
                  <a:pt x="24913" y="29561"/>
                </a:lnTo>
                <a:lnTo>
                  <a:pt x="23766" y="29649"/>
                </a:lnTo>
                <a:lnTo>
                  <a:pt x="22067" y="29518"/>
                </a:lnTo>
                <a:lnTo>
                  <a:pt x="16981" y="29596"/>
                </a:lnTo>
                <a:lnTo>
                  <a:pt x="11668" y="29670"/>
                </a:lnTo>
                <a:lnTo>
                  <a:pt x="10150" y="29523"/>
                </a:lnTo>
                <a:lnTo>
                  <a:pt x="8830" y="29523"/>
                </a:lnTo>
                <a:lnTo>
                  <a:pt x="7853" y="29508"/>
                </a:lnTo>
                <a:lnTo>
                  <a:pt x="7212" y="29318"/>
                </a:lnTo>
                <a:lnTo>
                  <a:pt x="6427" y="29294"/>
                </a:lnTo>
                <a:lnTo>
                  <a:pt x="5881" y="29193"/>
                </a:lnTo>
                <a:lnTo>
                  <a:pt x="5185" y="28980"/>
                </a:lnTo>
                <a:lnTo>
                  <a:pt x="4632" y="28822"/>
                </a:lnTo>
                <a:lnTo>
                  <a:pt x="4053" y="28770"/>
                </a:lnTo>
                <a:lnTo>
                  <a:pt x="3844" y="28635"/>
                </a:lnTo>
                <a:lnTo>
                  <a:pt x="3394" y="28352"/>
                </a:lnTo>
                <a:lnTo>
                  <a:pt x="2826" y="28077"/>
                </a:lnTo>
                <a:lnTo>
                  <a:pt x="2572" y="28032"/>
                </a:lnTo>
                <a:lnTo>
                  <a:pt x="2226" y="27566"/>
                </a:lnTo>
                <a:lnTo>
                  <a:pt x="1877" y="27332"/>
                </a:lnTo>
                <a:lnTo>
                  <a:pt x="1781" y="27016"/>
                </a:lnTo>
                <a:lnTo>
                  <a:pt x="1545" y="26775"/>
                </a:lnTo>
                <a:lnTo>
                  <a:pt x="1342" y="26299"/>
                </a:lnTo>
                <a:lnTo>
                  <a:pt x="1085" y="26013"/>
                </a:lnTo>
                <a:lnTo>
                  <a:pt x="972" y="25615"/>
                </a:lnTo>
                <a:lnTo>
                  <a:pt x="694" y="25076"/>
                </a:lnTo>
                <a:lnTo>
                  <a:pt x="670" y="24626"/>
                </a:lnTo>
                <a:lnTo>
                  <a:pt x="391" y="24159"/>
                </a:lnTo>
                <a:lnTo>
                  <a:pt x="381" y="23403"/>
                </a:lnTo>
                <a:lnTo>
                  <a:pt x="268" y="22712"/>
                </a:lnTo>
                <a:lnTo>
                  <a:pt x="235" y="21817"/>
                </a:lnTo>
                <a:lnTo>
                  <a:pt x="0" y="20822"/>
                </a:lnTo>
                <a:lnTo>
                  <a:pt x="176" y="19285"/>
                </a:lnTo>
                <a:lnTo>
                  <a:pt x="176" y="14757"/>
                </a:lnTo>
                <a:lnTo>
                  <a:pt x="151" y="10418"/>
                </a:lnTo>
                <a:lnTo>
                  <a:pt x="206" y="8749"/>
                </a:lnTo>
                <a:lnTo>
                  <a:pt x="95" y="7744"/>
                </a:lnTo>
                <a:lnTo>
                  <a:pt x="303" y="7092"/>
                </a:lnTo>
                <a:lnTo>
                  <a:pt x="196" y="6342"/>
                </a:lnTo>
                <a:lnTo>
                  <a:pt x="541" y="5595"/>
                </a:lnTo>
                <a:lnTo>
                  <a:pt x="543" y="5066"/>
                </a:lnTo>
                <a:lnTo>
                  <a:pt x="695" y="4624"/>
                </a:lnTo>
                <a:lnTo>
                  <a:pt x="785" y="4171"/>
                </a:lnTo>
                <a:lnTo>
                  <a:pt x="985" y="3679"/>
                </a:lnTo>
                <a:lnTo>
                  <a:pt x="1175" y="3307"/>
                </a:lnTo>
                <a:lnTo>
                  <a:pt x="1347" y="2945"/>
                </a:lnTo>
                <a:lnTo>
                  <a:pt x="1615" y="2695"/>
                </a:lnTo>
                <a:lnTo>
                  <a:pt x="2044" y="2192"/>
                </a:lnTo>
                <a:lnTo>
                  <a:pt x="2205" y="1937"/>
                </a:lnTo>
                <a:lnTo>
                  <a:pt x="2582" y="1644"/>
                </a:lnTo>
                <a:lnTo>
                  <a:pt x="2913" y="1409"/>
                </a:lnTo>
                <a:lnTo>
                  <a:pt x="3240" y="1390"/>
                </a:lnTo>
                <a:lnTo>
                  <a:pt x="3702" y="1122"/>
                </a:lnTo>
                <a:lnTo>
                  <a:pt x="4124" y="976"/>
                </a:lnTo>
                <a:lnTo>
                  <a:pt x="4659" y="863"/>
                </a:lnTo>
                <a:lnTo>
                  <a:pt x="5246" y="521"/>
                </a:lnTo>
                <a:lnTo>
                  <a:pt x="5721" y="481"/>
                </a:lnTo>
                <a:lnTo>
                  <a:pt x="6360" y="430"/>
                </a:lnTo>
                <a:lnTo>
                  <a:pt x="7142" y="321"/>
                </a:lnTo>
                <a:lnTo>
                  <a:pt x="7886" y="273"/>
                </a:lnTo>
                <a:lnTo>
                  <a:pt x="9028" y="155"/>
                </a:lnTo>
                <a:lnTo>
                  <a:pt x="10078" y="150"/>
                </a:lnTo>
                <a:lnTo>
                  <a:pt x="11643" y="173"/>
                </a:lnTo>
                <a:lnTo>
                  <a:pt x="16893" y="4"/>
                </a:lnTo>
                <a:lnTo>
                  <a:pt x="22072" y="0"/>
                </a:lnTo>
                <a:lnTo>
                  <a:pt x="23672" y="170"/>
                </a:lnTo>
                <a:lnTo>
                  <a:pt x="24883" y="250"/>
                </a:lnTo>
                <a:lnTo>
                  <a:pt x="26056" y="347"/>
                </a:lnTo>
                <a:lnTo>
                  <a:pt x="26858" y="287"/>
                </a:lnTo>
                <a:lnTo>
                  <a:pt x="27493" y="462"/>
                </a:lnTo>
                <a:lnTo>
                  <a:pt x="28226" y="616"/>
                </a:lnTo>
                <a:lnTo>
                  <a:pt x="28762" y="727"/>
                </a:lnTo>
                <a:lnTo>
                  <a:pt x="29182" y="713"/>
                </a:lnTo>
                <a:lnTo>
                  <a:pt x="29692" y="975"/>
                </a:lnTo>
                <a:lnTo>
                  <a:pt x="30195" y="1192"/>
                </a:lnTo>
                <a:lnTo>
                  <a:pt x="30534" y="1197"/>
                </a:lnTo>
                <a:lnTo>
                  <a:pt x="30967" y="1534"/>
                </a:lnTo>
                <a:lnTo>
                  <a:pt x="31273" y="1757"/>
                </a:lnTo>
                <a:lnTo>
                  <a:pt x="31643" y="1979"/>
                </a:lnTo>
                <a:lnTo>
                  <a:pt x="31897" y="2289"/>
                </a:lnTo>
                <a:lnTo>
                  <a:pt x="32264" y="2550"/>
                </a:lnTo>
                <a:lnTo>
                  <a:pt x="32485" y="2806"/>
                </a:lnTo>
                <a:lnTo>
                  <a:pt x="32633" y="3165"/>
                </a:lnTo>
                <a:lnTo>
                  <a:pt x="32873" y="3762"/>
                </a:lnTo>
                <a:lnTo>
                  <a:pt x="33050" y="4140"/>
                </a:lnTo>
                <a:lnTo>
                  <a:pt x="33076" y="4535"/>
                </a:lnTo>
                <a:lnTo>
                  <a:pt x="33270" y="5061"/>
                </a:lnTo>
                <a:lnTo>
                  <a:pt x="33535" y="5580"/>
                </a:lnTo>
                <a:lnTo>
                  <a:pt x="33447" y="6212"/>
                </a:lnTo>
                <a:lnTo>
                  <a:pt x="33547" y="6945"/>
                </a:lnTo>
                <a:lnTo>
                  <a:pt x="33766" y="7788"/>
                </a:lnTo>
                <a:lnTo>
                  <a:pt x="33878" y="8879"/>
                </a:lnTo>
                <a:lnTo>
                  <a:pt x="33870" y="10427"/>
                </a:lnTo>
                <a:lnTo>
                  <a:pt x="33837" y="14774"/>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Freeform 98"/>
          <p:cNvSpPr/>
          <p:nvPr/>
        </p:nvSpPr>
        <p:spPr>
          <a:xfrm>
            <a:off x="7471837" y="4733940"/>
            <a:ext cx="3100090" cy="2704795"/>
          </a:xfrm>
          <a:custGeom>
            <a:avLst/>
            <a:gdLst/>
            <a:ahLst/>
            <a:cxnLst/>
            <a:rect l="l" t="t" r="r" b="b"/>
            <a:pathLst>
              <a:path w="33903" h="29580">
                <a:moveTo>
                  <a:pt x="33903" y="14715"/>
                </a:moveTo>
                <a:lnTo>
                  <a:pt x="33883" y="19362"/>
                </a:lnTo>
                <a:lnTo>
                  <a:pt x="33743" y="20852"/>
                </a:lnTo>
                <a:lnTo>
                  <a:pt x="33707" y="21742"/>
                </a:lnTo>
                <a:lnTo>
                  <a:pt x="33717" y="22640"/>
                </a:lnTo>
                <a:lnTo>
                  <a:pt x="33610" y="23241"/>
                </a:lnTo>
                <a:lnTo>
                  <a:pt x="33466" y="24102"/>
                </a:lnTo>
                <a:lnTo>
                  <a:pt x="33262" y="24493"/>
                </a:lnTo>
                <a:lnTo>
                  <a:pt x="33122" y="25162"/>
                </a:lnTo>
                <a:lnTo>
                  <a:pt x="33005" y="25580"/>
                </a:lnTo>
                <a:lnTo>
                  <a:pt x="32745" y="26005"/>
                </a:lnTo>
                <a:lnTo>
                  <a:pt x="32721" y="26221"/>
                </a:lnTo>
                <a:lnTo>
                  <a:pt x="32334" y="26611"/>
                </a:lnTo>
                <a:lnTo>
                  <a:pt x="32304" y="26920"/>
                </a:lnTo>
                <a:lnTo>
                  <a:pt x="31901" y="27203"/>
                </a:lnTo>
                <a:lnTo>
                  <a:pt x="31649" y="27560"/>
                </a:lnTo>
                <a:lnTo>
                  <a:pt x="31419" y="27797"/>
                </a:lnTo>
                <a:lnTo>
                  <a:pt x="31002" y="28055"/>
                </a:lnTo>
                <a:lnTo>
                  <a:pt x="30676" y="28427"/>
                </a:lnTo>
                <a:lnTo>
                  <a:pt x="30258" y="28621"/>
                </a:lnTo>
                <a:lnTo>
                  <a:pt x="29713" y="28744"/>
                </a:lnTo>
                <a:lnTo>
                  <a:pt x="29295" y="28904"/>
                </a:lnTo>
                <a:lnTo>
                  <a:pt x="28822" y="28946"/>
                </a:lnTo>
                <a:lnTo>
                  <a:pt x="28187" y="29018"/>
                </a:lnTo>
                <a:lnTo>
                  <a:pt x="27479" y="29118"/>
                </a:lnTo>
                <a:lnTo>
                  <a:pt x="26858" y="29199"/>
                </a:lnTo>
                <a:lnTo>
                  <a:pt x="25949" y="29416"/>
                </a:lnTo>
                <a:lnTo>
                  <a:pt x="25085" y="29506"/>
                </a:lnTo>
                <a:lnTo>
                  <a:pt x="23812" y="29414"/>
                </a:lnTo>
                <a:lnTo>
                  <a:pt x="22207" y="29453"/>
                </a:lnTo>
                <a:lnTo>
                  <a:pt x="16909" y="29464"/>
                </a:lnTo>
                <a:lnTo>
                  <a:pt x="11879" y="29580"/>
                </a:lnTo>
                <a:lnTo>
                  <a:pt x="10256" y="29426"/>
                </a:lnTo>
                <a:lnTo>
                  <a:pt x="8879" y="29449"/>
                </a:lnTo>
                <a:lnTo>
                  <a:pt x="7963" y="29327"/>
                </a:lnTo>
                <a:lnTo>
                  <a:pt x="7102" y="29368"/>
                </a:lnTo>
                <a:lnTo>
                  <a:pt x="6444" y="29170"/>
                </a:lnTo>
                <a:lnTo>
                  <a:pt x="5710" y="29107"/>
                </a:lnTo>
                <a:lnTo>
                  <a:pt x="5141" y="29032"/>
                </a:lnTo>
                <a:lnTo>
                  <a:pt x="4600" y="28928"/>
                </a:lnTo>
                <a:lnTo>
                  <a:pt x="4112" y="28700"/>
                </a:lnTo>
                <a:lnTo>
                  <a:pt x="3807" y="28453"/>
                </a:lnTo>
                <a:lnTo>
                  <a:pt x="3453" y="28390"/>
                </a:lnTo>
                <a:lnTo>
                  <a:pt x="2973" y="28019"/>
                </a:lnTo>
                <a:lnTo>
                  <a:pt x="2520" y="27766"/>
                </a:lnTo>
                <a:lnTo>
                  <a:pt x="2230" y="27576"/>
                </a:lnTo>
                <a:lnTo>
                  <a:pt x="1985" y="27289"/>
                </a:lnTo>
                <a:lnTo>
                  <a:pt x="1622" y="27026"/>
                </a:lnTo>
                <a:lnTo>
                  <a:pt x="1435" y="26580"/>
                </a:lnTo>
                <a:lnTo>
                  <a:pt x="1179" y="26323"/>
                </a:lnTo>
                <a:lnTo>
                  <a:pt x="976" y="25975"/>
                </a:lnTo>
                <a:lnTo>
                  <a:pt x="842" y="25418"/>
                </a:lnTo>
                <a:lnTo>
                  <a:pt x="751" y="25056"/>
                </a:lnTo>
                <a:lnTo>
                  <a:pt x="640" y="24533"/>
                </a:lnTo>
                <a:lnTo>
                  <a:pt x="482" y="24036"/>
                </a:lnTo>
                <a:lnTo>
                  <a:pt x="261" y="23265"/>
                </a:lnTo>
                <a:lnTo>
                  <a:pt x="134" y="22732"/>
                </a:lnTo>
                <a:lnTo>
                  <a:pt x="218" y="21873"/>
                </a:lnTo>
                <a:lnTo>
                  <a:pt x="255" y="20805"/>
                </a:lnTo>
                <a:lnTo>
                  <a:pt x="0" y="19423"/>
                </a:lnTo>
                <a:lnTo>
                  <a:pt x="164" y="14862"/>
                </a:lnTo>
                <a:lnTo>
                  <a:pt x="82" y="10327"/>
                </a:lnTo>
                <a:lnTo>
                  <a:pt x="93" y="8694"/>
                </a:lnTo>
                <a:lnTo>
                  <a:pt x="255" y="7796"/>
                </a:lnTo>
                <a:lnTo>
                  <a:pt x="380" y="6811"/>
                </a:lnTo>
                <a:lnTo>
                  <a:pt x="434" y="6103"/>
                </a:lnTo>
                <a:lnTo>
                  <a:pt x="404" y="5503"/>
                </a:lnTo>
                <a:lnTo>
                  <a:pt x="647" y="5031"/>
                </a:lnTo>
                <a:lnTo>
                  <a:pt x="708" y="4542"/>
                </a:lnTo>
                <a:lnTo>
                  <a:pt x="793" y="4009"/>
                </a:lnTo>
                <a:lnTo>
                  <a:pt x="954" y="3702"/>
                </a:lnTo>
                <a:lnTo>
                  <a:pt x="1150" y="3115"/>
                </a:lnTo>
                <a:lnTo>
                  <a:pt x="1360" y="2912"/>
                </a:lnTo>
                <a:lnTo>
                  <a:pt x="1819" y="2494"/>
                </a:lnTo>
                <a:lnTo>
                  <a:pt x="2053" y="2240"/>
                </a:lnTo>
                <a:lnTo>
                  <a:pt x="2307" y="2024"/>
                </a:lnTo>
                <a:lnTo>
                  <a:pt x="2514" y="1694"/>
                </a:lnTo>
                <a:lnTo>
                  <a:pt x="2871" y="1408"/>
                </a:lnTo>
                <a:lnTo>
                  <a:pt x="3425" y="1348"/>
                </a:lnTo>
                <a:lnTo>
                  <a:pt x="3675" y="1068"/>
                </a:lnTo>
                <a:lnTo>
                  <a:pt x="4294" y="795"/>
                </a:lnTo>
                <a:lnTo>
                  <a:pt x="4787" y="754"/>
                </a:lnTo>
                <a:lnTo>
                  <a:pt x="5137" y="551"/>
                </a:lnTo>
                <a:lnTo>
                  <a:pt x="5871" y="406"/>
                </a:lnTo>
                <a:lnTo>
                  <a:pt x="6525" y="366"/>
                </a:lnTo>
                <a:lnTo>
                  <a:pt x="7235" y="328"/>
                </a:lnTo>
                <a:lnTo>
                  <a:pt x="8075" y="111"/>
                </a:lnTo>
                <a:lnTo>
                  <a:pt x="8923" y="227"/>
                </a:lnTo>
                <a:lnTo>
                  <a:pt x="10048" y="48"/>
                </a:lnTo>
                <a:lnTo>
                  <a:pt x="11795" y="0"/>
                </a:lnTo>
                <a:lnTo>
                  <a:pt x="16907" y="4"/>
                </a:lnTo>
                <a:lnTo>
                  <a:pt x="22125" y="72"/>
                </a:lnTo>
                <a:lnTo>
                  <a:pt x="23697" y="40"/>
                </a:lnTo>
                <a:lnTo>
                  <a:pt x="24877" y="177"/>
                </a:lnTo>
                <a:lnTo>
                  <a:pt x="25846" y="113"/>
                </a:lnTo>
                <a:lnTo>
                  <a:pt x="26799" y="252"/>
                </a:lnTo>
                <a:lnTo>
                  <a:pt x="27607" y="384"/>
                </a:lnTo>
                <a:lnTo>
                  <a:pt x="28142" y="370"/>
                </a:lnTo>
                <a:lnTo>
                  <a:pt x="28612" y="525"/>
                </a:lnTo>
                <a:lnTo>
                  <a:pt x="29381" y="724"/>
                </a:lnTo>
                <a:lnTo>
                  <a:pt x="29754" y="849"/>
                </a:lnTo>
                <a:lnTo>
                  <a:pt x="30240" y="1077"/>
                </a:lnTo>
                <a:lnTo>
                  <a:pt x="30585" y="1303"/>
                </a:lnTo>
                <a:lnTo>
                  <a:pt x="31025" y="1576"/>
                </a:lnTo>
                <a:lnTo>
                  <a:pt x="31257" y="1802"/>
                </a:lnTo>
                <a:lnTo>
                  <a:pt x="31675" y="1884"/>
                </a:lnTo>
                <a:lnTo>
                  <a:pt x="31899" y="2212"/>
                </a:lnTo>
                <a:lnTo>
                  <a:pt x="32285" y="2587"/>
                </a:lnTo>
                <a:lnTo>
                  <a:pt x="32469" y="2951"/>
                </a:lnTo>
                <a:lnTo>
                  <a:pt x="32625" y="3116"/>
                </a:lnTo>
                <a:lnTo>
                  <a:pt x="32940" y="3659"/>
                </a:lnTo>
                <a:lnTo>
                  <a:pt x="33122" y="4090"/>
                </a:lnTo>
                <a:lnTo>
                  <a:pt x="33195" y="4390"/>
                </a:lnTo>
                <a:lnTo>
                  <a:pt x="33385" y="5029"/>
                </a:lnTo>
                <a:lnTo>
                  <a:pt x="33475" y="5565"/>
                </a:lnTo>
                <a:lnTo>
                  <a:pt x="33556" y="6320"/>
                </a:lnTo>
                <a:lnTo>
                  <a:pt x="33733" y="6881"/>
                </a:lnTo>
                <a:lnTo>
                  <a:pt x="33829" y="7734"/>
                </a:lnTo>
                <a:lnTo>
                  <a:pt x="33847" y="8753"/>
                </a:lnTo>
                <a:lnTo>
                  <a:pt x="33798" y="10369"/>
                </a:lnTo>
                <a:lnTo>
                  <a:pt x="33698" y="14762"/>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10509291" y="6803959"/>
            <a:ext cx="41239" cy="221193"/>
          </a:xfrm>
          <a:custGeom>
            <a:avLst/>
            <a:gdLst/>
            <a:ahLst/>
            <a:cxnLst/>
            <a:rect l="l" t="t" r="r" b="b"/>
            <a:pathLst>
              <a:path w="451" h="2419">
                <a:moveTo>
                  <a:pt x="451" y="0"/>
                </a:moveTo>
                <a:lnTo>
                  <a:pt x="367" y="719"/>
                </a:lnTo>
                <a:lnTo>
                  <a:pt x="264" y="1350"/>
                </a:lnTo>
                <a:lnTo>
                  <a:pt x="142" y="1912"/>
                </a:lnTo>
                <a:lnTo>
                  <a:pt x="0" y="2419"/>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10045141" y="7340712"/>
            <a:ext cx="186355" cy="55047"/>
          </a:xfrm>
          <a:custGeom>
            <a:avLst/>
            <a:gdLst/>
            <a:ahLst/>
            <a:cxnLst/>
            <a:rect l="l" t="t" r="r" b="b"/>
            <a:pathLst>
              <a:path w="2038" h="602">
                <a:moveTo>
                  <a:pt x="2038" y="0"/>
                </a:moveTo>
                <a:lnTo>
                  <a:pt x="1594" y="177"/>
                </a:lnTo>
                <a:lnTo>
                  <a:pt x="1110" y="336"/>
                </a:lnTo>
                <a:lnTo>
                  <a:pt x="581" y="478"/>
                </a:lnTo>
                <a:lnTo>
                  <a:pt x="0" y="602"/>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7947416" y="7384420"/>
            <a:ext cx="253197" cy="35936"/>
          </a:xfrm>
          <a:custGeom>
            <a:avLst/>
            <a:gdLst/>
            <a:ahLst/>
            <a:cxnLst/>
            <a:rect l="l" t="t" r="r" b="b"/>
            <a:pathLst>
              <a:path w="2769" h="393">
                <a:moveTo>
                  <a:pt x="2769" y="393"/>
                </a:moveTo>
                <a:lnTo>
                  <a:pt x="1945" y="320"/>
                </a:lnTo>
                <a:lnTo>
                  <a:pt x="1224" y="230"/>
                </a:lnTo>
                <a:lnTo>
                  <a:pt x="581" y="124"/>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7523409" y="6978792"/>
            <a:ext cx="62911" cy="162855"/>
          </a:xfrm>
          <a:custGeom>
            <a:avLst/>
            <a:gdLst/>
            <a:ahLst/>
            <a:cxnLst/>
            <a:rect l="l" t="t" r="r" b="b"/>
            <a:pathLst>
              <a:path w="688" h="1781">
                <a:moveTo>
                  <a:pt x="688" y="1781"/>
                </a:moveTo>
                <a:lnTo>
                  <a:pt x="485" y="1392"/>
                </a:lnTo>
                <a:lnTo>
                  <a:pt x="303" y="969"/>
                </a:lnTo>
                <a:lnTo>
                  <a:pt x="142" y="507"/>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7495154" y="5145512"/>
            <a:ext cx="41239" cy="221193"/>
          </a:xfrm>
          <a:custGeom>
            <a:avLst/>
            <a:gdLst/>
            <a:ahLst/>
            <a:cxnLst/>
            <a:rect l="l" t="t" r="r" b="b"/>
            <a:pathLst>
              <a:path w="451" h="2419">
                <a:moveTo>
                  <a:pt x="0" y="2419"/>
                </a:moveTo>
                <a:lnTo>
                  <a:pt x="84" y="1700"/>
                </a:lnTo>
                <a:lnTo>
                  <a:pt x="187" y="1069"/>
                </a:lnTo>
                <a:lnTo>
                  <a:pt x="309" y="507"/>
                </a:lnTo>
                <a:lnTo>
                  <a:pt x="451"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7814188" y="4774905"/>
            <a:ext cx="186355" cy="55047"/>
          </a:xfrm>
          <a:custGeom>
            <a:avLst/>
            <a:gdLst/>
            <a:ahLst/>
            <a:cxnLst/>
            <a:rect l="l" t="t" r="r" b="b"/>
            <a:pathLst>
              <a:path w="2038" h="602">
                <a:moveTo>
                  <a:pt x="0" y="602"/>
                </a:moveTo>
                <a:lnTo>
                  <a:pt x="444" y="425"/>
                </a:lnTo>
                <a:lnTo>
                  <a:pt x="928" y="266"/>
                </a:lnTo>
                <a:lnTo>
                  <a:pt x="1457" y="124"/>
                </a:lnTo>
                <a:lnTo>
                  <a:pt x="2038"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9845070" y="4750308"/>
            <a:ext cx="253197" cy="35936"/>
          </a:xfrm>
          <a:custGeom>
            <a:avLst/>
            <a:gdLst/>
            <a:ahLst/>
            <a:cxnLst/>
            <a:rect l="l" t="t" r="r" b="b"/>
            <a:pathLst>
              <a:path w="2769" h="393">
                <a:moveTo>
                  <a:pt x="0" y="0"/>
                </a:moveTo>
                <a:lnTo>
                  <a:pt x="824" y="73"/>
                </a:lnTo>
                <a:lnTo>
                  <a:pt x="1545" y="163"/>
                </a:lnTo>
                <a:lnTo>
                  <a:pt x="2188" y="269"/>
                </a:lnTo>
                <a:lnTo>
                  <a:pt x="2769" y="393"/>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0459364" y="5029017"/>
            <a:ext cx="62911" cy="162855"/>
          </a:xfrm>
          <a:custGeom>
            <a:avLst/>
            <a:gdLst/>
            <a:ahLst/>
            <a:cxnLst/>
            <a:rect l="l" t="t" r="r" b="b"/>
            <a:pathLst>
              <a:path w="688" h="1781">
                <a:moveTo>
                  <a:pt x="0" y="0"/>
                </a:moveTo>
                <a:lnTo>
                  <a:pt x="203" y="389"/>
                </a:lnTo>
                <a:lnTo>
                  <a:pt x="385" y="812"/>
                </a:lnTo>
                <a:lnTo>
                  <a:pt x="546" y="1274"/>
                </a:lnTo>
                <a:lnTo>
                  <a:pt x="688" y="1781"/>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body: 7"/>
          <p:cNvSpPr txBox="1"/>
          <p:nvPr/>
        </p:nvSpPr>
        <p:spPr>
          <a:xfrm>
            <a:off x="7635240" y="4912931"/>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557B65"/>
                </a:solidFill>
                <a:latin typeface="Trebuchet MS"/>
              </a:rPr>
              <a:t>7</a:t>
            </a:r>
          </a:p>
        </p:txBody>
      </p:sp>
      <p:sp>
        <p:nvSpPr>
          <p:cNvPr id="109" name="body: Observer-effect reporting"/>
          <p:cNvSpPr txBox="1"/>
          <p:nvPr/>
        </p:nvSpPr>
        <p:spPr>
          <a:xfrm>
            <a:off x="8156448" y="4901183"/>
            <a:ext cx="1997964" cy="707644"/>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557B65"/>
                </a:solidFill>
                <a:latin typeface="Chalkboard SE"/>
              </a:rPr>
              <a:t>Observer-effect</a:t>
            </a:r>
            <a:br/>
            <a:r>
              <a:rPr sz="1850" b="1">
                <a:solidFill>
                  <a:srgbClr val="557B65"/>
                </a:solidFill>
                <a:latin typeface="Chalkboard SE"/>
              </a:rPr>
              <a:t>reporting</a:t>
            </a:r>
          </a:p>
        </p:txBody>
      </p:sp>
      <p:sp>
        <p:nvSpPr>
          <p:cNvPr id="110" name="body: B1 vs B0 shows whether watching changes behaviour."/>
          <p:cNvSpPr txBox="1"/>
          <p:nvPr/>
        </p:nvSpPr>
        <p:spPr>
          <a:xfrm>
            <a:off x="7726679" y="6018339"/>
            <a:ext cx="2592324" cy="987932"/>
          </a:xfrm>
          <a:prstGeom prst="rect">
            <a:avLst/>
          </a:prstGeom>
          <a:noFill/>
        </p:spPr>
        <p:txBody>
          <a:bodyPr wrap="none" lIns="0" rIns="0" tIns="0" bIns="0" anchor="t">
            <a:noAutofit/>
          </a:bodyPr>
          <a:lstStyle/>
          <a:p>
            <a:pPr algn="ctr">
              <a:lnSpc>
                <a:spcPts val="2413"/>
              </a:lnSpc>
              <a:spcBef>
                <a:spcPts val="0"/>
              </a:spcBef>
              <a:spcAft>
                <a:spcPts val="0"/>
              </a:spcAft>
            </a:pPr>
            <a:r>
              <a:rPr sz="1900" b="0">
                <a:solidFill>
                  <a:srgbClr val="293E46"/>
                </a:solidFill>
                <a:latin typeface="Trebuchet MS"/>
              </a:rPr>
              <a:t>B1 vs B0 shows</a:t>
            </a:r>
            <a:br/>
            <a:r>
              <a:rPr sz="1900" b="0">
                <a:solidFill>
                  <a:srgbClr val="293E46"/>
                </a:solidFill>
                <a:latin typeface="Trebuchet MS"/>
              </a:rPr>
              <a:t>whether watching</a:t>
            </a:r>
            <a:br/>
            <a:r>
              <a:rPr sz="1900" b="0">
                <a:solidFill>
                  <a:srgbClr val="293E46"/>
                </a:solidFill>
                <a:latin typeface="Trebuchet MS"/>
              </a:rPr>
              <a:t>changes behaviour.</a:t>
            </a:r>
          </a:p>
        </p:txBody>
      </p:sp>
      <p:sp>
        <p:nvSpPr>
          <p:cNvPr id="111" name="Rounded Rectangle 110"/>
          <p:cNvSpPr/>
          <p:nvPr/>
        </p:nvSpPr>
        <p:spPr>
          <a:xfrm>
            <a:off x="10885932" y="4727448"/>
            <a:ext cx="3104388" cy="2715768"/>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10888767" y="4731197"/>
            <a:ext cx="3095884" cy="2710922"/>
          </a:xfrm>
          <a:custGeom>
            <a:avLst/>
            <a:gdLst/>
            <a:ahLst/>
            <a:cxnLst/>
            <a:rect l="l" t="t" r="r" b="b"/>
            <a:pathLst>
              <a:path w="33857" h="29647">
                <a:moveTo>
                  <a:pt x="33779" y="14909"/>
                </a:moveTo>
                <a:lnTo>
                  <a:pt x="33758" y="19331"/>
                </a:lnTo>
                <a:lnTo>
                  <a:pt x="33857" y="20825"/>
                </a:lnTo>
                <a:lnTo>
                  <a:pt x="33723" y="21729"/>
                </a:lnTo>
                <a:lnTo>
                  <a:pt x="33537" y="22742"/>
                </a:lnTo>
                <a:lnTo>
                  <a:pt x="33532" y="23427"/>
                </a:lnTo>
                <a:lnTo>
                  <a:pt x="33349" y="24002"/>
                </a:lnTo>
                <a:lnTo>
                  <a:pt x="33444" y="24504"/>
                </a:lnTo>
                <a:lnTo>
                  <a:pt x="33240" y="25190"/>
                </a:lnTo>
                <a:lnTo>
                  <a:pt x="33087" y="25437"/>
                </a:lnTo>
                <a:lnTo>
                  <a:pt x="32807" y="26002"/>
                </a:lnTo>
                <a:lnTo>
                  <a:pt x="32711" y="26481"/>
                </a:lnTo>
                <a:lnTo>
                  <a:pt x="32386" y="26661"/>
                </a:lnTo>
                <a:lnTo>
                  <a:pt x="32053" y="27102"/>
                </a:lnTo>
                <a:lnTo>
                  <a:pt x="31954" y="27244"/>
                </a:lnTo>
                <a:lnTo>
                  <a:pt x="31731" y="27676"/>
                </a:lnTo>
                <a:lnTo>
                  <a:pt x="31290" y="27803"/>
                </a:lnTo>
                <a:lnTo>
                  <a:pt x="30948" y="28067"/>
                </a:lnTo>
                <a:lnTo>
                  <a:pt x="30611" y="28356"/>
                </a:lnTo>
                <a:lnTo>
                  <a:pt x="30049" y="28474"/>
                </a:lnTo>
                <a:lnTo>
                  <a:pt x="29823" y="28832"/>
                </a:lnTo>
                <a:lnTo>
                  <a:pt x="29296" y="28793"/>
                </a:lnTo>
                <a:lnTo>
                  <a:pt x="28791" y="28931"/>
                </a:lnTo>
                <a:lnTo>
                  <a:pt x="28124" y="29204"/>
                </a:lnTo>
                <a:lnTo>
                  <a:pt x="27489" y="29139"/>
                </a:lnTo>
                <a:lnTo>
                  <a:pt x="26715" y="29306"/>
                </a:lnTo>
                <a:lnTo>
                  <a:pt x="25886" y="29344"/>
                </a:lnTo>
                <a:lnTo>
                  <a:pt x="24847" y="29519"/>
                </a:lnTo>
                <a:lnTo>
                  <a:pt x="23692" y="29597"/>
                </a:lnTo>
                <a:lnTo>
                  <a:pt x="22243" y="29647"/>
                </a:lnTo>
                <a:lnTo>
                  <a:pt x="16877" y="29532"/>
                </a:lnTo>
                <a:lnTo>
                  <a:pt x="11859" y="29499"/>
                </a:lnTo>
                <a:lnTo>
                  <a:pt x="10137" y="29430"/>
                </a:lnTo>
                <a:lnTo>
                  <a:pt x="8801" y="29558"/>
                </a:lnTo>
                <a:lnTo>
                  <a:pt x="7880" y="29290"/>
                </a:lnTo>
                <a:lnTo>
                  <a:pt x="7045" y="29398"/>
                </a:lnTo>
                <a:lnTo>
                  <a:pt x="6521" y="29212"/>
                </a:lnTo>
                <a:lnTo>
                  <a:pt x="5847" y="29100"/>
                </a:lnTo>
                <a:lnTo>
                  <a:pt x="5197" y="28926"/>
                </a:lnTo>
                <a:lnTo>
                  <a:pt x="4668" y="28993"/>
                </a:lnTo>
                <a:lnTo>
                  <a:pt x="4275" y="28667"/>
                </a:lnTo>
                <a:lnTo>
                  <a:pt x="3730" y="28564"/>
                </a:lnTo>
                <a:lnTo>
                  <a:pt x="3332" y="28264"/>
                </a:lnTo>
                <a:lnTo>
                  <a:pt x="2985" y="28232"/>
                </a:lnTo>
                <a:lnTo>
                  <a:pt x="2535" y="27774"/>
                </a:lnTo>
                <a:lnTo>
                  <a:pt x="2222" y="27556"/>
                </a:lnTo>
                <a:lnTo>
                  <a:pt x="1846" y="27314"/>
                </a:lnTo>
                <a:lnTo>
                  <a:pt x="1678" y="26973"/>
                </a:lnTo>
                <a:lnTo>
                  <a:pt x="1498" y="26782"/>
                </a:lnTo>
                <a:lnTo>
                  <a:pt x="1296" y="26254"/>
                </a:lnTo>
                <a:lnTo>
                  <a:pt x="1155" y="25932"/>
                </a:lnTo>
                <a:lnTo>
                  <a:pt x="972" y="25504"/>
                </a:lnTo>
                <a:lnTo>
                  <a:pt x="586" y="25126"/>
                </a:lnTo>
                <a:lnTo>
                  <a:pt x="522" y="24617"/>
                </a:lnTo>
                <a:lnTo>
                  <a:pt x="530" y="24049"/>
                </a:lnTo>
                <a:lnTo>
                  <a:pt x="361" y="23502"/>
                </a:lnTo>
                <a:lnTo>
                  <a:pt x="257" y="22754"/>
                </a:lnTo>
                <a:lnTo>
                  <a:pt x="164" y="21732"/>
                </a:lnTo>
                <a:lnTo>
                  <a:pt x="230" y="20724"/>
                </a:lnTo>
                <a:lnTo>
                  <a:pt x="76" y="19364"/>
                </a:lnTo>
                <a:lnTo>
                  <a:pt x="86" y="14778"/>
                </a:lnTo>
                <a:lnTo>
                  <a:pt x="0" y="10195"/>
                </a:lnTo>
                <a:lnTo>
                  <a:pt x="105" y="8920"/>
                </a:lnTo>
                <a:lnTo>
                  <a:pt x="284" y="7787"/>
                </a:lnTo>
                <a:lnTo>
                  <a:pt x="349" y="6850"/>
                </a:lnTo>
                <a:lnTo>
                  <a:pt x="386" y="6299"/>
                </a:lnTo>
                <a:lnTo>
                  <a:pt x="472" y="5521"/>
                </a:lnTo>
                <a:lnTo>
                  <a:pt x="561" y="5016"/>
                </a:lnTo>
                <a:lnTo>
                  <a:pt x="591" y="4412"/>
                </a:lnTo>
                <a:lnTo>
                  <a:pt x="950" y="4085"/>
                </a:lnTo>
                <a:lnTo>
                  <a:pt x="1119" y="3620"/>
                </a:lnTo>
                <a:lnTo>
                  <a:pt x="1254" y="3262"/>
                </a:lnTo>
                <a:lnTo>
                  <a:pt x="1335" y="2876"/>
                </a:lnTo>
                <a:lnTo>
                  <a:pt x="1577" y="2560"/>
                </a:lnTo>
                <a:lnTo>
                  <a:pt x="1880" y="2379"/>
                </a:lnTo>
                <a:lnTo>
                  <a:pt x="2197" y="2084"/>
                </a:lnTo>
                <a:lnTo>
                  <a:pt x="2702" y="1755"/>
                </a:lnTo>
                <a:lnTo>
                  <a:pt x="2899" y="1446"/>
                </a:lnTo>
                <a:lnTo>
                  <a:pt x="3329" y="1202"/>
                </a:lnTo>
                <a:lnTo>
                  <a:pt x="3855" y="1171"/>
                </a:lnTo>
                <a:lnTo>
                  <a:pt x="4165" y="925"/>
                </a:lnTo>
                <a:lnTo>
                  <a:pt x="4779" y="695"/>
                </a:lnTo>
                <a:lnTo>
                  <a:pt x="5058" y="618"/>
                </a:lnTo>
                <a:lnTo>
                  <a:pt x="5764" y="522"/>
                </a:lnTo>
                <a:lnTo>
                  <a:pt x="6381" y="434"/>
                </a:lnTo>
                <a:lnTo>
                  <a:pt x="7136" y="223"/>
                </a:lnTo>
                <a:lnTo>
                  <a:pt x="8014" y="203"/>
                </a:lnTo>
                <a:lnTo>
                  <a:pt x="9044" y="212"/>
                </a:lnTo>
                <a:lnTo>
                  <a:pt x="10219" y="30"/>
                </a:lnTo>
                <a:lnTo>
                  <a:pt x="11638" y="0"/>
                </a:lnTo>
                <a:lnTo>
                  <a:pt x="16858" y="83"/>
                </a:lnTo>
                <a:lnTo>
                  <a:pt x="22074" y="22"/>
                </a:lnTo>
                <a:lnTo>
                  <a:pt x="23875" y="70"/>
                </a:lnTo>
                <a:lnTo>
                  <a:pt x="25036" y="228"/>
                </a:lnTo>
                <a:lnTo>
                  <a:pt x="25817" y="189"/>
                </a:lnTo>
                <a:lnTo>
                  <a:pt x="26650" y="297"/>
                </a:lnTo>
                <a:lnTo>
                  <a:pt x="27456" y="367"/>
                </a:lnTo>
                <a:lnTo>
                  <a:pt x="28207" y="394"/>
                </a:lnTo>
                <a:lnTo>
                  <a:pt x="28715" y="526"/>
                </a:lnTo>
                <a:lnTo>
                  <a:pt x="29117" y="652"/>
                </a:lnTo>
                <a:lnTo>
                  <a:pt x="29765" y="918"/>
                </a:lnTo>
                <a:lnTo>
                  <a:pt x="30200" y="1026"/>
                </a:lnTo>
                <a:lnTo>
                  <a:pt x="30483" y="1175"/>
                </a:lnTo>
                <a:lnTo>
                  <a:pt x="30987" y="1400"/>
                </a:lnTo>
                <a:lnTo>
                  <a:pt x="31404" y="1825"/>
                </a:lnTo>
                <a:lnTo>
                  <a:pt x="31637" y="2048"/>
                </a:lnTo>
                <a:lnTo>
                  <a:pt x="31831" y="2372"/>
                </a:lnTo>
                <a:lnTo>
                  <a:pt x="32229" y="2632"/>
                </a:lnTo>
                <a:lnTo>
                  <a:pt x="32466" y="2850"/>
                </a:lnTo>
                <a:lnTo>
                  <a:pt x="32739" y="3359"/>
                </a:lnTo>
                <a:lnTo>
                  <a:pt x="32901" y="3651"/>
                </a:lnTo>
                <a:lnTo>
                  <a:pt x="33140" y="3998"/>
                </a:lnTo>
                <a:lnTo>
                  <a:pt x="33313" y="4543"/>
                </a:lnTo>
                <a:lnTo>
                  <a:pt x="33456" y="4946"/>
                </a:lnTo>
                <a:lnTo>
                  <a:pt x="33403" y="5534"/>
                </a:lnTo>
                <a:lnTo>
                  <a:pt x="33543" y="6218"/>
                </a:lnTo>
                <a:lnTo>
                  <a:pt x="33656" y="7024"/>
                </a:lnTo>
                <a:lnTo>
                  <a:pt x="33803" y="7824"/>
                </a:lnTo>
                <a:lnTo>
                  <a:pt x="33791" y="8940"/>
                </a:lnTo>
                <a:lnTo>
                  <a:pt x="33819" y="10252"/>
                </a:lnTo>
                <a:lnTo>
                  <a:pt x="33818" y="14856"/>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reeform 112"/>
          <p:cNvSpPr/>
          <p:nvPr/>
        </p:nvSpPr>
        <p:spPr>
          <a:xfrm>
            <a:off x="10889864" y="4730740"/>
            <a:ext cx="3086923" cy="2710007"/>
          </a:xfrm>
          <a:custGeom>
            <a:avLst/>
            <a:gdLst/>
            <a:ahLst/>
            <a:cxnLst/>
            <a:rect l="l" t="t" r="r" b="b"/>
            <a:pathLst>
              <a:path w="33759" h="29637">
                <a:moveTo>
                  <a:pt x="33737" y="14754"/>
                </a:moveTo>
                <a:lnTo>
                  <a:pt x="33673" y="19235"/>
                </a:lnTo>
                <a:lnTo>
                  <a:pt x="33725" y="20730"/>
                </a:lnTo>
                <a:lnTo>
                  <a:pt x="33674" y="21875"/>
                </a:lnTo>
                <a:lnTo>
                  <a:pt x="33526" y="22758"/>
                </a:lnTo>
                <a:lnTo>
                  <a:pt x="33453" y="23503"/>
                </a:lnTo>
                <a:lnTo>
                  <a:pt x="33529" y="23984"/>
                </a:lnTo>
                <a:lnTo>
                  <a:pt x="33343" y="24468"/>
                </a:lnTo>
                <a:lnTo>
                  <a:pt x="33179" y="25126"/>
                </a:lnTo>
                <a:lnTo>
                  <a:pt x="33054" y="25436"/>
                </a:lnTo>
                <a:lnTo>
                  <a:pt x="32908" y="25974"/>
                </a:lnTo>
                <a:lnTo>
                  <a:pt x="32702" y="26379"/>
                </a:lnTo>
                <a:lnTo>
                  <a:pt x="32469" y="26716"/>
                </a:lnTo>
                <a:lnTo>
                  <a:pt x="32151" y="26958"/>
                </a:lnTo>
                <a:lnTo>
                  <a:pt x="31994" y="27403"/>
                </a:lnTo>
                <a:lnTo>
                  <a:pt x="31680" y="27707"/>
                </a:lnTo>
                <a:lnTo>
                  <a:pt x="31253" y="27896"/>
                </a:lnTo>
                <a:lnTo>
                  <a:pt x="30916" y="28178"/>
                </a:lnTo>
                <a:lnTo>
                  <a:pt x="30565" y="28357"/>
                </a:lnTo>
                <a:lnTo>
                  <a:pt x="30253" y="28565"/>
                </a:lnTo>
                <a:lnTo>
                  <a:pt x="29754" y="28680"/>
                </a:lnTo>
                <a:lnTo>
                  <a:pt x="29217" y="28897"/>
                </a:lnTo>
                <a:lnTo>
                  <a:pt x="28790" y="28996"/>
                </a:lnTo>
                <a:lnTo>
                  <a:pt x="28107" y="29157"/>
                </a:lnTo>
                <a:lnTo>
                  <a:pt x="27479" y="29250"/>
                </a:lnTo>
                <a:lnTo>
                  <a:pt x="26733" y="29358"/>
                </a:lnTo>
                <a:lnTo>
                  <a:pt x="26048" y="29364"/>
                </a:lnTo>
                <a:lnTo>
                  <a:pt x="24934" y="29372"/>
                </a:lnTo>
                <a:lnTo>
                  <a:pt x="23791" y="29573"/>
                </a:lnTo>
                <a:lnTo>
                  <a:pt x="22031" y="29637"/>
                </a:lnTo>
                <a:lnTo>
                  <a:pt x="16991" y="29573"/>
                </a:lnTo>
                <a:lnTo>
                  <a:pt x="11874" y="29635"/>
                </a:lnTo>
                <a:lnTo>
                  <a:pt x="10204" y="29459"/>
                </a:lnTo>
                <a:lnTo>
                  <a:pt x="8802" y="29507"/>
                </a:lnTo>
                <a:lnTo>
                  <a:pt x="7826" y="29533"/>
                </a:lnTo>
                <a:lnTo>
                  <a:pt x="7137" y="29371"/>
                </a:lnTo>
                <a:lnTo>
                  <a:pt x="6517" y="29193"/>
                </a:lnTo>
                <a:lnTo>
                  <a:pt x="5773" y="29125"/>
                </a:lnTo>
                <a:lnTo>
                  <a:pt x="5098" y="29049"/>
                </a:lnTo>
                <a:lnTo>
                  <a:pt x="4616" y="28815"/>
                </a:lnTo>
                <a:lnTo>
                  <a:pt x="4213" y="28657"/>
                </a:lnTo>
                <a:lnTo>
                  <a:pt x="3814" y="28446"/>
                </a:lnTo>
                <a:lnTo>
                  <a:pt x="3232" y="28353"/>
                </a:lnTo>
                <a:lnTo>
                  <a:pt x="2949" y="28250"/>
                </a:lnTo>
                <a:lnTo>
                  <a:pt x="2625" y="27902"/>
                </a:lnTo>
                <a:lnTo>
                  <a:pt x="2203" y="27586"/>
                </a:lnTo>
                <a:lnTo>
                  <a:pt x="1987" y="27397"/>
                </a:lnTo>
                <a:lnTo>
                  <a:pt x="1810" y="26983"/>
                </a:lnTo>
                <a:lnTo>
                  <a:pt x="1341" y="26781"/>
                </a:lnTo>
                <a:lnTo>
                  <a:pt x="1149" y="26354"/>
                </a:lnTo>
                <a:lnTo>
                  <a:pt x="1015" y="26016"/>
                </a:lnTo>
                <a:lnTo>
                  <a:pt x="906" y="25574"/>
                </a:lnTo>
                <a:lnTo>
                  <a:pt x="628" y="25119"/>
                </a:lnTo>
                <a:lnTo>
                  <a:pt x="534" y="24568"/>
                </a:lnTo>
                <a:lnTo>
                  <a:pt x="387" y="23994"/>
                </a:lnTo>
                <a:lnTo>
                  <a:pt x="384" y="23509"/>
                </a:lnTo>
                <a:lnTo>
                  <a:pt x="218" y="22680"/>
                </a:lnTo>
                <a:lnTo>
                  <a:pt x="38" y="21944"/>
                </a:lnTo>
                <a:lnTo>
                  <a:pt x="14" y="20853"/>
                </a:lnTo>
                <a:lnTo>
                  <a:pt x="17" y="19407"/>
                </a:lnTo>
                <a:lnTo>
                  <a:pt x="146" y="14783"/>
                </a:lnTo>
                <a:lnTo>
                  <a:pt x="0" y="10256"/>
                </a:lnTo>
                <a:lnTo>
                  <a:pt x="117" y="8910"/>
                </a:lnTo>
                <a:lnTo>
                  <a:pt x="185" y="7805"/>
                </a:lnTo>
                <a:lnTo>
                  <a:pt x="265" y="6911"/>
                </a:lnTo>
                <a:lnTo>
                  <a:pt x="407" y="6150"/>
                </a:lnTo>
                <a:lnTo>
                  <a:pt x="525" y="5557"/>
                </a:lnTo>
                <a:lnTo>
                  <a:pt x="650" y="5044"/>
                </a:lnTo>
                <a:lnTo>
                  <a:pt x="630" y="4466"/>
                </a:lnTo>
                <a:lnTo>
                  <a:pt x="827" y="4191"/>
                </a:lnTo>
                <a:lnTo>
                  <a:pt x="1082" y="3640"/>
                </a:lnTo>
                <a:lnTo>
                  <a:pt x="1316" y="3210"/>
                </a:lnTo>
                <a:lnTo>
                  <a:pt x="1541" y="2973"/>
                </a:lnTo>
                <a:lnTo>
                  <a:pt x="1694" y="2503"/>
                </a:lnTo>
                <a:lnTo>
                  <a:pt x="1920" y="2362"/>
                </a:lnTo>
                <a:lnTo>
                  <a:pt x="2193" y="1949"/>
                </a:lnTo>
                <a:lnTo>
                  <a:pt x="2565" y="1726"/>
                </a:lnTo>
                <a:lnTo>
                  <a:pt x="2802" y="1427"/>
                </a:lnTo>
                <a:lnTo>
                  <a:pt x="3433" y="1355"/>
                </a:lnTo>
                <a:lnTo>
                  <a:pt x="3702" y="1191"/>
                </a:lnTo>
                <a:lnTo>
                  <a:pt x="4280" y="954"/>
                </a:lnTo>
                <a:lnTo>
                  <a:pt x="4645" y="630"/>
                </a:lnTo>
                <a:lnTo>
                  <a:pt x="5099" y="621"/>
                </a:lnTo>
                <a:lnTo>
                  <a:pt x="5757" y="580"/>
                </a:lnTo>
                <a:lnTo>
                  <a:pt x="6347" y="377"/>
                </a:lnTo>
                <a:lnTo>
                  <a:pt x="7161" y="221"/>
                </a:lnTo>
                <a:lnTo>
                  <a:pt x="7969" y="273"/>
                </a:lnTo>
                <a:lnTo>
                  <a:pt x="8853" y="100"/>
                </a:lnTo>
                <a:lnTo>
                  <a:pt x="10152" y="213"/>
                </a:lnTo>
                <a:lnTo>
                  <a:pt x="11726" y="0"/>
                </a:lnTo>
                <a:lnTo>
                  <a:pt x="17041" y="128"/>
                </a:lnTo>
                <a:lnTo>
                  <a:pt x="22056" y="142"/>
                </a:lnTo>
                <a:lnTo>
                  <a:pt x="23822" y="133"/>
                </a:lnTo>
                <a:lnTo>
                  <a:pt x="25028" y="78"/>
                </a:lnTo>
                <a:lnTo>
                  <a:pt x="25949" y="110"/>
                </a:lnTo>
                <a:lnTo>
                  <a:pt x="26699" y="376"/>
                </a:lnTo>
                <a:lnTo>
                  <a:pt x="27441" y="413"/>
                </a:lnTo>
                <a:lnTo>
                  <a:pt x="28193" y="404"/>
                </a:lnTo>
                <a:lnTo>
                  <a:pt x="28815" y="672"/>
                </a:lnTo>
                <a:lnTo>
                  <a:pt x="29259" y="678"/>
                </a:lnTo>
                <a:lnTo>
                  <a:pt x="29661" y="988"/>
                </a:lnTo>
                <a:lnTo>
                  <a:pt x="30078" y="1056"/>
                </a:lnTo>
                <a:lnTo>
                  <a:pt x="30548" y="1390"/>
                </a:lnTo>
                <a:lnTo>
                  <a:pt x="30961" y="1582"/>
                </a:lnTo>
                <a:lnTo>
                  <a:pt x="31262" y="1808"/>
                </a:lnTo>
                <a:lnTo>
                  <a:pt x="31735" y="1962"/>
                </a:lnTo>
                <a:lnTo>
                  <a:pt x="31919" y="2281"/>
                </a:lnTo>
                <a:lnTo>
                  <a:pt x="32100" y="2627"/>
                </a:lnTo>
                <a:lnTo>
                  <a:pt x="32444" y="2899"/>
                </a:lnTo>
                <a:lnTo>
                  <a:pt x="32706" y="3335"/>
                </a:lnTo>
                <a:lnTo>
                  <a:pt x="32790" y="3767"/>
                </a:lnTo>
                <a:lnTo>
                  <a:pt x="33117" y="4122"/>
                </a:lnTo>
                <a:lnTo>
                  <a:pt x="33205" y="4552"/>
                </a:lnTo>
                <a:lnTo>
                  <a:pt x="33219" y="4965"/>
                </a:lnTo>
                <a:lnTo>
                  <a:pt x="33335" y="5707"/>
                </a:lnTo>
                <a:lnTo>
                  <a:pt x="33425" y="6203"/>
                </a:lnTo>
                <a:lnTo>
                  <a:pt x="33554" y="6909"/>
                </a:lnTo>
                <a:lnTo>
                  <a:pt x="33753" y="7871"/>
                </a:lnTo>
                <a:lnTo>
                  <a:pt x="33722" y="8731"/>
                </a:lnTo>
                <a:lnTo>
                  <a:pt x="33731" y="10369"/>
                </a:lnTo>
                <a:lnTo>
                  <a:pt x="33759" y="14734"/>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13924575" y="6803959"/>
            <a:ext cx="41239" cy="221193"/>
          </a:xfrm>
          <a:custGeom>
            <a:avLst/>
            <a:gdLst/>
            <a:ahLst/>
            <a:cxnLst/>
            <a:rect l="l" t="t" r="r" b="b"/>
            <a:pathLst>
              <a:path w="451" h="2419">
                <a:moveTo>
                  <a:pt x="451" y="0"/>
                </a:moveTo>
                <a:lnTo>
                  <a:pt x="367" y="719"/>
                </a:lnTo>
                <a:lnTo>
                  <a:pt x="264" y="1350"/>
                </a:lnTo>
                <a:lnTo>
                  <a:pt x="142" y="1912"/>
                </a:lnTo>
                <a:lnTo>
                  <a:pt x="0" y="241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13460425" y="7340712"/>
            <a:ext cx="186355" cy="55047"/>
          </a:xfrm>
          <a:custGeom>
            <a:avLst/>
            <a:gdLst/>
            <a:ahLst/>
            <a:cxnLst/>
            <a:rect l="l" t="t" r="r" b="b"/>
            <a:pathLst>
              <a:path w="2038" h="602">
                <a:moveTo>
                  <a:pt x="2038" y="0"/>
                </a:moveTo>
                <a:lnTo>
                  <a:pt x="1594" y="177"/>
                </a:lnTo>
                <a:lnTo>
                  <a:pt x="1110" y="336"/>
                </a:lnTo>
                <a:lnTo>
                  <a:pt x="581" y="478"/>
                </a:lnTo>
                <a:lnTo>
                  <a:pt x="0" y="602"/>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11362700" y="7384420"/>
            <a:ext cx="253197" cy="35936"/>
          </a:xfrm>
          <a:custGeom>
            <a:avLst/>
            <a:gdLst/>
            <a:ahLst/>
            <a:cxnLst/>
            <a:rect l="l" t="t" r="r" b="b"/>
            <a:pathLst>
              <a:path w="2769" h="393">
                <a:moveTo>
                  <a:pt x="2769" y="393"/>
                </a:moveTo>
                <a:lnTo>
                  <a:pt x="1945" y="320"/>
                </a:lnTo>
                <a:lnTo>
                  <a:pt x="1224" y="230"/>
                </a:lnTo>
                <a:lnTo>
                  <a:pt x="581" y="124"/>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10938693" y="6978792"/>
            <a:ext cx="62911" cy="162855"/>
          </a:xfrm>
          <a:custGeom>
            <a:avLst/>
            <a:gdLst/>
            <a:ahLst/>
            <a:cxnLst/>
            <a:rect l="l" t="t" r="r" b="b"/>
            <a:pathLst>
              <a:path w="688" h="1781">
                <a:moveTo>
                  <a:pt x="688" y="1781"/>
                </a:moveTo>
                <a:lnTo>
                  <a:pt x="485" y="1392"/>
                </a:lnTo>
                <a:lnTo>
                  <a:pt x="303" y="969"/>
                </a:lnTo>
                <a:lnTo>
                  <a:pt x="142" y="507"/>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0910438" y="5145512"/>
            <a:ext cx="41239" cy="221193"/>
          </a:xfrm>
          <a:custGeom>
            <a:avLst/>
            <a:gdLst/>
            <a:ahLst/>
            <a:cxnLst/>
            <a:rect l="l" t="t" r="r" b="b"/>
            <a:pathLst>
              <a:path w="451" h="2419">
                <a:moveTo>
                  <a:pt x="0" y="2419"/>
                </a:moveTo>
                <a:lnTo>
                  <a:pt x="84" y="1700"/>
                </a:lnTo>
                <a:lnTo>
                  <a:pt x="187" y="1069"/>
                </a:lnTo>
                <a:lnTo>
                  <a:pt x="309" y="507"/>
                </a:lnTo>
                <a:lnTo>
                  <a:pt x="451"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Freeform 118"/>
          <p:cNvSpPr/>
          <p:nvPr/>
        </p:nvSpPr>
        <p:spPr>
          <a:xfrm>
            <a:off x="11229472" y="4774905"/>
            <a:ext cx="186355" cy="55047"/>
          </a:xfrm>
          <a:custGeom>
            <a:avLst/>
            <a:gdLst/>
            <a:ahLst/>
            <a:cxnLst/>
            <a:rect l="l" t="t" r="r" b="b"/>
            <a:pathLst>
              <a:path w="2038" h="602">
                <a:moveTo>
                  <a:pt x="0" y="602"/>
                </a:moveTo>
                <a:lnTo>
                  <a:pt x="444" y="425"/>
                </a:lnTo>
                <a:lnTo>
                  <a:pt x="928" y="266"/>
                </a:lnTo>
                <a:lnTo>
                  <a:pt x="1457" y="124"/>
                </a:lnTo>
                <a:lnTo>
                  <a:pt x="2038"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13260354" y="4750308"/>
            <a:ext cx="253197" cy="35936"/>
          </a:xfrm>
          <a:custGeom>
            <a:avLst/>
            <a:gdLst/>
            <a:ahLst/>
            <a:cxnLst/>
            <a:rect l="l" t="t" r="r" b="b"/>
            <a:pathLst>
              <a:path w="2769" h="393">
                <a:moveTo>
                  <a:pt x="0" y="0"/>
                </a:moveTo>
                <a:lnTo>
                  <a:pt x="824" y="73"/>
                </a:lnTo>
                <a:lnTo>
                  <a:pt x="1545" y="163"/>
                </a:lnTo>
                <a:lnTo>
                  <a:pt x="2188" y="269"/>
                </a:lnTo>
                <a:lnTo>
                  <a:pt x="2769" y="393"/>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13874648" y="5029017"/>
            <a:ext cx="62911" cy="162855"/>
          </a:xfrm>
          <a:custGeom>
            <a:avLst/>
            <a:gdLst/>
            <a:ahLst/>
            <a:cxnLst/>
            <a:rect l="l" t="t" r="r" b="b"/>
            <a:pathLst>
              <a:path w="688" h="1781">
                <a:moveTo>
                  <a:pt x="0" y="0"/>
                </a:moveTo>
                <a:lnTo>
                  <a:pt x="203" y="389"/>
                </a:lnTo>
                <a:lnTo>
                  <a:pt x="385" y="812"/>
                </a:lnTo>
                <a:lnTo>
                  <a:pt x="546" y="1274"/>
                </a:lnTo>
                <a:lnTo>
                  <a:pt x="688" y="1781"/>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body: 8"/>
          <p:cNvSpPr txBox="1"/>
          <p:nvPr/>
        </p:nvSpPr>
        <p:spPr>
          <a:xfrm>
            <a:off x="11050524" y="4912931"/>
            <a:ext cx="301752" cy="278257"/>
          </a:xfrm>
          <a:prstGeom prst="rect">
            <a:avLst/>
          </a:prstGeom>
          <a:noFill/>
        </p:spPr>
        <p:txBody>
          <a:bodyPr wrap="none" lIns="0" rIns="0" tIns="0" bIns="0" anchor="t">
            <a:noAutofit/>
          </a:bodyPr>
          <a:lstStyle/>
          <a:p>
            <a:pPr algn="ctr">
              <a:lnSpc>
                <a:spcPts val="1651"/>
              </a:lnSpc>
              <a:spcBef>
                <a:spcPts val="0"/>
              </a:spcBef>
              <a:spcAft>
                <a:spcPts val="0"/>
              </a:spcAft>
            </a:pPr>
            <a:r>
              <a:rPr sz="1300" b="1">
                <a:solidFill>
                  <a:srgbClr val="9D7B35"/>
                </a:solidFill>
                <a:latin typeface="Trebuchet MS"/>
              </a:rPr>
              <a:t>8</a:t>
            </a:r>
          </a:p>
        </p:txBody>
      </p:sp>
      <p:sp>
        <p:nvSpPr>
          <p:cNvPr id="123" name="body: No-win is a result"/>
          <p:cNvSpPr txBox="1"/>
          <p:nvPr/>
        </p:nvSpPr>
        <p:spPr>
          <a:xfrm>
            <a:off x="11571732" y="4901183"/>
            <a:ext cx="1997964" cy="707644"/>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9D7B35"/>
                </a:solidFill>
                <a:latin typeface="Chalkboard SE"/>
              </a:rPr>
              <a:t>No-win is a</a:t>
            </a:r>
            <a:br/>
            <a:r>
              <a:rPr sz="1850" b="1">
                <a:solidFill>
                  <a:srgbClr val="9D7B35"/>
                </a:solidFill>
                <a:latin typeface="Chalkboard SE"/>
              </a:rPr>
              <a:t>result</a:t>
            </a:r>
          </a:p>
        </p:txBody>
      </p:sp>
      <p:sp>
        <p:nvSpPr>
          <p:cNvPr id="124" name="body: Zero incidents is reported with uncertainty, not as a bound."/>
          <p:cNvSpPr txBox="1"/>
          <p:nvPr/>
        </p:nvSpPr>
        <p:spPr>
          <a:xfrm>
            <a:off x="11141963" y="5865114"/>
            <a:ext cx="2592324" cy="1294384"/>
          </a:xfrm>
          <a:prstGeom prst="rect">
            <a:avLst/>
          </a:prstGeom>
          <a:noFill/>
        </p:spPr>
        <p:txBody>
          <a:bodyPr wrap="none" lIns="0" rIns="0" tIns="0" bIns="0" anchor="t">
            <a:noAutofit/>
          </a:bodyPr>
          <a:lstStyle/>
          <a:p>
            <a:pPr algn="ctr">
              <a:lnSpc>
                <a:spcPts val="2413"/>
              </a:lnSpc>
              <a:spcBef>
                <a:spcPts val="0"/>
              </a:spcBef>
              <a:spcAft>
                <a:spcPts val="0"/>
              </a:spcAft>
            </a:pPr>
            <a:r>
              <a:rPr sz="1900" b="0">
                <a:solidFill>
                  <a:srgbClr val="293E46"/>
                </a:solidFill>
                <a:latin typeface="Trebuchet MS"/>
              </a:rPr>
              <a:t>Zero incidents is</a:t>
            </a:r>
            <a:br/>
            <a:r>
              <a:rPr sz="1900" b="0">
                <a:solidFill>
                  <a:srgbClr val="293E46"/>
                </a:solidFill>
                <a:latin typeface="Trebuchet MS"/>
              </a:rPr>
              <a:t>reported with</a:t>
            </a:r>
            <a:br/>
            <a:r>
              <a:rPr sz="1900" b="0">
                <a:solidFill>
                  <a:srgbClr val="293E46"/>
                </a:solidFill>
                <a:latin typeface="Trebuchet MS"/>
              </a:rPr>
              <a:t>uncertainty, not as a</a:t>
            </a:r>
            <a:br/>
            <a:r>
              <a:rPr sz="1900" b="0">
                <a:solidFill>
                  <a:srgbClr val="293E46"/>
                </a:solidFill>
                <a:latin typeface="Trebuchet MS"/>
              </a:rPr>
              <a:t>bound.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6 · RISK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6 · RISKS</a:t>
            </a:r>
          </a:p>
        </p:txBody>
      </p:sp>
      <p:sp>
        <p:nvSpPr>
          <p:cNvPr id="3" name="title: What could fool u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What could fool us</a:t>
            </a:r>
          </a:p>
        </p:txBody>
      </p:sp>
      <p:sp>
        <p:nvSpPr>
          <p:cNvPr id="4" name="subtitle: And what in the design answers it"/>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And what in the design answers it</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27"/>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27</a:t>
            </a:r>
          </a:p>
        </p:txBody>
      </p:sp>
      <p:sp>
        <p:nvSpPr>
          <p:cNvPr id="12" name="Rounded Rectangle 11"/>
          <p:cNvSpPr/>
          <p:nvPr/>
        </p:nvSpPr>
        <p:spPr>
          <a:xfrm>
            <a:off x="640080" y="1810512"/>
            <a:ext cx="13350240" cy="591454"/>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 Threat"/>
          <p:cNvSpPr txBox="1"/>
          <p:nvPr/>
        </p:nvSpPr>
        <p:spPr>
          <a:xfrm>
            <a:off x="777240" y="1918723"/>
            <a:ext cx="417576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Threat</a:t>
            </a:r>
          </a:p>
        </p:txBody>
      </p:sp>
      <p:sp>
        <p:nvSpPr>
          <p:cNvPr id="14" name="body: Answer"/>
          <p:cNvSpPr txBox="1"/>
          <p:nvPr/>
        </p:nvSpPr>
        <p:spPr>
          <a:xfrm>
            <a:off x="5227320" y="1918723"/>
            <a:ext cx="862584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Answer</a:t>
            </a:r>
          </a:p>
        </p:txBody>
      </p:sp>
      <p:sp>
        <p:nvSpPr>
          <p:cNvPr id="15" name="Rounded Rectangle 14"/>
          <p:cNvSpPr/>
          <p:nvPr/>
        </p:nvSpPr>
        <p:spPr>
          <a:xfrm>
            <a:off x="640080" y="2461402"/>
            <a:ext cx="13350240" cy="658129"/>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ody: Goodhart on the library"/>
          <p:cNvSpPr txBox="1"/>
          <p:nvPr/>
        </p:nvSpPr>
        <p:spPr>
          <a:xfrm>
            <a:off x="777240" y="2578758"/>
            <a:ext cx="4175760" cy="423418"/>
          </a:xfrm>
          <a:prstGeom prst="rect">
            <a:avLst/>
          </a:prstGeom>
          <a:noFill/>
        </p:spPr>
        <p:txBody>
          <a:bodyPr wrap="none" lIns="0" rIns="0" tIns="0" bIns="0" anchor="t">
            <a:noAutofit/>
          </a:bodyPr>
          <a:lstStyle/>
          <a:p>
            <a:pPr algn="l">
              <a:lnSpc>
                <a:spcPts val="2794"/>
              </a:lnSpc>
              <a:spcBef>
                <a:spcPts val="0"/>
              </a:spcBef>
              <a:spcAft>
                <a:spcPts val="0"/>
              </a:spcAft>
            </a:pPr>
            <a:r>
              <a:rPr sz="2200" b="1">
                <a:solidFill>
                  <a:srgbClr val="4E7892"/>
                </a:solidFill>
                <a:latin typeface="Trebuchet MS"/>
              </a:rPr>
              <a:t>Goodhart on the library</a:t>
            </a:r>
          </a:p>
        </p:txBody>
      </p:sp>
      <p:sp>
        <p:nvSpPr>
          <p:cNvPr id="17" name="body: Held-out by lineage and date; surface variants"/>
          <p:cNvSpPr txBox="1"/>
          <p:nvPr/>
        </p:nvSpPr>
        <p:spPr>
          <a:xfrm>
            <a:off x="5227320" y="2578758"/>
            <a:ext cx="8625840"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Held-out by lineage and date; surface variants</a:t>
            </a:r>
          </a:p>
        </p:txBody>
      </p:sp>
      <p:sp>
        <p:nvSpPr>
          <p:cNvPr id="18" name="Rounded Rectangle 17"/>
          <p:cNvSpPr/>
          <p:nvPr/>
        </p:nvSpPr>
        <p:spPr>
          <a:xfrm>
            <a:off x="640080" y="3178968"/>
            <a:ext cx="13350240" cy="658129"/>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ody: Safety bought by refusal"/>
          <p:cNvSpPr txBox="1"/>
          <p:nvPr/>
        </p:nvSpPr>
        <p:spPr>
          <a:xfrm>
            <a:off x="777240" y="3296324"/>
            <a:ext cx="4175760" cy="423418"/>
          </a:xfrm>
          <a:prstGeom prst="rect">
            <a:avLst/>
          </a:prstGeom>
          <a:noFill/>
        </p:spPr>
        <p:txBody>
          <a:bodyPr wrap="none" lIns="0" rIns="0" tIns="0" bIns="0" anchor="t">
            <a:noAutofit/>
          </a:bodyPr>
          <a:lstStyle/>
          <a:p>
            <a:pPr algn="l">
              <a:lnSpc>
                <a:spcPts val="2794"/>
              </a:lnSpc>
              <a:spcBef>
                <a:spcPts val="0"/>
              </a:spcBef>
              <a:spcAft>
                <a:spcPts val="0"/>
              </a:spcAft>
            </a:pPr>
            <a:r>
              <a:rPr sz="2200" b="1">
                <a:solidFill>
                  <a:srgbClr val="4E7892"/>
                </a:solidFill>
                <a:latin typeface="Trebuchet MS"/>
              </a:rPr>
              <a:t>Safety bought by refusal</a:t>
            </a:r>
          </a:p>
        </p:txBody>
      </p:sp>
      <p:sp>
        <p:nvSpPr>
          <p:cNvPr id="20" name="body: F ≤ α on benign twins; utility non-inferiority"/>
          <p:cNvSpPr txBox="1"/>
          <p:nvPr/>
        </p:nvSpPr>
        <p:spPr>
          <a:xfrm>
            <a:off x="5227320" y="3296324"/>
            <a:ext cx="8625840"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F ≤ α on benign twins; utility non-inferiority</a:t>
            </a:r>
          </a:p>
        </p:txBody>
      </p:sp>
      <p:sp>
        <p:nvSpPr>
          <p:cNvPr id="21" name="Rounded Rectangle 20"/>
          <p:cNvSpPr/>
          <p:nvPr/>
        </p:nvSpPr>
        <p:spPr>
          <a:xfrm>
            <a:off x="640080" y="3896534"/>
            <a:ext cx="13350240" cy="658129"/>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ody: Observers change the count"/>
          <p:cNvSpPr txBox="1"/>
          <p:nvPr/>
        </p:nvSpPr>
        <p:spPr>
          <a:xfrm>
            <a:off x="777240" y="4013890"/>
            <a:ext cx="4175760" cy="423418"/>
          </a:xfrm>
          <a:prstGeom prst="rect">
            <a:avLst/>
          </a:prstGeom>
          <a:noFill/>
        </p:spPr>
        <p:txBody>
          <a:bodyPr wrap="none" lIns="0" rIns="0" tIns="0" bIns="0" anchor="t">
            <a:noAutofit/>
          </a:bodyPr>
          <a:lstStyle/>
          <a:p>
            <a:pPr algn="l">
              <a:lnSpc>
                <a:spcPts val="2794"/>
              </a:lnSpc>
              <a:spcBef>
                <a:spcPts val="0"/>
              </a:spcBef>
              <a:spcAft>
                <a:spcPts val="0"/>
              </a:spcAft>
            </a:pPr>
            <a:r>
              <a:rPr sz="2200" b="1">
                <a:solidFill>
                  <a:srgbClr val="4E7892"/>
                </a:solidFill>
                <a:latin typeface="Trebuchet MS"/>
              </a:rPr>
              <a:t>Observers change the count</a:t>
            </a:r>
          </a:p>
        </p:txBody>
      </p:sp>
      <p:sp>
        <p:nvSpPr>
          <p:cNvPr id="23" name="body: B1 vs B0 on the same trajectories"/>
          <p:cNvSpPr txBox="1"/>
          <p:nvPr/>
        </p:nvSpPr>
        <p:spPr>
          <a:xfrm>
            <a:off x="5227320" y="4013890"/>
            <a:ext cx="8625840"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B1 vs B0 on the same trajectories</a:t>
            </a:r>
          </a:p>
        </p:txBody>
      </p:sp>
      <p:sp>
        <p:nvSpPr>
          <p:cNvPr id="24" name="Rounded Rectangle 23"/>
          <p:cNvSpPr/>
          <p:nvPr/>
        </p:nvSpPr>
        <p:spPr>
          <a:xfrm>
            <a:off x="640080" y="4614100"/>
            <a:ext cx="13350240" cy="658129"/>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Leakage to proposer or agent"/>
          <p:cNvSpPr txBox="1"/>
          <p:nvPr/>
        </p:nvSpPr>
        <p:spPr>
          <a:xfrm>
            <a:off x="777240" y="4731456"/>
            <a:ext cx="4175760" cy="423418"/>
          </a:xfrm>
          <a:prstGeom prst="rect">
            <a:avLst/>
          </a:prstGeom>
          <a:noFill/>
        </p:spPr>
        <p:txBody>
          <a:bodyPr wrap="none" lIns="0" rIns="0" tIns="0" bIns="0" anchor="t">
            <a:noAutofit/>
          </a:bodyPr>
          <a:lstStyle/>
          <a:p>
            <a:pPr algn="l">
              <a:lnSpc>
                <a:spcPts val="2794"/>
              </a:lnSpc>
              <a:spcBef>
                <a:spcPts val="0"/>
              </a:spcBef>
              <a:spcAft>
                <a:spcPts val="0"/>
              </a:spcAft>
            </a:pPr>
            <a:r>
              <a:rPr sz="2200" b="1">
                <a:solidFill>
                  <a:srgbClr val="4E7892"/>
                </a:solidFill>
                <a:latin typeface="Trebuchet MS"/>
              </a:rPr>
              <a:t>Leakage to proposer or agent</a:t>
            </a:r>
          </a:p>
        </p:txBody>
      </p:sp>
      <p:sp>
        <p:nvSpPr>
          <p:cNvPr id="26" name="body: Strict partitions; aggregates only"/>
          <p:cNvSpPr txBox="1"/>
          <p:nvPr/>
        </p:nvSpPr>
        <p:spPr>
          <a:xfrm>
            <a:off x="5227320" y="4731456"/>
            <a:ext cx="8625840"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Strict partitions; aggregates only</a:t>
            </a:r>
          </a:p>
        </p:txBody>
      </p:sp>
      <p:sp>
        <p:nvSpPr>
          <p:cNvPr id="27" name="Rounded Rectangle 26"/>
          <p:cNvSpPr/>
          <p:nvPr/>
        </p:nvSpPr>
        <p:spPr>
          <a:xfrm>
            <a:off x="640080" y="5331666"/>
            <a:ext cx="13350240" cy="658129"/>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ody: Poisoned reports"/>
          <p:cNvSpPr txBox="1"/>
          <p:nvPr/>
        </p:nvSpPr>
        <p:spPr>
          <a:xfrm>
            <a:off x="777240" y="5449022"/>
            <a:ext cx="4175760" cy="423418"/>
          </a:xfrm>
          <a:prstGeom prst="rect">
            <a:avLst/>
          </a:prstGeom>
          <a:noFill/>
        </p:spPr>
        <p:txBody>
          <a:bodyPr wrap="none" lIns="0" rIns="0" tIns="0" bIns="0" anchor="t">
            <a:noAutofit/>
          </a:bodyPr>
          <a:lstStyle/>
          <a:p>
            <a:pPr algn="l">
              <a:lnSpc>
                <a:spcPts val="2794"/>
              </a:lnSpc>
              <a:spcBef>
                <a:spcPts val="0"/>
              </a:spcBef>
              <a:spcAft>
                <a:spcPts val="0"/>
              </a:spcAft>
            </a:pPr>
            <a:r>
              <a:rPr sz="2200" b="1">
                <a:solidFill>
                  <a:srgbClr val="4E7892"/>
                </a:solidFill>
                <a:latin typeface="Trebuchet MS"/>
              </a:rPr>
              <a:t>Poisoned reports</a:t>
            </a:r>
          </a:p>
        </p:txBody>
      </p:sp>
      <p:sp>
        <p:nvSpPr>
          <p:cNvPr id="29" name="body: Grades, quarantine, reproduction, human gate"/>
          <p:cNvSpPr txBox="1"/>
          <p:nvPr/>
        </p:nvSpPr>
        <p:spPr>
          <a:xfrm>
            <a:off x="5227320" y="5449022"/>
            <a:ext cx="8625840"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Grades, quarantine, reproduction, human gate</a:t>
            </a:r>
          </a:p>
        </p:txBody>
      </p:sp>
      <p:sp>
        <p:nvSpPr>
          <p:cNvPr id="30" name="Rounded Rectangle 29"/>
          <p:cNvSpPr/>
          <p:nvPr/>
        </p:nvSpPr>
        <p:spPr>
          <a:xfrm>
            <a:off x="640080" y="6049232"/>
            <a:ext cx="13350240" cy="658129"/>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ody: Non-transfer across models"/>
          <p:cNvSpPr txBox="1"/>
          <p:nvPr/>
        </p:nvSpPr>
        <p:spPr>
          <a:xfrm>
            <a:off x="777240" y="6166588"/>
            <a:ext cx="4175760" cy="423418"/>
          </a:xfrm>
          <a:prstGeom prst="rect">
            <a:avLst/>
          </a:prstGeom>
          <a:noFill/>
        </p:spPr>
        <p:txBody>
          <a:bodyPr wrap="none" lIns="0" rIns="0" tIns="0" bIns="0" anchor="t">
            <a:noAutofit/>
          </a:bodyPr>
          <a:lstStyle/>
          <a:p>
            <a:pPr algn="l">
              <a:lnSpc>
                <a:spcPts val="2794"/>
              </a:lnSpc>
              <a:spcBef>
                <a:spcPts val="0"/>
              </a:spcBef>
              <a:spcAft>
                <a:spcPts val="0"/>
              </a:spcAft>
            </a:pPr>
            <a:r>
              <a:rPr sz="2200" b="1">
                <a:solidFill>
                  <a:srgbClr val="4E7892"/>
                </a:solidFill>
                <a:latin typeface="Trebuchet MS"/>
              </a:rPr>
              <a:t>Non-transfer across models</a:t>
            </a:r>
          </a:p>
        </p:txBody>
      </p:sp>
      <p:sp>
        <p:nvSpPr>
          <p:cNvPr id="32" name="body: Repeat on a second model family"/>
          <p:cNvSpPr txBox="1"/>
          <p:nvPr/>
        </p:nvSpPr>
        <p:spPr>
          <a:xfrm>
            <a:off x="5227320" y="6166588"/>
            <a:ext cx="8625840"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Repeat on a second model family</a:t>
            </a:r>
          </a:p>
        </p:txBody>
      </p:sp>
      <p:sp>
        <p:nvSpPr>
          <p:cNvPr id="33" name="Rounded Rectangle 32"/>
          <p:cNvSpPr/>
          <p:nvPr/>
        </p:nvSpPr>
        <p:spPr>
          <a:xfrm>
            <a:off x="640080" y="6766798"/>
            <a:ext cx="13350240" cy="658129"/>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ody: Cost blow-up"/>
          <p:cNvSpPr txBox="1"/>
          <p:nvPr/>
        </p:nvSpPr>
        <p:spPr>
          <a:xfrm>
            <a:off x="777240" y="6884154"/>
            <a:ext cx="4175760" cy="423418"/>
          </a:xfrm>
          <a:prstGeom prst="rect">
            <a:avLst/>
          </a:prstGeom>
          <a:noFill/>
        </p:spPr>
        <p:txBody>
          <a:bodyPr wrap="none" lIns="0" rIns="0" tIns="0" bIns="0" anchor="t">
            <a:noAutofit/>
          </a:bodyPr>
          <a:lstStyle/>
          <a:p>
            <a:pPr algn="l">
              <a:lnSpc>
                <a:spcPts val="2794"/>
              </a:lnSpc>
              <a:spcBef>
                <a:spcPts val="0"/>
              </a:spcBef>
              <a:spcAft>
                <a:spcPts val="0"/>
              </a:spcAft>
            </a:pPr>
            <a:r>
              <a:rPr sz="2200" b="1">
                <a:solidFill>
                  <a:srgbClr val="4E7892"/>
                </a:solidFill>
                <a:latin typeface="Trebuchet MS"/>
              </a:rPr>
              <a:t>Cost blow-up</a:t>
            </a:r>
          </a:p>
        </p:txBody>
      </p:sp>
      <p:sp>
        <p:nvSpPr>
          <p:cNvPr id="35" name="body: Search and replay budgets predeclared"/>
          <p:cNvSpPr txBox="1"/>
          <p:nvPr/>
        </p:nvSpPr>
        <p:spPr>
          <a:xfrm>
            <a:off x="5227320" y="6884154"/>
            <a:ext cx="8625840"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Search and replay budgets predeclared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6 · EVALUATIO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6 · EVALUATION</a:t>
            </a:r>
          </a:p>
        </p:txBody>
      </p:sp>
      <p:sp>
        <p:nvSpPr>
          <p:cNvPr id="3" name="title: How we would know it worked"/>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How we would know it worked</a:t>
            </a:r>
          </a:p>
        </p:txBody>
      </p:sp>
      <p:sp>
        <p:nvSpPr>
          <p:cNvPr id="4" name="Freeform 3"/>
          <p:cNvSpPr/>
          <p:nvPr/>
        </p:nvSpPr>
        <p:spPr>
          <a:xfrm>
            <a:off x="6263640" y="1360170"/>
            <a:ext cx="2103120" cy="39594"/>
          </a:xfrm>
          <a:custGeom>
            <a:avLst/>
            <a:gdLst/>
            <a:ahLst/>
            <a:cxnLst/>
            <a:rect l="l" t="t" r="r" b="b"/>
            <a:pathLst>
              <a:path w="23000" h="433">
                <a:moveTo>
                  <a:pt x="0" y="263"/>
                </a:moveTo>
                <a:lnTo>
                  <a:pt x="958" y="331"/>
                </a:lnTo>
                <a:lnTo>
                  <a:pt x="1917" y="334"/>
                </a:lnTo>
                <a:lnTo>
                  <a:pt x="2875" y="282"/>
                </a:lnTo>
                <a:lnTo>
                  <a:pt x="3833" y="285"/>
                </a:lnTo>
                <a:lnTo>
                  <a:pt x="4792" y="97"/>
                </a:lnTo>
                <a:lnTo>
                  <a:pt x="5750" y="107"/>
                </a:lnTo>
                <a:lnTo>
                  <a:pt x="6708" y="187"/>
                </a:lnTo>
                <a:lnTo>
                  <a:pt x="7667" y="214"/>
                </a:lnTo>
                <a:lnTo>
                  <a:pt x="8625" y="433"/>
                </a:lnTo>
                <a:lnTo>
                  <a:pt x="9583" y="408"/>
                </a:lnTo>
                <a:lnTo>
                  <a:pt x="10542" y="316"/>
                </a:lnTo>
                <a:lnTo>
                  <a:pt x="11500" y="214"/>
                </a:lnTo>
                <a:lnTo>
                  <a:pt x="12458" y="24"/>
                </a:lnTo>
                <a:lnTo>
                  <a:pt x="13417" y="64"/>
                </a:lnTo>
                <a:lnTo>
                  <a:pt x="14375" y="72"/>
                </a:lnTo>
                <a:lnTo>
                  <a:pt x="15333" y="330"/>
                </a:lnTo>
                <a:lnTo>
                  <a:pt x="16292" y="373"/>
                </a:lnTo>
                <a:lnTo>
                  <a:pt x="17250" y="373"/>
                </a:lnTo>
                <a:lnTo>
                  <a:pt x="18208" y="341"/>
                </a:lnTo>
                <a:lnTo>
                  <a:pt x="19167" y="123"/>
                </a:lnTo>
                <a:lnTo>
                  <a:pt x="20125" y="0"/>
                </a:lnTo>
                <a:lnTo>
                  <a:pt x="21083" y="36"/>
                </a:lnTo>
                <a:lnTo>
                  <a:pt x="22042" y="67"/>
                </a:lnTo>
                <a:lnTo>
                  <a:pt x="23000" y="251"/>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6629"/>
            <a:ext cx="2103120" cy="39594"/>
          </a:xfrm>
          <a:custGeom>
            <a:avLst/>
            <a:gdLst/>
            <a:ahLst/>
            <a:cxnLst/>
            <a:rect l="l" t="t" r="r" b="b"/>
            <a:pathLst>
              <a:path w="23000" h="433">
                <a:moveTo>
                  <a:pt x="0" y="263"/>
                </a:moveTo>
                <a:lnTo>
                  <a:pt x="958" y="331"/>
                </a:lnTo>
                <a:lnTo>
                  <a:pt x="1917" y="334"/>
                </a:lnTo>
                <a:lnTo>
                  <a:pt x="2875" y="282"/>
                </a:lnTo>
                <a:lnTo>
                  <a:pt x="3833" y="285"/>
                </a:lnTo>
                <a:lnTo>
                  <a:pt x="4792" y="97"/>
                </a:lnTo>
                <a:lnTo>
                  <a:pt x="5750" y="107"/>
                </a:lnTo>
                <a:lnTo>
                  <a:pt x="6708" y="187"/>
                </a:lnTo>
                <a:lnTo>
                  <a:pt x="7667" y="214"/>
                </a:lnTo>
                <a:lnTo>
                  <a:pt x="8625" y="433"/>
                </a:lnTo>
                <a:lnTo>
                  <a:pt x="9583" y="408"/>
                </a:lnTo>
                <a:lnTo>
                  <a:pt x="10542" y="316"/>
                </a:lnTo>
                <a:lnTo>
                  <a:pt x="11500" y="214"/>
                </a:lnTo>
                <a:lnTo>
                  <a:pt x="12458" y="24"/>
                </a:lnTo>
                <a:lnTo>
                  <a:pt x="13417" y="64"/>
                </a:lnTo>
                <a:lnTo>
                  <a:pt x="14375" y="72"/>
                </a:lnTo>
                <a:lnTo>
                  <a:pt x="15333" y="330"/>
                </a:lnTo>
                <a:lnTo>
                  <a:pt x="16292" y="373"/>
                </a:lnTo>
                <a:lnTo>
                  <a:pt x="17250" y="373"/>
                </a:lnTo>
                <a:lnTo>
                  <a:pt x="18208" y="341"/>
                </a:lnTo>
                <a:lnTo>
                  <a:pt x="19167" y="123"/>
                </a:lnTo>
                <a:lnTo>
                  <a:pt x="20125" y="0"/>
                </a:lnTo>
                <a:lnTo>
                  <a:pt x="21083" y="36"/>
                </a:lnTo>
                <a:lnTo>
                  <a:pt x="22042" y="67"/>
                </a:lnTo>
                <a:lnTo>
                  <a:pt x="23000" y="251"/>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rt: 1 / 2"/>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1 / 2</a:t>
            </a:r>
          </a:p>
        </p:txBody>
      </p:sp>
      <p:sp>
        <p:nvSpPr>
          <p:cNvPr id="11" name="Freeform 10"/>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3" name="page: 28"/>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28</a:t>
            </a:r>
          </a:p>
        </p:txBody>
      </p:sp>
      <p:sp>
        <p:nvSpPr>
          <p:cNvPr id="14" name="Rounded Rectangle 13"/>
          <p:cNvSpPr/>
          <p:nvPr/>
        </p:nvSpPr>
        <p:spPr>
          <a:xfrm>
            <a:off x="640080" y="1810512"/>
            <a:ext cx="13350240" cy="608402"/>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ody: Benchmark"/>
          <p:cNvSpPr txBox="1"/>
          <p:nvPr/>
        </p:nvSpPr>
        <p:spPr>
          <a:xfrm>
            <a:off x="777240" y="1927197"/>
            <a:ext cx="521208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Benchmark</a:t>
            </a:r>
          </a:p>
        </p:txBody>
      </p:sp>
      <p:sp>
        <p:nvSpPr>
          <p:cNvPr id="16" name="body: Established baselines we compare against"/>
          <p:cNvSpPr txBox="1"/>
          <p:nvPr/>
        </p:nvSpPr>
        <p:spPr>
          <a:xfrm>
            <a:off x="6263640" y="1927197"/>
            <a:ext cx="7589519"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Established baselines we compare against</a:t>
            </a:r>
          </a:p>
        </p:txBody>
      </p:sp>
      <p:sp>
        <p:nvSpPr>
          <p:cNvPr id="17" name="Rounded Rectangle 16"/>
          <p:cNvSpPr/>
          <p:nvPr/>
        </p:nvSpPr>
        <p:spPr>
          <a:xfrm>
            <a:off x="640080" y="2478350"/>
            <a:ext cx="13350240" cy="658948"/>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 ImpossibleBench (Zhong et al., 2025)"/>
          <p:cNvSpPr txBox="1"/>
          <p:nvPr/>
        </p:nvSpPr>
        <p:spPr>
          <a:xfrm>
            <a:off x="777240" y="2604180"/>
            <a:ext cx="5212080" cy="407289"/>
          </a:xfrm>
          <a:prstGeom prst="rect">
            <a:avLst/>
          </a:prstGeom>
          <a:noFill/>
        </p:spPr>
        <p:txBody>
          <a:bodyPr wrap="none" lIns="0" rIns="0" tIns="0" bIns="0" anchor="t">
            <a:noAutofit/>
          </a:bodyPr>
          <a:lstStyle/>
          <a:p>
            <a:pPr algn="l">
              <a:lnSpc>
                <a:spcPts val="2667"/>
              </a:lnSpc>
              <a:spcBef>
                <a:spcPts val="0"/>
              </a:spcBef>
              <a:spcAft>
                <a:spcPts val="0"/>
              </a:spcAft>
            </a:pPr>
            <a:r>
              <a:rPr sz="2100" b="1">
                <a:solidFill>
                  <a:srgbClr val="4E7892"/>
                </a:solidFill>
                <a:latin typeface="Trebuchet MS"/>
              </a:rPr>
              <a:t>ImpossibleBench (Zhong et al., 2025)</a:t>
            </a:r>
          </a:p>
        </p:txBody>
      </p:sp>
      <p:sp>
        <p:nvSpPr>
          <p:cNvPr id="19" name="body: Upstream scaffold with its STOP instruction"/>
          <p:cNvSpPr txBox="1"/>
          <p:nvPr/>
        </p:nvSpPr>
        <p:spPr>
          <a:xfrm>
            <a:off x="6263640" y="2604180"/>
            <a:ext cx="7589519" cy="407289"/>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Upstream scaffold with its STOP instruction</a:t>
            </a:r>
          </a:p>
        </p:txBody>
      </p:sp>
      <p:sp>
        <p:nvSpPr>
          <p:cNvPr id="20" name="Rounded Rectangle 19"/>
          <p:cNvSpPr/>
          <p:nvPr/>
        </p:nvSpPr>
        <p:spPr>
          <a:xfrm>
            <a:off x="640080" y="3196735"/>
            <a:ext cx="13350240" cy="658948"/>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dy: AgentDojo (Debenedetti et al., 2024)"/>
          <p:cNvSpPr txBox="1"/>
          <p:nvPr/>
        </p:nvSpPr>
        <p:spPr>
          <a:xfrm>
            <a:off x="777240" y="3322564"/>
            <a:ext cx="5212080" cy="407289"/>
          </a:xfrm>
          <a:prstGeom prst="rect">
            <a:avLst/>
          </a:prstGeom>
          <a:noFill/>
        </p:spPr>
        <p:txBody>
          <a:bodyPr wrap="none" lIns="0" rIns="0" tIns="0" bIns="0" anchor="t">
            <a:noAutofit/>
          </a:bodyPr>
          <a:lstStyle/>
          <a:p>
            <a:pPr algn="l">
              <a:lnSpc>
                <a:spcPts val="2667"/>
              </a:lnSpc>
              <a:spcBef>
                <a:spcPts val="0"/>
              </a:spcBef>
              <a:spcAft>
                <a:spcPts val="0"/>
              </a:spcAft>
            </a:pPr>
            <a:r>
              <a:rPr sz="2100" b="1">
                <a:solidFill>
                  <a:srgbClr val="4E7892"/>
                </a:solidFill>
                <a:latin typeface="Trebuchet MS"/>
              </a:rPr>
              <a:t>AgentDojo (Debenedetti et al., 2024)</a:t>
            </a:r>
          </a:p>
        </p:txBody>
      </p:sp>
      <p:sp>
        <p:nvSpPr>
          <p:cNvPr id="22" name="body: No defence, repeat-user-prompt, spotlighting, tool filter"/>
          <p:cNvSpPr txBox="1"/>
          <p:nvPr/>
        </p:nvSpPr>
        <p:spPr>
          <a:xfrm>
            <a:off x="6263640" y="3322564"/>
            <a:ext cx="7589519" cy="407289"/>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No defence, repeat-user-prompt, spotlighting, tool filter</a:t>
            </a:r>
          </a:p>
        </p:txBody>
      </p:sp>
      <p:sp>
        <p:nvSpPr>
          <p:cNvPr id="23" name="Rounded Rectangle 22"/>
          <p:cNvSpPr/>
          <p:nvPr/>
        </p:nvSpPr>
        <p:spPr>
          <a:xfrm>
            <a:off x="640080" y="3915119"/>
            <a:ext cx="13350240" cy="658948"/>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ResearchArena (2025)"/>
          <p:cNvSpPr txBox="1"/>
          <p:nvPr/>
        </p:nvSpPr>
        <p:spPr>
          <a:xfrm>
            <a:off x="777240" y="4040949"/>
            <a:ext cx="5212080" cy="407289"/>
          </a:xfrm>
          <a:prstGeom prst="rect">
            <a:avLst/>
          </a:prstGeom>
          <a:noFill/>
        </p:spPr>
        <p:txBody>
          <a:bodyPr wrap="none" lIns="0" rIns="0" tIns="0" bIns="0" anchor="t">
            <a:noAutofit/>
          </a:bodyPr>
          <a:lstStyle/>
          <a:p>
            <a:pPr algn="l">
              <a:lnSpc>
                <a:spcPts val="2667"/>
              </a:lnSpc>
              <a:spcBef>
                <a:spcPts val="0"/>
              </a:spcBef>
              <a:spcAft>
                <a:spcPts val="0"/>
              </a:spcAft>
            </a:pPr>
            <a:r>
              <a:rPr sz="2100" b="1">
                <a:solidFill>
                  <a:srgbClr val="4E7892"/>
                </a:solidFill>
                <a:latin typeface="Trebuchet MS"/>
              </a:rPr>
              <a:t>ResearchArena (2025)</a:t>
            </a:r>
          </a:p>
        </p:txBody>
      </p:sp>
      <p:sp>
        <p:nvSpPr>
          <p:cNvPr id="25" name="body: Upstream monitors; never-flag / always-flag controls"/>
          <p:cNvSpPr txBox="1"/>
          <p:nvPr/>
        </p:nvSpPr>
        <p:spPr>
          <a:xfrm>
            <a:off x="6263640" y="4040949"/>
            <a:ext cx="7589519" cy="407289"/>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Upstream monitors; never-flag / always-flag controls</a:t>
            </a:r>
          </a:p>
        </p:txBody>
      </p:sp>
      <p:sp>
        <p:nvSpPr>
          <p:cNvPr id="26" name="Rounded Rectangle 25"/>
          <p:cNvSpPr/>
          <p:nvPr/>
        </p:nvSpPr>
        <p:spPr>
          <a:xfrm>
            <a:off x="640080" y="4633504"/>
            <a:ext cx="13350240" cy="997657"/>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BashArena in ControlArena (AISI, 2025)"/>
          <p:cNvSpPr txBox="1"/>
          <p:nvPr/>
        </p:nvSpPr>
        <p:spPr>
          <a:xfrm>
            <a:off x="777240" y="4928688"/>
            <a:ext cx="5212080" cy="407289"/>
          </a:xfrm>
          <a:prstGeom prst="rect">
            <a:avLst/>
          </a:prstGeom>
          <a:noFill/>
        </p:spPr>
        <p:txBody>
          <a:bodyPr wrap="none" lIns="0" rIns="0" tIns="0" bIns="0" anchor="t">
            <a:noAutofit/>
          </a:bodyPr>
          <a:lstStyle/>
          <a:p>
            <a:pPr algn="l">
              <a:lnSpc>
                <a:spcPts val="2667"/>
              </a:lnSpc>
              <a:spcBef>
                <a:spcPts val="0"/>
              </a:spcBef>
              <a:spcAft>
                <a:spcPts val="0"/>
              </a:spcAft>
            </a:pPr>
            <a:r>
              <a:rPr sz="2100" b="1">
                <a:solidFill>
                  <a:srgbClr val="4E7892"/>
                </a:solidFill>
                <a:latin typeface="Trebuchet MS"/>
              </a:rPr>
              <a:t>BashArena in ControlArena (AISI, 2025)</a:t>
            </a:r>
          </a:p>
        </p:txBody>
      </p:sp>
      <p:sp>
        <p:nvSpPr>
          <p:cNvPr id="28" name="body: Untrusted-only, trusted monitoring, defer-to-trusted (Greenblatt"/>
          <p:cNvSpPr txBox="1"/>
          <p:nvPr/>
        </p:nvSpPr>
        <p:spPr>
          <a:xfrm>
            <a:off x="6263640" y="4759334"/>
            <a:ext cx="7589519" cy="745998"/>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Untrusted-only, trusted monitoring, defer-to-trusted</a:t>
            </a:r>
            <a:br/>
            <a:r>
              <a:rPr sz="2100" b="0">
                <a:solidFill>
                  <a:srgbClr val="293E46"/>
                </a:solidFill>
                <a:latin typeface="Trebuchet MS"/>
              </a:rPr>
              <a:t>(Greenblatt et al., 2023)</a:t>
            </a:r>
          </a:p>
        </p:txBody>
      </p:sp>
      <p:sp>
        <p:nvSpPr>
          <p:cNvPr id="29" name="Rounded Rectangle 28"/>
          <p:cNvSpPr/>
          <p:nvPr/>
        </p:nvSpPr>
        <p:spPr>
          <a:xfrm>
            <a:off x="640080" y="5690597"/>
            <a:ext cx="13350240" cy="658948"/>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ody: SHADE-Arena (Kutasov et al., 2025)"/>
          <p:cNvSpPr txBox="1"/>
          <p:nvPr/>
        </p:nvSpPr>
        <p:spPr>
          <a:xfrm>
            <a:off x="777240" y="5816427"/>
            <a:ext cx="5212080" cy="407289"/>
          </a:xfrm>
          <a:prstGeom prst="rect">
            <a:avLst/>
          </a:prstGeom>
          <a:noFill/>
        </p:spPr>
        <p:txBody>
          <a:bodyPr wrap="none" lIns="0" rIns="0" tIns="0" bIns="0" anchor="t">
            <a:noAutofit/>
          </a:bodyPr>
          <a:lstStyle/>
          <a:p>
            <a:pPr algn="l">
              <a:lnSpc>
                <a:spcPts val="2667"/>
              </a:lnSpc>
              <a:spcBef>
                <a:spcPts val="0"/>
              </a:spcBef>
              <a:spcAft>
                <a:spcPts val="0"/>
              </a:spcAft>
            </a:pPr>
            <a:r>
              <a:rPr sz="2100" b="1">
                <a:solidFill>
                  <a:srgbClr val="4E7892"/>
                </a:solidFill>
                <a:latin typeface="Trebuchet MS"/>
              </a:rPr>
              <a:t>SHADE-Arena (Kutasov et al., 2025)</a:t>
            </a:r>
          </a:p>
        </p:txBody>
      </p:sp>
      <p:sp>
        <p:nvSpPr>
          <p:cNvPr id="31" name="body: Upstream monitor on the same transcripts"/>
          <p:cNvSpPr txBox="1"/>
          <p:nvPr/>
        </p:nvSpPr>
        <p:spPr>
          <a:xfrm>
            <a:off x="6263640" y="5816427"/>
            <a:ext cx="7589519" cy="407289"/>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Upstream monitor on the same transcripts</a:t>
            </a:r>
          </a:p>
        </p:txBody>
      </p:sp>
      <p:sp>
        <p:nvSpPr>
          <p:cNvPr id="32" name="Rounded Rectangle 31"/>
          <p:cNvSpPr/>
          <p:nvPr/>
        </p:nvSpPr>
        <p:spPr>
          <a:xfrm>
            <a:off x="640080" y="6408982"/>
            <a:ext cx="13350240" cy="997657"/>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ody: Incident families reported after the cutoff"/>
          <p:cNvSpPr txBox="1"/>
          <p:nvPr/>
        </p:nvSpPr>
        <p:spPr>
          <a:xfrm>
            <a:off x="777240" y="6534812"/>
            <a:ext cx="5212080" cy="745998"/>
          </a:xfrm>
          <a:prstGeom prst="rect">
            <a:avLst/>
          </a:prstGeom>
          <a:noFill/>
        </p:spPr>
        <p:txBody>
          <a:bodyPr wrap="none" lIns="0" rIns="0" tIns="0" bIns="0" anchor="t">
            <a:noAutofit/>
          </a:bodyPr>
          <a:lstStyle/>
          <a:p>
            <a:pPr algn="l">
              <a:lnSpc>
                <a:spcPts val="2667"/>
              </a:lnSpc>
              <a:spcBef>
                <a:spcPts val="0"/>
              </a:spcBef>
              <a:spcAft>
                <a:spcPts val="0"/>
              </a:spcAft>
            </a:pPr>
            <a:r>
              <a:rPr sz="2100" b="1">
                <a:solidFill>
                  <a:srgbClr val="4E7892"/>
                </a:solidFill>
                <a:latin typeface="Trebuchet MS"/>
              </a:rPr>
              <a:t>Incident families reported after the</a:t>
            </a:r>
            <a:br/>
            <a:r>
              <a:rPr sz="2100" b="1">
                <a:solidFill>
                  <a:srgbClr val="4E7892"/>
                </a:solidFill>
                <a:latin typeface="Trebuchet MS"/>
              </a:rPr>
              <a:t>cutoff</a:t>
            </a:r>
          </a:p>
        </p:txBody>
      </p:sp>
      <p:sp>
        <p:nvSpPr>
          <p:cNvPr id="34" name="body: Time-split stream; no baseline has seen them"/>
          <p:cNvSpPr txBox="1"/>
          <p:nvPr/>
        </p:nvSpPr>
        <p:spPr>
          <a:xfrm>
            <a:off x="6263640" y="6704166"/>
            <a:ext cx="7589519" cy="407289"/>
          </a:xfrm>
          <a:prstGeom prst="rect">
            <a:avLst/>
          </a:prstGeom>
          <a:noFill/>
        </p:spPr>
        <p:txBody>
          <a:bodyPr wrap="none" lIns="0" rIns="0" tIns="0" bIns="0" anchor="t">
            <a:noAutofit/>
          </a:bodyPr>
          <a:lstStyle/>
          <a:p>
            <a:pPr algn="l">
              <a:lnSpc>
                <a:spcPts val="2667"/>
              </a:lnSpc>
              <a:spcBef>
                <a:spcPts val="0"/>
              </a:spcBef>
              <a:spcAft>
                <a:spcPts val="0"/>
              </a:spcAft>
            </a:pPr>
            <a:r>
              <a:rPr sz="2100" b="0">
                <a:solidFill>
                  <a:srgbClr val="293E46"/>
                </a:solidFill>
                <a:latin typeface="Trebuchet MS"/>
              </a:rPr>
              <a:t>Time-split stream; no baseline has seen them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6 · EVALUATION"/>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6 · EVALUATION</a:t>
            </a:r>
          </a:p>
        </p:txBody>
      </p:sp>
      <p:sp>
        <p:nvSpPr>
          <p:cNvPr id="3" name="title: How we would know it worked"/>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How we would know it worked</a:t>
            </a:r>
          </a:p>
        </p:txBody>
      </p:sp>
      <p:sp>
        <p:nvSpPr>
          <p:cNvPr id="4" name="Freeform 3"/>
          <p:cNvSpPr/>
          <p:nvPr/>
        </p:nvSpPr>
        <p:spPr>
          <a:xfrm>
            <a:off x="6263640" y="1363462"/>
            <a:ext cx="2103120" cy="35113"/>
          </a:xfrm>
          <a:custGeom>
            <a:avLst/>
            <a:gdLst/>
            <a:ahLst/>
            <a:cxnLst/>
            <a:rect l="l" t="t" r="r" b="b"/>
            <a:pathLst>
              <a:path w="23000" h="384">
                <a:moveTo>
                  <a:pt x="0" y="161"/>
                </a:moveTo>
                <a:lnTo>
                  <a:pt x="958" y="309"/>
                </a:lnTo>
                <a:lnTo>
                  <a:pt x="1917" y="383"/>
                </a:lnTo>
                <a:lnTo>
                  <a:pt x="2875" y="325"/>
                </a:lnTo>
                <a:lnTo>
                  <a:pt x="3833" y="155"/>
                </a:lnTo>
                <a:lnTo>
                  <a:pt x="4792" y="83"/>
                </a:lnTo>
                <a:lnTo>
                  <a:pt x="5750" y="74"/>
                </a:lnTo>
                <a:lnTo>
                  <a:pt x="6708" y="76"/>
                </a:lnTo>
                <a:lnTo>
                  <a:pt x="7667" y="226"/>
                </a:lnTo>
                <a:lnTo>
                  <a:pt x="8625" y="325"/>
                </a:lnTo>
                <a:lnTo>
                  <a:pt x="9583" y="300"/>
                </a:lnTo>
                <a:lnTo>
                  <a:pt x="10542" y="218"/>
                </a:lnTo>
                <a:lnTo>
                  <a:pt x="11500" y="199"/>
                </a:lnTo>
                <a:lnTo>
                  <a:pt x="12458" y="93"/>
                </a:lnTo>
                <a:lnTo>
                  <a:pt x="13417" y="25"/>
                </a:lnTo>
                <a:lnTo>
                  <a:pt x="14375" y="23"/>
                </a:lnTo>
                <a:lnTo>
                  <a:pt x="15333" y="295"/>
                </a:lnTo>
                <a:lnTo>
                  <a:pt x="16292" y="384"/>
                </a:lnTo>
                <a:lnTo>
                  <a:pt x="17250" y="292"/>
                </a:lnTo>
                <a:lnTo>
                  <a:pt x="18208" y="225"/>
                </a:lnTo>
                <a:lnTo>
                  <a:pt x="19167" y="99"/>
                </a:lnTo>
                <a:lnTo>
                  <a:pt x="20125" y="0"/>
                </a:lnTo>
                <a:lnTo>
                  <a:pt x="21083" y="72"/>
                </a:lnTo>
                <a:lnTo>
                  <a:pt x="22042" y="79"/>
                </a:lnTo>
                <a:lnTo>
                  <a:pt x="23000" y="293"/>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9921"/>
            <a:ext cx="2103120" cy="35113"/>
          </a:xfrm>
          <a:custGeom>
            <a:avLst/>
            <a:gdLst/>
            <a:ahLst/>
            <a:cxnLst/>
            <a:rect l="l" t="t" r="r" b="b"/>
            <a:pathLst>
              <a:path w="23000" h="384">
                <a:moveTo>
                  <a:pt x="0" y="161"/>
                </a:moveTo>
                <a:lnTo>
                  <a:pt x="958" y="309"/>
                </a:lnTo>
                <a:lnTo>
                  <a:pt x="1917" y="383"/>
                </a:lnTo>
                <a:lnTo>
                  <a:pt x="2875" y="325"/>
                </a:lnTo>
                <a:lnTo>
                  <a:pt x="3833" y="155"/>
                </a:lnTo>
                <a:lnTo>
                  <a:pt x="4792" y="83"/>
                </a:lnTo>
                <a:lnTo>
                  <a:pt x="5750" y="74"/>
                </a:lnTo>
                <a:lnTo>
                  <a:pt x="6708" y="76"/>
                </a:lnTo>
                <a:lnTo>
                  <a:pt x="7667" y="226"/>
                </a:lnTo>
                <a:lnTo>
                  <a:pt x="8625" y="325"/>
                </a:lnTo>
                <a:lnTo>
                  <a:pt x="9583" y="300"/>
                </a:lnTo>
                <a:lnTo>
                  <a:pt x="10542" y="218"/>
                </a:lnTo>
                <a:lnTo>
                  <a:pt x="11500" y="199"/>
                </a:lnTo>
                <a:lnTo>
                  <a:pt x="12458" y="93"/>
                </a:lnTo>
                <a:lnTo>
                  <a:pt x="13417" y="25"/>
                </a:lnTo>
                <a:lnTo>
                  <a:pt x="14375" y="23"/>
                </a:lnTo>
                <a:lnTo>
                  <a:pt x="15333" y="295"/>
                </a:lnTo>
                <a:lnTo>
                  <a:pt x="16292" y="384"/>
                </a:lnTo>
                <a:lnTo>
                  <a:pt x="17250" y="292"/>
                </a:lnTo>
                <a:lnTo>
                  <a:pt x="18208" y="225"/>
                </a:lnTo>
                <a:lnTo>
                  <a:pt x="19167" y="99"/>
                </a:lnTo>
                <a:lnTo>
                  <a:pt x="20125" y="0"/>
                </a:lnTo>
                <a:lnTo>
                  <a:pt x="21083" y="72"/>
                </a:lnTo>
                <a:lnTo>
                  <a:pt x="22042" y="79"/>
                </a:lnTo>
                <a:lnTo>
                  <a:pt x="23000" y="293"/>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rt: 2 / 2"/>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2 / 2</a:t>
            </a:r>
          </a:p>
        </p:txBody>
      </p:sp>
      <p:sp>
        <p:nvSpPr>
          <p:cNvPr id="11" name="Freeform 10"/>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3" name="page: 29"/>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29</a:t>
            </a:r>
          </a:p>
        </p:txBody>
      </p:sp>
      <p:sp>
        <p:nvSpPr>
          <p:cNvPr id="14" name="Rounded Rectangle 13"/>
          <p:cNvSpPr/>
          <p:nvPr/>
        </p:nvSpPr>
        <p:spPr>
          <a:xfrm>
            <a:off x="640080" y="2441448"/>
            <a:ext cx="6510528" cy="4087368"/>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643829" y="2452055"/>
            <a:ext cx="6506596" cy="4075481"/>
          </a:xfrm>
          <a:custGeom>
            <a:avLst/>
            <a:gdLst/>
            <a:ahLst/>
            <a:cxnLst/>
            <a:rect l="l" t="t" r="r" b="b"/>
            <a:pathLst>
              <a:path w="71157" h="44570">
                <a:moveTo>
                  <a:pt x="71157" y="22324"/>
                </a:moveTo>
                <a:lnTo>
                  <a:pt x="71022" y="29169"/>
                </a:lnTo>
                <a:lnTo>
                  <a:pt x="70910" y="31300"/>
                </a:lnTo>
                <a:lnTo>
                  <a:pt x="70893" y="32888"/>
                </a:lnTo>
                <a:lnTo>
                  <a:pt x="70782" y="34057"/>
                </a:lnTo>
                <a:lnTo>
                  <a:pt x="70459" y="35130"/>
                </a:lnTo>
                <a:lnTo>
                  <a:pt x="70278" y="36176"/>
                </a:lnTo>
                <a:lnTo>
                  <a:pt x="70027" y="37077"/>
                </a:lnTo>
                <a:lnTo>
                  <a:pt x="69785" y="37823"/>
                </a:lnTo>
                <a:lnTo>
                  <a:pt x="69328" y="38497"/>
                </a:lnTo>
                <a:lnTo>
                  <a:pt x="69173" y="39087"/>
                </a:lnTo>
                <a:lnTo>
                  <a:pt x="68675" y="39734"/>
                </a:lnTo>
                <a:lnTo>
                  <a:pt x="68037" y="40264"/>
                </a:lnTo>
                <a:lnTo>
                  <a:pt x="67730" y="40599"/>
                </a:lnTo>
                <a:lnTo>
                  <a:pt x="67020" y="41219"/>
                </a:lnTo>
                <a:lnTo>
                  <a:pt x="66576" y="41593"/>
                </a:lnTo>
                <a:lnTo>
                  <a:pt x="65665" y="41878"/>
                </a:lnTo>
                <a:lnTo>
                  <a:pt x="65006" y="42255"/>
                </a:lnTo>
                <a:lnTo>
                  <a:pt x="64366" y="42726"/>
                </a:lnTo>
                <a:lnTo>
                  <a:pt x="63467" y="42949"/>
                </a:lnTo>
                <a:lnTo>
                  <a:pt x="62443" y="43220"/>
                </a:lnTo>
                <a:lnTo>
                  <a:pt x="61508" y="43451"/>
                </a:lnTo>
                <a:lnTo>
                  <a:pt x="60383" y="43645"/>
                </a:lnTo>
                <a:lnTo>
                  <a:pt x="59159" y="43979"/>
                </a:lnTo>
                <a:lnTo>
                  <a:pt x="57749" y="44067"/>
                </a:lnTo>
                <a:lnTo>
                  <a:pt x="56309" y="44100"/>
                </a:lnTo>
                <a:lnTo>
                  <a:pt x="54510" y="44314"/>
                </a:lnTo>
                <a:lnTo>
                  <a:pt x="52382" y="44459"/>
                </a:lnTo>
                <a:lnTo>
                  <a:pt x="50048" y="44442"/>
                </a:lnTo>
                <a:lnTo>
                  <a:pt x="46378" y="44366"/>
                </a:lnTo>
                <a:lnTo>
                  <a:pt x="35496" y="44570"/>
                </a:lnTo>
                <a:lnTo>
                  <a:pt x="24650" y="44471"/>
                </a:lnTo>
                <a:lnTo>
                  <a:pt x="21095" y="44372"/>
                </a:lnTo>
                <a:lnTo>
                  <a:pt x="18607" y="44431"/>
                </a:lnTo>
                <a:lnTo>
                  <a:pt x="16508" y="44384"/>
                </a:lnTo>
                <a:lnTo>
                  <a:pt x="15009" y="44267"/>
                </a:lnTo>
                <a:lnTo>
                  <a:pt x="13284" y="43918"/>
                </a:lnTo>
                <a:lnTo>
                  <a:pt x="12129" y="43903"/>
                </a:lnTo>
                <a:lnTo>
                  <a:pt x="10817" y="43729"/>
                </a:lnTo>
                <a:lnTo>
                  <a:pt x="9790" y="43469"/>
                </a:lnTo>
                <a:lnTo>
                  <a:pt x="8772" y="43195"/>
                </a:lnTo>
                <a:lnTo>
                  <a:pt x="7652" y="42953"/>
                </a:lnTo>
                <a:lnTo>
                  <a:pt x="6875" y="42734"/>
                </a:lnTo>
                <a:lnTo>
                  <a:pt x="6073" y="42448"/>
                </a:lnTo>
                <a:lnTo>
                  <a:pt x="5244" y="42037"/>
                </a:lnTo>
                <a:lnTo>
                  <a:pt x="4790" y="41576"/>
                </a:lnTo>
                <a:lnTo>
                  <a:pt x="4138" y="41153"/>
                </a:lnTo>
                <a:lnTo>
                  <a:pt x="3612" y="40792"/>
                </a:lnTo>
                <a:lnTo>
                  <a:pt x="2942" y="40239"/>
                </a:lnTo>
                <a:lnTo>
                  <a:pt x="2469" y="39567"/>
                </a:lnTo>
                <a:lnTo>
                  <a:pt x="2060" y="39010"/>
                </a:lnTo>
                <a:lnTo>
                  <a:pt x="1697" y="38491"/>
                </a:lnTo>
                <a:lnTo>
                  <a:pt x="1425" y="37717"/>
                </a:lnTo>
                <a:lnTo>
                  <a:pt x="1106" y="36872"/>
                </a:lnTo>
                <a:lnTo>
                  <a:pt x="849" y="36141"/>
                </a:lnTo>
                <a:lnTo>
                  <a:pt x="528" y="35065"/>
                </a:lnTo>
                <a:lnTo>
                  <a:pt x="334" y="34113"/>
                </a:lnTo>
                <a:lnTo>
                  <a:pt x="243" y="32932"/>
                </a:lnTo>
                <a:lnTo>
                  <a:pt x="33" y="31334"/>
                </a:lnTo>
                <a:lnTo>
                  <a:pt x="0" y="29109"/>
                </a:lnTo>
                <a:lnTo>
                  <a:pt x="72" y="22256"/>
                </a:lnTo>
                <a:lnTo>
                  <a:pt x="127" y="15480"/>
                </a:lnTo>
                <a:lnTo>
                  <a:pt x="248" y="13153"/>
                </a:lnTo>
                <a:lnTo>
                  <a:pt x="273" y="11763"/>
                </a:lnTo>
                <a:lnTo>
                  <a:pt x="344" y="10460"/>
                </a:lnTo>
                <a:lnTo>
                  <a:pt x="483" y="9271"/>
                </a:lnTo>
                <a:lnTo>
                  <a:pt x="886" y="8380"/>
                </a:lnTo>
                <a:lnTo>
                  <a:pt x="1055" y="7516"/>
                </a:lnTo>
                <a:lnTo>
                  <a:pt x="1437" y="6758"/>
                </a:lnTo>
                <a:lnTo>
                  <a:pt x="1640" y="5969"/>
                </a:lnTo>
                <a:lnTo>
                  <a:pt x="2168" y="5420"/>
                </a:lnTo>
                <a:lnTo>
                  <a:pt x="2615" y="4897"/>
                </a:lnTo>
                <a:lnTo>
                  <a:pt x="2929" y="4265"/>
                </a:lnTo>
                <a:lnTo>
                  <a:pt x="3399" y="3816"/>
                </a:lnTo>
                <a:lnTo>
                  <a:pt x="3986" y="3263"/>
                </a:lnTo>
                <a:lnTo>
                  <a:pt x="4692" y="2977"/>
                </a:lnTo>
                <a:lnTo>
                  <a:pt x="5468" y="2548"/>
                </a:lnTo>
                <a:lnTo>
                  <a:pt x="5997" y="2147"/>
                </a:lnTo>
                <a:lnTo>
                  <a:pt x="6760" y="1694"/>
                </a:lnTo>
                <a:lnTo>
                  <a:pt x="7738" y="1552"/>
                </a:lnTo>
                <a:lnTo>
                  <a:pt x="8778" y="1192"/>
                </a:lnTo>
                <a:lnTo>
                  <a:pt x="9659" y="1112"/>
                </a:lnTo>
                <a:lnTo>
                  <a:pt x="10734" y="691"/>
                </a:lnTo>
                <a:lnTo>
                  <a:pt x="12014" y="542"/>
                </a:lnTo>
                <a:lnTo>
                  <a:pt x="13356" y="338"/>
                </a:lnTo>
                <a:lnTo>
                  <a:pt x="14793" y="242"/>
                </a:lnTo>
                <a:lnTo>
                  <a:pt x="16540" y="87"/>
                </a:lnTo>
                <a:lnTo>
                  <a:pt x="18683" y="0"/>
                </a:lnTo>
                <a:lnTo>
                  <a:pt x="21150" y="71"/>
                </a:lnTo>
                <a:lnTo>
                  <a:pt x="24769" y="80"/>
                </a:lnTo>
                <a:lnTo>
                  <a:pt x="35454" y="0"/>
                </a:lnTo>
                <a:lnTo>
                  <a:pt x="46344" y="27"/>
                </a:lnTo>
                <a:lnTo>
                  <a:pt x="49982" y="157"/>
                </a:lnTo>
                <a:lnTo>
                  <a:pt x="52492" y="19"/>
                </a:lnTo>
                <a:lnTo>
                  <a:pt x="54382" y="185"/>
                </a:lnTo>
                <a:lnTo>
                  <a:pt x="56233" y="378"/>
                </a:lnTo>
                <a:lnTo>
                  <a:pt x="57755" y="536"/>
                </a:lnTo>
                <a:lnTo>
                  <a:pt x="59219" y="602"/>
                </a:lnTo>
                <a:lnTo>
                  <a:pt x="60188" y="776"/>
                </a:lnTo>
                <a:lnTo>
                  <a:pt x="61435" y="983"/>
                </a:lnTo>
                <a:lnTo>
                  <a:pt x="62340" y="1285"/>
                </a:lnTo>
                <a:lnTo>
                  <a:pt x="63371" y="1510"/>
                </a:lnTo>
                <a:lnTo>
                  <a:pt x="64281" y="1787"/>
                </a:lnTo>
                <a:lnTo>
                  <a:pt x="64981" y="2099"/>
                </a:lnTo>
                <a:lnTo>
                  <a:pt x="65727" y="2575"/>
                </a:lnTo>
                <a:lnTo>
                  <a:pt x="66417" y="2887"/>
                </a:lnTo>
                <a:lnTo>
                  <a:pt x="67036" y="3260"/>
                </a:lnTo>
                <a:lnTo>
                  <a:pt x="67754" y="3674"/>
                </a:lnTo>
                <a:lnTo>
                  <a:pt x="68141" y="4227"/>
                </a:lnTo>
                <a:lnTo>
                  <a:pt x="68640" y="4691"/>
                </a:lnTo>
                <a:lnTo>
                  <a:pt x="68974" y="5407"/>
                </a:lnTo>
                <a:lnTo>
                  <a:pt x="69372" y="6089"/>
                </a:lnTo>
                <a:lnTo>
                  <a:pt x="69780" y="6812"/>
                </a:lnTo>
                <a:lnTo>
                  <a:pt x="70186" y="7593"/>
                </a:lnTo>
                <a:lnTo>
                  <a:pt x="70423" y="8315"/>
                </a:lnTo>
                <a:lnTo>
                  <a:pt x="70565" y="9172"/>
                </a:lnTo>
                <a:lnTo>
                  <a:pt x="70647" y="10351"/>
                </a:lnTo>
                <a:lnTo>
                  <a:pt x="70990" y="11571"/>
                </a:lnTo>
                <a:lnTo>
                  <a:pt x="70929" y="13204"/>
                </a:lnTo>
                <a:lnTo>
                  <a:pt x="71005" y="15333"/>
                </a:lnTo>
                <a:lnTo>
                  <a:pt x="70918" y="22347"/>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653156" y="2453884"/>
            <a:ext cx="6490411" cy="4068714"/>
          </a:xfrm>
          <a:custGeom>
            <a:avLst/>
            <a:gdLst/>
            <a:ahLst/>
            <a:cxnLst/>
            <a:rect l="l" t="t" r="r" b="b"/>
            <a:pathLst>
              <a:path w="70980" h="44496">
                <a:moveTo>
                  <a:pt x="70844" y="22161"/>
                </a:moveTo>
                <a:lnTo>
                  <a:pt x="70808" y="29139"/>
                </a:lnTo>
                <a:lnTo>
                  <a:pt x="70818" y="31148"/>
                </a:lnTo>
                <a:lnTo>
                  <a:pt x="70633" y="32808"/>
                </a:lnTo>
                <a:lnTo>
                  <a:pt x="70516" y="33979"/>
                </a:lnTo>
                <a:lnTo>
                  <a:pt x="70323" y="35176"/>
                </a:lnTo>
                <a:lnTo>
                  <a:pt x="70107" y="36023"/>
                </a:lnTo>
                <a:lnTo>
                  <a:pt x="70031" y="37069"/>
                </a:lnTo>
                <a:lnTo>
                  <a:pt x="69596" y="37842"/>
                </a:lnTo>
                <a:lnTo>
                  <a:pt x="69264" y="38400"/>
                </a:lnTo>
                <a:lnTo>
                  <a:pt x="68998" y="38969"/>
                </a:lnTo>
                <a:lnTo>
                  <a:pt x="68561" y="39536"/>
                </a:lnTo>
                <a:lnTo>
                  <a:pt x="68009" y="40202"/>
                </a:lnTo>
                <a:lnTo>
                  <a:pt x="67603" y="40672"/>
                </a:lnTo>
                <a:lnTo>
                  <a:pt x="66974" y="41079"/>
                </a:lnTo>
                <a:lnTo>
                  <a:pt x="66344" y="41581"/>
                </a:lnTo>
                <a:lnTo>
                  <a:pt x="65596" y="41900"/>
                </a:lnTo>
                <a:lnTo>
                  <a:pt x="64892" y="42398"/>
                </a:lnTo>
                <a:lnTo>
                  <a:pt x="64209" y="42533"/>
                </a:lnTo>
                <a:lnTo>
                  <a:pt x="63211" y="42881"/>
                </a:lnTo>
                <a:lnTo>
                  <a:pt x="62462" y="43313"/>
                </a:lnTo>
                <a:lnTo>
                  <a:pt x="61212" y="43505"/>
                </a:lnTo>
                <a:lnTo>
                  <a:pt x="60154" y="43625"/>
                </a:lnTo>
                <a:lnTo>
                  <a:pt x="59108" y="43891"/>
                </a:lnTo>
                <a:lnTo>
                  <a:pt x="57727" y="43932"/>
                </a:lnTo>
                <a:lnTo>
                  <a:pt x="56015" y="44174"/>
                </a:lnTo>
                <a:lnTo>
                  <a:pt x="54345" y="44167"/>
                </a:lnTo>
                <a:lnTo>
                  <a:pt x="52426" y="44288"/>
                </a:lnTo>
                <a:lnTo>
                  <a:pt x="49882" y="44496"/>
                </a:lnTo>
                <a:lnTo>
                  <a:pt x="46301" y="44346"/>
                </a:lnTo>
                <a:lnTo>
                  <a:pt x="35463" y="44448"/>
                </a:lnTo>
                <a:lnTo>
                  <a:pt x="24475" y="44490"/>
                </a:lnTo>
                <a:lnTo>
                  <a:pt x="20993" y="44292"/>
                </a:lnTo>
                <a:lnTo>
                  <a:pt x="18502" y="44328"/>
                </a:lnTo>
                <a:lnTo>
                  <a:pt x="16531" y="44142"/>
                </a:lnTo>
                <a:lnTo>
                  <a:pt x="14790" y="44256"/>
                </a:lnTo>
                <a:lnTo>
                  <a:pt x="13306" y="43955"/>
                </a:lnTo>
                <a:lnTo>
                  <a:pt x="11833" y="43954"/>
                </a:lnTo>
                <a:lnTo>
                  <a:pt x="10758" y="43697"/>
                </a:lnTo>
                <a:lnTo>
                  <a:pt x="9700" y="43503"/>
                </a:lnTo>
                <a:lnTo>
                  <a:pt x="8533" y="43258"/>
                </a:lnTo>
                <a:lnTo>
                  <a:pt x="7717" y="42846"/>
                </a:lnTo>
                <a:lnTo>
                  <a:pt x="6711" y="42635"/>
                </a:lnTo>
                <a:lnTo>
                  <a:pt x="5901" y="42384"/>
                </a:lnTo>
                <a:lnTo>
                  <a:pt x="5209" y="42011"/>
                </a:lnTo>
                <a:lnTo>
                  <a:pt x="4522" y="41562"/>
                </a:lnTo>
                <a:lnTo>
                  <a:pt x="3827" y="41146"/>
                </a:lnTo>
                <a:lnTo>
                  <a:pt x="3444" y="40777"/>
                </a:lnTo>
                <a:lnTo>
                  <a:pt x="2979" y="40252"/>
                </a:lnTo>
                <a:lnTo>
                  <a:pt x="2503" y="39759"/>
                </a:lnTo>
                <a:lnTo>
                  <a:pt x="2036" y="39003"/>
                </a:lnTo>
                <a:lnTo>
                  <a:pt x="1529" y="38333"/>
                </a:lnTo>
                <a:lnTo>
                  <a:pt x="1253" y="37696"/>
                </a:lnTo>
                <a:lnTo>
                  <a:pt x="970" y="36891"/>
                </a:lnTo>
                <a:lnTo>
                  <a:pt x="808" y="36156"/>
                </a:lnTo>
                <a:lnTo>
                  <a:pt x="581" y="35136"/>
                </a:lnTo>
                <a:lnTo>
                  <a:pt x="265" y="34093"/>
                </a:lnTo>
                <a:lnTo>
                  <a:pt x="52" y="32867"/>
                </a:lnTo>
                <a:lnTo>
                  <a:pt x="121" y="31295"/>
                </a:lnTo>
                <a:lnTo>
                  <a:pt x="41" y="29091"/>
                </a:lnTo>
                <a:lnTo>
                  <a:pt x="92" y="22318"/>
                </a:lnTo>
                <a:lnTo>
                  <a:pt x="46" y="15303"/>
                </a:lnTo>
                <a:lnTo>
                  <a:pt x="0" y="13161"/>
                </a:lnTo>
                <a:lnTo>
                  <a:pt x="236" y="11712"/>
                </a:lnTo>
                <a:lnTo>
                  <a:pt x="418" y="10437"/>
                </a:lnTo>
                <a:lnTo>
                  <a:pt x="478" y="9216"/>
                </a:lnTo>
                <a:lnTo>
                  <a:pt x="583" y="8200"/>
                </a:lnTo>
                <a:lnTo>
                  <a:pt x="1002" y="7469"/>
                </a:lnTo>
                <a:lnTo>
                  <a:pt x="1108" y="6659"/>
                </a:lnTo>
                <a:lnTo>
                  <a:pt x="1575" y="5929"/>
                </a:lnTo>
                <a:lnTo>
                  <a:pt x="1891" y="5300"/>
                </a:lnTo>
                <a:lnTo>
                  <a:pt x="2267" y="4846"/>
                </a:lnTo>
                <a:lnTo>
                  <a:pt x="2916" y="4157"/>
                </a:lnTo>
                <a:lnTo>
                  <a:pt x="3395" y="3725"/>
                </a:lnTo>
                <a:lnTo>
                  <a:pt x="3909" y="3382"/>
                </a:lnTo>
                <a:lnTo>
                  <a:pt x="4456" y="2801"/>
                </a:lnTo>
                <a:lnTo>
                  <a:pt x="5359" y="2548"/>
                </a:lnTo>
                <a:lnTo>
                  <a:pt x="6104" y="2160"/>
                </a:lnTo>
                <a:lnTo>
                  <a:pt x="6790" y="1831"/>
                </a:lnTo>
                <a:lnTo>
                  <a:pt x="7503" y="1480"/>
                </a:lnTo>
                <a:lnTo>
                  <a:pt x="8568" y="1201"/>
                </a:lnTo>
                <a:lnTo>
                  <a:pt x="9587" y="1060"/>
                </a:lnTo>
                <a:lnTo>
                  <a:pt x="10678" y="723"/>
                </a:lnTo>
                <a:lnTo>
                  <a:pt x="11986" y="686"/>
                </a:lnTo>
                <a:lnTo>
                  <a:pt x="13346" y="498"/>
                </a:lnTo>
                <a:lnTo>
                  <a:pt x="14860" y="172"/>
                </a:lnTo>
                <a:lnTo>
                  <a:pt x="16560" y="160"/>
                </a:lnTo>
                <a:lnTo>
                  <a:pt x="18468" y="85"/>
                </a:lnTo>
                <a:lnTo>
                  <a:pt x="21016" y="54"/>
                </a:lnTo>
                <a:lnTo>
                  <a:pt x="24497" y="114"/>
                </a:lnTo>
                <a:lnTo>
                  <a:pt x="35586" y="24"/>
                </a:lnTo>
                <a:lnTo>
                  <a:pt x="46352" y="28"/>
                </a:lnTo>
                <a:lnTo>
                  <a:pt x="49915" y="108"/>
                </a:lnTo>
                <a:lnTo>
                  <a:pt x="52232" y="0"/>
                </a:lnTo>
                <a:lnTo>
                  <a:pt x="54323" y="85"/>
                </a:lnTo>
                <a:lnTo>
                  <a:pt x="56197" y="297"/>
                </a:lnTo>
                <a:lnTo>
                  <a:pt x="57651" y="316"/>
                </a:lnTo>
                <a:lnTo>
                  <a:pt x="58892" y="689"/>
                </a:lnTo>
                <a:lnTo>
                  <a:pt x="60245" y="759"/>
                </a:lnTo>
                <a:lnTo>
                  <a:pt x="61258" y="899"/>
                </a:lnTo>
                <a:lnTo>
                  <a:pt x="62235" y="1177"/>
                </a:lnTo>
                <a:lnTo>
                  <a:pt x="63218" y="1547"/>
                </a:lnTo>
                <a:lnTo>
                  <a:pt x="64202" y="1681"/>
                </a:lnTo>
                <a:lnTo>
                  <a:pt x="65029" y="2053"/>
                </a:lnTo>
                <a:lnTo>
                  <a:pt x="65771" y="2416"/>
                </a:lnTo>
                <a:lnTo>
                  <a:pt x="66220" y="2759"/>
                </a:lnTo>
                <a:lnTo>
                  <a:pt x="67071" y="3337"/>
                </a:lnTo>
                <a:lnTo>
                  <a:pt x="67554" y="3706"/>
                </a:lnTo>
                <a:lnTo>
                  <a:pt x="67981" y="4347"/>
                </a:lnTo>
                <a:lnTo>
                  <a:pt x="68442" y="4850"/>
                </a:lnTo>
                <a:lnTo>
                  <a:pt x="68862" y="5390"/>
                </a:lnTo>
                <a:lnTo>
                  <a:pt x="69327" y="6064"/>
                </a:lnTo>
                <a:lnTo>
                  <a:pt x="69556" y="6629"/>
                </a:lnTo>
                <a:lnTo>
                  <a:pt x="70022" y="7426"/>
                </a:lnTo>
                <a:lnTo>
                  <a:pt x="70258" y="8270"/>
                </a:lnTo>
                <a:lnTo>
                  <a:pt x="70460" y="9380"/>
                </a:lnTo>
                <a:lnTo>
                  <a:pt x="70528" y="10411"/>
                </a:lnTo>
                <a:lnTo>
                  <a:pt x="70664" y="11716"/>
                </a:lnTo>
                <a:lnTo>
                  <a:pt x="70980" y="13191"/>
                </a:lnTo>
                <a:lnTo>
                  <a:pt x="70831" y="15428"/>
                </a:lnTo>
                <a:lnTo>
                  <a:pt x="70893" y="22260"/>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7024421" y="5569610"/>
            <a:ext cx="86685" cy="333939"/>
          </a:xfrm>
          <a:custGeom>
            <a:avLst/>
            <a:gdLst/>
            <a:ahLst/>
            <a:cxnLst/>
            <a:rect l="l" t="t" r="r" b="b"/>
            <a:pathLst>
              <a:path w="948" h="3652">
                <a:moveTo>
                  <a:pt x="948" y="0"/>
                </a:moveTo>
                <a:lnTo>
                  <a:pt x="771" y="1086"/>
                </a:lnTo>
                <a:lnTo>
                  <a:pt x="555" y="2037"/>
                </a:lnTo>
                <a:lnTo>
                  <a:pt x="298" y="2886"/>
                </a:lnTo>
                <a:lnTo>
                  <a:pt x="0" y="365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47384" y="6379677"/>
            <a:ext cx="392186" cy="83028"/>
          </a:xfrm>
          <a:custGeom>
            <a:avLst/>
            <a:gdLst/>
            <a:ahLst/>
            <a:cxnLst/>
            <a:rect l="l" t="t" r="r" b="b"/>
            <a:pathLst>
              <a:path w="4289" h="908">
                <a:moveTo>
                  <a:pt x="4289" y="0"/>
                </a:moveTo>
                <a:lnTo>
                  <a:pt x="3354" y="268"/>
                </a:lnTo>
                <a:lnTo>
                  <a:pt x="2335" y="508"/>
                </a:lnTo>
                <a:lnTo>
                  <a:pt x="1223" y="721"/>
                </a:lnTo>
                <a:lnTo>
                  <a:pt x="0" y="908"/>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631472" y="6445606"/>
            <a:ext cx="533004" cy="54315"/>
          </a:xfrm>
          <a:custGeom>
            <a:avLst/>
            <a:gdLst/>
            <a:ahLst/>
            <a:cxnLst/>
            <a:rect l="l" t="t" r="r" b="b"/>
            <a:pathLst>
              <a:path w="5829" h="594">
                <a:moveTo>
                  <a:pt x="5829" y="594"/>
                </a:moveTo>
                <a:lnTo>
                  <a:pt x="4096" y="484"/>
                </a:lnTo>
                <a:lnTo>
                  <a:pt x="2577" y="348"/>
                </a:lnTo>
                <a:lnTo>
                  <a:pt x="1223" y="187"/>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739018" y="5833506"/>
            <a:ext cx="132497" cy="245699"/>
          </a:xfrm>
          <a:custGeom>
            <a:avLst/>
            <a:gdLst/>
            <a:ahLst/>
            <a:cxnLst/>
            <a:rect l="l" t="t" r="r" b="b"/>
            <a:pathLst>
              <a:path w="1449" h="2687">
                <a:moveTo>
                  <a:pt x="1449" y="2687"/>
                </a:moveTo>
                <a:lnTo>
                  <a:pt x="1022" y="2101"/>
                </a:lnTo>
                <a:lnTo>
                  <a:pt x="639" y="1463"/>
                </a:lnTo>
                <a:lnTo>
                  <a:pt x="298" y="766"/>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679582" y="3066715"/>
            <a:ext cx="86685" cy="333939"/>
          </a:xfrm>
          <a:custGeom>
            <a:avLst/>
            <a:gdLst/>
            <a:ahLst/>
            <a:cxnLst/>
            <a:rect l="l" t="t" r="r" b="b"/>
            <a:pathLst>
              <a:path w="948" h="3652">
                <a:moveTo>
                  <a:pt x="0" y="3652"/>
                </a:moveTo>
                <a:lnTo>
                  <a:pt x="177" y="2566"/>
                </a:lnTo>
                <a:lnTo>
                  <a:pt x="393" y="1615"/>
                </a:lnTo>
                <a:lnTo>
                  <a:pt x="650" y="766"/>
                </a:lnTo>
                <a:lnTo>
                  <a:pt x="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1351117" y="2507559"/>
            <a:ext cx="392186" cy="83028"/>
          </a:xfrm>
          <a:custGeom>
            <a:avLst/>
            <a:gdLst/>
            <a:ahLst/>
            <a:cxnLst/>
            <a:rect l="l" t="t" r="r" b="b"/>
            <a:pathLst>
              <a:path w="4289" h="908">
                <a:moveTo>
                  <a:pt x="0" y="908"/>
                </a:moveTo>
                <a:lnTo>
                  <a:pt x="935" y="640"/>
                </a:lnTo>
                <a:lnTo>
                  <a:pt x="1954" y="400"/>
                </a:lnTo>
                <a:lnTo>
                  <a:pt x="3066" y="187"/>
                </a:lnTo>
                <a:lnTo>
                  <a:pt x="4289"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626212" y="2470343"/>
            <a:ext cx="533004" cy="54315"/>
          </a:xfrm>
          <a:custGeom>
            <a:avLst/>
            <a:gdLst/>
            <a:ahLst/>
            <a:cxnLst/>
            <a:rect l="l" t="t" r="r" b="b"/>
            <a:pathLst>
              <a:path w="5829" h="594">
                <a:moveTo>
                  <a:pt x="0" y="0"/>
                </a:moveTo>
                <a:lnTo>
                  <a:pt x="1733" y="110"/>
                </a:lnTo>
                <a:lnTo>
                  <a:pt x="3252" y="246"/>
                </a:lnTo>
                <a:lnTo>
                  <a:pt x="4606" y="407"/>
                </a:lnTo>
                <a:lnTo>
                  <a:pt x="5829" y="59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919173" y="2891058"/>
            <a:ext cx="132497" cy="245699"/>
          </a:xfrm>
          <a:custGeom>
            <a:avLst/>
            <a:gdLst/>
            <a:ahLst/>
            <a:cxnLst/>
            <a:rect l="l" t="t" r="r" b="b"/>
            <a:pathLst>
              <a:path w="1449" h="2687">
                <a:moveTo>
                  <a:pt x="0" y="0"/>
                </a:moveTo>
                <a:lnTo>
                  <a:pt x="427" y="586"/>
                </a:lnTo>
                <a:lnTo>
                  <a:pt x="810" y="1224"/>
                </a:lnTo>
                <a:lnTo>
                  <a:pt x="1151" y="1921"/>
                </a:lnTo>
                <a:lnTo>
                  <a:pt x="1449" y="268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Endpoints and success"/>
          <p:cNvSpPr txBox="1"/>
          <p:nvPr/>
        </p:nvSpPr>
        <p:spPr>
          <a:xfrm>
            <a:off x="996695" y="2719578"/>
            <a:ext cx="5797296"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Endpoints and success</a:t>
            </a:r>
          </a:p>
        </p:txBody>
      </p:sp>
      <p:sp>
        <p:nvSpPr>
          <p:cNvPr id="26" name="Oval 25"/>
          <p:cNvSpPr/>
          <p:nvPr/>
        </p:nvSpPr>
        <p:spPr>
          <a:xfrm>
            <a:off x="909828" y="407669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ΔR = R(B4) − R(B3) and ΔU, paired by task lineage, plus refusals"/>
          <p:cNvSpPr txBox="1"/>
          <p:nvPr/>
        </p:nvSpPr>
        <p:spPr>
          <a:xfrm>
            <a:off x="1143000" y="3976115"/>
            <a:ext cx="5751576" cy="842772"/>
          </a:xfrm>
          <a:prstGeom prst="rect">
            <a:avLst/>
          </a:prstGeom>
          <a:noFill/>
        </p:spPr>
        <p:txBody>
          <a:bodyPr wrap="none" lIns="0" rIns="0" tIns="0" bIns="0" anchor="t">
            <a:noAutofit/>
          </a:bodyPr>
          <a:lstStyle/>
          <a:p>
            <a:pPr algn="l">
              <a:lnSpc>
                <a:spcPts val="3048"/>
              </a:lnSpc>
              <a:spcBef>
                <a:spcPts val="0"/>
              </a:spcBef>
              <a:spcAft>
                <a:spcPts val="0"/>
              </a:spcAft>
            </a:pPr>
            <a:r>
              <a:rPr sz="2400" b="0">
                <a:solidFill>
                  <a:srgbClr val="293E46"/>
                </a:solidFill>
                <a:latin typeface="Trebuchet MS"/>
              </a:rPr>
              <a:t>ΔR = R(B4) − R(B3) and ΔU, paired by</a:t>
            </a:r>
            <a:br/>
            <a:r>
              <a:rPr sz="2400" b="0">
                <a:solidFill>
                  <a:srgbClr val="293E46"/>
                </a:solidFill>
                <a:latin typeface="Trebuchet MS"/>
              </a:rPr>
              <a:t>task lineage, plus refusals and cost</a:t>
            </a:r>
          </a:p>
        </p:txBody>
      </p:sp>
      <p:sp>
        <p:nvSpPr>
          <p:cNvPr id="28" name="Oval 27"/>
          <p:cNvSpPr/>
          <p:nvPr/>
        </p:nvSpPr>
        <p:spPr>
          <a:xfrm>
            <a:off x="909828" y="503834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Success: fewer verified incidents at comparable utility on untou"/>
          <p:cNvSpPr txBox="1"/>
          <p:nvPr/>
        </p:nvSpPr>
        <p:spPr>
          <a:xfrm>
            <a:off x="1143000" y="4937759"/>
            <a:ext cx="5751576" cy="842772"/>
          </a:xfrm>
          <a:prstGeom prst="rect">
            <a:avLst/>
          </a:prstGeom>
          <a:noFill/>
        </p:spPr>
        <p:txBody>
          <a:bodyPr wrap="none" lIns="0" rIns="0" tIns="0" bIns="0" anchor="t">
            <a:noAutofit/>
          </a:bodyPr>
          <a:lstStyle/>
          <a:p>
            <a:pPr algn="l">
              <a:lnSpc>
                <a:spcPts val="3048"/>
              </a:lnSpc>
              <a:spcBef>
                <a:spcPts val="0"/>
              </a:spcBef>
              <a:spcAft>
                <a:spcPts val="0"/>
              </a:spcAft>
            </a:pPr>
            <a:r>
              <a:rPr sz="2400" b="0">
                <a:solidFill>
                  <a:srgbClr val="293E46"/>
                </a:solidFill>
                <a:latin typeface="Trebuchet MS"/>
              </a:rPr>
              <a:t>Success: fewer verified incidents at</a:t>
            </a:r>
            <a:br/>
            <a:r>
              <a:rPr sz="2400" b="0">
                <a:solidFill>
                  <a:srgbClr val="293E46"/>
                </a:solidFill>
                <a:latin typeface="Trebuchet MS"/>
              </a:rPr>
              <a:t>comparable utility on untouched data</a:t>
            </a:r>
          </a:p>
        </p:txBody>
      </p:sp>
      <p:sp>
        <p:nvSpPr>
          <p:cNvPr id="30" name="Rounded Rectangle 29"/>
          <p:cNvSpPr/>
          <p:nvPr/>
        </p:nvSpPr>
        <p:spPr>
          <a:xfrm>
            <a:off x="7479792" y="2441448"/>
            <a:ext cx="6510528" cy="4087368"/>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7482078" y="2442088"/>
            <a:ext cx="6500104" cy="4084716"/>
          </a:xfrm>
          <a:custGeom>
            <a:avLst/>
            <a:gdLst/>
            <a:ahLst/>
            <a:cxnLst/>
            <a:rect l="l" t="t" r="r" b="b"/>
            <a:pathLst>
              <a:path w="71086" h="44671">
                <a:moveTo>
                  <a:pt x="70932" y="22426"/>
                </a:moveTo>
                <a:lnTo>
                  <a:pt x="71012" y="29066"/>
                </a:lnTo>
                <a:lnTo>
                  <a:pt x="71017" y="31374"/>
                </a:lnTo>
                <a:lnTo>
                  <a:pt x="70870" y="32922"/>
                </a:lnTo>
                <a:lnTo>
                  <a:pt x="70840" y="34158"/>
                </a:lnTo>
                <a:lnTo>
                  <a:pt x="70534" y="35281"/>
                </a:lnTo>
                <a:lnTo>
                  <a:pt x="70253" y="36285"/>
                </a:lnTo>
                <a:lnTo>
                  <a:pt x="70055" y="36979"/>
                </a:lnTo>
                <a:lnTo>
                  <a:pt x="69874" y="37763"/>
                </a:lnTo>
                <a:lnTo>
                  <a:pt x="69542" y="38590"/>
                </a:lnTo>
                <a:lnTo>
                  <a:pt x="69026" y="39231"/>
                </a:lnTo>
                <a:lnTo>
                  <a:pt x="68594" y="39778"/>
                </a:lnTo>
                <a:lnTo>
                  <a:pt x="68088" y="40269"/>
                </a:lnTo>
                <a:lnTo>
                  <a:pt x="67554" y="40911"/>
                </a:lnTo>
                <a:lnTo>
                  <a:pt x="66991" y="41235"/>
                </a:lnTo>
                <a:lnTo>
                  <a:pt x="66430" y="41608"/>
                </a:lnTo>
                <a:lnTo>
                  <a:pt x="65908" y="42194"/>
                </a:lnTo>
                <a:lnTo>
                  <a:pt x="64991" y="42325"/>
                </a:lnTo>
                <a:lnTo>
                  <a:pt x="64271" y="42714"/>
                </a:lnTo>
                <a:lnTo>
                  <a:pt x="63385" y="43041"/>
                </a:lnTo>
                <a:lnTo>
                  <a:pt x="62448" y="43283"/>
                </a:lnTo>
                <a:lnTo>
                  <a:pt x="61547" y="43469"/>
                </a:lnTo>
                <a:lnTo>
                  <a:pt x="60402" y="43804"/>
                </a:lnTo>
                <a:lnTo>
                  <a:pt x="59123" y="43875"/>
                </a:lnTo>
                <a:lnTo>
                  <a:pt x="57811" y="44147"/>
                </a:lnTo>
                <a:lnTo>
                  <a:pt x="56291" y="44348"/>
                </a:lnTo>
                <a:lnTo>
                  <a:pt x="54411" y="44419"/>
                </a:lnTo>
                <a:lnTo>
                  <a:pt x="52529" y="44410"/>
                </a:lnTo>
                <a:lnTo>
                  <a:pt x="49843" y="44635"/>
                </a:lnTo>
                <a:lnTo>
                  <a:pt x="46607" y="44670"/>
                </a:lnTo>
                <a:lnTo>
                  <a:pt x="35602" y="44671"/>
                </a:lnTo>
                <a:lnTo>
                  <a:pt x="24709" y="44617"/>
                </a:lnTo>
                <a:lnTo>
                  <a:pt x="21105" y="44606"/>
                </a:lnTo>
                <a:lnTo>
                  <a:pt x="18710" y="44445"/>
                </a:lnTo>
                <a:lnTo>
                  <a:pt x="16562" y="44272"/>
                </a:lnTo>
                <a:lnTo>
                  <a:pt x="15026" y="44316"/>
                </a:lnTo>
                <a:lnTo>
                  <a:pt x="13520" y="44124"/>
                </a:lnTo>
                <a:lnTo>
                  <a:pt x="12166" y="43955"/>
                </a:lnTo>
                <a:lnTo>
                  <a:pt x="10735" y="43861"/>
                </a:lnTo>
                <a:lnTo>
                  <a:pt x="9759" y="43622"/>
                </a:lnTo>
                <a:lnTo>
                  <a:pt x="8666" y="43360"/>
                </a:lnTo>
                <a:lnTo>
                  <a:pt x="7777" y="43037"/>
                </a:lnTo>
                <a:lnTo>
                  <a:pt x="6870" y="42741"/>
                </a:lnTo>
                <a:lnTo>
                  <a:pt x="6204" y="42461"/>
                </a:lnTo>
                <a:lnTo>
                  <a:pt x="5372" y="41978"/>
                </a:lnTo>
                <a:lnTo>
                  <a:pt x="4645" y="41800"/>
                </a:lnTo>
                <a:lnTo>
                  <a:pt x="4179" y="41218"/>
                </a:lnTo>
                <a:lnTo>
                  <a:pt x="3393" y="40862"/>
                </a:lnTo>
                <a:lnTo>
                  <a:pt x="2876" y="40406"/>
                </a:lnTo>
                <a:lnTo>
                  <a:pt x="2454" y="39754"/>
                </a:lnTo>
                <a:lnTo>
                  <a:pt x="2189" y="39191"/>
                </a:lnTo>
                <a:lnTo>
                  <a:pt x="1582" y="38612"/>
                </a:lnTo>
                <a:lnTo>
                  <a:pt x="1454" y="37835"/>
                </a:lnTo>
                <a:lnTo>
                  <a:pt x="1015" y="36971"/>
                </a:lnTo>
                <a:lnTo>
                  <a:pt x="921" y="36177"/>
                </a:lnTo>
                <a:lnTo>
                  <a:pt x="600" y="35313"/>
                </a:lnTo>
                <a:lnTo>
                  <a:pt x="345" y="34206"/>
                </a:lnTo>
                <a:lnTo>
                  <a:pt x="164" y="32818"/>
                </a:lnTo>
                <a:lnTo>
                  <a:pt x="113" y="31397"/>
                </a:lnTo>
                <a:lnTo>
                  <a:pt x="0" y="29250"/>
                </a:lnTo>
                <a:lnTo>
                  <a:pt x="12" y="22402"/>
                </a:lnTo>
                <a:lnTo>
                  <a:pt x="15" y="15395"/>
                </a:lnTo>
                <a:lnTo>
                  <a:pt x="164" y="13300"/>
                </a:lnTo>
                <a:lnTo>
                  <a:pt x="174" y="11777"/>
                </a:lnTo>
                <a:lnTo>
                  <a:pt x="500" y="10537"/>
                </a:lnTo>
                <a:lnTo>
                  <a:pt x="699" y="9497"/>
                </a:lnTo>
                <a:lnTo>
                  <a:pt x="899" y="8441"/>
                </a:lnTo>
                <a:lnTo>
                  <a:pt x="1141" y="7565"/>
                </a:lnTo>
                <a:lnTo>
                  <a:pt x="1364" y="6750"/>
                </a:lnTo>
                <a:lnTo>
                  <a:pt x="1771" y="6072"/>
                </a:lnTo>
                <a:lnTo>
                  <a:pt x="2114" y="5463"/>
                </a:lnTo>
                <a:lnTo>
                  <a:pt x="2574" y="4914"/>
                </a:lnTo>
                <a:lnTo>
                  <a:pt x="2855" y="4335"/>
                </a:lnTo>
                <a:lnTo>
                  <a:pt x="3464" y="3770"/>
                </a:lnTo>
                <a:lnTo>
                  <a:pt x="4155" y="3516"/>
                </a:lnTo>
                <a:lnTo>
                  <a:pt x="4692" y="3019"/>
                </a:lnTo>
                <a:lnTo>
                  <a:pt x="5449" y="2518"/>
                </a:lnTo>
                <a:lnTo>
                  <a:pt x="6009" y="2176"/>
                </a:lnTo>
                <a:lnTo>
                  <a:pt x="6821" y="1817"/>
                </a:lnTo>
                <a:lnTo>
                  <a:pt x="7669" y="1674"/>
                </a:lnTo>
                <a:lnTo>
                  <a:pt x="8583" y="1305"/>
                </a:lnTo>
                <a:lnTo>
                  <a:pt x="9818" y="1200"/>
                </a:lnTo>
                <a:lnTo>
                  <a:pt x="10922" y="1015"/>
                </a:lnTo>
                <a:lnTo>
                  <a:pt x="12007" y="709"/>
                </a:lnTo>
                <a:lnTo>
                  <a:pt x="13314" y="665"/>
                </a:lnTo>
                <a:lnTo>
                  <a:pt x="14907" y="398"/>
                </a:lnTo>
                <a:lnTo>
                  <a:pt x="16532" y="307"/>
                </a:lnTo>
                <a:lnTo>
                  <a:pt x="18664" y="224"/>
                </a:lnTo>
                <a:lnTo>
                  <a:pt x="21246" y="105"/>
                </a:lnTo>
                <a:lnTo>
                  <a:pt x="24647" y="68"/>
                </a:lnTo>
                <a:lnTo>
                  <a:pt x="35471" y="0"/>
                </a:lnTo>
                <a:lnTo>
                  <a:pt x="46361" y="109"/>
                </a:lnTo>
                <a:lnTo>
                  <a:pt x="49865" y="199"/>
                </a:lnTo>
                <a:lnTo>
                  <a:pt x="52415" y="280"/>
                </a:lnTo>
                <a:lnTo>
                  <a:pt x="54378" y="391"/>
                </a:lnTo>
                <a:lnTo>
                  <a:pt x="56168" y="422"/>
                </a:lnTo>
                <a:lnTo>
                  <a:pt x="57652" y="616"/>
                </a:lnTo>
                <a:lnTo>
                  <a:pt x="59207" y="745"/>
                </a:lnTo>
                <a:lnTo>
                  <a:pt x="60227" y="814"/>
                </a:lnTo>
                <a:lnTo>
                  <a:pt x="61447" y="1095"/>
                </a:lnTo>
                <a:lnTo>
                  <a:pt x="62410" y="1371"/>
                </a:lnTo>
                <a:lnTo>
                  <a:pt x="63503" y="1553"/>
                </a:lnTo>
                <a:lnTo>
                  <a:pt x="64259" y="2039"/>
                </a:lnTo>
                <a:lnTo>
                  <a:pt x="64985" y="2128"/>
                </a:lnTo>
                <a:lnTo>
                  <a:pt x="65684" y="2618"/>
                </a:lnTo>
                <a:lnTo>
                  <a:pt x="66411" y="3074"/>
                </a:lnTo>
                <a:lnTo>
                  <a:pt x="67076" y="3430"/>
                </a:lnTo>
                <a:lnTo>
                  <a:pt x="67588" y="3858"/>
                </a:lnTo>
                <a:lnTo>
                  <a:pt x="68207" y="4419"/>
                </a:lnTo>
                <a:lnTo>
                  <a:pt x="68681" y="4853"/>
                </a:lnTo>
                <a:lnTo>
                  <a:pt x="68997" y="5412"/>
                </a:lnTo>
                <a:lnTo>
                  <a:pt x="69457" y="6053"/>
                </a:lnTo>
                <a:lnTo>
                  <a:pt x="69682" y="6887"/>
                </a:lnTo>
                <a:lnTo>
                  <a:pt x="70113" y="7677"/>
                </a:lnTo>
                <a:lnTo>
                  <a:pt x="70313" y="8494"/>
                </a:lnTo>
                <a:lnTo>
                  <a:pt x="70547" y="9431"/>
                </a:lnTo>
                <a:lnTo>
                  <a:pt x="70800" y="10491"/>
                </a:lnTo>
                <a:lnTo>
                  <a:pt x="70892" y="11675"/>
                </a:lnTo>
                <a:lnTo>
                  <a:pt x="71081" y="13430"/>
                </a:lnTo>
                <a:lnTo>
                  <a:pt x="71086" y="15556"/>
                </a:lnTo>
                <a:lnTo>
                  <a:pt x="70955" y="22242"/>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7494057" y="2442271"/>
            <a:ext cx="6492240" cy="4083528"/>
          </a:xfrm>
          <a:custGeom>
            <a:avLst/>
            <a:gdLst/>
            <a:ahLst/>
            <a:cxnLst/>
            <a:rect l="l" t="t" r="r" b="b"/>
            <a:pathLst>
              <a:path w="71000" h="44658">
                <a:moveTo>
                  <a:pt x="70913" y="22397"/>
                </a:moveTo>
                <a:lnTo>
                  <a:pt x="70941" y="29210"/>
                </a:lnTo>
                <a:lnTo>
                  <a:pt x="70907" y="31418"/>
                </a:lnTo>
                <a:lnTo>
                  <a:pt x="70634" y="32987"/>
                </a:lnTo>
                <a:lnTo>
                  <a:pt x="70607" y="34106"/>
                </a:lnTo>
                <a:lnTo>
                  <a:pt x="70425" y="35259"/>
                </a:lnTo>
                <a:lnTo>
                  <a:pt x="70140" y="36147"/>
                </a:lnTo>
                <a:lnTo>
                  <a:pt x="70067" y="37076"/>
                </a:lnTo>
                <a:lnTo>
                  <a:pt x="69637" y="37890"/>
                </a:lnTo>
                <a:lnTo>
                  <a:pt x="69443" y="38458"/>
                </a:lnTo>
                <a:lnTo>
                  <a:pt x="68843" y="39288"/>
                </a:lnTo>
                <a:lnTo>
                  <a:pt x="68594" y="39676"/>
                </a:lnTo>
                <a:lnTo>
                  <a:pt x="68039" y="40211"/>
                </a:lnTo>
                <a:lnTo>
                  <a:pt x="67526" y="40732"/>
                </a:lnTo>
                <a:lnTo>
                  <a:pt x="66974" y="41226"/>
                </a:lnTo>
                <a:lnTo>
                  <a:pt x="66411" y="41675"/>
                </a:lnTo>
                <a:lnTo>
                  <a:pt x="65754" y="42007"/>
                </a:lnTo>
                <a:lnTo>
                  <a:pt x="64830" y="42516"/>
                </a:lnTo>
                <a:lnTo>
                  <a:pt x="64230" y="42782"/>
                </a:lnTo>
                <a:lnTo>
                  <a:pt x="63327" y="43027"/>
                </a:lnTo>
                <a:lnTo>
                  <a:pt x="62270" y="43355"/>
                </a:lnTo>
                <a:lnTo>
                  <a:pt x="61334" y="43532"/>
                </a:lnTo>
                <a:lnTo>
                  <a:pt x="60252" y="43842"/>
                </a:lnTo>
                <a:lnTo>
                  <a:pt x="58962" y="43856"/>
                </a:lnTo>
                <a:lnTo>
                  <a:pt x="57626" y="44045"/>
                </a:lnTo>
                <a:lnTo>
                  <a:pt x="56225" y="44307"/>
                </a:lnTo>
                <a:lnTo>
                  <a:pt x="54305" y="44362"/>
                </a:lnTo>
                <a:lnTo>
                  <a:pt x="52408" y="44416"/>
                </a:lnTo>
                <a:lnTo>
                  <a:pt x="49910" y="44522"/>
                </a:lnTo>
                <a:lnTo>
                  <a:pt x="46449" y="44575"/>
                </a:lnTo>
                <a:lnTo>
                  <a:pt x="35466" y="44658"/>
                </a:lnTo>
                <a:lnTo>
                  <a:pt x="24668" y="44500"/>
                </a:lnTo>
                <a:lnTo>
                  <a:pt x="21144" y="44428"/>
                </a:lnTo>
                <a:lnTo>
                  <a:pt x="18505" y="44580"/>
                </a:lnTo>
                <a:lnTo>
                  <a:pt x="16436" y="44264"/>
                </a:lnTo>
                <a:lnTo>
                  <a:pt x="14683" y="44193"/>
                </a:lnTo>
                <a:lnTo>
                  <a:pt x="13218" y="44053"/>
                </a:lnTo>
                <a:lnTo>
                  <a:pt x="12014" y="44014"/>
                </a:lnTo>
                <a:lnTo>
                  <a:pt x="10739" y="43865"/>
                </a:lnTo>
                <a:lnTo>
                  <a:pt x="9699" y="43486"/>
                </a:lnTo>
                <a:lnTo>
                  <a:pt x="8617" y="43432"/>
                </a:lnTo>
                <a:lnTo>
                  <a:pt x="7636" y="43065"/>
                </a:lnTo>
                <a:lnTo>
                  <a:pt x="6729" y="42749"/>
                </a:lnTo>
                <a:lnTo>
                  <a:pt x="5842" y="42482"/>
                </a:lnTo>
                <a:lnTo>
                  <a:pt x="5332" y="41967"/>
                </a:lnTo>
                <a:lnTo>
                  <a:pt x="4485" y="41810"/>
                </a:lnTo>
                <a:lnTo>
                  <a:pt x="4013" y="41386"/>
                </a:lnTo>
                <a:lnTo>
                  <a:pt x="3384" y="40821"/>
                </a:lnTo>
                <a:lnTo>
                  <a:pt x="2837" y="40380"/>
                </a:lnTo>
                <a:lnTo>
                  <a:pt x="2307" y="39769"/>
                </a:lnTo>
                <a:lnTo>
                  <a:pt x="1860" y="39093"/>
                </a:lnTo>
                <a:lnTo>
                  <a:pt x="1691" y="38476"/>
                </a:lnTo>
                <a:lnTo>
                  <a:pt x="1318" y="37842"/>
                </a:lnTo>
                <a:lnTo>
                  <a:pt x="887" y="36999"/>
                </a:lnTo>
                <a:lnTo>
                  <a:pt x="604" y="36210"/>
                </a:lnTo>
                <a:lnTo>
                  <a:pt x="503" y="35207"/>
                </a:lnTo>
                <a:lnTo>
                  <a:pt x="392" y="34164"/>
                </a:lnTo>
                <a:lnTo>
                  <a:pt x="145" y="32925"/>
                </a:lnTo>
                <a:lnTo>
                  <a:pt x="145" y="31449"/>
                </a:lnTo>
                <a:lnTo>
                  <a:pt x="0" y="29088"/>
                </a:lnTo>
                <a:lnTo>
                  <a:pt x="23" y="22298"/>
                </a:lnTo>
                <a:lnTo>
                  <a:pt x="59" y="15480"/>
                </a:lnTo>
                <a:lnTo>
                  <a:pt x="41" y="13402"/>
                </a:lnTo>
                <a:lnTo>
                  <a:pt x="202" y="11810"/>
                </a:lnTo>
                <a:lnTo>
                  <a:pt x="240" y="10467"/>
                </a:lnTo>
                <a:lnTo>
                  <a:pt x="530" y="9380"/>
                </a:lnTo>
                <a:lnTo>
                  <a:pt x="582" y="8424"/>
                </a:lnTo>
                <a:lnTo>
                  <a:pt x="921" y="7549"/>
                </a:lnTo>
                <a:lnTo>
                  <a:pt x="1346" y="6781"/>
                </a:lnTo>
                <a:lnTo>
                  <a:pt x="1618" y="6123"/>
                </a:lnTo>
                <a:lnTo>
                  <a:pt x="1823" y="5463"/>
                </a:lnTo>
                <a:lnTo>
                  <a:pt x="2312" y="4793"/>
                </a:lnTo>
                <a:lnTo>
                  <a:pt x="2762" y="4319"/>
                </a:lnTo>
                <a:lnTo>
                  <a:pt x="3310" y="3906"/>
                </a:lnTo>
                <a:lnTo>
                  <a:pt x="3815" y="3378"/>
                </a:lnTo>
                <a:lnTo>
                  <a:pt x="4514" y="3093"/>
                </a:lnTo>
                <a:lnTo>
                  <a:pt x="5340" y="2493"/>
                </a:lnTo>
                <a:lnTo>
                  <a:pt x="5836" y="2126"/>
                </a:lnTo>
                <a:lnTo>
                  <a:pt x="6711" y="1949"/>
                </a:lnTo>
                <a:lnTo>
                  <a:pt x="7552" y="1727"/>
                </a:lnTo>
                <a:lnTo>
                  <a:pt x="8458" y="1444"/>
                </a:lnTo>
                <a:lnTo>
                  <a:pt x="9468" y="1008"/>
                </a:lnTo>
                <a:lnTo>
                  <a:pt x="10707" y="825"/>
                </a:lnTo>
                <a:lnTo>
                  <a:pt x="11836" y="798"/>
                </a:lnTo>
                <a:lnTo>
                  <a:pt x="13226" y="507"/>
                </a:lnTo>
                <a:lnTo>
                  <a:pt x="14716" y="416"/>
                </a:lnTo>
                <a:lnTo>
                  <a:pt x="16507" y="211"/>
                </a:lnTo>
                <a:lnTo>
                  <a:pt x="18645" y="283"/>
                </a:lnTo>
                <a:lnTo>
                  <a:pt x="21009" y="158"/>
                </a:lnTo>
                <a:lnTo>
                  <a:pt x="24651" y="86"/>
                </a:lnTo>
                <a:lnTo>
                  <a:pt x="35499" y="0"/>
                </a:lnTo>
                <a:lnTo>
                  <a:pt x="46265" y="241"/>
                </a:lnTo>
                <a:lnTo>
                  <a:pt x="49741" y="45"/>
                </a:lnTo>
                <a:lnTo>
                  <a:pt x="52258" y="206"/>
                </a:lnTo>
                <a:lnTo>
                  <a:pt x="54316" y="401"/>
                </a:lnTo>
                <a:lnTo>
                  <a:pt x="56100" y="351"/>
                </a:lnTo>
                <a:lnTo>
                  <a:pt x="57704" y="509"/>
                </a:lnTo>
                <a:lnTo>
                  <a:pt x="58905" y="638"/>
                </a:lnTo>
                <a:lnTo>
                  <a:pt x="60173" y="911"/>
                </a:lnTo>
                <a:lnTo>
                  <a:pt x="61319" y="1089"/>
                </a:lnTo>
                <a:lnTo>
                  <a:pt x="62372" y="1452"/>
                </a:lnTo>
                <a:lnTo>
                  <a:pt x="63235" y="1616"/>
                </a:lnTo>
                <a:lnTo>
                  <a:pt x="64198" y="1873"/>
                </a:lnTo>
                <a:lnTo>
                  <a:pt x="64809" y="2240"/>
                </a:lnTo>
                <a:lnTo>
                  <a:pt x="65637" y="2624"/>
                </a:lnTo>
                <a:lnTo>
                  <a:pt x="66289" y="2907"/>
                </a:lnTo>
                <a:lnTo>
                  <a:pt x="66866" y="3343"/>
                </a:lnTo>
                <a:lnTo>
                  <a:pt x="67582" y="3755"/>
                </a:lnTo>
                <a:lnTo>
                  <a:pt x="68032" y="4386"/>
                </a:lnTo>
                <a:lnTo>
                  <a:pt x="68481" y="4972"/>
                </a:lnTo>
                <a:lnTo>
                  <a:pt x="68838" y="5455"/>
                </a:lnTo>
                <a:lnTo>
                  <a:pt x="69247" y="6049"/>
                </a:lnTo>
                <a:lnTo>
                  <a:pt x="69674" y="6751"/>
                </a:lnTo>
                <a:lnTo>
                  <a:pt x="70006" y="7627"/>
                </a:lnTo>
                <a:lnTo>
                  <a:pt x="70103" y="8343"/>
                </a:lnTo>
                <a:lnTo>
                  <a:pt x="70403" y="9377"/>
                </a:lnTo>
                <a:lnTo>
                  <a:pt x="70518" y="10436"/>
                </a:lnTo>
                <a:lnTo>
                  <a:pt x="70838" y="11700"/>
                </a:lnTo>
                <a:lnTo>
                  <a:pt x="70956" y="13425"/>
                </a:lnTo>
                <a:lnTo>
                  <a:pt x="71000" y="15577"/>
                </a:lnTo>
                <a:lnTo>
                  <a:pt x="70898" y="22427"/>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13864133" y="5569610"/>
            <a:ext cx="86685" cy="333939"/>
          </a:xfrm>
          <a:custGeom>
            <a:avLst/>
            <a:gdLst/>
            <a:ahLst/>
            <a:cxnLst/>
            <a:rect l="l" t="t" r="r" b="b"/>
            <a:pathLst>
              <a:path w="948" h="3652">
                <a:moveTo>
                  <a:pt x="948" y="0"/>
                </a:moveTo>
                <a:lnTo>
                  <a:pt x="771" y="1086"/>
                </a:lnTo>
                <a:lnTo>
                  <a:pt x="555" y="2037"/>
                </a:lnTo>
                <a:lnTo>
                  <a:pt x="298" y="2886"/>
                </a:lnTo>
                <a:lnTo>
                  <a:pt x="0" y="3652"/>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12887096" y="6379677"/>
            <a:ext cx="392186" cy="83028"/>
          </a:xfrm>
          <a:custGeom>
            <a:avLst/>
            <a:gdLst/>
            <a:ahLst/>
            <a:cxnLst/>
            <a:rect l="l" t="t" r="r" b="b"/>
            <a:pathLst>
              <a:path w="4289" h="908">
                <a:moveTo>
                  <a:pt x="4289" y="0"/>
                </a:moveTo>
                <a:lnTo>
                  <a:pt x="3354" y="268"/>
                </a:lnTo>
                <a:lnTo>
                  <a:pt x="2335" y="508"/>
                </a:lnTo>
                <a:lnTo>
                  <a:pt x="1223" y="721"/>
                </a:lnTo>
                <a:lnTo>
                  <a:pt x="0" y="908"/>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8471184" y="6445606"/>
            <a:ext cx="533004" cy="54315"/>
          </a:xfrm>
          <a:custGeom>
            <a:avLst/>
            <a:gdLst/>
            <a:ahLst/>
            <a:cxnLst/>
            <a:rect l="l" t="t" r="r" b="b"/>
            <a:pathLst>
              <a:path w="5829" h="594">
                <a:moveTo>
                  <a:pt x="5829" y="594"/>
                </a:moveTo>
                <a:lnTo>
                  <a:pt x="4096" y="484"/>
                </a:lnTo>
                <a:lnTo>
                  <a:pt x="2577" y="348"/>
                </a:lnTo>
                <a:lnTo>
                  <a:pt x="1223" y="187"/>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7578730" y="5833506"/>
            <a:ext cx="132497" cy="245699"/>
          </a:xfrm>
          <a:custGeom>
            <a:avLst/>
            <a:gdLst/>
            <a:ahLst/>
            <a:cxnLst/>
            <a:rect l="l" t="t" r="r" b="b"/>
            <a:pathLst>
              <a:path w="1449" h="2687">
                <a:moveTo>
                  <a:pt x="1449" y="2687"/>
                </a:moveTo>
                <a:lnTo>
                  <a:pt x="1022" y="2101"/>
                </a:lnTo>
                <a:lnTo>
                  <a:pt x="639" y="1463"/>
                </a:lnTo>
                <a:lnTo>
                  <a:pt x="298" y="766"/>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7519294" y="3066715"/>
            <a:ext cx="86685" cy="333939"/>
          </a:xfrm>
          <a:custGeom>
            <a:avLst/>
            <a:gdLst/>
            <a:ahLst/>
            <a:cxnLst/>
            <a:rect l="l" t="t" r="r" b="b"/>
            <a:pathLst>
              <a:path w="948" h="3652">
                <a:moveTo>
                  <a:pt x="0" y="3652"/>
                </a:moveTo>
                <a:lnTo>
                  <a:pt x="177" y="2566"/>
                </a:lnTo>
                <a:lnTo>
                  <a:pt x="393" y="1615"/>
                </a:lnTo>
                <a:lnTo>
                  <a:pt x="650" y="766"/>
                </a:lnTo>
                <a:lnTo>
                  <a:pt x="948"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8190829" y="2507559"/>
            <a:ext cx="392186" cy="83028"/>
          </a:xfrm>
          <a:custGeom>
            <a:avLst/>
            <a:gdLst/>
            <a:ahLst/>
            <a:cxnLst/>
            <a:rect l="l" t="t" r="r" b="b"/>
            <a:pathLst>
              <a:path w="4289" h="908">
                <a:moveTo>
                  <a:pt x="0" y="908"/>
                </a:moveTo>
                <a:lnTo>
                  <a:pt x="935" y="640"/>
                </a:lnTo>
                <a:lnTo>
                  <a:pt x="1954" y="400"/>
                </a:lnTo>
                <a:lnTo>
                  <a:pt x="3066" y="187"/>
                </a:lnTo>
                <a:lnTo>
                  <a:pt x="4289"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12465924" y="2470343"/>
            <a:ext cx="533004" cy="54315"/>
          </a:xfrm>
          <a:custGeom>
            <a:avLst/>
            <a:gdLst/>
            <a:ahLst/>
            <a:cxnLst/>
            <a:rect l="l" t="t" r="r" b="b"/>
            <a:pathLst>
              <a:path w="5829" h="594">
                <a:moveTo>
                  <a:pt x="0" y="0"/>
                </a:moveTo>
                <a:lnTo>
                  <a:pt x="1733" y="110"/>
                </a:lnTo>
                <a:lnTo>
                  <a:pt x="3252" y="246"/>
                </a:lnTo>
                <a:lnTo>
                  <a:pt x="4606" y="407"/>
                </a:lnTo>
                <a:lnTo>
                  <a:pt x="5829" y="594"/>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13758885" y="2891058"/>
            <a:ext cx="132497" cy="245699"/>
          </a:xfrm>
          <a:custGeom>
            <a:avLst/>
            <a:gdLst/>
            <a:ahLst/>
            <a:cxnLst/>
            <a:rect l="l" t="t" r="r" b="b"/>
            <a:pathLst>
              <a:path w="1449" h="2687">
                <a:moveTo>
                  <a:pt x="0" y="0"/>
                </a:moveTo>
                <a:lnTo>
                  <a:pt x="427" y="586"/>
                </a:lnTo>
                <a:lnTo>
                  <a:pt x="810" y="1224"/>
                </a:lnTo>
                <a:lnTo>
                  <a:pt x="1151" y="1921"/>
                </a:lnTo>
                <a:lnTo>
                  <a:pt x="1449" y="2687"/>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dy: The main figure"/>
          <p:cNvSpPr txBox="1"/>
          <p:nvPr/>
        </p:nvSpPr>
        <p:spPr>
          <a:xfrm>
            <a:off x="7836408" y="2719578"/>
            <a:ext cx="5797296"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557B65"/>
                </a:solidFill>
                <a:latin typeface="Chalkboard SE"/>
              </a:rPr>
              <a:t>The main figure</a:t>
            </a:r>
          </a:p>
        </p:txBody>
      </p:sp>
      <p:sp>
        <p:nvSpPr>
          <p:cNvPr id="42" name="Oval 41"/>
          <p:cNvSpPr/>
          <p:nvPr/>
        </p:nvSpPr>
        <p:spPr>
          <a:xfrm>
            <a:off x="7749540" y="427024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dy: x: task utility y: verified incident rate; mark B0, B2, B3, B4"/>
          <p:cNvSpPr txBox="1"/>
          <p:nvPr/>
        </p:nvSpPr>
        <p:spPr>
          <a:xfrm>
            <a:off x="7982711" y="4169663"/>
            <a:ext cx="5751576" cy="842772"/>
          </a:xfrm>
          <a:prstGeom prst="rect">
            <a:avLst/>
          </a:prstGeom>
          <a:noFill/>
        </p:spPr>
        <p:txBody>
          <a:bodyPr wrap="none" lIns="0" rIns="0" tIns="0" bIns="0" anchor="t">
            <a:noAutofit/>
          </a:bodyPr>
          <a:lstStyle/>
          <a:p>
            <a:pPr algn="l">
              <a:lnSpc>
                <a:spcPts val="3048"/>
              </a:lnSpc>
              <a:spcBef>
                <a:spcPts val="0"/>
              </a:spcBef>
              <a:spcAft>
                <a:spcPts val="0"/>
              </a:spcAft>
            </a:pPr>
            <a:r>
              <a:rPr sz="2400" b="0">
                <a:solidFill>
                  <a:srgbClr val="293E46"/>
                </a:solidFill>
                <a:latin typeface="Trebuchet MS"/>
              </a:rPr>
              <a:t>x: task utility y: verified incident rate;</a:t>
            </a:r>
            <a:br/>
            <a:r>
              <a:rPr sz="2400" b="0">
                <a:solidFill>
                  <a:srgbClr val="293E46"/>
                </a:solidFill>
                <a:latin typeface="Trebuchet MS"/>
              </a:rPr>
              <a:t>mark B0, B2, B3, B4</a:t>
            </a:r>
          </a:p>
        </p:txBody>
      </p:sp>
      <p:sp>
        <p:nvSpPr>
          <p:cNvPr id="44" name="Oval 43"/>
          <p:cNvSpPr/>
          <p:nvPr/>
        </p:nvSpPr>
        <p:spPr>
          <a:xfrm>
            <a:off x="7749540" y="523189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ody: No improving curve before data exist"/>
          <p:cNvSpPr txBox="1"/>
          <p:nvPr/>
        </p:nvSpPr>
        <p:spPr>
          <a:xfrm>
            <a:off x="7982711" y="5131308"/>
            <a:ext cx="5751576" cy="455676"/>
          </a:xfrm>
          <a:prstGeom prst="rect">
            <a:avLst/>
          </a:prstGeom>
          <a:noFill/>
        </p:spPr>
        <p:txBody>
          <a:bodyPr wrap="none" lIns="0" rIns="0" tIns="0" bIns="0" anchor="t">
            <a:noAutofit/>
          </a:bodyPr>
          <a:lstStyle/>
          <a:p>
            <a:pPr algn="l">
              <a:lnSpc>
                <a:spcPts val="3048"/>
              </a:lnSpc>
              <a:spcBef>
                <a:spcPts val="0"/>
              </a:spcBef>
              <a:spcAft>
                <a:spcPts val="0"/>
              </a:spcAft>
            </a:pPr>
            <a:r>
              <a:rPr sz="2400" b="0">
                <a:solidFill>
                  <a:srgbClr val="293E46"/>
                </a:solidFill>
                <a:latin typeface="Trebuchet MS"/>
              </a:rPr>
              <a:t>No improving curve before data exist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6 · STATU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6 · STATUS</a:t>
            </a:r>
          </a:p>
        </p:txBody>
      </p:sp>
      <p:sp>
        <p:nvSpPr>
          <p:cNvPr id="3" name="title: Status and roadmap"/>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Status and roadmap</a:t>
            </a:r>
          </a:p>
        </p:txBody>
      </p:sp>
      <p:sp>
        <p:nvSpPr>
          <p:cNvPr id="4" name="Freeform 3"/>
          <p:cNvSpPr/>
          <p:nvPr/>
        </p:nvSpPr>
        <p:spPr>
          <a:xfrm>
            <a:off x="6263640" y="1360444"/>
            <a:ext cx="2103120" cy="40325"/>
          </a:xfrm>
          <a:custGeom>
            <a:avLst/>
            <a:gdLst/>
            <a:ahLst/>
            <a:cxnLst/>
            <a:rect l="l" t="t" r="r" b="b"/>
            <a:pathLst>
              <a:path w="23000" h="441">
                <a:moveTo>
                  <a:pt x="0" y="251"/>
                </a:moveTo>
                <a:lnTo>
                  <a:pt x="958" y="421"/>
                </a:lnTo>
                <a:lnTo>
                  <a:pt x="1917" y="409"/>
                </a:lnTo>
                <a:lnTo>
                  <a:pt x="2875" y="331"/>
                </a:lnTo>
                <a:lnTo>
                  <a:pt x="3833" y="165"/>
                </a:lnTo>
                <a:lnTo>
                  <a:pt x="4792" y="135"/>
                </a:lnTo>
                <a:lnTo>
                  <a:pt x="5750" y="4"/>
                </a:lnTo>
                <a:lnTo>
                  <a:pt x="6708" y="62"/>
                </a:lnTo>
                <a:lnTo>
                  <a:pt x="7667" y="234"/>
                </a:lnTo>
                <a:lnTo>
                  <a:pt x="8625" y="432"/>
                </a:lnTo>
                <a:lnTo>
                  <a:pt x="9583" y="340"/>
                </a:lnTo>
                <a:lnTo>
                  <a:pt x="10542" y="300"/>
                </a:lnTo>
                <a:lnTo>
                  <a:pt x="11500" y="124"/>
                </a:lnTo>
                <a:lnTo>
                  <a:pt x="12458" y="93"/>
                </a:lnTo>
                <a:lnTo>
                  <a:pt x="13417" y="73"/>
                </a:lnTo>
                <a:lnTo>
                  <a:pt x="14375" y="52"/>
                </a:lnTo>
                <a:lnTo>
                  <a:pt x="15333" y="185"/>
                </a:lnTo>
                <a:lnTo>
                  <a:pt x="16292" y="441"/>
                </a:lnTo>
                <a:lnTo>
                  <a:pt x="17250" y="393"/>
                </a:lnTo>
                <a:lnTo>
                  <a:pt x="18208" y="352"/>
                </a:lnTo>
                <a:lnTo>
                  <a:pt x="19167" y="178"/>
                </a:lnTo>
                <a:lnTo>
                  <a:pt x="20125" y="0"/>
                </a:lnTo>
                <a:lnTo>
                  <a:pt x="21083" y="66"/>
                </a:lnTo>
                <a:lnTo>
                  <a:pt x="22042" y="110"/>
                </a:lnTo>
                <a:lnTo>
                  <a:pt x="23000" y="339"/>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6904"/>
            <a:ext cx="2103120" cy="40325"/>
          </a:xfrm>
          <a:custGeom>
            <a:avLst/>
            <a:gdLst/>
            <a:ahLst/>
            <a:cxnLst/>
            <a:rect l="l" t="t" r="r" b="b"/>
            <a:pathLst>
              <a:path w="23000" h="441">
                <a:moveTo>
                  <a:pt x="0" y="251"/>
                </a:moveTo>
                <a:lnTo>
                  <a:pt x="958" y="421"/>
                </a:lnTo>
                <a:lnTo>
                  <a:pt x="1917" y="409"/>
                </a:lnTo>
                <a:lnTo>
                  <a:pt x="2875" y="331"/>
                </a:lnTo>
                <a:lnTo>
                  <a:pt x="3833" y="165"/>
                </a:lnTo>
                <a:lnTo>
                  <a:pt x="4792" y="135"/>
                </a:lnTo>
                <a:lnTo>
                  <a:pt x="5750" y="4"/>
                </a:lnTo>
                <a:lnTo>
                  <a:pt x="6708" y="62"/>
                </a:lnTo>
                <a:lnTo>
                  <a:pt x="7667" y="234"/>
                </a:lnTo>
                <a:lnTo>
                  <a:pt x="8625" y="432"/>
                </a:lnTo>
                <a:lnTo>
                  <a:pt x="9583" y="340"/>
                </a:lnTo>
                <a:lnTo>
                  <a:pt x="10542" y="300"/>
                </a:lnTo>
                <a:lnTo>
                  <a:pt x="11500" y="124"/>
                </a:lnTo>
                <a:lnTo>
                  <a:pt x="12458" y="93"/>
                </a:lnTo>
                <a:lnTo>
                  <a:pt x="13417" y="73"/>
                </a:lnTo>
                <a:lnTo>
                  <a:pt x="14375" y="52"/>
                </a:lnTo>
                <a:lnTo>
                  <a:pt x="15333" y="185"/>
                </a:lnTo>
                <a:lnTo>
                  <a:pt x="16292" y="441"/>
                </a:lnTo>
                <a:lnTo>
                  <a:pt x="17250" y="393"/>
                </a:lnTo>
                <a:lnTo>
                  <a:pt x="18208" y="352"/>
                </a:lnTo>
                <a:lnTo>
                  <a:pt x="19167" y="178"/>
                </a:lnTo>
                <a:lnTo>
                  <a:pt x="20125" y="0"/>
                </a:lnTo>
                <a:lnTo>
                  <a:pt x="21083" y="66"/>
                </a:lnTo>
                <a:lnTo>
                  <a:pt x="22042" y="110"/>
                </a:lnTo>
                <a:lnTo>
                  <a:pt x="23000" y="339"/>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30"/>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30</a:t>
            </a:r>
          </a:p>
        </p:txBody>
      </p:sp>
      <p:sp>
        <p:nvSpPr>
          <p:cNvPr id="13" name="Rounded Rectangle 12"/>
          <p:cNvSpPr/>
          <p:nvPr/>
        </p:nvSpPr>
        <p:spPr>
          <a:xfrm>
            <a:off x="640080" y="1773936"/>
            <a:ext cx="4242816" cy="2770632"/>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45658" y="1781068"/>
            <a:ext cx="4232575" cy="2759202"/>
          </a:xfrm>
          <a:custGeom>
            <a:avLst/>
            <a:gdLst/>
            <a:ahLst/>
            <a:cxnLst/>
            <a:rect l="l" t="t" r="r" b="b"/>
            <a:pathLst>
              <a:path w="46288" h="30175">
                <a:moveTo>
                  <a:pt x="46184" y="14993"/>
                </a:moveTo>
                <a:lnTo>
                  <a:pt x="46199" y="19727"/>
                </a:lnTo>
                <a:lnTo>
                  <a:pt x="46288" y="21139"/>
                </a:lnTo>
                <a:lnTo>
                  <a:pt x="46051" y="22142"/>
                </a:lnTo>
                <a:lnTo>
                  <a:pt x="46010" y="23126"/>
                </a:lnTo>
                <a:lnTo>
                  <a:pt x="46023" y="23903"/>
                </a:lnTo>
                <a:lnTo>
                  <a:pt x="45676" y="24511"/>
                </a:lnTo>
                <a:lnTo>
                  <a:pt x="45600" y="24972"/>
                </a:lnTo>
                <a:lnTo>
                  <a:pt x="45386" y="25629"/>
                </a:lnTo>
                <a:lnTo>
                  <a:pt x="45194" y="26013"/>
                </a:lnTo>
                <a:lnTo>
                  <a:pt x="44813" y="26416"/>
                </a:lnTo>
                <a:lnTo>
                  <a:pt x="44691" y="26801"/>
                </a:lnTo>
                <a:lnTo>
                  <a:pt x="44262" y="27197"/>
                </a:lnTo>
                <a:lnTo>
                  <a:pt x="44079" y="27587"/>
                </a:lnTo>
                <a:lnTo>
                  <a:pt x="43681" y="27985"/>
                </a:lnTo>
                <a:lnTo>
                  <a:pt x="43184" y="28186"/>
                </a:lnTo>
                <a:lnTo>
                  <a:pt x="42849" y="28508"/>
                </a:lnTo>
                <a:lnTo>
                  <a:pt x="42246" y="28630"/>
                </a:lnTo>
                <a:lnTo>
                  <a:pt x="41821" y="28903"/>
                </a:lnTo>
                <a:lnTo>
                  <a:pt x="41321" y="29037"/>
                </a:lnTo>
                <a:lnTo>
                  <a:pt x="40669" y="29211"/>
                </a:lnTo>
                <a:lnTo>
                  <a:pt x="40079" y="29501"/>
                </a:lnTo>
                <a:lnTo>
                  <a:pt x="39335" y="29673"/>
                </a:lnTo>
                <a:lnTo>
                  <a:pt x="38412" y="29769"/>
                </a:lnTo>
                <a:lnTo>
                  <a:pt x="37489" y="29908"/>
                </a:lnTo>
                <a:lnTo>
                  <a:pt x="36541" y="29982"/>
                </a:lnTo>
                <a:lnTo>
                  <a:pt x="35517" y="29856"/>
                </a:lnTo>
                <a:lnTo>
                  <a:pt x="34169" y="30008"/>
                </a:lnTo>
                <a:lnTo>
                  <a:pt x="32545" y="30175"/>
                </a:lnTo>
                <a:lnTo>
                  <a:pt x="30268" y="30026"/>
                </a:lnTo>
                <a:lnTo>
                  <a:pt x="23251" y="30025"/>
                </a:lnTo>
                <a:lnTo>
                  <a:pt x="15926" y="30103"/>
                </a:lnTo>
                <a:lnTo>
                  <a:pt x="13901" y="30005"/>
                </a:lnTo>
                <a:lnTo>
                  <a:pt x="12222" y="30016"/>
                </a:lnTo>
                <a:lnTo>
                  <a:pt x="10841" y="29932"/>
                </a:lnTo>
                <a:lnTo>
                  <a:pt x="9761" y="29815"/>
                </a:lnTo>
                <a:lnTo>
                  <a:pt x="8762" y="29790"/>
                </a:lnTo>
                <a:lnTo>
                  <a:pt x="7820" y="29700"/>
                </a:lnTo>
                <a:lnTo>
                  <a:pt x="7138" y="29567"/>
                </a:lnTo>
                <a:lnTo>
                  <a:pt x="6207" y="29334"/>
                </a:lnTo>
                <a:lnTo>
                  <a:pt x="5724" y="29230"/>
                </a:lnTo>
                <a:lnTo>
                  <a:pt x="4924" y="29081"/>
                </a:lnTo>
                <a:lnTo>
                  <a:pt x="4608" y="28934"/>
                </a:lnTo>
                <a:lnTo>
                  <a:pt x="3970" y="28657"/>
                </a:lnTo>
                <a:lnTo>
                  <a:pt x="3455" y="28458"/>
                </a:lnTo>
                <a:lnTo>
                  <a:pt x="3015" y="28105"/>
                </a:lnTo>
                <a:lnTo>
                  <a:pt x="2723" y="27895"/>
                </a:lnTo>
                <a:lnTo>
                  <a:pt x="2397" y="27598"/>
                </a:lnTo>
                <a:lnTo>
                  <a:pt x="1820" y="27318"/>
                </a:lnTo>
                <a:lnTo>
                  <a:pt x="1679" y="26751"/>
                </a:lnTo>
                <a:lnTo>
                  <a:pt x="1368" y="26425"/>
                </a:lnTo>
                <a:lnTo>
                  <a:pt x="1124" y="25989"/>
                </a:lnTo>
                <a:lnTo>
                  <a:pt x="751" y="25541"/>
                </a:lnTo>
                <a:lnTo>
                  <a:pt x="704" y="25077"/>
                </a:lnTo>
                <a:lnTo>
                  <a:pt x="564" y="24563"/>
                </a:lnTo>
                <a:lnTo>
                  <a:pt x="323" y="23933"/>
                </a:lnTo>
                <a:lnTo>
                  <a:pt x="292" y="23041"/>
                </a:lnTo>
                <a:lnTo>
                  <a:pt x="273" y="22141"/>
                </a:lnTo>
                <a:lnTo>
                  <a:pt x="48" y="21271"/>
                </a:lnTo>
                <a:lnTo>
                  <a:pt x="45" y="19613"/>
                </a:lnTo>
                <a:lnTo>
                  <a:pt x="0" y="14970"/>
                </a:lnTo>
                <a:lnTo>
                  <a:pt x="83" y="10437"/>
                </a:lnTo>
                <a:lnTo>
                  <a:pt x="181" y="9004"/>
                </a:lnTo>
                <a:lnTo>
                  <a:pt x="109" y="7827"/>
                </a:lnTo>
                <a:lnTo>
                  <a:pt x="381" y="7085"/>
                </a:lnTo>
                <a:lnTo>
                  <a:pt x="337" y="6329"/>
                </a:lnTo>
                <a:lnTo>
                  <a:pt x="460" y="5741"/>
                </a:lnTo>
                <a:lnTo>
                  <a:pt x="681" y="5069"/>
                </a:lnTo>
                <a:lnTo>
                  <a:pt x="833" y="4572"/>
                </a:lnTo>
                <a:lnTo>
                  <a:pt x="1187" y="4076"/>
                </a:lnTo>
                <a:lnTo>
                  <a:pt x="1319" y="3599"/>
                </a:lnTo>
                <a:lnTo>
                  <a:pt x="1529" y="3279"/>
                </a:lnTo>
                <a:lnTo>
                  <a:pt x="1825" y="2808"/>
                </a:lnTo>
                <a:lnTo>
                  <a:pt x="2280" y="2618"/>
                </a:lnTo>
                <a:lnTo>
                  <a:pt x="2596" y="2213"/>
                </a:lnTo>
                <a:lnTo>
                  <a:pt x="2936" y="1899"/>
                </a:lnTo>
                <a:lnTo>
                  <a:pt x="3508" y="1689"/>
                </a:lnTo>
                <a:lnTo>
                  <a:pt x="3923" y="1601"/>
                </a:lnTo>
                <a:lnTo>
                  <a:pt x="4370" y="1203"/>
                </a:lnTo>
                <a:lnTo>
                  <a:pt x="5073" y="1137"/>
                </a:lnTo>
                <a:lnTo>
                  <a:pt x="5527" y="865"/>
                </a:lnTo>
                <a:lnTo>
                  <a:pt x="6430" y="690"/>
                </a:lnTo>
                <a:lnTo>
                  <a:pt x="7024" y="537"/>
                </a:lnTo>
                <a:lnTo>
                  <a:pt x="7791" y="517"/>
                </a:lnTo>
                <a:lnTo>
                  <a:pt x="8671" y="371"/>
                </a:lnTo>
                <a:lnTo>
                  <a:pt x="9705" y="327"/>
                </a:lnTo>
                <a:lnTo>
                  <a:pt x="10862" y="229"/>
                </a:lnTo>
                <a:lnTo>
                  <a:pt x="12024" y="13"/>
                </a:lnTo>
                <a:lnTo>
                  <a:pt x="13836" y="131"/>
                </a:lnTo>
                <a:lnTo>
                  <a:pt x="16024" y="125"/>
                </a:lnTo>
                <a:lnTo>
                  <a:pt x="23039" y="13"/>
                </a:lnTo>
                <a:lnTo>
                  <a:pt x="30284" y="80"/>
                </a:lnTo>
                <a:lnTo>
                  <a:pt x="32416" y="60"/>
                </a:lnTo>
                <a:lnTo>
                  <a:pt x="34121" y="0"/>
                </a:lnTo>
                <a:lnTo>
                  <a:pt x="35440" y="74"/>
                </a:lnTo>
                <a:lnTo>
                  <a:pt x="36536" y="172"/>
                </a:lnTo>
                <a:lnTo>
                  <a:pt x="37531" y="354"/>
                </a:lnTo>
                <a:lnTo>
                  <a:pt x="38457" y="545"/>
                </a:lnTo>
                <a:lnTo>
                  <a:pt x="39230" y="684"/>
                </a:lnTo>
                <a:lnTo>
                  <a:pt x="40040" y="801"/>
                </a:lnTo>
                <a:lnTo>
                  <a:pt x="40688" y="979"/>
                </a:lnTo>
                <a:lnTo>
                  <a:pt x="41157" y="1164"/>
                </a:lnTo>
                <a:lnTo>
                  <a:pt x="41783" y="1205"/>
                </a:lnTo>
                <a:lnTo>
                  <a:pt x="42272" y="1421"/>
                </a:lnTo>
                <a:lnTo>
                  <a:pt x="42801" y="1825"/>
                </a:lnTo>
                <a:lnTo>
                  <a:pt x="43220" y="2068"/>
                </a:lnTo>
                <a:lnTo>
                  <a:pt x="43698" y="2181"/>
                </a:lnTo>
                <a:lnTo>
                  <a:pt x="43963" y="2503"/>
                </a:lnTo>
                <a:lnTo>
                  <a:pt x="44436" y="2907"/>
                </a:lnTo>
                <a:lnTo>
                  <a:pt x="44599" y="3217"/>
                </a:lnTo>
                <a:lnTo>
                  <a:pt x="44985" y="3637"/>
                </a:lnTo>
                <a:lnTo>
                  <a:pt x="45232" y="4175"/>
                </a:lnTo>
                <a:lnTo>
                  <a:pt x="45447" y="4669"/>
                </a:lnTo>
                <a:lnTo>
                  <a:pt x="45516" y="5187"/>
                </a:lnTo>
                <a:lnTo>
                  <a:pt x="45779" y="5680"/>
                </a:lnTo>
                <a:lnTo>
                  <a:pt x="45816" y="6224"/>
                </a:lnTo>
                <a:lnTo>
                  <a:pt x="45928" y="7028"/>
                </a:lnTo>
                <a:lnTo>
                  <a:pt x="46014" y="7911"/>
                </a:lnTo>
                <a:lnTo>
                  <a:pt x="46113" y="9002"/>
                </a:lnTo>
                <a:lnTo>
                  <a:pt x="46162" y="10449"/>
                </a:lnTo>
                <a:lnTo>
                  <a:pt x="46243" y="15004"/>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650230" y="1775765"/>
            <a:ext cx="4231843" cy="2764688"/>
          </a:xfrm>
          <a:custGeom>
            <a:avLst/>
            <a:gdLst/>
            <a:ahLst/>
            <a:cxnLst/>
            <a:rect l="l" t="t" r="r" b="b"/>
            <a:pathLst>
              <a:path w="46280" h="30235">
                <a:moveTo>
                  <a:pt x="46157" y="15161"/>
                </a:moveTo>
                <a:lnTo>
                  <a:pt x="46280" y="19685"/>
                </a:lnTo>
                <a:lnTo>
                  <a:pt x="46054" y="21194"/>
                </a:lnTo>
                <a:lnTo>
                  <a:pt x="46057" y="22202"/>
                </a:lnTo>
                <a:lnTo>
                  <a:pt x="46042" y="23047"/>
                </a:lnTo>
                <a:lnTo>
                  <a:pt x="45858" y="23786"/>
                </a:lnTo>
                <a:lnTo>
                  <a:pt x="45760" y="24541"/>
                </a:lnTo>
                <a:lnTo>
                  <a:pt x="45564" y="25082"/>
                </a:lnTo>
                <a:lnTo>
                  <a:pt x="45431" y="25549"/>
                </a:lnTo>
                <a:lnTo>
                  <a:pt x="45040" y="26137"/>
                </a:lnTo>
                <a:lnTo>
                  <a:pt x="44780" y="26430"/>
                </a:lnTo>
                <a:lnTo>
                  <a:pt x="44526" y="27018"/>
                </a:lnTo>
                <a:lnTo>
                  <a:pt x="44358" y="27269"/>
                </a:lnTo>
                <a:lnTo>
                  <a:pt x="43915" y="27671"/>
                </a:lnTo>
                <a:lnTo>
                  <a:pt x="43665" y="27838"/>
                </a:lnTo>
                <a:lnTo>
                  <a:pt x="43257" y="28152"/>
                </a:lnTo>
                <a:lnTo>
                  <a:pt x="42843" y="28377"/>
                </a:lnTo>
                <a:lnTo>
                  <a:pt x="42298" y="28697"/>
                </a:lnTo>
                <a:lnTo>
                  <a:pt x="41721" y="29051"/>
                </a:lnTo>
                <a:lnTo>
                  <a:pt x="41077" y="29231"/>
                </a:lnTo>
                <a:lnTo>
                  <a:pt x="40534" y="29265"/>
                </a:lnTo>
                <a:lnTo>
                  <a:pt x="39895" y="29417"/>
                </a:lnTo>
                <a:lnTo>
                  <a:pt x="39170" y="29677"/>
                </a:lnTo>
                <a:lnTo>
                  <a:pt x="38282" y="29639"/>
                </a:lnTo>
                <a:lnTo>
                  <a:pt x="37426" y="29773"/>
                </a:lnTo>
                <a:lnTo>
                  <a:pt x="36616" y="30039"/>
                </a:lnTo>
                <a:lnTo>
                  <a:pt x="35525" y="30051"/>
                </a:lnTo>
                <a:lnTo>
                  <a:pt x="34178" y="30004"/>
                </a:lnTo>
                <a:lnTo>
                  <a:pt x="32366" y="30030"/>
                </a:lnTo>
                <a:lnTo>
                  <a:pt x="30269" y="30235"/>
                </a:lnTo>
                <a:lnTo>
                  <a:pt x="23159" y="30106"/>
                </a:lnTo>
                <a:lnTo>
                  <a:pt x="15886" y="30115"/>
                </a:lnTo>
                <a:lnTo>
                  <a:pt x="13716" y="30231"/>
                </a:lnTo>
                <a:lnTo>
                  <a:pt x="12188" y="30130"/>
                </a:lnTo>
                <a:lnTo>
                  <a:pt x="10831" y="30134"/>
                </a:lnTo>
                <a:lnTo>
                  <a:pt x="9597" y="29868"/>
                </a:lnTo>
                <a:lnTo>
                  <a:pt x="8711" y="29905"/>
                </a:lnTo>
                <a:lnTo>
                  <a:pt x="7649" y="29726"/>
                </a:lnTo>
                <a:lnTo>
                  <a:pt x="6882" y="29741"/>
                </a:lnTo>
                <a:lnTo>
                  <a:pt x="6272" y="29403"/>
                </a:lnTo>
                <a:lnTo>
                  <a:pt x="5578" y="29330"/>
                </a:lnTo>
                <a:lnTo>
                  <a:pt x="4886" y="29137"/>
                </a:lnTo>
                <a:lnTo>
                  <a:pt x="4344" y="28905"/>
                </a:lnTo>
                <a:lnTo>
                  <a:pt x="3919" y="28750"/>
                </a:lnTo>
                <a:lnTo>
                  <a:pt x="3535" y="28529"/>
                </a:lnTo>
                <a:lnTo>
                  <a:pt x="2911" y="28288"/>
                </a:lnTo>
                <a:lnTo>
                  <a:pt x="2714" y="28007"/>
                </a:lnTo>
                <a:lnTo>
                  <a:pt x="2280" y="27627"/>
                </a:lnTo>
                <a:lnTo>
                  <a:pt x="1823" y="27274"/>
                </a:lnTo>
                <a:lnTo>
                  <a:pt x="1663" y="26881"/>
                </a:lnTo>
                <a:lnTo>
                  <a:pt x="1280" y="26498"/>
                </a:lnTo>
                <a:lnTo>
                  <a:pt x="946" y="26203"/>
                </a:lnTo>
                <a:lnTo>
                  <a:pt x="845" y="25623"/>
                </a:lnTo>
                <a:lnTo>
                  <a:pt x="653" y="25149"/>
                </a:lnTo>
                <a:lnTo>
                  <a:pt x="403" y="24448"/>
                </a:lnTo>
                <a:lnTo>
                  <a:pt x="339" y="23777"/>
                </a:lnTo>
                <a:lnTo>
                  <a:pt x="328" y="23209"/>
                </a:lnTo>
                <a:lnTo>
                  <a:pt x="156" y="22390"/>
                </a:lnTo>
                <a:lnTo>
                  <a:pt x="38" y="21225"/>
                </a:lnTo>
                <a:lnTo>
                  <a:pt x="62" y="19691"/>
                </a:lnTo>
                <a:lnTo>
                  <a:pt x="0" y="15190"/>
                </a:lnTo>
                <a:lnTo>
                  <a:pt x="29" y="10467"/>
                </a:lnTo>
                <a:lnTo>
                  <a:pt x="166" y="9117"/>
                </a:lnTo>
                <a:lnTo>
                  <a:pt x="245" y="8058"/>
                </a:lnTo>
                <a:lnTo>
                  <a:pt x="303" y="7065"/>
                </a:lnTo>
                <a:lnTo>
                  <a:pt x="273" y="6340"/>
                </a:lnTo>
                <a:lnTo>
                  <a:pt x="434" y="5702"/>
                </a:lnTo>
                <a:lnTo>
                  <a:pt x="752" y="5117"/>
                </a:lnTo>
                <a:lnTo>
                  <a:pt x="905" y="4563"/>
                </a:lnTo>
                <a:lnTo>
                  <a:pt x="1004" y="4169"/>
                </a:lnTo>
                <a:lnTo>
                  <a:pt x="1385" y="3669"/>
                </a:lnTo>
                <a:lnTo>
                  <a:pt x="1529" y="3398"/>
                </a:lnTo>
                <a:lnTo>
                  <a:pt x="1813" y="3093"/>
                </a:lnTo>
                <a:lnTo>
                  <a:pt x="2197" y="2714"/>
                </a:lnTo>
                <a:lnTo>
                  <a:pt x="2474" y="2386"/>
                </a:lnTo>
                <a:lnTo>
                  <a:pt x="3049" y="1970"/>
                </a:lnTo>
                <a:lnTo>
                  <a:pt x="3510" y="1696"/>
                </a:lnTo>
                <a:lnTo>
                  <a:pt x="3963" y="1430"/>
                </a:lnTo>
                <a:lnTo>
                  <a:pt x="4430" y="1439"/>
                </a:lnTo>
                <a:lnTo>
                  <a:pt x="5117" y="1165"/>
                </a:lnTo>
                <a:lnTo>
                  <a:pt x="5634" y="1046"/>
                </a:lnTo>
                <a:lnTo>
                  <a:pt x="6335" y="747"/>
                </a:lnTo>
                <a:lnTo>
                  <a:pt x="7068" y="567"/>
                </a:lnTo>
                <a:lnTo>
                  <a:pt x="7800" y="589"/>
                </a:lnTo>
                <a:lnTo>
                  <a:pt x="8767" y="320"/>
                </a:lnTo>
                <a:lnTo>
                  <a:pt x="9740" y="353"/>
                </a:lnTo>
                <a:lnTo>
                  <a:pt x="10874" y="342"/>
                </a:lnTo>
                <a:lnTo>
                  <a:pt x="12122" y="65"/>
                </a:lnTo>
                <a:lnTo>
                  <a:pt x="13608" y="151"/>
                </a:lnTo>
                <a:lnTo>
                  <a:pt x="15993" y="110"/>
                </a:lnTo>
                <a:lnTo>
                  <a:pt x="23050" y="0"/>
                </a:lnTo>
                <a:lnTo>
                  <a:pt x="30162" y="219"/>
                </a:lnTo>
                <a:lnTo>
                  <a:pt x="32497" y="50"/>
                </a:lnTo>
                <a:lnTo>
                  <a:pt x="34074" y="186"/>
                </a:lnTo>
                <a:lnTo>
                  <a:pt x="35506" y="200"/>
                </a:lnTo>
                <a:lnTo>
                  <a:pt x="36429" y="207"/>
                </a:lnTo>
                <a:lnTo>
                  <a:pt x="37566" y="288"/>
                </a:lnTo>
                <a:lnTo>
                  <a:pt x="38482" y="591"/>
                </a:lnTo>
                <a:lnTo>
                  <a:pt x="39276" y="541"/>
                </a:lnTo>
                <a:lnTo>
                  <a:pt x="39790" y="735"/>
                </a:lnTo>
                <a:lnTo>
                  <a:pt x="40546" y="870"/>
                </a:lnTo>
                <a:lnTo>
                  <a:pt x="41319" y="1107"/>
                </a:lnTo>
                <a:lnTo>
                  <a:pt x="41731" y="1354"/>
                </a:lnTo>
                <a:lnTo>
                  <a:pt x="42236" y="1640"/>
                </a:lnTo>
                <a:lnTo>
                  <a:pt x="42616" y="1802"/>
                </a:lnTo>
                <a:lnTo>
                  <a:pt x="43174" y="1975"/>
                </a:lnTo>
                <a:lnTo>
                  <a:pt x="43601" y="2214"/>
                </a:lnTo>
                <a:lnTo>
                  <a:pt x="43863" y="2542"/>
                </a:lnTo>
                <a:lnTo>
                  <a:pt x="44316" y="2889"/>
                </a:lnTo>
                <a:lnTo>
                  <a:pt x="44590" y="3389"/>
                </a:lnTo>
                <a:lnTo>
                  <a:pt x="44891" y="3684"/>
                </a:lnTo>
                <a:lnTo>
                  <a:pt x="45021" y="4129"/>
                </a:lnTo>
                <a:lnTo>
                  <a:pt x="45353" y="4720"/>
                </a:lnTo>
                <a:lnTo>
                  <a:pt x="45634" y="5122"/>
                </a:lnTo>
                <a:lnTo>
                  <a:pt x="45730" y="5788"/>
                </a:lnTo>
                <a:lnTo>
                  <a:pt x="45957" y="6318"/>
                </a:lnTo>
                <a:lnTo>
                  <a:pt x="45930" y="7039"/>
                </a:lnTo>
                <a:lnTo>
                  <a:pt x="46132" y="8043"/>
                </a:lnTo>
                <a:lnTo>
                  <a:pt x="46126" y="9113"/>
                </a:lnTo>
                <a:lnTo>
                  <a:pt x="46168" y="10542"/>
                </a:lnTo>
                <a:lnTo>
                  <a:pt x="46214" y="15043"/>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796942" y="3892509"/>
            <a:ext cx="56418" cy="225765"/>
          </a:xfrm>
          <a:custGeom>
            <a:avLst/>
            <a:gdLst/>
            <a:ahLst/>
            <a:cxnLst/>
            <a:rect l="l" t="t" r="r" b="b"/>
            <a:pathLst>
              <a:path w="617" h="2469">
                <a:moveTo>
                  <a:pt x="617" y="0"/>
                </a:moveTo>
                <a:lnTo>
                  <a:pt x="502" y="734"/>
                </a:lnTo>
                <a:lnTo>
                  <a:pt x="361" y="1377"/>
                </a:lnTo>
                <a:lnTo>
                  <a:pt x="194" y="1951"/>
                </a:lnTo>
                <a:lnTo>
                  <a:pt x="0" y="2469"/>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4161434" y="4440235"/>
            <a:ext cx="255118" cy="56053"/>
          </a:xfrm>
          <a:custGeom>
            <a:avLst/>
            <a:gdLst/>
            <a:ahLst/>
            <a:cxnLst/>
            <a:rect l="l" t="t" r="r" b="b"/>
            <a:pathLst>
              <a:path w="2790" h="613">
                <a:moveTo>
                  <a:pt x="2790" y="0"/>
                </a:moveTo>
                <a:lnTo>
                  <a:pt x="2181" y="181"/>
                </a:lnTo>
                <a:lnTo>
                  <a:pt x="1519" y="343"/>
                </a:lnTo>
                <a:lnTo>
                  <a:pt x="795" y="487"/>
                </a:lnTo>
                <a:lnTo>
                  <a:pt x="0" y="613"/>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288847" y="4484766"/>
            <a:ext cx="346649" cy="36759"/>
          </a:xfrm>
          <a:custGeom>
            <a:avLst/>
            <a:gdLst/>
            <a:ahLst/>
            <a:cxnLst/>
            <a:rect l="l" t="t" r="r" b="b"/>
            <a:pathLst>
              <a:path w="3791" h="402">
                <a:moveTo>
                  <a:pt x="3791" y="402"/>
                </a:moveTo>
                <a:lnTo>
                  <a:pt x="2664" y="327"/>
                </a:lnTo>
                <a:lnTo>
                  <a:pt x="1676" y="235"/>
                </a:lnTo>
                <a:lnTo>
                  <a:pt x="795" y="126"/>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708294" y="4070909"/>
            <a:ext cx="86136" cy="166146"/>
          </a:xfrm>
          <a:custGeom>
            <a:avLst/>
            <a:gdLst/>
            <a:ahLst/>
            <a:cxnLst/>
            <a:rect l="l" t="t" r="r" b="b"/>
            <a:pathLst>
              <a:path w="942" h="1817">
                <a:moveTo>
                  <a:pt x="942" y="1817"/>
                </a:moveTo>
                <a:lnTo>
                  <a:pt x="664" y="1421"/>
                </a:lnTo>
                <a:lnTo>
                  <a:pt x="415" y="989"/>
                </a:lnTo>
                <a:lnTo>
                  <a:pt x="194" y="518"/>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669615" y="2200229"/>
            <a:ext cx="56418" cy="225765"/>
          </a:xfrm>
          <a:custGeom>
            <a:avLst/>
            <a:gdLst/>
            <a:ahLst/>
            <a:cxnLst/>
            <a:rect l="l" t="t" r="r" b="b"/>
            <a:pathLst>
              <a:path w="617" h="2469">
                <a:moveTo>
                  <a:pt x="0" y="2469"/>
                </a:moveTo>
                <a:lnTo>
                  <a:pt x="115" y="1735"/>
                </a:lnTo>
                <a:lnTo>
                  <a:pt x="256" y="1092"/>
                </a:lnTo>
                <a:lnTo>
                  <a:pt x="423" y="518"/>
                </a:lnTo>
                <a:lnTo>
                  <a:pt x="617"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1106424" y="1822216"/>
            <a:ext cx="255118" cy="56053"/>
          </a:xfrm>
          <a:custGeom>
            <a:avLst/>
            <a:gdLst/>
            <a:ahLst/>
            <a:cxnLst/>
            <a:rect l="l" t="t" r="r" b="b"/>
            <a:pathLst>
              <a:path w="2790" h="613">
                <a:moveTo>
                  <a:pt x="0" y="613"/>
                </a:moveTo>
                <a:lnTo>
                  <a:pt x="609" y="432"/>
                </a:lnTo>
                <a:lnTo>
                  <a:pt x="1271" y="270"/>
                </a:lnTo>
                <a:lnTo>
                  <a:pt x="1995" y="126"/>
                </a:lnTo>
                <a:lnTo>
                  <a:pt x="279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3887480" y="1796979"/>
            <a:ext cx="346649" cy="36759"/>
          </a:xfrm>
          <a:custGeom>
            <a:avLst/>
            <a:gdLst/>
            <a:ahLst/>
            <a:cxnLst/>
            <a:rect l="l" t="t" r="r" b="b"/>
            <a:pathLst>
              <a:path w="3791" h="402">
                <a:moveTo>
                  <a:pt x="0" y="0"/>
                </a:moveTo>
                <a:lnTo>
                  <a:pt x="1127" y="75"/>
                </a:lnTo>
                <a:lnTo>
                  <a:pt x="2115" y="167"/>
                </a:lnTo>
                <a:lnTo>
                  <a:pt x="2996" y="276"/>
                </a:lnTo>
                <a:lnTo>
                  <a:pt x="3791" y="402"/>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728545" y="2081449"/>
            <a:ext cx="86136" cy="166146"/>
          </a:xfrm>
          <a:custGeom>
            <a:avLst/>
            <a:gdLst/>
            <a:ahLst/>
            <a:cxnLst/>
            <a:rect l="l" t="t" r="r" b="b"/>
            <a:pathLst>
              <a:path w="942" h="1817">
                <a:moveTo>
                  <a:pt x="0" y="0"/>
                </a:moveTo>
                <a:lnTo>
                  <a:pt x="278" y="396"/>
                </a:lnTo>
                <a:lnTo>
                  <a:pt x="527" y="828"/>
                </a:lnTo>
                <a:lnTo>
                  <a:pt x="748" y="1299"/>
                </a:lnTo>
                <a:lnTo>
                  <a:pt x="942" y="1817"/>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Exists"/>
          <p:cNvSpPr txBox="1"/>
          <p:nvPr/>
        </p:nvSpPr>
        <p:spPr>
          <a:xfrm>
            <a:off x="996695" y="1909064"/>
            <a:ext cx="3529584"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557B65"/>
                </a:solidFill>
                <a:latin typeface="Chalkboard SE"/>
              </a:rPr>
              <a:t>Exists</a:t>
            </a:r>
          </a:p>
        </p:txBody>
      </p:sp>
      <p:sp>
        <p:nvSpPr>
          <p:cNvPr id="25" name="Oval 24"/>
          <p:cNvSpPr/>
          <p:nvPr/>
        </p:nvSpPr>
        <p:spPr>
          <a:xfrm>
            <a:off x="909828" y="2556795"/>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ody: Independent observers (native, container)"/>
          <p:cNvSpPr txBox="1"/>
          <p:nvPr/>
        </p:nvSpPr>
        <p:spPr>
          <a:xfrm>
            <a:off x="1143000" y="2456211"/>
            <a:ext cx="3483864" cy="608901"/>
          </a:xfrm>
          <a:prstGeom prst="rect">
            <a:avLst/>
          </a:prstGeom>
          <a:noFill/>
        </p:spPr>
        <p:txBody>
          <a:bodyPr wrap="none" lIns="0" rIns="0" tIns="0" bIns="0" anchor="t">
            <a:noAutofit/>
          </a:bodyPr>
          <a:lstStyle/>
          <a:p>
            <a:pPr algn="l">
              <a:lnSpc>
                <a:spcPts val="2127"/>
              </a:lnSpc>
              <a:spcBef>
                <a:spcPts val="0"/>
              </a:spcBef>
              <a:spcAft>
                <a:spcPts val="0"/>
              </a:spcAft>
            </a:pPr>
            <a:r>
              <a:rPr sz="1675" b="0">
                <a:solidFill>
                  <a:srgbClr val="293E46"/>
                </a:solidFill>
                <a:latin typeface="Trebuchet MS"/>
              </a:rPr>
              <a:t>Independent observers (native,</a:t>
            </a:r>
            <a:br/>
            <a:r>
              <a:rPr sz="1675" b="0">
                <a:solidFill>
                  <a:srgbClr val="293E46"/>
                </a:solidFill>
                <a:latin typeface="Trebuchet MS"/>
              </a:rPr>
              <a:t>container)</a:t>
            </a:r>
          </a:p>
        </p:txBody>
      </p:sp>
      <p:sp>
        <p:nvSpPr>
          <p:cNvPr id="27" name="Oval 26"/>
          <p:cNvSpPr/>
          <p:nvPr/>
        </p:nvSpPr>
        <p:spPr>
          <a:xfrm>
            <a:off x="909828" y="323884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ody: Clause catalog and native optimizer"/>
          <p:cNvSpPr txBox="1"/>
          <p:nvPr/>
        </p:nvSpPr>
        <p:spPr>
          <a:xfrm>
            <a:off x="1143000" y="3138265"/>
            <a:ext cx="3483864" cy="608901"/>
          </a:xfrm>
          <a:prstGeom prst="rect">
            <a:avLst/>
          </a:prstGeom>
          <a:noFill/>
        </p:spPr>
        <p:txBody>
          <a:bodyPr wrap="none" lIns="0" rIns="0" tIns="0" bIns="0" anchor="t">
            <a:noAutofit/>
          </a:bodyPr>
          <a:lstStyle/>
          <a:p>
            <a:pPr algn="l">
              <a:lnSpc>
                <a:spcPts val="2127"/>
              </a:lnSpc>
              <a:spcBef>
                <a:spcPts val="0"/>
              </a:spcBef>
              <a:spcAft>
                <a:spcPts val="0"/>
              </a:spcAft>
            </a:pPr>
            <a:r>
              <a:rPr sz="1675" b="0">
                <a:solidFill>
                  <a:srgbClr val="293E46"/>
                </a:solidFill>
                <a:latin typeface="Trebuchet MS"/>
              </a:rPr>
              <a:t>Clause catalog and native</a:t>
            </a:r>
            <a:br/>
            <a:r>
              <a:rPr sz="1675" b="0">
                <a:solidFill>
                  <a:srgbClr val="293E46"/>
                </a:solidFill>
                <a:latin typeface="Trebuchet MS"/>
              </a:rPr>
              <a:t>optimizer</a:t>
            </a:r>
          </a:p>
        </p:txBody>
      </p:sp>
      <p:sp>
        <p:nvSpPr>
          <p:cNvPr id="29" name="Oval 28"/>
          <p:cNvSpPr/>
          <p:nvPr/>
        </p:nvSpPr>
        <p:spPr>
          <a:xfrm>
            <a:off x="909828" y="392090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ody: Offline qualification; benchmark importers"/>
          <p:cNvSpPr txBox="1"/>
          <p:nvPr/>
        </p:nvSpPr>
        <p:spPr>
          <a:xfrm>
            <a:off x="1143000" y="3820318"/>
            <a:ext cx="3483864" cy="608901"/>
          </a:xfrm>
          <a:prstGeom prst="rect">
            <a:avLst/>
          </a:prstGeom>
          <a:noFill/>
        </p:spPr>
        <p:txBody>
          <a:bodyPr wrap="none" lIns="0" rIns="0" tIns="0" bIns="0" anchor="t">
            <a:noAutofit/>
          </a:bodyPr>
          <a:lstStyle/>
          <a:p>
            <a:pPr algn="l">
              <a:lnSpc>
                <a:spcPts val="2127"/>
              </a:lnSpc>
              <a:spcBef>
                <a:spcPts val="0"/>
              </a:spcBef>
              <a:spcAft>
                <a:spcPts val="0"/>
              </a:spcAft>
            </a:pPr>
            <a:r>
              <a:rPr sz="1675" b="0">
                <a:solidFill>
                  <a:srgbClr val="293E46"/>
                </a:solidFill>
                <a:latin typeface="Trebuchet MS"/>
              </a:rPr>
              <a:t>Offline qualification; benchmark</a:t>
            </a:r>
            <a:br/>
            <a:r>
              <a:rPr sz="1675" b="0">
                <a:solidFill>
                  <a:srgbClr val="293E46"/>
                </a:solidFill>
                <a:latin typeface="Trebuchet MS"/>
              </a:rPr>
              <a:t>importers</a:t>
            </a:r>
          </a:p>
        </p:txBody>
      </p:sp>
      <p:sp>
        <p:nvSpPr>
          <p:cNvPr id="31" name="Rounded Rectangle 30"/>
          <p:cNvSpPr/>
          <p:nvPr/>
        </p:nvSpPr>
        <p:spPr>
          <a:xfrm>
            <a:off x="5193792" y="1773936"/>
            <a:ext cx="4242816" cy="2770632"/>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5201839" y="1781526"/>
            <a:ext cx="4228826" cy="2760116"/>
          </a:xfrm>
          <a:custGeom>
            <a:avLst/>
            <a:gdLst/>
            <a:ahLst/>
            <a:cxnLst/>
            <a:rect l="l" t="t" r="r" b="b"/>
            <a:pathLst>
              <a:path w="46247" h="30185">
                <a:moveTo>
                  <a:pt x="46224" y="15178"/>
                </a:moveTo>
                <a:lnTo>
                  <a:pt x="46140" y="19679"/>
                </a:lnTo>
                <a:lnTo>
                  <a:pt x="46247" y="21041"/>
                </a:lnTo>
                <a:lnTo>
                  <a:pt x="46148" y="22134"/>
                </a:lnTo>
                <a:lnTo>
                  <a:pt x="46066" y="23146"/>
                </a:lnTo>
                <a:lnTo>
                  <a:pt x="45791" y="23794"/>
                </a:lnTo>
                <a:lnTo>
                  <a:pt x="45657" y="24512"/>
                </a:lnTo>
                <a:lnTo>
                  <a:pt x="45648" y="24991"/>
                </a:lnTo>
                <a:lnTo>
                  <a:pt x="45420" y="25527"/>
                </a:lnTo>
                <a:lnTo>
                  <a:pt x="45046" y="25921"/>
                </a:lnTo>
                <a:lnTo>
                  <a:pt x="44941" y="26390"/>
                </a:lnTo>
                <a:lnTo>
                  <a:pt x="44675" y="26752"/>
                </a:lnTo>
                <a:lnTo>
                  <a:pt x="44373" y="27287"/>
                </a:lnTo>
                <a:lnTo>
                  <a:pt x="43983" y="27465"/>
                </a:lnTo>
                <a:lnTo>
                  <a:pt x="43491" y="27857"/>
                </a:lnTo>
                <a:lnTo>
                  <a:pt x="43278" y="28128"/>
                </a:lnTo>
                <a:lnTo>
                  <a:pt x="42739" y="28476"/>
                </a:lnTo>
                <a:lnTo>
                  <a:pt x="42404" y="28720"/>
                </a:lnTo>
                <a:lnTo>
                  <a:pt x="41738" y="28773"/>
                </a:lnTo>
                <a:lnTo>
                  <a:pt x="41108" y="29179"/>
                </a:lnTo>
                <a:lnTo>
                  <a:pt x="40546" y="29363"/>
                </a:lnTo>
                <a:lnTo>
                  <a:pt x="40066" y="29399"/>
                </a:lnTo>
                <a:lnTo>
                  <a:pt x="39128" y="29561"/>
                </a:lnTo>
                <a:lnTo>
                  <a:pt x="38314" y="29674"/>
                </a:lnTo>
                <a:lnTo>
                  <a:pt x="37603" y="29730"/>
                </a:lnTo>
                <a:lnTo>
                  <a:pt x="36576" y="29861"/>
                </a:lnTo>
                <a:lnTo>
                  <a:pt x="35337" y="30009"/>
                </a:lnTo>
                <a:lnTo>
                  <a:pt x="34158" y="29998"/>
                </a:lnTo>
                <a:lnTo>
                  <a:pt x="32403" y="30173"/>
                </a:lnTo>
                <a:lnTo>
                  <a:pt x="30131" y="30153"/>
                </a:lnTo>
                <a:lnTo>
                  <a:pt x="23110" y="30109"/>
                </a:lnTo>
                <a:lnTo>
                  <a:pt x="16099" y="30185"/>
                </a:lnTo>
                <a:lnTo>
                  <a:pt x="13857" y="30126"/>
                </a:lnTo>
                <a:lnTo>
                  <a:pt x="12204" y="30023"/>
                </a:lnTo>
                <a:lnTo>
                  <a:pt x="10783" y="29943"/>
                </a:lnTo>
                <a:lnTo>
                  <a:pt x="9555" y="29808"/>
                </a:lnTo>
                <a:lnTo>
                  <a:pt x="8717" y="29883"/>
                </a:lnTo>
                <a:lnTo>
                  <a:pt x="7712" y="29590"/>
                </a:lnTo>
                <a:lnTo>
                  <a:pt x="6974" y="29448"/>
                </a:lnTo>
                <a:lnTo>
                  <a:pt x="6327" y="29428"/>
                </a:lnTo>
                <a:lnTo>
                  <a:pt x="5688" y="29291"/>
                </a:lnTo>
                <a:lnTo>
                  <a:pt x="5007" y="29082"/>
                </a:lnTo>
                <a:lnTo>
                  <a:pt x="4357" y="28823"/>
                </a:lnTo>
                <a:lnTo>
                  <a:pt x="4059" y="28685"/>
                </a:lnTo>
                <a:lnTo>
                  <a:pt x="3399" y="28376"/>
                </a:lnTo>
                <a:lnTo>
                  <a:pt x="2936" y="28245"/>
                </a:lnTo>
                <a:lnTo>
                  <a:pt x="2534" y="27894"/>
                </a:lnTo>
                <a:lnTo>
                  <a:pt x="2164" y="27610"/>
                </a:lnTo>
                <a:lnTo>
                  <a:pt x="1997" y="27181"/>
                </a:lnTo>
                <a:lnTo>
                  <a:pt x="1688" y="26861"/>
                </a:lnTo>
                <a:lnTo>
                  <a:pt x="1359" y="26434"/>
                </a:lnTo>
                <a:lnTo>
                  <a:pt x="1137" y="26022"/>
                </a:lnTo>
                <a:lnTo>
                  <a:pt x="852" y="25493"/>
                </a:lnTo>
                <a:lnTo>
                  <a:pt x="587" y="24930"/>
                </a:lnTo>
                <a:lnTo>
                  <a:pt x="522" y="24485"/>
                </a:lnTo>
                <a:lnTo>
                  <a:pt x="407" y="23797"/>
                </a:lnTo>
                <a:lnTo>
                  <a:pt x="299" y="23056"/>
                </a:lnTo>
                <a:lnTo>
                  <a:pt x="44" y="22335"/>
                </a:lnTo>
                <a:lnTo>
                  <a:pt x="159" y="21066"/>
                </a:lnTo>
                <a:lnTo>
                  <a:pt x="7" y="19672"/>
                </a:lnTo>
                <a:lnTo>
                  <a:pt x="20" y="15006"/>
                </a:lnTo>
                <a:lnTo>
                  <a:pt x="0" y="10402"/>
                </a:lnTo>
                <a:lnTo>
                  <a:pt x="210" y="8914"/>
                </a:lnTo>
                <a:lnTo>
                  <a:pt x="27" y="7879"/>
                </a:lnTo>
                <a:lnTo>
                  <a:pt x="173" y="7123"/>
                </a:lnTo>
                <a:lnTo>
                  <a:pt x="417" y="6218"/>
                </a:lnTo>
                <a:lnTo>
                  <a:pt x="474" y="5592"/>
                </a:lnTo>
                <a:lnTo>
                  <a:pt x="676" y="5118"/>
                </a:lnTo>
                <a:lnTo>
                  <a:pt x="947" y="4625"/>
                </a:lnTo>
                <a:lnTo>
                  <a:pt x="1057" y="4159"/>
                </a:lnTo>
                <a:lnTo>
                  <a:pt x="1360" y="3781"/>
                </a:lnTo>
                <a:lnTo>
                  <a:pt x="1522" y="3203"/>
                </a:lnTo>
                <a:lnTo>
                  <a:pt x="1992" y="2928"/>
                </a:lnTo>
                <a:lnTo>
                  <a:pt x="2313" y="2504"/>
                </a:lnTo>
                <a:lnTo>
                  <a:pt x="2673" y="2356"/>
                </a:lnTo>
                <a:lnTo>
                  <a:pt x="3051" y="1996"/>
                </a:lnTo>
                <a:lnTo>
                  <a:pt x="3529" y="1642"/>
                </a:lnTo>
                <a:lnTo>
                  <a:pt x="3838" y="1371"/>
                </a:lnTo>
                <a:lnTo>
                  <a:pt x="4524" y="1340"/>
                </a:lnTo>
                <a:lnTo>
                  <a:pt x="4976" y="1085"/>
                </a:lnTo>
                <a:lnTo>
                  <a:pt x="5542" y="835"/>
                </a:lnTo>
                <a:lnTo>
                  <a:pt x="6236" y="730"/>
                </a:lnTo>
                <a:lnTo>
                  <a:pt x="7093" y="670"/>
                </a:lnTo>
                <a:lnTo>
                  <a:pt x="7893" y="380"/>
                </a:lnTo>
                <a:lnTo>
                  <a:pt x="8621" y="378"/>
                </a:lnTo>
                <a:lnTo>
                  <a:pt x="9541" y="207"/>
                </a:lnTo>
                <a:lnTo>
                  <a:pt x="10690" y="233"/>
                </a:lnTo>
                <a:lnTo>
                  <a:pt x="12206" y="76"/>
                </a:lnTo>
                <a:lnTo>
                  <a:pt x="13703" y="183"/>
                </a:lnTo>
                <a:lnTo>
                  <a:pt x="16008" y="158"/>
                </a:lnTo>
                <a:lnTo>
                  <a:pt x="23181" y="0"/>
                </a:lnTo>
                <a:lnTo>
                  <a:pt x="30193" y="100"/>
                </a:lnTo>
                <a:lnTo>
                  <a:pt x="32415" y="82"/>
                </a:lnTo>
                <a:lnTo>
                  <a:pt x="34111" y="101"/>
                </a:lnTo>
                <a:lnTo>
                  <a:pt x="35364" y="271"/>
                </a:lnTo>
                <a:lnTo>
                  <a:pt x="36442" y="355"/>
                </a:lnTo>
                <a:lnTo>
                  <a:pt x="37552" y="416"/>
                </a:lnTo>
                <a:lnTo>
                  <a:pt x="38424" y="485"/>
                </a:lnTo>
                <a:lnTo>
                  <a:pt x="39208" y="502"/>
                </a:lnTo>
                <a:lnTo>
                  <a:pt x="39908" y="799"/>
                </a:lnTo>
                <a:lnTo>
                  <a:pt x="40581" y="852"/>
                </a:lnTo>
                <a:lnTo>
                  <a:pt x="41123" y="1137"/>
                </a:lnTo>
                <a:lnTo>
                  <a:pt x="41670" y="1334"/>
                </a:lnTo>
                <a:lnTo>
                  <a:pt x="42289" y="1401"/>
                </a:lnTo>
                <a:lnTo>
                  <a:pt x="42758" y="1836"/>
                </a:lnTo>
                <a:lnTo>
                  <a:pt x="43194" y="1957"/>
                </a:lnTo>
                <a:lnTo>
                  <a:pt x="43662" y="2305"/>
                </a:lnTo>
                <a:lnTo>
                  <a:pt x="43968" y="2572"/>
                </a:lnTo>
                <a:lnTo>
                  <a:pt x="44302" y="3014"/>
                </a:lnTo>
                <a:lnTo>
                  <a:pt x="44600" y="3327"/>
                </a:lnTo>
                <a:lnTo>
                  <a:pt x="44960" y="3619"/>
                </a:lnTo>
                <a:lnTo>
                  <a:pt x="45112" y="4174"/>
                </a:lnTo>
                <a:lnTo>
                  <a:pt x="45370" y="4516"/>
                </a:lnTo>
                <a:lnTo>
                  <a:pt x="45551" y="5068"/>
                </a:lnTo>
                <a:lnTo>
                  <a:pt x="45833" y="5671"/>
                </a:lnTo>
                <a:lnTo>
                  <a:pt x="45843" y="6196"/>
                </a:lnTo>
                <a:lnTo>
                  <a:pt x="45968" y="7029"/>
                </a:lnTo>
                <a:lnTo>
                  <a:pt x="45950" y="8016"/>
                </a:lnTo>
                <a:lnTo>
                  <a:pt x="46042" y="8897"/>
                </a:lnTo>
                <a:lnTo>
                  <a:pt x="46236" y="10490"/>
                </a:lnTo>
                <a:lnTo>
                  <a:pt x="46198" y="15138"/>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5192969" y="1778691"/>
            <a:ext cx="4236324" cy="2761397"/>
          </a:xfrm>
          <a:custGeom>
            <a:avLst/>
            <a:gdLst/>
            <a:ahLst/>
            <a:cxnLst/>
            <a:rect l="l" t="t" r="r" b="b"/>
            <a:pathLst>
              <a:path w="46329" h="30199">
                <a:moveTo>
                  <a:pt x="46329" y="15040"/>
                </a:moveTo>
                <a:lnTo>
                  <a:pt x="46241" y="19613"/>
                </a:lnTo>
                <a:lnTo>
                  <a:pt x="46310" y="21231"/>
                </a:lnTo>
                <a:lnTo>
                  <a:pt x="46121" y="22286"/>
                </a:lnTo>
                <a:lnTo>
                  <a:pt x="46031" y="23070"/>
                </a:lnTo>
                <a:lnTo>
                  <a:pt x="46093" y="23840"/>
                </a:lnTo>
                <a:lnTo>
                  <a:pt x="45785" y="24538"/>
                </a:lnTo>
                <a:lnTo>
                  <a:pt x="45641" y="25138"/>
                </a:lnTo>
                <a:lnTo>
                  <a:pt x="45503" y="25634"/>
                </a:lnTo>
                <a:lnTo>
                  <a:pt x="45207" y="26068"/>
                </a:lnTo>
                <a:lnTo>
                  <a:pt x="45100" y="26380"/>
                </a:lnTo>
                <a:lnTo>
                  <a:pt x="44801" y="26985"/>
                </a:lnTo>
                <a:lnTo>
                  <a:pt x="44365" y="27169"/>
                </a:lnTo>
                <a:lnTo>
                  <a:pt x="44124" y="27599"/>
                </a:lnTo>
                <a:lnTo>
                  <a:pt x="43739" y="27973"/>
                </a:lnTo>
                <a:lnTo>
                  <a:pt x="43282" y="28111"/>
                </a:lnTo>
                <a:lnTo>
                  <a:pt x="42822" y="28479"/>
                </a:lnTo>
                <a:lnTo>
                  <a:pt x="42364" y="28644"/>
                </a:lnTo>
                <a:lnTo>
                  <a:pt x="41972" y="28876"/>
                </a:lnTo>
                <a:lnTo>
                  <a:pt x="41350" y="29196"/>
                </a:lnTo>
                <a:lnTo>
                  <a:pt x="40591" y="29347"/>
                </a:lnTo>
                <a:lnTo>
                  <a:pt x="40016" y="29341"/>
                </a:lnTo>
                <a:lnTo>
                  <a:pt x="39282" y="29520"/>
                </a:lnTo>
                <a:lnTo>
                  <a:pt x="38632" y="29601"/>
                </a:lnTo>
                <a:lnTo>
                  <a:pt x="37737" y="29878"/>
                </a:lnTo>
                <a:lnTo>
                  <a:pt x="36609" y="29919"/>
                </a:lnTo>
                <a:lnTo>
                  <a:pt x="35640" y="30076"/>
                </a:lnTo>
                <a:lnTo>
                  <a:pt x="34248" y="30171"/>
                </a:lnTo>
                <a:lnTo>
                  <a:pt x="32611" y="30097"/>
                </a:lnTo>
                <a:lnTo>
                  <a:pt x="30332" y="30077"/>
                </a:lnTo>
                <a:lnTo>
                  <a:pt x="23121" y="30199"/>
                </a:lnTo>
                <a:lnTo>
                  <a:pt x="16223" y="30098"/>
                </a:lnTo>
                <a:lnTo>
                  <a:pt x="13912" y="29990"/>
                </a:lnTo>
                <a:lnTo>
                  <a:pt x="12307" y="30153"/>
                </a:lnTo>
                <a:lnTo>
                  <a:pt x="10991" y="30111"/>
                </a:lnTo>
                <a:lnTo>
                  <a:pt x="9839" y="29968"/>
                </a:lnTo>
                <a:lnTo>
                  <a:pt x="8728" y="29754"/>
                </a:lnTo>
                <a:lnTo>
                  <a:pt x="7924" y="29638"/>
                </a:lnTo>
                <a:lnTo>
                  <a:pt x="7086" y="29574"/>
                </a:lnTo>
                <a:lnTo>
                  <a:pt x="6253" y="29551"/>
                </a:lnTo>
                <a:lnTo>
                  <a:pt x="5717" y="29359"/>
                </a:lnTo>
                <a:lnTo>
                  <a:pt x="5065" y="29211"/>
                </a:lnTo>
                <a:lnTo>
                  <a:pt x="4596" y="28888"/>
                </a:lnTo>
                <a:lnTo>
                  <a:pt x="4093" y="28594"/>
                </a:lnTo>
                <a:lnTo>
                  <a:pt x="3678" y="28490"/>
                </a:lnTo>
                <a:lnTo>
                  <a:pt x="3237" y="28202"/>
                </a:lnTo>
                <a:lnTo>
                  <a:pt x="2781" y="27922"/>
                </a:lnTo>
                <a:lnTo>
                  <a:pt x="2295" y="27603"/>
                </a:lnTo>
                <a:lnTo>
                  <a:pt x="1907" y="27189"/>
                </a:lnTo>
                <a:lnTo>
                  <a:pt x="1748" y="26824"/>
                </a:lnTo>
                <a:lnTo>
                  <a:pt x="1427" y="26484"/>
                </a:lnTo>
                <a:lnTo>
                  <a:pt x="1100" y="25981"/>
                </a:lnTo>
                <a:lnTo>
                  <a:pt x="894" y="25682"/>
                </a:lnTo>
                <a:lnTo>
                  <a:pt x="805" y="24991"/>
                </a:lnTo>
                <a:lnTo>
                  <a:pt x="491" y="24531"/>
                </a:lnTo>
                <a:lnTo>
                  <a:pt x="510" y="23792"/>
                </a:lnTo>
                <a:lnTo>
                  <a:pt x="296" y="23132"/>
                </a:lnTo>
                <a:lnTo>
                  <a:pt x="192" y="22194"/>
                </a:lnTo>
                <a:lnTo>
                  <a:pt x="240" y="21242"/>
                </a:lnTo>
                <a:lnTo>
                  <a:pt x="200" y="19781"/>
                </a:lnTo>
                <a:lnTo>
                  <a:pt x="0" y="15211"/>
                </a:lnTo>
                <a:lnTo>
                  <a:pt x="258" y="10493"/>
                </a:lnTo>
                <a:lnTo>
                  <a:pt x="116" y="9048"/>
                </a:lnTo>
                <a:lnTo>
                  <a:pt x="268" y="7867"/>
                </a:lnTo>
                <a:lnTo>
                  <a:pt x="403" y="7126"/>
                </a:lnTo>
                <a:lnTo>
                  <a:pt x="341" y="6426"/>
                </a:lnTo>
                <a:lnTo>
                  <a:pt x="704" y="5584"/>
                </a:lnTo>
                <a:lnTo>
                  <a:pt x="778" y="5096"/>
                </a:lnTo>
                <a:lnTo>
                  <a:pt x="978" y="4721"/>
                </a:lnTo>
                <a:lnTo>
                  <a:pt x="1136" y="4253"/>
                </a:lnTo>
                <a:lnTo>
                  <a:pt x="1482" y="3790"/>
                </a:lnTo>
                <a:lnTo>
                  <a:pt x="1583" y="3323"/>
                </a:lnTo>
                <a:lnTo>
                  <a:pt x="1909" y="2949"/>
                </a:lnTo>
                <a:lnTo>
                  <a:pt x="2344" y="2492"/>
                </a:lnTo>
                <a:lnTo>
                  <a:pt x="2784" y="2395"/>
                </a:lnTo>
                <a:lnTo>
                  <a:pt x="3182" y="2040"/>
                </a:lnTo>
                <a:lnTo>
                  <a:pt x="3655" y="1797"/>
                </a:lnTo>
                <a:lnTo>
                  <a:pt x="4015" y="1515"/>
                </a:lnTo>
                <a:lnTo>
                  <a:pt x="4438" y="1258"/>
                </a:lnTo>
                <a:lnTo>
                  <a:pt x="5225" y="1182"/>
                </a:lnTo>
                <a:lnTo>
                  <a:pt x="5604" y="906"/>
                </a:lnTo>
                <a:lnTo>
                  <a:pt x="6262" y="770"/>
                </a:lnTo>
                <a:lnTo>
                  <a:pt x="7052" y="614"/>
                </a:lnTo>
                <a:lnTo>
                  <a:pt x="7795" y="465"/>
                </a:lnTo>
                <a:lnTo>
                  <a:pt x="8733" y="423"/>
                </a:lnTo>
                <a:lnTo>
                  <a:pt x="9831" y="325"/>
                </a:lnTo>
                <a:lnTo>
                  <a:pt x="10972" y="299"/>
                </a:lnTo>
                <a:lnTo>
                  <a:pt x="12265" y="58"/>
                </a:lnTo>
                <a:lnTo>
                  <a:pt x="13966" y="109"/>
                </a:lnTo>
                <a:lnTo>
                  <a:pt x="16186" y="0"/>
                </a:lnTo>
                <a:lnTo>
                  <a:pt x="23237" y="4"/>
                </a:lnTo>
                <a:lnTo>
                  <a:pt x="30337" y="55"/>
                </a:lnTo>
                <a:lnTo>
                  <a:pt x="32653" y="18"/>
                </a:lnTo>
                <a:lnTo>
                  <a:pt x="34162" y="252"/>
                </a:lnTo>
                <a:lnTo>
                  <a:pt x="35563" y="135"/>
                </a:lnTo>
                <a:lnTo>
                  <a:pt x="36732" y="296"/>
                </a:lnTo>
                <a:lnTo>
                  <a:pt x="37616" y="319"/>
                </a:lnTo>
                <a:lnTo>
                  <a:pt x="38426" y="520"/>
                </a:lnTo>
                <a:lnTo>
                  <a:pt x="39419" y="597"/>
                </a:lnTo>
                <a:lnTo>
                  <a:pt x="40049" y="767"/>
                </a:lnTo>
                <a:lnTo>
                  <a:pt x="40808" y="998"/>
                </a:lnTo>
                <a:lnTo>
                  <a:pt x="41267" y="1126"/>
                </a:lnTo>
                <a:lnTo>
                  <a:pt x="41938" y="1327"/>
                </a:lnTo>
                <a:lnTo>
                  <a:pt x="42420" y="1561"/>
                </a:lnTo>
                <a:lnTo>
                  <a:pt x="42790" y="1824"/>
                </a:lnTo>
                <a:lnTo>
                  <a:pt x="43175" y="1978"/>
                </a:lnTo>
                <a:lnTo>
                  <a:pt x="43723" y="2329"/>
                </a:lnTo>
                <a:lnTo>
                  <a:pt x="44061" y="2493"/>
                </a:lnTo>
                <a:lnTo>
                  <a:pt x="44334" y="2864"/>
                </a:lnTo>
                <a:lnTo>
                  <a:pt x="44601" y="3348"/>
                </a:lnTo>
                <a:lnTo>
                  <a:pt x="45102" y="3763"/>
                </a:lnTo>
                <a:lnTo>
                  <a:pt x="45245" y="4029"/>
                </a:lnTo>
                <a:lnTo>
                  <a:pt x="45448" y="4631"/>
                </a:lnTo>
                <a:lnTo>
                  <a:pt x="45591" y="5220"/>
                </a:lnTo>
                <a:lnTo>
                  <a:pt x="45895" y="5804"/>
                </a:lnTo>
                <a:lnTo>
                  <a:pt x="45954" y="6412"/>
                </a:lnTo>
                <a:lnTo>
                  <a:pt x="46111" y="7022"/>
                </a:lnTo>
                <a:lnTo>
                  <a:pt x="46235" y="7829"/>
                </a:lnTo>
                <a:lnTo>
                  <a:pt x="46185" y="9034"/>
                </a:lnTo>
                <a:lnTo>
                  <a:pt x="46152" y="10511"/>
                </a:lnTo>
                <a:lnTo>
                  <a:pt x="46184" y="15199"/>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9350654" y="3892509"/>
            <a:ext cx="56418" cy="225765"/>
          </a:xfrm>
          <a:custGeom>
            <a:avLst/>
            <a:gdLst/>
            <a:ahLst/>
            <a:cxnLst/>
            <a:rect l="l" t="t" r="r" b="b"/>
            <a:pathLst>
              <a:path w="617" h="2469">
                <a:moveTo>
                  <a:pt x="617" y="0"/>
                </a:moveTo>
                <a:lnTo>
                  <a:pt x="502" y="734"/>
                </a:lnTo>
                <a:lnTo>
                  <a:pt x="361" y="1377"/>
                </a:lnTo>
                <a:lnTo>
                  <a:pt x="194" y="1951"/>
                </a:lnTo>
                <a:lnTo>
                  <a:pt x="0" y="246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8715146" y="4440235"/>
            <a:ext cx="255118" cy="56053"/>
          </a:xfrm>
          <a:custGeom>
            <a:avLst/>
            <a:gdLst/>
            <a:ahLst/>
            <a:cxnLst/>
            <a:rect l="l" t="t" r="r" b="b"/>
            <a:pathLst>
              <a:path w="2790" h="613">
                <a:moveTo>
                  <a:pt x="2790" y="0"/>
                </a:moveTo>
                <a:lnTo>
                  <a:pt x="2181" y="181"/>
                </a:lnTo>
                <a:lnTo>
                  <a:pt x="1519" y="343"/>
                </a:lnTo>
                <a:lnTo>
                  <a:pt x="795" y="487"/>
                </a:lnTo>
                <a:lnTo>
                  <a:pt x="0" y="613"/>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5842559" y="4484766"/>
            <a:ext cx="346649" cy="36759"/>
          </a:xfrm>
          <a:custGeom>
            <a:avLst/>
            <a:gdLst/>
            <a:ahLst/>
            <a:cxnLst/>
            <a:rect l="l" t="t" r="r" b="b"/>
            <a:pathLst>
              <a:path w="3791" h="402">
                <a:moveTo>
                  <a:pt x="3791" y="402"/>
                </a:moveTo>
                <a:lnTo>
                  <a:pt x="2664" y="327"/>
                </a:lnTo>
                <a:lnTo>
                  <a:pt x="1676" y="235"/>
                </a:lnTo>
                <a:lnTo>
                  <a:pt x="795" y="126"/>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5262006" y="4070909"/>
            <a:ext cx="86136" cy="166146"/>
          </a:xfrm>
          <a:custGeom>
            <a:avLst/>
            <a:gdLst/>
            <a:ahLst/>
            <a:cxnLst/>
            <a:rect l="l" t="t" r="r" b="b"/>
            <a:pathLst>
              <a:path w="942" h="1817">
                <a:moveTo>
                  <a:pt x="942" y="1817"/>
                </a:moveTo>
                <a:lnTo>
                  <a:pt x="664" y="1421"/>
                </a:lnTo>
                <a:lnTo>
                  <a:pt x="415" y="989"/>
                </a:lnTo>
                <a:lnTo>
                  <a:pt x="194" y="518"/>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5223327" y="2200229"/>
            <a:ext cx="56418" cy="225765"/>
          </a:xfrm>
          <a:custGeom>
            <a:avLst/>
            <a:gdLst/>
            <a:ahLst/>
            <a:cxnLst/>
            <a:rect l="l" t="t" r="r" b="b"/>
            <a:pathLst>
              <a:path w="617" h="2469">
                <a:moveTo>
                  <a:pt x="0" y="2469"/>
                </a:moveTo>
                <a:lnTo>
                  <a:pt x="115" y="1735"/>
                </a:lnTo>
                <a:lnTo>
                  <a:pt x="256" y="1092"/>
                </a:lnTo>
                <a:lnTo>
                  <a:pt x="423" y="518"/>
                </a:lnTo>
                <a:lnTo>
                  <a:pt x="617"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5660136" y="1822216"/>
            <a:ext cx="255118" cy="56053"/>
          </a:xfrm>
          <a:custGeom>
            <a:avLst/>
            <a:gdLst/>
            <a:ahLst/>
            <a:cxnLst/>
            <a:rect l="l" t="t" r="r" b="b"/>
            <a:pathLst>
              <a:path w="2790" h="613">
                <a:moveTo>
                  <a:pt x="0" y="613"/>
                </a:moveTo>
                <a:lnTo>
                  <a:pt x="609" y="432"/>
                </a:lnTo>
                <a:lnTo>
                  <a:pt x="1271" y="270"/>
                </a:lnTo>
                <a:lnTo>
                  <a:pt x="1995" y="126"/>
                </a:lnTo>
                <a:lnTo>
                  <a:pt x="279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8441192" y="1796979"/>
            <a:ext cx="346649" cy="36759"/>
          </a:xfrm>
          <a:custGeom>
            <a:avLst/>
            <a:gdLst/>
            <a:ahLst/>
            <a:cxnLst/>
            <a:rect l="l" t="t" r="r" b="b"/>
            <a:pathLst>
              <a:path w="3791" h="402">
                <a:moveTo>
                  <a:pt x="0" y="0"/>
                </a:moveTo>
                <a:lnTo>
                  <a:pt x="1127" y="75"/>
                </a:lnTo>
                <a:lnTo>
                  <a:pt x="2115" y="167"/>
                </a:lnTo>
                <a:lnTo>
                  <a:pt x="2996" y="276"/>
                </a:lnTo>
                <a:lnTo>
                  <a:pt x="3791" y="402"/>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9282257" y="2081449"/>
            <a:ext cx="86136" cy="166146"/>
          </a:xfrm>
          <a:custGeom>
            <a:avLst/>
            <a:gdLst/>
            <a:ahLst/>
            <a:cxnLst/>
            <a:rect l="l" t="t" r="r" b="b"/>
            <a:pathLst>
              <a:path w="942" h="1817">
                <a:moveTo>
                  <a:pt x="0" y="0"/>
                </a:moveTo>
                <a:lnTo>
                  <a:pt x="278" y="396"/>
                </a:lnTo>
                <a:lnTo>
                  <a:pt x="527" y="828"/>
                </a:lnTo>
                <a:lnTo>
                  <a:pt x="748" y="1299"/>
                </a:lnTo>
                <a:lnTo>
                  <a:pt x="942" y="1817"/>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ody: Still needed for the core comparison"/>
          <p:cNvSpPr txBox="1"/>
          <p:nvPr/>
        </p:nvSpPr>
        <p:spPr>
          <a:xfrm>
            <a:off x="5550408" y="1947672"/>
            <a:ext cx="3529584" cy="707644"/>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9D7B35"/>
                </a:solidFill>
                <a:latin typeface="Chalkboard SE"/>
              </a:rPr>
              <a:t>Still needed for the core</a:t>
            </a:r>
            <a:br/>
            <a:r>
              <a:rPr sz="1850" b="1">
                <a:solidFill>
                  <a:srgbClr val="9D7B35"/>
                </a:solidFill>
                <a:latin typeface="Chalkboard SE"/>
              </a:rPr>
              <a:t>comparison</a:t>
            </a:r>
          </a:p>
        </p:txBody>
      </p:sp>
      <p:sp>
        <p:nvSpPr>
          <p:cNvPr id="43" name="Oval 42"/>
          <p:cNvSpPr/>
          <p:nvPr/>
        </p:nvSpPr>
        <p:spPr>
          <a:xfrm>
            <a:off x="5463540" y="2946273"/>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ody: ImpossibleBench actor-environment repair"/>
          <p:cNvSpPr txBox="1"/>
          <p:nvPr/>
        </p:nvSpPr>
        <p:spPr>
          <a:xfrm>
            <a:off x="5696712" y="2845689"/>
            <a:ext cx="3483864" cy="633095"/>
          </a:xfrm>
          <a:prstGeom prst="rect">
            <a:avLst/>
          </a:prstGeom>
          <a:noFill/>
        </p:spPr>
        <p:txBody>
          <a:bodyPr wrap="none" lIns="0" rIns="0" tIns="0" bIns="0" anchor="t">
            <a:noAutofit/>
          </a:bodyPr>
          <a:lstStyle/>
          <a:p>
            <a:pPr algn="l">
              <a:lnSpc>
                <a:spcPts val="2222"/>
              </a:lnSpc>
              <a:spcBef>
                <a:spcPts val="0"/>
              </a:spcBef>
              <a:spcAft>
                <a:spcPts val="0"/>
              </a:spcAft>
            </a:pPr>
            <a:r>
              <a:rPr sz="1750" b="0">
                <a:solidFill>
                  <a:srgbClr val="293E46"/>
                </a:solidFill>
                <a:latin typeface="Trebuchet MS"/>
              </a:rPr>
              <a:t>ImpossibleBench</a:t>
            </a:r>
            <a:br/>
            <a:r>
              <a:rPr sz="1750" b="0">
                <a:solidFill>
                  <a:srgbClr val="293E46"/>
                </a:solidFill>
                <a:latin typeface="Trebuchet MS"/>
              </a:rPr>
              <a:t>actor-environment repair</a:t>
            </a:r>
          </a:p>
        </p:txBody>
      </p:sp>
      <p:sp>
        <p:nvSpPr>
          <p:cNvPr id="45" name="Oval 44"/>
          <p:cNvSpPr/>
          <p:nvPr/>
        </p:nvSpPr>
        <p:spPr>
          <a:xfrm>
            <a:off x="5463540" y="365252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ody: Matched B3 vs B4 ablation"/>
          <p:cNvSpPr txBox="1"/>
          <p:nvPr/>
        </p:nvSpPr>
        <p:spPr>
          <a:xfrm>
            <a:off x="5696712" y="3551936"/>
            <a:ext cx="3483864" cy="350837"/>
          </a:xfrm>
          <a:prstGeom prst="rect">
            <a:avLst/>
          </a:prstGeom>
          <a:noFill/>
        </p:spPr>
        <p:txBody>
          <a:bodyPr wrap="none" lIns="0" rIns="0" tIns="0" bIns="0" anchor="t">
            <a:noAutofit/>
          </a:bodyPr>
          <a:lstStyle/>
          <a:p>
            <a:pPr algn="l">
              <a:lnSpc>
                <a:spcPts val="2222"/>
              </a:lnSpc>
              <a:spcBef>
                <a:spcPts val="0"/>
              </a:spcBef>
              <a:spcAft>
                <a:spcPts val="0"/>
              </a:spcAft>
            </a:pPr>
            <a:r>
              <a:rPr sz="1750" b="0">
                <a:solidFill>
                  <a:srgbClr val="293E46"/>
                </a:solidFill>
                <a:latin typeface="Trebuchet MS"/>
              </a:rPr>
              <a:t>Matched B3 vs B4 ablation</a:t>
            </a:r>
          </a:p>
        </p:txBody>
      </p:sp>
      <p:sp>
        <p:nvSpPr>
          <p:cNvPr id="47" name="Oval 46"/>
          <p:cNvSpPr/>
          <p:nvPr/>
        </p:nvSpPr>
        <p:spPr>
          <a:xfrm>
            <a:off x="5463540" y="407650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ody: Pre-registered splits and budgets"/>
          <p:cNvSpPr txBox="1"/>
          <p:nvPr/>
        </p:nvSpPr>
        <p:spPr>
          <a:xfrm>
            <a:off x="5696712" y="3975925"/>
            <a:ext cx="3483864" cy="350837"/>
          </a:xfrm>
          <a:prstGeom prst="rect">
            <a:avLst/>
          </a:prstGeom>
          <a:noFill/>
        </p:spPr>
        <p:txBody>
          <a:bodyPr wrap="none" lIns="0" rIns="0" tIns="0" bIns="0" anchor="t">
            <a:noAutofit/>
          </a:bodyPr>
          <a:lstStyle/>
          <a:p>
            <a:pPr algn="l">
              <a:lnSpc>
                <a:spcPts val="2222"/>
              </a:lnSpc>
              <a:spcBef>
                <a:spcPts val="0"/>
              </a:spcBef>
              <a:spcAft>
                <a:spcPts val="0"/>
              </a:spcAft>
            </a:pPr>
            <a:r>
              <a:rPr sz="1750" b="0">
                <a:solidFill>
                  <a:srgbClr val="293E46"/>
                </a:solidFill>
                <a:latin typeface="Trebuchet MS"/>
              </a:rPr>
              <a:t>Pre-registered splits and budgets</a:t>
            </a:r>
          </a:p>
        </p:txBody>
      </p:sp>
      <p:sp>
        <p:nvSpPr>
          <p:cNvPr id="49" name="Rounded Rectangle 48"/>
          <p:cNvSpPr/>
          <p:nvPr/>
        </p:nvSpPr>
        <p:spPr>
          <a:xfrm>
            <a:off x="9747504" y="1773936"/>
            <a:ext cx="4242816" cy="2770632"/>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9751253" y="1775582"/>
            <a:ext cx="4237330" cy="2766334"/>
          </a:xfrm>
          <a:custGeom>
            <a:avLst/>
            <a:gdLst/>
            <a:ahLst/>
            <a:cxnLst/>
            <a:rect l="l" t="t" r="r" b="b"/>
            <a:pathLst>
              <a:path w="46340" h="30253">
                <a:moveTo>
                  <a:pt x="46262" y="15119"/>
                </a:moveTo>
                <a:lnTo>
                  <a:pt x="46129" y="19652"/>
                </a:lnTo>
                <a:lnTo>
                  <a:pt x="46171" y="21279"/>
                </a:lnTo>
                <a:lnTo>
                  <a:pt x="46112" y="22401"/>
                </a:lnTo>
                <a:lnTo>
                  <a:pt x="45939" y="23257"/>
                </a:lnTo>
                <a:lnTo>
                  <a:pt x="45970" y="23973"/>
                </a:lnTo>
                <a:lnTo>
                  <a:pt x="45702" y="24474"/>
                </a:lnTo>
                <a:lnTo>
                  <a:pt x="45601" y="25206"/>
                </a:lnTo>
                <a:lnTo>
                  <a:pt x="45366" y="25640"/>
                </a:lnTo>
                <a:lnTo>
                  <a:pt x="45265" y="25979"/>
                </a:lnTo>
                <a:lnTo>
                  <a:pt x="44894" y="26510"/>
                </a:lnTo>
                <a:lnTo>
                  <a:pt x="44580" y="26929"/>
                </a:lnTo>
                <a:lnTo>
                  <a:pt x="44322" y="27180"/>
                </a:lnTo>
                <a:lnTo>
                  <a:pt x="43974" y="27736"/>
                </a:lnTo>
                <a:lnTo>
                  <a:pt x="43532" y="27892"/>
                </a:lnTo>
                <a:lnTo>
                  <a:pt x="43255" y="28116"/>
                </a:lnTo>
                <a:lnTo>
                  <a:pt x="42769" y="28529"/>
                </a:lnTo>
                <a:lnTo>
                  <a:pt x="42457" y="28822"/>
                </a:lnTo>
                <a:lnTo>
                  <a:pt x="41703" y="28968"/>
                </a:lnTo>
                <a:lnTo>
                  <a:pt x="41166" y="29105"/>
                </a:lnTo>
                <a:lnTo>
                  <a:pt x="40767" y="29246"/>
                </a:lnTo>
                <a:lnTo>
                  <a:pt x="39991" y="29565"/>
                </a:lnTo>
                <a:lnTo>
                  <a:pt x="39345" y="29511"/>
                </a:lnTo>
                <a:lnTo>
                  <a:pt x="38558" y="29672"/>
                </a:lnTo>
                <a:lnTo>
                  <a:pt x="37695" y="29815"/>
                </a:lnTo>
                <a:lnTo>
                  <a:pt x="36541" y="29890"/>
                </a:lnTo>
                <a:lnTo>
                  <a:pt x="35398" y="29929"/>
                </a:lnTo>
                <a:lnTo>
                  <a:pt x="34217" y="30170"/>
                </a:lnTo>
                <a:lnTo>
                  <a:pt x="32535" y="30070"/>
                </a:lnTo>
                <a:lnTo>
                  <a:pt x="30139" y="30123"/>
                </a:lnTo>
                <a:lnTo>
                  <a:pt x="23067" y="30105"/>
                </a:lnTo>
                <a:lnTo>
                  <a:pt x="16197" y="30253"/>
                </a:lnTo>
                <a:lnTo>
                  <a:pt x="13717" y="30025"/>
                </a:lnTo>
                <a:lnTo>
                  <a:pt x="12256" y="30167"/>
                </a:lnTo>
                <a:lnTo>
                  <a:pt x="10944" y="29962"/>
                </a:lnTo>
                <a:lnTo>
                  <a:pt x="9722" y="30066"/>
                </a:lnTo>
                <a:lnTo>
                  <a:pt x="8817" y="29968"/>
                </a:lnTo>
                <a:lnTo>
                  <a:pt x="7822" y="29843"/>
                </a:lnTo>
                <a:lnTo>
                  <a:pt x="7118" y="29695"/>
                </a:lnTo>
                <a:lnTo>
                  <a:pt x="6339" y="29493"/>
                </a:lnTo>
                <a:lnTo>
                  <a:pt x="5618" y="29375"/>
                </a:lnTo>
                <a:lnTo>
                  <a:pt x="5117" y="29129"/>
                </a:lnTo>
                <a:lnTo>
                  <a:pt x="4486" y="28827"/>
                </a:lnTo>
                <a:lnTo>
                  <a:pt x="4025" y="28681"/>
                </a:lnTo>
                <a:lnTo>
                  <a:pt x="3447" y="28508"/>
                </a:lnTo>
                <a:lnTo>
                  <a:pt x="3126" y="28184"/>
                </a:lnTo>
                <a:lnTo>
                  <a:pt x="2775" y="28037"/>
                </a:lnTo>
                <a:lnTo>
                  <a:pt x="2305" y="27616"/>
                </a:lnTo>
                <a:lnTo>
                  <a:pt x="1857" y="27173"/>
                </a:lnTo>
                <a:lnTo>
                  <a:pt x="1587" y="26848"/>
                </a:lnTo>
                <a:lnTo>
                  <a:pt x="1466" y="26592"/>
                </a:lnTo>
                <a:lnTo>
                  <a:pt x="1028" y="26185"/>
                </a:lnTo>
                <a:lnTo>
                  <a:pt x="783" y="25619"/>
                </a:lnTo>
                <a:lnTo>
                  <a:pt x="616" y="25186"/>
                </a:lnTo>
                <a:lnTo>
                  <a:pt x="540" y="24516"/>
                </a:lnTo>
                <a:lnTo>
                  <a:pt x="400" y="23849"/>
                </a:lnTo>
                <a:lnTo>
                  <a:pt x="322" y="23191"/>
                </a:lnTo>
                <a:lnTo>
                  <a:pt x="100" y="22203"/>
                </a:lnTo>
                <a:lnTo>
                  <a:pt x="196" y="21230"/>
                </a:lnTo>
                <a:lnTo>
                  <a:pt x="87" y="19865"/>
                </a:lnTo>
                <a:lnTo>
                  <a:pt x="73" y="15051"/>
                </a:lnTo>
                <a:lnTo>
                  <a:pt x="58" y="10431"/>
                </a:lnTo>
                <a:lnTo>
                  <a:pt x="0" y="8951"/>
                </a:lnTo>
                <a:lnTo>
                  <a:pt x="98" y="8022"/>
                </a:lnTo>
                <a:lnTo>
                  <a:pt x="301" y="7083"/>
                </a:lnTo>
                <a:lnTo>
                  <a:pt x="481" y="6432"/>
                </a:lnTo>
                <a:lnTo>
                  <a:pt x="477" y="5748"/>
                </a:lnTo>
                <a:lnTo>
                  <a:pt x="732" y="5258"/>
                </a:lnTo>
                <a:lnTo>
                  <a:pt x="965" y="4665"/>
                </a:lnTo>
                <a:lnTo>
                  <a:pt x="1210" y="4194"/>
                </a:lnTo>
                <a:lnTo>
                  <a:pt x="1325" y="3808"/>
                </a:lnTo>
                <a:lnTo>
                  <a:pt x="1559" y="3410"/>
                </a:lnTo>
                <a:lnTo>
                  <a:pt x="1950" y="2953"/>
                </a:lnTo>
                <a:lnTo>
                  <a:pt x="2218" y="2707"/>
                </a:lnTo>
                <a:lnTo>
                  <a:pt x="2610" y="2371"/>
                </a:lnTo>
                <a:lnTo>
                  <a:pt x="3104" y="1951"/>
                </a:lnTo>
                <a:lnTo>
                  <a:pt x="3611" y="1737"/>
                </a:lnTo>
                <a:lnTo>
                  <a:pt x="3976" y="1538"/>
                </a:lnTo>
                <a:lnTo>
                  <a:pt x="4551" y="1362"/>
                </a:lnTo>
                <a:lnTo>
                  <a:pt x="5058" y="1073"/>
                </a:lnTo>
                <a:lnTo>
                  <a:pt x="5548" y="1062"/>
                </a:lnTo>
                <a:lnTo>
                  <a:pt x="6222" y="667"/>
                </a:lnTo>
                <a:lnTo>
                  <a:pt x="6938" y="676"/>
                </a:lnTo>
                <a:lnTo>
                  <a:pt x="7748" y="583"/>
                </a:lnTo>
                <a:lnTo>
                  <a:pt x="8705" y="427"/>
                </a:lnTo>
                <a:lnTo>
                  <a:pt x="9651" y="219"/>
                </a:lnTo>
                <a:lnTo>
                  <a:pt x="10726" y="142"/>
                </a:lnTo>
                <a:lnTo>
                  <a:pt x="12204" y="183"/>
                </a:lnTo>
                <a:lnTo>
                  <a:pt x="13709" y="236"/>
                </a:lnTo>
                <a:lnTo>
                  <a:pt x="16106" y="0"/>
                </a:lnTo>
                <a:lnTo>
                  <a:pt x="23094" y="17"/>
                </a:lnTo>
                <a:lnTo>
                  <a:pt x="30169" y="34"/>
                </a:lnTo>
                <a:lnTo>
                  <a:pt x="32514" y="116"/>
                </a:lnTo>
                <a:lnTo>
                  <a:pt x="34270" y="125"/>
                </a:lnTo>
                <a:lnTo>
                  <a:pt x="35600" y="354"/>
                </a:lnTo>
                <a:lnTo>
                  <a:pt x="36592" y="311"/>
                </a:lnTo>
                <a:lnTo>
                  <a:pt x="37524" y="401"/>
                </a:lnTo>
                <a:lnTo>
                  <a:pt x="38534" y="391"/>
                </a:lnTo>
                <a:lnTo>
                  <a:pt x="39311" y="678"/>
                </a:lnTo>
                <a:lnTo>
                  <a:pt x="39888" y="808"/>
                </a:lnTo>
                <a:lnTo>
                  <a:pt x="40636" y="963"/>
                </a:lnTo>
                <a:lnTo>
                  <a:pt x="41355" y="1119"/>
                </a:lnTo>
                <a:lnTo>
                  <a:pt x="41764" y="1227"/>
                </a:lnTo>
                <a:lnTo>
                  <a:pt x="42415" y="1569"/>
                </a:lnTo>
                <a:lnTo>
                  <a:pt x="42726" y="1793"/>
                </a:lnTo>
                <a:lnTo>
                  <a:pt x="43275" y="2041"/>
                </a:lnTo>
                <a:lnTo>
                  <a:pt x="43660" y="2367"/>
                </a:lnTo>
                <a:lnTo>
                  <a:pt x="44097" y="2533"/>
                </a:lnTo>
                <a:lnTo>
                  <a:pt x="44253" y="3050"/>
                </a:lnTo>
                <a:lnTo>
                  <a:pt x="44605" y="3344"/>
                </a:lnTo>
                <a:lnTo>
                  <a:pt x="44918" y="3740"/>
                </a:lnTo>
                <a:lnTo>
                  <a:pt x="45276" y="4131"/>
                </a:lnTo>
                <a:lnTo>
                  <a:pt x="45365" y="4616"/>
                </a:lnTo>
                <a:lnTo>
                  <a:pt x="45658" y="5073"/>
                </a:lnTo>
                <a:lnTo>
                  <a:pt x="45789" y="5792"/>
                </a:lnTo>
                <a:lnTo>
                  <a:pt x="45843" y="6368"/>
                </a:lnTo>
                <a:lnTo>
                  <a:pt x="46134" y="7183"/>
                </a:lnTo>
                <a:lnTo>
                  <a:pt x="46162" y="7970"/>
                </a:lnTo>
                <a:lnTo>
                  <a:pt x="46255" y="9011"/>
                </a:lnTo>
                <a:lnTo>
                  <a:pt x="46340" y="10457"/>
                </a:lnTo>
                <a:lnTo>
                  <a:pt x="46304" y="15218"/>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9753630" y="1776039"/>
            <a:ext cx="4233672" cy="2763500"/>
          </a:xfrm>
          <a:custGeom>
            <a:avLst/>
            <a:gdLst/>
            <a:ahLst/>
            <a:cxnLst/>
            <a:rect l="l" t="t" r="r" b="b"/>
            <a:pathLst>
              <a:path w="46300" h="30222">
                <a:moveTo>
                  <a:pt x="46161" y="15010"/>
                </a:moveTo>
                <a:lnTo>
                  <a:pt x="46278" y="19739"/>
                </a:lnTo>
                <a:lnTo>
                  <a:pt x="46070" y="21209"/>
                </a:lnTo>
                <a:lnTo>
                  <a:pt x="46222" y="22275"/>
                </a:lnTo>
                <a:lnTo>
                  <a:pt x="46092" y="23065"/>
                </a:lnTo>
                <a:lnTo>
                  <a:pt x="45768" y="23888"/>
                </a:lnTo>
                <a:lnTo>
                  <a:pt x="45679" y="24507"/>
                </a:lnTo>
                <a:lnTo>
                  <a:pt x="45636" y="25199"/>
                </a:lnTo>
                <a:lnTo>
                  <a:pt x="45305" y="25510"/>
                </a:lnTo>
                <a:lnTo>
                  <a:pt x="45213" y="26124"/>
                </a:lnTo>
                <a:lnTo>
                  <a:pt x="44858" y="26564"/>
                </a:lnTo>
                <a:lnTo>
                  <a:pt x="44687" y="26886"/>
                </a:lnTo>
                <a:lnTo>
                  <a:pt x="44220" y="27379"/>
                </a:lnTo>
                <a:lnTo>
                  <a:pt x="43975" y="27593"/>
                </a:lnTo>
                <a:lnTo>
                  <a:pt x="43721" y="27982"/>
                </a:lnTo>
                <a:lnTo>
                  <a:pt x="43218" y="28125"/>
                </a:lnTo>
                <a:lnTo>
                  <a:pt x="42722" y="28511"/>
                </a:lnTo>
                <a:lnTo>
                  <a:pt x="42189" y="28747"/>
                </a:lnTo>
                <a:lnTo>
                  <a:pt x="41775" y="28816"/>
                </a:lnTo>
                <a:lnTo>
                  <a:pt x="41199" y="29027"/>
                </a:lnTo>
                <a:lnTo>
                  <a:pt x="40718" y="29225"/>
                </a:lnTo>
                <a:lnTo>
                  <a:pt x="39941" y="29553"/>
                </a:lnTo>
                <a:lnTo>
                  <a:pt x="39124" y="29528"/>
                </a:lnTo>
                <a:lnTo>
                  <a:pt x="38329" y="29683"/>
                </a:lnTo>
                <a:lnTo>
                  <a:pt x="37482" y="29911"/>
                </a:lnTo>
                <a:lnTo>
                  <a:pt x="36583" y="30043"/>
                </a:lnTo>
                <a:lnTo>
                  <a:pt x="35441" y="30035"/>
                </a:lnTo>
                <a:lnTo>
                  <a:pt x="34180" y="30153"/>
                </a:lnTo>
                <a:lnTo>
                  <a:pt x="32541" y="30023"/>
                </a:lnTo>
                <a:lnTo>
                  <a:pt x="30305" y="30101"/>
                </a:lnTo>
                <a:lnTo>
                  <a:pt x="23212" y="30222"/>
                </a:lnTo>
                <a:lnTo>
                  <a:pt x="15948" y="30042"/>
                </a:lnTo>
                <a:lnTo>
                  <a:pt x="13813" y="30181"/>
                </a:lnTo>
                <a:lnTo>
                  <a:pt x="12109" y="30133"/>
                </a:lnTo>
                <a:lnTo>
                  <a:pt x="10912" y="29986"/>
                </a:lnTo>
                <a:lnTo>
                  <a:pt x="9718" y="29934"/>
                </a:lnTo>
                <a:lnTo>
                  <a:pt x="8751" y="29786"/>
                </a:lnTo>
                <a:lnTo>
                  <a:pt x="7736" y="29763"/>
                </a:lnTo>
                <a:lnTo>
                  <a:pt x="7090" y="29592"/>
                </a:lnTo>
                <a:lnTo>
                  <a:pt x="6387" y="29551"/>
                </a:lnTo>
                <a:lnTo>
                  <a:pt x="5588" y="29336"/>
                </a:lnTo>
                <a:lnTo>
                  <a:pt x="5130" y="29083"/>
                </a:lnTo>
                <a:lnTo>
                  <a:pt x="4595" y="28829"/>
                </a:lnTo>
                <a:lnTo>
                  <a:pt x="4056" y="28647"/>
                </a:lnTo>
                <a:lnTo>
                  <a:pt x="3386" y="28560"/>
                </a:lnTo>
                <a:lnTo>
                  <a:pt x="2918" y="28118"/>
                </a:lnTo>
                <a:lnTo>
                  <a:pt x="2764" y="27974"/>
                </a:lnTo>
                <a:lnTo>
                  <a:pt x="2286" y="27543"/>
                </a:lnTo>
                <a:lnTo>
                  <a:pt x="2026" y="27251"/>
                </a:lnTo>
                <a:lnTo>
                  <a:pt x="1665" y="26801"/>
                </a:lnTo>
                <a:lnTo>
                  <a:pt x="1222" y="26564"/>
                </a:lnTo>
                <a:lnTo>
                  <a:pt x="997" y="25973"/>
                </a:lnTo>
                <a:lnTo>
                  <a:pt x="808" y="25699"/>
                </a:lnTo>
                <a:lnTo>
                  <a:pt x="741" y="25106"/>
                </a:lnTo>
                <a:lnTo>
                  <a:pt x="617" y="24555"/>
                </a:lnTo>
                <a:lnTo>
                  <a:pt x="360" y="23821"/>
                </a:lnTo>
                <a:lnTo>
                  <a:pt x="191" y="23032"/>
                </a:lnTo>
                <a:lnTo>
                  <a:pt x="52" y="22238"/>
                </a:lnTo>
                <a:lnTo>
                  <a:pt x="138" y="21274"/>
                </a:lnTo>
                <a:lnTo>
                  <a:pt x="37" y="19715"/>
                </a:lnTo>
                <a:lnTo>
                  <a:pt x="94" y="15202"/>
                </a:lnTo>
                <a:lnTo>
                  <a:pt x="0" y="10417"/>
                </a:lnTo>
                <a:lnTo>
                  <a:pt x="62" y="9152"/>
                </a:lnTo>
                <a:lnTo>
                  <a:pt x="42" y="7955"/>
                </a:lnTo>
                <a:lnTo>
                  <a:pt x="182" y="7226"/>
                </a:lnTo>
                <a:lnTo>
                  <a:pt x="493" y="6372"/>
                </a:lnTo>
                <a:lnTo>
                  <a:pt x="483" y="5708"/>
                </a:lnTo>
                <a:lnTo>
                  <a:pt x="702" y="5233"/>
                </a:lnTo>
                <a:lnTo>
                  <a:pt x="955" y="4685"/>
                </a:lnTo>
                <a:lnTo>
                  <a:pt x="1069" y="4061"/>
                </a:lnTo>
                <a:lnTo>
                  <a:pt x="1407" y="3765"/>
                </a:lnTo>
                <a:lnTo>
                  <a:pt x="1519" y="3332"/>
                </a:lnTo>
                <a:lnTo>
                  <a:pt x="1906" y="3061"/>
                </a:lnTo>
                <a:lnTo>
                  <a:pt x="2218" y="2627"/>
                </a:lnTo>
                <a:lnTo>
                  <a:pt x="2633" y="2293"/>
                </a:lnTo>
                <a:lnTo>
                  <a:pt x="3054" y="2012"/>
                </a:lnTo>
                <a:lnTo>
                  <a:pt x="3552" y="1816"/>
                </a:lnTo>
                <a:lnTo>
                  <a:pt x="3929" y="1503"/>
                </a:lnTo>
                <a:lnTo>
                  <a:pt x="4465" y="1259"/>
                </a:lnTo>
                <a:lnTo>
                  <a:pt x="5063" y="1107"/>
                </a:lnTo>
                <a:lnTo>
                  <a:pt x="5603" y="942"/>
                </a:lnTo>
                <a:lnTo>
                  <a:pt x="6267" y="712"/>
                </a:lnTo>
                <a:lnTo>
                  <a:pt x="6973" y="708"/>
                </a:lnTo>
                <a:lnTo>
                  <a:pt x="7906" y="432"/>
                </a:lnTo>
                <a:lnTo>
                  <a:pt x="8782" y="331"/>
                </a:lnTo>
                <a:lnTo>
                  <a:pt x="9687" y="224"/>
                </a:lnTo>
                <a:lnTo>
                  <a:pt x="10922" y="267"/>
                </a:lnTo>
                <a:lnTo>
                  <a:pt x="12197" y="232"/>
                </a:lnTo>
                <a:lnTo>
                  <a:pt x="13746" y="102"/>
                </a:lnTo>
                <a:lnTo>
                  <a:pt x="16054" y="207"/>
                </a:lnTo>
                <a:lnTo>
                  <a:pt x="23103" y="126"/>
                </a:lnTo>
                <a:lnTo>
                  <a:pt x="30328" y="0"/>
                </a:lnTo>
                <a:lnTo>
                  <a:pt x="32427" y="195"/>
                </a:lnTo>
                <a:lnTo>
                  <a:pt x="34020" y="289"/>
                </a:lnTo>
                <a:lnTo>
                  <a:pt x="35366" y="110"/>
                </a:lnTo>
                <a:lnTo>
                  <a:pt x="36478" y="240"/>
                </a:lnTo>
                <a:lnTo>
                  <a:pt x="37537" y="284"/>
                </a:lnTo>
                <a:lnTo>
                  <a:pt x="38537" y="570"/>
                </a:lnTo>
                <a:lnTo>
                  <a:pt x="39113" y="515"/>
                </a:lnTo>
                <a:lnTo>
                  <a:pt x="40090" y="723"/>
                </a:lnTo>
                <a:lnTo>
                  <a:pt x="40715" y="991"/>
                </a:lnTo>
                <a:lnTo>
                  <a:pt x="41201" y="1011"/>
                </a:lnTo>
                <a:lnTo>
                  <a:pt x="41720" y="1231"/>
                </a:lnTo>
                <a:lnTo>
                  <a:pt x="42249" y="1523"/>
                </a:lnTo>
                <a:lnTo>
                  <a:pt x="42657" y="1817"/>
                </a:lnTo>
                <a:lnTo>
                  <a:pt x="43332" y="2112"/>
                </a:lnTo>
                <a:lnTo>
                  <a:pt x="43505" y="2416"/>
                </a:lnTo>
                <a:lnTo>
                  <a:pt x="44033" y="2567"/>
                </a:lnTo>
                <a:lnTo>
                  <a:pt x="44228" y="2971"/>
                </a:lnTo>
                <a:lnTo>
                  <a:pt x="44648" y="3235"/>
                </a:lnTo>
                <a:lnTo>
                  <a:pt x="44999" y="3635"/>
                </a:lnTo>
                <a:lnTo>
                  <a:pt x="45186" y="4182"/>
                </a:lnTo>
                <a:lnTo>
                  <a:pt x="45498" y="4752"/>
                </a:lnTo>
                <a:lnTo>
                  <a:pt x="45558" y="5221"/>
                </a:lnTo>
                <a:lnTo>
                  <a:pt x="45675" y="5675"/>
                </a:lnTo>
                <a:lnTo>
                  <a:pt x="45895" y="6346"/>
                </a:lnTo>
                <a:lnTo>
                  <a:pt x="45968" y="7186"/>
                </a:lnTo>
                <a:lnTo>
                  <a:pt x="46195" y="7881"/>
                </a:lnTo>
                <a:lnTo>
                  <a:pt x="46068" y="9063"/>
                </a:lnTo>
                <a:lnTo>
                  <a:pt x="46175" y="10593"/>
                </a:lnTo>
                <a:lnTo>
                  <a:pt x="46300" y="15235"/>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13904366" y="3892509"/>
            <a:ext cx="56418" cy="225765"/>
          </a:xfrm>
          <a:custGeom>
            <a:avLst/>
            <a:gdLst/>
            <a:ahLst/>
            <a:cxnLst/>
            <a:rect l="l" t="t" r="r" b="b"/>
            <a:pathLst>
              <a:path w="617" h="2469">
                <a:moveTo>
                  <a:pt x="617" y="0"/>
                </a:moveTo>
                <a:lnTo>
                  <a:pt x="502" y="734"/>
                </a:lnTo>
                <a:lnTo>
                  <a:pt x="361" y="1377"/>
                </a:lnTo>
                <a:lnTo>
                  <a:pt x="194" y="1951"/>
                </a:lnTo>
                <a:lnTo>
                  <a:pt x="0" y="246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3268858" y="4440235"/>
            <a:ext cx="255118" cy="56053"/>
          </a:xfrm>
          <a:custGeom>
            <a:avLst/>
            <a:gdLst/>
            <a:ahLst/>
            <a:cxnLst/>
            <a:rect l="l" t="t" r="r" b="b"/>
            <a:pathLst>
              <a:path w="2790" h="613">
                <a:moveTo>
                  <a:pt x="2790" y="0"/>
                </a:moveTo>
                <a:lnTo>
                  <a:pt x="2181" y="181"/>
                </a:lnTo>
                <a:lnTo>
                  <a:pt x="1519" y="343"/>
                </a:lnTo>
                <a:lnTo>
                  <a:pt x="795" y="487"/>
                </a:lnTo>
                <a:lnTo>
                  <a:pt x="0" y="613"/>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10396271" y="4484766"/>
            <a:ext cx="346649" cy="36759"/>
          </a:xfrm>
          <a:custGeom>
            <a:avLst/>
            <a:gdLst/>
            <a:ahLst/>
            <a:cxnLst/>
            <a:rect l="l" t="t" r="r" b="b"/>
            <a:pathLst>
              <a:path w="3791" h="402">
                <a:moveTo>
                  <a:pt x="3791" y="402"/>
                </a:moveTo>
                <a:lnTo>
                  <a:pt x="2664" y="327"/>
                </a:lnTo>
                <a:lnTo>
                  <a:pt x="1676" y="235"/>
                </a:lnTo>
                <a:lnTo>
                  <a:pt x="795" y="126"/>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9815718" y="4070909"/>
            <a:ext cx="86136" cy="166146"/>
          </a:xfrm>
          <a:custGeom>
            <a:avLst/>
            <a:gdLst/>
            <a:ahLst/>
            <a:cxnLst/>
            <a:rect l="l" t="t" r="r" b="b"/>
            <a:pathLst>
              <a:path w="942" h="1817">
                <a:moveTo>
                  <a:pt x="942" y="1817"/>
                </a:moveTo>
                <a:lnTo>
                  <a:pt x="664" y="1421"/>
                </a:lnTo>
                <a:lnTo>
                  <a:pt x="415" y="989"/>
                </a:lnTo>
                <a:lnTo>
                  <a:pt x="194" y="518"/>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9777039" y="2200229"/>
            <a:ext cx="56418" cy="225765"/>
          </a:xfrm>
          <a:custGeom>
            <a:avLst/>
            <a:gdLst/>
            <a:ahLst/>
            <a:cxnLst/>
            <a:rect l="l" t="t" r="r" b="b"/>
            <a:pathLst>
              <a:path w="617" h="2469">
                <a:moveTo>
                  <a:pt x="0" y="2469"/>
                </a:moveTo>
                <a:lnTo>
                  <a:pt x="115" y="1735"/>
                </a:lnTo>
                <a:lnTo>
                  <a:pt x="256" y="1092"/>
                </a:lnTo>
                <a:lnTo>
                  <a:pt x="423" y="518"/>
                </a:lnTo>
                <a:lnTo>
                  <a:pt x="617"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10213848" y="1822216"/>
            <a:ext cx="255118" cy="56053"/>
          </a:xfrm>
          <a:custGeom>
            <a:avLst/>
            <a:gdLst/>
            <a:ahLst/>
            <a:cxnLst/>
            <a:rect l="l" t="t" r="r" b="b"/>
            <a:pathLst>
              <a:path w="2790" h="613">
                <a:moveTo>
                  <a:pt x="0" y="613"/>
                </a:moveTo>
                <a:lnTo>
                  <a:pt x="609" y="432"/>
                </a:lnTo>
                <a:lnTo>
                  <a:pt x="1271" y="270"/>
                </a:lnTo>
                <a:lnTo>
                  <a:pt x="1995" y="126"/>
                </a:lnTo>
                <a:lnTo>
                  <a:pt x="279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12994904" y="1796979"/>
            <a:ext cx="346649" cy="36759"/>
          </a:xfrm>
          <a:custGeom>
            <a:avLst/>
            <a:gdLst/>
            <a:ahLst/>
            <a:cxnLst/>
            <a:rect l="l" t="t" r="r" b="b"/>
            <a:pathLst>
              <a:path w="3791" h="402">
                <a:moveTo>
                  <a:pt x="0" y="0"/>
                </a:moveTo>
                <a:lnTo>
                  <a:pt x="1127" y="75"/>
                </a:lnTo>
                <a:lnTo>
                  <a:pt x="2115" y="167"/>
                </a:lnTo>
                <a:lnTo>
                  <a:pt x="2996" y="276"/>
                </a:lnTo>
                <a:lnTo>
                  <a:pt x="3791" y="40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13835969" y="2081449"/>
            <a:ext cx="86136" cy="166146"/>
          </a:xfrm>
          <a:custGeom>
            <a:avLst/>
            <a:gdLst/>
            <a:ahLst/>
            <a:cxnLst/>
            <a:rect l="l" t="t" r="r" b="b"/>
            <a:pathLst>
              <a:path w="942" h="1817">
                <a:moveTo>
                  <a:pt x="0" y="0"/>
                </a:moveTo>
                <a:lnTo>
                  <a:pt x="278" y="396"/>
                </a:lnTo>
                <a:lnTo>
                  <a:pt x="527" y="828"/>
                </a:lnTo>
                <a:lnTo>
                  <a:pt x="748" y="1299"/>
                </a:lnTo>
                <a:lnTo>
                  <a:pt x="942" y="181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ody: New in this design"/>
          <p:cNvSpPr txBox="1"/>
          <p:nvPr/>
        </p:nvSpPr>
        <p:spPr>
          <a:xfrm>
            <a:off x="10104120" y="1909064"/>
            <a:ext cx="3529584" cy="388112"/>
          </a:xfrm>
          <a:prstGeom prst="rect">
            <a:avLst/>
          </a:prstGeom>
          <a:noFill/>
        </p:spPr>
        <p:txBody>
          <a:bodyPr wrap="none" lIns="0" rIns="0" tIns="0" bIns="0" anchor="t">
            <a:noAutofit/>
          </a:bodyPr>
          <a:lstStyle/>
          <a:p>
            <a:pPr algn="ctr">
              <a:lnSpc>
                <a:spcPts val="2516"/>
              </a:lnSpc>
              <a:spcBef>
                <a:spcPts val="0"/>
              </a:spcBef>
              <a:spcAft>
                <a:spcPts val="0"/>
              </a:spcAft>
            </a:pPr>
            <a:r>
              <a:rPr sz="1850" b="1">
                <a:solidFill>
                  <a:srgbClr val="4E7892"/>
                </a:solidFill>
                <a:latin typeface="Chalkboard SE"/>
              </a:rPr>
              <a:t>New in this design</a:t>
            </a:r>
          </a:p>
        </p:txBody>
      </p:sp>
      <p:sp>
        <p:nvSpPr>
          <p:cNvPr id="61" name="Oval 60"/>
          <p:cNvSpPr/>
          <p:nvPr/>
        </p:nvSpPr>
        <p:spPr>
          <a:xfrm>
            <a:off x="10017252" y="2907601"/>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ody: Intake, library, synthesis"/>
          <p:cNvSpPr txBox="1"/>
          <p:nvPr/>
        </p:nvSpPr>
        <p:spPr>
          <a:xfrm>
            <a:off x="10250424" y="2807017"/>
            <a:ext cx="3483864" cy="37503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Intake, library, synthesis</a:t>
            </a:r>
          </a:p>
        </p:txBody>
      </p:sp>
      <p:sp>
        <p:nvSpPr>
          <p:cNvPr id="63" name="Oval 62"/>
          <p:cNvSpPr/>
          <p:nvPr/>
        </p:nvSpPr>
        <p:spPr>
          <a:xfrm>
            <a:off x="10017252" y="335578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ody: Replay blame, action monitor"/>
          <p:cNvSpPr txBox="1"/>
          <p:nvPr/>
        </p:nvSpPr>
        <p:spPr>
          <a:xfrm>
            <a:off x="10250424" y="3255200"/>
            <a:ext cx="3483864" cy="37503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Replay blame, action monitor</a:t>
            </a:r>
          </a:p>
        </p:txBody>
      </p:sp>
      <p:sp>
        <p:nvSpPr>
          <p:cNvPr id="65" name="Oval 64"/>
          <p:cNvSpPr/>
          <p:nvPr/>
        </p:nvSpPr>
        <p:spPr>
          <a:xfrm>
            <a:off x="10017252" y="3803967"/>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ody: Regression gate and release"/>
          <p:cNvSpPr txBox="1"/>
          <p:nvPr/>
        </p:nvSpPr>
        <p:spPr>
          <a:xfrm>
            <a:off x="10250424" y="3703383"/>
            <a:ext cx="3483864" cy="37503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Regression gate and release</a:t>
            </a:r>
          </a:p>
        </p:txBody>
      </p:sp>
      <p:sp>
        <p:nvSpPr>
          <p:cNvPr id="67" name="Rounded Rectangle 66"/>
          <p:cNvSpPr/>
          <p:nvPr/>
        </p:nvSpPr>
        <p:spPr>
          <a:xfrm>
            <a:off x="640080" y="4709160"/>
            <a:ext cx="13350240" cy="486460"/>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ody: Phase"/>
          <p:cNvSpPr txBox="1"/>
          <p:nvPr/>
        </p:nvSpPr>
        <p:spPr>
          <a:xfrm>
            <a:off x="777240" y="4787052"/>
            <a:ext cx="822959" cy="330676"/>
          </a:xfrm>
          <a:prstGeom prst="rect">
            <a:avLst/>
          </a:prstGeom>
          <a:noFill/>
        </p:spPr>
        <p:txBody>
          <a:bodyPr wrap="none" lIns="0" rIns="0" tIns="0" bIns="0" anchor="t">
            <a:noAutofit/>
          </a:bodyPr>
          <a:lstStyle/>
          <a:p>
            <a:pPr algn="ctr">
              <a:lnSpc>
                <a:spcPts val="2063"/>
              </a:lnSpc>
              <a:spcBef>
                <a:spcPts val="0"/>
              </a:spcBef>
              <a:spcAft>
                <a:spcPts val="0"/>
              </a:spcAft>
            </a:pPr>
            <a:r>
              <a:rPr sz="1625" b="1">
                <a:solidFill>
                  <a:srgbClr val="4E7892"/>
                </a:solidFill>
                <a:latin typeface="Trebuchet MS"/>
              </a:rPr>
              <a:t>Phase</a:t>
            </a:r>
          </a:p>
        </p:txBody>
      </p:sp>
      <p:sp>
        <p:nvSpPr>
          <p:cNvPr id="69" name="body: Scope"/>
          <p:cNvSpPr txBox="1"/>
          <p:nvPr/>
        </p:nvSpPr>
        <p:spPr>
          <a:xfrm>
            <a:off x="1874519" y="4787052"/>
            <a:ext cx="8869680" cy="330676"/>
          </a:xfrm>
          <a:prstGeom prst="rect">
            <a:avLst/>
          </a:prstGeom>
          <a:noFill/>
        </p:spPr>
        <p:txBody>
          <a:bodyPr wrap="none" lIns="0" rIns="0" tIns="0" bIns="0" anchor="t">
            <a:noAutofit/>
          </a:bodyPr>
          <a:lstStyle/>
          <a:p>
            <a:pPr algn="ctr">
              <a:lnSpc>
                <a:spcPts val="2063"/>
              </a:lnSpc>
              <a:spcBef>
                <a:spcPts val="0"/>
              </a:spcBef>
              <a:spcAft>
                <a:spcPts val="0"/>
              </a:spcAft>
            </a:pPr>
            <a:r>
              <a:rPr sz="1625" b="1">
                <a:solidFill>
                  <a:srgbClr val="4E7892"/>
                </a:solidFill>
                <a:latin typeface="Trebuchet MS"/>
              </a:rPr>
              <a:t>Scope</a:t>
            </a:r>
          </a:p>
        </p:txBody>
      </p:sp>
      <p:sp>
        <p:nvSpPr>
          <p:cNvPr id="70" name="body: Model calls"/>
          <p:cNvSpPr txBox="1"/>
          <p:nvPr/>
        </p:nvSpPr>
        <p:spPr>
          <a:xfrm>
            <a:off x="11018520" y="4787052"/>
            <a:ext cx="2834640" cy="330676"/>
          </a:xfrm>
          <a:prstGeom prst="rect">
            <a:avLst/>
          </a:prstGeom>
          <a:noFill/>
        </p:spPr>
        <p:txBody>
          <a:bodyPr wrap="none" lIns="0" rIns="0" tIns="0" bIns="0" anchor="t">
            <a:noAutofit/>
          </a:bodyPr>
          <a:lstStyle/>
          <a:p>
            <a:pPr algn="ctr">
              <a:lnSpc>
                <a:spcPts val="2063"/>
              </a:lnSpc>
              <a:spcBef>
                <a:spcPts val="0"/>
              </a:spcBef>
              <a:spcAft>
                <a:spcPts val="0"/>
              </a:spcAft>
            </a:pPr>
            <a:r>
              <a:rPr sz="1625" b="1">
                <a:solidFill>
                  <a:srgbClr val="4E7892"/>
                </a:solidFill>
                <a:latin typeface="Trebuchet MS"/>
              </a:rPr>
              <a:t>Model calls</a:t>
            </a:r>
          </a:p>
        </p:txBody>
      </p:sp>
      <p:sp>
        <p:nvSpPr>
          <p:cNvPr id="71" name="Rounded Rectangle 70"/>
          <p:cNvSpPr/>
          <p:nvPr/>
        </p:nvSpPr>
        <p:spPr>
          <a:xfrm>
            <a:off x="640080" y="5255056"/>
            <a:ext cx="13350240" cy="504748"/>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ody: 1"/>
          <p:cNvSpPr txBox="1"/>
          <p:nvPr/>
        </p:nvSpPr>
        <p:spPr>
          <a:xfrm>
            <a:off x="777240" y="5342093"/>
            <a:ext cx="822959" cy="330676"/>
          </a:xfrm>
          <a:prstGeom prst="rect">
            <a:avLst/>
          </a:prstGeom>
          <a:noFill/>
        </p:spPr>
        <p:txBody>
          <a:bodyPr wrap="none" lIns="0" rIns="0" tIns="0" bIns="0" anchor="t">
            <a:noAutofit/>
          </a:bodyPr>
          <a:lstStyle/>
          <a:p>
            <a:pPr algn="ctr">
              <a:lnSpc>
                <a:spcPts val="2063"/>
              </a:lnSpc>
              <a:spcBef>
                <a:spcPts val="0"/>
              </a:spcBef>
              <a:spcAft>
                <a:spcPts val="0"/>
              </a:spcAft>
            </a:pPr>
            <a:r>
              <a:rPr sz="1625" b="1">
                <a:solidFill>
                  <a:srgbClr val="4E7892"/>
                </a:solidFill>
                <a:latin typeface="Trebuchet MS"/>
              </a:rPr>
              <a:t>1</a:t>
            </a:r>
          </a:p>
        </p:txBody>
      </p:sp>
      <p:sp>
        <p:nvSpPr>
          <p:cNvPr id="73" name="body: Schema, library, own-run intake, splits"/>
          <p:cNvSpPr txBox="1"/>
          <p:nvPr/>
        </p:nvSpPr>
        <p:spPr>
          <a:xfrm>
            <a:off x="1874519" y="5342093"/>
            <a:ext cx="8869680" cy="330676"/>
          </a:xfrm>
          <a:prstGeom prst="rect">
            <a:avLst/>
          </a:prstGeom>
          <a:noFill/>
        </p:spPr>
        <p:txBody>
          <a:bodyPr wrap="none" lIns="0" rIns="0" tIns="0" bIns="0" anchor="t">
            <a:noAutofit/>
          </a:bodyPr>
          <a:lstStyle/>
          <a:p>
            <a:pPr algn="l">
              <a:lnSpc>
                <a:spcPts val="2063"/>
              </a:lnSpc>
              <a:spcBef>
                <a:spcPts val="0"/>
              </a:spcBef>
              <a:spcAft>
                <a:spcPts val="0"/>
              </a:spcAft>
            </a:pPr>
            <a:r>
              <a:rPr sz="1625" b="0">
                <a:solidFill>
                  <a:srgbClr val="293E46"/>
                </a:solidFill>
                <a:latin typeface="Trebuchet MS"/>
              </a:rPr>
              <a:t>Schema, library, own-run intake, splits</a:t>
            </a:r>
          </a:p>
        </p:txBody>
      </p:sp>
      <p:sp>
        <p:nvSpPr>
          <p:cNvPr id="74" name="body: No"/>
          <p:cNvSpPr txBox="1"/>
          <p:nvPr/>
        </p:nvSpPr>
        <p:spPr>
          <a:xfrm>
            <a:off x="11018520" y="5342093"/>
            <a:ext cx="2834640" cy="330676"/>
          </a:xfrm>
          <a:prstGeom prst="rect">
            <a:avLst/>
          </a:prstGeom>
          <a:noFill/>
        </p:spPr>
        <p:txBody>
          <a:bodyPr wrap="none" lIns="0" rIns="0" tIns="0" bIns="0" anchor="t">
            <a:noAutofit/>
          </a:bodyPr>
          <a:lstStyle/>
          <a:p>
            <a:pPr algn="l">
              <a:lnSpc>
                <a:spcPts val="2063"/>
              </a:lnSpc>
              <a:spcBef>
                <a:spcPts val="0"/>
              </a:spcBef>
              <a:spcAft>
                <a:spcPts val="0"/>
              </a:spcAft>
            </a:pPr>
            <a:r>
              <a:rPr sz="1625" b="0">
                <a:solidFill>
                  <a:srgbClr val="293E46"/>
                </a:solidFill>
                <a:latin typeface="Trebuchet MS"/>
              </a:rPr>
              <a:t>No</a:t>
            </a:r>
          </a:p>
        </p:txBody>
      </p:sp>
      <p:sp>
        <p:nvSpPr>
          <p:cNvPr id="75" name="Rounded Rectangle 74"/>
          <p:cNvSpPr/>
          <p:nvPr/>
        </p:nvSpPr>
        <p:spPr>
          <a:xfrm>
            <a:off x="640080" y="5819241"/>
            <a:ext cx="13350240" cy="504748"/>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ody: 2"/>
          <p:cNvSpPr txBox="1"/>
          <p:nvPr/>
        </p:nvSpPr>
        <p:spPr>
          <a:xfrm>
            <a:off x="777240" y="5906277"/>
            <a:ext cx="822959" cy="330676"/>
          </a:xfrm>
          <a:prstGeom prst="rect">
            <a:avLst/>
          </a:prstGeom>
          <a:noFill/>
        </p:spPr>
        <p:txBody>
          <a:bodyPr wrap="none" lIns="0" rIns="0" tIns="0" bIns="0" anchor="t">
            <a:noAutofit/>
          </a:bodyPr>
          <a:lstStyle/>
          <a:p>
            <a:pPr algn="ctr">
              <a:lnSpc>
                <a:spcPts val="2063"/>
              </a:lnSpc>
              <a:spcBef>
                <a:spcPts val="0"/>
              </a:spcBef>
              <a:spcAft>
                <a:spcPts val="0"/>
              </a:spcAft>
            </a:pPr>
            <a:r>
              <a:rPr sz="1625" b="1">
                <a:solidFill>
                  <a:srgbClr val="4E7892"/>
                </a:solidFill>
                <a:latin typeface="Trebuchet MS"/>
              </a:rPr>
              <a:t>2</a:t>
            </a:r>
          </a:p>
        </p:txBody>
      </p:sp>
      <p:sp>
        <p:nvSpPr>
          <p:cNvPr id="77" name="body: Replay and synthesis on the local sandbox"/>
          <p:cNvSpPr txBox="1"/>
          <p:nvPr/>
        </p:nvSpPr>
        <p:spPr>
          <a:xfrm>
            <a:off x="1874519" y="5906277"/>
            <a:ext cx="8869680" cy="330676"/>
          </a:xfrm>
          <a:prstGeom prst="rect">
            <a:avLst/>
          </a:prstGeom>
          <a:noFill/>
        </p:spPr>
        <p:txBody>
          <a:bodyPr wrap="none" lIns="0" rIns="0" tIns="0" bIns="0" anchor="t">
            <a:noAutofit/>
          </a:bodyPr>
          <a:lstStyle/>
          <a:p>
            <a:pPr algn="l">
              <a:lnSpc>
                <a:spcPts val="2063"/>
              </a:lnSpc>
              <a:spcBef>
                <a:spcPts val="0"/>
              </a:spcBef>
              <a:spcAft>
                <a:spcPts val="0"/>
              </a:spcAft>
            </a:pPr>
            <a:r>
              <a:rPr sz="1625" b="0">
                <a:solidFill>
                  <a:srgbClr val="293E46"/>
                </a:solidFill>
                <a:latin typeface="Trebuchet MS"/>
              </a:rPr>
              <a:t>Replay and synthesis on the local sandbox</a:t>
            </a:r>
          </a:p>
        </p:txBody>
      </p:sp>
      <p:sp>
        <p:nvSpPr>
          <p:cNvPr id="78" name="body: Small"/>
          <p:cNvSpPr txBox="1"/>
          <p:nvPr/>
        </p:nvSpPr>
        <p:spPr>
          <a:xfrm>
            <a:off x="11018520" y="5906277"/>
            <a:ext cx="2834640" cy="330676"/>
          </a:xfrm>
          <a:prstGeom prst="rect">
            <a:avLst/>
          </a:prstGeom>
          <a:noFill/>
        </p:spPr>
        <p:txBody>
          <a:bodyPr wrap="none" lIns="0" rIns="0" tIns="0" bIns="0" anchor="t">
            <a:noAutofit/>
          </a:bodyPr>
          <a:lstStyle/>
          <a:p>
            <a:pPr algn="l">
              <a:lnSpc>
                <a:spcPts val="2063"/>
              </a:lnSpc>
              <a:spcBef>
                <a:spcPts val="0"/>
              </a:spcBef>
              <a:spcAft>
                <a:spcPts val="0"/>
              </a:spcAft>
            </a:pPr>
            <a:r>
              <a:rPr sz="1625" b="0">
                <a:solidFill>
                  <a:srgbClr val="293E46"/>
                </a:solidFill>
                <a:latin typeface="Trebuchet MS"/>
              </a:rPr>
              <a:t>Small</a:t>
            </a:r>
          </a:p>
        </p:txBody>
      </p:sp>
      <p:sp>
        <p:nvSpPr>
          <p:cNvPr id="79" name="Rounded Rectangle 78"/>
          <p:cNvSpPr/>
          <p:nvPr/>
        </p:nvSpPr>
        <p:spPr>
          <a:xfrm>
            <a:off x="640080" y="6383426"/>
            <a:ext cx="13350240" cy="504748"/>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ody: 3"/>
          <p:cNvSpPr txBox="1"/>
          <p:nvPr/>
        </p:nvSpPr>
        <p:spPr>
          <a:xfrm>
            <a:off x="777240" y="6470462"/>
            <a:ext cx="822959" cy="330676"/>
          </a:xfrm>
          <a:prstGeom prst="rect">
            <a:avLst/>
          </a:prstGeom>
          <a:noFill/>
        </p:spPr>
        <p:txBody>
          <a:bodyPr wrap="none" lIns="0" rIns="0" tIns="0" bIns="0" anchor="t">
            <a:noAutofit/>
          </a:bodyPr>
          <a:lstStyle/>
          <a:p>
            <a:pPr algn="ctr">
              <a:lnSpc>
                <a:spcPts val="2063"/>
              </a:lnSpc>
              <a:spcBef>
                <a:spcPts val="0"/>
              </a:spcBef>
              <a:spcAft>
                <a:spcPts val="0"/>
              </a:spcAft>
            </a:pPr>
            <a:r>
              <a:rPr sz="1625" b="1">
                <a:solidFill>
                  <a:srgbClr val="4E7892"/>
                </a:solidFill>
                <a:latin typeface="Trebuchet MS"/>
              </a:rPr>
              <a:t>3</a:t>
            </a:r>
          </a:p>
        </p:txBody>
      </p:sp>
      <p:sp>
        <p:nvSpPr>
          <p:cNvPr id="81" name="body: Monitor in shadow mode; B3 vs B4 ablation"/>
          <p:cNvSpPr txBox="1"/>
          <p:nvPr/>
        </p:nvSpPr>
        <p:spPr>
          <a:xfrm>
            <a:off x="1874519" y="6470462"/>
            <a:ext cx="8869680" cy="330676"/>
          </a:xfrm>
          <a:prstGeom prst="rect">
            <a:avLst/>
          </a:prstGeom>
          <a:noFill/>
        </p:spPr>
        <p:txBody>
          <a:bodyPr wrap="none" lIns="0" rIns="0" tIns="0" bIns="0" anchor="t">
            <a:noAutofit/>
          </a:bodyPr>
          <a:lstStyle/>
          <a:p>
            <a:pPr algn="l">
              <a:lnSpc>
                <a:spcPts val="2063"/>
              </a:lnSpc>
              <a:spcBef>
                <a:spcPts val="0"/>
              </a:spcBef>
              <a:spcAft>
                <a:spcPts val="0"/>
              </a:spcAft>
            </a:pPr>
            <a:r>
              <a:rPr sz="1625" b="0">
                <a:solidFill>
                  <a:srgbClr val="293E46"/>
                </a:solidFill>
                <a:latin typeface="Trebuchet MS"/>
              </a:rPr>
              <a:t>Monitor in shadow mode; B3 vs B4 ablation</a:t>
            </a:r>
          </a:p>
        </p:txBody>
      </p:sp>
      <p:sp>
        <p:nvSpPr>
          <p:cNvPr id="82" name="body: Pre-registered"/>
          <p:cNvSpPr txBox="1"/>
          <p:nvPr/>
        </p:nvSpPr>
        <p:spPr>
          <a:xfrm>
            <a:off x="11018520" y="6470462"/>
            <a:ext cx="2834640" cy="330676"/>
          </a:xfrm>
          <a:prstGeom prst="rect">
            <a:avLst/>
          </a:prstGeom>
          <a:noFill/>
        </p:spPr>
        <p:txBody>
          <a:bodyPr wrap="none" lIns="0" rIns="0" tIns="0" bIns="0" anchor="t">
            <a:noAutofit/>
          </a:bodyPr>
          <a:lstStyle/>
          <a:p>
            <a:pPr algn="l">
              <a:lnSpc>
                <a:spcPts val="2063"/>
              </a:lnSpc>
              <a:spcBef>
                <a:spcPts val="0"/>
              </a:spcBef>
              <a:spcAft>
                <a:spcPts val="0"/>
              </a:spcAft>
            </a:pPr>
            <a:r>
              <a:rPr sz="1625" b="0">
                <a:solidFill>
                  <a:srgbClr val="293E46"/>
                </a:solidFill>
                <a:latin typeface="Trebuchet MS"/>
              </a:rPr>
              <a:t>Pre-registered</a:t>
            </a:r>
          </a:p>
        </p:txBody>
      </p:sp>
      <p:sp>
        <p:nvSpPr>
          <p:cNvPr id="83" name="Rounded Rectangle 82"/>
          <p:cNvSpPr/>
          <p:nvPr/>
        </p:nvSpPr>
        <p:spPr>
          <a:xfrm>
            <a:off x="640080" y="6947611"/>
            <a:ext cx="13350240" cy="504748"/>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ody: 4"/>
          <p:cNvSpPr txBox="1"/>
          <p:nvPr/>
        </p:nvSpPr>
        <p:spPr>
          <a:xfrm>
            <a:off x="777240" y="7034647"/>
            <a:ext cx="822959" cy="330676"/>
          </a:xfrm>
          <a:prstGeom prst="rect">
            <a:avLst/>
          </a:prstGeom>
          <a:noFill/>
        </p:spPr>
        <p:txBody>
          <a:bodyPr wrap="none" lIns="0" rIns="0" tIns="0" bIns="0" anchor="t">
            <a:noAutofit/>
          </a:bodyPr>
          <a:lstStyle/>
          <a:p>
            <a:pPr algn="ctr">
              <a:lnSpc>
                <a:spcPts val="2063"/>
              </a:lnSpc>
              <a:spcBef>
                <a:spcPts val="0"/>
              </a:spcBef>
              <a:spcAft>
                <a:spcPts val="0"/>
              </a:spcAft>
            </a:pPr>
            <a:r>
              <a:rPr sz="1625" b="1">
                <a:solidFill>
                  <a:srgbClr val="4E7892"/>
                </a:solidFill>
                <a:latin typeface="Trebuchet MS"/>
              </a:rPr>
              <a:t>4</a:t>
            </a:r>
          </a:p>
        </p:txBody>
      </p:sp>
      <p:sp>
        <p:nvSpPr>
          <p:cNvPr id="85" name="body: Web intake, time split, first signed release"/>
          <p:cNvSpPr txBox="1"/>
          <p:nvPr/>
        </p:nvSpPr>
        <p:spPr>
          <a:xfrm>
            <a:off x="1874519" y="7034647"/>
            <a:ext cx="8869680" cy="330676"/>
          </a:xfrm>
          <a:prstGeom prst="rect">
            <a:avLst/>
          </a:prstGeom>
          <a:noFill/>
        </p:spPr>
        <p:txBody>
          <a:bodyPr wrap="none" lIns="0" rIns="0" tIns="0" bIns="0" anchor="t">
            <a:noAutofit/>
          </a:bodyPr>
          <a:lstStyle/>
          <a:p>
            <a:pPr algn="l">
              <a:lnSpc>
                <a:spcPts val="2063"/>
              </a:lnSpc>
              <a:spcBef>
                <a:spcPts val="0"/>
              </a:spcBef>
              <a:spcAft>
                <a:spcPts val="0"/>
              </a:spcAft>
            </a:pPr>
            <a:r>
              <a:rPr sz="1625" b="0">
                <a:solidFill>
                  <a:srgbClr val="293E46"/>
                </a:solidFill>
                <a:latin typeface="Trebuchet MS"/>
              </a:rPr>
              <a:t>Web intake, time split, first signed release</a:t>
            </a:r>
          </a:p>
        </p:txBody>
      </p:sp>
      <p:sp>
        <p:nvSpPr>
          <p:cNvPr id="86" name="body: Yes"/>
          <p:cNvSpPr txBox="1"/>
          <p:nvPr/>
        </p:nvSpPr>
        <p:spPr>
          <a:xfrm>
            <a:off x="11018520" y="7034647"/>
            <a:ext cx="2834640" cy="330676"/>
          </a:xfrm>
          <a:prstGeom prst="rect">
            <a:avLst/>
          </a:prstGeom>
          <a:noFill/>
        </p:spPr>
        <p:txBody>
          <a:bodyPr wrap="none" lIns="0" rIns="0" tIns="0" bIns="0" anchor="t">
            <a:noAutofit/>
          </a:bodyPr>
          <a:lstStyle/>
          <a:p>
            <a:pPr algn="l">
              <a:lnSpc>
                <a:spcPts val="2063"/>
              </a:lnSpc>
              <a:spcBef>
                <a:spcPts val="0"/>
              </a:spcBef>
              <a:spcAft>
                <a:spcPts val="0"/>
              </a:spcAft>
            </a:pPr>
            <a:r>
              <a:rPr sz="1625" b="0">
                <a:solidFill>
                  <a:srgbClr val="293E46"/>
                </a:solidFill>
                <a:latin typeface="Trebuchet MS"/>
              </a:rPr>
              <a:t>Yes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7 · REPLAY FEASIBILITY"/>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7 · REPLAY FEASIBILITY</a:t>
            </a:r>
          </a:p>
        </p:txBody>
      </p:sp>
      <p:sp>
        <p:nvSpPr>
          <p:cNvPr id="3" name="title: Full incident replay starts with an access problem"/>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Full incident replay starts with an access problem</a:t>
            </a:r>
          </a:p>
        </p:txBody>
      </p:sp>
      <p:sp>
        <p:nvSpPr>
          <p:cNvPr id="4" name="subtitle: Assess faithful reproduction first; a credible report is not aut"/>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Assess faithful reproduction first; a credible report is not automatically a replayable case</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31"/>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31</a:t>
            </a:r>
          </a:p>
        </p:txBody>
      </p:sp>
      <p:sp>
        <p:nvSpPr>
          <p:cNvPr id="12" name="Rounded Rectangle 11"/>
          <p:cNvSpPr/>
          <p:nvPr/>
        </p:nvSpPr>
        <p:spPr>
          <a:xfrm>
            <a:off x="640080" y="1783080"/>
            <a:ext cx="4242816" cy="4050791"/>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4195" y="1784543"/>
            <a:ext cx="4236415" cy="4043020"/>
          </a:xfrm>
          <a:custGeom>
            <a:avLst/>
            <a:gdLst/>
            <a:ahLst/>
            <a:cxnLst/>
            <a:rect l="l" t="t" r="r" b="b"/>
            <a:pathLst>
              <a:path w="46330" h="44215">
                <a:moveTo>
                  <a:pt x="46163" y="22241"/>
                </a:moveTo>
                <a:lnTo>
                  <a:pt x="46170" y="28816"/>
                </a:lnTo>
                <a:lnTo>
                  <a:pt x="46164" y="31039"/>
                </a:lnTo>
                <a:lnTo>
                  <a:pt x="46026" y="32612"/>
                </a:lnTo>
                <a:lnTo>
                  <a:pt x="46095" y="33862"/>
                </a:lnTo>
                <a:lnTo>
                  <a:pt x="45857" y="34886"/>
                </a:lnTo>
                <a:lnTo>
                  <a:pt x="45891" y="35881"/>
                </a:lnTo>
                <a:lnTo>
                  <a:pt x="45558" y="36781"/>
                </a:lnTo>
                <a:lnTo>
                  <a:pt x="45343" y="37489"/>
                </a:lnTo>
                <a:lnTo>
                  <a:pt x="45309" y="38244"/>
                </a:lnTo>
                <a:lnTo>
                  <a:pt x="45004" y="38804"/>
                </a:lnTo>
                <a:lnTo>
                  <a:pt x="44699" y="39468"/>
                </a:lnTo>
                <a:lnTo>
                  <a:pt x="44429" y="39948"/>
                </a:lnTo>
                <a:lnTo>
                  <a:pt x="43984" y="40393"/>
                </a:lnTo>
                <a:lnTo>
                  <a:pt x="43768" y="40881"/>
                </a:lnTo>
                <a:lnTo>
                  <a:pt x="43334" y="41326"/>
                </a:lnTo>
                <a:lnTo>
                  <a:pt x="42859" y="41632"/>
                </a:lnTo>
                <a:lnTo>
                  <a:pt x="42411" y="42069"/>
                </a:lnTo>
                <a:lnTo>
                  <a:pt x="41886" y="42414"/>
                </a:lnTo>
                <a:lnTo>
                  <a:pt x="41187" y="42568"/>
                </a:lnTo>
                <a:lnTo>
                  <a:pt x="40594" y="42881"/>
                </a:lnTo>
                <a:lnTo>
                  <a:pt x="40010" y="43228"/>
                </a:lnTo>
                <a:lnTo>
                  <a:pt x="39169" y="43276"/>
                </a:lnTo>
                <a:lnTo>
                  <a:pt x="38539" y="43461"/>
                </a:lnTo>
                <a:lnTo>
                  <a:pt x="37456" y="43682"/>
                </a:lnTo>
                <a:lnTo>
                  <a:pt x="36616" y="43894"/>
                </a:lnTo>
                <a:lnTo>
                  <a:pt x="35475" y="44005"/>
                </a:lnTo>
                <a:lnTo>
                  <a:pt x="34054" y="44076"/>
                </a:lnTo>
                <a:lnTo>
                  <a:pt x="32473" y="44123"/>
                </a:lnTo>
                <a:lnTo>
                  <a:pt x="30318" y="44215"/>
                </a:lnTo>
                <a:lnTo>
                  <a:pt x="23214" y="44106"/>
                </a:lnTo>
                <a:lnTo>
                  <a:pt x="16073" y="44119"/>
                </a:lnTo>
                <a:lnTo>
                  <a:pt x="13914" y="44115"/>
                </a:lnTo>
                <a:lnTo>
                  <a:pt x="12201" y="44165"/>
                </a:lnTo>
                <a:lnTo>
                  <a:pt x="10712" y="43868"/>
                </a:lnTo>
                <a:lnTo>
                  <a:pt x="9763" y="43825"/>
                </a:lnTo>
                <a:lnTo>
                  <a:pt x="8605" y="43671"/>
                </a:lnTo>
                <a:lnTo>
                  <a:pt x="7849" y="43455"/>
                </a:lnTo>
                <a:lnTo>
                  <a:pt x="6969" y="43345"/>
                </a:lnTo>
                <a:lnTo>
                  <a:pt x="6446" y="43095"/>
                </a:lnTo>
                <a:lnTo>
                  <a:pt x="5766" y="43008"/>
                </a:lnTo>
                <a:lnTo>
                  <a:pt x="5028" y="42567"/>
                </a:lnTo>
                <a:lnTo>
                  <a:pt x="4393" y="42390"/>
                </a:lnTo>
                <a:lnTo>
                  <a:pt x="4105" y="42093"/>
                </a:lnTo>
                <a:lnTo>
                  <a:pt x="3563" y="41729"/>
                </a:lnTo>
                <a:lnTo>
                  <a:pt x="2980" y="41223"/>
                </a:lnTo>
                <a:lnTo>
                  <a:pt x="2775" y="40775"/>
                </a:lnTo>
                <a:lnTo>
                  <a:pt x="2342" y="40473"/>
                </a:lnTo>
                <a:lnTo>
                  <a:pt x="2020" y="39833"/>
                </a:lnTo>
                <a:lnTo>
                  <a:pt x="1658" y="39358"/>
                </a:lnTo>
                <a:lnTo>
                  <a:pt x="1248" y="38852"/>
                </a:lnTo>
                <a:lnTo>
                  <a:pt x="1064" y="38272"/>
                </a:lnTo>
                <a:lnTo>
                  <a:pt x="845" y="37614"/>
                </a:lnTo>
                <a:lnTo>
                  <a:pt x="789" y="36802"/>
                </a:lnTo>
                <a:lnTo>
                  <a:pt x="484" y="35845"/>
                </a:lnTo>
                <a:lnTo>
                  <a:pt x="507" y="35048"/>
                </a:lnTo>
                <a:lnTo>
                  <a:pt x="170" y="33821"/>
                </a:lnTo>
                <a:lnTo>
                  <a:pt x="84" y="32597"/>
                </a:lnTo>
                <a:lnTo>
                  <a:pt x="29" y="31136"/>
                </a:lnTo>
                <a:lnTo>
                  <a:pt x="0" y="28837"/>
                </a:lnTo>
                <a:lnTo>
                  <a:pt x="27" y="22095"/>
                </a:lnTo>
                <a:lnTo>
                  <a:pt x="38" y="15335"/>
                </a:lnTo>
                <a:lnTo>
                  <a:pt x="237" y="13295"/>
                </a:lnTo>
                <a:lnTo>
                  <a:pt x="179" y="11566"/>
                </a:lnTo>
                <a:lnTo>
                  <a:pt x="387" y="10326"/>
                </a:lnTo>
                <a:lnTo>
                  <a:pt x="280" y="9401"/>
                </a:lnTo>
                <a:lnTo>
                  <a:pt x="488" y="8298"/>
                </a:lnTo>
                <a:lnTo>
                  <a:pt x="702" y="7539"/>
                </a:lnTo>
                <a:lnTo>
                  <a:pt x="768" y="6849"/>
                </a:lnTo>
                <a:lnTo>
                  <a:pt x="1044" y="5955"/>
                </a:lnTo>
                <a:lnTo>
                  <a:pt x="1419" y="5415"/>
                </a:lnTo>
                <a:lnTo>
                  <a:pt x="1598" y="4868"/>
                </a:lnTo>
                <a:lnTo>
                  <a:pt x="1966" y="4247"/>
                </a:lnTo>
                <a:lnTo>
                  <a:pt x="2246" y="3769"/>
                </a:lnTo>
                <a:lnTo>
                  <a:pt x="2535" y="3397"/>
                </a:lnTo>
                <a:lnTo>
                  <a:pt x="2989" y="2863"/>
                </a:lnTo>
                <a:lnTo>
                  <a:pt x="3622" y="2555"/>
                </a:lnTo>
                <a:lnTo>
                  <a:pt x="4095" y="2288"/>
                </a:lnTo>
                <a:lnTo>
                  <a:pt x="4384" y="1838"/>
                </a:lnTo>
                <a:lnTo>
                  <a:pt x="5135" y="1638"/>
                </a:lnTo>
                <a:lnTo>
                  <a:pt x="5704" y="1380"/>
                </a:lnTo>
                <a:lnTo>
                  <a:pt x="6316" y="1052"/>
                </a:lnTo>
                <a:lnTo>
                  <a:pt x="7124" y="942"/>
                </a:lnTo>
                <a:lnTo>
                  <a:pt x="7786" y="657"/>
                </a:lnTo>
                <a:lnTo>
                  <a:pt x="8749" y="614"/>
                </a:lnTo>
                <a:lnTo>
                  <a:pt x="9844" y="409"/>
                </a:lnTo>
                <a:lnTo>
                  <a:pt x="10813" y="410"/>
                </a:lnTo>
                <a:lnTo>
                  <a:pt x="12068" y="256"/>
                </a:lnTo>
                <a:lnTo>
                  <a:pt x="13729" y="124"/>
                </a:lnTo>
                <a:lnTo>
                  <a:pt x="16156" y="125"/>
                </a:lnTo>
                <a:lnTo>
                  <a:pt x="23070" y="99"/>
                </a:lnTo>
                <a:lnTo>
                  <a:pt x="30119" y="0"/>
                </a:lnTo>
                <a:lnTo>
                  <a:pt x="32600" y="84"/>
                </a:lnTo>
                <a:lnTo>
                  <a:pt x="34143" y="274"/>
                </a:lnTo>
                <a:lnTo>
                  <a:pt x="35362" y="231"/>
                </a:lnTo>
                <a:lnTo>
                  <a:pt x="36615" y="469"/>
                </a:lnTo>
                <a:lnTo>
                  <a:pt x="37604" y="605"/>
                </a:lnTo>
                <a:lnTo>
                  <a:pt x="38460" y="780"/>
                </a:lnTo>
                <a:lnTo>
                  <a:pt x="39282" y="923"/>
                </a:lnTo>
                <a:lnTo>
                  <a:pt x="40032" y="1133"/>
                </a:lnTo>
                <a:lnTo>
                  <a:pt x="40705" y="1315"/>
                </a:lnTo>
                <a:lnTo>
                  <a:pt x="41290" y="1658"/>
                </a:lnTo>
                <a:lnTo>
                  <a:pt x="41751" y="1839"/>
                </a:lnTo>
                <a:lnTo>
                  <a:pt x="42305" y="2179"/>
                </a:lnTo>
                <a:lnTo>
                  <a:pt x="42724" y="2548"/>
                </a:lnTo>
                <a:lnTo>
                  <a:pt x="43177" y="2877"/>
                </a:lnTo>
                <a:lnTo>
                  <a:pt x="43736" y="3423"/>
                </a:lnTo>
                <a:lnTo>
                  <a:pt x="44145" y="3804"/>
                </a:lnTo>
                <a:lnTo>
                  <a:pt x="44409" y="4225"/>
                </a:lnTo>
                <a:lnTo>
                  <a:pt x="44556" y="4836"/>
                </a:lnTo>
                <a:lnTo>
                  <a:pt x="44961" y="5376"/>
                </a:lnTo>
                <a:lnTo>
                  <a:pt x="45223" y="6173"/>
                </a:lnTo>
                <a:lnTo>
                  <a:pt x="45435" y="6680"/>
                </a:lnTo>
                <a:lnTo>
                  <a:pt x="45545" y="7459"/>
                </a:lnTo>
                <a:lnTo>
                  <a:pt x="45806" y="8358"/>
                </a:lnTo>
                <a:lnTo>
                  <a:pt x="45952" y="9400"/>
                </a:lnTo>
                <a:lnTo>
                  <a:pt x="46068" y="10296"/>
                </a:lnTo>
                <a:lnTo>
                  <a:pt x="46193" y="11549"/>
                </a:lnTo>
                <a:lnTo>
                  <a:pt x="46101" y="13118"/>
                </a:lnTo>
                <a:lnTo>
                  <a:pt x="46283" y="15317"/>
                </a:lnTo>
                <a:lnTo>
                  <a:pt x="46330" y="22184"/>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41360" y="1787195"/>
            <a:ext cx="4240896" cy="4045580"/>
          </a:xfrm>
          <a:custGeom>
            <a:avLst/>
            <a:gdLst/>
            <a:ahLst/>
            <a:cxnLst/>
            <a:rect l="l" t="t" r="r" b="b"/>
            <a:pathLst>
              <a:path w="46379" h="44243">
                <a:moveTo>
                  <a:pt x="46347" y="22186"/>
                </a:moveTo>
                <a:lnTo>
                  <a:pt x="46158" y="28798"/>
                </a:lnTo>
                <a:lnTo>
                  <a:pt x="46179" y="31097"/>
                </a:lnTo>
                <a:lnTo>
                  <a:pt x="46079" y="32700"/>
                </a:lnTo>
                <a:lnTo>
                  <a:pt x="46054" y="33924"/>
                </a:lnTo>
                <a:lnTo>
                  <a:pt x="46005" y="34985"/>
                </a:lnTo>
                <a:lnTo>
                  <a:pt x="45905" y="35844"/>
                </a:lnTo>
                <a:lnTo>
                  <a:pt x="45631" y="36621"/>
                </a:lnTo>
                <a:lnTo>
                  <a:pt x="45558" y="37464"/>
                </a:lnTo>
                <a:lnTo>
                  <a:pt x="45274" y="38057"/>
                </a:lnTo>
                <a:lnTo>
                  <a:pt x="45041" y="38766"/>
                </a:lnTo>
                <a:lnTo>
                  <a:pt x="44723" y="39392"/>
                </a:lnTo>
                <a:lnTo>
                  <a:pt x="44290" y="39979"/>
                </a:lnTo>
                <a:lnTo>
                  <a:pt x="44177" y="40429"/>
                </a:lnTo>
                <a:lnTo>
                  <a:pt x="43693" y="40787"/>
                </a:lnTo>
                <a:lnTo>
                  <a:pt x="43151" y="41369"/>
                </a:lnTo>
                <a:lnTo>
                  <a:pt x="42720" y="41642"/>
                </a:lnTo>
                <a:lnTo>
                  <a:pt x="42303" y="42029"/>
                </a:lnTo>
                <a:lnTo>
                  <a:pt x="41932" y="42321"/>
                </a:lnTo>
                <a:lnTo>
                  <a:pt x="41234" y="42689"/>
                </a:lnTo>
                <a:lnTo>
                  <a:pt x="40630" y="42876"/>
                </a:lnTo>
                <a:lnTo>
                  <a:pt x="40043" y="43120"/>
                </a:lnTo>
                <a:lnTo>
                  <a:pt x="39226" y="43352"/>
                </a:lnTo>
                <a:lnTo>
                  <a:pt x="38614" y="43586"/>
                </a:lnTo>
                <a:lnTo>
                  <a:pt x="37555" y="43631"/>
                </a:lnTo>
                <a:lnTo>
                  <a:pt x="36734" y="43723"/>
                </a:lnTo>
                <a:lnTo>
                  <a:pt x="35484" y="44037"/>
                </a:lnTo>
                <a:lnTo>
                  <a:pt x="34290" y="43983"/>
                </a:lnTo>
                <a:lnTo>
                  <a:pt x="32457" y="44072"/>
                </a:lnTo>
                <a:lnTo>
                  <a:pt x="30262" y="44243"/>
                </a:lnTo>
                <a:lnTo>
                  <a:pt x="23067" y="44117"/>
                </a:lnTo>
                <a:lnTo>
                  <a:pt x="16003" y="44076"/>
                </a:lnTo>
                <a:lnTo>
                  <a:pt x="13805" y="44160"/>
                </a:lnTo>
                <a:lnTo>
                  <a:pt x="12075" y="43931"/>
                </a:lnTo>
                <a:lnTo>
                  <a:pt x="10812" y="43865"/>
                </a:lnTo>
                <a:lnTo>
                  <a:pt x="9751" y="43888"/>
                </a:lnTo>
                <a:lnTo>
                  <a:pt x="8842" y="43762"/>
                </a:lnTo>
                <a:lnTo>
                  <a:pt x="7980" y="43613"/>
                </a:lnTo>
                <a:lnTo>
                  <a:pt x="7206" y="43445"/>
                </a:lnTo>
                <a:lnTo>
                  <a:pt x="6266" y="43180"/>
                </a:lnTo>
                <a:lnTo>
                  <a:pt x="5775" y="42930"/>
                </a:lnTo>
                <a:lnTo>
                  <a:pt x="5068" y="42726"/>
                </a:lnTo>
                <a:lnTo>
                  <a:pt x="4583" y="42252"/>
                </a:lnTo>
                <a:lnTo>
                  <a:pt x="4029" y="42109"/>
                </a:lnTo>
                <a:lnTo>
                  <a:pt x="3560" y="41564"/>
                </a:lnTo>
                <a:lnTo>
                  <a:pt x="3072" y="41197"/>
                </a:lnTo>
                <a:lnTo>
                  <a:pt x="2661" y="40820"/>
                </a:lnTo>
                <a:lnTo>
                  <a:pt x="2433" y="40353"/>
                </a:lnTo>
                <a:lnTo>
                  <a:pt x="1912" y="39936"/>
                </a:lnTo>
                <a:lnTo>
                  <a:pt x="1591" y="39327"/>
                </a:lnTo>
                <a:lnTo>
                  <a:pt x="1361" y="38898"/>
                </a:lnTo>
                <a:lnTo>
                  <a:pt x="1019" y="38212"/>
                </a:lnTo>
                <a:lnTo>
                  <a:pt x="1010" y="37472"/>
                </a:lnTo>
                <a:lnTo>
                  <a:pt x="838" y="36675"/>
                </a:lnTo>
                <a:lnTo>
                  <a:pt x="580" y="35865"/>
                </a:lnTo>
                <a:lnTo>
                  <a:pt x="309" y="34937"/>
                </a:lnTo>
                <a:lnTo>
                  <a:pt x="439" y="33864"/>
                </a:lnTo>
                <a:lnTo>
                  <a:pt x="330" y="32687"/>
                </a:lnTo>
                <a:lnTo>
                  <a:pt x="273" y="30924"/>
                </a:lnTo>
                <a:lnTo>
                  <a:pt x="26" y="28800"/>
                </a:lnTo>
                <a:lnTo>
                  <a:pt x="84" y="22010"/>
                </a:lnTo>
                <a:lnTo>
                  <a:pt x="0" y="15355"/>
                </a:lnTo>
                <a:lnTo>
                  <a:pt x="197" y="13144"/>
                </a:lnTo>
                <a:lnTo>
                  <a:pt x="299" y="11669"/>
                </a:lnTo>
                <a:lnTo>
                  <a:pt x="286" y="10310"/>
                </a:lnTo>
                <a:lnTo>
                  <a:pt x="320" y="9295"/>
                </a:lnTo>
                <a:lnTo>
                  <a:pt x="669" y="8344"/>
                </a:lnTo>
                <a:lnTo>
                  <a:pt x="859" y="7609"/>
                </a:lnTo>
                <a:lnTo>
                  <a:pt x="836" y="6646"/>
                </a:lnTo>
                <a:lnTo>
                  <a:pt x="1071" y="5949"/>
                </a:lnTo>
                <a:lnTo>
                  <a:pt x="1403" y="5496"/>
                </a:lnTo>
                <a:lnTo>
                  <a:pt x="1683" y="4903"/>
                </a:lnTo>
                <a:lnTo>
                  <a:pt x="2083" y="4368"/>
                </a:lnTo>
                <a:lnTo>
                  <a:pt x="2377" y="3762"/>
                </a:lnTo>
                <a:lnTo>
                  <a:pt x="2652" y="3439"/>
                </a:lnTo>
                <a:lnTo>
                  <a:pt x="3101" y="2997"/>
                </a:lnTo>
                <a:lnTo>
                  <a:pt x="3512" y="2632"/>
                </a:lnTo>
                <a:lnTo>
                  <a:pt x="3893" y="2114"/>
                </a:lnTo>
                <a:lnTo>
                  <a:pt x="4604" y="1837"/>
                </a:lnTo>
                <a:lnTo>
                  <a:pt x="5194" y="1531"/>
                </a:lnTo>
                <a:lnTo>
                  <a:pt x="5582" y="1364"/>
                </a:lnTo>
                <a:lnTo>
                  <a:pt x="6452" y="1056"/>
                </a:lnTo>
                <a:lnTo>
                  <a:pt x="7113" y="826"/>
                </a:lnTo>
                <a:lnTo>
                  <a:pt x="7790" y="715"/>
                </a:lnTo>
                <a:lnTo>
                  <a:pt x="8713" y="429"/>
                </a:lnTo>
                <a:lnTo>
                  <a:pt x="9748" y="487"/>
                </a:lnTo>
                <a:lnTo>
                  <a:pt x="10974" y="374"/>
                </a:lnTo>
                <a:lnTo>
                  <a:pt x="12120" y="165"/>
                </a:lnTo>
                <a:lnTo>
                  <a:pt x="13815" y="57"/>
                </a:lnTo>
                <a:lnTo>
                  <a:pt x="16223" y="58"/>
                </a:lnTo>
                <a:lnTo>
                  <a:pt x="23288" y="0"/>
                </a:lnTo>
                <a:lnTo>
                  <a:pt x="30296" y="22"/>
                </a:lnTo>
                <a:lnTo>
                  <a:pt x="32615" y="189"/>
                </a:lnTo>
                <a:lnTo>
                  <a:pt x="34070" y="223"/>
                </a:lnTo>
                <a:lnTo>
                  <a:pt x="35544" y="361"/>
                </a:lnTo>
                <a:lnTo>
                  <a:pt x="36652" y="473"/>
                </a:lnTo>
                <a:lnTo>
                  <a:pt x="37620" y="437"/>
                </a:lnTo>
                <a:lnTo>
                  <a:pt x="38537" y="688"/>
                </a:lnTo>
                <a:lnTo>
                  <a:pt x="39404" y="768"/>
                </a:lnTo>
                <a:lnTo>
                  <a:pt x="40067" y="1054"/>
                </a:lnTo>
                <a:lnTo>
                  <a:pt x="40744" y="1410"/>
                </a:lnTo>
                <a:lnTo>
                  <a:pt x="41207" y="1612"/>
                </a:lnTo>
                <a:lnTo>
                  <a:pt x="41754" y="1892"/>
                </a:lnTo>
                <a:lnTo>
                  <a:pt x="42346" y="2149"/>
                </a:lnTo>
                <a:lnTo>
                  <a:pt x="42912" y="2638"/>
                </a:lnTo>
                <a:lnTo>
                  <a:pt x="43383" y="2993"/>
                </a:lnTo>
                <a:lnTo>
                  <a:pt x="43788" y="3387"/>
                </a:lnTo>
                <a:lnTo>
                  <a:pt x="44037" y="3823"/>
                </a:lnTo>
                <a:lnTo>
                  <a:pt x="44430" y="4335"/>
                </a:lnTo>
                <a:lnTo>
                  <a:pt x="44676" y="4741"/>
                </a:lnTo>
                <a:lnTo>
                  <a:pt x="44863" y="5307"/>
                </a:lnTo>
                <a:lnTo>
                  <a:pt x="45275" y="6123"/>
                </a:lnTo>
                <a:lnTo>
                  <a:pt x="45443" y="6790"/>
                </a:lnTo>
                <a:lnTo>
                  <a:pt x="45647" y="7564"/>
                </a:lnTo>
                <a:lnTo>
                  <a:pt x="45817" y="8357"/>
                </a:lnTo>
                <a:lnTo>
                  <a:pt x="45937" y="9287"/>
                </a:lnTo>
                <a:lnTo>
                  <a:pt x="45979" y="10410"/>
                </a:lnTo>
                <a:lnTo>
                  <a:pt x="46067" y="11629"/>
                </a:lnTo>
                <a:lnTo>
                  <a:pt x="46314" y="13129"/>
                </a:lnTo>
                <a:lnTo>
                  <a:pt x="46379" y="15396"/>
                </a:lnTo>
                <a:lnTo>
                  <a:pt x="46223" y="22027"/>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4796942" y="4883170"/>
            <a:ext cx="56418" cy="330921"/>
          </a:xfrm>
          <a:custGeom>
            <a:avLst/>
            <a:gdLst/>
            <a:ahLst/>
            <a:cxnLst/>
            <a:rect l="l" t="t" r="r" b="b"/>
            <a:pathLst>
              <a:path w="617" h="3619">
                <a:moveTo>
                  <a:pt x="617" y="0"/>
                </a:moveTo>
                <a:lnTo>
                  <a:pt x="502" y="1077"/>
                </a:lnTo>
                <a:lnTo>
                  <a:pt x="361" y="2019"/>
                </a:lnTo>
                <a:lnTo>
                  <a:pt x="194" y="2860"/>
                </a:lnTo>
                <a:lnTo>
                  <a:pt x="0" y="361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61434" y="5686014"/>
            <a:ext cx="255118" cy="82296"/>
          </a:xfrm>
          <a:custGeom>
            <a:avLst/>
            <a:gdLst/>
            <a:ahLst/>
            <a:cxnLst/>
            <a:rect l="l" t="t" r="r" b="b"/>
            <a:pathLst>
              <a:path w="2790" h="900">
                <a:moveTo>
                  <a:pt x="2790" y="0"/>
                </a:moveTo>
                <a:lnTo>
                  <a:pt x="2181" y="265"/>
                </a:lnTo>
                <a:lnTo>
                  <a:pt x="1519" y="503"/>
                </a:lnTo>
                <a:lnTo>
                  <a:pt x="795" y="714"/>
                </a:lnTo>
                <a:lnTo>
                  <a:pt x="0" y="90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288847" y="5751302"/>
            <a:ext cx="346649" cy="53858"/>
          </a:xfrm>
          <a:custGeom>
            <a:avLst/>
            <a:gdLst/>
            <a:ahLst/>
            <a:cxnLst/>
            <a:rect l="l" t="t" r="r" b="b"/>
            <a:pathLst>
              <a:path w="3791" h="589">
                <a:moveTo>
                  <a:pt x="3791" y="589"/>
                </a:moveTo>
                <a:lnTo>
                  <a:pt x="2664" y="480"/>
                </a:lnTo>
                <a:lnTo>
                  <a:pt x="1676" y="345"/>
                </a:lnTo>
                <a:lnTo>
                  <a:pt x="795" y="186"/>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08294" y="5144689"/>
            <a:ext cx="86136" cy="243596"/>
          </a:xfrm>
          <a:custGeom>
            <a:avLst/>
            <a:gdLst/>
            <a:ahLst/>
            <a:cxnLst/>
            <a:rect l="l" t="t" r="r" b="b"/>
            <a:pathLst>
              <a:path w="942" h="2664">
                <a:moveTo>
                  <a:pt x="942" y="2664"/>
                </a:moveTo>
                <a:lnTo>
                  <a:pt x="664" y="2083"/>
                </a:lnTo>
                <a:lnTo>
                  <a:pt x="415" y="1450"/>
                </a:lnTo>
                <a:lnTo>
                  <a:pt x="194" y="759"/>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69615" y="2402860"/>
            <a:ext cx="56418" cy="330921"/>
          </a:xfrm>
          <a:custGeom>
            <a:avLst/>
            <a:gdLst/>
            <a:ahLst/>
            <a:cxnLst/>
            <a:rect l="l" t="t" r="r" b="b"/>
            <a:pathLst>
              <a:path w="617" h="3619">
                <a:moveTo>
                  <a:pt x="0" y="3619"/>
                </a:moveTo>
                <a:lnTo>
                  <a:pt x="115" y="2542"/>
                </a:lnTo>
                <a:lnTo>
                  <a:pt x="256" y="1600"/>
                </a:lnTo>
                <a:lnTo>
                  <a:pt x="423" y="759"/>
                </a:lnTo>
                <a:lnTo>
                  <a:pt x="617"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106424" y="1848642"/>
            <a:ext cx="255118" cy="82296"/>
          </a:xfrm>
          <a:custGeom>
            <a:avLst/>
            <a:gdLst/>
            <a:ahLst/>
            <a:cxnLst/>
            <a:rect l="l" t="t" r="r" b="b"/>
            <a:pathLst>
              <a:path w="2790" h="900">
                <a:moveTo>
                  <a:pt x="0" y="900"/>
                </a:moveTo>
                <a:lnTo>
                  <a:pt x="609" y="635"/>
                </a:lnTo>
                <a:lnTo>
                  <a:pt x="1271" y="397"/>
                </a:lnTo>
                <a:lnTo>
                  <a:pt x="1995" y="186"/>
                </a:lnTo>
                <a:lnTo>
                  <a:pt x="279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887480" y="1811792"/>
            <a:ext cx="346649" cy="53858"/>
          </a:xfrm>
          <a:custGeom>
            <a:avLst/>
            <a:gdLst/>
            <a:ahLst/>
            <a:cxnLst/>
            <a:rect l="l" t="t" r="r" b="b"/>
            <a:pathLst>
              <a:path w="3791" h="589">
                <a:moveTo>
                  <a:pt x="0" y="0"/>
                </a:moveTo>
                <a:lnTo>
                  <a:pt x="1127" y="109"/>
                </a:lnTo>
                <a:lnTo>
                  <a:pt x="2115" y="244"/>
                </a:lnTo>
                <a:lnTo>
                  <a:pt x="2996" y="403"/>
                </a:lnTo>
                <a:lnTo>
                  <a:pt x="3791" y="58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728545" y="2228667"/>
            <a:ext cx="86136" cy="243596"/>
          </a:xfrm>
          <a:custGeom>
            <a:avLst/>
            <a:gdLst/>
            <a:ahLst/>
            <a:cxnLst/>
            <a:rect l="l" t="t" r="r" b="b"/>
            <a:pathLst>
              <a:path w="942" h="2664">
                <a:moveTo>
                  <a:pt x="0" y="0"/>
                </a:moveTo>
                <a:lnTo>
                  <a:pt x="278" y="581"/>
                </a:lnTo>
                <a:lnTo>
                  <a:pt x="527" y="1214"/>
                </a:lnTo>
                <a:lnTo>
                  <a:pt x="748" y="1905"/>
                </a:lnTo>
                <a:lnTo>
                  <a:pt x="942" y="266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Model / checkpoint"/>
          <p:cNvSpPr txBox="1"/>
          <p:nvPr/>
        </p:nvSpPr>
        <p:spPr>
          <a:xfrm>
            <a:off x="996695" y="2061209"/>
            <a:ext cx="352958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Model / checkpoint</a:t>
            </a:r>
          </a:p>
        </p:txBody>
      </p:sp>
      <p:sp>
        <p:nvSpPr>
          <p:cNvPr id="24" name="Oval 23"/>
          <p:cNvSpPr/>
          <p:nvPr/>
        </p:nvSpPr>
        <p:spPr>
          <a:xfrm>
            <a:off x="909828" y="2935351"/>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Internal, pre-mitigation or intermediate checkpoints may be inac"/>
          <p:cNvSpPr txBox="1"/>
          <p:nvPr/>
        </p:nvSpPr>
        <p:spPr>
          <a:xfrm>
            <a:off x="1143000" y="2834767"/>
            <a:ext cx="3483864" cy="927449"/>
          </a:xfrm>
          <a:prstGeom prst="rect">
            <a:avLst/>
          </a:prstGeom>
          <a:noFill/>
        </p:spPr>
        <p:txBody>
          <a:bodyPr wrap="none" lIns="0" rIns="0" tIns="0" bIns="0" anchor="t">
            <a:noAutofit/>
          </a:bodyPr>
          <a:lstStyle/>
          <a:p>
            <a:pPr algn="l">
              <a:lnSpc>
                <a:spcPts val="2254"/>
              </a:lnSpc>
              <a:spcBef>
                <a:spcPts val="0"/>
              </a:spcBef>
              <a:spcAft>
                <a:spcPts val="0"/>
              </a:spcAft>
            </a:pPr>
            <a:r>
              <a:rPr sz="1775" b="0">
                <a:solidFill>
                  <a:srgbClr val="293E46"/>
                </a:solidFill>
                <a:latin typeface="Trebuchet MS"/>
              </a:rPr>
              <a:t>Internal, pre-mitigation or</a:t>
            </a:r>
            <a:br/>
            <a:r>
              <a:rPr sz="1775" b="0">
                <a:solidFill>
                  <a:srgbClr val="293E46"/>
                </a:solidFill>
                <a:latin typeface="Trebuchet MS"/>
              </a:rPr>
              <a:t>intermediate checkpoints may</a:t>
            </a:r>
            <a:br/>
            <a:r>
              <a:rPr sz="1775" b="0">
                <a:solidFill>
                  <a:srgbClr val="293E46"/>
                </a:solidFill>
                <a:latin typeface="Trebuchet MS"/>
              </a:rPr>
              <a:t>be inaccessible</a:t>
            </a:r>
          </a:p>
        </p:txBody>
      </p:sp>
      <p:sp>
        <p:nvSpPr>
          <p:cNvPr id="26" name="Oval 25"/>
          <p:cNvSpPr/>
          <p:nvPr/>
        </p:nvSpPr>
        <p:spPr>
          <a:xfrm>
            <a:off x="909828" y="398167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A public model name does not identify the incident checkpoint"/>
          <p:cNvSpPr txBox="1"/>
          <p:nvPr/>
        </p:nvSpPr>
        <p:spPr>
          <a:xfrm>
            <a:off x="1143000" y="3881088"/>
            <a:ext cx="3483864" cy="641159"/>
          </a:xfrm>
          <a:prstGeom prst="rect">
            <a:avLst/>
          </a:prstGeom>
          <a:noFill/>
        </p:spPr>
        <p:txBody>
          <a:bodyPr wrap="none" lIns="0" rIns="0" tIns="0" bIns="0" anchor="t">
            <a:noAutofit/>
          </a:bodyPr>
          <a:lstStyle/>
          <a:p>
            <a:pPr algn="l">
              <a:lnSpc>
                <a:spcPts val="2254"/>
              </a:lnSpc>
              <a:spcBef>
                <a:spcPts val="0"/>
              </a:spcBef>
              <a:spcAft>
                <a:spcPts val="0"/>
              </a:spcAft>
            </a:pPr>
            <a:r>
              <a:rPr sz="1775" b="0">
                <a:solidFill>
                  <a:srgbClr val="293E46"/>
                </a:solidFill>
                <a:latin typeface="Trebuchet MS"/>
              </a:rPr>
              <a:t>A public model name does not</a:t>
            </a:r>
            <a:br/>
            <a:r>
              <a:rPr sz="1775" b="0">
                <a:solidFill>
                  <a:srgbClr val="293E46"/>
                </a:solidFill>
                <a:latin typeface="Trebuchet MS"/>
              </a:rPr>
              <a:t>identify the incident checkpoint</a:t>
            </a:r>
          </a:p>
        </p:txBody>
      </p:sp>
      <p:sp>
        <p:nvSpPr>
          <p:cNvPr id="28" name="Oval 27"/>
          <p:cNvSpPr/>
          <p:nvPr/>
        </p:nvSpPr>
        <p:spPr>
          <a:xfrm>
            <a:off x="909828" y="4741703"/>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More GPU / API budget cannot recover unavailable weights or acce"/>
          <p:cNvSpPr txBox="1"/>
          <p:nvPr/>
        </p:nvSpPr>
        <p:spPr>
          <a:xfrm>
            <a:off x="1143000" y="4641119"/>
            <a:ext cx="3483864" cy="927449"/>
          </a:xfrm>
          <a:prstGeom prst="rect">
            <a:avLst/>
          </a:prstGeom>
          <a:noFill/>
        </p:spPr>
        <p:txBody>
          <a:bodyPr wrap="none" lIns="0" rIns="0" tIns="0" bIns="0" anchor="t">
            <a:noAutofit/>
          </a:bodyPr>
          <a:lstStyle/>
          <a:p>
            <a:pPr algn="l">
              <a:lnSpc>
                <a:spcPts val="2254"/>
              </a:lnSpc>
              <a:spcBef>
                <a:spcPts val="0"/>
              </a:spcBef>
              <a:spcAft>
                <a:spcPts val="0"/>
              </a:spcAft>
            </a:pPr>
            <a:r>
              <a:rPr sz="1775" b="0">
                <a:solidFill>
                  <a:srgbClr val="293E46"/>
                </a:solidFill>
                <a:latin typeface="Trebuchet MS"/>
              </a:rPr>
              <a:t>More GPU / API budget cannot</a:t>
            </a:r>
            <a:br/>
            <a:r>
              <a:rPr sz="1775" b="0">
                <a:solidFill>
                  <a:srgbClr val="293E46"/>
                </a:solidFill>
                <a:latin typeface="Trebuchet MS"/>
              </a:rPr>
              <a:t>recover unavailable weights or</a:t>
            </a:r>
            <a:br/>
            <a:r>
              <a:rPr sz="1775" b="0">
                <a:solidFill>
                  <a:srgbClr val="293E46"/>
                </a:solidFill>
                <a:latin typeface="Trebuchet MS"/>
              </a:rPr>
              <a:t>access</a:t>
            </a:r>
          </a:p>
        </p:txBody>
      </p:sp>
      <p:sp>
        <p:nvSpPr>
          <p:cNvPr id="30" name="Rounded Rectangle 29"/>
          <p:cNvSpPr/>
          <p:nvPr/>
        </p:nvSpPr>
        <p:spPr>
          <a:xfrm>
            <a:off x="5193792" y="1783080"/>
            <a:ext cx="4242816" cy="4050791"/>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5197815" y="1785549"/>
            <a:ext cx="4235867" cy="4042380"/>
          </a:xfrm>
          <a:custGeom>
            <a:avLst/>
            <a:gdLst/>
            <a:ahLst/>
            <a:cxnLst/>
            <a:rect l="l" t="t" r="r" b="b"/>
            <a:pathLst>
              <a:path w="46324" h="44208">
                <a:moveTo>
                  <a:pt x="46264" y="22007"/>
                </a:moveTo>
                <a:lnTo>
                  <a:pt x="46324" y="28861"/>
                </a:lnTo>
                <a:lnTo>
                  <a:pt x="46135" y="30945"/>
                </a:lnTo>
                <a:lnTo>
                  <a:pt x="46146" y="32587"/>
                </a:lnTo>
                <a:lnTo>
                  <a:pt x="45924" y="33855"/>
                </a:lnTo>
                <a:lnTo>
                  <a:pt x="45918" y="34964"/>
                </a:lnTo>
                <a:lnTo>
                  <a:pt x="45791" y="35845"/>
                </a:lnTo>
                <a:lnTo>
                  <a:pt x="45539" y="36625"/>
                </a:lnTo>
                <a:lnTo>
                  <a:pt x="45378" y="37438"/>
                </a:lnTo>
                <a:lnTo>
                  <a:pt x="45222" y="38291"/>
                </a:lnTo>
                <a:lnTo>
                  <a:pt x="44946" y="38771"/>
                </a:lnTo>
                <a:lnTo>
                  <a:pt x="44654" y="39468"/>
                </a:lnTo>
                <a:lnTo>
                  <a:pt x="44235" y="39876"/>
                </a:lnTo>
                <a:lnTo>
                  <a:pt x="44029" y="40327"/>
                </a:lnTo>
                <a:lnTo>
                  <a:pt x="43602" y="40928"/>
                </a:lnTo>
                <a:lnTo>
                  <a:pt x="43211" y="41420"/>
                </a:lnTo>
                <a:lnTo>
                  <a:pt x="42903" y="41733"/>
                </a:lnTo>
                <a:lnTo>
                  <a:pt x="42404" y="41920"/>
                </a:lnTo>
                <a:lnTo>
                  <a:pt x="41880" y="42462"/>
                </a:lnTo>
                <a:lnTo>
                  <a:pt x="41314" y="42546"/>
                </a:lnTo>
                <a:lnTo>
                  <a:pt x="40751" y="42844"/>
                </a:lnTo>
                <a:lnTo>
                  <a:pt x="40048" y="43186"/>
                </a:lnTo>
                <a:lnTo>
                  <a:pt x="39298" y="43468"/>
                </a:lnTo>
                <a:lnTo>
                  <a:pt x="38338" y="43621"/>
                </a:lnTo>
                <a:lnTo>
                  <a:pt x="37517" y="43631"/>
                </a:lnTo>
                <a:lnTo>
                  <a:pt x="36677" y="43962"/>
                </a:lnTo>
                <a:lnTo>
                  <a:pt x="35525" y="44005"/>
                </a:lnTo>
                <a:lnTo>
                  <a:pt x="34271" y="44105"/>
                </a:lnTo>
                <a:lnTo>
                  <a:pt x="32388" y="44194"/>
                </a:lnTo>
                <a:lnTo>
                  <a:pt x="30172" y="44127"/>
                </a:lnTo>
                <a:lnTo>
                  <a:pt x="23209" y="44208"/>
                </a:lnTo>
                <a:lnTo>
                  <a:pt x="16171" y="44121"/>
                </a:lnTo>
                <a:lnTo>
                  <a:pt x="13694" y="44088"/>
                </a:lnTo>
                <a:lnTo>
                  <a:pt x="12266" y="44120"/>
                </a:lnTo>
                <a:lnTo>
                  <a:pt x="10725" y="43948"/>
                </a:lnTo>
                <a:lnTo>
                  <a:pt x="9694" y="43781"/>
                </a:lnTo>
                <a:lnTo>
                  <a:pt x="8818" y="43741"/>
                </a:lnTo>
                <a:lnTo>
                  <a:pt x="7796" y="43534"/>
                </a:lnTo>
                <a:lnTo>
                  <a:pt x="7124" y="43409"/>
                </a:lnTo>
                <a:lnTo>
                  <a:pt x="6233" y="43255"/>
                </a:lnTo>
                <a:lnTo>
                  <a:pt x="5696" y="42824"/>
                </a:lnTo>
                <a:lnTo>
                  <a:pt x="4988" y="42683"/>
                </a:lnTo>
                <a:lnTo>
                  <a:pt x="4391" y="42479"/>
                </a:lnTo>
                <a:lnTo>
                  <a:pt x="4085" y="41932"/>
                </a:lnTo>
                <a:lnTo>
                  <a:pt x="3614" y="41676"/>
                </a:lnTo>
                <a:lnTo>
                  <a:pt x="2978" y="41375"/>
                </a:lnTo>
                <a:lnTo>
                  <a:pt x="2702" y="40975"/>
                </a:lnTo>
                <a:lnTo>
                  <a:pt x="2212" y="40423"/>
                </a:lnTo>
                <a:lnTo>
                  <a:pt x="2012" y="39877"/>
                </a:lnTo>
                <a:lnTo>
                  <a:pt x="1519" y="39406"/>
                </a:lnTo>
                <a:lnTo>
                  <a:pt x="1271" y="38824"/>
                </a:lnTo>
                <a:lnTo>
                  <a:pt x="1152" y="38210"/>
                </a:lnTo>
                <a:lnTo>
                  <a:pt x="816" y="37585"/>
                </a:lnTo>
                <a:lnTo>
                  <a:pt x="821" y="36630"/>
                </a:lnTo>
                <a:lnTo>
                  <a:pt x="592" y="35968"/>
                </a:lnTo>
                <a:lnTo>
                  <a:pt x="318" y="34977"/>
                </a:lnTo>
                <a:lnTo>
                  <a:pt x="289" y="33978"/>
                </a:lnTo>
                <a:lnTo>
                  <a:pt x="217" y="32702"/>
                </a:lnTo>
                <a:lnTo>
                  <a:pt x="63" y="31114"/>
                </a:lnTo>
                <a:lnTo>
                  <a:pt x="0" y="28852"/>
                </a:lnTo>
                <a:lnTo>
                  <a:pt x="131" y="22024"/>
                </a:lnTo>
                <a:lnTo>
                  <a:pt x="79" y="15451"/>
                </a:lnTo>
                <a:lnTo>
                  <a:pt x="194" y="13264"/>
                </a:lnTo>
                <a:lnTo>
                  <a:pt x="97" y="11542"/>
                </a:lnTo>
                <a:lnTo>
                  <a:pt x="237" y="10259"/>
                </a:lnTo>
                <a:lnTo>
                  <a:pt x="426" y="9347"/>
                </a:lnTo>
                <a:lnTo>
                  <a:pt x="495" y="8272"/>
                </a:lnTo>
                <a:lnTo>
                  <a:pt x="775" y="7620"/>
                </a:lnTo>
                <a:lnTo>
                  <a:pt x="846" y="6857"/>
                </a:lnTo>
                <a:lnTo>
                  <a:pt x="1125" y="6022"/>
                </a:lnTo>
                <a:lnTo>
                  <a:pt x="1442" y="5474"/>
                </a:lnTo>
                <a:lnTo>
                  <a:pt x="1737" y="4880"/>
                </a:lnTo>
                <a:lnTo>
                  <a:pt x="2037" y="4260"/>
                </a:lnTo>
                <a:lnTo>
                  <a:pt x="2220" y="3937"/>
                </a:lnTo>
                <a:lnTo>
                  <a:pt x="2779" y="3428"/>
                </a:lnTo>
                <a:lnTo>
                  <a:pt x="2957" y="3055"/>
                </a:lnTo>
                <a:lnTo>
                  <a:pt x="3581" y="2487"/>
                </a:lnTo>
                <a:lnTo>
                  <a:pt x="4099" y="2112"/>
                </a:lnTo>
                <a:lnTo>
                  <a:pt x="4381" y="1956"/>
                </a:lnTo>
                <a:lnTo>
                  <a:pt x="4959" y="1692"/>
                </a:lnTo>
                <a:lnTo>
                  <a:pt x="5594" y="1278"/>
                </a:lnTo>
                <a:lnTo>
                  <a:pt x="6256" y="973"/>
                </a:lnTo>
                <a:lnTo>
                  <a:pt x="6978" y="873"/>
                </a:lnTo>
                <a:lnTo>
                  <a:pt x="7973" y="575"/>
                </a:lnTo>
                <a:lnTo>
                  <a:pt x="8745" y="569"/>
                </a:lnTo>
                <a:lnTo>
                  <a:pt x="9621" y="494"/>
                </a:lnTo>
                <a:lnTo>
                  <a:pt x="10740" y="221"/>
                </a:lnTo>
                <a:lnTo>
                  <a:pt x="12123" y="94"/>
                </a:lnTo>
                <a:lnTo>
                  <a:pt x="13674" y="37"/>
                </a:lnTo>
                <a:lnTo>
                  <a:pt x="16164" y="0"/>
                </a:lnTo>
                <a:lnTo>
                  <a:pt x="23163" y="102"/>
                </a:lnTo>
                <a:lnTo>
                  <a:pt x="30230" y="58"/>
                </a:lnTo>
                <a:lnTo>
                  <a:pt x="32487" y="73"/>
                </a:lnTo>
                <a:lnTo>
                  <a:pt x="34120" y="228"/>
                </a:lnTo>
                <a:lnTo>
                  <a:pt x="35382" y="277"/>
                </a:lnTo>
                <a:lnTo>
                  <a:pt x="36609" y="318"/>
                </a:lnTo>
                <a:lnTo>
                  <a:pt x="37603" y="644"/>
                </a:lnTo>
                <a:lnTo>
                  <a:pt x="38394" y="604"/>
                </a:lnTo>
                <a:lnTo>
                  <a:pt x="39272" y="981"/>
                </a:lnTo>
                <a:lnTo>
                  <a:pt x="39923" y="1102"/>
                </a:lnTo>
                <a:lnTo>
                  <a:pt x="40575" y="1388"/>
                </a:lnTo>
                <a:lnTo>
                  <a:pt x="41275" y="1526"/>
                </a:lnTo>
                <a:lnTo>
                  <a:pt x="41731" y="1853"/>
                </a:lnTo>
                <a:lnTo>
                  <a:pt x="42212" y="2189"/>
                </a:lnTo>
                <a:lnTo>
                  <a:pt x="42871" y="2547"/>
                </a:lnTo>
                <a:lnTo>
                  <a:pt x="43126" y="2958"/>
                </a:lnTo>
                <a:lnTo>
                  <a:pt x="43542" y="3407"/>
                </a:lnTo>
                <a:lnTo>
                  <a:pt x="43907" y="3738"/>
                </a:lnTo>
                <a:lnTo>
                  <a:pt x="44317" y="4417"/>
                </a:lnTo>
                <a:lnTo>
                  <a:pt x="44779" y="4836"/>
                </a:lnTo>
                <a:lnTo>
                  <a:pt x="44984" y="5322"/>
                </a:lnTo>
                <a:lnTo>
                  <a:pt x="45279" y="6011"/>
                </a:lnTo>
                <a:lnTo>
                  <a:pt x="45493" y="6846"/>
                </a:lnTo>
                <a:lnTo>
                  <a:pt x="45627" y="7448"/>
                </a:lnTo>
                <a:lnTo>
                  <a:pt x="45761" y="8329"/>
                </a:lnTo>
                <a:lnTo>
                  <a:pt x="45991" y="9375"/>
                </a:lnTo>
                <a:lnTo>
                  <a:pt x="46114" y="10288"/>
                </a:lnTo>
                <a:lnTo>
                  <a:pt x="46027" y="11582"/>
                </a:lnTo>
                <a:lnTo>
                  <a:pt x="46301" y="13242"/>
                </a:lnTo>
                <a:lnTo>
                  <a:pt x="46257" y="15301"/>
                </a:lnTo>
                <a:lnTo>
                  <a:pt x="46253" y="22158"/>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5195438" y="1783354"/>
            <a:ext cx="4239158" cy="4044757"/>
          </a:xfrm>
          <a:custGeom>
            <a:avLst/>
            <a:gdLst/>
            <a:ahLst/>
            <a:cxnLst/>
            <a:rect l="l" t="t" r="r" b="b"/>
            <a:pathLst>
              <a:path w="46360" h="44234">
                <a:moveTo>
                  <a:pt x="46138" y="22253"/>
                </a:moveTo>
                <a:lnTo>
                  <a:pt x="46337" y="29022"/>
                </a:lnTo>
                <a:lnTo>
                  <a:pt x="46323" y="30989"/>
                </a:lnTo>
                <a:lnTo>
                  <a:pt x="46096" y="32595"/>
                </a:lnTo>
                <a:lnTo>
                  <a:pt x="46098" y="33911"/>
                </a:lnTo>
                <a:lnTo>
                  <a:pt x="45836" y="35095"/>
                </a:lnTo>
                <a:lnTo>
                  <a:pt x="45769" y="35978"/>
                </a:lnTo>
                <a:lnTo>
                  <a:pt x="45670" y="36797"/>
                </a:lnTo>
                <a:lnTo>
                  <a:pt x="45562" y="37531"/>
                </a:lnTo>
                <a:lnTo>
                  <a:pt x="45347" y="38227"/>
                </a:lnTo>
                <a:lnTo>
                  <a:pt x="44986" y="38814"/>
                </a:lnTo>
                <a:lnTo>
                  <a:pt x="44677" y="39327"/>
                </a:lnTo>
                <a:lnTo>
                  <a:pt x="44273" y="40045"/>
                </a:lnTo>
                <a:lnTo>
                  <a:pt x="44117" y="40446"/>
                </a:lnTo>
                <a:lnTo>
                  <a:pt x="43716" y="40967"/>
                </a:lnTo>
                <a:lnTo>
                  <a:pt x="43168" y="41441"/>
                </a:lnTo>
                <a:lnTo>
                  <a:pt x="42902" y="41610"/>
                </a:lnTo>
                <a:lnTo>
                  <a:pt x="42241" y="41971"/>
                </a:lnTo>
                <a:lnTo>
                  <a:pt x="41722" y="42363"/>
                </a:lnTo>
                <a:lnTo>
                  <a:pt x="41163" y="42649"/>
                </a:lnTo>
                <a:lnTo>
                  <a:pt x="40547" y="42879"/>
                </a:lnTo>
                <a:lnTo>
                  <a:pt x="40127" y="43101"/>
                </a:lnTo>
                <a:lnTo>
                  <a:pt x="39213" y="43514"/>
                </a:lnTo>
                <a:lnTo>
                  <a:pt x="38459" y="43566"/>
                </a:lnTo>
                <a:lnTo>
                  <a:pt x="37698" y="43831"/>
                </a:lnTo>
                <a:lnTo>
                  <a:pt x="36700" y="43863"/>
                </a:lnTo>
                <a:lnTo>
                  <a:pt x="35419" y="44083"/>
                </a:lnTo>
                <a:lnTo>
                  <a:pt x="34121" y="43984"/>
                </a:lnTo>
                <a:lnTo>
                  <a:pt x="32622" y="44044"/>
                </a:lnTo>
                <a:lnTo>
                  <a:pt x="30350" y="44192"/>
                </a:lnTo>
                <a:lnTo>
                  <a:pt x="23212" y="44130"/>
                </a:lnTo>
                <a:lnTo>
                  <a:pt x="16123" y="44216"/>
                </a:lnTo>
                <a:lnTo>
                  <a:pt x="13941" y="44234"/>
                </a:lnTo>
                <a:lnTo>
                  <a:pt x="12304" y="43996"/>
                </a:lnTo>
                <a:lnTo>
                  <a:pt x="10861" y="43931"/>
                </a:lnTo>
                <a:lnTo>
                  <a:pt x="9738" y="43785"/>
                </a:lnTo>
                <a:lnTo>
                  <a:pt x="8816" y="43627"/>
                </a:lnTo>
                <a:lnTo>
                  <a:pt x="7938" y="43662"/>
                </a:lnTo>
                <a:lnTo>
                  <a:pt x="7005" y="43292"/>
                </a:lnTo>
                <a:lnTo>
                  <a:pt x="6293" y="43223"/>
                </a:lnTo>
                <a:lnTo>
                  <a:pt x="5663" y="43019"/>
                </a:lnTo>
                <a:lnTo>
                  <a:pt x="4980" y="42603"/>
                </a:lnTo>
                <a:lnTo>
                  <a:pt x="4489" y="42292"/>
                </a:lnTo>
                <a:lnTo>
                  <a:pt x="3981" y="41971"/>
                </a:lnTo>
                <a:lnTo>
                  <a:pt x="3404" y="41739"/>
                </a:lnTo>
                <a:lnTo>
                  <a:pt x="3212" y="41357"/>
                </a:lnTo>
                <a:lnTo>
                  <a:pt x="2808" y="40901"/>
                </a:lnTo>
                <a:lnTo>
                  <a:pt x="2250" y="40418"/>
                </a:lnTo>
                <a:lnTo>
                  <a:pt x="1923" y="39841"/>
                </a:lnTo>
                <a:lnTo>
                  <a:pt x="1628" y="39370"/>
                </a:lnTo>
                <a:lnTo>
                  <a:pt x="1434" y="38962"/>
                </a:lnTo>
                <a:lnTo>
                  <a:pt x="1056" y="38287"/>
                </a:lnTo>
                <a:lnTo>
                  <a:pt x="796" y="37450"/>
                </a:lnTo>
                <a:lnTo>
                  <a:pt x="772" y="36648"/>
                </a:lnTo>
                <a:lnTo>
                  <a:pt x="654" y="35863"/>
                </a:lnTo>
                <a:lnTo>
                  <a:pt x="443" y="34892"/>
                </a:lnTo>
                <a:lnTo>
                  <a:pt x="339" y="33969"/>
                </a:lnTo>
                <a:lnTo>
                  <a:pt x="311" y="32543"/>
                </a:lnTo>
                <a:lnTo>
                  <a:pt x="268" y="31125"/>
                </a:lnTo>
                <a:lnTo>
                  <a:pt x="134" y="28898"/>
                </a:lnTo>
                <a:lnTo>
                  <a:pt x="0" y="22160"/>
                </a:lnTo>
                <a:lnTo>
                  <a:pt x="57" y="15371"/>
                </a:lnTo>
                <a:lnTo>
                  <a:pt x="154" y="13282"/>
                </a:lnTo>
                <a:lnTo>
                  <a:pt x="144" y="11548"/>
                </a:lnTo>
                <a:lnTo>
                  <a:pt x="346" y="10405"/>
                </a:lnTo>
                <a:lnTo>
                  <a:pt x="457" y="9234"/>
                </a:lnTo>
                <a:lnTo>
                  <a:pt x="593" y="8334"/>
                </a:lnTo>
                <a:lnTo>
                  <a:pt x="788" y="7449"/>
                </a:lnTo>
                <a:lnTo>
                  <a:pt x="981" y="6736"/>
                </a:lnTo>
                <a:lnTo>
                  <a:pt x="1028" y="6022"/>
                </a:lnTo>
                <a:lnTo>
                  <a:pt x="1281" y="5501"/>
                </a:lnTo>
                <a:lnTo>
                  <a:pt x="1616" y="4788"/>
                </a:lnTo>
                <a:lnTo>
                  <a:pt x="2069" y="4261"/>
                </a:lnTo>
                <a:lnTo>
                  <a:pt x="2410" y="3952"/>
                </a:lnTo>
                <a:lnTo>
                  <a:pt x="2656" y="3432"/>
                </a:lnTo>
                <a:lnTo>
                  <a:pt x="3100" y="2994"/>
                </a:lnTo>
                <a:lnTo>
                  <a:pt x="3645" y="2537"/>
                </a:lnTo>
                <a:lnTo>
                  <a:pt x="4024" y="2195"/>
                </a:lnTo>
                <a:lnTo>
                  <a:pt x="4618" y="2017"/>
                </a:lnTo>
                <a:lnTo>
                  <a:pt x="5072" y="1596"/>
                </a:lnTo>
                <a:lnTo>
                  <a:pt x="5781" y="1303"/>
                </a:lnTo>
                <a:lnTo>
                  <a:pt x="6471" y="1201"/>
                </a:lnTo>
                <a:lnTo>
                  <a:pt x="7171" y="1015"/>
                </a:lnTo>
                <a:lnTo>
                  <a:pt x="7992" y="758"/>
                </a:lnTo>
                <a:lnTo>
                  <a:pt x="8870" y="471"/>
                </a:lnTo>
                <a:lnTo>
                  <a:pt x="9763" y="437"/>
                </a:lnTo>
                <a:lnTo>
                  <a:pt x="10755" y="430"/>
                </a:lnTo>
                <a:lnTo>
                  <a:pt x="12140" y="236"/>
                </a:lnTo>
                <a:lnTo>
                  <a:pt x="13953" y="138"/>
                </a:lnTo>
                <a:lnTo>
                  <a:pt x="16056" y="200"/>
                </a:lnTo>
                <a:lnTo>
                  <a:pt x="23121" y="0"/>
                </a:lnTo>
                <a:lnTo>
                  <a:pt x="30327" y="11"/>
                </a:lnTo>
                <a:lnTo>
                  <a:pt x="32652" y="101"/>
                </a:lnTo>
                <a:lnTo>
                  <a:pt x="34042" y="286"/>
                </a:lnTo>
                <a:lnTo>
                  <a:pt x="35611" y="411"/>
                </a:lnTo>
                <a:lnTo>
                  <a:pt x="36662" y="441"/>
                </a:lnTo>
                <a:lnTo>
                  <a:pt x="37693" y="645"/>
                </a:lnTo>
                <a:lnTo>
                  <a:pt x="38526" y="815"/>
                </a:lnTo>
                <a:lnTo>
                  <a:pt x="39287" y="1013"/>
                </a:lnTo>
                <a:lnTo>
                  <a:pt x="39900" y="1195"/>
                </a:lnTo>
                <a:lnTo>
                  <a:pt x="40729" y="1252"/>
                </a:lnTo>
                <a:lnTo>
                  <a:pt x="41409" y="1715"/>
                </a:lnTo>
                <a:lnTo>
                  <a:pt x="41736" y="1996"/>
                </a:lnTo>
                <a:lnTo>
                  <a:pt x="42479" y="2327"/>
                </a:lnTo>
                <a:lnTo>
                  <a:pt x="42852" y="2648"/>
                </a:lnTo>
                <a:lnTo>
                  <a:pt x="43245" y="3063"/>
                </a:lnTo>
                <a:lnTo>
                  <a:pt x="43774" y="3472"/>
                </a:lnTo>
                <a:lnTo>
                  <a:pt x="43972" y="3824"/>
                </a:lnTo>
                <a:lnTo>
                  <a:pt x="44329" y="4374"/>
                </a:lnTo>
                <a:lnTo>
                  <a:pt x="44817" y="4850"/>
                </a:lnTo>
                <a:lnTo>
                  <a:pt x="44849" y="5506"/>
                </a:lnTo>
                <a:lnTo>
                  <a:pt x="45093" y="6131"/>
                </a:lnTo>
                <a:lnTo>
                  <a:pt x="45381" y="6665"/>
                </a:lnTo>
                <a:lnTo>
                  <a:pt x="45577" y="7481"/>
                </a:lnTo>
                <a:lnTo>
                  <a:pt x="45687" y="8486"/>
                </a:lnTo>
                <a:lnTo>
                  <a:pt x="45817" y="9244"/>
                </a:lnTo>
                <a:lnTo>
                  <a:pt x="45989" y="10306"/>
                </a:lnTo>
                <a:lnTo>
                  <a:pt x="46162" y="11631"/>
                </a:lnTo>
                <a:lnTo>
                  <a:pt x="46196" y="13288"/>
                </a:lnTo>
                <a:lnTo>
                  <a:pt x="46240" y="15473"/>
                </a:lnTo>
                <a:lnTo>
                  <a:pt x="46360" y="22235"/>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9350654" y="4883170"/>
            <a:ext cx="56418" cy="330921"/>
          </a:xfrm>
          <a:custGeom>
            <a:avLst/>
            <a:gdLst/>
            <a:ahLst/>
            <a:cxnLst/>
            <a:rect l="l" t="t" r="r" b="b"/>
            <a:pathLst>
              <a:path w="617" h="3619">
                <a:moveTo>
                  <a:pt x="617" y="0"/>
                </a:moveTo>
                <a:lnTo>
                  <a:pt x="502" y="1077"/>
                </a:lnTo>
                <a:lnTo>
                  <a:pt x="361" y="2019"/>
                </a:lnTo>
                <a:lnTo>
                  <a:pt x="194" y="2860"/>
                </a:lnTo>
                <a:lnTo>
                  <a:pt x="0" y="361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8715146" y="5686014"/>
            <a:ext cx="255118" cy="82296"/>
          </a:xfrm>
          <a:custGeom>
            <a:avLst/>
            <a:gdLst/>
            <a:ahLst/>
            <a:cxnLst/>
            <a:rect l="l" t="t" r="r" b="b"/>
            <a:pathLst>
              <a:path w="2790" h="900">
                <a:moveTo>
                  <a:pt x="2790" y="0"/>
                </a:moveTo>
                <a:lnTo>
                  <a:pt x="2181" y="265"/>
                </a:lnTo>
                <a:lnTo>
                  <a:pt x="1519" y="503"/>
                </a:lnTo>
                <a:lnTo>
                  <a:pt x="795" y="714"/>
                </a:lnTo>
                <a:lnTo>
                  <a:pt x="0" y="90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5842559" y="5751302"/>
            <a:ext cx="346649" cy="53858"/>
          </a:xfrm>
          <a:custGeom>
            <a:avLst/>
            <a:gdLst/>
            <a:ahLst/>
            <a:cxnLst/>
            <a:rect l="l" t="t" r="r" b="b"/>
            <a:pathLst>
              <a:path w="3791" h="589">
                <a:moveTo>
                  <a:pt x="3791" y="589"/>
                </a:moveTo>
                <a:lnTo>
                  <a:pt x="2664" y="480"/>
                </a:lnTo>
                <a:lnTo>
                  <a:pt x="1676" y="345"/>
                </a:lnTo>
                <a:lnTo>
                  <a:pt x="795" y="186"/>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5262006" y="5144689"/>
            <a:ext cx="86136" cy="243596"/>
          </a:xfrm>
          <a:custGeom>
            <a:avLst/>
            <a:gdLst/>
            <a:ahLst/>
            <a:cxnLst/>
            <a:rect l="l" t="t" r="r" b="b"/>
            <a:pathLst>
              <a:path w="942" h="2664">
                <a:moveTo>
                  <a:pt x="942" y="2664"/>
                </a:moveTo>
                <a:lnTo>
                  <a:pt x="664" y="2083"/>
                </a:lnTo>
                <a:lnTo>
                  <a:pt x="415" y="1450"/>
                </a:lnTo>
                <a:lnTo>
                  <a:pt x="194" y="759"/>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5223327" y="2402860"/>
            <a:ext cx="56418" cy="330921"/>
          </a:xfrm>
          <a:custGeom>
            <a:avLst/>
            <a:gdLst/>
            <a:ahLst/>
            <a:cxnLst/>
            <a:rect l="l" t="t" r="r" b="b"/>
            <a:pathLst>
              <a:path w="617" h="3619">
                <a:moveTo>
                  <a:pt x="0" y="3619"/>
                </a:moveTo>
                <a:lnTo>
                  <a:pt x="115" y="2542"/>
                </a:lnTo>
                <a:lnTo>
                  <a:pt x="256" y="1600"/>
                </a:lnTo>
                <a:lnTo>
                  <a:pt x="423" y="759"/>
                </a:lnTo>
                <a:lnTo>
                  <a:pt x="617"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5660136" y="1848642"/>
            <a:ext cx="255118" cy="82296"/>
          </a:xfrm>
          <a:custGeom>
            <a:avLst/>
            <a:gdLst/>
            <a:ahLst/>
            <a:cxnLst/>
            <a:rect l="l" t="t" r="r" b="b"/>
            <a:pathLst>
              <a:path w="2790" h="900">
                <a:moveTo>
                  <a:pt x="0" y="900"/>
                </a:moveTo>
                <a:lnTo>
                  <a:pt x="609" y="635"/>
                </a:lnTo>
                <a:lnTo>
                  <a:pt x="1271" y="397"/>
                </a:lnTo>
                <a:lnTo>
                  <a:pt x="1995" y="186"/>
                </a:lnTo>
                <a:lnTo>
                  <a:pt x="279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8441192" y="1811792"/>
            <a:ext cx="346649" cy="53858"/>
          </a:xfrm>
          <a:custGeom>
            <a:avLst/>
            <a:gdLst/>
            <a:ahLst/>
            <a:cxnLst/>
            <a:rect l="l" t="t" r="r" b="b"/>
            <a:pathLst>
              <a:path w="3791" h="589">
                <a:moveTo>
                  <a:pt x="0" y="0"/>
                </a:moveTo>
                <a:lnTo>
                  <a:pt x="1127" y="109"/>
                </a:lnTo>
                <a:lnTo>
                  <a:pt x="2115" y="244"/>
                </a:lnTo>
                <a:lnTo>
                  <a:pt x="2996" y="403"/>
                </a:lnTo>
                <a:lnTo>
                  <a:pt x="3791" y="58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9282257" y="2228667"/>
            <a:ext cx="86136" cy="243596"/>
          </a:xfrm>
          <a:custGeom>
            <a:avLst/>
            <a:gdLst/>
            <a:ahLst/>
            <a:cxnLst/>
            <a:rect l="l" t="t" r="r" b="b"/>
            <a:pathLst>
              <a:path w="942" h="2664">
                <a:moveTo>
                  <a:pt x="0" y="0"/>
                </a:moveTo>
                <a:lnTo>
                  <a:pt x="278" y="581"/>
                </a:lnTo>
                <a:lnTo>
                  <a:pt x="527" y="1214"/>
                </a:lnTo>
                <a:lnTo>
                  <a:pt x="748" y="1905"/>
                </a:lnTo>
                <a:lnTo>
                  <a:pt x="942" y="266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dy: Evaluator / environment"/>
          <p:cNvSpPr txBox="1"/>
          <p:nvPr/>
        </p:nvSpPr>
        <p:spPr>
          <a:xfrm>
            <a:off x="5550408" y="2061209"/>
            <a:ext cx="352958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9D7B35"/>
                </a:solidFill>
                <a:latin typeface="Chalkboard SE"/>
              </a:rPr>
              <a:t>Evaluator / environment</a:t>
            </a:r>
          </a:p>
        </p:txBody>
      </p:sp>
      <p:sp>
        <p:nvSpPr>
          <p:cNvPr id="42" name="Oval 41"/>
          <p:cNvSpPr/>
          <p:nvPr/>
        </p:nvSpPr>
        <p:spPr>
          <a:xfrm>
            <a:off x="5463540" y="3007931"/>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dy: Prompts, tools, permissions, hidden tests and rewards can shape "/>
          <p:cNvSpPr txBox="1"/>
          <p:nvPr/>
        </p:nvSpPr>
        <p:spPr>
          <a:xfrm>
            <a:off x="5696712" y="2907347"/>
            <a:ext cx="3483864" cy="987932"/>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Prompts, tools, permissions,</a:t>
            </a:r>
            <a:br/>
            <a:r>
              <a:rPr sz="1900" b="0">
                <a:solidFill>
                  <a:srgbClr val="293E46"/>
                </a:solidFill>
                <a:latin typeface="Trebuchet MS"/>
              </a:rPr>
              <a:t>hidden tests and rewards can</a:t>
            </a:r>
            <a:br/>
            <a:r>
              <a:rPr sz="1900" b="0">
                <a:solidFill>
                  <a:srgbClr val="293E46"/>
                </a:solidFill>
                <a:latin typeface="Trebuchet MS"/>
              </a:rPr>
              <a:t>shape the incident</a:t>
            </a:r>
          </a:p>
        </p:txBody>
      </p:sp>
      <p:sp>
        <p:nvSpPr>
          <p:cNvPr id="44" name="Oval 43"/>
          <p:cNvSpPr/>
          <p:nvPr/>
        </p:nvSpPr>
        <p:spPr>
          <a:xfrm>
            <a:off x="5463540" y="411473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ody: Reports may omit state, versions or setup details"/>
          <p:cNvSpPr txBox="1"/>
          <p:nvPr/>
        </p:nvSpPr>
        <p:spPr>
          <a:xfrm>
            <a:off x="5696712" y="4014152"/>
            <a:ext cx="3483864"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Reports may omit state,</a:t>
            </a:r>
            <a:br/>
            <a:r>
              <a:rPr sz="1900" b="0">
                <a:solidFill>
                  <a:srgbClr val="293E46"/>
                </a:solidFill>
                <a:latin typeface="Trebuchet MS"/>
              </a:rPr>
              <a:t>versions or setup details</a:t>
            </a:r>
          </a:p>
        </p:txBody>
      </p:sp>
      <p:sp>
        <p:nvSpPr>
          <p:cNvPr id="46" name="Oval 45"/>
          <p:cNvSpPr/>
          <p:nvPr/>
        </p:nvSpPr>
        <p:spPr>
          <a:xfrm>
            <a:off x="5463540" y="491509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 A plausible reconstruction can change the failure mechanism"/>
          <p:cNvSpPr txBox="1"/>
          <p:nvPr/>
        </p:nvSpPr>
        <p:spPr>
          <a:xfrm>
            <a:off x="5696712" y="4814506"/>
            <a:ext cx="3483864"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A plausible reconstruction can</a:t>
            </a:r>
            <a:br/>
            <a:r>
              <a:rPr sz="1900" b="0">
                <a:solidFill>
                  <a:srgbClr val="293E46"/>
                </a:solidFill>
                <a:latin typeface="Trebuchet MS"/>
              </a:rPr>
              <a:t>change the failure mechanism</a:t>
            </a:r>
          </a:p>
        </p:txBody>
      </p:sp>
      <p:sp>
        <p:nvSpPr>
          <p:cNvPr id="48" name="Rounded Rectangle 47"/>
          <p:cNvSpPr/>
          <p:nvPr/>
        </p:nvSpPr>
        <p:spPr>
          <a:xfrm>
            <a:off x="9747504" y="1783080"/>
            <a:ext cx="4242816" cy="4050791"/>
          </a:xfrm>
          <a:prstGeom prst="roundRect">
            <a:avLst>
              <a:gd name="adj" fmla="val 18000"/>
            </a:avLst>
          </a:prstGeom>
          <a:solidFill>
            <a:srgbClr val="FA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9751436" y="1784452"/>
            <a:ext cx="4235135" cy="4045306"/>
          </a:xfrm>
          <a:custGeom>
            <a:avLst/>
            <a:gdLst/>
            <a:ahLst/>
            <a:cxnLst/>
            <a:rect l="l" t="t" r="r" b="b"/>
            <a:pathLst>
              <a:path w="46316" h="44240">
                <a:moveTo>
                  <a:pt x="46263" y="22147"/>
                </a:moveTo>
                <a:lnTo>
                  <a:pt x="46219" y="29013"/>
                </a:lnTo>
                <a:lnTo>
                  <a:pt x="46316" y="30951"/>
                </a:lnTo>
                <a:lnTo>
                  <a:pt x="46015" y="32532"/>
                </a:lnTo>
                <a:lnTo>
                  <a:pt x="45941" y="33968"/>
                </a:lnTo>
                <a:lnTo>
                  <a:pt x="45830" y="34980"/>
                </a:lnTo>
                <a:lnTo>
                  <a:pt x="45846" y="36018"/>
                </a:lnTo>
                <a:lnTo>
                  <a:pt x="45566" y="36831"/>
                </a:lnTo>
                <a:lnTo>
                  <a:pt x="45542" y="37530"/>
                </a:lnTo>
                <a:lnTo>
                  <a:pt x="45239" y="38243"/>
                </a:lnTo>
                <a:lnTo>
                  <a:pt x="45018" y="38945"/>
                </a:lnTo>
                <a:lnTo>
                  <a:pt x="44604" y="39406"/>
                </a:lnTo>
                <a:lnTo>
                  <a:pt x="44262" y="39841"/>
                </a:lnTo>
                <a:lnTo>
                  <a:pt x="44034" y="40403"/>
                </a:lnTo>
                <a:lnTo>
                  <a:pt x="43552" y="40997"/>
                </a:lnTo>
                <a:lnTo>
                  <a:pt x="43217" y="41306"/>
                </a:lnTo>
                <a:lnTo>
                  <a:pt x="42823" y="41793"/>
                </a:lnTo>
                <a:lnTo>
                  <a:pt x="42346" y="41954"/>
                </a:lnTo>
                <a:lnTo>
                  <a:pt x="41820" y="42348"/>
                </a:lnTo>
                <a:lnTo>
                  <a:pt x="41218" y="42573"/>
                </a:lnTo>
                <a:lnTo>
                  <a:pt x="40586" y="42980"/>
                </a:lnTo>
                <a:lnTo>
                  <a:pt x="40100" y="43245"/>
                </a:lnTo>
                <a:lnTo>
                  <a:pt x="39196" y="43297"/>
                </a:lnTo>
                <a:lnTo>
                  <a:pt x="38518" y="43450"/>
                </a:lnTo>
                <a:lnTo>
                  <a:pt x="37457" y="43627"/>
                </a:lnTo>
                <a:lnTo>
                  <a:pt x="36573" y="43799"/>
                </a:lnTo>
                <a:lnTo>
                  <a:pt x="35378" y="44075"/>
                </a:lnTo>
                <a:lnTo>
                  <a:pt x="34063" y="44000"/>
                </a:lnTo>
                <a:lnTo>
                  <a:pt x="32555" y="44123"/>
                </a:lnTo>
                <a:lnTo>
                  <a:pt x="30200" y="44240"/>
                </a:lnTo>
                <a:lnTo>
                  <a:pt x="23271" y="44068"/>
                </a:lnTo>
                <a:lnTo>
                  <a:pt x="16056" y="44134"/>
                </a:lnTo>
                <a:lnTo>
                  <a:pt x="13749" y="44016"/>
                </a:lnTo>
                <a:lnTo>
                  <a:pt x="12084" y="43996"/>
                </a:lnTo>
                <a:lnTo>
                  <a:pt x="10799" y="44021"/>
                </a:lnTo>
                <a:lnTo>
                  <a:pt x="9817" y="43829"/>
                </a:lnTo>
                <a:lnTo>
                  <a:pt x="8657" y="43658"/>
                </a:lnTo>
                <a:lnTo>
                  <a:pt x="7814" y="43684"/>
                </a:lnTo>
                <a:lnTo>
                  <a:pt x="7178" y="43448"/>
                </a:lnTo>
                <a:lnTo>
                  <a:pt x="6225" y="43073"/>
                </a:lnTo>
                <a:lnTo>
                  <a:pt x="5649" y="43032"/>
                </a:lnTo>
                <a:lnTo>
                  <a:pt x="5158" y="42569"/>
                </a:lnTo>
                <a:lnTo>
                  <a:pt x="4564" y="42265"/>
                </a:lnTo>
                <a:lnTo>
                  <a:pt x="4058" y="41989"/>
                </a:lnTo>
                <a:lnTo>
                  <a:pt x="3459" y="41818"/>
                </a:lnTo>
                <a:lnTo>
                  <a:pt x="3082" y="41368"/>
                </a:lnTo>
                <a:lnTo>
                  <a:pt x="2659" y="40952"/>
                </a:lnTo>
                <a:lnTo>
                  <a:pt x="2187" y="40523"/>
                </a:lnTo>
                <a:lnTo>
                  <a:pt x="1991" y="40062"/>
                </a:lnTo>
                <a:lnTo>
                  <a:pt x="1548" y="39363"/>
                </a:lnTo>
                <a:lnTo>
                  <a:pt x="1251" y="38874"/>
                </a:lnTo>
                <a:lnTo>
                  <a:pt x="1203" y="38124"/>
                </a:lnTo>
                <a:lnTo>
                  <a:pt x="822" y="37542"/>
                </a:lnTo>
                <a:lnTo>
                  <a:pt x="779" y="36664"/>
                </a:lnTo>
                <a:lnTo>
                  <a:pt x="567" y="35861"/>
                </a:lnTo>
                <a:lnTo>
                  <a:pt x="460" y="34992"/>
                </a:lnTo>
                <a:lnTo>
                  <a:pt x="235" y="33889"/>
                </a:lnTo>
                <a:lnTo>
                  <a:pt x="200" y="32698"/>
                </a:lnTo>
                <a:lnTo>
                  <a:pt x="83" y="31060"/>
                </a:lnTo>
                <a:lnTo>
                  <a:pt x="149" y="28928"/>
                </a:lnTo>
                <a:lnTo>
                  <a:pt x="0" y="22171"/>
                </a:lnTo>
                <a:lnTo>
                  <a:pt x="188" y="15400"/>
                </a:lnTo>
                <a:lnTo>
                  <a:pt x="238" y="13088"/>
                </a:lnTo>
                <a:lnTo>
                  <a:pt x="290" y="11647"/>
                </a:lnTo>
                <a:lnTo>
                  <a:pt x="382" y="10308"/>
                </a:lnTo>
                <a:lnTo>
                  <a:pt x="420" y="9340"/>
                </a:lnTo>
                <a:lnTo>
                  <a:pt x="407" y="8305"/>
                </a:lnTo>
                <a:lnTo>
                  <a:pt x="692" y="7573"/>
                </a:lnTo>
                <a:lnTo>
                  <a:pt x="846" y="6841"/>
                </a:lnTo>
                <a:lnTo>
                  <a:pt x="1226" y="6015"/>
                </a:lnTo>
                <a:lnTo>
                  <a:pt x="1359" y="5361"/>
                </a:lnTo>
                <a:lnTo>
                  <a:pt x="1690" y="4776"/>
                </a:lnTo>
                <a:lnTo>
                  <a:pt x="1832" y="4351"/>
                </a:lnTo>
                <a:lnTo>
                  <a:pt x="2407" y="3812"/>
                </a:lnTo>
                <a:lnTo>
                  <a:pt x="2750" y="3467"/>
                </a:lnTo>
                <a:lnTo>
                  <a:pt x="3163" y="3042"/>
                </a:lnTo>
                <a:lnTo>
                  <a:pt x="3619" y="2656"/>
                </a:lnTo>
                <a:lnTo>
                  <a:pt x="3886" y="2123"/>
                </a:lnTo>
                <a:lnTo>
                  <a:pt x="4395" y="1960"/>
                </a:lnTo>
                <a:lnTo>
                  <a:pt x="5060" y="1544"/>
                </a:lnTo>
                <a:lnTo>
                  <a:pt x="5567" y="1378"/>
                </a:lnTo>
                <a:lnTo>
                  <a:pt x="6302" y="1210"/>
                </a:lnTo>
                <a:lnTo>
                  <a:pt x="7105" y="850"/>
                </a:lnTo>
                <a:lnTo>
                  <a:pt x="7833" y="769"/>
                </a:lnTo>
                <a:lnTo>
                  <a:pt x="8780" y="582"/>
                </a:lnTo>
                <a:lnTo>
                  <a:pt x="9819" y="511"/>
                </a:lnTo>
                <a:lnTo>
                  <a:pt x="10715" y="188"/>
                </a:lnTo>
                <a:lnTo>
                  <a:pt x="12058" y="265"/>
                </a:lnTo>
                <a:lnTo>
                  <a:pt x="13725" y="206"/>
                </a:lnTo>
                <a:lnTo>
                  <a:pt x="16161" y="32"/>
                </a:lnTo>
                <a:lnTo>
                  <a:pt x="23082" y="0"/>
                </a:lnTo>
                <a:lnTo>
                  <a:pt x="30248" y="102"/>
                </a:lnTo>
                <a:lnTo>
                  <a:pt x="32484" y="239"/>
                </a:lnTo>
                <a:lnTo>
                  <a:pt x="34147" y="197"/>
                </a:lnTo>
                <a:lnTo>
                  <a:pt x="35495" y="371"/>
                </a:lnTo>
                <a:lnTo>
                  <a:pt x="36620" y="510"/>
                </a:lnTo>
                <a:lnTo>
                  <a:pt x="37689" y="603"/>
                </a:lnTo>
                <a:lnTo>
                  <a:pt x="38347" y="723"/>
                </a:lnTo>
                <a:lnTo>
                  <a:pt x="39332" y="956"/>
                </a:lnTo>
                <a:lnTo>
                  <a:pt x="39980" y="1069"/>
                </a:lnTo>
                <a:lnTo>
                  <a:pt x="40521" y="1422"/>
                </a:lnTo>
                <a:lnTo>
                  <a:pt x="41353" y="1580"/>
                </a:lnTo>
                <a:lnTo>
                  <a:pt x="41732" y="1844"/>
                </a:lnTo>
                <a:lnTo>
                  <a:pt x="42213" y="2182"/>
                </a:lnTo>
                <a:lnTo>
                  <a:pt x="42791" y="2497"/>
                </a:lnTo>
                <a:lnTo>
                  <a:pt x="43326" y="2959"/>
                </a:lnTo>
                <a:lnTo>
                  <a:pt x="43646" y="3418"/>
                </a:lnTo>
                <a:lnTo>
                  <a:pt x="43948" y="3847"/>
                </a:lnTo>
                <a:lnTo>
                  <a:pt x="44235" y="4227"/>
                </a:lnTo>
                <a:lnTo>
                  <a:pt x="44700" y="4838"/>
                </a:lnTo>
                <a:lnTo>
                  <a:pt x="44970" y="5412"/>
                </a:lnTo>
                <a:lnTo>
                  <a:pt x="45131" y="6186"/>
                </a:lnTo>
                <a:lnTo>
                  <a:pt x="45435" y="6749"/>
                </a:lnTo>
                <a:lnTo>
                  <a:pt x="45704" y="7440"/>
                </a:lnTo>
                <a:lnTo>
                  <a:pt x="45715" y="8437"/>
                </a:lnTo>
                <a:lnTo>
                  <a:pt x="45826" y="9335"/>
                </a:lnTo>
                <a:lnTo>
                  <a:pt x="45973" y="10425"/>
                </a:lnTo>
                <a:lnTo>
                  <a:pt x="46210" y="11735"/>
                </a:lnTo>
                <a:lnTo>
                  <a:pt x="46173" y="13256"/>
                </a:lnTo>
                <a:lnTo>
                  <a:pt x="46310" y="15473"/>
                </a:lnTo>
                <a:lnTo>
                  <a:pt x="46137" y="22124"/>
                </a:lnTo>
                <a:close/>
              </a:path>
            </a:pathLst>
          </a:custGeom>
          <a:noFill/>
          <a:ln w="19685" cap="rnd">
            <a:solidFill>
              <a:srgbClr val="AE6B5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9750704" y="1792773"/>
            <a:ext cx="4236690" cy="4032504"/>
          </a:xfrm>
          <a:custGeom>
            <a:avLst/>
            <a:gdLst/>
            <a:ahLst/>
            <a:cxnLst/>
            <a:rect l="l" t="t" r="r" b="b"/>
            <a:pathLst>
              <a:path w="46333" h="44100">
                <a:moveTo>
                  <a:pt x="46126" y="22161"/>
                </a:moveTo>
                <a:lnTo>
                  <a:pt x="46333" y="28761"/>
                </a:lnTo>
                <a:lnTo>
                  <a:pt x="46185" y="31004"/>
                </a:lnTo>
                <a:lnTo>
                  <a:pt x="46253" y="32603"/>
                </a:lnTo>
                <a:lnTo>
                  <a:pt x="45916" y="33896"/>
                </a:lnTo>
                <a:lnTo>
                  <a:pt x="46013" y="34809"/>
                </a:lnTo>
                <a:lnTo>
                  <a:pt x="45767" y="35871"/>
                </a:lnTo>
                <a:lnTo>
                  <a:pt x="45530" y="36678"/>
                </a:lnTo>
                <a:lnTo>
                  <a:pt x="45528" y="37335"/>
                </a:lnTo>
                <a:lnTo>
                  <a:pt x="45240" y="38050"/>
                </a:lnTo>
                <a:lnTo>
                  <a:pt x="45034" y="38828"/>
                </a:lnTo>
                <a:lnTo>
                  <a:pt x="44577" y="39319"/>
                </a:lnTo>
                <a:lnTo>
                  <a:pt x="44355" y="39935"/>
                </a:lnTo>
                <a:lnTo>
                  <a:pt x="44091" y="40460"/>
                </a:lnTo>
                <a:lnTo>
                  <a:pt x="43554" y="40697"/>
                </a:lnTo>
                <a:lnTo>
                  <a:pt x="43128" y="41173"/>
                </a:lnTo>
                <a:lnTo>
                  <a:pt x="42762" y="41523"/>
                </a:lnTo>
                <a:lnTo>
                  <a:pt x="42270" y="42036"/>
                </a:lnTo>
                <a:lnTo>
                  <a:pt x="41782" y="42368"/>
                </a:lnTo>
                <a:lnTo>
                  <a:pt x="41306" y="42489"/>
                </a:lnTo>
                <a:lnTo>
                  <a:pt x="40644" y="42959"/>
                </a:lnTo>
                <a:lnTo>
                  <a:pt x="39994" y="43109"/>
                </a:lnTo>
                <a:lnTo>
                  <a:pt x="39238" y="43407"/>
                </a:lnTo>
                <a:lnTo>
                  <a:pt x="38528" y="43503"/>
                </a:lnTo>
                <a:lnTo>
                  <a:pt x="37719" y="43528"/>
                </a:lnTo>
                <a:lnTo>
                  <a:pt x="36717" y="43732"/>
                </a:lnTo>
                <a:lnTo>
                  <a:pt x="35601" y="43960"/>
                </a:lnTo>
                <a:lnTo>
                  <a:pt x="34207" y="43931"/>
                </a:lnTo>
                <a:lnTo>
                  <a:pt x="32536" y="44100"/>
                </a:lnTo>
                <a:lnTo>
                  <a:pt x="30272" y="44021"/>
                </a:lnTo>
                <a:lnTo>
                  <a:pt x="23145" y="44065"/>
                </a:lnTo>
                <a:lnTo>
                  <a:pt x="16144" y="44027"/>
                </a:lnTo>
                <a:lnTo>
                  <a:pt x="13827" y="43926"/>
                </a:lnTo>
                <a:lnTo>
                  <a:pt x="12165" y="43885"/>
                </a:lnTo>
                <a:lnTo>
                  <a:pt x="10790" y="43934"/>
                </a:lnTo>
                <a:lnTo>
                  <a:pt x="9797" y="43875"/>
                </a:lnTo>
                <a:lnTo>
                  <a:pt x="8688" y="43533"/>
                </a:lnTo>
                <a:lnTo>
                  <a:pt x="7846" y="43453"/>
                </a:lnTo>
                <a:lnTo>
                  <a:pt x="6976" y="43264"/>
                </a:lnTo>
                <a:lnTo>
                  <a:pt x="6254" y="43085"/>
                </a:lnTo>
                <a:lnTo>
                  <a:pt x="5761" y="42746"/>
                </a:lnTo>
                <a:lnTo>
                  <a:pt x="5101" y="42629"/>
                </a:lnTo>
                <a:lnTo>
                  <a:pt x="4599" y="42189"/>
                </a:lnTo>
                <a:lnTo>
                  <a:pt x="3920" y="42079"/>
                </a:lnTo>
                <a:lnTo>
                  <a:pt x="3574" y="41559"/>
                </a:lnTo>
                <a:lnTo>
                  <a:pt x="3189" y="41108"/>
                </a:lnTo>
                <a:lnTo>
                  <a:pt x="2687" y="40702"/>
                </a:lnTo>
                <a:lnTo>
                  <a:pt x="2368" y="40287"/>
                </a:lnTo>
                <a:lnTo>
                  <a:pt x="1986" y="39860"/>
                </a:lnTo>
                <a:lnTo>
                  <a:pt x="1525" y="39328"/>
                </a:lnTo>
                <a:lnTo>
                  <a:pt x="1457" y="38718"/>
                </a:lnTo>
                <a:lnTo>
                  <a:pt x="1223" y="38091"/>
                </a:lnTo>
                <a:lnTo>
                  <a:pt x="891" y="37379"/>
                </a:lnTo>
                <a:lnTo>
                  <a:pt x="683" y="36686"/>
                </a:lnTo>
                <a:lnTo>
                  <a:pt x="660" y="35717"/>
                </a:lnTo>
                <a:lnTo>
                  <a:pt x="467" y="34913"/>
                </a:lnTo>
                <a:lnTo>
                  <a:pt x="341" y="33706"/>
                </a:lnTo>
                <a:lnTo>
                  <a:pt x="322" y="32459"/>
                </a:lnTo>
                <a:lnTo>
                  <a:pt x="157" y="31069"/>
                </a:lnTo>
                <a:lnTo>
                  <a:pt x="140" y="28859"/>
                </a:lnTo>
                <a:lnTo>
                  <a:pt x="190" y="22139"/>
                </a:lnTo>
                <a:lnTo>
                  <a:pt x="0" y="15296"/>
                </a:lnTo>
                <a:lnTo>
                  <a:pt x="257" y="13007"/>
                </a:lnTo>
                <a:lnTo>
                  <a:pt x="311" y="11603"/>
                </a:lnTo>
                <a:lnTo>
                  <a:pt x="164" y="10291"/>
                </a:lnTo>
                <a:lnTo>
                  <a:pt x="415" y="9196"/>
                </a:lnTo>
                <a:lnTo>
                  <a:pt x="422" y="8339"/>
                </a:lnTo>
                <a:lnTo>
                  <a:pt x="624" y="7344"/>
                </a:lnTo>
                <a:lnTo>
                  <a:pt x="1034" y="6686"/>
                </a:lnTo>
                <a:lnTo>
                  <a:pt x="1225" y="6090"/>
                </a:lnTo>
                <a:lnTo>
                  <a:pt x="1379" y="5279"/>
                </a:lnTo>
                <a:lnTo>
                  <a:pt x="1781" y="4767"/>
                </a:lnTo>
                <a:lnTo>
                  <a:pt x="1956" y="4262"/>
                </a:lnTo>
                <a:lnTo>
                  <a:pt x="2371" y="3726"/>
                </a:lnTo>
                <a:lnTo>
                  <a:pt x="2540" y="3357"/>
                </a:lnTo>
                <a:lnTo>
                  <a:pt x="3065" y="2825"/>
                </a:lnTo>
                <a:lnTo>
                  <a:pt x="3451" y="2390"/>
                </a:lnTo>
                <a:lnTo>
                  <a:pt x="4086" y="2186"/>
                </a:lnTo>
                <a:lnTo>
                  <a:pt x="4575" y="1887"/>
                </a:lnTo>
                <a:lnTo>
                  <a:pt x="4959" y="1414"/>
                </a:lnTo>
                <a:lnTo>
                  <a:pt x="5733" y="1287"/>
                </a:lnTo>
                <a:lnTo>
                  <a:pt x="6255" y="890"/>
                </a:lnTo>
                <a:lnTo>
                  <a:pt x="7071" y="782"/>
                </a:lnTo>
                <a:lnTo>
                  <a:pt x="7896" y="662"/>
                </a:lnTo>
                <a:lnTo>
                  <a:pt x="8691" y="566"/>
                </a:lnTo>
                <a:lnTo>
                  <a:pt x="9772" y="356"/>
                </a:lnTo>
                <a:lnTo>
                  <a:pt x="10976" y="208"/>
                </a:lnTo>
                <a:lnTo>
                  <a:pt x="12303" y="112"/>
                </a:lnTo>
                <a:lnTo>
                  <a:pt x="13819" y="26"/>
                </a:lnTo>
                <a:lnTo>
                  <a:pt x="16149" y="0"/>
                </a:lnTo>
                <a:lnTo>
                  <a:pt x="23089" y="38"/>
                </a:lnTo>
                <a:lnTo>
                  <a:pt x="30339" y="61"/>
                </a:lnTo>
                <a:lnTo>
                  <a:pt x="32419" y="83"/>
                </a:lnTo>
                <a:lnTo>
                  <a:pt x="34091" y="11"/>
                </a:lnTo>
                <a:lnTo>
                  <a:pt x="35365" y="102"/>
                </a:lnTo>
                <a:lnTo>
                  <a:pt x="36663" y="398"/>
                </a:lnTo>
                <a:lnTo>
                  <a:pt x="37609" y="569"/>
                </a:lnTo>
                <a:lnTo>
                  <a:pt x="38542" y="697"/>
                </a:lnTo>
                <a:lnTo>
                  <a:pt x="39282" y="690"/>
                </a:lnTo>
                <a:lnTo>
                  <a:pt x="39896" y="1048"/>
                </a:lnTo>
                <a:lnTo>
                  <a:pt x="40587" y="1362"/>
                </a:lnTo>
                <a:lnTo>
                  <a:pt x="41268" y="1542"/>
                </a:lnTo>
                <a:lnTo>
                  <a:pt x="41740" y="1761"/>
                </a:lnTo>
                <a:lnTo>
                  <a:pt x="42396" y="2216"/>
                </a:lnTo>
                <a:lnTo>
                  <a:pt x="42824" y="2369"/>
                </a:lnTo>
                <a:lnTo>
                  <a:pt x="43215" y="2953"/>
                </a:lnTo>
                <a:lnTo>
                  <a:pt x="43782" y="3398"/>
                </a:lnTo>
                <a:lnTo>
                  <a:pt x="43986" y="3813"/>
                </a:lnTo>
                <a:lnTo>
                  <a:pt x="44319" y="4318"/>
                </a:lnTo>
                <a:lnTo>
                  <a:pt x="44793" y="4755"/>
                </a:lnTo>
                <a:lnTo>
                  <a:pt x="44913" y="5252"/>
                </a:lnTo>
                <a:lnTo>
                  <a:pt x="45208" y="6060"/>
                </a:lnTo>
                <a:lnTo>
                  <a:pt x="45418" y="6681"/>
                </a:lnTo>
                <a:lnTo>
                  <a:pt x="45589" y="7363"/>
                </a:lnTo>
                <a:lnTo>
                  <a:pt x="45897" y="8380"/>
                </a:lnTo>
                <a:lnTo>
                  <a:pt x="45939" y="9280"/>
                </a:lnTo>
                <a:lnTo>
                  <a:pt x="45959" y="10319"/>
                </a:lnTo>
                <a:lnTo>
                  <a:pt x="46161" y="11622"/>
                </a:lnTo>
                <a:lnTo>
                  <a:pt x="46209" y="13162"/>
                </a:lnTo>
                <a:lnTo>
                  <a:pt x="46203" y="15167"/>
                </a:lnTo>
                <a:lnTo>
                  <a:pt x="46322" y="21952"/>
                </a:lnTo>
                <a:close/>
              </a:path>
            </a:pathLst>
          </a:custGeom>
          <a:noFill/>
          <a:ln w="7620" cap="rnd">
            <a:solidFill>
              <a:srgbClr val="AE6B5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3904366" y="4883170"/>
            <a:ext cx="56418" cy="330921"/>
          </a:xfrm>
          <a:custGeom>
            <a:avLst/>
            <a:gdLst/>
            <a:ahLst/>
            <a:cxnLst/>
            <a:rect l="l" t="t" r="r" b="b"/>
            <a:pathLst>
              <a:path w="617" h="3619">
                <a:moveTo>
                  <a:pt x="617" y="0"/>
                </a:moveTo>
                <a:lnTo>
                  <a:pt x="502" y="1077"/>
                </a:lnTo>
                <a:lnTo>
                  <a:pt x="361" y="2019"/>
                </a:lnTo>
                <a:lnTo>
                  <a:pt x="194" y="2860"/>
                </a:lnTo>
                <a:lnTo>
                  <a:pt x="0" y="3619"/>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13268858" y="5686014"/>
            <a:ext cx="255118" cy="82296"/>
          </a:xfrm>
          <a:custGeom>
            <a:avLst/>
            <a:gdLst/>
            <a:ahLst/>
            <a:cxnLst/>
            <a:rect l="l" t="t" r="r" b="b"/>
            <a:pathLst>
              <a:path w="2790" h="900">
                <a:moveTo>
                  <a:pt x="2790" y="0"/>
                </a:moveTo>
                <a:lnTo>
                  <a:pt x="2181" y="265"/>
                </a:lnTo>
                <a:lnTo>
                  <a:pt x="1519" y="503"/>
                </a:lnTo>
                <a:lnTo>
                  <a:pt x="795" y="714"/>
                </a:lnTo>
                <a:lnTo>
                  <a:pt x="0" y="90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0396271" y="5751302"/>
            <a:ext cx="346649" cy="53858"/>
          </a:xfrm>
          <a:custGeom>
            <a:avLst/>
            <a:gdLst/>
            <a:ahLst/>
            <a:cxnLst/>
            <a:rect l="l" t="t" r="r" b="b"/>
            <a:pathLst>
              <a:path w="3791" h="589">
                <a:moveTo>
                  <a:pt x="3791" y="589"/>
                </a:moveTo>
                <a:lnTo>
                  <a:pt x="2664" y="480"/>
                </a:lnTo>
                <a:lnTo>
                  <a:pt x="1676" y="345"/>
                </a:lnTo>
                <a:lnTo>
                  <a:pt x="795" y="186"/>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9815718" y="5144689"/>
            <a:ext cx="86136" cy="243596"/>
          </a:xfrm>
          <a:custGeom>
            <a:avLst/>
            <a:gdLst/>
            <a:ahLst/>
            <a:cxnLst/>
            <a:rect l="l" t="t" r="r" b="b"/>
            <a:pathLst>
              <a:path w="942" h="2664">
                <a:moveTo>
                  <a:pt x="942" y="2664"/>
                </a:moveTo>
                <a:lnTo>
                  <a:pt x="664" y="2083"/>
                </a:lnTo>
                <a:lnTo>
                  <a:pt x="415" y="1450"/>
                </a:lnTo>
                <a:lnTo>
                  <a:pt x="194" y="759"/>
                </a:lnTo>
                <a:lnTo>
                  <a:pt x="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9777039" y="2402860"/>
            <a:ext cx="56418" cy="330921"/>
          </a:xfrm>
          <a:custGeom>
            <a:avLst/>
            <a:gdLst/>
            <a:ahLst/>
            <a:cxnLst/>
            <a:rect l="l" t="t" r="r" b="b"/>
            <a:pathLst>
              <a:path w="617" h="3619">
                <a:moveTo>
                  <a:pt x="0" y="3619"/>
                </a:moveTo>
                <a:lnTo>
                  <a:pt x="115" y="2542"/>
                </a:lnTo>
                <a:lnTo>
                  <a:pt x="256" y="1600"/>
                </a:lnTo>
                <a:lnTo>
                  <a:pt x="423" y="759"/>
                </a:lnTo>
                <a:lnTo>
                  <a:pt x="617"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10213848" y="1848642"/>
            <a:ext cx="255118" cy="82296"/>
          </a:xfrm>
          <a:custGeom>
            <a:avLst/>
            <a:gdLst/>
            <a:ahLst/>
            <a:cxnLst/>
            <a:rect l="l" t="t" r="r" b="b"/>
            <a:pathLst>
              <a:path w="2790" h="900">
                <a:moveTo>
                  <a:pt x="0" y="900"/>
                </a:moveTo>
                <a:lnTo>
                  <a:pt x="609" y="635"/>
                </a:lnTo>
                <a:lnTo>
                  <a:pt x="1271" y="397"/>
                </a:lnTo>
                <a:lnTo>
                  <a:pt x="1995" y="186"/>
                </a:lnTo>
                <a:lnTo>
                  <a:pt x="2790" y="0"/>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12994904" y="1811792"/>
            <a:ext cx="346649" cy="53858"/>
          </a:xfrm>
          <a:custGeom>
            <a:avLst/>
            <a:gdLst/>
            <a:ahLst/>
            <a:cxnLst/>
            <a:rect l="l" t="t" r="r" b="b"/>
            <a:pathLst>
              <a:path w="3791" h="589">
                <a:moveTo>
                  <a:pt x="0" y="0"/>
                </a:moveTo>
                <a:lnTo>
                  <a:pt x="1127" y="109"/>
                </a:lnTo>
                <a:lnTo>
                  <a:pt x="2115" y="244"/>
                </a:lnTo>
                <a:lnTo>
                  <a:pt x="2996" y="403"/>
                </a:lnTo>
                <a:lnTo>
                  <a:pt x="3791" y="589"/>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13835969" y="2228667"/>
            <a:ext cx="86136" cy="243596"/>
          </a:xfrm>
          <a:custGeom>
            <a:avLst/>
            <a:gdLst/>
            <a:ahLst/>
            <a:cxnLst/>
            <a:rect l="l" t="t" r="r" b="b"/>
            <a:pathLst>
              <a:path w="942" h="2664">
                <a:moveTo>
                  <a:pt x="0" y="0"/>
                </a:moveTo>
                <a:lnTo>
                  <a:pt x="278" y="581"/>
                </a:lnTo>
                <a:lnTo>
                  <a:pt x="527" y="1214"/>
                </a:lnTo>
                <a:lnTo>
                  <a:pt x="748" y="1905"/>
                </a:lnTo>
                <a:lnTo>
                  <a:pt x="942" y="2664"/>
                </a:lnTo>
              </a:path>
            </a:pathLst>
          </a:custGeom>
          <a:noFill/>
          <a:ln w="27940" cap="rnd">
            <a:solidFill>
              <a:srgbClr val="AE6B5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ody: Evidence / observability"/>
          <p:cNvSpPr txBox="1"/>
          <p:nvPr/>
        </p:nvSpPr>
        <p:spPr>
          <a:xfrm>
            <a:off x="10104120" y="2061209"/>
            <a:ext cx="352958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AE6B55"/>
                </a:solidFill>
                <a:latin typeface="Chalkboard SE"/>
              </a:rPr>
              <a:t>Evidence / observability</a:t>
            </a:r>
          </a:p>
        </p:txBody>
      </p:sp>
      <p:sp>
        <p:nvSpPr>
          <p:cNvPr id="60" name="Oval 59"/>
          <p:cNvSpPr/>
          <p:nvPr/>
        </p:nvSpPr>
        <p:spPr>
          <a:xfrm>
            <a:off x="10017252" y="2919221"/>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dy: Excerpts may omit actions, tool results or pre-incident state"/>
          <p:cNvSpPr txBox="1"/>
          <p:nvPr/>
        </p:nvSpPr>
        <p:spPr>
          <a:xfrm>
            <a:off x="10250424" y="2818637"/>
            <a:ext cx="3483864" cy="649224"/>
          </a:xfrm>
          <a:prstGeom prst="rect">
            <a:avLst/>
          </a:prstGeom>
          <a:noFill/>
        </p:spPr>
        <p:txBody>
          <a:bodyPr wrap="none" lIns="0" rIns="0" tIns="0" bIns="0" anchor="t">
            <a:noAutofit/>
          </a:bodyPr>
          <a:lstStyle/>
          <a:p>
            <a:pPr algn="l">
              <a:lnSpc>
                <a:spcPts val="2286"/>
              </a:lnSpc>
              <a:spcBef>
                <a:spcPts val="0"/>
              </a:spcBef>
              <a:spcAft>
                <a:spcPts val="0"/>
              </a:spcAft>
            </a:pPr>
            <a:r>
              <a:rPr sz="1800" b="0">
                <a:solidFill>
                  <a:srgbClr val="293E46"/>
                </a:solidFill>
                <a:latin typeface="Trebuchet MS"/>
              </a:rPr>
              <a:t>Excerpts may omit actions, tool</a:t>
            </a:r>
            <a:br/>
            <a:r>
              <a:rPr sz="1800" b="0">
                <a:solidFill>
                  <a:srgbClr val="293E46"/>
                </a:solidFill>
                <a:latin typeface="Trebuchet MS"/>
              </a:rPr>
              <a:t>results or pre-incident state</a:t>
            </a:r>
          </a:p>
        </p:txBody>
      </p:sp>
      <p:sp>
        <p:nvSpPr>
          <p:cNvPr id="62" name="Oval 61"/>
          <p:cNvSpPr/>
          <p:nvPr/>
        </p:nvSpPr>
        <p:spPr>
          <a:xfrm>
            <a:off x="10017252" y="368731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ody: An internal monitor may see raw reasoning unavailable through th"/>
          <p:cNvSpPr txBox="1"/>
          <p:nvPr/>
        </p:nvSpPr>
        <p:spPr>
          <a:xfrm>
            <a:off x="10250424" y="3586733"/>
            <a:ext cx="3483864" cy="939546"/>
          </a:xfrm>
          <a:prstGeom prst="rect">
            <a:avLst/>
          </a:prstGeom>
          <a:noFill/>
        </p:spPr>
        <p:txBody>
          <a:bodyPr wrap="none" lIns="0" rIns="0" tIns="0" bIns="0" anchor="t">
            <a:noAutofit/>
          </a:bodyPr>
          <a:lstStyle/>
          <a:p>
            <a:pPr algn="l">
              <a:lnSpc>
                <a:spcPts val="2286"/>
              </a:lnSpc>
              <a:spcBef>
                <a:spcPts val="0"/>
              </a:spcBef>
              <a:spcAft>
                <a:spcPts val="0"/>
              </a:spcAft>
            </a:pPr>
            <a:r>
              <a:rPr sz="1800" b="0">
                <a:solidFill>
                  <a:srgbClr val="293E46"/>
                </a:solidFill>
                <a:latin typeface="Trebuchet MS"/>
              </a:rPr>
              <a:t>An internal monitor may see</a:t>
            </a:r>
            <a:br/>
            <a:r>
              <a:rPr sz="1800" b="0">
                <a:solidFill>
                  <a:srgbClr val="293E46"/>
                </a:solidFill>
                <a:latin typeface="Trebuchet MS"/>
              </a:rPr>
              <a:t>raw reasoning unavailable</a:t>
            </a:r>
            <a:br/>
            <a:r>
              <a:rPr sz="1800" b="0">
                <a:solidFill>
                  <a:srgbClr val="293E46"/>
                </a:solidFill>
                <a:latin typeface="Trebuchet MS"/>
              </a:rPr>
              <a:t>through the API</a:t>
            </a:r>
          </a:p>
        </p:txBody>
      </p:sp>
      <p:sp>
        <p:nvSpPr>
          <p:cNvPr id="64" name="Oval 63"/>
          <p:cNvSpPr/>
          <p:nvPr/>
        </p:nvSpPr>
        <p:spPr>
          <a:xfrm>
            <a:off x="10017252" y="474573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ody: Without an independent outcome check, replay success is ambiguou"/>
          <p:cNvSpPr txBox="1"/>
          <p:nvPr/>
        </p:nvSpPr>
        <p:spPr>
          <a:xfrm>
            <a:off x="10250424" y="4645152"/>
            <a:ext cx="3483864" cy="939546"/>
          </a:xfrm>
          <a:prstGeom prst="rect">
            <a:avLst/>
          </a:prstGeom>
          <a:noFill/>
        </p:spPr>
        <p:txBody>
          <a:bodyPr wrap="none" lIns="0" rIns="0" tIns="0" bIns="0" anchor="t">
            <a:noAutofit/>
          </a:bodyPr>
          <a:lstStyle/>
          <a:p>
            <a:pPr algn="l">
              <a:lnSpc>
                <a:spcPts val="2286"/>
              </a:lnSpc>
              <a:spcBef>
                <a:spcPts val="0"/>
              </a:spcBef>
              <a:spcAft>
                <a:spcPts val="0"/>
              </a:spcAft>
            </a:pPr>
            <a:r>
              <a:rPr sz="1800" b="0">
                <a:solidFill>
                  <a:srgbClr val="293E46"/>
                </a:solidFill>
                <a:latin typeface="Trebuchet MS"/>
              </a:rPr>
              <a:t>Without an independent</a:t>
            </a:r>
            <a:br/>
            <a:r>
              <a:rPr sz="1800" b="0">
                <a:solidFill>
                  <a:srgbClr val="293E46"/>
                </a:solidFill>
                <a:latin typeface="Trebuchet MS"/>
              </a:rPr>
              <a:t>outcome check, replay success</a:t>
            </a:r>
            <a:br/>
            <a:r>
              <a:rPr sz="1800" b="0">
                <a:solidFill>
                  <a:srgbClr val="293E46"/>
                </a:solidFill>
                <a:latin typeface="Trebuchet MS"/>
              </a:rPr>
              <a:t>is ambiguous</a:t>
            </a:r>
          </a:p>
        </p:txBody>
      </p:sp>
      <p:sp>
        <p:nvSpPr>
          <p:cNvPr id="66" name="Rounded Rectangle 65"/>
          <p:cNvSpPr/>
          <p:nvPr/>
        </p:nvSpPr>
        <p:spPr>
          <a:xfrm>
            <a:off x="640080" y="6053328"/>
            <a:ext cx="13350240" cy="950976"/>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645749" y="6055614"/>
            <a:ext cx="13331952" cy="938814"/>
          </a:xfrm>
          <a:custGeom>
            <a:avLst/>
            <a:gdLst/>
            <a:ahLst/>
            <a:cxnLst/>
            <a:rect l="l" t="t" r="r" b="b"/>
            <a:pathLst>
              <a:path w="145800" h="10267">
                <a:moveTo>
                  <a:pt x="145800" y="5231"/>
                </a:moveTo>
                <a:lnTo>
                  <a:pt x="145715" y="6706"/>
                </a:lnTo>
                <a:lnTo>
                  <a:pt x="145556" y="7283"/>
                </a:lnTo>
                <a:lnTo>
                  <a:pt x="145502" y="7609"/>
                </a:lnTo>
                <a:lnTo>
                  <a:pt x="145253" y="7799"/>
                </a:lnTo>
                <a:lnTo>
                  <a:pt x="144727" y="8050"/>
                </a:lnTo>
                <a:lnTo>
                  <a:pt x="144347" y="8238"/>
                </a:lnTo>
                <a:lnTo>
                  <a:pt x="143953" y="8655"/>
                </a:lnTo>
                <a:lnTo>
                  <a:pt x="143169" y="8785"/>
                </a:lnTo>
                <a:lnTo>
                  <a:pt x="142515" y="8782"/>
                </a:lnTo>
                <a:lnTo>
                  <a:pt x="141682" y="9120"/>
                </a:lnTo>
                <a:lnTo>
                  <a:pt x="140991" y="9184"/>
                </a:lnTo>
                <a:lnTo>
                  <a:pt x="139880" y="9169"/>
                </a:lnTo>
                <a:lnTo>
                  <a:pt x="138850" y="9463"/>
                </a:lnTo>
                <a:lnTo>
                  <a:pt x="137572" y="9543"/>
                </a:lnTo>
                <a:lnTo>
                  <a:pt x="136313" y="9480"/>
                </a:lnTo>
                <a:lnTo>
                  <a:pt x="135074" y="9763"/>
                </a:lnTo>
                <a:lnTo>
                  <a:pt x="133401" y="9789"/>
                </a:lnTo>
                <a:lnTo>
                  <a:pt x="131889" y="9839"/>
                </a:lnTo>
                <a:lnTo>
                  <a:pt x="130059" y="10015"/>
                </a:lnTo>
                <a:lnTo>
                  <a:pt x="128131" y="9991"/>
                </a:lnTo>
                <a:lnTo>
                  <a:pt x="125965" y="10114"/>
                </a:lnTo>
                <a:lnTo>
                  <a:pt x="123865" y="10079"/>
                </a:lnTo>
                <a:lnTo>
                  <a:pt x="121275" y="10067"/>
                </a:lnTo>
                <a:lnTo>
                  <a:pt x="118630" y="10206"/>
                </a:lnTo>
                <a:lnTo>
                  <a:pt x="115395" y="10129"/>
                </a:lnTo>
                <a:lnTo>
                  <a:pt x="111812" y="10262"/>
                </a:lnTo>
                <a:lnTo>
                  <a:pt x="107550" y="10267"/>
                </a:lnTo>
                <a:lnTo>
                  <a:pt x="102547" y="10256"/>
                </a:lnTo>
                <a:lnTo>
                  <a:pt x="95309" y="10196"/>
                </a:lnTo>
                <a:lnTo>
                  <a:pt x="72904" y="10256"/>
                </a:lnTo>
                <a:lnTo>
                  <a:pt x="50551" y="10161"/>
                </a:lnTo>
                <a:lnTo>
                  <a:pt x="43443" y="10178"/>
                </a:lnTo>
                <a:lnTo>
                  <a:pt x="38154" y="10139"/>
                </a:lnTo>
                <a:lnTo>
                  <a:pt x="34000" y="10160"/>
                </a:lnTo>
                <a:lnTo>
                  <a:pt x="30438" y="10209"/>
                </a:lnTo>
                <a:lnTo>
                  <a:pt x="27389" y="10125"/>
                </a:lnTo>
                <a:lnTo>
                  <a:pt x="24655" y="10039"/>
                </a:lnTo>
                <a:lnTo>
                  <a:pt x="22022" y="10073"/>
                </a:lnTo>
                <a:lnTo>
                  <a:pt x="19828" y="10039"/>
                </a:lnTo>
                <a:lnTo>
                  <a:pt x="17586" y="9881"/>
                </a:lnTo>
                <a:lnTo>
                  <a:pt x="15835" y="9796"/>
                </a:lnTo>
                <a:lnTo>
                  <a:pt x="14009" y="9772"/>
                </a:lnTo>
                <a:lnTo>
                  <a:pt x="12502" y="9811"/>
                </a:lnTo>
                <a:lnTo>
                  <a:pt x="10810" y="9694"/>
                </a:lnTo>
                <a:lnTo>
                  <a:pt x="9591" y="9506"/>
                </a:lnTo>
                <a:lnTo>
                  <a:pt x="8257" y="9529"/>
                </a:lnTo>
                <a:lnTo>
                  <a:pt x="7152" y="9419"/>
                </a:lnTo>
                <a:lnTo>
                  <a:pt x="6101" y="9182"/>
                </a:lnTo>
                <a:lnTo>
                  <a:pt x="4939" y="9074"/>
                </a:lnTo>
                <a:lnTo>
                  <a:pt x="4116" y="9011"/>
                </a:lnTo>
                <a:lnTo>
                  <a:pt x="3360" y="8859"/>
                </a:lnTo>
                <a:lnTo>
                  <a:pt x="2547" y="8721"/>
                </a:lnTo>
                <a:lnTo>
                  <a:pt x="2087" y="8518"/>
                </a:lnTo>
                <a:lnTo>
                  <a:pt x="1563" y="8419"/>
                </a:lnTo>
                <a:lnTo>
                  <a:pt x="1150" y="8211"/>
                </a:lnTo>
                <a:lnTo>
                  <a:pt x="661" y="7945"/>
                </a:lnTo>
                <a:lnTo>
                  <a:pt x="332" y="7585"/>
                </a:lnTo>
                <a:lnTo>
                  <a:pt x="296" y="7184"/>
                </a:lnTo>
                <a:lnTo>
                  <a:pt x="213" y="6699"/>
                </a:lnTo>
                <a:lnTo>
                  <a:pt x="74" y="5176"/>
                </a:lnTo>
                <a:lnTo>
                  <a:pt x="0" y="3580"/>
                </a:lnTo>
                <a:lnTo>
                  <a:pt x="152" y="3183"/>
                </a:lnTo>
                <a:lnTo>
                  <a:pt x="296" y="2762"/>
                </a:lnTo>
                <a:lnTo>
                  <a:pt x="577" y="2510"/>
                </a:lnTo>
                <a:lnTo>
                  <a:pt x="1171" y="2223"/>
                </a:lnTo>
                <a:lnTo>
                  <a:pt x="1438" y="1891"/>
                </a:lnTo>
                <a:lnTo>
                  <a:pt x="1954" y="1717"/>
                </a:lnTo>
                <a:lnTo>
                  <a:pt x="2699" y="1553"/>
                </a:lnTo>
                <a:lnTo>
                  <a:pt x="3393" y="1477"/>
                </a:lnTo>
                <a:lnTo>
                  <a:pt x="4071" y="1325"/>
                </a:lnTo>
                <a:lnTo>
                  <a:pt x="4891" y="1250"/>
                </a:lnTo>
                <a:lnTo>
                  <a:pt x="6039" y="1012"/>
                </a:lnTo>
                <a:lnTo>
                  <a:pt x="6969" y="875"/>
                </a:lnTo>
                <a:lnTo>
                  <a:pt x="8098" y="878"/>
                </a:lnTo>
                <a:lnTo>
                  <a:pt x="9435" y="844"/>
                </a:lnTo>
                <a:lnTo>
                  <a:pt x="10991" y="650"/>
                </a:lnTo>
                <a:lnTo>
                  <a:pt x="12270" y="549"/>
                </a:lnTo>
                <a:lnTo>
                  <a:pt x="14126" y="477"/>
                </a:lnTo>
                <a:lnTo>
                  <a:pt x="15870" y="368"/>
                </a:lnTo>
                <a:lnTo>
                  <a:pt x="17676" y="262"/>
                </a:lnTo>
                <a:lnTo>
                  <a:pt x="19793" y="294"/>
                </a:lnTo>
                <a:lnTo>
                  <a:pt x="22108" y="200"/>
                </a:lnTo>
                <a:lnTo>
                  <a:pt x="24608" y="250"/>
                </a:lnTo>
                <a:lnTo>
                  <a:pt x="27266" y="113"/>
                </a:lnTo>
                <a:lnTo>
                  <a:pt x="30435" y="71"/>
                </a:lnTo>
                <a:lnTo>
                  <a:pt x="34062" y="58"/>
                </a:lnTo>
                <a:lnTo>
                  <a:pt x="38306" y="187"/>
                </a:lnTo>
                <a:lnTo>
                  <a:pt x="43469" y="19"/>
                </a:lnTo>
                <a:lnTo>
                  <a:pt x="50484" y="0"/>
                </a:lnTo>
                <a:lnTo>
                  <a:pt x="72925" y="71"/>
                </a:lnTo>
                <a:lnTo>
                  <a:pt x="95383" y="36"/>
                </a:lnTo>
                <a:lnTo>
                  <a:pt x="102568" y="19"/>
                </a:lnTo>
                <a:lnTo>
                  <a:pt x="107531" y="155"/>
                </a:lnTo>
                <a:lnTo>
                  <a:pt x="111873" y="155"/>
                </a:lnTo>
                <a:lnTo>
                  <a:pt x="115377" y="114"/>
                </a:lnTo>
                <a:lnTo>
                  <a:pt x="118533" y="272"/>
                </a:lnTo>
                <a:lnTo>
                  <a:pt x="121243" y="325"/>
                </a:lnTo>
                <a:lnTo>
                  <a:pt x="123731" y="295"/>
                </a:lnTo>
                <a:lnTo>
                  <a:pt x="125983" y="264"/>
                </a:lnTo>
                <a:lnTo>
                  <a:pt x="128193" y="342"/>
                </a:lnTo>
                <a:lnTo>
                  <a:pt x="130069" y="431"/>
                </a:lnTo>
                <a:lnTo>
                  <a:pt x="131784" y="577"/>
                </a:lnTo>
                <a:lnTo>
                  <a:pt x="133443" y="698"/>
                </a:lnTo>
                <a:lnTo>
                  <a:pt x="134949" y="759"/>
                </a:lnTo>
                <a:lnTo>
                  <a:pt x="136341" y="776"/>
                </a:lnTo>
                <a:lnTo>
                  <a:pt x="137685" y="960"/>
                </a:lnTo>
                <a:lnTo>
                  <a:pt x="138928" y="965"/>
                </a:lnTo>
                <a:lnTo>
                  <a:pt x="140020" y="1100"/>
                </a:lnTo>
                <a:lnTo>
                  <a:pt x="140974" y="1128"/>
                </a:lnTo>
                <a:lnTo>
                  <a:pt x="141854" y="1445"/>
                </a:lnTo>
                <a:lnTo>
                  <a:pt x="142413" y="1510"/>
                </a:lnTo>
                <a:lnTo>
                  <a:pt x="143310" y="1533"/>
                </a:lnTo>
                <a:lnTo>
                  <a:pt x="143784" y="1843"/>
                </a:lnTo>
                <a:lnTo>
                  <a:pt x="144327" y="1924"/>
                </a:lnTo>
                <a:lnTo>
                  <a:pt x="144831" y="2192"/>
                </a:lnTo>
                <a:lnTo>
                  <a:pt x="145191" y="2443"/>
                </a:lnTo>
                <a:lnTo>
                  <a:pt x="145426" y="2661"/>
                </a:lnTo>
                <a:lnTo>
                  <a:pt x="145697" y="3090"/>
                </a:lnTo>
                <a:lnTo>
                  <a:pt x="145655" y="3563"/>
                </a:lnTo>
                <a:lnTo>
                  <a:pt x="145794" y="5180"/>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639257" y="6057626"/>
            <a:ext cx="13341279" cy="937900"/>
          </a:xfrm>
          <a:custGeom>
            <a:avLst/>
            <a:gdLst/>
            <a:ahLst/>
            <a:cxnLst/>
            <a:rect l="l" t="t" r="r" b="b"/>
            <a:pathLst>
              <a:path w="145902" h="10257">
                <a:moveTo>
                  <a:pt x="145851" y="5226"/>
                </a:moveTo>
                <a:lnTo>
                  <a:pt x="145902" y="6741"/>
                </a:lnTo>
                <a:lnTo>
                  <a:pt x="145788" y="7301"/>
                </a:lnTo>
                <a:lnTo>
                  <a:pt x="145600" y="7601"/>
                </a:lnTo>
                <a:lnTo>
                  <a:pt x="145268" y="7983"/>
                </a:lnTo>
                <a:lnTo>
                  <a:pt x="144902" y="8202"/>
                </a:lnTo>
                <a:lnTo>
                  <a:pt x="144348" y="8410"/>
                </a:lnTo>
                <a:lnTo>
                  <a:pt x="143806" y="8449"/>
                </a:lnTo>
                <a:lnTo>
                  <a:pt x="143420" y="8634"/>
                </a:lnTo>
                <a:lnTo>
                  <a:pt x="142716" y="8848"/>
                </a:lnTo>
                <a:lnTo>
                  <a:pt x="141810" y="8911"/>
                </a:lnTo>
                <a:lnTo>
                  <a:pt x="140981" y="9085"/>
                </a:lnTo>
                <a:lnTo>
                  <a:pt x="139936" y="9162"/>
                </a:lnTo>
                <a:lnTo>
                  <a:pt x="138919" y="9484"/>
                </a:lnTo>
                <a:lnTo>
                  <a:pt x="137788" y="9393"/>
                </a:lnTo>
                <a:lnTo>
                  <a:pt x="136506" y="9460"/>
                </a:lnTo>
                <a:lnTo>
                  <a:pt x="135196" y="9742"/>
                </a:lnTo>
                <a:lnTo>
                  <a:pt x="133480" y="9781"/>
                </a:lnTo>
                <a:lnTo>
                  <a:pt x="132010" y="9899"/>
                </a:lnTo>
                <a:lnTo>
                  <a:pt x="130284" y="9968"/>
                </a:lnTo>
                <a:lnTo>
                  <a:pt x="128267" y="9879"/>
                </a:lnTo>
                <a:lnTo>
                  <a:pt x="126214" y="9935"/>
                </a:lnTo>
                <a:lnTo>
                  <a:pt x="123872" y="10038"/>
                </a:lnTo>
                <a:lnTo>
                  <a:pt x="121229" y="10030"/>
                </a:lnTo>
                <a:lnTo>
                  <a:pt x="118447" y="10227"/>
                </a:lnTo>
                <a:lnTo>
                  <a:pt x="115581" y="10119"/>
                </a:lnTo>
                <a:lnTo>
                  <a:pt x="112007" y="10257"/>
                </a:lnTo>
                <a:lnTo>
                  <a:pt x="107680" y="10134"/>
                </a:lnTo>
                <a:lnTo>
                  <a:pt x="102564" y="10236"/>
                </a:lnTo>
                <a:lnTo>
                  <a:pt x="95381" y="10200"/>
                </a:lnTo>
                <a:lnTo>
                  <a:pt x="73044" y="10131"/>
                </a:lnTo>
                <a:lnTo>
                  <a:pt x="50706" y="10234"/>
                </a:lnTo>
                <a:lnTo>
                  <a:pt x="43509" y="10214"/>
                </a:lnTo>
                <a:lnTo>
                  <a:pt x="38378" y="10222"/>
                </a:lnTo>
                <a:lnTo>
                  <a:pt x="34081" y="10184"/>
                </a:lnTo>
                <a:lnTo>
                  <a:pt x="30613" y="10112"/>
                </a:lnTo>
                <a:lnTo>
                  <a:pt x="27498" y="10105"/>
                </a:lnTo>
                <a:lnTo>
                  <a:pt x="24779" y="10101"/>
                </a:lnTo>
                <a:lnTo>
                  <a:pt x="22203" y="9988"/>
                </a:lnTo>
                <a:lnTo>
                  <a:pt x="19931" y="10075"/>
                </a:lnTo>
                <a:lnTo>
                  <a:pt x="17796" y="10059"/>
                </a:lnTo>
                <a:lnTo>
                  <a:pt x="15893" y="9817"/>
                </a:lnTo>
                <a:lnTo>
                  <a:pt x="14083" y="9718"/>
                </a:lnTo>
                <a:lnTo>
                  <a:pt x="12414" y="9635"/>
                </a:lnTo>
                <a:lnTo>
                  <a:pt x="10881" y="9614"/>
                </a:lnTo>
                <a:lnTo>
                  <a:pt x="9536" y="9499"/>
                </a:lnTo>
                <a:lnTo>
                  <a:pt x="8328" y="9551"/>
                </a:lnTo>
                <a:lnTo>
                  <a:pt x="7210" y="9475"/>
                </a:lnTo>
                <a:lnTo>
                  <a:pt x="6041" y="9293"/>
                </a:lnTo>
                <a:lnTo>
                  <a:pt x="5050" y="9047"/>
                </a:lnTo>
                <a:lnTo>
                  <a:pt x="4158" y="8998"/>
                </a:lnTo>
                <a:lnTo>
                  <a:pt x="3527" y="8863"/>
                </a:lnTo>
                <a:lnTo>
                  <a:pt x="2655" y="8722"/>
                </a:lnTo>
                <a:lnTo>
                  <a:pt x="2084" y="8432"/>
                </a:lnTo>
                <a:lnTo>
                  <a:pt x="1530" y="8392"/>
                </a:lnTo>
                <a:lnTo>
                  <a:pt x="1132" y="8196"/>
                </a:lnTo>
                <a:lnTo>
                  <a:pt x="735" y="7978"/>
                </a:lnTo>
                <a:lnTo>
                  <a:pt x="608" y="7647"/>
                </a:lnTo>
                <a:lnTo>
                  <a:pt x="238" y="7115"/>
                </a:lnTo>
                <a:lnTo>
                  <a:pt x="238" y="6731"/>
                </a:lnTo>
                <a:lnTo>
                  <a:pt x="0" y="5216"/>
                </a:lnTo>
                <a:lnTo>
                  <a:pt x="133" y="3479"/>
                </a:lnTo>
                <a:lnTo>
                  <a:pt x="275" y="3071"/>
                </a:lnTo>
                <a:lnTo>
                  <a:pt x="510" y="2700"/>
                </a:lnTo>
                <a:lnTo>
                  <a:pt x="797" y="2453"/>
                </a:lnTo>
                <a:lnTo>
                  <a:pt x="1089" y="2288"/>
                </a:lnTo>
                <a:lnTo>
                  <a:pt x="1585" y="2029"/>
                </a:lnTo>
                <a:lnTo>
                  <a:pt x="2064" y="1856"/>
                </a:lnTo>
                <a:lnTo>
                  <a:pt x="2643" y="1562"/>
                </a:lnTo>
                <a:lnTo>
                  <a:pt x="3543" y="1550"/>
                </a:lnTo>
                <a:lnTo>
                  <a:pt x="4188" y="1294"/>
                </a:lnTo>
                <a:lnTo>
                  <a:pt x="5067" y="1062"/>
                </a:lnTo>
                <a:lnTo>
                  <a:pt x="6076" y="948"/>
                </a:lnTo>
                <a:lnTo>
                  <a:pt x="7124" y="1003"/>
                </a:lnTo>
                <a:lnTo>
                  <a:pt x="8391" y="856"/>
                </a:lnTo>
                <a:lnTo>
                  <a:pt x="9472" y="788"/>
                </a:lnTo>
                <a:lnTo>
                  <a:pt x="10998" y="725"/>
                </a:lnTo>
                <a:lnTo>
                  <a:pt x="12499" y="591"/>
                </a:lnTo>
                <a:lnTo>
                  <a:pt x="14178" y="487"/>
                </a:lnTo>
                <a:lnTo>
                  <a:pt x="15972" y="414"/>
                </a:lnTo>
                <a:lnTo>
                  <a:pt x="17824" y="374"/>
                </a:lnTo>
                <a:lnTo>
                  <a:pt x="19967" y="344"/>
                </a:lnTo>
                <a:lnTo>
                  <a:pt x="22101" y="207"/>
                </a:lnTo>
                <a:lnTo>
                  <a:pt x="24562" y="140"/>
                </a:lnTo>
                <a:lnTo>
                  <a:pt x="27509" y="146"/>
                </a:lnTo>
                <a:lnTo>
                  <a:pt x="30564" y="226"/>
                </a:lnTo>
                <a:lnTo>
                  <a:pt x="34230" y="141"/>
                </a:lnTo>
                <a:lnTo>
                  <a:pt x="38299" y="79"/>
                </a:lnTo>
                <a:lnTo>
                  <a:pt x="43351" y="16"/>
                </a:lnTo>
                <a:lnTo>
                  <a:pt x="50642" y="188"/>
                </a:lnTo>
                <a:lnTo>
                  <a:pt x="72910" y="37"/>
                </a:lnTo>
                <a:lnTo>
                  <a:pt x="95319" y="128"/>
                </a:lnTo>
                <a:lnTo>
                  <a:pt x="102420" y="77"/>
                </a:lnTo>
                <a:lnTo>
                  <a:pt x="107654" y="61"/>
                </a:lnTo>
                <a:lnTo>
                  <a:pt x="111899" y="0"/>
                </a:lnTo>
                <a:lnTo>
                  <a:pt x="115580" y="188"/>
                </a:lnTo>
                <a:lnTo>
                  <a:pt x="118535" y="72"/>
                </a:lnTo>
                <a:lnTo>
                  <a:pt x="121290" y="261"/>
                </a:lnTo>
                <a:lnTo>
                  <a:pt x="123814" y="275"/>
                </a:lnTo>
                <a:lnTo>
                  <a:pt x="126048" y="298"/>
                </a:lnTo>
                <a:lnTo>
                  <a:pt x="128144" y="415"/>
                </a:lnTo>
                <a:lnTo>
                  <a:pt x="130152" y="367"/>
                </a:lnTo>
                <a:lnTo>
                  <a:pt x="132024" y="438"/>
                </a:lnTo>
                <a:lnTo>
                  <a:pt x="133473" y="569"/>
                </a:lnTo>
                <a:lnTo>
                  <a:pt x="135182" y="600"/>
                </a:lnTo>
                <a:lnTo>
                  <a:pt x="136463" y="831"/>
                </a:lnTo>
                <a:lnTo>
                  <a:pt x="137771" y="771"/>
                </a:lnTo>
                <a:lnTo>
                  <a:pt x="138891" y="839"/>
                </a:lnTo>
                <a:lnTo>
                  <a:pt x="140084" y="978"/>
                </a:lnTo>
                <a:lnTo>
                  <a:pt x="140848" y="1143"/>
                </a:lnTo>
                <a:lnTo>
                  <a:pt x="141795" y="1252"/>
                </a:lnTo>
                <a:lnTo>
                  <a:pt x="142661" y="1541"/>
                </a:lnTo>
                <a:lnTo>
                  <a:pt x="143316" y="1721"/>
                </a:lnTo>
                <a:lnTo>
                  <a:pt x="143835" y="1679"/>
                </a:lnTo>
                <a:lnTo>
                  <a:pt x="144495" y="1966"/>
                </a:lnTo>
                <a:lnTo>
                  <a:pt x="144827" y="2100"/>
                </a:lnTo>
                <a:lnTo>
                  <a:pt x="145327" y="2538"/>
                </a:lnTo>
                <a:lnTo>
                  <a:pt x="145487" y="2710"/>
                </a:lnTo>
                <a:lnTo>
                  <a:pt x="145735" y="3178"/>
                </a:lnTo>
                <a:lnTo>
                  <a:pt x="145796" y="3673"/>
                </a:lnTo>
                <a:lnTo>
                  <a:pt x="145883" y="5136"/>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3742609" y="6776618"/>
            <a:ext cx="178125" cy="76352"/>
          </a:xfrm>
          <a:custGeom>
            <a:avLst/>
            <a:gdLst/>
            <a:ahLst/>
            <a:cxnLst/>
            <a:rect l="l" t="t" r="r" b="b"/>
            <a:pathLst>
              <a:path w="1948" h="835">
                <a:moveTo>
                  <a:pt x="1948" y="0"/>
                </a:moveTo>
                <a:lnTo>
                  <a:pt x="1585" y="248"/>
                </a:lnTo>
                <a:lnTo>
                  <a:pt x="1141" y="466"/>
                </a:lnTo>
                <a:lnTo>
                  <a:pt x="613" y="660"/>
                </a:lnTo>
                <a:lnTo>
                  <a:pt x="0" y="835"/>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11735775" y="6961784"/>
            <a:ext cx="805678" cy="18928"/>
          </a:xfrm>
          <a:custGeom>
            <a:avLst/>
            <a:gdLst/>
            <a:ahLst/>
            <a:cxnLst/>
            <a:rect l="l" t="t" r="r" b="b"/>
            <a:pathLst>
              <a:path w="8811" h="207">
                <a:moveTo>
                  <a:pt x="8811" y="0"/>
                </a:moveTo>
                <a:lnTo>
                  <a:pt x="6889" y="61"/>
                </a:lnTo>
                <a:lnTo>
                  <a:pt x="4797" y="116"/>
                </a:lnTo>
                <a:lnTo>
                  <a:pt x="2511" y="165"/>
                </a:lnTo>
                <a:lnTo>
                  <a:pt x="0" y="207"/>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2665019" y="6976872"/>
            <a:ext cx="1094720" cy="12344"/>
          </a:xfrm>
          <a:custGeom>
            <a:avLst/>
            <a:gdLst/>
            <a:ahLst/>
            <a:cxnLst/>
            <a:rect l="l" t="t" r="r" b="b"/>
            <a:pathLst>
              <a:path w="11972" h="135">
                <a:moveTo>
                  <a:pt x="11972" y="135"/>
                </a:moveTo>
                <a:lnTo>
                  <a:pt x="8412" y="110"/>
                </a:lnTo>
                <a:lnTo>
                  <a:pt x="5293" y="79"/>
                </a:lnTo>
                <a:lnTo>
                  <a:pt x="2511" y="42"/>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831738" y="6836969"/>
            <a:ext cx="272217" cy="56144"/>
          </a:xfrm>
          <a:custGeom>
            <a:avLst/>
            <a:gdLst/>
            <a:ahLst/>
            <a:cxnLst/>
            <a:rect l="l" t="t" r="r" b="b"/>
            <a:pathLst>
              <a:path w="2977" h="614">
                <a:moveTo>
                  <a:pt x="2977" y="614"/>
                </a:moveTo>
                <a:lnTo>
                  <a:pt x="2099" y="480"/>
                </a:lnTo>
                <a:lnTo>
                  <a:pt x="1312" y="334"/>
                </a:lnTo>
                <a:lnTo>
                  <a:pt x="613" y="175"/>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709666" y="6204661"/>
            <a:ext cx="178125" cy="76352"/>
          </a:xfrm>
          <a:custGeom>
            <a:avLst/>
            <a:gdLst/>
            <a:ahLst/>
            <a:cxnLst/>
            <a:rect l="l" t="t" r="r" b="b"/>
            <a:pathLst>
              <a:path w="1948" h="835">
                <a:moveTo>
                  <a:pt x="0" y="835"/>
                </a:moveTo>
                <a:lnTo>
                  <a:pt x="363" y="587"/>
                </a:lnTo>
                <a:lnTo>
                  <a:pt x="807" y="369"/>
                </a:lnTo>
                <a:lnTo>
                  <a:pt x="1335" y="175"/>
                </a:lnTo>
                <a:lnTo>
                  <a:pt x="1948"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088947" y="6076920"/>
            <a:ext cx="805678" cy="18928"/>
          </a:xfrm>
          <a:custGeom>
            <a:avLst/>
            <a:gdLst/>
            <a:ahLst/>
            <a:cxnLst/>
            <a:rect l="l" t="t" r="r" b="b"/>
            <a:pathLst>
              <a:path w="8811" h="207">
                <a:moveTo>
                  <a:pt x="0" y="207"/>
                </a:moveTo>
                <a:lnTo>
                  <a:pt x="1922" y="146"/>
                </a:lnTo>
                <a:lnTo>
                  <a:pt x="4014" y="91"/>
                </a:lnTo>
                <a:lnTo>
                  <a:pt x="6300" y="42"/>
                </a:lnTo>
                <a:lnTo>
                  <a:pt x="8811"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10870662" y="6068416"/>
            <a:ext cx="1094720" cy="12344"/>
          </a:xfrm>
          <a:custGeom>
            <a:avLst/>
            <a:gdLst/>
            <a:ahLst/>
            <a:cxnLst/>
            <a:rect l="l" t="t" r="r" b="b"/>
            <a:pathLst>
              <a:path w="11972" h="135">
                <a:moveTo>
                  <a:pt x="0" y="0"/>
                </a:moveTo>
                <a:lnTo>
                  <a:pt x="3560" y="25"/>
                </a:lnTo>
                <a:lnTo>
                  <a:pt x="6679" y="56"/>
                </a:lnTo>
                <a:lnTo>
                  <a:pt x="9461" y="93"/>
                </a:lnTo>
                <a:lnTo>
                  <a:pt x="11972" y="135"/>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13526445" y="6164519"/>
            <a:ext cx="272217" cy="56144"/>
          </a:xfrm>
          <a:custGeom>
            <a:avLst/>
            <a:gdLst/>
            <a:ahLst/>
            <a:cxnLst/>
            <a:rect l="l" t="t" r="r" b="b"/>
            <a:pathLst>
              <a:path w="2977" h="614">
                <a:moveTo>
                  <a:pt x="0" y="0"/>
                </a:moveTo>
                <a:lnTo>
                  <a:pt x="878" y="134"/>
                </a:lnTo>
                <a:lnTo>
                  <a:pt x="1665" y="280"/>
                </a:lnTo>
                <a:lnTo>
                  <a:pt x="2364" y="439"/>
                </a:lnTo>
                <a:lnTo>
                  <a:pt x="2977" y="61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ody: Separate three outcomes: access is blocked; reconstruction is in"/>
          <p:cNvSpPr txBox="1"/>
          <p:nvPr/>
        </p:nvSpPr>
        <p:spPr>
          <a:xfrm>
            <a:off x="914400" y="6192107"/>
            <a:ext cx="12801600" cy="673417"/>
          </a:xfrm>
          <a:prstGeom prst="rect">
            <a:avLst/>
          </a:prstGeom>
          <a:noFill/>
        </p:spPr>
        <p:txBody>
          <a:bodyPr wrap="none" lIns="0" rIns="0" tIns="0" bIns="0" anchor="t">
            <a:noAutofit/>
          </a:bodyPr>
          <a:lstStyle/>
          <a:p>
            <a:pPr algn="ctr">
              <a:lnSpc>
                <a:spcPts val="2381"/>
              </a:lnSpc>
              <a:spcBef>
                <a:spcPts val="0"/>
              </a:spcBef>
              <a:spcAft>
                <a:spcPts val="0"/>
              </a:spcAft>
            </a:pPr>
            <a:r>
              <a:rPr sz="1875" b="0">
                <a:solidFill>
                  <a:srgbClr val="293E46"/>
                </a:solidFill>
                <a:latin typeface="Trebuchet MS"/>
              </a:rPr>
              <a:t>Separate three outcomes: access is blocked; reconstruction is incomplete; faithful replay is feasible but too</a:t>
            </a:r>
            <a:br/>
            <a:r>
              <a:rPr sz="1875" b="0">
                <a:solidFill>
                  <a:srgbClr val="293E46"/>
                </a:solidFill>
                <a:latin typeface="Trebuchet MS"/>
              </a:rPr>
              <a:t>costly. Each needs a different response.</a:t>
            </a:r>
          </a:p>
        </p:txBody>
      </p:sp>
      <p:sp>
        <p:nvSpPr>
          <p:cNvPr id="78" name="body: Basis: OpenAI o1 System Card §3; Baker et al. (2025); OpenAI rea"/>
          <p:cNvSpPr txBox="1"/>
          <p:nvPr/>
        </p:nvSpPr>
        <p:spPr>
          <a:xfrm>
            <a:off x="777240" y="7205122"/>
            <a:ext cx="13075920" cy="302450"/>
          </a:xfrm>
          <a:prstGeom prst="rect">
            <a:avLst/>
          </a:prstGeom>
          <a:noFill/>
        </p:spPr>
        <p:txBody>
          <a:bodyPr wrap="none" lIns="0" rIns="0" tIns="0" bIns="0" anchor="t">
            <a:noAutofit/>
          </a:bodyPr>
          <a:lstStyle/>
          <a:p>
            <a:pPr algn="ctr">
              <a:lnSpc>
                <a:spcPts val="1841"/>
              </a:lnSpc>
              <a:spcBef>
                <a:spcPts val="0"/>
              </a:spcBef>
              <a:spcAft>
                <a:spcPts val="0"/>
              </a:spcAft>
            </a:pPr>
            <a:r>
              <a:rPr sz="1450" b="0">
                <a:solidFill>
                  <a:srgbClr val="68736E"/>
                </a:solidFill>
                <a:latin typeface="Trebuchet MS"/>
              </a:rPr>
              <a:t>Basis: OpenAI o1 System Card §3; Baker et al. (2025); OpenAI reasoning documentation. Sources and qualifications in speaker notes.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7 · REPLAY FEASIBILITY"/>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7 · REPLAY FEASIBILITY</a:t>
            </a:r>
          </a:p>
        </p:txBody>
      </p:sp>
      <p:sp>
        <p:nvSpPr>
          <p:cNvPr id="3" name="title: What the published OpenAI examples let us reproduce"/>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What the published OpenAI examples let us reproduce</a:t>
            </a:r>
          </a:p>
        </p:txBody>
      </p:sp>
      <p:sp>
        <p:nvSpPr>
          <p:cNvPr id="4" name="subtitle: Published facts are separated from our assessment of the remaini"/>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Published facts are separated from our assessment of the remaining replay requirements</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32"/>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32</a:t>
            </a:r>
          </a:p>
        </p:txBody>
      </p:sp>
      <p:sp>
        <p:nvSpPr>
          <p:cNvPr id="12" name="Rounded Rectangle 11"/>
          <p:cNvSpPr/>
          <p:nvPr/>
        </p:nvSpPr>
        <p:spPr>
          <a:xfrm>
            <a:off x="640080" y="1783080"/>
            <a:ext cx="13350240" cy="549878"/>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 Example"/>
          <p:cNvSpPr txBox="1"/>
          <p:nvPr/>
        </p:nvSpPr>
        <p:spPr>
          <a:xfrm>
            <a:off x="777240" y="1870503"/>
            <a:ext cx="320040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Example</a:t>
            </a:r>
          </a:p>
        </p:txBody>
      </p:sp>
      <p:sp>
        <p:nvSpPr>
          <p:cNvPr id="14" name="body: What is disclosed"/>
          <p:cNvSpPr txBox="1"/>
          <p:nvPr/>
        </p:nvSpPr>
        <p:spPr>
          <a:xfrm>
            <a:off x="4251960" y="1870503"/>
            <a:ext cx="434340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What is disclosed</a:t>
            </a:r>
          </a:p>
        </p:txBody>
      </p:sp>
      <p:sp>
        <p:nvSpPr>
          <p:cNvPr id="15" name="body: Implication for faithful replay"/>
          <p:cNvSpPr txBox="1"/>
          <p:nvPr/>
        </p:nvSpPr>
        <p:spPr>
          <a:xfrm>
            <a:off x="8869680" y="1870503"/>
            <a:ext cx="498348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Implication for faithful replay</a:t>
            </a:r>
          </a:p>
        </p:txBody>
      </p:sp>
      <p:sp>
        <p:nvSpPr>
          <p:cNvPr id="16" name="Rounded Rectangle 15"/>
          <p:cNvSpPr/>
          <p:nvPr/>
        </p:nvSpPr>
        <p:spPr>
          <a:xfrm>
            <a:off x="640080" y="2392394"/>
            <a:ext cx="13350240" cy="1229455"/>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 o1 external testing OpenAI System Card (2024)"/>
          <p:cNvSpPr txBox="1"/>
          <p:nvPr/>
        </p:nvSpPr>
        <p:spPr>
          <a:xfrm>
            <a:off x="777240" y="2488961"/>
            <a:ext cx="3200400" cy="1036320"/>
          </a:xfrm>
          <a:prstGeom prst="rect">
            <a:avLst/>
          </a:prstGeom>
          <a:noFill/>
        </p:spPr>
        <p:txBody>
          <a:bodyPr wrap="none" lIns="0" rIns="0" tIns="0" bIns="0" anchor="t">
            <a:noAutofit/>
          </a:bodyPr>
          <a:lstStyle/>
          <a:p>
            <a:pPr algn="l">
              <a:lnSpc>
                <a:spcPts val="2540"/>
              </a:lnSpc>
              <a:spcBef>
                <a:spcPts val="0"/>
              </a:spcBef>
              <a:spcAft>
                <a:spcPts val="0"/>
              </a:spcAft>
            </a:pPr>
            <a:r>
              <a:rPr sz="2000" b="1">
                <a:solidFill>
                  <a:srgbClr val="4E7892"/>
                </a:solidFill>
                <a:latin typeface="Trebuchet MS"/>
              </a:rPr>
              <a:t>o1 external testing</a:t>
            </a:r>
            <a:br/>
            <a:r>
              <a:rPr sz="2000" b="1">
                <a:solidFill>
                  <a:srgbClr val="4E7892"/>
                </a:solidFill>
                <a:latin typeface="Trebuchet MS"/>
              </a:rPr>
              <a:t>OpenAI System Card</a:t>
            </a:r>
            <a:br/>
            <a:r>
              <a:rPr sz="2000" b="1">
                <a:solidFill>
                  <a:srgbClr val="4E7892"/>
                </a:solidFill>
                <a:latin typeface="Trebuchet MS"/>
              </a:rPr>
              <a:t>(2024)</a:t>
            </a:r>
          </a:p>
        </p:txBody>
      </p:sp>
      <p:sp>
        <p:nvSpPr>
          <p:cNvPr id="18" name="body: Near-final and released checkpoints are distinguished; external "/>
          <p:cNvSpPr txBox="1"/>
          <p:nvPr/>
        </p:nvSpPr>
        <p:spPr>
          <a:xfrm>
            <a:off x="4251960" y="2488961"/>
            <a:ext cx="4343400" cy="103632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Near-final and released checkpoints</a:t>
            </a:r>
            <a:br/>
            <a:r>
              <a:rPr sz="2000" b="0">
                <a:solidFill>
                  <a:srgbClr val="293E46"/>
                </a:solidFill>
                <a:latin typeface="Trebuchet MS"/>
              </a:rPr>
              <a:t>are distinguished; external red</a:t>
            </a:r>
            <a:br/>
            <a:r>
              <a:rPr sz="2000" b="0">
                <a:solidFill>
                  <a:srgbClr val="293E46"/>
                </a:solidFill>
                <a:latin typeface="Trebuchet MS"/>
              </a:rPr>
              <a:t>teaming used near-final.</a:t>
            </a:r>
          </a:p>
        </p:txBody>
      </p:sp>
      <p:sp>
        <p:nvSpPr>
          <p:cNvPr id="19" name="body: Do not assume a public o1 endpoint matches the evaluated checkpo"/>
          <p:cNvSpPr txBox="1"/>
          <p:nvPr/>
        </p:nvSpPr>
        <p:spPr>
          <a:xfrm>
            <a:off x="8869680" y="2488961"/>
            <a:ext cx="4983480" cy="103632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Do not assume a public o1 endpoint</a:t>
            </a:r>
            <a:br/>
            <a:r>
              <a:rPr sz="2000" b="0">
                <a:solidFill>
                  <a:srgbClr val="293E46"/>
                </a:solidFill>
                <a:latin typeface="Trebuchet MS"/>
              </a:rPr>
              <a:t>matches the evaluated checkpoint,</a:t>
            </a:r>
            <a:br/>
            <a:r>
              <a:rPr sz="2000" b="0">
                <a:solidFill>
                  <a:srgbClr val="293E46"/>
                </a:solidFill>
                <a:latin typeface="Trebuchet MS"/>
              </a:rPr>
              <a:t>scaffold or results.</a:t>
            </a:r>
          </a:p>
        </p:txBody>
      </p:sp>
      <p:sp>
        <p:nvSpPr>
          <p:cNvPr id="20" name="Rounded Rectangle 19"/>
          <p:cNvSpPr/>
          <p:nvPr/>
        </p:nvSpPr>
        <p:spPr>
          <a:xfrm>
            <a:off x="640080" y="3681285"/>
            <a:ext cx="13350240" cy="1229455"/>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dy: OpenAI reward hacking / obfuscation Baker et al. (2025)"/>
          <p:cNvSpPr txBox="1"/>
          <p:nvPr/>
        </p:nvSpPr>
        <p:spPr>
          <a:xfrm>
            <a:off x="777240" y="3777853"/>
            <a:ext cx="3200400" cy="1036320"/>
          </a:xfrm>
          <a:prstGeom prst="rect">
            <a:avLst/>
          </a:prstGeom>
          <a:noFill/>
        </p:spPr>
        <p:txBody>
          <a:bodyPr wrap="none" lIns="0" rIns="0" tIns="0" bIns="0" anchor="t">
            <a:noAutofit/>
          </a:bodyPr>
          <a:lstStyle/>
          <a:p>
            <a:pPr algn="l">
              <a:lnSpc>
                <a:spcPts val="2540"/>
              </a:lnSpc>
              <a:spcBef>
                <a:spcPts val="0"/>
              </a:spcBef>
              <a:spcAft>
                <a:spcPts val="0"/>
              </a:spcAft>
            </a:pPr>
            <a:r>
              <a:rPr sz="2000" b="1">
                <a:solidFill>
                  <a:srgbClr val="4E7892"/>
                </a:solidFill>
                <a:latin typeface="Trebuchet MS"/>
              </a:rPr>
              <a:t>OpenAI reward hacking /</a:t>
            </a:r>
            <a:br/>
            <a:r>
              <a:rPr sz="2000" b="1">
                <a:solidFill>
                  <a:srgbClr val="4E7892"/>
                </a:solidFill>
                <a:latin typeface="Trebuchet MS"/>
              </a:rPr>
              <a:t>obfuscation</a:t>
            </a:r>
            <a:br/>
            <a:r>
              <a:rPr sz="2000" b="1">
                <a:solidFill>
                  <a:srgbClr val="4E7892"/>
                </a:solidFill>
                <a:latin typeface="Trebuchet MS"/>
              </a:rPr>
              <a:t>Baker et al. (2025)</a:t>
            </a:r>
          </a:p>
        </p:txBody>
      </p:sp>
      <p:sp>
        <p:nvSpPr>
          <p:cNvPr id="22" name="body: Training-time incidents, a separate RL experiment, and a publish"/>
          <p:cNvSpPr txBox="1"/>
          <p:nvPr/>
        </p:nvSpPr>
        <p:spPr>
          <a:xfrm>
            <a:off x="4251960" y="3777853"/>
            <a:ext cx="4343400" cy="103632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Training-time incidents, a separate</a:t>
            </a:r>
            <a:br/>
            <a:r>
              <a:rPr sz="2000" b="0">
                <a:solidFill>
                  <a:srgbClr val="293E46"/>
                </a:solidFill>
                <a:latin typeface="Trebuchet MS"/>
              </a:rPr>
              <a:t>RL experiment, and a published</a:t>
            </a:r>
            <a:br/>
            <a:r>
              <a:rPr sz="2000" b="0">
                <a:solidFill>
                  <a:srgbClr val="293E46"/>
                </a:solidFill>
                <a:latin typeface="Trebuchet MS"/>
              </a:rPr>
              <a:t>monitor prompt.</a:t>
            </a:r>
          </a:p>
        </p:txBody>
      </p:sp>
      <p:sp>
        <p:nvSpPr>
          <p:cNvPr id="23" name="body: Obtain checkpoint, task state and reward setup. API inference al"/>
          <p:cNvSpPr txBox="1"/>
          <p:nvPr/>
        </p:nvSpPr>
        <p:spPr>
          <a:xfrm>
            <a:off x="8869680" y="3777853"/>
            <a:ext cx="4983480" cy="103632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Obtain checkpoint, task state and reward</a:t>
            </a:r>
            <a:br/>
            <a:r>
              <a:rPr sz="2000" b="0">
                <a:solidFill>
                  <a:srgbClr val="293E46"/>
                </a:solidFill>
                <a:latin typeface="Trebuchet MS"/>
              </a:rPr>
              <a:t>setup. API inference alone cannot rerun</a:t>
            </a:r>
            <a:br/>
            <a:r>
              <a:rPr sz="2000" b="0">
                <a:solidFill>
                  <a:srgbClr val="293E46"/>
                </a:solidFill>
                <a:latin typeface="Trebuchet MS"/>
              </a:rPr>
              <a:t>the training intervention.</a:t>
            </a:r>
          </a:p>
        </p:txBody>
      </p:sp>
      <p:sp>
        <p:nvSpPr>
          <p:cNvPr id="24" name="Rounded Rectangle 23"/>
          <p:cNvSpPr/>
          <p:nvPr/>
        </p:nvSpPr>
        <p:spPr>
          <a:xfrm>
            <a:off x="640080" y="4970176"/>
            <a:ext cx="13350240" cy="1229455"/>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Palisade shutdown tests on OpenAI models (2025)"/>
          <p:cNvSpPr txBox="1"/>
          <p:nvPr/>
        </p:nvSpPr>
        <p:spPr>
          <a:xfrm>
            <a:off x="777240" y="5228034"/>
            <a:ext cx="3200400" cy="713739"/>
          </a:xfrm>
          <a:prstGeom prst="rect">
            <a:avLst/>
          </a:prstGeom>
          <a:noFill/>
        </p:spPr>
        <p:txBody>
          <a:bodyPr wrap="none" lIns="0" rIns="0" tIns="0" bIns="0" anchor="t">
            <a:noAutofit/>
          </a:bodyPr>
          <a:lstStyle/>
          <a:p>
            <a:pPr algn="l">
              <a:lnSpc>
                <a:spcPts val="2540"/>
              </a:lnSpc>
              <a:spcBef>
                <a:spcPts val="0"/>
              </a:spcBef>
              <a:spcAft>
                <a:spcPts val="0"/>
              </a:spcAft>
            </a:pPr>
            <a:r>
              <a:rPr sz="2000" b="1">
                <a:solidFill>
                  <a:srgbClr val="4E7892"/>
                </a:solidFill>
                <a:latin typeface="Trebuchet MS"/>
              </a:rPr>
              <a:t>Palisade shutdown tests</a:t>
            </a:r>
            <a:br/>
            <a:r>
              <a:rPr sz="2000" b="1">
                <a:solidFill>
                  <a:srgbClr val="4E7892"/>
                </a:solidFill>
                <a:latin typeface="Trebuchet MS"/>
              </a:rPr>
              <a:t>on OpenAI models (2025)</a:t>
            </a:r>
          </a:p>
        </p:txBody>
      </p:sp>
      <p:sp>
        <p:nvSpPr>
          <p:cNvPr id="26" name="body: Public Inspect harness, Dockerfile and transcripts."/>
          <p:cNvSpPr txBox="1"/>
          <p:nvPr/>
        </p:nvSpPr>
        <p:spPr>
          <a:xfrm>
            <a:off x="4251960" y="5228034"/>
            <a:ext cx="434340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Public Inspect harness, Dockerfile</a:t>
            </a:r>
            <a:br/>
            <a:r>
              <a:rPr sz="2000" b="0">
                <a:solidFill>
                  <a:srgbClr val="293E46"/>
                </a:solidFill>
                <a:latin typeface="Trebuchet MS"/>
              </a:rPr>
              <a:t>and transcripts.</a:t>
            </a:r>
          </a:p>
        </p:txBody>
      </p:sp>
      <p:sp>
        <p:nvSpPr>
          <p:cNvPr id="27" name="body: A stronger replay candidate: pin code, prompts and environment; "/>
          <p:cNvSpPr txBox="1"/>
          <p:nvPr/>
        </p:nvSpPr>
        <p:spPr>
          <a:xfrm>
            <a:off x="8869680" y="5066744"/>
            <a:ext cx="4983480" cy="103632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A stronger replay candidate: pin code,</a:t>
            </a:r>
            <a:br/>
            <a:r>
              <a:rPr sz="2000" b="0">
                <a:solidFill>
                  <a:srgbClr val="293E46"/>
                </a:solidFill>
                <a:latin typeface="Trebuchet MS"/>
              </a:rPr>
              <a:t>prompts and environment; check</a:t>
            </a:r>
            <a:br/>
            <a:r>
              <a:rPr sz="2000" b="0">
                <a:solidFill>
                  <a:srgbClr val="293E46"/>
                </a:solidFill>
                <a:latin typeface="Trebuchet MS"/>
              </a:rPr>
              <a:t>historical model access.</a:t>
            </a:r>
          </a:p>
        </p:txBody>
      </p:sp>
      <p:sp>
        <p:nvSpPr>
          <p:cNvPr id="28" name="Rounded Rectangle 27"/>
          <p:cNvSpPr/>
          <p:nvPr/>
        </p:nvSpPr>
        <p:spPr>
          <a:xfrm>
            <a:off x="640080" y="6446520"/>
            <a:ext cx="13350240" cy="987552"/>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40994" y="6451001"/>
            <a:ext cx="13341736" cy="979962"/>
          </a:xfrm>
          <a:custGeom>
            <a:avLst/>
            <a:gdLst/>
            <a:ahLst/>
            <a:cxnLst/>
            <a:rect l="l" t="t" r="r" b="b"/>
            <a:pathLst>
              <a:path w="145907" h="10717">
                <a:moveTo>
                  <a:pt x="145792" y="5293"/>
                </a:moveTo>
                <a:lnTo>
                  <a:pt x="145907" y="7048"/>
                </a:lnTo>
                <a:lnTo>
                  <a:pt x="145622" y="7591"/>
                </a:lnTo>
                <a:lnTo>
                  <a:pt x="145618" y="7748"/>
                </a:lnTo>
                <a:lnTo>
                  <a:pt x="145287" y="8197"/>
                </a:lnTo>
                <a:lnTo>
                  <a:pt x="144971" y="8379"/>
                </a:lnTo>
                <a:lnTo>
                  <a:pt x="144376" y="8679"/>
                </a:lnTo>
                <a:lnTo>
                  <a:pt x="144019" y="8757"/>
                </a:lnTo>
                <a:lnTo>
                  <a:pt x="143251" y="8960"/>
                </a:lnTo>
                <a:lnTo>
                  <a:pt x="142572" y="9193"/>
                </a:lnTo>
                <a:lnTo>
                  <a:pt x="141744" y="9287"/>
                </a:lnTo>
                <a:lnTo>
                  <a:pt x="140923" y="9430"/>
                </a:lnTo>
                <a:lnTo>
                  <a:pt x="140041" y="9723"/>
                </a:lnTo>
                <a:lnTo>
                  <a:pt x="138819" y="9766"/>
                </a:lnTo>
                <a:lnTo>
                  <a:pt x="137687" y="9830"/>
                </a:lnTo>
                <a:lnTo>
                  <a:pt x="136399" y="10057"/>
                </a:lnTo>
                <a:lnTo>
                  <a:pt x="134947" y="10133"/>
                </a:lnTo>
                <a:lnTo>
                  <a:pt x="133532" y="10025"/>
                </a:lnTo>
                <a:lnTo>
                  <a:pt x="132004" y="10186"/>
                </a:lnTo>
                <a:lnTo>
                  <a:pt x="130053" y="10380"/>
                </a:lnTo>
                <a:lnTo>
                  <a:pt x="128266" y="10359"/>
                </a:lnTo>
                <a:lnTo>
                  <a:pt x="126222" y="10379"/>
                </a:lnTo>
                <a:lnTo>
                  <a:pt x="123749" y="10532"/>
                </a:lnTo>
                <a:lnTo>
                  <a:pt x="121428" y="10531"/>
                </a:lnTo>
                <a:lnTo>
                  <a:pt x="118657" y="10606"/>
                </a:lnTo>
                <a:lnTo>
                  <a:pt x="115333" y="10544"/>
                </a:lnTo>
                <a:lnTo>
                  <a:pt x="111952" y="10491"/>
                </a:lnTo>
                <a:lnTo>
                  <a:pt x="107636" y="10712"/>
                </a:lnTo>
                <a:lnTo>
                  <a:pt x="102588" y="10597"/>
                </a:lnTo>
                <a:lnTo>
                  <a:pt x="95359" y="10717"/>
                </a:lnTo>
                <a:lnTo>
                  <a:pt x="72885" y="10711"/>
                </a:lnTo>
                <a:lnTo>
                  <a:pt x="50502" y="10702"/>
                </a:lnTo>
                <a:lnTo>
                  <a:pt x="43434" y="10512"/>
                </a:lnTo>
                <a:lnTo>
                  <a:pt x="38249" y="10632"/>
                </a:lnTo>
                <a:lnTo>
                  <a:pt x="34151" y="10693"/>
                </a:lnTo>
                <a:lnTo>
                  <a:pt x="30469" y="10663"/>
                </a:lnTo>
                <a:lnTo>
                  <a:pt x="27451" y="10532"/>
                </a:lnTo>
                <a:lnTo>
                  <a:pt x="24597" y="10383"/>
                </a:lnTo>
                <a:lnTo>
                  <a:pt x="22228" y="10462"/>
                </a:lnTo>
                <a:lnTo>
                  <a:pt x="19927" y="10368"/>
                </a:lnTo>
                <a:lnTo>
                  <a:pt x="17734" y="10236"/>
                </a:lnTo>
                <a:lnTo>
                  <a:pt x="15711" y="10236"/>
                </a:lnTo>
                <a:lnTo>
                  <a:pt x="14103" y="10087"/>
                </a:lnTo>
                <a:lnTo>
                  <a:pt x="12388" y="10239"/>
                </a:lnTo>
                <a:lnTo>
                  <a:pt x="10913" y="10062"/>
                </a:lnTo>
                <a:lnTo>
                  <a:pt x="9664" y="9977"/>
                </a:lnTo>
                <a:lnTo>
                  <a:pt x="8277" y="9803"/>
                </a:lnTo>
                <a:lnTo>
                  <a:pt x="7130" y="9702"/>
                </a:lnTo>
                <a:lnTo>
                  <a:pt x="5929" y="9603"/>
                </a:lnTo>
                <a:lnTo>
                  <a:pt x="5146" y="9381"/>
                </a:lnTo>
                <a:lnTo>
                  <a:pt x="4270" y="9291"/>
                </a:lnTo>
                <a:lnTo>
                  <a:pt x="3391" y="9111"/>
                </a:lnTo>
                <a:lnTo>
                  <a:pt x="2670" y="8980"/>
                </a:lnTo>
                <a:lnTo>
                  <a:pt x="2018" y="8774"/>
                </a:lnTo>
                <a:lnTo>
                  <a:pt x="1449" y="8550"/>
                </a:lnTo>
                <a:lnTo>
                  <a:pt x="1034" y="8316"/>
                </a:lnTo>
                <a:lnTo>
                  <a:pt x="873" y="8141"/>
                </a:lnTo>
                <a:lnTo>
                  <a:pt x="527" y="7859"/>
                </a:lnTo>
                <a:lnTo>
                  <a:pt x="307" y="7603"/>
                </a:lnTo>
                <a:lnTo>
                  <a:pt x="265" y="7076"/>
                </a:lnTo>
                <a:lnTo>
                  <a:pt x="0" y="5389"/>
                </a:lnTo>
                <a:lnTo>
                  <a:pt x="224" y="3647"/>
                </a:lnTo>
                <a:lnTo>
                  <a:pt x="364" y="3159"/>
                </a:lnTo>
                <a:lnTo>
                  <a:pt x="534" y="2875"/>
                </a:lnTo>
                <a:lnTo>
                  <a:pt x="624" y="2616"/>
                </a:lnTo>
                <a:lnTo>
                  <a:pt x="1132" y="2170"/>
                </a:lnTo>
                <a:lnTo>
                  <a:pt x="1666" y="2072"/>
                </a:lnTo>
                <a:lnTo>
                  <a:pt x="1958" y="1757"/>
                </a:lnTo>
                <a:lnTo>
                  <a:pt x="2784" y="1605"/>
                </a:lnTo>
                <a:lnTo>
                  <a:pt x="3307" y="1556"/>
                </a:lnTo>
                <a:lnTo>
                  <a:pt x="4245" y="1368"/>
                </a:lnTo>
                <a:lnTo>
                  <a:pt x="5053" y="1210"/>
                </a:lnTo>
                <a:lnTo>
                  <a:pt x="6072" y="1111"/>
                </a:lnTo>
                <a:lnTo>
                  <a:pt x="7101" y="1076"/>
                </a:lnTo>
                <a:lnTo>
                  <a:pt x="8237" y="818"/>
                </a:lnTo>
                <a:lnTo>
                  <a:pt x="9545" y="679"/>
                </a:lnTo>
                <a:lnTo>
                  <a:pt x="11048" y="567"/>
                </a:lnTo>
                <a:lnTo>
                  <a:pt x="12361" y="697"/>
                </a:lnTo>
                <a:lnTo>
                  <a:pt x="14035" y="561"/>
                </a:lnTo>
                <a:lnTo>
                  <a:pt x="15840" y="368"/>
                </a:lnTo>
                <a:lnTo>
                  <a:pt x="17708" y="271"/>
                </a:lnTo>
                <a:lnTo>
                  <a:pt x="19822" y="401"/>
                </a:lnTo>
                <a:lnTo>
                  <a:pt x="22248" y="217"/>
                </a:lnTo>
                <a:lnTo>
                  <a:pt x="24607" y="170"/>
                </a:lnTo>
                <a:lnTo>
                  <a:pt x="27510" y="208"/>
                </a:lnTo>
                <a:lnTo>
                  <a:pt x="30520" y="210"/>
                </a:lnTo>
                <a:lnTo>
                  <a:pt x="34016" y="187"/>
                </a:lnTo>
                <a:lnTo>
                  <a:pt x="38247" y="0"/>
                </a:lnTo>
                <a:lnTo>
                  <a:pt x="43540" y="14"/>
                </a:lnTo>
                <a:lnTo>
                  <a:pt x="50574" y="96"/>
                </a:lnTo>
                <a:lnTo>
                  <a:pt x="72951" y="164"/>
                </a:lnTo>
                <a:lnTo>
                  <a:pt x="95427" y="76"/>
                </a:lnTo>
                <a:lnTo>
                  <a:pt x="102590" y="67"/>
                </a:lnTo>
                <a:lnTo>
                  <a:pt x="107649" y="137"/>
                </a:lnTo>
                <a:lnTo>
                  <a:pt x="111848" y="20"/>
                </a:lnTo>
                <a:lnTo>
                  <a:pt x="115366" y="243"/>
                </a:lnTo>
                <a:lnTo>
                  <a:pt x="118460" y="162"/>
                </a:lnTo>
                <a:lnTo>
                  <a:pt x="121242" y="141"/>
                </a:lnTo>
                <a:lnTo>
                  <a:pt x="123849" y="331"/>
                </a:lnTo>
                <a:lnTo>
                  <a:pt x="126141" y="402"/>
                </a:lnTo>
                <a:lnTo>
                  <a:pt x="128102" y="387"/>
                </a:lnTo>
                <a:lnTo>
                  <a:pt x="130249" y="433"/>
                </a:lnTo>
                <a:lnTo>
                  <a:pt x="131979" y="414"/>
                </a:lnTo>
                <a:lnTo>
                  <a:pt x="133518" y="585"/>
                </a:lnTo>
                <a:lnTo>
                  <a:pt x="134957" y="607"/>
                </a:lnTo>
                <a:lnTo>
                  <a:pt x="136503" y="745"/>
                </a:lnTo>
                <a:lnTo>
                  <a:pt x="137747" y="763"/>
                </a:lnTo>
                <a:lnTo>
                  <a:pt x="138928" y="857"/>
                </a:lnTo>
                <a:lnTo>
                  <a:pt x="139825" y="983"/>
                </a:lnTo>
                <a:lnTo>
                  <a:pt x="140908" y="1284"/>
                </a:lnTo>
                <a:lnTo>
                  <a:pt x="141854" y="1234"/>
                </a:lnTo>
                <a:lnTo>
                  <a:pt x="142519" y="1491"/>
                </a:lnTo>
                <a:lnTo>
                  <a:pt x="143293" y="1758"/>
                </a:lnTo>
                <a:lnTo>
                  <a:pt x="143898" y="1788"/>
                </a:lnTo>
                <a:lnTo>
                  <a:pt x="144325" y="1930"/>
                </a:lnTo>
                <a:lnTo>
                  <a:pt x="144737" y="2386"/>
                </a:lnTo>
                <a:lnTo>
                  <a:pt x="145211" y="2477"/>
                </a:lnTo>
                <a:lnTo>
                  <a:pt x="145393" y="2849"/>
                </a:lnTo>
                <a:lnTo>
                  <a:pt x="145765" y="3152"/>
                </a:lnTo>
                <a:lnTo>
                  <a:pt x="145795" y="3740"/>
                </a:lnTo>
                <a:lnTo>
                  <a:pt x="145885" y="5262"/>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41452" y="6452006"/>
            <a:ext cx="13342010" cy="981243"/>
          </a:xfrm>
          <a:custGeom>
            <a:avLst/>
            <a:gdLst/>
            <a:ahLst/>
            <a:cxnLst/>
            <a:rect l="l" t="t" r="r" b="b"/>
            <a:pathLst>
              <a:path w="145910" h="10731">
                <a:moveTo>
                  <a:pt x="145851" y="5347"/>
                </a:moveTo>
                <a:lnTo>
                  <a:pt x="145878" y="6933"/>
                </a:lnTo>
                <a:lnTo>
                  <a:pt x="145583" y="7561"/>
                </a:lnTo>
                <a:lnTo>
                  <a:pt x="145627" y="7817"/>
                </a:lnTo>
                <a:lnTo>
                  <a:pt x="145150" y="8079"/>
                </a:lnTo>
                <a:lnTo>
                  <a:pt x="144789" y="8395"/>
                </a:lnTo>
                <a:lnTo>
                  <a:pt x="144337" y="8754"/>
                </a:lnTo>
                <a:lnTo>
                  <a:pt x="143861" y="8917"/>
                </a:lnTo>
                <a:lnTo>
                  <a:pt x="143379" y="9103"/>
                </a:lnTo>
                <a:lnTo>
                  <a:pt x="142579" y="9250"/>
                </a:lnTo>
                <a:lnTo>
                  <a:pt x="141857" y="9262"/>
                </a:lnTo>
                <a:lnTo>
                  <a:pt x="140846" y="9550"/>
                </a:lnTo>
                <a:lnTo>
                  <a:pt x="139908" y="9644"/>
                </a:lnTo>
                <a:lnTo>
                  <a:pt x="138803" y="9786"/>
                </a:lnTo>
                <a:lnTo>
                  <a:pt x="137826" y="9829"/>
                </a:lnTo>
                <a:lnTo>
                  <a:pt x="136382" y="9993"/>
                </a:lnTo>
                <a:lnTo>
                  <a:pt x="134944" y="9958"/>
                </a:lnTo>
                <a:lnTo>
                  <a:pt x="133547" y="10025"/>
                </a:lnTo>
                <a:lnTo>
                  <a:pt x="131852" y="10194"/>
                </a:lnTo>
                <a:lnTo>
                  <a:pt x="130172" y="10329"/>
                </a:lnTo>
                <a:lnTo>
                  <a:pt x="128170" y="10384"/>
                </a:lnTo>
                <a:lnTo>
                  <a:pt x="126034" y="10432"/>
                </a:lnTo>
                <a:lnTo>
                  <a:pt x="123840" y="10547"/>
                </a:lnTo>
                <a:lnTo>
                  <a:pt x="121205" y="10505"/>
                </a:lnTo>
                <a:lnTo>
                  <a:pt x="118476" y="10488"/>
                </a:lnTo>
                <a:lnTo>
                  <a:pt x="115375" y="10484"/>
                </a:lnTo>
                <a:lnTo>
                  <a:pt x="111982" y="10638"/>
                </a:lnTo>
                <a:lnTo>
                  <a:pt x="107773" y="10625"/>
                </a:lnTo>
                <a:lnTo>
                  <a:pt x="102390" y="10641"/>
                </a:lnTo>
                <a:lnTo>
                  <a:pt x="95320" y="10673"/>
                </a:lnTo>
                <a:lnTo>
                  <a:pt x="72923" y="10674"/>
                </a:lnTo>
                <a:lnTo>
                  <a:pt x="50551" y="10731"/>
                </a:lnTo>
                <a:lnTo>
                  <a:pt x="43521" y="10635"/>
                </a:lnTo>
                <a:lnTo>
                  <a:pt x="38218" y="10680"/>
                </a:lnTo>
                <a:lnTo>
                  <a:pt x="34228" y="10661"/>
                </a:lnTo>
                <a:lnTo>
                  <a:pt x="30423" y="10529"/>
                </a:lnTo>
                <a:lnTo>
                  <a:pt x="27523" y="10596"/>
                </a:lnTo>
                <a:lnTo>
                  <a:pt x="24763" y="10521"/>
                </a:lnTo>
                <a:lnTo>
                  <a:pt x="22204" y="10542"/>
                </a:lnTo>
                <a:lnTo>
                  <a:pt x="19735" y="10328"/>
                </a:lnTo>
                <a:lnTo>
                  <a:pt x="17702" y="10440"/>
                </a:lnTo>
                <a:lnTo>
                  <a:pt x="15763" y="10188"/>
                </a:lnTo>
                <a:lnTo>
                  <a:pt x="14131" y="10310"/>
                </a:lnTo>
                <a:lnTo>
                  <a:pt x="12326" y="10000"/>
                </a:lnTo>
                <a:lnTo>
                  <a:pt x="10831" y="10049"/>
                </a:lnTo>
                <a:lnTo>
                  <a:pt x="9649" y="9858"/>
                </a:lnTo>
                <a:lnTo>
                  <a:pt x="8151" y="9854"/>
                </a:lnTo>
                <a:lnTo>
                  <a:pt x="7226" y="9812"/>
                </a:lnTo>
                <a:lnTo>
                  <a:pt x="6065" y="9609"/>
                </a:lnTo>
                <a:lnTo>
                  <a:pt x="5109" y="9407"/>
                </a:lnTo>
                <a:lnTo>
                  <a:pt x="4253" y="9276"/>
                </a:lnTo>
                <a:lnTo>
                  <a:pt x="3335" y="9223"/>
                </a:lnTo>
                <a:lnTo>
                  <a:pt x="2720" y="8914"/>
                </a:lnTo>
                <a:lnTo>
                  <a:pt x="2095" y="8807"/>
                </a:lnTo>
                <a:lnTo>
                  <a:pt x="1513" y="8669"/>
                </a:lnTo>
                <a:lnTo>
                  <a:pt x="1162" y="8470"/>
                </a:lnTo>
                <a:lnTo>
                  <a:pt x="874" y="8242"/>
                </a:lnTo>
                <a:lnTo>
                  <a:pt x="546" y="7770"/>
                </a:lnTo>
                <a:lnTo>
                  <a:pt x="364" y="7473"/>
                </a:lnTo>
                <a:lnTo>
                  <a:pt x="76" y="6892"/>
                </a:lnTo>
                <a:lnTo>
                  <a:pt x="0" y="5447"/>
                </a:lnTo>
                <a:lnTo>
                  <a:pt x="39" y="3712"/>
                </a:lnTo>
                <a:lnTo>
                  <a:pt x="254" y="3181"/>
                </a:lnTo>
                <a:lnTo>
                  <a:pt x="434" y="2839"/>
                </a:lnTo>
                <a:lnTo>
                  <a:pt x="686" y="2613"/>
                </a:lnTo>
                <a:lnTo>
                  <a:pt x="1026" y="2230"/>
                </a:lnTo>
                <a:lnTo>
                  <a:pt x="1621" y="2088"/>
                </a:lnTo>
                <a:lnTo>
                  <a:pt x="2181" y="1834"/>
                </a:lnTo>
                <a:lnTo>
                  <a:pt x="2797" y="1673"/>
                </a:lnTo>
                <a:lnTo>
                  <a:pt x="3380" y="1535"/>
                </a:lnTo>
                <a:lnTo>
                  <a:pt x="4052" y="1250"/>
                </a:lnTo>
                <a:lnTo>
                  <a:pt x="5170" y="1122"/>
                </a:lnTo>
                <a:lnTo>
                  <a:pt x="6129" y="1151"/>
                </a:lnTo>
                <a:lnTo>
                  <a:pt x="7204" y="860"/>
                </a:lnTo>
                <a:lnTo>
                  <a:pt x="8259" y="782"/>
                </a:lnTo>
                <a:lnTo>
                  <a:pt x="9472" y="653"/>
                </a:lnTo>
                <a:lnTo>
                  <a:pt x="10875" y="714"/>
                </a:lnTo>
                <a:lnTo>
                  <a:pt x="12329" y="507"/>
                </a:lnTo>
                <a:lnTo>
                  <a:pt x="14139" y="555"/>
                </a:lnTo>
                <a:lnTo>
                  <a:pt x="15959" y="424"/>
                </a:lnTo>
                <a:lnTo>
                  <a:pt x="17697" y="305"/>
                </a:lnTo>
                <a:lnTo>
                  <a:pt x="19956" y="206"/>
                </a:lnTo>
                <a:lnTo>
                  <a:pt x="22139" y="166"/>
                </a:lnTo>
                <a:lnTo>
                  <a:pt x="24732" y="206"/>
                </a:lnTo>
                <a:lnTo>
                  <a:pt x="27409" y="194"/>
                </a:lnTo>
                <a:lnTo>
                  <a:pt x="30416" y="168"/>
                </a:lnTo>
                <a:lnTo>
                  <a:pt x="34180" y="125"/>
                </a:lnTo>
                <a:lnTo>
                  <a:pt x="38155" y="53"/>
                </a:lnTo>
                <a:lnTo>
                  <a:pt x="43402" y="132"/>
                </a:lnTo>
                <a:lnTo>
                  <a:pt x="50549" y="143"/>
                </a:lnTo>
                <a:lnTo>
                  <a:pt x="72994" y="42"/>
                </a:lnTo>
                <a:lnTo>
                  <a:pt x="95417" y="81"/>
                </a:lnTo>
                <a:lnTo>
                  <a:pt x="102467" y="25"/>
                </a:lnTo>
                <a:lnTo>
                  <a:pt x="107712" y="0"/>
                </a:lnTo>
                <a:lnTo>
                  <a:pt x="111974" y="215"/>
                </a:lnTo>
                <a:lnTo>
                  <a:pt x="115558" y="238"/>
                </a:lnTo>
                <a:lnTo>
                  <a:pt x="118600" y="66"/>
                </a:lnTo>
                <a:lnTo>
                  <a:pt x="121210" y="249"/>
                </a:lnTo>
                <a:lnTo>
                  <a:pt x="123802" y="320"/>
                </a:lnTo>
                <a:lnTo>
                  <a:pt x="126169" y="211"/>
                </a:lnTo>
                <a:lnTo>
                  <a:pt x="128224" y="313"/>
                </a:lnTo>
                <a:lnTo>
                  <a:pt x="130065" y="373"/>
                </a:lnTo>
                <a:lnTo>
                  <a:pt x="131973" y="516"/>
                </a:lnTo>
                <a:lnTo>
                  <a:pt x="133606" y="574"/>
                </a:lnTo>
                <a:lnTo>
                  <a:pt x="135077" y="594"/>
                </a:lnTo>
                <a:lnTo>
                  <a:pt x="136423" y="722"/>
                </a:lnTo>
                <a:lnTo>
                  <a:pt x="137619" y="777"/>
                </a:lnTo>
                <a:lnTo>
                  <a:pt x="138904" y="1039"/>
                </a:lnTo>
                <a:lnTo>
                  <a:pt x="139877" y="991"/>
                </a:lnTo>
                <a:lnTo>
                  <a:pt x="140791" y="1127"/>
                </a:lnTo>
                <a:lnTo>
                  <a:pt x="141766" y="1410"/>
                </a:lnTo>
                <a:lnTo>
                  <a:pt x="142603" y="1405"/>
                </a:lnTo>
                <a:lnTo>
                  <a:pt x="143360" y="1757"/>
                </a:lnTo>
                <a:lnTo>
                  <a:pt x="143985" y="1829"/>
                </a:lnTo>
                <a:lnTo>
                  <a:pt x="144452" y="2015"/>
                </a:lnTo>
                <a:lnTo>
                  <a:pt x="144901" y="2280"/>
                </a:lnTo>
                <a:lnTo>
                  <a:pt x="145149" y="2552"/>
                </a:lnTo>
                <a:lnTo>
                  <a:pt x="145502" y="2734"/>
                </a:lnTo>
                <a:lnTo>
                  <a:pt x="145737" y="3111"/>
                </a:lnTo>
                <a:lnTo>
                  <a:pt x="145910" y="3709"/>
                </a:lnTo>
                <a:lnTo>
                  <a:pt x="145904" y="5328"/>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13742609" y="7197882"/>
            <a:ext cx="178125" cy="79278"/>
          </a:xfrm>
          <a:custGeom>
            <a:avLst/>
            <a:gdLst/>
            <a:ahLst/>
            <a:cxnLst/>
            <a:rect l="l" t="t" r="r" b="b"/>
            <a:pathLst>
              <a:path w="1948" h="867">
                <a:moveTo>
                  <a:pt x="1948" y="0"/>
                </a:moveTo>
                <a:lnTo>
                  <a:pt x="1585" y="258"/>
                </a:lnTo>
                <a:lnTo>
                  <a:pt x="1141" y="484"/>
                </a:lnTo>
                <a:lnTo>
                  <a:pt x="613" y="685"/>
                </a:lnTo>
                <a:lnTo>
                  <a:pt x="0" y="86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11735775" y="7390272"/>
            <a:ext cx="805678" cy="19751"/>
          </a:xfrm>
          <a:custGeom>
            <a:avLst/>
            <a:gdLst/>
            <a:ahLst/>
            <a:cxnLst/>
            <a:rect l="l" t="t" r="r" b="b"/>
            <a:pathLst>
              <a:path w="8811" h="216">
                <a:moveTo>
                  <a:pt x="8811" y="0"/>
                </a:moveTo>
                <a:lnTo>
                  <a:pt x="6889" y="64"/>
                </a:lnTo>
                <a:lnTo>
                  <a:pt x="4797" y="121"/>
                </a:lnTo>
                <a:lnTo>
                  <a:pt x="2511" y="171"/>
                </a:lnTo>
                <a:lnTo>
                  <a:pt x="0" y="216"/>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665019" y="7405908"/>
            <a:ext cx="1094720" cy="12984"/>
          </a:xfrm>
          <a:custGeom>
            <a:avLst/>
            <a:gdLst/>
            <a:ahLst/>
            <a:cxnLst/>
            <a:rect l="l" t="t" r="r" b="b"/>
            <a:pathLst>
              <a:path w="11972" h="142">
                <a:moveTo>
                  <a:pt x="11972" y="142"/>
                </a:moveTo>
                <a:lnTo>
                  <a:pt x="8412" y="115"/>
                </a:lnTo>
                <a:lnTo>
                  <a:pt x="5293" y="83"/>
                </a:lnTo>
                <a:lnTo>
                  <a:pt x="2511" y="45"/>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831738" y="7260519"/>
            <a:ext cx="272217" cy="58430"/>
          </a:xfrm>
          <a:custGeom>
            <a:avLst/>
            <a:gdLst/>
            <a:ahLst/>
            <a:cxnLst/>
            <a:rect l="l" t="t" r="r" b="b"/>
            <a:pathLst>
              <a:path w="2977" h="639">
                <a:moveTo>
                  <a:pt x="2977" y="639"/>
                </a:moveTo>
                <a:lnTo>
                  <a:pt x="2099" y="499"/>
                </a:lnTo>
                <a:lnTo>
                  <a:pt x="1312" y="348"/>
                </a:lnTo>
                <a:lnTo>
                  <a:pt x="613" y="182"/>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709666" y="6603431"/>
            <a:ext cx="178125" cy="79278"/>
          </a:xfrm>
          <a:custGeom>
            <a:avLst/>
            <a:gdLst/>
            <a:ahLst/>
            <a:cxnLst/>
            <a:rect l="l" t="t" r="r" b="b"/>
            <a:pathLst>
              <a:path w="1948" h="867">
                <a:moveTo>
                  <a:pt x="0" y="867"/>
                </a:moveTo>
                <a:lnTo>
                  <a:pt x="363" y="609"/>
                </a:lnTo>
                <a:lnTo>
                  <a:pt x="807" y="383"/>
                </a:lnTo>
                <a:lnTo>
                  <a:pt x="1335" y="182"/>
                </a:lnTo>
                <a:lnTo>
                  <a:pt x="1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088947" y="6470569"/>
            <a:ext cx="805678" cy="19751"/>
          </a:xfrm>
          <a:custGeom>
            <a:avLst/>
            <a:gdLst/>
            <a:ahLst/>
            <a:cxnLst/>
            <a:rect l="l" t="t" r="r" b="b"/>
            <a:pathLst>
              <a:path w="8811" h="216">
                <a:moveTo>
                  <a:pt x="0" y="216"/>
                </a:moveTo>
                <a:lnTo>
                  <a:pt x="1922" y="152"/>
                </a:lnTo>
                <a:lnTo>
                  <a:pt x="4014" y="95"/>
                </a:lnTo>
                <a:lnTo>
                  <a:pt x="6300" y="45"/>
                </a:lnTo>
                <a:lnTo>
                  <a:pt x="8811"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10870662" y="6461699"/>
            <a:ext cx="1094720" cy="12984"/>
          </a:xfrm>
          <a:custGeom>
            <a:avLst/>
            <a:gdLst/>
            <a:ahLst/>
            <a:cxnLst/>
            <a:rect l="l" t="t" r="r" b="b"/>
            <a:pathLst>
              <a:path w="11972" h="142">
                <a:moveTo>
                  <a:pt x="0" y="0"/>
                </a:moveTo>
                <a:lnTo>
                  <a:pt x="3560" y="27"/>
                </a:lnTo>
                <a:lnTo>
                  <a:pt x="6679" y="59"/>
                </a:lnTo>
                <a:lnTo>
                  <a:pt x="9461" y="97"/>
                </a:lnTo>
                <a:lnTo>
                  <a:pt x="11972" y="14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13526445" y="6561643"/>
            <a:ext cx="272217" cy="58430"/>
          </a:xfrm>
          <a:custGeom>
            <a:avLst/>
            <a:gdLst/>
            <a:ahLst/>
            <a:cxnLst/>
            <a:rect l="l" t="t" r="r" b="b"/>
            <a:pathLst>
              <a:path w="2977" h="639">
                <a:moveTo>
                  <a:pt x="0" y="0"/>
                </a:moveTo>
                <a:lnTo>
                  <a:pt x="878" y="140"/>
                </a:lnTo>
                <a:lnTo>
                  <a:pt x="1665" y="291"/>
                </a:lnTo>
                <a:lnTo>
                  <a:pt x="2364" y="457"/>
                </a:lnTo>
                <a:lnTo>
                  <a:pt x="2977" y="63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ody: Disclosure is partial: a published prompt or trace helps, but do"/>
          <p:cNvSpPr txBox="1"/>
          <p:nvPr/>
        </p:nvSpPr>
        <p:spPr>
          <a:xfrm>
            <a:off x="914400" y="6587458"/>
            <a:ext cx="12801600" cy="705675"/>
          </a:xfrm>
          <a:prstGeom prst="rect">
            <a:avLst/>
          </a:prstGeom>
          <a:noFill/>
        </p:spPr>
        <p:txBody>
          <a:bodyPr wrap="none" lIns="0" rIns="0" tIns="0" bIns="0" anchor="t">
            <a:noAutofit/>
          </a:bodyPr>
          <a:lstStyle/>
          <a:p>
            <a:pPr algn="ctr">
              <a:lnSpc>
                <a:spcPts val="2508"/>
              </a:lnSpc>
              <a:spcBef>
                <a:spcPts val="0"/>
              </a:spcBef>
              <a:spcAft>
                <a:spcPts val="0"/>
              </a:spcAft>
            </a:pPr>
            <a:r>
              <a:rPr sz="1975" b="0">
                <a:solidFill>
                  <a:srgbClr val="293E46"/>
                </a:solidFill>
                <a:latin typeface="Trebuchet MS"/>
              </a:rPr>
              <a:t>Disclosure is partial: a published prompt or trace helps, but does not establish that the full evaluator can be</a:t>
            </a:r>
            <a:br/>
            <a:r>
              <a:rPr sz="1975" b="0">
                <a:solidFill>
                  <a:srgbClr val="293E46"/>
                </a:solidFill>
                <a:latin typeface="Trebuchet MS"/>
              </a:rPr>
              <a:t>reconstructed.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7 · REPLAY FEASIBILITY"/>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7 · REPLAY FEASIBILITY</a:t>
            </a:r>
          </a:p>
        </p:txBody>
      </p:sp>
      <p:sp>
        <p:nvSpPr>
          <p:cNvPr id="3" name="title: Three replay modes support different claim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Three replay modes support different claims</a:t>
            </a:r>
          </a:p>
        </p:txBody>
      </p:sp>
      <p:sp>
        <p:nvSpPr>
          <p:cNvPr id="4" name="subtitle: Choose the execution mode separately from evidence grade and his"/>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Choose the execution mode separately from evidence grade and historical fidelity</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33"/>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33</a:t>
            </a:r>
          </a:p>
        </p:txBody>
      </p:sp>
      <p:sp>
        <p:nvSpPr>
          <p:cNvPr id="12" name="Rounded Rectangle 11"/>
          <p:cNvSpPr/>
          <p:nvPr/>
        </p:nvSpPr>
        <p:spPr>
          <a:xfrm>
            <a:off x="640080" y="1783080"/>
            <a:ext cx="4242816" cy="4187952"/>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6572" y="1793047"/>
            <a:ext cx="4226540" cy="4167744"/>
          </a:xfrm>
          <a:custGeom>
            <a:avLst/>
            <a:gdLst/>
            <a:ahLst/>
            <a:cxnLst/>
            <a:rect l="l" t="t" r="r" b="b"/>
            <a:pathLst>
              <a:path w="46222" h="45579">
                <a:moveTo>
                  <a:pt x="46164" y="22681"/>
                </a:moveTo>
                <a:lnTo>
                  <a:pt x="46222" y="29865"/>
                </a:lnTo>
                <a:lnTo>
                  <a:pt x="46178" y="32064"/>
                </a:lnTo>
                <a:lnTo>
                  <a:pt x="46199" y="33733"/>
                </a:lnTo>
                <a:lnTo>
                  <a:pt x="46035" y="34853"/>
                </a:lnTo>
                <a:lnTo>
                  <a:pt x="45995" y="36093"/>
                </a:lnTo>
                <a:lnTo>
                  <a:pt x="45701" y="37069"/>
                </a:lnTo>
                <a:lnTo>
                  <a:pt x="45573" y="37839"/>
                </a:lnTo>
                <a:lnTo>
                  <a:pt x="45491" y="38750"/>
                </a:lnTo>
                <a:lnTo>
                  <a:pt x="45129" y="39292"/>
                </a:lnTo>
                <a:lnTo>
                  <a:pt x="45043" y="40101"/>
                </a:lnTo>
                <a:lnTo>
                  <a:pt x="44563" y="40754"/>
                </a:lnTo>
                <a:lnTo>
                  <a:pt x="44349" y="41277"/>
                </a:lnTo>
                <a:lnTo>
                  <a:pt x="44068" y="41759"/>
                </a:lnTo>
                <a:lnTo>
                  <a:pt x="43707" y="42276"/>
                </a:lnTo>
                <a:lnTo>
                  <a:pt x="43277" y="42518"/>
                </a:lnTo>
                <a:lnTo>
                  <a:pt x="42775" y="42907"/>
                </a:lnTo>
                <a:lnTo>
                  <a:pt x="42177" y="43324"/>
                </a:lnTo>
                <a:lnTo>
                  <a:pt x="41886" y="43659"/>
                </a:lnTo>
                <a:lnTo>
                  <a:pt x="41275" y="44034"/>
                </a:lnTo>
                <a:lnTo>
                  <a:pt x="40538" y="44336"/>
                </a:lnTo>
                <a:lnTo>
                  <a:pt x="39906" y="44650"/>
                </a:lnTo>
                <a:lnTo>
                  <a:pt x="39108" y="44703"/>
                </a:lnTo>
                <a:lnTo>
                  <a:pt x="38489" y="44914"/>
                </a:lnTo>
                <a:lnTo>
                  <a:pt x="37483" y="45084"/>
                </a:lnTo>
                <a:lnTo>
                  <a:pt x="36639" y="45330"/>
                </a:lnTo>
                <a:lnTo>
                  <a:pt x="35487" y="45373"/>
                </a:lnTo>
                <a:lnTo>
                  <a:pt x="34184" y="45375"/>
                </a:lnTo>
                <a:lnTo>
                  <a:pt x="32366" y="45432"/>
                </a:lnTo>
                <a:lnTo>
                  <a:pt x="30164" y="45463"/>
                </a:lnTo>
                <a:lnTo>
                  <a:pt x="23080" y="45503"/>
                </a:lnTo>
                <a:lnTo>
                  <a:pt x="16024" y="45544"/>
                </a:lnTo>
                <a:lnTo>
                  <a:pt x="13833" y="45579"/>
                </a:lnTo>
                <a:lnTo>
                  <a:pt x="12039" y="45508"/>
                </a:lnTo>
                <a:lnTo>
                  <a:pt x="10808" y="45385"/>
                </a:lnTo>
                <a:lnTo>
                  <a:pt x="9723" y="45307"/>
                </a:lnTo>
                <a:lnTo>
                  <a:pt x="8819" y="45201"/>
                </a:lnTo>
                <a:lnTo>
                  <a:pt x="7826" y="45032"/>
                </a:lnTo>
                <a:lnTo>
                  <a:pt x="7059" y="44708"/>
                </a:lnTo>
                <a:lnTo>
                  <a:pt x="6328" y="44626"/>
                </a:lnTo>
                <a:lnTo>
                  <a:pt x="5717" y="44406"/>
                </a:lnTo>
                <a:lnTo>
                  <a:pt x="4963" y="43988"/>
                </a:lnTo>
                <a:lnTo>
                  <a:pt x="4495" y="43807"/>
                </a:lnTo>
                <a:lnTo>
                  <a:pt x="3905" y="43484"/>
                </a:lnTo>
                <a:lnTo>
                  <a:pt x="3355" y="42980"/>
                </a:lnTo>
                <a:lnTo>
                  <a:pt x="2971" y="42594"/>
                </a:lnTo>
                <a:lnTo>
                  <a:pt x="2690" y="42104"/>
                </a:lnTo>
                <a:lnTo>
                  <a:pt x="2146" y="41749"/>
                </a:lnTo>
                <a:lnTo>
                  <a:pt x="2053" y="41262"/>
                </a:lnTo>
                <a:lnTo>
                  <a:pt x="1555" y="40753"/>
                </a:lnTo>
                <a:lnTo>
                  <a:pt x="1279" y="40092"/>
                </a:lnTo>
                <a:lnTo>
                  <a:pt x="1051" y="39298"/>
                </a:lnTo>
                <a:lnTo>
                  <a:pt x="806" y="38611"/>
                </a:lnTo>
                <a:lnTo>
                  <a:pt x="592" y="37834"/>
                </a:lnTo>
                <a:lnTo>
                  <a:pt x="605" y="36971"/>
                </a:lnTo>
                <a:lnTo>
                  <a:pt x="328" y="36119"/>
                </a:lnTo>
                <a:lnTo>
                  <a:pt x="141" y="34902"/>
                </a:lnTo>
                <a:lnTo>
                  <a:pt x="131" y="33563"/>
                </a:lnTo>
                <a:lnTo>
                  <a:pt x="112" y="31974"/>
                </a:lnTo>
                <a:lnTo>
                  <a:pt x="169" y="29754"/>
                </a:lnTo>
                <a:lnTo>
                  <a:pt x="88" y="22899"/>
                </a:lnTo>
                <a:lnTo>
                  <a:pt x="161" y="15738"/>
                </a:lnTo>
                <a:lnTo>
                  <a:pt x="0" y="13619"/>
                </a:lnTo>
                <a:lnTo>
                  <a:pt x="114" y="12009"/>
                </a:lnTo>
                <a:lnTo>
                  <a:pt x="336" y="10589"/>
                </a:lnTo>
                <a:lnTo>
                  <a:pt x="339" y="9516"/>
                </a:lnTo>
                <a:lnTo>
                  <a:pt x="524" y="8455"/>
                </a:lnTo>
                <a:lnTo>
                  <a:pt x="549" y="7619"/>
                </a:lnTo>
                <a:lnTo>
                  <a:pt x="922" y="6824"/>
                </a:lnTo>
                <a:lnTo>
                  <a:pt x="1149" y="6189"/>
                </a:lnTo>
                <a:lnTo>
                  <a:pt x="1357" y="5423"/>
                </a:lnTo>
                <a:lnTo>
                  <a:pt x="1739" y="4899"/>
                </a:lnTo>
                <a:lnTo>
                  <a:pt x="1856" y="4278"/>
                </a:lnTo>
                <a:lnTo>
                  <a:pt x="2393" y="3972"/>
                </a:lnTo>
                <a:lnTo>
                  <a:pt x="2734" y="3278"/>
                </a:lnTo>
                <a:lnTo>
                  <a:pt x="3059" y="2938"/>
                </a:lnTo>
                <a:lnTo>
                  <a:pt x="3440" y="2523"/>
                </a:lnTo>
                <a:lnTo>
                  <a:pt x="4037" y="2224"/>
                </a:lnTo>
                <a:lnTo>
                  <a:pt x="4502" y="1870"/>
                </a:lnTo>
                <a:lnTo>
                  <a:pt x="5030" y="1496"/>
                </a:lnTo>
                <a:lnTo>
                  <a:pt x="5520" y="1217"/>
                </a:lnTo>
                <a:lnTo>
                  <a:pt x="6344" y="919"/>
                </a:lnTo>
                <a:lnTo>
                  <a:pt x="7038" y="764"/>
                </a:lnTo>
                <a:lnTo>
                  <a:pt x="7760" y="516"/>
                </a:lnTo>
                <a:lnTo>
                  <a:pt x="8605" y="515"/>
                </a:lnTo>
                <a:lnTo>
                  <a:pt x="9696" y="338"/>
                </a:lnTo>
                <a:lnTo>
                  <a:pt x="10714" y="183"/>
                </a:lnTo>
                <a:lnTo>
                  <a:pt x="12239" y="120"/>
                </a:lnTo>
                <a:lnTo>
                  <a:pt x="13798" y="0"/>
                </a:lnTo>
                <a:lnTo>
                  <a:pt x="16100" y="21"/>
                </a:lnTo>
                <a:lnTo>
                  <a:pt x="23000" y="67"/>
                </a:lnTo>
                <a:lnTo>
                  <a:pt x="30227" y="88"/>
                </a:lnTo>
                <a:lnTo>
                  <a:pt x="32577" y="50"/>
                </a:lnTo>
                <a:lnTo>
                  <a:pt x="34075" y="204"/>
                </a:lnTo>
                <a:lnTo>
                  <a:pt x="35415" y="326"/>
                </a:lnTo>
                <a:lnTo>
                  <a:pt x="36460" y="357"/>
                </a:lnTo>
                <a:lnTo>
                  <a:pt x="37539" y="496"/>
                </a:lnTo>
                <a:lnTo>
                  <a:pt x="38414" y="617"/>
                </a:lnTo>
                <a:lnTo>
                  <a:pt x="39161" y="818"/>
                </a:lnTo>
                <a:lnTo>
                  <a:pt x="40036" y="1131"/>
                </a:lnTo>
                <a:lnTo>
                  <a:pt x="40529" y="1357"/>
                </a:lnTo>
                <a:lnTo>
                  <a:pt x="41323" y="1666"/>
                </a:lnTo>
                <a:lnTo>
                  <a:pt x="41754" y="1858"/>
                </a:lnTo>
                <a:lnTo>
                  <a:pt x="42278" y="2144"/>
                </a:lnTo>
                <a:lnTo>
                  <a:pt x="42837" y="2644"/>
                </a:lnTo>
                <a:lnTo>
                  <a:pt x="43344" y="2979"/>
                </a:lnTo>
                <a:lnTo>
                  <a:pt x="43590" y="3500"/>
                </a:lnTo>
                <a:lnTo>
                  <a:pt x="44063" y="3849"/>
                </a:lnTo>
                <a:lnTo>
                  <a:pt x="44426" y="4324"/>
                </a:lnTo>
                <a:lnTo>
                  <a:pt x="44740" y="5033"/>
                </a:lnTo>
                <a:lnTo>
                  <a:pt x="44994" y="5530"/>
                </a:lnTo>
                <a:lnTo>
                  <a:pt x="45125" y="6199"/>
                </a:lnTo>
                <a:lnTo>
                  <a:pt x="45277" y="6833"/>
                </a:lnTo>
                <a:lnTo>
                  <a:pt x="45639" y="7727"/>
                </a:lnTo>
                <a:lnTo>
                  <a:pt x="45666" y="8562"/>
                </a:lnTo>
                <a:lnTo>
                  <a:pt x="45892" y="9437"/>
                </a:lnTo>
                <a:lnTo>
                  <a:pt x="46036" y="10593"/>
                </a:lnTo>
                <a:lnTo>
                  <a:pt x="45969" y="12022"/>
                </a:lnTo>
                <a:lnTo>
                  <a:pt x="46033" y="13487"/>
                </a:lnTo>
                <a:lnTo>
                  <a:pt x="46178" y="15720"/>
                </a:lnTo>
                <a:lnTo>
                  <a:pt x="46081" y="22898"/>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44835" y="1789115"/>
            <a:ext cx="4234495" cy="4176796"/>
          </a:xfrm>
          <a:custGeom>
            <a:avLst/>
            <a:gdLst/>
            <a:ahLst/>
            <a:cxnLst/>
            <a:rect l="l" t="t" r="r" b="b"/>
            <a:pathLst>
              <a:path w="46309" h="45678">
                <a:moveTo>
                  <a:pt x="46118" y="22725"/>
                </a:moveTo>
                <a:lnTo>
                  <a:pt x="46244" y="29906"/>
                </a:lnTo>
                <a:lnTo>
                  <a:pt x="46055" y="31959"/>
                </a:lnTo>
                <a:lnTo>
                  <a:pt x="46065" y="33724"/>
                </a:lnTo>
                <a:lnTo>
                  <a:pt x="45958" y="35051"/>
                </a:lnTo>
                <a:lnTo>
                  <a:pt x="45783" y="36058"/>
                </a:lnTo>
                <a:lnTo>
                  <a:pt x="45709" y="36963"/>
                </a:lnTo>
                <a:lnTo>
                  <a:pt x="45566" y="37911"/>
                </a:lnTo>
                <a:lnTo>
                  <a:pt x="45311" y="38636"/>
                </a:lnTo>
                <a:lnTo>
                  <a:pt x="45136" y="39482"/>
                </a:lnTo>
                <a:lnTo>
                  <a:pt x="44988" y="40030"/>
                </a:lnTo>
                <a:lnTo>
                  <a:pt x="44554" y="40624"/>
                </a:lnTo>
                <a:lnTo>
                  <a:pt x="44270" y="41187"/>
                </a:lnTo>
                <a:lnTo>
                  <a:pt x="44054" y="41670"/>
                </a:lnTo>
                <a:lnTo>
                  <a:pt x="43536" y="42206"/>
                </a:lnTo>
                <a:lnTo>
                  <a:pt x="43281" y="42682"/>
                </a:lnTo>
                <a:lnTo>
                  <a:pt x="42882" y="43183"/>
                </a:lnTo>
                <a:lnTo>
                  <a:pt x="42313" y="43401"/>
                </a:lnTo>
                <a:lnTo>
                  <a:pt x="41725" y="43831"/>
                </a:lnTo>
                <a:lnTo>
                  <a:pt x="41257" y="43971"/>
                </a:lnTo>
                <a:lnTo>
                  <a:pt x="40635" y="44305"/>
                </a:lnTo>
                <a:lnTo>
                  <a:pt x="40020" y="44570"/>
                </a:lnTo>
                <a:lnTo>
                  <a:pt x="39362" y="44776"/>
                </a:lnTo>
                <a:lnTo>
                  <a:pt x="38468" y="45012"/>
                </a:lnTo>
                <a:lnTo>
                  <a:pt x="37468" y="45052"/>
                </a:lnTo>
                <a:lnTo>
                  <a:pt x="36658" y="45377"/>
                </a:lnTo>
                <a:lnTo>
                  <a:pt x="35512" y="45413"/>
                </a:lnTo>
                <a:lnTo>
                  <a:pt x="34177" y="45474"/>
                </a:lnTo>
                <a:lnTo>
                  <a:pt x="32630" y="45589"/>
                </a:lnTo>
                <a:lnTo>
                  <a:pt x="30234" y="45570"/>
                </a:lnTo>
                <a:lnTo>
                  <a:pt x="23131" y="45678"/>
                </a:lnTo>
                <a:lnTo>
                  <a:pt x="16045" y="45483"/>
                </a:lnTo>
                <a:lnTo>
                  <a:pt x="13807" y="45528"/>
                </a:lnTo>
                <a:lnTo>
                  <a:pt x="12229" y="45556"/>
                </a:lnTo>
                <a:lnTo>
                  <a:pt x="10869" y="45373"/>
                </a:lnTo>
                <a:lnTo>
                  <a:pt x="9832" y="45215"/>
                </a:lnTo>
                <a:lnTo>
                  <a:pt x="8787" y="45055"/>
                </a:lnTo>
                <a:lnTo>
                  <a:pt x="7874" y="44999"/>
                </a:lnTo>
                <a:lnTo>
                  <a:pt x="6986" y="44788"/>
                </a:lnTo>
                <a:lnTo>
                  <a:pt x="6331" y="44644"/>
                </a:lnTo>
                <a:lnTo>
                  <a:pt x="5738" y="44315"/>
                </a:lnTo>
                <a:lnTo>
                  <a:pt x="5174" y="43964"/>
                </a:lnTo>
                <a:lnTo>
                  <a:pt x="4540" y="43712"/>
                </a:lnTo>
                <a:lnTo>
                  <a:pt x="3996" y="43388"/>
                </a:lnTo>
                <a:lnTo>
                  <a:pt x="3381" y="43001"/>
                </a:lnTo>
                <a:lnTo>
                  <a:pt x="3027" y="42560"/>
                </a:lnTo>
                <a:lnTo>
                  <a:pt x="2559" y="42347"/>
                </a:lnTo>
                <a:lnTo>
                  <a:pt x="2406" y="41756"/>
                </a:lnTo>
                <a:lnTo>
                  <a:pt x="1918" y="41168"/>
                </a:lnTo>
                <a:lnTo>
                  <a:pt x="1620" y="40607"/>
                </a:lnTo>
                <a:lnTo>
                  <a:pt x="1269" y="40071"/>
                </a:lnTo>
                <a:lnTo>
                  <a:pt x="1170" y="39430"/>
                </a:lnTo>
                <a:lnTo>
                  <a:pt x="762" y="38847"/>
                </a:lnTo>
                <a:lnTo>
                  <a:pt x="728" y="38034"/>
                </a:lnTo>
                <a:lnTo>
                  <a:pt x="653" y="37162"/>
                </a:lnTo>
                <a:lnTo>
                  <a:pt x="339" y="36085"/>
                </a:lnTo>
                <a:lnTo>
                  <a:pt x="348" y="35009"/>
                </a:lnTo>
                <a:lnTo>
                  <a:pt x="72" y="33660"/>
                </a:lnTo>
                <a:lnTo>
                  <a:pt x="0" y="32019"/>
                </a:lnTo>
                <a:lnTo>
                  <a:pt x="83" y="29715"/>
                </a:lnTo>
                <a:lnTo>
                  <a:pt x="18" y="22920"/>
                </a:lnTo>
                <a:lnTo>
                  <a:pt x="147" y="15896"/>
                </a:lnTo>
                <a:lnTo>
                  <a:pt x="126" y="13486"/>
                </a:lnTo>
                <a:lnTo>
                  <a:pt x="171" y="11987"/>
                </a:lnTo>
                <a:lnTo>
                  <a:pt x="271" y="10601"/>
                </a:lnTo>
                <a:lnTo>
                  <a:pt x="479" y="9610"/>
                </a:lnTo>
                <a:lnTo>
                  <a:pt x="654" y="8624"/>
                </a:lnTo>
                <a:lnTo>
                  <a:pt x="728" y="7756"/>
                </a:lnTo>
                <a:lnTo>
                  <a:pt x="963" y="6826"/>
                </a:lnTo>
                <a:lnTo>
                  <a:pt x="1231" y="6280"/>
                </a:lnTo>
                <a:lnTo>
                  <a:pt x="1263" y="5477"/>
                </a:lnTo>
                <a:lnTo>
                  <a:pt x="1611" y="4989"/>
                </a:lnTo>
                <a:lnTo>
                  <a:pt x="1930" y="4370"/>
                </a:lnTo>
                <a:lnTo>
                  <a:pt x="2238" y="3990"/>
                </a:lnTo>
                <a:lnTo>
                  <a:pt x="2706" y="3421"/>
                </a:lnTo>
                <a:lnTo>
                  <a:pt x="2943" y="3089"/>
                </a:lnTo>
                <a:lnTo>
                  <a:pt x="3498" y="2580"/>
                </a:lnTo>
                <a:lnTo>
                  <a:pt x="3900" y="2179"/>
                </a:lnTo>
                <a:lnTo>
                  <a:pt x="4390" y="1802"/>
                </a:lnTo>
                <a:lnTo>
                  <a:pt x="5032" y="1527"/>
                </a:lnTo>
                <a:lnTo>
                  <a:pt x="5722" y="1429"/>
                </a:lnTo>
                <a:lnTo>
                  <a:pt x="6228" y="1005"/>
                </a:lnTo>
                <a:lnTo>
                  <a:pt x="7120" y="907"/>
                </a:lnTo>
                <a:lnTo>
                  <a:pt x="7722" y="587"/>
                </a:lnTo>
                <a:lnTo>
                  <a:pt x="8777" y="399"/>
                </a:lnTo>
                <a:lnTo>
                  <a:pt x="9676" y="398"/>
                </a:lnTo>
                <a:lnTo>
                  <a:pt x="10736" y="266"/>
                </a:lnTo>
                <a:lnTo>
                  <a:pt x="12211" y="97"/>
                </a:lnTo>
                <a:lnTo>
                  <a:pt x="13883" y="0"/>
                </a:lnTo>
                <a:lnTo>
                  <a:pt x="16033" y="182"/>
                </a:lnTo>
                <a:lnTo>
                  <a:pt x="23134" y="121"/>
                </a:lnTo>
                <a:lnTo>
                  <a:pt x="30275" y="157"/>
                </a:lnTo>
                <a:lnTo>
                  <a:pt x="32505" y="217"/>
                </a:lnTo>
                <a:lnTo>
                  <a:pt x="34098" y="201"/>
                </a:lnTo>
                <a:lnTo>
                  <a:pt x="35585" y="229"/>
                </a:lnTo>
                <a:lnTo>
                  <a:pt x="36532" y="269"/>
                </a:lnTo>
                <a:lnTo>
                  <a:pt x="37664" y="621"/>
                </a:lnTo>
                <a:lnTo>
                  <a:pt x="38560" y="663"/>
                </a:lnTo>
                <a:lnTo>
                  <a:pt x="39350" y="761"/>
                </a:lnTo>
                <a:lnTo>
                  <a:pt x="39911" y="1192"/>
                </a:lnTo>
                <a:lnTo>
                  <a:pt x="40768" y="1376"/>
                </a:lnTo>
                <a:lnTo>
                  <a:pt x="41131" y="1536"/>
                </a:lnTo>
                <a:lnTo>
                  <a:pt x="41717" y="1840"/>
                </a:lnTo>
                <a:lnTo>
                  <a:pt x="42346" y="2139"/>
                </a:lnTo>
                <a:lnTo>
                  <a:pt x="42861" y="2690"/>
                </a:lnTo>
                <a:lnTo>
                  <a:pt x="43278" y="2946"/>
                </a:lnTo>
                <a:lnTo>
                  <a:pt x="43589" y="3510"/>
                </a:lnTo>
                <a:lnTo>
                  <a:pt x="43957" y="3821"/>
                </a:lnTo>
                <a:lnTo>
                  <a:pt x="44405" y="4515"/>
                </a:lnTo>
                <a:lnTo>
                  <a:pt x="44731" y="5027"/>
                </a:lnTo>
                <a:lnTo>
                  <a:pt x="44873" y="5551"/>
                </a:lnTo>
                <a:lnTo>
                  <a:pt x="45193" y="6296"/>
                </a:lnTo>
                <a:lnTo>
                  <a:pt x="45347" y="6957"/>
                </a:lnTo>
                <a:lnTo>
                  <a:pt x="45521" y="7757"/>
                </a:lnTo>
                <a:lnTo>
                  <a:pt x="45708" y="8537"/>
                </a:lnTo>
                <a:lnTo>
                  <a:pt x="46023" y="9606"/>
                </a:lnTo>
                <a:lnTo>
                  <a:pt x="45954" y="10680"/>
                </a:lnTo>
                <a:lnTo>
                  <a:pt x="46106" y="11978"/>
                </a:lnTo>
                <a:lnTo>
                  <a:pt x="46117" y="13660"/>
                </a:lnTo>
                <a:lnTo>
                  <a:pt x="46239" y="15938"/>
                </a:lnTo>
                <a:lnTo>
                  <a:pt x="46309" y="22918"/>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4796942" y="4988418"/>
            <a:ext cx="56418" cy="342168"/>
          </a:xfrm>
          <a:custGeom>
            <a:avLst/>
            <a:gdLst/>
            <a:ahLst/>
            <a:cxnLst/>
            <a:rect l="l" t="t" r="r" b="b"/>
            <a:pathLst>
              <a:path w="617" h="3742">
                <a:moveTo>
                  <a:pt x="617" y="0"/>
                </a:moveTo>
                <a:lnTo>
                  <a:pt x="502" y="1112"/>
                </a:lnTo>
                <a:lnTo>
                  <a:pt x="361" y="2087"/>
                </a:lnTo>
                <a:lnTo>
                  <a:pt x="194" y="2957"/>
                </a:lnTo>
                <a:lnTo>
                  <a:pt x="0" y="3742"/>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61434" y="5818510"/>
            <a:ext cx="255118" cy="85039"/>
          </a:xfrm>
          <a:custGeom>
            <a:avLst/>
            <a:gdLst/>
            <a:ahLst/>
            <a:cxnLst/>
            <a:rect l="l" t="t" r="r" b="b"/>
            <a:pathLst>
              <a:path w="2790" h="930">
                <a:moveTo>
                  <a:pt x="2790" y="0"/>
                </a:moveTo>
                <a:lnTo>
                  <a:pt x="2181" y="274"/>
                </a:lnTo>
                <a:lnTo>
                  <a:pt x="1519" y="520"/>
                </a:lnTo>
                <a:lnTo>
                  <a:pt x="795" y="739"/>
                </a:lnTo>
                <a:lnTo>
                  <a:pt x="0" y="93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288847" y="5886084"/>
            <a:ext cx="346649" cy="55687"/>
          </a:xfrm>
          <a:custGeom>
            <a:avLst/>
            <a:gdLst/>
            <a:ahLst/>
            <a:cxnLst/>
            <a:rect l="l" t="t" r="r" b="b"/>
            <a:pathLst>
              <a:path w="3791" h="609">
                <a:moveTo>
                  <a:pt x="3791" y="609"/>
                </a:moveTo>
                <a:lnTo>
                  <a:pt x="2664" y="495"/>
                </a:lnTo>
                <a:lnTo>
                  <a:pt x="1676" y="356"/>
                </a:lnTo>
                <a:lnTo>
                  <a:pt x="795" y="191"/>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08294" y="5258806"/>
            <a:ext cx="86136" cy="251826"/>
          </a:xfrm>
          <a:custGeom>
            <a:avLst/>
            <a:gdLst/>
            <a:ahLst/>
            <a:cxnLst/>
            <a:rect l="l" t="t" r="r" b="b"/>
            <a:pathLst>
              <a:path w="942" h="2754">
                <a:moveTo>
                  <a:pt x="942" y="2754"/>
                </a:moveTo>
                <a:lnTo>
                  <a:pt x="664" y="2153"/>
                </a:lnTo>
                <a:lnTo>
                  <a:pt x="415" y="1499"/>
                </a:lnTo>
                <a:lnTo>
                  <a:pt x="194" y="785"/>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69615" y="2423526"/>
            <a:ext cx="56418" cy="342168"/>
          </a:xfrm>
          <a:custGeom>
            <a:avLst/>
            <a:gdLst/>
            <a:ahLst/>
            <a:cxnLst/>
            <a:rect l="l" t="t" r="r" b="b"/>
            <a:pathLst>
              <a:path w="617" h="3742">
                <a:moveTo>
                  <a:pt x="0" y="3742"/>
                </a:moveTo>
                <a:lnTo>
                  <a:pt x="115" y="2630"/>
                </a:lnTo>
                <a:lnTo>
                  <a:pt x="256" y="1655"/>
                </a:lnTo>
                <a:lnTo>
                  <a:pt x="423" y="785"/>
                </a:lnTo>
                <a:lnTo>
                  <a:pt x="617"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106424" y="1850563"/>
            <a:ext cx="255118" cy="85039"/>
          </a:xfrm>
          <a:custGeom>
            <a:avLst/>
            <a:gdLst/>
            <a:ahLst/>
            <a:cxnLst/>
            <a:rect l="l" t="t" r="r" b="b"/>
            <a:pathLst>
              <a:path w="2790" h="930">
                <a:moveTo>
                  <a:pt x="0" y="930"/>
                </a:moveTo>
                <a:lnTo>
                  <a:pt x="609" y="656"/>
                </a:lnTo>
                <a:lnTo>
                  <a:pt x="1271" y="410"/>
                </a:lnTo>
                <a:lnTo>
                  <a:pt x="1995" y="191"/>
                </a:lnTo>
                <a:lnTo>
                  <a:pt x="279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887480" y="1812341"/>
            <a:ext cx="346649" cy="55687"/>
          </a:xfrm>
          <a:custGeom>
            <a:avLst/>
            <a:gdLst/>
            <a:ahLst/>
            <a:cxnLst/>
            <a:rect l="l" t="t" r="r" b="b"/>
            <a:pathLst>
              <a:path w="3791" h="609">
                <a:moveTo>
                  <a:pt x="0" y="0"/>
                </a:moveTo>
                <a:lnTo>
                  <a:pt x="1127" y="114"/>
                </a:lnTo>
                <a:lnTo>
                  <a:pt x="2115" y="253"/>
                </a:lnTo>
                <a:lnTo>
                  <a:pt x="2996" y="418"/>
                </a:lnTo>
                <a:lnTo>
                  <a:pt x="3791" y="60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728545" y="2243480"/>
            <a:ext cx="86136" cy="251826"/>
          </a:xfrm>
          <a:custGeom>
            <a:avLst/>
            <a:gdLst/>
            <a:ahLst/>
            <a:cxnLst/>
            <a:rect l="l" t="t" r="r" b="b"/>
            <a:pathLst>
              <a:path w="942" h="2754">
                <a:moveTo>
                  <a:pt x="0" y="0"/>
                </a:moveTo>
                <a:lnTo>
                  <a:pt x="278" y="601"/>
                </a:lnTo>
                <a:lnTo>
                  <a:pt x="527" y="1255"/>
                </a:lnTo>
                <a:lnTo>
                  <a:pt x="748" y="1969"/>
                </a:lnTo>
                <a:lnTo>
                  <a:pt x="942" y="275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1 · Re-score saved traces"/>
          <p:cNvSpPr txBox="1"/>
          <p:nvPr/>
        </p:nvSpPr>
        <p:spPr>
          <a:xfrm>
            <a:off x="996695" y="2061209"/>
            <a:ext cx="352958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4E7892"/>
                </a:solidFill>
                <a:latin typeface="Chalkboard SE"/>
              </a:rPr>
              <a:t>1 · Re-score saved traces</a:t>
            </a:r>
          </a:p>
        </p:txBody>
      </p:sp>
      <p:sp>
        <p:nvSpPr>
          <p:cNvPr id="24" name="Oval 23"/>
          <p:cNvSpPr/>
          <p:nvPr/>
        </p:nvSpPr>
        <p:spPr>
          <a:xfrm>
            <a:off x="909828" y="287489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Needs sufficient logs and defensible outcome labels"/>
          <p:cNvSpPr txBox="1"/>
          <p:nvPr/>
        </p:nvSpPr>
        <p:spPr>
          <a:xfrm>
            <a:off x="1143000" y="2774315"/>
            <a:ext cx="3483864" cy="705675"/>
          </a:xfrm>
          <a:prstGeom prst="rect">
            <a:avLst/>
          </a:prstGeom>
          <a:noFill/>
        </p:spPr>
        <p:txBody>
          <a:bodyPr wrap="none" lIns="0" rIns="0" tIns="0" bIns="0" anchor="t">
            <a:noAutofit/>
          </a:bodyPr>
          <a:lstStyle/>
          <a:p>
            <a:pPr algn="l">
              <a:lnSpc>
                <a:spcPts val="2508"/>
              </a:lnSpc>
              <a:spcBef>
                <a:spcPts val="0"/>
              </a:spcBef>
              <a:spcAft>
                <a:spcPts val="0"/>
              </a:spcAft>
            </a:pPr>
            <a:r>
              <a:rPr sz="1975" b="0">
                <a:solidFill>
                  <a:srgbClr val="293E46"/>
                </a:solidFill>
                <a:latin typeface="Trebuchet MS"/>
              </a:rPr>
              <a:t>Needs sufficient logs and</a:t>
            </a:r>
            <a:br/>
            <a:r>
              <a:rPr sz="1975" b="0">
                <a:solidFill>
                  <a:srgbClr val="293E46"/>
                </a:solidFill>
                <a:latin typeface="Trebuchet MS"/>
              </a:rPr>
              <a:t>defensible outcome labels</a:t>
            </a:r>
          </a:p>
        </p:txBody>
      </p:sp>
      <p:sp>
        <p:nvSpPr>
          <p:cNvPr id="26" name="Oval 25"/>
          <p:cNvSpPr/>
          <p:nvPr/>
        </p:nvSpPr>
        <p:spPr>
          <a:xfrm>
            <a:off x="909828" y="369944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Tests detector behavior on those observations; no actor rerun"/>
          <p:cNvSpPr txBox="1"/>
          <p:nvPr/>
        </p:nvSpPr>
        <p:spPr>
          <a:xfrm>
            <a:off x="1143000" y="3598862"/>
            <a:ext cx="3483864" cy="1024223"/>
          </a:xfrm>
          <a:prstGeom prst="rect">
            <a:avLst/>
          </a:prstGeom>
          <a:noFill/>
        </p:spPr>
        <p:txBody>
          <a:bodyPr wrap="none" lIns="0" rIns="0" tIns="0" bIns="0" anchor="t">
            <a:noAutofit/>
          </a:bodyPr>
          <a:lstStyle/>
          <a:p>
            <a:pPr algn="l">
              <a:lnSpc>
                <a:spcPts val="2508"/>
              </a:lnSpc>
              <a:spcBef>
                <a:spcPts val="0"/>
              </a:spcBef>
              <a:spcAft>
                <a:spcPts val="0"/>
              </a:spcAft>
            </a:pPr>
            <a:r>
              <a:rPr sz="1975" b="0">
                <a:solidFill>
                  <a:srgbClr val="293E46"/>
                </a:solidFill>
                <a:latin typeface="Trebuchet MS"/>
              </a:rPr>
              <a:t>Tests detector behavior on</a:t>
            </a:r>
            <a:br/>
            <a:r>
              <a:rPr sz="1975" b="0">
                <a:solidFill>
                  <a:srgbClr val="293E46"/>
                </a:solidFill>
                <a:latin typeface="Trebuchet MS"/>
              </a:rPr>
              <a:t>those observations; no actor</a:t>
            </a:r>
            <a:br/>
            <a:r>
              <a:rPr sz="1975" b="0">
                <a:solidFill>
                  <a:srgbClr val="293E46"/>
                </a:solidFill>
                <a:latin typeface="Trebuchet MS"/>
              </a:rPr>
              <a:t>rerun</a:t>
            </a:r>
          </a:p>
        </p:txBody>
      </p:sp>
      <p:sp>
        <p:nvSpPr>
          <p:cNvPr id="28" name="Oval 27"/>
          <p:cNvSpPr/>
          <p:nvPr/>
        </p:nvSpPr>
        <p:spPr>
          <a:xfrm>
            <a:off x="909828" y="4842541"/>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Does not establish prevention, new behavior or population incide"/>
          <p:cNvSpPr txBox="1"/>
          <p:nvPr/>
        </p:nvSpPr>
        <p:spPr>
          <a:xfrm>
            <a:off x="1143000" y="4741957"/>
            <a:ext cx="3483864" cy="1024223"/>
          </a:xfrm>
          <a:prstGeom prst="rect">
            <a:avLst/>
          </a:prstGeom>
          <a:noFill/>
        </p:spPr>
        <p:txBody>
          <a:bodyPr wrap="none" lIns="0" rIns="0" tIns="0" bIns="0" anchor="t">
            <a:noAutofit/>
          </a:bodyPr>
          <a:lstStyle/>
          <a:p>
            <a:pPr algn="l">
              <a:lnSpc>
                <a:spcPts val="2508"/>
              </a:lnSpc>
              <a:spcBef>
                <a:spcPts val="0"/>
              </a:spcBef>
              <a:spcAft>
                <a:spcPts val="0"/>
              </a:spcAft>
            </a:pPr>
            <a:r>
              <a:rPr sz="1975" b="0">
                <a:solidFill>
                  <a:srgbClr val="293E46"/>
                </a:solidFill>
                <a:latin typeface="Trebuchet MS"/>
              </a:rPr>
              <a:t>Does not establish</a:t>
            </a:r>
            <a:br/>
            <a:r>
              <a:rPr sz="1975" b="0">
                <a:solidFill>
                  <a:srgbClr val="293E46"/>
                </a:solidFill>
                <a:latin typeface="Trebuchet MS"/>
              </a:rPr>
              <a:t>prevention, new behavior or</a:t>
            </a:r>
            <a:br/>
            <a:r>
              <a:rPr sz="1975" b="0">
                <a:solidFill>
                  <a:srgbClr val="293E46"/>
                </a:solidFill>
                <a:latin typeface="Trebuchet MS"/>
              </a:rPr>
              <a:t>population incident rates</a:t>
            </a:r>
          </a:p>
        </p:txBody>
      </p:sp>
      <p:sp>
        <p:nvSpPr>
          <p:cNvPr id="30" name="Rounded Rectangle 29"/>
          <p:cNvSpPr/>
          <p:nvPr/>
        </p:nvSpPr>
        <p:spPr>
          <a:xfrm>
            <a:off x="5193792" y="1783080"/>
            <a:ext cx="4242816" cy="4187952"/>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5196627" y="1789298"/>
            <a:ext cx="4237970" cy="4170853"/>
          </a:xfrm>
          <a:custGeom>
            <a:avLst/>
            <a:gdLst/>
            <a:ahLst/>
            <a:cxnLst/>
            <a:rect l="l" t="t" r="r" b="b"/>
            <a:pathLst>
              <a:path w="46347" h="45613">
                <a:moveTo>
                  <a:pt x="46237" y="22864"/>
                </a:moveTo>
                <a:lnTo>
                  <a:pt x="46252" y="29884"/>
                </a:lnTo>
                <a:lnTo>
                  <a:pt x="46315" y="32009"/>
                </a:lnTo>
                <a:lnTo>
                  <a:pt x="46014" y="33700"/>
                </a:lnTo>
                <a:lnTo>
                  <a:pt x="46102" y="34989"/>
                </a:lnTo>
                <a:lnTo>
                  <a:pt x="46041" y="35995"/>
                </a:lnTo>
                <a:lnTo>
                  <a:pt x="45913" y="36995"/>
                </a:lnTo>
                <a:lnTo>
                  <a:pt x="45660" y="37855"/>
                </a:lnTo>
                <a:lnTo>
                  <a:pt x="45365" y="38636"/>
                </a:lnTo>
                <a:lnTo>
                  <a:pt x="45087" y="39535"/>
                </a:lnTo>
                <a:lnTo>
                  <a:pt x="45002" y="40085"/>
                </a:lnTo>
                <a:lnTo>
                  <a:pt x="44744" y="40588"/>
                </a:lnTo>
                <a:lnTo>
                  <a:pt x="44341" y="41344"/>
                </a:lnTo>
                <a:lnTo>
                  <a:pt x="44063" y="41784"/>
                </a:lnTo>
                <a:lnTo>
                  <a:pt x="43631" y="42250"/>
                </a:lnTo>
                <a:lnTo>
                  <a:pt x="43326" y="42641"/>
                </a:lnTo>
                <a:lnTo>
                  <a:pt x="42769" y="43130"/>
                </a:lnTo>
                <a:lnTo>
                  <a:pt x="42353" y="43444"/>
                </a:lnTo>
                <a:lnTo>
                  <a:pt x="41818" y="43803"/>
                </a:lnTo>
                <a:lnTo>
                  <a:pt x="41341" y="44130"/>
                </a:lnTo>
                <a:lnTo>
                  <a:pt x="40667" y="44348"/>
                </a:lnTo>
                <a:lnTo>
                  <a:pt x="39888" y="44587"/>
                </a:lnTo>
                <a:lnTo>
                  <a:pt x="39260" y="44873"/>
                </a:lnTo>
                <a:lnTo>
                  <a:pt x="38432" y="44958"/>
                </a:lnTo>
                <a:lnTo>
                  <a:pt x="37538" y="45178"/>
                </a:lnTo>
                <a:lnTo>
                  <a:pt x="36601" y="45386"/>
                </a:lnTo>
                <a:lnTo>
                  <a:pt x="35533" y="45491"/>
                </a:lnTo>
                <a:lnTo>
                  <a:pt x="34064" y="45591"/>
                </a:lnTo>
                <a:lnTo>
                  <a:pt x="32608" y="45508"/>
                </a:lnTo>
                <a:lnTo>
                  <a:pt x="30312" y="45567"/>
                </a:lnTo>
                <a:lnTo>
                  <a:pt x="23157" y="45613"/>
                </a:lnTo>
                <a:lnTo>
                  <a:pt x="16097" y="45534"/>
                </a:lnTo>
                <a:lnTo>
                  <a:pt x="13866" y="45532"/>
                </a:lnTo>
                <a:lnTo>
                  <a:pt x="12259" y="45599"/>
                </a:lnTo>
                <a:lnTo>
                  <a:pt x="10798" y="45417"/>
                </a:lnTo>
                <a:lnTo>
                  <a:pt x="9672" y="45181"/>
                </a:lnTo>
                <a:lnTo>
                  <a:pt x="8787" y="45230"/>
                </a:lnTo>
                <a:lnTo>
                  <a:pt x="7969" y="45070"/>
                </a:lnTo>
                <a:lnTo>
                  <a:pt x="7070" y="44753"/>
                </a:lnTo>
                <a:lnTo>
                  <a:pt x="6326" y="44693"/>
                </a:lnTo>
                <a:lnTo>
                  <a:pt x="5760" y="44232"/>
                </a:lnTo>
                <a:lnTo>
                  <a:pt x="5115" y="44107"/>
                </a:lnTo>
                <a:lnTo>
                  <a:pt x="4385" y="43833"/>
                </a:lnTo>
                <a:lnTo>
                  <a:pt x="3999" y="43327"/>
                </a:lnTo>
                <a:lnTo>
                  <a:pt x="3470" y="43080"/>
                </a:lnTo>
                <a:lnTo>
                  <a:pt x="3160" y="42757"/>
                </a:lnTo>
                <a:lnTo>
                  <a:pt x="2571" y="42346"/>
                </a:lnTo>
                <a:lnTo>
                  <a:pt x="2261" y="41876"/>
                </a:lnTo>
                <a:lnTo>
                  <a:pt x="2044" y="41181"/>
                </a:lnTo>
                <a:lnTo>
                  <a:pt x="1746" y="40671"/>
                </a:lnTo>
                <a:lnTo>
                  <a:pt x="1495" y="40143"/>
                </a:lnTo>
                <a:lnTo>
                  <a:pt x="1139" y="39392"/>
                </a:lnTo>
                <a:lnTo>
                  <a:pt x="944" y="38654"/>
                </a:lnTo>
                <a:lnTo>
                  <a:pt x="675" y="37898"/>
                </a:lnTo>
                <a:lnTo>
                  <a:pt x="471" y="37163"/>
                </a:lnTo>
                <a:lnTo>
                  <a:pt x="388" y="36084"/>
                </a:lnTo>
                <a:lnTo>
                  <a:pt x="308" y="34918"/>
                </a:lnTo>
                <a:lnTo>
                  <a:pt x="209" y="33603"/>
                </a:lnTo>
                <a:lnTo>
                  <a:pt x="105" y="32036"/>
                </a:lnTo>
                <a:lnTo>
                  <a:pt x="23" y="29760"/>
                </a:lnTo>
                <a:lnTo>
                  <a:pt x="44" y="22724"/>
                </a:lnTo>
                <a:lnTo>
                  <a:pt x="0" y="15854"/>
                </a:lnTo>
                <a:lnTo>
                  <a:pt x="13" y="13633"/>
                </a:lnTo>
                <a:lnTo>
                  <a:pt x="232" y="11972"/>
                </a:lnTo>
                <a:lnTo>
                  <a:pt x="228" y="10645"/>
                </a:lnTo>
                <a:lnTo>
                  <a:pt x="414" y="9554"/>
                </a:lnTo>
                <a:lnTo>
                  <a:pt x="478" y="8528"/>
                </a:lnTo>
                <a:lnTo>
                  <a:pt x="642" y="7839"/>
                </a:lnTo>
                <a:lnTo>
                  <a:pt x="1007" y="6991"/>
                </a:lnTo>
                <a:lnTo>
                  <a:pt x="1109" y="6310"/>
                </a:lnTo>
                <a:lnTo>
                  <a:pt x="1263" y="5643"/>
                </a:lnTo>
                <a:lnTo>
                  <a:pt x="1604" y="5070"/>
                </a:lnTo>
                <a:lnTo>
                  <a:pt x="1850" y="4522"/>
                </a:lnTo>
                <a:lnTo>
                  <a:pt x="2400" y="3955"/>
                </a:lnTo>
                <a:lnTo>
                  <a:pt x="2546" y="3536"/>
                </a:lnTo>
                <a:lnTo>
                  <a:pt x="2953" y="2992"/>
                </a:lnTo>
                <a:lnTo>
                  <a:pt x="3474" y="2537"/>
                </a:lnTo>
                <a:lnTo>
                  <a:pt x="4020" y="2347"/>
                </a:lnTo>
                <a:lnTo>
                  <a:pt x="4593" y="1938"/>
                </a:lnTo>
                <a:lnTo>
                  <a:pt x="4970" y="1493"/>
                </a:lnTo>
                <a:lnTo>
                  <a:pt x="5733" y="1228"/>
                </a:lnTo>
                <a:lnTo>
                  <a:pt x="6368" y="964"/>
                </a:lnTo>
                <a:lnTo>
                  <a:pt x="7127" y="898"/>
                </a:lnTo>
                <a:lnTo>
                  <a:pt x="7779" y="681"/>
                </a:lnTo>
                <a:lnTo>
                  <a:pt x="8847" y="583"/>
                </a:lnTo>
                <a:lnTo>
                  <a:pt x="9654" y="302"/>
                </a:lnTo>
                <a:lnTo>
                  <a:pt x="10803" y="181"/>
                </a:lnTo>
                <a:lnTo>
                  <a:pt x="12234" y="173"/>
                </a:lnTo>
                <a:lnTo>
                  <a:pt x="13732" y="49"/>
                </a:lnTo>
                <a:lnTo>
                  <a:pt x="16030" y="0"/>
                </a:lnTo>
                <a:lnTo>
                  <a:pt x="23138" y="5"/>
                </a:lnTo>
                <a:lnTo>
                  <a:pt x="30269" y="36"/>
                </a:lnTo>
                <a:lnTo>
                  <a:pt x="32648" y="32"/>
                </a:lnTo>
                <a:lnTo>
                  <a:pt x="34164" y="140"/>
                </a:lnTo>
                <a:lnTo>
                  <a:pt x="35527" y="218"/>
                </a:lnTo>
                <a:lnTo>
                  <a:pt x="36679" y="278"/>
                </a:lnTo>
                <a:lnTo>
                  <a:pt x="37565" y="615"/>
                </a:lnTo>
                <a:lnTo>
                  <a:pt x="38507" y="718"/>
                </a:lnTo>
                <a:lnTo>
                  <a:pt x="39275" y="819"/>
                </a:lnTo>
                <a:lnTo>
                  <a:pt x="40079" y="1196"/>
                </a:lnTo>
                <a:lnTo>
                  <a:pt x="40723" y="1260"/>
                </a:lnTo>
                <a:lnTo>
                  <a:pt x="41144" y="1582"/>
                </a:lnTo>
                <a:lnTo>
                  <a:pt x="41861" y="1798"/>
                </a:lnTo>
                <a:lnTo>
                  <a:pt x="42375" y="2258"/>
                </a:lnTo>
                <a:lnTo>
                  <a:pt x="42844" y="2526"/>
                </a:lnTo>
                <a:lnTo>
                  <a:pt x="43226" y="3073"/>
                </a:lnTo>
                <a:lnTo>
                  <a:pt x="43639" y="3428"/>
                </a:lnTo>
                <a:lnTo>
                  <a:pt x="44161" y="3868"/>
                </a:lnTo>
                <a:lnTo>
                  <a:pt x="44325" y="4315"/>
                </a:lnTo>
                <a:lnTo>
                  <a:pt x="44709" y="4882"/>
                </a:lnTo>
                <a:lnTo>
                  <a:pt x="45050" y="5487"/>
                </a:lnTo>
                <a:lnTo>
                  <a:pt x="45137" y="6265"/>
                </a:lnTo>
                <a:lnTo>
                  <a:pt x="45467" y="7041"/>
                </a:lnTo>
                <a:lnTo>
                  <a:pt x="45635" y="7635"/>
                </a:lnTo>
                <a:lnTo>
                  <a:pt x="45865" y="8581"/>
                </a:lnTo>
                <a:lnTo>
                  <a:pt x="45917" y="9487"/>
                </a:lnTo>
                <a:lnTo>
                  <a:pt x="46112" y="10625"/>
                </a:lnTo>
                <a:lnTo>
                  <a:pt x="46032" y="12016"/>
                </a:lnTo>
                <a:lnTo>
                  <a:pt x="46162" y="13705"/>
                </a:lnTo>
                <a:lnTo>
                  <a:pt x="46268" y="15719"/>
                </a:lnTo>
                <a:lnTo>
                  <a:pt x="46347" y="22727"/>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5192969" y="1787012"/>
            <a:ext cx="4242725" cy="4177619"/>
          </a:xfrm>
          <a:custGeom>
            <a:avLst/>
            <a:gdLst/>
            <a:ahLst/>
            <a:cxnLst/>
            <a:rect l="l" t="t" r="r" b="b"/>
            <a:pathLst>
              <a:path w="46399" h="45687">
                <a:moveTo>
                  <a:pt x="46306" y="22819"/>
                </a:moveTo>
                <a:lnTo>
                  <a:pt x="46399" y="29791"/>
                </a:lnTo>
                <a:lnTo>
                  <a:pt x="46268" y="32037"/>
                </a:lnTo>
                <a:lnTo>
                  <a:pt x="46133" y="33632"/>
                </a:lnTo>
                <a:lnTo>
                  <a:pt x="46002" y="34928"/>
                </a:lnTo>
                <a:lnTo>
                  <a:pt x="45892" y="36075"/>
                </a:lnTo>
                <a:lnTo>
                  <a:pt x="45710" y="37022"/>
                </a:lnTo>
                <a:lnTo>
                  <a:pt x="45770" y="37981"/>
                </a:lnTo>
                <a:lnTo>
                  <a:pt x="45411" y="38845"/>
                </a:lnTo>
                <a:lnTo>
                  <a:pt x="45167" y="39402"/>
                </a:lnTo>
                <a:lnTo>
                  <a:pt x="45123" y="40024"/>
                </a:lnTo>
                <a:lnTo>
                  <a:pt x="44665" y="40722"/>
                </a:lnTo>
                <a:lnTo>
                  <a:pt x="44376" y="41326"/>
                </a:lnTo>
                <a:lnTo>
                  <a:pt x="44095" y="41745"/>
                </a:lnTo>
                <a:lnTo>
                  <a:pt x="43736" y="42282"/>
                </a:lnTo>
                <a:lnTo>
                  <a:pt x="43365" y="42647"/>
                </a:lnTo>
                <a:lnTo>
                  <a:pt x="42763" y="43055"/>
                </a:lnTo>
                <a:lnTo>
                  <a:pt x="42392" y="43377"/>
                </a:lnTo>
                <a:lnTo>
                  <a:pt x="41782" y="43865"/>
                </a:lnTo>
                <a:lnTo>
                  <a:pt x="41419" y="44197"/>
                </a:lnTo>
                <a:lnTo>
                  <a:pt x="40741" y="44454"/>
                </a:lnTo>
                <a:lnTo>
                  <a:pt x="40156" y="44574"/>
                </a:lnTo>
                <a:lnTo>
                  <a:pt x="39298" y="44708"/>
                </a:lnTo>
                <a:lnTo>
                  <a:pt x="38561" y="44965"/>
                </a:lnTo>
                <a:lnTo>
                  <a:pt x="37584" y="45175"/>
                </a:lnTo>
                <a:lnTo>
                  <a:pt x="36761" y="45267"/>
                </a:lnTo>
                <a:lnTo>
                  <a:pt x="35451" y="45532"/>
                </a:lnTo>
                <a:lnTo>
                  <a:pt x="34081" y="45627"/>
                </a:lnTo>
                <a:lnTo>
                  <a:pt x="32449" y="45687"/>
                </a:lnTo>
                <a:lnTo>
                  <a:pt x="30341" y="45615"/>
                </a:lnTo>
                <a:lnTo>
                  <a:pt x="23327" y="45632"/>
                </a:lnTo>
                <a:lnTo>
                  <a:pt x="16098" y="45566"/>
                </a:lnTo>
                <a:lnTo>
                  <a:pt x="13868" y="45567"/>
                </a:lnTo>
                <a:lnTo>
                  <a:pt x="12109" y="45516"/>
                </a:lnTo>
                <a:lnTo>
                  <a:pt x="10795" y="45412"/>
                </a:lnTo>
                <a:lnTo>
                  <a:pt x="9698" y="45225"/>
                </a:lnTo>
                <a:lnTo>
                  <a:pt x="8805" y="45097"/>
                </a:lnTo>
                <a:lnTo>
                  <a:pt x="8006" y="44965"/>
                </a:lnTo>
                <a:lnTo>
                  <a:pt x="7157" y="44861"/>
                </a:lnTo>
                <a:lnTo>
                  <a:pt x="6376" y="44666"/>
                </a:lnTo>
                <a:lnTo>
                  <a:pt x="5769" y="44373"/>
                </a:lnTo>
                <a:lnTo>
                  <a:pt x="5190" y="44056"/>
                </a:lnTo>
                <a:lnTo>
                  <a:pt x="4622" y="43741"/>
                </a:lnTo>
                <a:lnTo>
                  <a:pt x="4059" y="43435"/>
                </a:lnTo>
                <a:lnTo>
                  <a:pt x="3657" y="43015"/>
                </a:lnTo>
                <a:lnTo>
                  <a:pt x="3240" y="42752"/>
                </a:lnTo>
                <a:lnTo>
                  <a:pt x="2630" y="42344"/>
                </a:lnTo>
                <a:lnTo>
                  <a:pt x="2377" y="41699"/>
                </a:lnTo>
                <a:lnTo>
                  <a:pt x="1897" y="41238"/>
                </a:lnTo>
                <a:lnTo>
                  <a:pt x="1653" y="40771"/>
                </a:lnTo>
                <a:lnTo>
                  <a:pt x="1527" y="40072"/>
                </a:lnTo>
                <a:lnTo>
                  <a:pt x="1066" y="39418"/>
                </a:lnTo>
                <a:lnTo>
                  <a:pt x="912" y="38781"/>
                </a:lnTo>
                <a:lnTo>
                  <a:pt x="842" y="37920"/>
                </a:lnTo>
                <a:lnTo>
                  <a:pt x="660" y="37059"/>
                </a:lnTo>
                <a:lnTo>
                  <a:pt x="525" y="36211"/>
                </a:lnTo>
                <a:lnTo>
                  <a:pt x="241" y="35034"/>
                </a:lnTo>
                <a:lnTo>
                  <a:pt x="273" y="33721"/>
                </a:lnTo>
                <a:lnTo>
                  <a:pt x="281" y="31995"/>
                </a:lnTo>
                <a:lnTo>
                  <a:pt x="125" y="29883"/>
                </a:lnTo>
                <a:lnTo>
                  <a:pt x="0" y="22825"/>
                </a:lnTo>
                <a:lnTo>
                  <a:pt x="31" y="15795"/>
                </a:lnTo>
                <a:lnTo>
                  <a:pt x="267" y="13582"/>
                </a:lnTo>
                <a:lnTo>
                  <a:pt x="350" y="11972"/>
                </a:lnTo>
                <a:lnTo>
                  <a:pt x="337" y="10704"/>
                </a:lnTo>
                <a:lnTo>
                  <a:pt x="481" y="9638"/>
                </a:lnTo>
                <a:lnTo>
                  <a:pt x="668" y="8726"/>
                </a:lnTo>
                <a:lnTo>
                  <a:pt x="786" y="7852"/>
                </a:lnTo>
                <a:lnTo>
                  <a:pt x="1038" y="6943"/>
                </a:lnTo>
                <a:lnTo>
                  <a:pt x="1130" y="6163"/>
                </a:lnTo>
                <a:lnTo>
                  <a:pt x="1542" y="5499"/>
                </a:lnTo>
                <a:lnTo>
                  <a:pt x="1636" y="4892"/>
                </a:lnTo>
                <a:lnTo>
                  <a:pt x="2107" y="4326"/>
                </a:lnTo>
                <a:lnTo>
                  <a:pt x="2469" y="3831"/>
                </a:lnTo>
                <a:lnTo>
                  <a:pt x="2824" y="3504"/>
                </a:lnTo>
                <a:lnTo>
                  <a:pt x="3131" y="3038"/>
                </a:lnTo>
                <a:lnTo>
                  <a:pt x="3547" y="2637"/>
                </a:lnTo>
                <a:lnTo>
                  <a:pt x="3910" y="2248"/>
                </a:lnTo>
                <a:lnTo>
                  <a:pt x="4533" y="1959"/>
                </a:lnTo>
                <a:lnTo>
                  <a:pt x="5203" y="1728"/>
                </a:lnTo>
                <a:lnTo>
                  <a:pt x="5754" y="1351"/>
                </a:lnTo>
                <a:lnTo>
                  <a:pt x="6488" y="1009"/>
                </a:lnTo>
                <a:lnTo>
                  <a:pt x="7036" y="875"/>
                </a:lnTo>
                <a:lnTo>
                  <a:pt x="7789" y="627"/>
                </a:lnTo>
                <a:lnTo>
                  <a:pt x="8711" y="525"/>
                </a:lnTo>
                <a:lnTo>
                  <a:pt x="9699" y="379"/>
                </a:lnTo>
                <a:lnTo>
                  <a:pt x="10865" y="342"/>
                </a:lnTo>
                <a:lnTo>
                  <a:pt x="12183" y="93"/>
                </a:lnTo>
                <a:lnTo>
                  <a:pt x="13788" y="63"/>
                </a:lnTo>
                <a:lnTo>
                  <a:pt x="16093" y="105"/>
                </a:lnTo>
                <a:lnTo>
                  <a:pt x="23145" y="29"/>
                </a:lnTo>
                <a:lnTo>
                  <a:pt x="30422" y="0"/>
                </a:lnTo>
                <a:lnTo>
                  <a:pt x="32690" y="77"/>
                </a:lnTo>
                <a:lnTo>
                  <a:pt x="34133" y="75"/>
                </a:lnTo>
                <a:lnTo>
                  <a:pt x="35534" y="199"/>
                </a:lnTo>
                <a:lnTo>
                  <a:pt x="36539" y="407"/>
                </a:lnTo>
                <a:lnTo>
                  <a:pt x="37688" y="564"/>
                </a:lnTo>
                <a:lnTo>
                  <a:pt x="38510" y="598"/>
                </a:lnTo>
                <a:lnTo>
                  <a:pt x="39275" y="826"/>
                </a:lnTo>
                <a:lnTo>
                  <a:pt x="39954" y="1068"/>
                </a:lnTo>
                <a:lnTo>
                  <a:pt x="40696" y="1396"/>
                </a:lnTo>
                <a:lnTo>
                  <a:pt x="41220" y="1600"/>
                </a:lnTo>
                <a:lnTo>
                  <a:pt x="41784" y="1858"/>
                </a:lnTo>
                <a:lnTo>
                  <a:pt x="42297" y="2199"/>
                </a:lnTo>
                <a:lnTo>
                  <a:pt x="42922" y="2633"/>
                </a:lnTo>
                <a:lnTo>
                  <a:pt x="43358" y="3064"/>
                </a:lnTo>
                <a:lnTo>
                  <a:pt x="43754" y="3483"/>
                </a:lnTo>
                <a:lnTo>
                  <a:pt x="44068" y="3862"/>
                </a:lnTo>
                <a:lnTo>
                  <a:pt x="44534" y="4370"/>
                </a:lnTo>
                <a:lnTo>
                  <a:pt x="44811" y="4978"/>
                </a:lnTo>
                <a:lnTo>
                  <a:pt x="44938" y="5545"/>
                </a:lnTo>
                <a:lnTo>
                  <a:pt x="45293" y="6260"/>
                </a:lnTo>
                <a:lnTo>
                  <a:pt x="45508" y="7069"/>
                </a:lnTo>
                <a:lnTo>
                  <a:pt x="45630" y="7644"/>
                </a:lnTo>
                <a:lnTo>
                  <a:pt x="45788" y="8649"/>
                </a:lnTo>
                <a:lnTo>
                  <a:pt x="45877" y="9561"/>
                </a:lnTo>
                <a:lnTo>
                  <a:pt x="46059" y="10768"/>
                </a:lnTo>
                <a:lnTo>
                  <a:pt x="46065" y="12042"/>
                </a:lnTo>
                <a:lnTo>
                  <a:pt x="46161" y="13526"/>
                </a:lnTo>
                <a:lnTo>
                  <a:pt x="46211" y="15865"/>
                </a:lnTo>
                <a:lnTo>
                  <a:pt x="46228" y="22842"/>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9350654" y="4988418"/>
            <a:ext cx="56418" cy="342168"/>
          </a:xfrm>
          <a:custGeom>
            <a:avLst/>
            <a:gdLst/>
            <a:ahLst/>
            <a:cxnLst/>
            <a:rect l="l" t="t" r="r" b="b"/>
            <a:pathLst>
              <a:path w="617" h="3742">
                <a:moveTo>
                  <a:pt x="617" y="0"/>
                </a:moveTo>
                <a:lnTo>
                  <a:pt x="502" y="1112"/>
                </a:lnTo>
                <a:lnTo>
                  <a:pt x="361" y="2087"/>
                </a:lnTo>
                <a:lnTo>
                  <a:pt x="194" y="2957"/>
                </a:lnTo>
                <a:lnTo>
                  <a:pt x="0" y="3742"/>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8715146" y="5818510"/>
            <a:ext cx="255118" cy="85039"/>
          </a:xfrm>
          <a:custGeom>
            <a:avLst/>
            <a:gdLst/>
            <a:ahLst/>
            <a:cxnLst/>
            <a:rect l="l" t="t" r="r" b="b"/>
            <a:pathLst>
              <a:path w="2790" h="930">
                <a:moveTo>
                  <a:pt x="2790" y="0"/>
                </a:moveTo>
                <a:lnTo>
                  <a:pt x="2181" y="274"/>
                </a:lnTo>
                <a:lnTo>
                  <a:pt x="1519" y="520"/>
                </a:lnTo>
                <a:lnTo>
                  <a:pt x="795" y="739"/>
                </a:lnTo>
                <a:lnTo>
                  <a:pt x="0" y="93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5842559" y="5886084"/>
            <a:ext cx="346649" cy="55687"/>
          </a:xfrm>
          <a:custGeom>
            <a:avLst/>
            <a:gdLst/>
            <a:ahLst/>
            <a:cxnLst/>
            <a:rect l="l" t="t" r="r" b="b"/>
            <a:pathLst>
              <a:path w="3791" h="609">
                <a:moveTo>
                  <a:pt x="3791" y="609"/>
                </a:moveTo>
                <a:lnTo>
                  <a:pt x="2664" y="495"/>
                </a:lnTo>
                <a:lnTo>
                  <a:pt x="1676" y="356"/>
                </a:lnTo>
                <a:lnTo>
                  <a:pt x="795" y="191"/>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5262006" y="5258806"/>
            <a:ext cx="86136" cy="251826"/>
          </a:xfrm>
          <a:custGeom>
            <a:avLst/>
            <a:gdLst/>
            <a:ahLst/>
            <a:cxnLst/>
            <a:rect l="l" t="t" r="r" b="b"/>
            <a:pathLst>
              <a:path w="942" h="2754">
                <a:moveTo>
                  <a:pt x="942" y="2754"/>
                </a:moveTo>
                <a:lnTo>
                  <a:pt x="664" y="2153"/>
                </a:lnTo>
                <a:lnTo>
                  <a:pt x="415" y="1499"/>
                </a:lnTo>
                <a:lnTo>
                  <a:pt x="194" y="785"/>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5223327" y="2423526"/>
            <a:ext cx="56418" cy="342168"/>
          </a:xfrm>
          <a:custGeom>
            <a:avLst/>
            <a:gdLst/>
            <a:ahLst/>
            <a:cxnLst/>
            <a:rect l="l" t="t" r="r" b="b"/>
            <a:pathLst>
              <a:path w="617" h="3742">
                <a:moveTo>
                  <a:pt x="0" y="3742"/>
                </a:moveTo>
                <a:lnTo>
                  <a:pt x="115" y="2630"/>
                </a:lnTo>
                <a:lnTo>
                  <a:pt x="256" y="1655"/>
                </a:lnTo>
                <a:lnTo>
                  <a:pt x="423" y="785"/>
                </a:lnTo>
                <a:lnTo>
                  <a:pt x="617"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5660136" y="1850563"/>
            <a:ext cx="255118" cy="85039"/>
          </a:xfrm>
          <a:custGeom>
            <a:avLst/>
            <a:gdLst/>
            <a:ahLst/>
            <a:cxnLst/>
            <a:rect l="l" t="t" r="r" b="b"/>
            <a:pathLst>
              <a:path w="2790" h="930">
                <a:moveTo>
                  <a:pt x="0" y="930"/>
                </a:moveTo>
                <a:lnTo>
                  <a:pt x="609" y="656"/>
                </a:lnTo>
                <a:lnTo>
                  <a:pt x="1271" y="410"/>
                </a:lnTo>
                <a:lnTo>
                  <a:pt x="1995" y="191"/>
                </a:lnTo>
                <a:lnTo>
                  <a:pt x="279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8441192" y="1812341"/>
            <a:ext cx="346649" cy="55687"/>
          </a:xfrm>
          <a:custGeom>
            <a:avLst/>
            <a:gdLst/>
            <a:ahLst/>
            <a:cxnLst/>
            <a:rect l="l" t="t" r="r" b="b"/>
            <a:pathLst>
              <a:path w="3791" h="609">
                <a:moveTo>
                  <a:pt x="0" y="0"/>
                </a:moveTo>
                <a:lnTo>
                  <a:pt x="1127" y="114"/>
                </a:lnTo>
                <a:lnTo>
                  <a:pt x="2115" y="253"/>
                </a:lnTo>
                <a:lnTo>
                  <a:pt x="2996" y="418"/>
                </a:lnTo>
                <a:lnTo>
                  <a:pt x="3791" y="609"/>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9282257" y="2243480"/>
            <a:ext cx="86136" cy="251826"/>
          </a:xfrm>
          <a:custGeom>
            <a:avLst/>
            <a:gdLst/>
            <a:ahLst/>
            <a:cxnLst/>
            <a:rect l="l" t="t" r="r" b="b"/>
            <a:pathLst>
              <a:path w="942" h="2754">
                <a:moveTo>
                  <a:pt x="0" y="0"/>
                </a:moveTo>
                <a:lnTo>
                  <a:pt x="278" y="601"/>
                </a:lnTo>
                <a:lnTo>
                  <a:pt x="527" y="1255"/>
                </a:lnTo>
                <a:lnTo>
                  <a:pt x="748" y="1969"/>
                </a:lnTo>
                <a:lnTo>
                  <a:pt x="942" y="2754"/>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dy: 2 · Replay fixed actions"/>
          <p:cNvSpPr txBox="1"/>
          <p:nvPr/>
        </p:nvSpPr>
        <p:spPr>
          <a:xfrm>
            <a:off x="5550408" y="2061209"/>
            <a:ext cx="352958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557B65"/>
                </a:solidFill>
                <a:latin typeface="Chalkboard SE"/>
              </a:rPr>
              <a:t>2 · Replay fixed actions</a:t>
            </a:r>
          </a:p>
        </p:txBody>
      </p:sp>
      <p:sp>
        <p:nvSpPr>
          <p:cNvPr id="42" name="Oval 41"/>
          <p:cNvSpPr/>
          <p:nvPr/>
        </p:nvSpPr>
        <p:spPr>
          <a:xfrm>
            <a:off x="5463540" y="287489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dy: Needs resettable state and recorded or explicitly scripted actio"/>
          <p:cNvSpPr txBox="1"/>
          <p:nvPr/>
        </p:nvSpPr>
        <p:spPr>
          <a:xfrm>
            <a:off x="5696712" y="2774315"/>
            <a:ext cx="3483864" cy="1024223"/>
          </a:xfrm>
          <a:prstGeom prst="rect">
            <a:avLst/>
          </a:prstGeom>
          <a:noFill/>
        </p:spPr>
        <p:txBody>
          <a:bodyPr wrap="none" lIns="0" rIns="0" tIns="0" bIns="0" anchor="t">
            <a:noAutofit/>
          </a:bodyPr>
          <a:lstStyle/>
          <a:p>
            <a:pPr algn="l">
              <a:lnSpc>
                <a:spcPts val="2508"/>
              </a:lnSpc>
              <a:spcBef>
                <a:spcPts val="0"/>
              </a:spcBef>
              <a:spcAft>
                <a:spcPts val="0"/>
              </a:spcAft>
            </a:pPr>
            <a:r>
              <a:rPr sz="1975" b="0">
                <a:solidFill>
                  <a:srgbClr val="293E46"/>
                </a:solidFill>
                <a:latin typeface="Trebuchet MS"/>
              </a:rPr>
              <a:t>Needs resettable state and</a:t>
            </a:r>
            <a:br/>
            <a:r>
              <a:rPr sz="1975" b="0">
                <a:solidFill>
                  <a:srgbClr val="293E46"/>
                </a:solidFill>
                <a:latin typeface="Trebuchet MS"/>
              </a:rPr>
              <a:t>recorded or explicitly</a:t>
            </a:r>
            <a:br/>
            <a:r>
              <a:rPr sz="1975" b="0">
                <a:solidFill>
                  <a:srgbClr val="293E46"/>
                </a:solidFill>
                <a:latin typeface="Trebuchet MS"/>
              </a:rPr>
              <a:t>scripted actions</a:t>
            </a:r>
          </a:p>
        </p:txBody>
      </p:sp>
      <p:sp>
        <p:nvSpPr>
          <p:cNvPr id="44" name="Oval 43"/>
          <p:cNvSpPr/>
          <p:nvPr/>
        </p:nvSpPr>
        <p:spPr>
          <a:xfrm>
            <a:off x="5463540" y="401799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ody: Tests effects, the outcome check and boundary controls"/>
          <p:cNvSpPr txBox="1"/>
          <p:nvPr/>
        </p:nvSpPr>
        <p:spPr>
          <a:xfrm>
            <a:off x="5696712" y="3917410"/>
            <a:ext cx="3483864" cy="705675"/>
          </a:xfrm>
          <a:prstGeom prst="rect">
            <a:avLst/>
          </a:prstGeom>
          <a:noFill/>
        </p:spPr>
        <p:txBody>
          <a:bodyPr wrap="none" lIns="0" rIns="0" tIns="0" bIns="0" anchor="t">
            <a:noAutofit/>
          </a:bodyPr>
          <a:lstStyle/>
          <a:p>
            <a:pPr algn="l">
              <a:lnSpc>
                <a:spcPts val="2508"/>
              </a:lnSpc>
              <a:spcBef>
                <a:spcPts val="0"/>
              </a:spcBef>
              <a:spcAft>
                <a:spcPts val="0"/>
              </a:spcAft>
            </a:pPr>
            <a:r>
              <a:rPr sz="1975" b="0">
                <a:solidFill>
                  <a:srgbClr val="293E46"/>
                </a:solidFill>
                <a:latin typeface="Trebuchet MS"/>
              </a:rPr>
              <a:t>Tests effects, the outcome</a:t>
            </a:r>
            <a:br/>
            <a:r>
              <a:rPr sz="1975" b="0">
                <a:solidFill>
                  <a:srgbClr val="293E46"/>
                </a:solidFill>
                <a:latin typeface="Trebuchet MS"/>
              </a:rPr>
              <a:t>check and boundary controls</a:t>
            </a:r>
          </a:p>
        </p:txBody>
      </p:sp>
      <p:sp>
        <p:nvSpPr>
          <p:cNvPr id="46" name="Oval 45"/>
          <p:cNvSpPr/>
          <p:nvPr/>
        </p:nvSpPr>
        <p:spPr>
          <a:xfrm>
            <a:off x="5463540" y="4842541"/>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 A scripted exploit does not show that a model would choose it"/>
          <p:cNvSpPr txBox="1"/>
          <p:nvPr/>
        </p:nvSpPr>
        <p:spPr>
          <a:xfrm>
            <a:off x="5696712" y="4741957"/>
            <a:ext cx="3483864" cy="1024223"/>
          </a:xfrm>
          <a:prstGeom prst="rect">
            <a:avLst/>
          </a:prstGeom>
          <a:noFill/>
        </p:spPr>
        <p:txBody>
          <a:bodyPr wrap="none" lIns="0" rIns="0" tIns="0" bIns="0" anchor="t">
            <a:noAutofit/>
          </a:bodyPr>
          <a:lstStyle/>
          <a:p>
            <a:pPr algn="l">
              <a:lnSpc>
                <a:spcPts val="2508"/>
              </a:lnSpc>
              <a:spcBef>
                <a:spcPts val="0"/>
              </a:spcBef>
              <a:spcAft>
                <a:spcPts val="0"/>
              </a:spcAft>
            </a:pPr>
            <a:r>
              <a:rPr sz="1975" b="0">
                <a:solidFill>
                  <a:srgbClr val="293E46"/>
                </a:solidFill>
                <a:latin typeface="Trebuchet MS"/>
              </a:rPr>
              <a:t>A scripted exploit does not</a:t>
            </a:r>
            <a:br/>
            <a:r>
              <a:rPr sz="1975" b="0">
                <a:solidFill>
                  <a:srgbClr val="293E46"/>
                </a:solidFill>
                <a:latin typeface="Trebuchet MS"/>
              </a:rPr>
              <a:t>show that a model would</a:t>
            </a:r>
            <a:br/>
            <a:r>
              <a:rPr sz="1975" b="0">
                <a:solidFill>
                  <a:srgbClr val="293E46"/>
                </a:solidFill>
                <a:latin typeface="Trebuchet MS"/>
              </a:rPr>
              <a:t>choose it</a:t>
            </a:r>
          </a:p>
        </p:txBody>
      </p:sp>
      <p:sp>
        <p:nvSpPr>
          <p:cNvPr id="48" name="Rounded Rectangle 47"/>
          <p:cNvSpPr/>
          <p:nvPr/>
        </p:nvSpPr>
        <p:spPr>
          <a:xfrm>
            <a:off x="9747504" y="1783080"/>
            <a:ext cx="4242816" cy="4187952"/>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9748784" y="1788384"/>
            <a:ext cx="4238427" cy="4175333"/>
          </a:xfrm>
          <a:custGeom>
            <a:avLst/>
            <a:gdLst/>
            <a:ahLst/>
            <a:cxnLst/>
            <a:rect l="l" t="t" r="r" b="b"/>
            <a:pathLst>
              <a:path w="46352" h="45662">
                <a:moveTo>
                  <a:pt x="46334" y="22769"/>
                </a:moveTo>
                <a:lnTo>
                  <a:pt x="46186" y="29781"/>
                </a:lnTo>
                <a:lnTo>
                  <a:pt x="46185" y="32161"/>
                </a:lnTo>
                <a:lnTo>
                  <a:pt x="46134" y="33761"/>
                </a:lnTo>
                <a:lnTo>
                  <a:pt x="46041" y="34947"/>
                </a:lnTo>
                <a:lnTo>
                  <a:pt x="45902" y="36151"/>
                </a:lnTo>
                <a:lnTo>
                  <a:pt x="45695" y="37030"/>
                </a:lnTo>
                <a:lnTo>
                  <a:pt x="45548" y="38019"/>
                </a:lnTo>
                <a:lnTo>
                  <a:pt x="45358" y="38650"/>
                </a:lnTo>
                <a:lnTo>
                  <a:pt x="45219" y="39407"/>
                </a:lnTo>
                <a:lnTo>
                  <a:pt x="45104" y="40126"/>
                </a:lnTo>
                <a:lnTo>
                  <a:pt x="44793" y="40817"/>
                </a:lnTo>
                <a:lnTo>
                  <a:pt x="44458" y="41180"/>
                </a:lnTo>
                <a:lnTo>
                  <a:pt x="44107" y="41795"/>
                </a:lnTo>
                <a:lnTo>
                  <a:pt x="43687" y="42190"/>
                </a:lnTo>
                <a:lnTo>
                  <a:pt x="43398" y="42714"/>
                </a:lnTo>
                <a:lnTo>
                  <a:pt x="42938" y="43002"/>
                </a:lnTo>
                <a:lnTo>
                  <a:pt x="42484" y="43525"/>
                </a:lnTo>
                <a:lnTo>
                  <a:pt x="41879" y="43803"/>
                </a:lnTo>
                <a:lnTo>
                  <a:pt x="41304" y="43992"/>
                </a:lnTo>
                <a:lnTo>
                  <a:pt x="40802" y="44364"/>
                </a:lnTo>
                <a:lnTo>
                  <a:pt x="40144" y="44477"/>
                </a:lnTo>
                <a:lnTo>
                  <a:pt x="39286" y="44821"/>
                </a:lnTo>
                <a:lnTo>
                  <a:pt x="38457" y="44912"/>
                </a:lnTo>
                <a:lnTo>
                  <a:pt x="37601" y="45153"/>
                </a:lnTo>
                <a:lnTo>
                  <a:pt x="36603" y="45257"/>
                </a:lnTo>
                <a:lnTo>
                  <a:pt x="35586" y="45309"/>
                </a:lnTo>
                <a:lnTo>
                  <a:pt x="34193" y="45621"/>
                </a:lnTo>
                <a:lnTo>
                  <a:pt x="32426" y="45516"/>
                </a:lnTo>
                <a:lnTo>
                  <a:pt x="30238" y="45662"/>
                </a:lnTo>
                <a:lnTo>
                  <a:pt x="23282" y="45530"/>
                </a:lnTo>
                <a:lnTo>
                  <a:pt x="16008" y="45551"/>
                </a:lnTo>
                <a:lnTo>
                  <a:pt x="13727" y="45570"/>
                </a:lnTo>
                <a:lnTo>
                  <a:pt x="12270" y="45533"/>
                </a:lnTo>
                <a:lnTo>
                  <a:pt x="10959" y="45347"/>
                </a:lnTo>
                <a:lnTo>
                  <a:pt x="9790" y="45258"/>
                </a:lnTo>
                <a:lnTo>
                  <a:pt x="8682" y="45260"/>
                </a:lnTo>
                <a:lnTo>
                  <a:pt x="7938" y="45066"/>
                </a:lnTo>
                <a:lnTo>
                  <a:pt x="7197" y="44796"/>
                </a:lnTo>
                <a:lnTo>
                  <a:pt x="6446" y="44604"/>
                </a:lnTo>
                <a:lnTo>
                  <a:pt x="5600" y="44365"/>
                </a:lnTo>
                <a:lnTo>
                  <a:pt x="5048" y="44018"/>
                </a:lnTo>
                <a:lnTo>
                  <a:pt x="4563" y="43750"/>
                </a:lnTo>
                <a:lnTo>
                  <a:pt x="3959" y="43410"/>
                </a:lnTo>
                <a:lnTo>
                  <a:pt x="3594" y="42975"/>
                </a:lnTo>
                <a:lnTo>
                  <a:pt x="3186" y="42697"/>
                </a:lnTo>
                <a:lnTo>
                  <a:pt x="2620" y="42303"/>
                </a:lnTo>
                <a:lnTo>
                  <a:pt x="2286" y="41757"/>
                </a:lnTo>
                <a:lnTo>
                  <a:pt x="1982" y="41291"/>
                </a:lnTo>
                <a:lnTo>
                  <a:pt x="1730" y="40588"/>
                </a:lnTo>
                <a:lnTo>
                  <a:pt x="1435" y="40014"/>
                </a:lnTo>
                <a:lnTo>
                  <a:pt x="1122" y="39512"/>
                </a:lnTo>
                <a:lnTo>
                  <a:pt x="819" y="38752"/>
                </a:lnTo>
                <a:lnTo>
                  <a:pt x="743" y="37908"/>
                </a:lnTo>
                <a:lnTo>
                  <a:pt x="686" y="37188"/>
                </a:lnTo>
                <a:lnTo>
                  <a:pt x="553" y="36076"/>
                </a:lnTo>
                <a:lnTo>
                  <a:pt x="329" y="34924"/>
                </a:lnTo>
                <a:lnTo>
                  <a:pt x="312" y="33799"/>
                </a:lnTo>
                <a:lnTo>
                  <a:pt x="28" y="32016"/>
                </a:lnTo>
                <a:lnTo>
                  <a:pt x="201" y="29765"/>
                </a:lnTo>
                <a:lnTo>
                  <a:pt x="200" y="22883"/>
                </a:lnTo>
                <a:lnTo>
                  <a:pt x="0" y="15942"/>
                </a:lnTo>
                <a:lnTo>
                  <a:pt x="265" y="13502"/>
                </a:lnTo>
                <a:lnTo>
                  <a:pt x="214" y="11959"/>
                </a:lnTo>
                <a:lnTo>
                  <a:pt x="386" y="10588"/>
                </a:lnTo>
                <a:lnTo>
                  <a:pt x="487" y="9677"/>
                </a:lnTo>
                <a:lnTo>
                  <a:pt x="448" y="8589"/>
                </a:lnTo>
                <a:lnTo>
                  <a:pt x="746" y="7703"/>
                </a:lnTo>
                <a:lnTo>
                  <a:pt x="958" y="6869"/>
                </a:lnTo>
                <a:lnTo>
                  <a:pt x="1193" y="6167"/>
                </a:lnTo>
                <a:lnTo>
                  <a:pt x="1301" y="5597"/>
                </a:lnTo>
                <a:lnTo>
                  <a:pt x="1693" y="4910"/>
                </a:lnTo>
                <a:lnTo>
                  <a:pt x="1999" y="4336"/>
                </a:lnTo>
                <a:lnTo>
                  <a:pt x="2424" y="3801"/>
                </a:lnTo>
                <a:lnTo>
                  <a:pt x="2741" y="3399"/>
                </a:lnTo>
                <a:lnTo>
                  <a:pt x="3046" y="3119"/>
                </a:lnTo>
                <a:lnTo>
                  <a:pt x="3610" y="2630"/>
                </a:lnTo>
                <a:lnTo>
                  <a:pt x="4051" y="2301"/>
                </a:lnTo>
                <a:lnTo>
                  <a:pt x="4507" y="1919"/>
                </a:lnTo>
                <a:lnTo>
                  <a:pt x="5098" y="1722"/>
                </a:lnTo>
                <a:lnTo>
                  <a:pt x="5586" y="1445"/>
                </a:lnTo>
                <a:lnTo>
                  <a:pt x="6358" y="1187"/>
                </a:lnTo>
                <a:lnTo>
                  <a:pt x="7169" y="785"/>
                </a:lnTo>
                <a:lnTo>
                  <a:pt x="7989" y="646"/>
                </a:lnTo>
                <a:lnTo>
                  <a:pt x="8765" y="597"/>
                </a:lnTo>
                <a:lnTo>
                  <a:pt x="9704" y="382"/>
                </a:lnTo>
                <a:lnTo>
                  <a:pt x="10793" y="367"/>
                </a:lnTo>
                <a:lnTo>
                  <a:pt x="12169" y="196"/>
                </a:lnTo>
                <a:lnTo>
                  <a:pt x="13741" y="87"/>
                </a:lnTo>
                <a:lnTo>
                  <a:pt x="16082" y="108"/>
                </a:lnTo>
                <a:lnTo>
                  <a:pt x="23083" y="161"/>
                </a:lnTo>
                <a:lnTo>
                  <a:pt x="30196" y="0"/>
                </a:lnTo>
                <a:lnTo>
                  <a:pt x="32624" y="162"/>
                </a:lnTo>
                <a:lnTo>
                  <a:pt x="34164" y="105"/>
                </a:lnTo>
                <a:lnTo>
                  <a:pt x="35532" y="251"/>
                </a:lnTo>
                <a:lnTo>
                  <a:pt x="36710" y="264"/>
                </a:lnTo>
                <a:lnTo>
                  <a:pt x="37573" y="519"/>
                </a:lnTo>
                <a:lnTo>
                  <a:pt x="38504" y="597"/>
                </a:lnTo>
                <a:lnTo>
                  <a:pt x="39223" y="856"/>
                </a:lnTo>
                <a:lnTo>
                  <a:pt x="40091" y="1107"/>
                </a:lnTo>
                <a:lnTo>
                  <a:pt x="40659" y="1224"/>
                </a:lnTo>
                <a:lnTo>
                  <a:pt x="41275" y="1613"/>
                </a:lnTo>
                <a:lnTo>
                  <a:pt x="41973" y="1880"/>
                </a:lnTo>
                <a:lnTo>
                  <a:pt x="42271" y="2191"/>
                </a:lnTo>
                <a:lnTo>
                  <a:pt x="42931" y="2545"/>
                </a:lnTo>
                <a:lnTo>
                  <a:pt x="43296" y="3031"/>
                </a:lnTo>
                <a:lnTo>
                  <a:pt x="43736" y="3490"/>
                </a:lnTo>
                <a:lnTo>
                  <a:pt x="44082" y="3917"/>
                </a:lnTo>
                <a:lnTo>
                  <a:pt x="44379" y="4456"/>
                </a:lnTo>
                <a:lnTo>
                  <a:pt x="44726" y="4989"/>
                </a:lnTo>
                <a:lnTo>
                  <a:pt x="45079" y="5523"/>
                </a:lnTo>
                <a:lnTo>
                  <a:pt x="45314" y="6256"/>
                </a:lnTo>
                <a:lnTo>
                  <a:pt x="45540" y="6839"/>
                </a:lnTo>
                <a:lnTo>
                  <a:pt x="45547" y="7643"/>
                </a:lnTo>
                <a:lnTo>
                  <a:pt x="45827" y="8506"/>
                </a:lnTo>
                <a:lnTo>
                  <a:pt x="46009" y="9662"/>
                </a:lnTo>
                <a:lnTo>
                  <a:pt x="46060" y="10570"/>
                </a:lnTo>
                <a:lnTo>
                  <a:pt x="46033" y="11965"/>
                </a:lnTo>
                <a:lnTo>
                  <a:pt x="46216" y="13588"/>
                </a:lnTo>
                <a:lnTo>
                  <a:pt x="46352" y="15870"/>
                </a:lnTo>
                <a:lnTo>
                  <a:pt x="46247" y="22922"/>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9748693" y="1792956"/>
            <a:ext cx="4231112" cy="4176796"/>
          </a:xfrm>
          <a:custGeom>
            <a:avLst/>
            <a:gdLst/>
            <a:ahLst/>
            <a:cxnLst/>
            <a:rect l="l" t="t" r="r" b="b"/>
            <a:pathLst>
              <a:path w="46272" h="45678">
                <a:moveTo>
                  <a:pt x="46272" y="22815"/>
                </a:moveTo>
                <a:lnTo>
                  <a:pt x="46256" y="29680"/>
                </a:lnTo>
                <a:lnTo>
                  <a:pt x="46112" y="32046"/>
                </a:lnTo>
                <a:lnTo>
                  <a:pt x="46060" y="33673"/>
                </a:lnTo>
                <a:lnTo>
                  <a:pt x="46021" y="34921"/>
                </a:lnTo>
                <a:lnTo>
                  <a:pt x="45909" y="36104"/>
                </a:lnTo>
                <a:lnTo>
                  <a:pt x="45839" y="37058"/>
                </a:lnTo>
                <a:lnTo>
                  <a:pt x="45698" y="37814"/>
                </a:lnTo>
                <a:lnTo>
                  <a:pt x="45571" y="38783"/>
                </a:lnTo>
                <a:lnTo>
                  <a:pt x="45344" y="39470"/>
                </a:lnTo>
                <a:lnTo>
                  <a:pt x="45083" y="40128"/>
                </a:lnTo>
                <a:lnTo>
                  <a:pt x="44780" y="40582"/>
                </a:lnTo>
                <a:lnTo>
                  <a:pt x="44490" y="41131"/>
                </a:lnTo>
                <a:lnTo>
                  <a:pt x="44081" y="41735"/>
                </a:lnTo>
                <a:lnTo>
                  <a:pt x="43553" y="42137"/>
                </a:lnTo>
                <a:lnTo>
                  <a:pt x="43240" y="42626"/>
                </a:lnTo>
                <a:lnTo>
                  <a:pt x="42716" y="42923"/>
                </a:lnTo>
                <a:lnTo>
                  <a:pt x="42493" y="43393"/>
                </a:lnTo>
                <a:lnTo>
                  <a:pt x="41884" y="43789"/>
                </a:lnTo>
                <a:lnTo>
                  <a:pt x="41277" y="44017"/>
                </a:lnTo>
                <a:lnTo>
                  <a:pt x="40625" y="44372"/>
                </a:lnTo>
                <a:lnTo>
                  <a:pt x="40142" y="44606"/>
                </a:lnTo>
                <a:lnTo>
                  <a:pt x="39230" y="44722"/>
                </a:lnTo>
                <a:lnTo>
                  <a:pt x="38554" y="45044"/>
                </a:lnTo>
                <a:lnTo>
                  <a:pt x="37615" y="45037"/>
                </a:lnTo>
                <a:lnTo>
                  <a:pt x="36546" y="45161"/>
                </a:lnTo>
                <a:lnTo>
                  <a:pt x="35416" y="45286"/>
                </a:lnTo>
                <a:lnTo>
                  <a:pt x="34165" y="45346"/>
                </a:lnTo>
                <a:lnTo>
                  <a:pt x="32666" y="45406"/>
                </a:lnTo>
                <a:lnTo>
                  <a:pt x="30179" y="45678"/>
                </a:lnTo>
                <a:lnTo>
                  <a:pt x="23235" y="45597"/>
                </a:lnTo>
                <a:lnTo>
                  <a:pt x="16018" y="45522"/>
                </a:lnTo>
                <a:lnTo>
                  <a:pt x="13913" y="45418"/>
                </a:lnTo>
                <a:lnTo>
                  <a:pt x="12132" y="45407"/>
                </a:lnTo>
                <a:lnTo>
                  <a:pt x="10844" y="45473"/>
                </a:lnTo>
                <a:lnTo>
                  <a:pt x="9620" y="45245"/>
                </a:lnTo>
                <a:lnTo>
                  <a:pt x="8838" y="45137"/>
                </a:lnTo>
                <a:lnTo>
                  <a:pt x="7869" y="44943"/>
                </a:lnTo>
                <a:lnTo>
                  <a:pt x="6964" y="44812"/>
                </a:lnTo>
                <a:lnTo>
                  <a:pt x="6426" y="44581"/>
                </a:lnTo>
                <a:lnTo>
                  <a:pt x="5815" y="44272"/>
                </a:lnTo>
                <a:lnTo>
                  <a:pt x="5096" y="43992"/>
                </a:lnTo>
                <a:lnTo>
                  <a:pt x="4518" y="43616"/>
                </a:lnTo>
                <a:lnTo>
                  <a:pt x="3925" y="43505"/>
                </a:lnTo>
                <a:lnTo>
                  <a:pt x="3548" y="43061"/>
                </a:lnTo>
                <a:lnTo>
                  <a:pt x="3129" y="42537"/>
                </a:lnTo>
                <a:lnTo>
                  <a:pt x="2625" y="42306"/>
                </a:lnTo>
                <a:lnTo>
                  <a:pt x="2434" y="41696"/>
                </a:lnTo>
                <a:lnTo>
                  <a:pt x="2074" y="41297"/>
                </a:lnTo>
                <a:lnTo>
                  <a:pt x="1775" y="40630"/>
                </a:lnTo>
                <a:lnTo>
                  <a:pt x="1416" y="40086"/>
                </a:lnTo>
                <a:lnTo>
                  <a:pt x="1055" y="39490"/>
                </a:lnTo>
                <a:lnTo>
                  <a:pt x="797" y="38659"/>
                </a:lnTo>
                <a:lnTo>
                  <a:pt x="637" y="37953"/>
                </a:lnTo>
                <a:lnTo>
                  <a:pt x="587" y="37070"/>
                </a:lnTo>
                <a:lnTo>
                  <a:pt x="355" y="36169"/>
                </a:lnTo>
                <a:lnTo>
                  <a:pt x="190" y="34915"/>
                </a:lnTo>
                <a:lnTo>
                  <a:pt x="273" y="33526"/>
                </a:lnTo>
                <a:lnTo>
                  <a:pt x="152" y="31982"/>
                </a:lnTo>
                <a:lnTo>
                  <a:pt x="0" y="29727"/>
                </a:lnTo>
                <a:lnTo>
                  <a:pt x="204" y="22765"/>
                </a:lnTo>
                <a:lnTo>
                  <a:pt x="218" y="15885"/>
                </a:lnTo>
                <a:lnTo>
                  <a:pt x="205" y="13678"/>
                </a:lnTo>
                <a:lnTo>
                  <a:pt x="286" y="11826"/>
                </a:lnTo>
                <a:lnTo>
                  <a:pt x="227" y="10673"/>
                </a:lnTo>
                <a:lnTo>
                  <a:pt x="299" y="9584"/>
                </a:lnTo>
                <a:lnTo>
                  <a:pt x="469" y="8610"/>
                </a:lnTo>
                <a:lnTo>
                  <a:pt x="705" y="7696"/>
                </a:lnTo>
                <a:lnTo>
                  <a:pt x="1001" y="6814"/>
                </a:lnTo>
                <a:lnTo>
                  <a:pt x="1026" y="6212"/>
                </a:lnTo>
                <a:lnTo>
                  <a:pt x="1395" y="5490"/>
                </a:lnTo>
                <a:lnTo>
                  <a:pt x="1793" y="5017"/>
                </a:lnTo>
                <a:lnTo>
                  <a:pt x="1917" y="4357"/>
                </a:lnTo>
                <a:lnTo>
                  <a:pt x="2280" y="3876"/>
                </a:lnTo>
                <a:lnTo>
                  <a:pt x="2640" y="3309"/>
                </a:lnTo>
                <a:lnTo>
                  <a:pt x="3197" y="2945"/>
                </a:lnTo>
                <a:lnTo>
                  <a:pt x="3407" y="2530"/>
                </a:lnTo>
                <a:lnTo>
                  <a:pt x="3937" y="2246"/>
                </a:lnTo>
                <a:lnTo>
                  <a:pt x="4497" y="1877"/>
                </a:lnTo>
                <a:lnTo>
                  <a:pt x="5165" y="1453"/>
                </a:lnTo>
                <a:lnTo>
                  <a:pt x="5783" y="1298"/>
                </a:lnTo>
                <a:lnTo>
                  <a:pt x="6368" y="935"/>
                </a:lnTo>
                <a:lnTo>
                  <a:pt x="7118" y="929"/>
                </a:lnTo>
                <a:lnTo>
                  <a:pt x="7784" y="633"/>
                </a:lnTo>
                <a:lnTo>
                  <a:pt x="8713" y="527"/>
                </a:lnTo>
                <a:lnTo>
                  <a:pt x="9713" y="328"/>
                </a:lnTo>
                <a:lnTo>
                  <a:pt x="10898" y="300"/>
                </a:lnTo>
                <a:lnTo>
                  <a:pt x="12140" y="131"/>
                </a:lnTo>
                <a:lnTo>
                  <a:pt x="13895" y="30"/>
                </a:lnTo>
                <a:lnTo>
                  <a:pt x="16107" y="27"/>
                </a:lnTo>
                <a:lnTo>
                  <a:pt x="23118" y="13"/>
                </a:lnTo>
                <a:lnTo>
                  <a:pt x="30292" y="1"/>
                </a:lnTo>
                <a:lnTo>
                  <a:pt x="32457" y="0"/>
                </a:lnTo>
                <a:lnTo>
                  <a:pt x="34267" y="208"/>
                </a:lnTo>
                <a:lnTo>
                  <a:pt x="35526" y="168"/>
                </a:lnTo>
                <a:lnTo>
                  <a:pt x="36672" y="306"/>
                </a:lnTo>
                <a:lnTo>
                  <a:pt x="37524" y="437"/>
                </a:lnTo>
                <a:lnTo>
                  <a:pt x="38516" y="514"/>
                </a:lnTo>
                <a:lnTo>
                  <a:pt x="39366" y="783"/>
                </a:lnTo>
                <a:lnTo>
                  <a:pt x="39981" y="946"/>
                </a:lnTo>
                <a:lnTo>
                  <a:pt x="40750" y="1291"/>
                </a:lnTo>
                <a:lnTo>
                  <a:pt x="41309" y="1512"/>
                </a:lnTo>
                <a:lnTo>
                  <a:pt x="41914" y="1891"/>
                </a:lnTo>
                <a:lnTo>
                  <a:pt x="42478" y="2107"/>
                </a:lnTo>
                <a:lnTo>
                  <a:pt x="42754" y="2622"/>
                </a:lnTo>
                <a:lnTo>
                  <a:pt x="43266" y="2881"/>
                </a:lnTo>
                <a:lnTo>
                  <a:pt x="43557" y="3364"/>
                </a:lnTo>
                <a:lnTo>
                  <a:pt x="43991" y="3840"/>
                </a:lnTo>
                <a:lnTo>
                  <a:pt x="44313" y="4304"/>
                </a:lnTo>
                <a:lnTo>
                  <a:pt x="44769" y="4878"/>
                </a:lnTo>
                <a:lnTo>
                  <a:pt x="45063" y="5646"/>
                </a:lnTo>
                <a:lnTo>
                  <a:pt x="45326" y="6127"/>
                </a:lnTo>
                <a:lnTo>
                  <a:pt x="45366" y="6992"/>
                </a:lnTo>
                <a:lnTo>
                  <a:pt x="45715" y="7734"/>
                </a:lnTo>
                <a:lnTo>
                  <a:pt x="45779" y="8638"/>
                </a:lnTo>
                <a:lnTo>
                  <a:pt x="46022" y="9633"/>
                </a:lnTo>
                <a:lnTo>
                  <a:pt x="45975" y="10675"/>
                </a:lnTo>
                <a:lnTo>
                  <a:pt x="46038" y="12029"/>
                </a:lnTo>
                <a:lnTo>
                  <a:pt x="46258" y="13524"/>
                </a:lnTo>
                <a:lnTo>
                  <a:pt x="46157" y="15878"/>
                </a:lnTo>
                <a:lnTo>
                  <a:pt x="46237" y="22749"/>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3904366" y="4988418"/>
            <a:ext cx="56418" cy="342168"/>
          </a:xfrm>
          <a:custGeom>
            <a:avLst/>
            <a:gdLst/>
            <a:ahLst/>
            <a:cxnLst/>
            <a:rect l="l" t="t" r="r" b="b"/>
            <a:pathLst>
              <a:path w="617" h="3742">
                <a:moveTo>
                  <a:pt x="617" y="0"/>
                </a:moveTo>
                <a:lnTo>
                  <a:pt x="502" y="1112"/>
                </a:lnTo>
                <a:lnTo>
                  <a:pt x="361" y="2087"/>
                </a:lnTo>
                <a:lnTo>
                  <a:pt x="194" y="2957"/>
                </a:lnTo>
                <a:lnTo>
                  <a:pt x="0" y="3742"/>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13268858" y="5818510"/>
            <a:ext cx="255118" cy="85039"/>
          </a:xfrm>
          <a:custGeom>
            <a:avLst/>
            <a:gdLst/>
            <a:ahLst/>
            <a:cxnLst/>
            <a:rect l="l" t="t" r="r" b="b"/>
            <a:pathLst>
              <a:path w="2790" h="930">
                <a:moveTo>
                  <a:pt x="2790" y="0"/>
                </a:moveTo>
                <a:lnTo>
                  <a:pt x="2181" y="274"/>
                </a:lnTo>
                <a:lnTo>
                  <a:pt x="1519" y="520"/>
                </a:lnTo>
                <a:lnTo>
                  <a:pt x="795" y="739"/>
                </a:lnTo>
                <a:lnTo>
                  <a:pt x="0" y="93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0396271" y="5886084"/>
            <a:ext cx="346649" cy="55687"/>
          </a:xfrm>
          <a:custGeom>
            <a:avLst/>
            <a:gdLst/>
            <a:ahLst/>
            <a:cxnLst/>
            <a:rect l="l" t="t" r="r" b="b"/>
            <a:pathLst>
              <a:path w="3791" h="609">
                <a:moveTo>
                  <a:pt x="3791" y="609"/>
                </a:moveTo>
                <a:lnTo>
                  <a:pt x="2664" y="495"/>
                </a:lnTo>
                <a:lnTo>
                  <a:pt x="1676" y="356"/>
                </a:lnTo>
                <a:lnTo>
                  <a:pt x="795" y="191"/>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9815718" y="5258806"/>
            <a:ext cx="86136" cy="251826"/>
          </a:xfrm>
          <a:custGeom>
            <a:avLst/>
            <a:gdLst/>
            <a:ahLst/>
            <a:cxnLst/>
            <a:rect l="l" t="t" r="r" b="b"/>
            <a:pathLst>
              <a:path w="942" h="2754">
                <a:moveTo>
                  <a:pt x="942" y="2754"/>
                </a:moveTo>
                <a:lnTo>
                  <a:pt x="664" y="2153"/>
                </a:lnTo>
                <a:lnTo>
                  <a:pt x="415" y="1499"/>
                </a:lnTo>
                <a:lnTo>
                  <a:pt x="194" y="785"/>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9777039" y="2423526"/>
            <a:ext cx="56418" cy="342168"/>
          </a:xfrm>
          <a:custGeom>
            <a:avLst/>
            <a:gdLst/>
            <a:ahLst/>
            <a:cxnLst/>
            <a:rect l="l" t="t" r="r" b="b"/>
            <a:pathLst>
              <a:path w="617" h="3742">
                <a:moveTo>
                  <a:pt x="0" y="3742"/>
                </a:moveTo>
                <a:lnTo>
                  <a:pt x="115" y="2630"/>
                </a:lnTo>
                <a:lnTo>
                  <a:pt x="256" y="1655"/>
                </a:lnTo>
                <a:lnTo>
                  <a:pt x="423" y="785"/>
                </a:lnTo>
                <a:lnTo>
                  <a:pt x="617"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10213848" y="1850563"/>
            <a:ext cx="255118" cy="85039"/>
          </a:xfrm>
          <a:custGeom>
            <a:avLst/>
            <a:gdLst/>
            <a:ahLst/>
            <a:cxnLst/>
            <a:rect l="l" t="t" r="r" b="b"/>
            <a:pathLst>
              <a:path w="2790" h="930">
                <a:moveTo>
                  <a:pt x="0" y="930"/>
                </a:moveTo>
                <a:lnTo>
                  <a:pt x="609" y="656"/>
                </a:lnTo>
                <a:lnTo>
                  <a:pt x="1271" y="410"/>
                </a:lnTo>
                <a:lnTo>
                  <a:pt x="1995" y="191"/>
                </a:lnTo>
                <a:lnTo>
                  <a:pt x="279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12994904" y="1812341"/>
            <a:ext cx="346649" cy="55687"/>
          </a:xfrm>
          <a:custGeom>
            <a:avLst/>
            <a:gdLst/>
            <a:ahLst/>
            <a:cxnLst/>
            <a:rect l="l" t="t" r="r" b="b"/>
            <a:pathLst>
              <a:path w="3791" h="609">
                <a:moveTo>
                  <a:pt x="0" y="0"/>
                </a:moveTo>
                <a:lnTo>
                  <a:pt x="1127" y="114"/>
                </a:lnTo>
                <a:lnTo>
                  <a:pt x="2115" y="253"/>
                </a:lnTo>
                <a:lnTo>
                  <a:pt x="2996" y="418"/>
                </a:lnTo>
                <a:lnTo>
                  <a:pt x="3791" y="60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13835969" y="2243480"/>
            <a:ext cx="86136" cy="251826"/>
          </a:xfrm>
          <a:custGeom>
            <a:avLst/>
            <a:gdLst/>
            <a:ahLst/>
            <a:cxnLst/>
            <a:rect l="l" t="t" r="r" b="b"/>
            <a:pathLst>
              <a:path w="942" h="2754">
                <a:moveTo>
                  <a:pt x="0" y="0"/>
                </a:moveTo>
                <a:lnTo>
                  <a:pt x="278" y="601"/>
                </a:lnTo>
                <a:lnTo>
                  <a:pt x="527" y="1255"/>
                </a:lnTo>
                <a:lnTo>
                  <a:pt x="748" y="1969"/>
                </a:lnTo>
                <a:lnTo>
                  <a:pt x="942" y="275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ody: 3 · Re-run the agent"/>
          <p:cNvSpPr txBox="1"/>
          <p:nvPr/>
        </p:nvSpPr>
        <p:spPr>
          <a:xfrm>
            <a:off x="10104120" y="2061209"/>
            <a:ext cx="3529584"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9D7B35"/>
                </a:solidFill>
                <a:latin typeface="Chalkboard SE"/>
              </a:rPr>
              <a:t>3 · Re-run the agent</a:t>
            </a:r>
          </a:p>
        </p:txBody>
      </p:sp>
      <p:sp>
        <p:nvSpPr>
          <p:cNvPr id="60" name="Oval 59"/>
          <p:cNvSpPr/>
          <p:nvPr/>
        </p:nvSpPr>
        <p:spPr>
          <a:xfrm>
            <a:off x="10017252" y="2874899"/>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dy: Needs an accessible pinned model and restorable history"/>
          <p:cNvSpPr txBox="1"/>
          <p:nvPr/>
        </p:nvSpPr>
        <p:spPr>
          <a:xfrm>
            <a:off x="10250424" y="2774315"/>
            <a:ext cx="3483864" cy="705675"/>
          </a:xfrm>
          <a:prstGeom prst="rect">
            <a:avLst/>
          </a:prstGeom>
          <a:noFill/>
        </p:spPr>
        <p:txBody>
          <a:bodyPr wrap="none" lIns="0" rIns="0" tIns="0" bIns="0" anchor="t">
            <a:noAutofit/>
          </a:bodyPr>
          <a:lstStyle/>
          <a:p>
            <a:pPr algn="l">
              <a:lnSpc>
                <a:spcPts val="2508"/>
              </a:lnSpc>
              <a:spcBef>
                <a:spcPts val="0"/>
              </a:spcBef>
              <a:spcAft>
                <a:spcPts val="0"/>
              </a:spcAft>
            </a:pPr>
            <a:r>
              <a:rPr sz="1975" b="0">
                <a:solidFill>
                  <a:srgbClr val="293E46"/>
                </a:solidFill>
                <a:latin typeface="Trebuchet MS"/>
              </a:rPr>
              <a:t>Needs an accessible pinned</a:t>
            </a:r>
            <a:br/>
            <a:r>
              <a:rPr sz="1975" b="0">
                <a:solidFill>
                  <a:srgbClr val="293E46"/>
                </a:solidFill>
                <a:latin typeface="Trebuchet MS"/>
              </a:rPr>
              <a:t>model and restorable history</a:t>
            </a:r>
          </a:p>
        </p:txBody>
      </p:sp>
      <p:sp>
        <p:nvSpPr>
          <p:cNvPr id="62" name="Oval 61"/>
          <p:cNvSpPr/>
          <p:nvPr/>
        </p:nvSpPr>
        <p:spPr>
          <a:xfrm>
            <a:off x="10017252" y="369944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ody: Re-sample after intervention; let subsequent actions change"/>
          <p:cNvSpPr txBox="1"/>
          <p:nvPr/>
        </p:nvSpPr>
        <p:spPr>
          <a:xfrm>
            <a:off x="10250424" y="3598862"/>
            <a:ext cx="3483864" cy="1024223"/>
          </a:xfrm>
          <a:prstGeom prst="rect">
            <a:avLst/>
          </a:prstGeom>
          <a:noFill/>
        </p:spPr>
        <p:txBody>
          <a:bodyPr wrap="none" lIns="0" rIns="0" tIns="0" bIns="0" anchor="t">
            <a:noAutofit/>
          </a:bodyPr>
          <a:lstStyle/>
          <a:p>
            <a:pPr algn="l">
              <a:lnSpc>
                <a:spcPts val="2508"/>
              </a:lnSpc>
              <a:spcBef>
                <a:spcPts val="0"/>
              </a:spcBef>
              <a:spcAft>
                <a:spcPts val="0"/>
              </a:spcAft>
            </a:pPr>
            <a:r>
              <a:rPr sz="1975" b="0">
                <a:solidFill>
                  <a:srgbClr val="293E46"/>
                </a:solidFill>
                <a:latin typeface="Trebuchet MS"/>
              </a:rPr>
              <a:t>Re-sample after</a:t>
            </a:r>
            <a:br/>
            <a:r>
              <a:rPr sz="1975" b="0">
                <a:solidFill>
                  <a:srgbClr val="293E46"/>
                </a:solidFill>
                <a:latin typeface="Trebuchet MS"/>
              </a:rPr>
              <a:t>intervention; let subsequent</a:t>
            </a:r>
            <a:br/>
            <a:r>
              <a:rPr sz="1975" b="0">
                <a:solidFill>
                  <a:srgbClr val="293E46"/>
                </a:solidFill>
                <a:latin typeface="Trebuchet MS"/>
              </a:rPr>
              <a:t>actions change</a:t>
            </a:r>
          </a:p>
        </p:txBody>
      </p:sp>
      <p:sp>
        <p:nvSpPr>
          <p:cNvPr id="64" name="Oval 63"/>
          <p:cNvSpPr/>
          <p:nvPr/>
        </p:nvSpPr>
        <p:spPr>
          <a:xfrm>
            <a:off x="10017252" y="4842541"/>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ody: Behavioral conclusions apply to the tested model, environment an"/>
          <p:cNvSpPr txBox="1"/>
          <p:nvPr/>
        </p:nvSpPr>
        <p:spPr>
          <a:xfrm>
            <a:off x="10250424" y="4741957"/>
            <a:ext cx="3483864" cy="1024223"/>
          </a:xfrm>
          <a:prstGeom prst="rect">
            <a:avLst/>
          </a:prstGeom>
          <a:noFill/>
        </p:spPr>
        <p:txBody>
          <a:bodyPr wrap="none" lIns="0" rIns="0" tIns="0" bIns="0" anchor="t">
            <a:noAutofit/>
          </a:bodyPr>
          <a:lstStyle/>
          <a:p>
            <a:pPr algn="l">
              <a:lnSpc>
                <a:spcPts val="2508"/>
              </a:lnSpc>
              <a:spcBef>
                <a:spcPts val="0"/>
              </a:spcBef>
              <a:spcAft>
                <a:spcPts val="0"/>
              </a:spcAft>
            </a:pPr>
            <a:r>
              <a:rPr sz="1975" b="0">
                <a:solidFill>
                  <a:srgbClr val="293E46"/>
                </a:solidFill>
                <a:latin typeface="Trebuchet MS"/>
              </a:rPr>
              <a:t>Behavioral conclusions apply</a:t>
            </a:r>
            <a:br/>
            <a:r>
              <a:rPr sz="1975" b="0">
                <a:solidFill>
                  <a:srgbClr val="293E46"/>
                </a:solidFill>
                <a:latin typeface="Trebuchet MS"/>
              </a:rPr>
              <a:t>to the tested model,</a:t>
            </a:r>
            <a:br/>
            <a:r>
              <a:rPr sz="1975" b="0">
                <a:solidFill>
                  <a:srgbClr val="293E46"/>
                </a:solidFill>
                <a:latin typeface="Trebuchet MS"/>
              </a:rPr>
              <a:t>environment and conditions</a:t>
            </a:r>
          </a:p>
        </p:txBody>
      </p:sp>
      <p:sp>
        <p:nvSpPr>
          <p:cNvPr id="66" name="Rounded Rectangle 65"/>
          <p:cNvSpPr/>
          <p:nvPr/>
        </p:nvSpPr>
        <p:spPr>
          <a:xfrm>
            <a:off x="640080" y="6281928"/>
            <a:ext cx="13350240" cy="1115568"/>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654345" y="6288054"/>
            <a:ext cx="13326831" cy="1108070"/>
          </a:xfrm>
          <a:custGeom>
            <a:avLst/>
            <a:gdLst/>
            <a:ahLst/>
            <a:cxnLst/>
            <a:rect l="l" t="t" r="r" b="b"/>
            <a:pathLst>
              <a:path w="145744" h="12118">
                <a:moveTo>
                  <a:pt x="145600" y="5922"/>
                </a:moveTo>
                <a:lnTo>
                  <a:pt x="145744" y="7841"/>
                </a:lnTo>
                <a:lnTo>
                  <a:pt x="145629" y="8544"/>
                </a:lnTo>
                <a:lnTo>
                  <a:pt x="145251" y="8884"/>
                </a:lnTo>
                <a:lnTo>
                  <a:pt x="145141" y="9146"/>
                </a:lnTo>
                <a:lnTo>
                  <a:pt x="144737" y="9398"/>
                </a:lnTo>
                <a:lnTo>
                  <a:pt x="144328" y="9768"/>
                </a:lnTo>
                <a:lnTo>
                  <a:pt x="143764" y="10109"/>
                </a:lnTo>
                <a:lnTo>
                  <a:pt x="143236" y="10232"/>
                </a:lnTo>
                <a:lnTo>
                  <a:pt x="142392" y="10454"/>
                </a:lnTo>
                <a:lnTo>
                  <a:pt x="141548" y="10638"/>
                </a:lnTo>
                <a:lnTo>
                  <a:pt x="140833" y="10614"/>
                </a:lnTo>
                <a:lnTo>
                  <a:pt x="139853" y="10937"/>
                </a:lnTo>
                <a:lnTo>
                  <a:pt x="138638" y="11062"/>
                </a:lnTo>
                <a:lnTo>
                  <a:pt x="137532" y="11213"/>
                </a:lnTo>
                <a:lnTo>
                  <a:pt x="136219" y="11299"/>
                </a:lnTo>
                <a:lnTo>
                  <a:pt x="134783" y="11458"/>
                </a:lnTo>
                <a:lnTo>
                  <a:pt x="133344" y="11345"/>
                </a:lnTo>
                <a:lnTo>
                  <a:pt x="131704" y="11501"/>
                </a:lnTo>
                <a:lnTo>
                  <a:pt x="129983" y="11559"/>
                </a:lnTo>
                <a:lnTo>
                  <a:pt x="128039" y="11587"/>
                </a:lnTo>
                <a:lnTo>
                  <a:pt x="125941" y="11701"/>
                </a:lnTo>
                <a:lnTo>
                  <a:pt x="123817" y="11864"/>
                </a:lnTo>
                <a:lnTo>
                  <a:pt x="121218" y="11949"/>
                </a:lnTo>
                <a:lnTo>
                  <a:pt x="118484" y="11927"/>
                </a:lnTo>
                <a:lnTo>
                  <a:pt x="115162" y="12047"/>
                </a:lnTo>
                <a:lnTo>
                  <a:pt x="111695" y="11988"/>
                </a:lnTo>
                <a:lnTo>
                  <a:pt x="107587" y="12063"/>
                </a:lnTo>
                <a:lnTo>
                  <a:pt x="102457" y="12114"/>
                </a:lnTo>
                <a:lnTo>
                  <a:pt x="95147" y="12118"/>
                </a:lnTo>
                <a:lnTo>
                  <a:pt x="72866" y="12009"/>
                </a:lnTo>
                <a:lnTo>
                  <a:pt x="50576" y="11927"/>
                </a:lnTo>
                <a:lnTo>
                  <a:pt x="43383" y="12001"/>
                </a:lnTo>
                <a:lnTo>
                  <a:pt x="38213" y="12095"/>
                </a:lnTo>
                <a:lnTo>
                  <a:pt x="34045" y="11955"/>
                </a:lnTo>
                <a:lnTo>
                  <a:pt x="30454" y="11942"/>
                </a:lnTo>
                <a:lnTo>
                  <a:pt x="27346" y="11807"/>
                </a:lnTo>
                <a:lnTo>
                  <a:pt x="24629" y="11871"/>
                </a:lnTo>
                <a:lnTo>
                  <a:pt x="22051" y="11799"/>
                </a:lnTo>
                <a:lnTo>
                  <a:pt x="19764" y="11657"/>
                </a:lnTo>
                <a:lnTo>
                  <a:pt x="17491" y="11713"/>
                </a:lnTo>
                <a:lnTo>
                  <a:pt x="15729" y="11531"/>
                </a:lnTo>
                <a:lnTo>
                  <a:pt x="13969" y="11541"/>
                </a:lnTo>
                <a:lnTo>
                  <a:pt x="12208" y="11327"/>
                </a:lnTo>
                <a:lnTo>
                  <a:pt x="10817" y="11301"/>
                </a:lnTo>
                <a:lnTo>
                  <a:pt x="9320" y="11125"/>
                </a:lnTo>
                <a:lnTo>
                  <a:pt x="8161" y="11230"/>
                </a:lnTo>
                <a:lnTo>
                  <a:pt x="7019" y="11037"/>
                </a:lnTo>
                <a:lnTo>
                  <a:pt x="5775" y="10821"/>
                </a:lnTo>
                <a:lnTo>
                  <a:pt x="4861" y="10745"/>
                </a:lnTo>
                <a:lnTo>
                  <a:pt x="3999" y="10622"/>
                </a:lnTo>
                <a:lnTo>
                  <a:pt x="3215" y="10284"/>
                </a:lnTo>
                <a:lnTo>
                  <a:pt x="2589" y="10257"/>
                </a:lnTo>
                <a:lnTo>
                  <a:pt x="1968" y="10048"/>
                </a:lnTo>
                <a:lnTo>
                  <a:pt x="1499" y="9777"/>
                </a:lnTo>
                <a:lnTo>
                  <a:pt x="942" y="9577"/>
                </a:lnTo>
                <a:lnTo>
                  <a:pt x="527" y="9249"/>
                </a:lnTo>
                <a:lnTo>
                  <a:pt x="332" y="8879"/>
                </a:lnTo>
                <a:lnTo>
                  <a:pt x="34" y="8431"/>
                </a:lnTo>
                <a:lnTo>
                  <a:pt x="2" y="7829"/>
                </a:lnTo>
                <a:lnTo>
                  <a:pt x="0" y="5967"/>
                </a:lnTo>
                <a:lnTo>
                  <a:pt x="84" y="4131"/>
                </a:lnTo>
                <a:lnTo>
                  <a:pt x="72" y="3617"/>
                </a:lnTo>
                <a:lnTo>
                  <a:pt x="228" y="3262"/>
                </a:lnTo>
                <a:lnTo>
                  <a:pt x="682" y="2824"/>
                </a:lnTo>
                <a:lnTo>
                  <a:pt x="936" y="2432"/>
                </a:lnTo>
                <a:lnTo>
                  <a:pt x="1502" y="2210"/>
                </a:lnTo>
                <a:lnTo>
                  <a:pt x="1841" y="2000"/>
                </a:lnTo>
                <a:lnTo>
                  <a:pt x="2444" y="1917"/>
                </a:lnTo>
                <a:lnTo>
                  <a:pt x="3219" y="1562"/>
                </a:lnTo>
                <a:lnTo>
                  <a:pt x="4152" y="1453"/>
                </a:lnTo>
                <a:lnTo>
                  <a:pt x="4856" y="1438"/>
                </a:lnTo>
                <a:lnTo>
                  <a:pt x="5847" y="1247"/>
                </a:lnTo>
                <a:lnTo>
                  <a:pt x="6914" y="994"/>
                </a:lnTo>
                <a:lnTo>
                  <a:pt x="8045" y="980"/>
                </a:lnTo>
                <a:lnTo>
                  <a:pt x="9305" y="791"/>
                </a:lnTo>
                <a:lnTo>
                  <a:pt x="10715" y="722"/>
                </a:lnTo>
                <a:lnTo>
                  <a:pt x="12385" y="726"/>
                </a:lnTo>
                <a:lnTo>
                  <a:pt x="13830" y="658"/>
                </a:lnTo>
                <a:lnTo>
                  <a:pt x="15723" y="567"/>
                </a:lnTo>
                <a:lnTo>
                  <a:pt x="17546" y="375"/>
                </a:lnTo>
                <a:lnTo>
                  <a:pt x="19797" y="231"/>
                </a:lnTo>
                <a:lnTo>
                  <a:pt x="21900" y="376"/>
                </a:lnTo>
                <a:lnTo>
                  <a:pt x="24416" y="120"/>
                </a:lnTo>
                <a:lnTo>
                  <a:pt x="27318" y="111"/>
                </a:lnTo>
                <a:lnTo>
                  <a:pt x="30312" y="129"/>
                </a:lnTo>
                <a:lnTo>
                  <a:pt x="34046" y="108"/>
                </a:lnTo>
                <a:lnTo>
                  <a:pt x="38110" y="192"/>
                </a:lnTo>
                <a:lnTo>
                  <a:pt x="43249" y="23"/>
                </a:lnTo>
                <a:lnTo>
                  <a:pt x="50332" y="73"/>
                </a:lnTo>
                <a:lnTo>
                  <a:pt x="72800" y="138"/>
                </a:lnTo>
                <a:lnTo>
                  <a:pt x="95235" y="10"/>
                </a:lnTo>
                <a:lnTo>
                  <a:pt x="102310" y="89"/>
                </a:lnTo>
                <a:lnTo>
                  <a:pt x="107567" y="46"/>
                </a:lnTo>
                <a:lnTo>
                  <a:pt x="111762" y="0"/>
                </a:lnTo>
                <a:lnTo>
                  <a:pt x="115382" y="202"/>
                </a:lnTo>
                <a:lnTo>
                  <a:pt x="118420" y="66"/>
                </a:lnTo>
                <a:lnTo>
                  <a:pt x="121220" y="268"/>
                </a:lnTo>
                <a:lnTo>
                  <a:pt x="123807" y="223"/>
                </a:lnTo>
                <a:lnTo>
                  <a:pt x="125891" y="254"/>
                </a:lnTo>
                <a:lnTo>
                  <a:pt x="128140" y="326"/>
                </a:lnTo>
                <a:lnTo>
                  <a:pt x="130030" y="502"/>
                </a:lnTo>
                <a:lnTo>
                  <a:pt x="131784" y="560"/>
                </a:lnTo>
                <a:lnTo>
                  <a:pt x="133446" y="597"/>
                </a:lnTo>
                <a:lnTo>
                  <a:pt x="134827" y="714"/>
                </a:lnTo>
                <a:lnTo>
                  <a:pt x="136245" y="862"/>
                </a:lnTo>
                <a:lnTo>
                  <a:pt x="137459" y="1017"/>
                </a:lnTo>
                <a:lnTo>
                  <a:pt x="138748" y="1137"/>
                </a:lnTo>
                <a:lnTo>
                  <a:pt x="139822" y="1298"/>
                </a:lnTo>
                <a:lnTo>
                  <a:pt x="140789" y="1305"/>
                </a:lnTo>
                <a:lnTo>
                  <a:pt x="141580" y="1597"/>
                </a:lnTo>
                <a:lnTo>
                  <a:pt x="142508" y="1680"/>
                </a:lnTo>
                <a:lnTo>
                  <a:pt x="143190" y="1867"/>
                </a:lnTo>
                <a:lnTo>
                  <a:pt x="143779" y="2082"/>
                </a:lnTo>
                <a:lnTo>
                  <a:pt x="144243" y="2327"/>
                </a:lnTo>
                <a:lnTo>
                  <a:pt x="144842" y="2467"/>
                </a:lnTo>
                <a:lnTo>
                  <a:pt x="145044" y="2918"/>
                </a:lnTo>
                <a:lnTo>
                  <a:pt x="145234" y="3205"/>
                </a:lnTo>
                <a:lnTo>
                  <a:pt x="145536" y="3637"/>
                </a:lnTo>
                <a:lnTo>
                  <a:pt x="145678" y="4096"/>
                </a:lnTo>
                <a:lnTo>
                  <a:pt x="145661" y="6133"/>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641452" y="6285860"/>
            <a:ext cx="13342742" cy="1107613"/>
          </a:xfrm>
          <a:custGeom>
            <a:avLst/>
            <a:gdLst/>
            <a:ahLst/>
            <a:cxnLst/>
            <a:rect l="l" t="t" r="r" b="b"/>
            <a:pathLst>
              <a:path w="145918" h="12113">
                <a:moveTo>
                  <a:pt x="145884" y="6094"/>
                </a:moveTo>
                <a:lnTo>
                  <a:pt x="145918" y="7777"/>
                </a:lnTo>
                <a:lnTo>
                  <a:pt x="145818" y="8558"/>
                </a:lnTo>
                <a:lnTo>
                  <a:pt x="145507" y="8918"/>
                </a:lnTo>
                <a:lnTo>
                  <a:pt x="145158" y="9160"/>
                </a:lnTo>
                <a:lnTo>
                  <a:pt x="144983" y="9495"/>
                </a:lnTo>
                <a:lnTo>
                  <a:pt x="144322" y="9851"/>
                </a:lnTo>
                <a:lnTo>
                  <a:pt x="143792" y="9944"/>
                </a:lnTo>
                <a:lnTo>
                  <a:pt x="143292" y="10194"/>
                </a:lnTo>
                <a:lnTo>
                  <a:pt x="142552" y="10416"/>
                </a:lnTo>
                <a:lnTo>
                  <a:pt x="141889" y="10563"/>
                </a:lnTo>
                <a:lnTo>
                  <a:pt x="141021" y="10787"/>
                </a:lnTo>
                <a:lnTo>
                  <a:pt x="139826" y="10815"/>
                </a:lnTo>
                <a:lnTo>
                  <a:pt x="138745" y="11127"/>
                </a:lnTo>
                <a:lnTo>
                  <a:pt x="137666" y="11047"/>
                </a:lnTo>
                <a:lnTo>
                  <a:pt x="136410" y="11195"/>
                </a:lnTo>
                <a:lnTo>
                  <a:pt x="135144" y="11377"/>
                </a:lnTo>
                <a:lnTo>
                  <a:pt x="133576" y="11470"/>
                </a:lnTo>
                <a:lnTo>
                  <a:pt x="131894" y="11639"/>
                </a:lnTo>
                <a:lnTo>
                  <a:pt x="130252" y="11651"/>
                </a:lnTo>
                <a:lnTo>
                  <a:pt x="128317" y="11626"/>
                </a:lnTo>
                <a:lnTo>
                  <a:pt x="126149" y="11824"/>
                </a:lnTo>
                <a:lnTo>
                  <a:pt x="123731" y="11743"/>
                </a:lnTo>
                <a:lnTo>
                  <a:pt x="121417" y="11929"/>
                </a:lnTo>
                <a:lnTo>
                  <a:pt x="118568" y="11924"/>
                </a:lnTo>
                <a:lnTo>
                  <a:pt x="115555" y="11959"/>
                </a:lnTo>
                <a:lnTo>
                  <a:pt x="111865" y="12089"/>
                </a:lnTo>
                <a:lnTo>
                  <a:pt x="107760" y="11888"/>
                </a:lnTo>
                <a:lnTo>
                  <a:pt x="102530" y="11953"/>
                </a:lnTo>
                <a:lnTo>
                  <a:pt x="95429" y="11981"/>
                </a:lnTo>
                <a:lnTo>
                  <a:pt x="72982" y="11942"/>
                </a:lnTo>
                <a:lnTo>
                  <a:pt x="50505" y="12113"/>
                </a:lnTo>
                <a:lnTo>
                  <a:pt x="43553" y="12039"/>
                </a:lnTo>
                <a:lnTo>
                  <a:pt x="38216" y="12096"/>
                </a:lnTo>
                <a:lnTo>
                  <a:pt x="33986" y="12072"/>
                </a:lnTo>
                <a:lnTo>
                  <a:pt x="30548" y="11940"/>
                </a:lnTo>
                <a:lnTo>
                  <a:pt x="27387" y="11800"/>
                </a:lnTo>
                <a:lnTo>
                  <a:pt x="24706" y="11844"/>
                </a:lnTo>
                <a:lnTo>
                  <a:pt x="22098" y="11898"/>
                </a:lnTo>
                <a:lnTo>
                  <a:pt x="19721" y="11657"/>
                </a:lnTo>
                <a:lnTo>
                  <a:pt x="17782" y="11792"/>
                </a:lnTo>
                <a:lnTo>
                  <a:pt x="15865" y="11652"/>
                </a:lnTo>
                <a:lnTo>
                  <a:pt x="14186" y="11635"/>
                </a:lnTo>
                <a:lnTo>
                  <a:pt x="12472" y="11413"/>
                </a:lnTo>
                <a:lnTo>
                  <a:pt x="10934" y="11441"/>
                </a:lnTo>
                <a:lnTo>
                  <a:pt x="9485" y="11146"/>
                </a:lnTo>
                <a:lnTo>
                  <a:pt x="8368" y="11258"/>
                </a:lnTo>
                <a:lnTo>
                  <a:pt x="7051" y="11046"/>
                </a:lnTo>
                <a:lnTo>
                  <a:pt x="6106" y="10941"/>
                </a:lnTo>
                <a:lnTo>
                  <a:pt x="4984" y="10822"/>
                </a:lnTo>
                <a:lnTo>
                  <a:pt x="4204" y="10601"/>
                </a:lnTo>
                <a:lnTo>
                  <a:pt x="3265" y="10327"/>
                </a:lnTo>
                <a:lnTo>
                  <a:pt x="2760" y="10163"/>
                </a:lnTo>
                <a:lnTo>
                  <a:pt x="2145" y="10030"/>
                </a:lnTo>
                <a:lnTo>
                  <a:pt x="1609" y="9902"/>
                </a:lnTo>
                <a:lnTo>
                  <a:pt x="995" y="9492"/>
                </a:lnTo>
                <a:lnTo>
                  <a:pt x="798" y="9313"/>
                </a:lnTo>
                <a:lnTo>
                  <a:pt x="532" y="8858"/>
                </a:lnTo>
                <a:lnTo>
                  <a:pt x="370" y="8477"/>
                </a:lnTo>
                <a:lnTo>
                  <a:pt x="33" y="7776"/>
                </a:lnTo>
                <a:lnTo>
                  <a:pt x="0" y="6011"/>
                </a:lnTo>
                <a:lnTo>
                  <a:pt x="118" y="4156"/>
                </a:lnTo>
                <a:lnTo>
                  <a:pt x="161" y="3534"/>
                </a:lnTo>
                <a:lnTo>
                  <a:pt x="336" y="3311"/>
                </a:lnTo>
                <a:lnTo>
                  <a:pt x="685" y="2969"/>
                </a:lnTo>
                <a:lnTo>
                  <a:pt x="1116" y="2497"/>
                </a:lnTo>
                <a:lnTo>
                  <a:pt x="1658" y="2370"/>
                </a:lnTo>
                <a:lnTo>
                  <a:pt x="2046" y="2045"/>
                </a:lnTo>
                <a:lnTo>
                  <a:pt x="2713" y="1927"/>
                </a:lnTo>
                <a:lnTo>
                  <a:pt x="3293" y="1598"/>
                </a:lnTo>
                <a:lnTo>
                  <a:pt x="4082" y="1449"/>
                </a:lnTo>
                <a:lnTo>
                  <a:pt x="5077" y="1477"/>
                </a:lnTo>
                <a:lnTo>
                  <a:pt x="6043" y="1153"/>
                </a:lnTo>
                <a:lnTo>
                  <a:pt x="6973" y="1110"/>
                </a:lnTo>
                <a:lnTo>
                  <a:pt x="8341" y="1020"/>
                </a:lnTo>
                <a:lnTo>
                  <a:pt x="9645" y="791"/>
                </a:lnTo>
                <a:lnTo>
                  <a:pt x="10992" y="686"/>
                </a:lnTo>
                <a:lnTo>
                  <a:pt x="12323" y="600"/>
                </a:lnTo>
                <a:lnTo>
                  <a:pt x="14106" y="562"/>
                </a:lnTo>
                <a:lnTo>
                  <a:pt x="15762" y="535"/>
                </a:lnTo>
                <a:lnTo>
                  <a:pt x="17755" y="360"/>
                </a:lnTo>
                <a:lnTo>
                  <a:pt x="19890" y="449"/>
                </a:lnTo>
                <a:lnTo>
                  <a:pt x="22081" y="397"/>
                </a:lnTo>
                <a:lnTo>
                  <a:pt x="24544" y="188"/>
                </a:lnTo>
                <a:lnTo>
                  <a:pt x="27519" y="149"/>
                </a:lnTo>
                <a:lnTo>
                  <a:pt x="30612" y="269"/>
                </a:lnTo>
                <a:lnTo>
                  <a:pt x="34097" y="79"/>
                </a:lnTo>
                <a:lnTo>
                  <a:pt x="38319" y="61"/>
                </a:lnTo>
                <a:lnTo>
                  <a:pt x="43373" y="194"/>
                </a:lnTo>
                <a:lnTo>
                  <a:pt x="50587" y="71"/>
                </a:lnTo>
                <a:lnTo>
                  <a:pt x="72916" y="0"/>
                </a:lnTo>
                <a:lnTo>
                  <a:pt x="95250" y="123"/>
                </a:lnTo>
                <a:lnTo>
                  <a:pt x="102396" y="79"/>
                </a:lnTo>
                <a:lnTo>
                  <a:pt x="107678" y="149"/>
                </a:lnTo>
                <a:lnTo>
                  <a:pt x="111769" y="108"/>
                </a:lnTo>
                <a:lnTo>
                  <a:pt x="115367" y="77"/>
                </a:lnTo>
                <a:lnTo>
                  <a:pt x="118605" y="228"/>
                </a:lnTo>
                <a:lnTo>
                  <a:pt x="121455" y="246"/>
                </a:lnTo>
                <a:lnTo>
                  <a:pt x="123799" y="244"/>
                </a:lnTo>
                <a:lnTo>
                  <a:pt x="126104" y="447"/>
                </a:lnTo>
                <a:lnTo>
                  <a:pt x="128179" y="371"/>
                </a:lnTo>
                <a:lnTo>
                  <a:pt x="130020" y="437"/>
                </a:lnTo>
                <a:lnTo>
                  <a:pt x="132038" y="473"/>
                </a:lnTo>
                <a:lnTo>
                  <a:pt x="133415" y="745"/>
                </a:lnTo>
                <a:lnTo>
                  <a:pt x="135066" y="639"/>
                </a:lnTo>
                <a:lnTo>
                  <a:pt x="136467" y="762"/>
                </a:lnTo>
                <a:lnTo>
                  <a:pt x="137804" y="1081"/>
                </a:lnTo>
                <a:lnTo>
                  <a:pt x="138914" y="1007"/>
                </a:lnTo>
                <a:lnTo>
                  <a:pt x="140052" y="1314"/>
                </a:lnTo>
                <a:lnTo>
                  <a:pt x="141021" y="1329"/>
                </a:lnTo>
                <a:lnTo>
                  <a:pt x="141716" y="1460"/>
                </a:lnTo>
                <a:lnTo>
                  <a:pt x="142584" y="1697"/>
                </a:lnTo>
                <a:lnTo>
                  <a:pt x="143153" y="1822"/>
                </a:lnTo>
                <a:lnTo>
                  <a:pt x="143847" y="1971"/>
                </a:lnTo>
                <a:lnTo>
                  <a:pt x="144289" y="2393"/>
                </a:lnTo>
                <a:lnTo>
                  <a:pt x="144856" y="2670"/>
                </a:lnTo>
                <a:lnTo>
                  <a:pt x="145337" y="2810"/>
                </a:lnTo>
                <a:lnTo>
                  <a:pt x="145570" y="3278"/>
                </a:lnTo>
                <a:lnTo>
                  <a:pt x="145800" y="3730"/>
                </a:lnTo>
                <a:lnTo>
                  <a:pt x="145887" y="4288"/>
                </a:lnTo>
                <a:lnTo>
                  <a:pt x="145769" y="6139"/>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3742609" y="7131406"/>
            <a:ext cx="178125" cy="89886"/>
          </a:xfrm>
          <a:custGeom>
            <a:avLst/>
            <a:gdLst/>
            <a:ahLst/>
            <a:cxnLst/>
            <a:rect l="l" t="t" r="r" b="b"/>
            <a:pathLst>
              <a:path w="1948" h="983">
                <a:moveTo>
                  <a:pt x="1948" y="0"/>
                </a:moveTo>
                <a:lnTo>
                  <a:pt x="1585" y="293"/>
                </a:lnTo>
                <a:lnTo>
                  <a:pt x="1141" y="548"/>
                </a:lnTo>
                <a:lnTo>
                  <a:pt x="613" y="777"/>
                </a:lnTo>
                <a:lnTo>
                  <a:pt x="0" y="983"/>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11735775" y="7349399"/>
            <a:ext cx="805678" cy="22311"/>
          </a:xfrm>
          <a:custGeom>
            <a:avLst/>
            <a:gdLst/>
            <a:ahLst/>
            <a:cxnLst/>
            <a:rect l="l" t="t" r="r" b="b"/>
            <a:pathLst>
              <a:path w="8811" h="244">
                <a:moveTo>
                  <a:pt x="8811" y="0"/>
                </a:moveTo>
                <a:lnTo>
                  <a:pt x="6889" y="72"/>
                </a:lnTo>
                <a:lnTo>
                  <a:pt x="4797" y="136"/>
                </a:lnTo>
                <a:lnTo>
                  <a:pt x="2511" y="194"/>
                </a:lnTo>
                <a:lnTo>
                  <a:pt x="0" y="24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2665019" y="7367138"/>
            <a:ext cx="1094720" cy="14539"/>
          </a:xfrm>
          <a:custGeom>
            <a:avLst/>
            <a:gdLst/>
            <a:ahLst/>
            <a:cxnLst/>
            <a:rect l="l" t="t" r="r" b="b"/>
            <a:pathLst>
              <a:path w="11972" h="159">
                <a:moveTo>
                  <a:pt x="11972" y="159"/>
                </a:moveTo>
                <a:lnTo>
                  <a:pt x="8412" y="130"/>
                </a:lnTo>
                <a:lnTo>
                  <a:pt x="5293" y="93"/>
                </a:lnTo>
                <a:lnTo>
                  <a:pt x="2511" y="50"/>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831738" y="7202454"/>
            <a:ext cx="272217" cy="66111"/>
          </a:xfrm>
          <a:custGeom>
            <a:avLst/>
            <a:gdLst/>
            <a:ahLst/>
            <a:cxnLst/>
            <a:rect l="l" t="t" r="r" b="b"/>
            <a:pathLst>
              <a:path w="2977" h="723">
                <a:moveTo>
                  <a:pt x="2977" y="723"/>
                </a:moveTo>
                <a:lnTo>
                  <a:pt x="2099" y="565"/>
                </a:lnTo>
                <a:lnTo>
                  <a:pt x="1312" y="393"/>
                </a:lnTo>
                <a:lnTo>
                  <a:pt x="613" y="206"/>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709666" y="6458133"/>
            <a:ext cx="178125" cy="89886"/>
          </a:xfrm>
          <a:custGeom>
            <a:avLst/>
            <a:gdLst/>
            <a:ahLst/>
            <a:cxnLst/>
            <a:rect l="l" t="t" r="r" b="b"/>
            <a:pathLst>
              <a:path w="1948" h="983">
                <a:moveTo>
                  <a:pt x="0" y="983"/>
                </a:moveTo>
                <a:lnTo>
                  <a:pt x="363" y="690"/>
                </a:lnTo>
                <a:lnTo>
                  <a:pt x="807" y="435"/>
                </a:lnTo>
                <a:lnTo>
                  <a:pt x="1335" y="206"/>
                </a:lnTo>
                <a:lnTo>
                  <a:pt x="1948"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088947" y="6307714"/>
            <a:ext cx="805678" cy="22311"/>
          </a:xfrm>
          <a:custGeom>
            <a:avLst/>
            <a:gdLst/>
            <a:ahLst/>
            <a:cxnLst/>
            <a:rect l="l" t="t" r="r" b="b"/>
            <a:pathLst>
              <a:path w="8811" h="244">
                <a:moveTo>
                  <a:pt x="0" y="244"/>
                </a:moveTo>
                <a:lnTo>
                  <a:pt x="1922" y="172"/>
                </a:lnTo>
                <a:lnTo>
                  <a:pt x="4014" y="108"/>
                </a:lnTo>
                <a:lnTo>
                  <a:pt x="6300" y="50"/>
                </a:lnTo>
                <a:lnTo>
                  <a:pt x="8811"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10870662" y="6297747"/>
            <a:ext cx="1094720" cy="14539"/>
          </a:xfrm>
          <a:custGeom>
            <a:avLst/>
            <a:gdLst/>
            <a:ahLst/>
            <a:cxnLst/>
            <a:rect l="l" t="t" r="r" b="b"/>
            <a:pathLst>
              <a:path w="11972" h="159">
                <a:moveTo>
                  <a:pt x="0" y="0"/>
                </a:moveTo>
                <a:lnTo>
                  <a:pt x="3560" y="29"/>
                </a:lnTo>
                <a:lnTo>
                  <a:pt x="6679" y="66"/>
                </a:lnTo>
                <a:lnTo>
                  <a:pt x="9461" y="109"/>
                </a:lnTo>
                <a:lnTo>
                  <a:pt x="11972" y="15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13526445" y="6410858"/>
            <a:ext cx="272217" cy="66111"/>
          </a:xfrm>
          <a:custGeom>
            <a:avLst/>
            <a:gdLst/>
            <a:ahLst/>
            <a:cxnLst/>
            <a:rect l="l" t="t" r="r" b="b"/>
            <a:pathLst>
              <a:path w="2977" h="723">
                <a:moveTo>
                  <a:pt x="0" y="0"/>
                </a:moveTo>
                <a:lnTo>
                  <a:pt x="878" y="158"/>
                </a:lnTo>
                <a:lnTo>
                  <a:pt x="1665" y="330"/>
                </a:lnTo>
                <a:lnTo>
                  <a:pt x="2364" y="517"/>
                </a:lnTo>
                <a:lnTo>
                  <a:pt x="2977" y="723"/>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ody: Record fidelity independently: matched historical conditions, pa"/>
          <p:cNvSpPr txBox="1"/>
          <p:nvPr/>
        </p:nvSpPr>
        <p:spPr>
          <a:xfrm>
            <a:off x="914400" y="6482842"/>
            <a:ext cx="12801600" cy="713739"/>
          </a:xfrm>
          <a:prstGeom prst="rect">
            <a:avLst/>
          </a:prstGeom>
          <a:noFill/>
        </p:spPr>
        <p:txBody>
          <a:bodyPr wrap="none" lIns="0" rIns="0" tIns="0" bIns="0" anchor="t">
            <a:noAutofit/>
          </a:bodyPr>
          <a:lstStyle/>
          <a:p>
            <a:pPr algn="ctr">
              <a:lnSpc>
                <a:spcPts val="2540"/>
              </a:lnSpc>
              <a:spcBef>
                <a:spcPts val="0"/>
              </a:spcBef>
              <a:spcAft>
                <a:spcPts val="0"/>
              </a:spcAft>
            </a:pPr>
            <a:r>
              <a:rPr sz="2000" b="0">
                <a:solidFill>
                  <a:srgbClr val="293E46"/>
                </a:solidFill>
                <a:latin typeface="Trebuchet MS"/>
              </a:rPr>
              <a:t>Record fidelity independently: matched historical conditions, partial reconstruction, or a controlled</a:t>
            </a:r>
            <a:br/>
            <a:r>
              <a:rPr sz="2000" b="0">
                <a:solidFill>
                  <a:srgbClr val="293E46"/>
                </a:solidFill>
                <a:latin typeface="Trebuchet MS"/>
              </a:rPr>
              <a:t>mechanism study. A / B / C evidence grades do not establish fidelity.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7 · REPLAY FEASIBILITY"/>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7 · REPLAY FEASIBILITY</a:t>
            </a:r>
          </a:p>
        </p:txBody>
      </p:sp>
      <p:sp>
        <p:nvSpPr>
          <p:cNvPr id="3" name="title: The evaluator is part of the incident"/>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The evaluator is part of the incident</a:t>
            </a:r>
          </a:p>
        </p:txBody>
      </p:sp>
      <p:sp>
        <p:nvSpPr>
          <p:cNvPr id="4" name="subtitle: A container rebuild alone does not recover the original causal c"/>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A container rebuild alone does not recover the original causal conditions</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34"/>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34</a:t>
            </a:r>
          </a:p>
        </p:txBody>
      </p:sp>
      <p:sp>
        <p:nvSpPr>
          <p:cNvPr id="12" name="Rounded Rectangle 11"/>
          <p:cNvSpPr/>
          <p:nvPr/>
        </p:nvSpPr>
        <p:spPr>
          <a:xfrm>
            <a:off x="640080" y="1783080"/>
            <a:ext cx="13350240" cy="527420"/>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 Dependency"/>
          <p:cNvSpPr txBox="1"/>
          <p:nvPr/>
        </p:nvSpPr>
        <p:spPr>
          <a:xfrm>
            <a:off x="777240" y="1863306"/>
            <a:ext cx="274320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Dependency</a:t>
            </a:r>
          </a:p>
        </p:txBody>
      </p:sp>
      <p:sp>
        <p:nvSpPr>
          <p:cNvPr id="14" name="body: What can change the behavior"/>
          <p:cNvSpPr txBox="1"/>
          <p:nvPr/>
        </p:nvSpPr>
        <p:spPr>
          <a:xfrm>
            <a:off x="3794760" y="1863306"/>
            <a:ext cx="484632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What can change the behavior</a:t>
            </a:r>
          </a:p>
        </p:txBody>
      </p:sp>
      <p:sp>
        <p:nvSpPr>
          <p:cNvPr id="15" name="body: What the replay must establish"/>
          <p:cNvSpPr txBox="1"/>
          <p:nvPr/>
        </p:nvSpPr>
        <p:spPr>
          <a:xfrm>
            <a:off x="8915400" y="1863306"/>
            <a:ext cx="4937760" cy="366966"/>
          </a:xfrm>
          <a:prstGeom prst="rect">
            <a:avLst/>
          </a:prstGeom>
          <a:noFill/>
        </p:spPr>
        <p:txBody>
          <a:bodyPr wrap="none" lIns="0" rIns="0" tIns="0" bIns="0" anchor="t">
            <a:noAutofit/>
          </a:bodyPr>
          <a:lstStyle/>
          <a:p>
            <a:pPr algn="ctr">
              <a:lnSpc>
                <a:spcPts val="2349"/>
              </a:lnSpc>
              <a:spcBef>
                <a:spcPts val="0"/>
              </a:spcBef>
              <a:spcAft>
                <a:spcPts val="0"/>
              </a:spcAft>
            </a:pPr>
            <a:r>
              <a:rPr sz="1850" b="1">
                <a:solidFill>
                  <a:srgbClr val="4E7892"/>
                </a:solidFill>
                <a:latin typeface="Trebuchet MS"/>
              </a:rPr>
              <a:t>What the replay must establish</a:t>
            </a:r>
          </a:p>
        </p:txBody>
      </p:sp>
      <p:sp>
        <p:nvSpPr>
          <p:cNvPr id="16" name="Rounded Rectangle 15"/>
          <p:cNvSpPr/>
          <p:nvPr/>
        </p:nvSpPr>
        <p:spPr>
          <a:xfrm>
            <a:off x="640080" y="2369936"/>
            <a:ext cx="13350240" cy="844094"/>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 Actor and scaffold"/>
          <p:cNvSpPr txBox="1"/>
          <p:nvPr/>
        </p:nvSpPr>
        <p:spPr>
          <a:xfrm>
            <a:off x="777240" y="2608500"/>
            <a:ext cx="2743200" cy="366966"/>
          </a:xfrm>
          <a:prstGeom prst="rect">
            <a:avLst/>
          </a:prstGeom>
          <a:noFill/>
        </p:spPr>
        <p:txBody>
          <a:bodyPr wrap="none" lIns="0" rIns="0" tIns="0" bIns="0" anchor="t">
            <a:noAutofit/>
          </a:bodyPr>
          <a:lstStyle/>
          <a:p>
            <a:pPr algn="l">
              <a:lnSpc>
                <a:spcPts val="2349"/>
              </a:lnSpc>
              <a:spcBef>
                <a:spcPts val="0"/>
              </a:spcBef>
              <a:spcAft>
                <a:spcPts val="0"/>
              </a:spcAft>
            </a:pPr>
            <a:r>
              <a:rPr sz="1850" b="1">
                <a:solidFill>
                  <a:srgbClr val="4E7892"/>
                </a:solidFill>
                <a:latin typeface="Trebuchet MS"/>
              </a:rPr>
              <a:t>Actor and scaffold</a:t>
            </a:r>
          </a:p>
        </p:txBody>
      </p:sp>
      <p:sp>
        <p:nvSpPr>
          <p:cNvPr id="18" name="body: Checkpoint, prompts, memory, tool routing, sampling and reasonin"/>
          <p:cNvSpPr txBox="1"/>
          <p:nvPr/>
        </p:nvSpPr>
        <p:spPr>
          <a:xfrm>
            <a:off x="3794760" y="2459307"/>
            <a:ext cx="484632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Checkpoint, prompts, memory, tool</a:t>
            </a:r>
            <a:br/>
            <a:r>
              <a:rPr sz="1850" b="0">
                <a:solidFill>
                  <a:srgbClr val="293E46"/>
                </a:solidFill>
                <a:latin typeface="Trebuchet MS"/>
              </a:rPr>
              <a:t>routing, sampling and reasoning settings.</a:t>
            </a:r>
          </a:p>
        </p:txBody>
      </p:sp>
      <p:sp>
        <p:nvSpPr>
          <p:cNvPr id="19" name="body: Pin available versions and history; mark inaccessible internal s"/>
          <p:cNvSpPr txBox="1"/>
          <p:nvPr/>
        </p:nvSpPr>
        <p:spPr>
          <a:xfrm>
            <a:off x="8915400" y="2459307"/>
            <a:ext cx="493776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Pin available versions and history; mark</a:t>
            </a:r>
            <a:br/>
            <a:r>
              <a:rPr sz="1850" b="0">
                <a:solidFill>
                  <a:srgbClr val="293E46"/>
                </a:solidFill>
                <a:latin typeface="Trebuchet MS"/>
              </a:rPr>
              <a:t>inaccessible internal state.</a:t>
            </a:r>
          </a:p>
        </p:txBody>
      </p:sp>
      <p:sp>
        <p:nvSpPr>
          <p:cNvPr id="20" name="Rounded Rectangle 19"/>
          <p:cNvSpPr/>
          <p:nvPr/>
        </p:nvSpPr>
        <p:spPr>
          <a:xfrm>
            <a:off x="640080" y="3273467"/>
            <a:ext cx="13350240" cy="844094"/>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dy: Environment and state"/>
          <p:cNvSpPr txBox="1"/>
          <p:nvPr/>
        </p:nvSpPr>
        <p:spPr>
          <a:xfrm>
            <a:off x="777240" y="3512031"/>
            <a:ext cx="2743200" cy="366966"/>
          </a:xfrm>
          <a:prstGeom prst="rect">
            <a:avLst/>
          </a:prstGeom>
          <a:noFill/>
        </p:spPr>
        <p:txBody>
          <a:bodyPr wrap="none" lIns="0" rIns="0" tIns="0" bIns="0" anchor="t">
            <a:noAutofit/>
          </a:bodyPr>
          <a:lstStyle/>
          <a:p>
            <a:pPr algn="l">
              <a:lnSpc>
                <a:spcPts val="2349"/>
              </a:lnSpc>
              <a:spcBef>
                <a:spcPts val="0"/>
              </a:spcBef>
              <a:spcAft>
                <a:spcPts val="0"/>
              </a:spcAft>
            </a:pPr>
            <a:r>
              <a:rPr sz="1850" b="1">
                <a:solidFill>
                  <a:srgbClr val="4E7892"/>
                </a:solidFill>
                <a:latin typeface="Trebuchet MS"/>
              </a:rPr>
              <a:t>Environment and state</a:t>
            </a:r>
          </a:p>
        </p:txBody>
      </p:sp>
      <p:sp>
        <p:nvSpPr>
          <p:cNvPr id="22" name="body: Files, databases, permissions, service responses, package versio"/>
          <p:cNvSpPr txBox="1"/>
          <p:nvPr/>
        </p:nvSpPr>
        <p:spPr>
          <a:xfrm>
            <a:off x="3794760" y="3362838"/>
            <a:ext cx="484632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Files, databases, permissions, service</a:t>
            </a:r>
            <a:br/>
            <a:r>
              <a:rPr sz="1850" b="0">
                <a:solidFill>
                  <a:srgbClr val="293E46"/>
                </a:solidFill>
                <a:latin typeface="Trebuchet MS"/>
              </a:rPr>
              <a:t>responses, package versions and timing.</a:t>
            </a:r>
          </a:p>
        </p:txBody>
      </p:sp>
      <p:sp>
        <p:nvSpPr>
          <p:cNvPr id="23" name="body: Restore a known initial state; verify reset, isolation and relev"/>
          <p:cNvSpPr txBox="1"/>
          <p:nvPr/>
        </p:nvSpPr>
        <p:spPr>
          <a:xfrm>
            <a:off x="8915400" y="3362838"/>
            <a:ext cx="493776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Restore a known initial state; verify reset,</a:t>
            </a:r>
            <a:br/>
            <a:r>
              <a:rPr sz="1850" b="0">
                <a:solidFill>
                  <a:srgbClr val="293E46"/>
                </a:solidFill>
                <a:latin typeface="Trebuchet MS"/>
              </a:rPr>
              <a:t>isolation and relevant tool semantics.</a:t>
            </a:r>
          </a:p>
        </p:txBody>
      </p:sp>
      <p:sp>
        <p:nvSpPr>
          <p:cNvPr id="24" name="Rounded Rectangle 23"/>
          <p:cNvSpPr/>
          <p:nvPr/>
        </p:nvSpPr>
        <p:spPr>
          <a:xfrm>
            <a:off x="640080" y="4176998"/>
            <a:ext cx="13350240" cy="844094"/>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Task and evaluator"/>
          <p:cNvSpPr txBox="1"/>
          <p:nvPr/>
        </p:nvSpPr>
        <p:spPr>
          <a:xfrm>
            <a:off x="777240" y="4415562"/>
            <a:ext cx="2743200" cy="366966"/>
          </a:xfrm>
          <a:prstGeom prst="rect">
            <a:avLst/>
          </a:prstGeom>
          <a:noFill/>
        </p:spPr>
        <p:txBody>
          <a:bodyPr wrap="none" lIns="0" rIns="0" tIns="0" bIns="0" anchor="t">
            <a:noAutofit/>
          </a:bodyPr>
          <a:lstStyle/>
          <a:p>
            <a:pPr algn="l">
              <a:lnSpc>
                <a:spcPts val="2349"/>
              </a:lnSpc>
              <a:spcBef>
                <a:spcPts val="0"/>
              </a:spcBef>
              <a:spcAft>
                <a:spcPts val="0"/>
              </a:spcAft>
            </a:pPr>
            <a:r>
              <a:rPr sz="1850" b="1">
                <a:solidFill>
                  <a:srgbClr val="4E7892"/>
                </a:solidFill>
                <a:latin typeface="Trebuchet MS"/>
              </a:rPr>
              <a:t>Task and evaluator</a:t>
            </a:r>
          </a:p>
        </p:txBody>
      </p:sp>
      <p:sp>
        <p:nvSpPr>
          <p:cNvPr id="26" name="body: Hidden tests, grader model/prompt, reward code and the definitio"/>
          <p:cNvSpPr txBox="1"/>
          <p:nvPr/>
        </p:nvSpPr>
        <p:spPr>
          <a:xfrm>
            <a:off x="3794760" y="4266369"/>
            <a:ext cx="484632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Hidden tests, grader model/prompt,</a:t>
            </a:r>
            <a:br/>
            <a:r>
              <a:rPr sz="1850" b="0">
                <a:solidFill>
                  <a:srgbClr val="293E46"/>
                </a:solidFill>
                <a:latin typeface="Trebuchet MS"/>
              </a:rPr>
              <a:t>reward code and the definition of success.</a:t>
            </a:r>
          </a:p>
        </p:txBody>
      </p:sp>
      <p:sp>
        <p:nvSpPr>
          <p:cNvPr id="27" name="body: Use a trusted effect check outside the agent's authority; includ"/>
          <p:cNvSpPr txBox="1"/>
          <p:nvPr/>
        </p:nvSpPr>
        <p:spPr>
          <a:xfrm>
            <a:off x="8915400" y="4266369"/>
            <a:ext cx="493776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Use a trusted effect check outside the</a:t>
            </a:r>
            <a:br/>
            <a:r>
              <a:rPr sz="1850" b="0">
                <a:solidFill>
                  <a:srgbClr val="293E46"/>
                </a:solidFill>
                <a:latin typeface="Trebuchet MS"/>
              </a:rPr>
              <a:t>agent's authority; include a benign control.</a:t>
            </a:r>
          </a:p>
        </p:txBody>
      </p:sp>
      <p:sp>
        <p:nvSpPr>
          <p:cNvPr id="28" name="Rounded Rectangle 27"/>
          <p:cNvSpPr/>
          <p:nvPr/>
        </p:nvSpPr>
        <p:spPr>
          <a:xfrm>
            <a:off x="640080" y="5080529"/>
            <a:ext cx="13350240" cy="1142481"/>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Observation access"/>
          <p:cNvSpPr txBox="1"/>
          <p:nvPr/>
        </p:nvSpPr>
        <p:spPr>
          <a:xfrm>
            <a:off x="777240" y="5468286"/>
            <a:ext cx="2743200" cy="366966"/>
          </a:xfrm>
          <a:prstGeom prst="rect">
            <a:avLst/>
          </a:prstGeom>
          <a:noFill/>
        </p:spPr>
        <p:txBody>
          <a:bodyPr wrap="none" lIns="0" rIns="0" tIns="0" bIns="0" anchor="t">
            <a:noAutofit/>
          </a:bodyPr>
          <a:lstStyle/>
          <a:p>
            <a:pPr algn="l">
              <a:lnSpc>
                <a:spcPts val="2349"/>
              </a:lnSpc>
              <a:spcBef>
                <a:spcPts val="0"/>
              </a:spcBef>
              <a:spcAft>
                <a:spcPts val="0"/>
              </a:spcAft>
            </a:pPr>
            <a:r>
              <a:rPr sz="1850" b="1">
                <a:solidFill>
                  <a:srgbClr val="4E7892"/>
                </a:solidFill>
                <a:latin typeface="Trebuchet MS"/>
              </a:rPr>
              <a:t>Observation access</a:t>
            </a:r>
          </a:p>
        </p:txBody>
      </p:sp>
      <p:sp>
        <p:nvSpPr>
          <p:cNvPr id="30" name="body: Full action trace versus excerpts, raw reasoning or a generated "/>
          <p:cNvSpPr txBox="1"/>
          <p:nvPr/>
        </p:nvSpPr>
        <p:spPr>
          <a:xfrm>
            <a:off x="3794760" y="5319093"/>
            <a:ext cx="484632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Full action trace versus excerpts, raw</a:t>
            </a:r>
            <a:br/>
            <a:r>
              <a:rPr sz="1850" b="0">
                <a:solidFill>
                  <a:srgbClr val="293E46"/>
                </a:solidFill>
                <a:latin typeface="Trebuchet MS"/>
              </a:rPr>
              <a:t>reasoning or a generated summary.</a:t>
            </a:r>
          </a:p>
        </p:txBody>
      </p:sp>
      <p:sp>
        <p:nvSpPr>
          <p:cNvPr id="31" name="body: Match the declared monitor view; a summary is not a substitute f"/>
          <p:cNvSpPr txBox="1"/>
          <p:nvPr/>
        </p:nvSpPr>
        <p:spPr>
          <a:xfrm>
            <a:off x="8915400" y="5169900"/>
            <a:ext cx="4937760" cy="963739"/>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Match the declared monitor view; a</a:t>
            </a:r>
            <a:br/>
            <a:r>
              <a:rPr sz="1850" b="0">
                <a:solidFill>
                  <a:srgbClr val="293E46"/>
                </a:solidFill>
                <a:latin typeface="Trebuchet MS"/>
              </a:rPr>
              <a:t>summary is not a substitute for raw</a:t>
            </a:r>
            <a:br/>
            <a:r>
              <a:rPr sz="1850" b="0">
                <a:solidFill>
                  <a:srgbClr val="293E46"/>
                </a:solidFill>
                <a:latin typeface="Trebuchet MS"/>
              </a:rPr>
              <a:t>reasoning.</a:t>
            </a:r>
          </a:p>
        </p:txBody>
      </p:sp>
      <p:sp>
        <p:nvSpPr>
          <p:cNvPr id="32" name="Rounded Rectangle 31"/>
          <p:cNvSpPr/>
          <p:nvPr/>
        </p:nvSpPr>
        <p:spPr>
          <a:xfrm>
            <a:off x="640080" y="6282446"/>
            <a:ext cx="13350240" cy="1142481"/>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ody: Branching after intervention"/>
          <p:cNvSpPr txBox="1"/>
          <p:nvPr/>
        </p:nvSpPr>
        <p:spPr>
          <a:xfrm>
            <a:off x="777240" y="6521010"/>
            <a:ext cx="2743200" cy="665353"/>
          </a:xfrm>
          <a:prstGeom prst="rect">
            <a:avLst/>
          </a:prstGeom>
          <a:noFill/>
        </p:spPr>
        <p:txBody>
          <a:bodyPr wrap="none" lIns="0" rIns="0" tIns="0" bIns="0" anchor="t">
            <a:noAutofit/>
          </a:bodyPr>
          <a:lstStyle/>
          <a:p>
            <a:pPr algn="l">
              <a:lnSpc>
                <a:spcPts val="2349"/>
              </a:lnSpc>
              <a:spcBef>
                <a:spcPts val="0"/>
              </a:spcBef>
              <a:spcAft>
                <a:spcPts val="0"/>
              </a:spcAft>
            </a:pPr>
            <a:r>
              <a:rPr sz="1850" b="1">
                <a:solidFill>
                  <a:srgbClr val="4E7892"/>
                </a:solidFill>
                <a:latin typeface="Trebuchet MS"/>
              </a:rPr>
              <a:t>Branching after</a:t>
            </a:r>
            <a:br/>
            <a:r>
              <a:rPr sz="1850" b="1">
                <a:solidFill>
                  <a:srgbClr val="4E7892"/>
                </a:solidFill>
                <a:latin typeface="Trebuchet MS"/>
              </a:rPr>
              <a:t>intervention</a:t>
            </a:r>
          </a:p>
        </p:txBody>
      </p:sp>
      <p:sp>
        <p:nvSpPr>
          <p:cNvPr id="34" name="body: An altered observation changes later actions and external state."/>
          <p:cNvSpPr txBox="1"/>
          <p:nvPr/>
        </p:nvSpPr>
        <p:spPr>
          <a:xfrm>
            <a:off x="3794760" y="6521010"/>
            <a:ext cx="4846320" cy="665353"/>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An altered observation changes later</a:t>
            </a:r>
            <a:br/>
            <a:r>
              <a:rPr sz="1850" b="0">
                <a:solidFill>
                  <a:srgbClr val="293E46"/>
                </a:solidFill>
                <a:latin typeface="Trebuchet MS"/>
              </a:rPr>
              <a:t>actions and external state.</a:t>
            </a:r>
          </a:p>
        </p:txBody>
      </p:sp>
      <p:sp>
        <p:nvSpPr>
          <p:cNvPr id="35" name="body: Locate the first divergence; resample continuation or explicitly"/>
          <p:cNvSpPr txBox="1"/>
          <p:nvPr/>
        </p:nvSpPr>
        <p:spPr>
          <a:xfrm>
            <a:off x="8915400" y="6371817"/>
            <a:ext cx="4937760" cy="963739"/>
          </a:xfrm>
          <a:prstGeom prst="rect">
            <a:avLst/>
          </a:prstGeom>
          <a:noFill/>
        </p:spPr>
        <p:txBody>
          <a:bodyPr wrap="none" lIns="0" rIns="0" tIns="0" bIns="0" anchor="t">
            <a:noAutofit/>
          </a:bodyPr>
          <a:lstStyle/>
          <a:p>
            <a:pPr algn="l">
              <a:lnSpc>
                <a:spcPts val="2349"/>
              </a:lnSpc>
              <a:spcBef>
                <a:spcPts val="0"/>
              </a:spcBef>
              <a:spcAft>
                <a:spcPts val="0"/>
              </a:spcAft>
            </a:pPr>
            <a:r>
              <a:rPr sz="1850" b="0">
                <a:solidFill>
                  <a:srgbClr val="293E46"/>
                </a:solidFill>
                <a:latin typeface="Trebuchet MS"/>
              </a:rPr>
              <a:t>Locate the first divergence; resample</a:t>
            </a:r>
            <a:br/>
            <a:r>
              <a:rPr sz="1850" b="0">
                <a:solidFill>
                  <a:srgbClr val="293E46"/>
                </a:solidFill>
                <a:latin typeface="Trebuchet MS"/>
              </a:rPr>
              <a:t>continuation or explicitly keep an</a:t>
            </a:r>
            <a:br/>
            <a:r>
              <a:rPr sz="1850" b="0">
                <a:solidFill>
                  <a:srgbClr val="293E46"/>
                </a:solidFill>
                <a:latin typeface="Trebuchet MS"/>
              </a:rPr>
              <a:t>effect-only claim.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7 · REPLAY FEASIBILITY"/>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7 · REPLAY FEASIBILITY</a:t>
            </a:r>
          </a:p>
        </p:txBody>
      </p:sp>
      <p:sp>
        <p:nvSpPr>
          <p:cNvPr id="3" name="title: Where GPU, API and engineering costs become bottleneck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Where GPU, API and engineering costs become bottlenecks</a:t>
            </a:r>
          </a:p>
        </p:txBody>
      </p:sp>
      <p:sp>
        <p:nvSpPr>
          <p:cNvPr id="4" name="subtitle: Estimate expenditure after access and fixture qualification; no "/>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Estimate expenditure after access and fixture qualification; no universal cost per incident</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35"/>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35</a:t>
            </a:r>
          </a:p>
        </p:txBody>
      </p:sp>
      <p:sp>
        <p:nvSpPr>
          <p:cNvPr id="12" name="Rounded Rectangle 11"/>
          <p:cNvSpPr/>
          <p:nvPr/>
        </p:nvSpPr>
        <p:spPr>
          <a:xfrm>
            <a:off x="640080" y="1783080"/>
            <a:ext cx="13350240" cy="508939"/>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 Replay work"/>
          <p:cNvSpPr txBox="1"/>
          <p:nvPr/>
        </p:nvSpPr>
        <p:spPr>
          <a:xfrm>
            <a:off x="777240" y="1864147"/>
            <a:ext cx="2834640" cy="346805"/>
          </a:xfrm>
          <a:prstGeom prst="rect">
            <a:avLst/>
          </a:prstGeom>
          <a:noFill/>
        </p:spPr>
        <p:txBody>
          <a:bodyPr wrap="none" lIns="0" rIns="0" tIns="0" bIns="0" anchor="t">
            <a:noAutofit/>
          </a:bodyPr>
          <a:lstStyle/>
          <a:p>
            <a:pPr algn="ctr">
              <a:lnSpc>
                <a:spcPts val="2190"/>
              </a:lnSpc>
              <a:spcBef>
                <a:spcPts val="0"/>
              </a:spcBef>
              <a:spcAft>
                <a:spcPts val="0"/>
              </a:spcAft>
            </a:pPr>
            <a:r>
              <a:rPr sz="1725" b="1">
                <a:solidFill>
                  <a:srgbClr val="4E7892"/>
                </a:solidFill>
                <a:latin typeface="Trebuchet MS"/>
              </a:rPr>
              <a:t>Replay work</a:t>
            </a:r>
          </a:p>
        </p:txBody>
      </p:sp>
      <p:sp>
        <p:nvSpPr>
          <p:cNvPr id="14" name="body: Main resource costs"/>
          <p:cNvSpPr txBox="1"/>
          <p:nvPr/>
        </p:nvSpPr>
        <p:spPr>
          <a:xfrm>
            <a:off x="3886200" y="1864147"/>
            <a:ext cx="4846320" cy="346805"/>
          </a:xfrm>
          <a:prstGeom prst="rect">
            <a:avLst/>
          </a:prstGeom>
          <a:noFill/>
        </p:spPr>
        <p:txBody>
          <a:bodyPr wrap="none" lIns="0" rIns="0" tIns="0" bIns="0" anchor="t">
            <a:noAutofit/>
          </a:bodyPr>
          <a:lstStyle/>
          <a:p>
            <a:pPr algn="ctr">
              <a:lnSpc>
                <a:spcPts val="2190"/>
              </a:lnSpc>
              <a:spcBef>
                <a:spcPts val="0"/>
              </a:spcBef>
              <a:spcAft>
                <a:spcPts val="0"/>
              </a:spcAft>
            </a:pPr>
            <a:r>
              <a:rPr sz="1725" b="1">
                <a:solidFill>
                  <a:srgbClr val="4E7892"/>
                </a:solidFill>
                <a:latin typeface="Trebuchet MS"/>
              </a:rPr>
              <a:t>Main resource costs</a:t>
            </a:r>
          </a:p>
        </p:txBody>
      </p:sp>
      <p:sp>
        <p:nvSpPr>
          <p:cNvPr id="15" name="body: Practical limit"/>
          <p:cNvSpPr txBox="1"/>
          <p:nvPr/>
        </p:nvSpPr>
        <p:spPr>
          <a:xfrm>
            <a:off x="9006840" y="1864147"/>
            <a:ext cx="4846320" cy="346805"/>
          </a:xfrm>
          <a:prstGeom prst="rect">
            <a:avLst/>
          </a:prstGeom>
          <a:noFill/>
        </p:spPr>
        <p:txBody>
          <a:bodyPr wrap="none" lIns="0" rIns="0" tIns="0" bIns="0" anchor="t">
            <a:noAutofit/>
          </a:bodyPr>
          <a:lstStyle/>
          <a:p>
            <a:pPr algn="ctr">
              <a:lnSpc>
                <a:spcPts val="2190"/>
              </a:lnSpc>
              <a:spcBef>
                <a:spcPts val="0"/>
              </a:spcBef>
              <a:spcAft>
                <a:spcPts val="0"/>
              </a:spcAft>
            </a:pPr>
            <a:r>
              <a:rPr sz="1725" b="1">
                <a:solidFill>
                  <a:srgbClr val="4E7892"/>
                </a:solidFill>
                <a:latin typeface="Trebuchet MS"/>
              </a:rPr>
              <a:t>Practical limit</a:t>
            </a:r>
          </a:p>
        </p:txBody>
      </p:sp>
      <p:sp>
        <p:nvSpPr>
          <p:cNvPr id="16" name="Rounded Rectangle 15"/>
          <p:cNvSpPr/>
          <p:nvPr/>
        </p:nvSpPr>
        <p:spPr>
          <a:xfrm>
            <a:off x="640080" y="2351455"/>
            <a:ext cx="13350240" cy="805453"/>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 Saved-trace scoring"/>
          <p:cNvSpPr txBox="1"/>
          <p:nvPr/>
        </p:nvSpPr>
        <p:spPr>
          <a:xfrm>
            <a:off x="777240" y="2580779"/>
            <a:ext cx="2834640" cy="346805"/>
          </a:xfrm>
          <a:prstGeom prst="rect">
            <a:avLst/>
          </a:prstGeom>
          <a:noFill/>
        </p:spPr>
        <p:txBody>
          <a:bodyPr wrap="none" lIns="0" rIns="0" tIns="0" bIns="0" anchor="t">
            <a:noAutofit/>
          </a:bodyPr>
          <a:lstStyle/>
          <a:p>
            <a:pPr algn="l">
              <a:lnSpc>
                <a:spcPts val="2190"/>
              </a:lnSpc>
              <a:spcBef>
                <a:spcPts val="0"/>
              </a:spcBef>
              <a:spcAft>
                <a:spcPts val="0"/>
              </a:spcAft>
            </a:pPr>
            <a:r>
              <a:rPr sz="1725" b="1">
                <a:solidFill>
                  <a:srgbClr val="4E7892"/>
                </a:solidFill>
                <a:latin typeface="Trebuchet MS"/>
              </a:rPr>
              <a:t>Saved-trace scoring</a:t>
            </a:r>
          </a:p>
        </p:txBody>
      </p:sp>
      <p:sp>
        <p:nvSpPr>
          <p:cNvPr id="18" name="body: Processing, storage and optional judge calls; no actor inference"/>
          <p:cNvSpPr txBox="1"/>
          <p:nvPr/>
        </p:nvSpPr>
        <p:spPr>
          <a:xfrm>
            <a:off x="3886200" y="2441667"/>
            <a:ext cx="4846320" cy="625030"/>
          </a:xfrm>
          <a:prstGeom prst="rect">
            <a:avLst/>
          </a:prstGeom>
          <a:noFill/>
        </p:spPr>
        <p:txBody>
          <a:bodyPr wrap="none" lIns="0" rIns="0" tIns="0" bIns="0" anchor="t">
            <a:noAutofit/>
          </a:bodyPr>
          <a:lstStyle/>
          <a:p>
            <a:pPr algn="l">
              <a:lnSpc>
                <a:spcPts val="2190"/>
              </a:lnSpc>
              <a:spcBef>
                <a:spcPts val="0"/>
              </a:spcBef>
              <a:spcAft>
                <a:spcPts val="0"/>
              </a:spcAft>
            </a:pPr>
            <a:r>
              <a:rPr sz="1725" b="0">
                <a:solidFill>
                  <a:srgbClr val="293E46"/>
                </a:solidFill>
                <a:latin typeface="Trebuchet MS"/>
              </a:rPr>
              <a:t>Processing, storage and optional judge calls;</a:t>
            </a:r>
            <a:br/>
            <a:r>
              <a:rPr sz="1725" b="0">
                <a:solidFill>
                  <a:srgbClr val="293E46"/>
                </a:solidFill>
                <a:latin typeface="Trebuchet MS"/>
              </a:rPr>
              <a:t>no actor inference.</a:t>
            </a:r>
          </a:p>
        </p:txBody>
      </p:sp>
      <p:sp>
        <p:nvSpPr>
          <p:cNvPr id="19" name="body: Adequate context and defensible labels must exist."/>
          <p:cNvSpPr txBox="1"/>
          <p:nvPr/>
        </p:nvSpPr>
        <p:spPr>
          <a:xfrm>
            <a:off x="9006840" y="2441667"/>
            <a:ext cx="4846320" cy="625030"/>
          </a:xfrm>
          <a:prstGeom prst="rect">
            <a:avLst/>
          </a:prstGeom>
          <a:noFill/>
        </p:spPr>
        <p:txBody>
          <a:bodyPr wrap="none" lIns="0" rIns="0" tIns="0" bIns="0" anchor="t">
            <a:noAutofit/>
          </a:bodyPr>
          <a:lstStyle/>
          <a:p>
            <a:pPr algn="l">
              <a:lnSpc>
                <a:spcPts val="2190"/>
              </a:lnSpc>
              <a:spcBef>
                <a:spcPts val="0"/>
              </a:spcBef>
              <a:spcAft>
                <a:spcPts val="0"/>
              </a:spcAft>
            </a:pPr>
            <a:r>
              <a:rPr sz="1725" b="0">
                <a:solidFill>
                  <a:srgbClr val="293E46"/>
                </a:solidFill>
                <a:latin typeface="Trebuchet MS"/>
              </a:rPr>
              <a:t>Adequate context and defensible labels must</a:t>
            </a:r>
            <a:br/>
            <a:r>
              <a:rPr sz="1725" b="0">
                <a:solidFill>
                  <a:srgbClr val="293E46"/>
                </a:solidFill>
                <a:latin typeface="Trebuchet MS"/>
              </a:rPr>
              <a:t>exist.</a:t>
            </a:r>
          </a:p>
        </p:txBody>
      </p:sp>
      <p:sp>
        <p:nvSpPr>
          <p:cNvPr id="20" name="Rounded Rectangle 19"/>
          <p:cNvSpPr/>
          <p:nvPr/>
        </p:nvSpPr>
        <p:spPr>
          <a:xfrm>
            <a:off x="640080" y="3216344"/>
            <a:ext cx="13350240" cy="805453"/>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dy: Agent continuation"/>
          <p:cNvSpPr txBox="1"/>
          <p:nvPr/>
        </p:nvSpPr>
        <p:spPr>
          <a:xfrm>
            <a:off x="777240" y="3445668"/>
            <a:ext cx="2834640" cy="346805"/>
          </a:xfrm>
          <a:prstGeom prst="rect">
            <a:avLst/>
          </a:prstGeom>
          <a:noFill/>
        </p:spPr>
        <p:txBody>
          <a:bodyPr wrap="none" lIns="0" rIns="0" tIns="0" bIns="0" anchor="t">
            <a:noAutofit/>
          </a:bodyPr>
          <a:lstStyle/>
          <a:p>
            <a:pPr algn="l">
              <a:lnSpc>
                <a:spcPts val="2190"/>
              </a:lnSpc>
              <a:spcBef>
                <a:spcPts val="0"/>
              </a:spcBef>
              <a:spcAft>
                <a:spcPts val="0"/>
              </a:spcAft>
            </a:pPr>
            <a:r>
              <a:rPr sz="1725" b="1">
                <a:solidFill>
                  <a:srgbClr val="4E7892"/>
                </a:solidFill>
                <a:latin typeface="Trebuchet MS"/>
              </a:rPr>
              <a:t>Agent continuation</a:t>
            </a:r>
          </a:p>
        </p:txBody>
      </p:sp>
      <p:sp>
        <p:nvSpPr>
          <p:cNvPr id="22" name="body: Long histories, reasoning tokens, monitors, retries and API rate"/>
          <p:cNvSpPr txBox="1"/>
          <p:nvPr/>
        </p:nvSpPr>
        <p:spPr>
          <a:xfrm>
            <a:off x="3886200" y="3306556"/>
            <a:ext cx="4846320" cy="625030"/>
          </a:xfrm>
          <a:prstGeom prst="rect">
            <a:avLst/>
          </a:prstGeom>
          <a:noFill/>
        </p:spPr>
        <p:txBody>
          <a:bodyPr wrap="none" lIns="0" rIns="0" tIns="0" bIns="0" anchor="t">
            <a:noAutofit/>
          </a:bodyPr>
          <a:lstStyle/>
          <a:p>
            <a:pPr algn="l">
              <a:lnSpc>
                <a:spcPts val="2190"/>
              </a:lnSpc>
              <a:spcBef>
                <a:spcPts val="0"/>
              </a:spcBef>
              <a:spcAft>
                <a:spcPts val="0"/>
              </a:spcAft>
            </a:pPr>
            <a:r>
              <a:rPr sz="1725" b="0">
                <a:solidFill>
                  <a:srgbClr val="293E46"/>
                </a:solidFill>
                <a:latin typeface="Trebuchet MS"/>
              </a:rPr>
              <a:t>Long histories, reasoning tokens, monitors,</a:t>
            </a:r>
            <a:br/>
            <a:r>
              <a:rPr sz="1725" b="0">
                <a:solidFill>
                  <a:srgbClr val="293E46"/>
                </a:solidFill>
                <a:latin typeface="Trebuchet MS"/>
              </a:rPr>
              <a:t>retries and API rate limits.</a:t>
            </a:r>
          </a:p>
        </p:txBody>
      </p:sp>
      <p:sp>
        <p:nvSpPr>
          <p:cNvPr id="23" name="body: Meter tokens and wall time on a qualified fixture first."/>
          <p:cNvSpPr txBox="1"/>
          <p:nvPr/>
        </p:nvSpPr>
        <p:spPr>
          <a:xfrm>
            <a:off x="9006840" y="3306556"/>
            <a:ext cx="4846320" cy="625030"/>
          </a:xfrm>
          <a:prstGeom prst="rect">
            <a:avLst/>
          </a:prstGeom>
          <a:noFill/>
        </p:spPr>
        <p:txBody>
          <a:bodyPr wrap="none" lIns="0" rIns="0" tIns="0" bIns="0" anchor="t">
            <a:noAutofit/>
          </a:bodyPr>
          <a:lstStyle/>
          <a:p>
            <a:pPr algn="l">
              <a:lnSpc>
                <a:spcPts val="2190"/>
              </a:lnSpc>
              <a:spcBef>
                <a:spcPts val="0"/>
              </a:spcBef>
              <a:spcAft>
                <a:spcPts val="0"/>
              </a:spcAft>
            </a:pPr>
            <a:r>
              <a:rPr sz="1725" b="0">
                <a:solidFill>
                  <a:srgbClr val="293E46"/>
                </a:solidFill>
                <a:latin typeface="Trebuchet MS"/>
              </a:rPr>
              <a:t>Meter tokens and wall time on a qualified</a:t>
            </a:r>
            <a:br/>
            <a:r>
              <a:rPr sz="1725" b="0">
                <a:solidFill>
                  <a:srgbClr val="293E46"/>
                </a:solidFill>
                <a:latin typeface="Trebuchet MS"/>
              </a:rPr>
              <a:t>fixture first.</a:t>
            </a:r>
          </a:p>
        </p:txBody>
      </p:sp>
      <p:sp>
        <p:nvSpPr>
          <p:cNvPr id="24" name="Rounded Rectangle 23"/>
          <p:cNvSpPr/>
          <p:nvPr/>
        </p:nvSpPr>
        <p:spPr>
          <a:xfrm>
            <a:off x="640080" y="4081233"/>
            <a:ext cx="13350240" cy="805453"/>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Open-weight replay"/>
          <p:cNvSpPr txBox="1"/>
          <p:nvPr/>
        </p:nvSpPr>
        <p:spPr>
          <a:xfrm>
            <a:off x="777240" y="4310557"/>
            <a:ext cx="2834640" cy="346805"/>
          </a:xfrm>
          <a:prstGeom prst="rect">
            <a:avLst/>
          </a:prstGeom>
          <a:noFill/>
        </p:spPr>
        <p:txBody>
          <a:bodyPr wrap="none" lIns="0" rIns="0" tIns="0" bIns="0" anchor="t">
            <a:noAutofit/>
          </a:bodyPr>
          <a:lstStyle/>
          <a:p>
            <a:pPr algn="l">
              <a:lnSpc>
                <a:spcPts val="2190"/>
              </a:lnSpc>
              <a:spcBef>
                <a:spcPts val="0"/>
              </a:spcBef>
              <a:spcAft>
                <a:spcPts val="0"/>
              </a:spcAft>
            </a:pPr>
            <a:r>
              <a:rPr sz="1725" b="1">
                <a:solidFill>
                  <a:srgbClr val="4E7892"/>
                </a:solidFill>
                <a:latin typeface="Trebuchet MS"/>
              </a:rPr>
              <a:t>Open-weight replay</a:t>
            </a:r>
          </a:p>
        </p:txBody>
      </p:sp>
      <p:sp>
        <p:nvSpPr>
          <p:cNvPr id="26" name="body: GPU memory / throughput, context length, environment reset and s"/>
          <p:cNvSpPr txBox="1"/>
          <p:nvPr/>
        </p:nvSpPr>
        <p:spPr>
          <a:xfrm>
            <a:off x="3886200" y="4171445"/>
            <a:ext cx="4846320" cy="625030"/>
          </a:xfrm>
          <a:prstGeom prst="rect">
            <a:avLst/>
          </a:prstGeom>
          <a:noFill/>
        </p:spPr>
        <p:txBody>
          <a:bodyPr wrap="none" lIns="0" rIns="0" tIns="0" bIns="0" anchor="t">
            <a:noAutofit/>
          </a:bodyPr>
          <a:lstStyle/>
          <a:p>
            <a:pPr algn="l">
              <a:lnSpc>
                <a:spcPts val="2190"/>
              </a:lnSpc>
              <a:spcBef>
                <a:spcPts val="0"/>
              </a:spcBef>
              <a:spcAft>
                <a:spcPts val="0"/>
              </a:spcAft>
            </a:pPr>
            <a:r>
              <a:rPr sz="1725" b="0">
                <a:solidFill>
                  <a:srgbClr val="293E46"/>
                </a:solidFill>
                <a:latin typeface="Trebuchet MS"/>
              </a:rPr>
              <a:t>GPU memory / throughput, context length,</a:t>
            </a:r>
            <a:br/>
            <a:r>
              <a:rPr sz="1725" b="0">
                <a:solidFill>
                  <a:srgbClr val="293E46"/>
                </a:solidFill>
                <a:latin typeface="Trebuchet MS"/>
              </a:rPr>
              <a:t>environment reset and storage.</a:t>
            </a:r>
          </a:p>
        </p:txBody>
      </p:sp>
      <p:sp>
        <p:nvSpPr>
          <p:cNvPr id="27" name="body: Measure the chosen checkpoint; a smaller replacement changes cap"/>
          <p:cNvSpPr txBox="1"/>
          <p:nvPr/>
        </p:nvSpPr>
        <p:spPr>
          <a:xfrm>
            <a:off x="9006840" y="4171445"/>
            <a:ext cx="4846320" cy="625030"/>
          </a:xfrm>
          <a:prstGeom prst="rect">
            <a:avLst/>
          </a:prstGeom>
          <a:noFill/>
        </p:spPr>
        <p:txBody>
          <a:bodyPr wrap="none" lIns="0" rIns="0" tIns="0" bIns="0" anchor="t">
            <a:noAutofit/>
          </a:bodyPr>
          <a:lstStyle/>
          <a:p>
            <a:pPr algn="l">
              <a:lnSpc>
                <a:spcPts val="2190"/>
              </a:lnSpc>
              <a:spcBef>
                <a:spcPts val="0"/>
              </a:spcBef>
              <a:spcAft>
                <a:spcPts val="0"/>
              </a:spcAft>
            </a:pPr>
            <a:r>
              <a:rPr sz="1725" b="0">
                <a:solidFill>
                  <a:srgbClr val="293E46"/>
                </a:solidFill>
                <a:latin typeface="Trebuchet MS"/>
              </a:rPr>
              <a:t>Measure the chosen checkpoint; a smaller</a:t>
            </a:r>
            <a:br/>
            <a:r>
              <a:rPr sz="1725" b="0">
                <a:solidFill>
                  <a:srgbClr val="293E46"/>
                </a:solidFill>
                <a:latin typeface="Trebuchet MS"/>
              </a:rPr>
              <a:t>replacement changes capability.</a:t>
            </a:r>
          </a:p>
        </p:txBody>
      </p:sp>
      <p:sp>
        <p:nvSpPr>
          <p:cNvPr id="28" name="Rounded Rectangle 27"/>
          <p:cNvSpPr/>
          <p:nvPr/>
        </p:nvSpPr>
        <p:spPr>
          <a:xfrm>
            <a:off x="640080" y="4946122"/>
            <a:ext cx="13350240" cy="805453"/>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Training-stage replication"/>
          <p:cNvSpPr txBox="1"/>
          <p:nvPr/>
        </p:nvSpPr>
        <p:spPr>
          <a:xfrm>
            <a:off x="777240" y="5175446"/>
            <a:ext cx="2834640" cy="346805"/>
          </a:xfrm>
          <a:prstGeom prst="rect">
            <a:avLst/>
          </a:prstGeom>
          <a:noFill/>
        </p:spPr>
        <p:txBody>
          <a:bodyPr wrap="none" lIns="0" rIns="0" tIns="0" bIns="0" anchor="t">
            <a:noAutofit/>
          </a:bodyPr>
          <a:lstStyle/>
          <a:p>
            <a:pPr algn="l">
              <a:lnSpc>
                <a:spcPts val="2190"/>
              </a:lnSpc>
              <a:spcBef>
                <a:spcPts val="0"/>
              </a:spcBef>
              <a:spcAft>
                <a:spcPts val="0"/>
              </a:spcAft>
            </a:pPr>
            <a:r>
              <a:rPr sz="1725" b="1">
                <a:solidFill>
                  <a:srgbClr val="4E7892"/>
                </a:solidFill>
                <a:latin typeface="Trebuchet MS"/>
              </a:rPr>
              <a:t>Training-stage replication</a:t>
            </a:r>
          </a:p>
        </p:txBody>
      </p:sp>
      <p:sp>
        <p:nvSpPr>
          <p:cNvPr id="30" name="body: RL rollout generation, optimization and repeated training runs."/>
          <p:cNvSpPr txBox="1"/>
          <p:nvPr/>
        </p:nvSpPr>
        <p:spPr>
          <a:xfrm>
            <a:off x="3886200" y="5036334"/>
            <a:ext cx="4846320" cy="625030"/>
          </a:xfrm>
          <a:prstGeom prst="rect">
            <a:avLst/>
          </a:prstGeom>
          <a:noFill/>
        </p:spPr>
        <p:txBody>
          <a:bodyPr wrap="none" lIns="0" rIns="0" tIns="0" bIns="0" anchor="t">
            <a:noAutofit/>
          </a:bodyPr>
          <a:lstStyle/>
          <a:p>
            <a:pPr algn="l">
              <a:lnSpc>
                <a:spcPts val="2190"/>
              </a:lnSpc>
              <a:spcBef>
                <a:spcPts val="0"/>
              </a:spcBef>
              <a:spcAft>
                <a:spcPts val="0"/>
              </a:spcAft>
            </a:pPr>
            <a:r>
              <a:rPr sz="1725" b="0">
                <a:solidFill>
                  <a:srgbClr val="293E46"/>
                </a:solidFill>
                <a:latin typeface="Trebuchet MS"/>
              </a:rPr>
              <a:t>RL rollout generation, optimization and</a:t>
            </a:r>
            <a:br/>
            <a:r>
              <a:rPr sz="1725" b="0">
                <a:solidFill>
                  <a:srgbClr val="293E46"/>
                </a:solidFill>
                <a:latin typeface="Trebuchet MS"/>
              </a:rPr>
              <a:t>repeated training runs.</a:t>
            </a:r>
          </a:p>
        </p:txBody>
      </p:sp>
      <p:sp>
        <p:nvSpPr>
          <p:cNvPr id="31" name="body: Obtain weights, reward code and training setup before pricing GP"/>
          <p:cNvSpPr txBox="1"/>
          <p:nvPr/>
        </p:nvSpPr>
        <p:spPr>
          <a:xfrm>
            <a:off x="9006840" y="5036334"/>
            <a:ext cx="4846320" cy="625030"/>
          </a:xfrm>
          <a:prstGeom prst="rect">
            <a:avLst/>
          </a:prstGeom>
          <a:noFill/>
        </p:spPr>
        <p:txBody>
          <a:bodyPr wrap="none" lIns="0" rIns="0" tIns="0" bIns="0" anchor="t">
            <a:noAutofit/>
          </a:bodyPr>
          <a:lstStyle/>
          <a:p>
            <a:pPr algn="l">
              <a:lnSpc>
                <a:spcPts val="2190"/>
              </a:lnSpc>
              <a:spcBef>
                <a:spcPts val="0"/>
              </a:spcBef>
              <a:spcAft>
                <a:spcPts val="0"/>
              </a:spcAft>
            </a:pPr>
            <a:r>
              <a:rPr sz="1725" b="0">
                <a:solidFill>
                  <a:srgbClr val="293E46"/>
                </a:solidFill>
                <a:latin typeface="Trebuchet MS"/>
              </a:rPr>
              <a:t>Obtain weights, reward code and training</a:t>
            </a:r>
            <a:br/>
            <a:r>
              <a:rPr sz="1725" b="0">
                <a:solidFill>
                  <a:srgbClr val="293E46"/>
                </a:solidFill>
                <a:latin typeface="Trebuchet MS"/>
              </a:rPr>
              <a:t>setup before pricing GPU hours.</a:t>
            </a:r>
          </a:p>
        </p:txBody>
      </p:sp>
      <p:sp>
        <p:nvSpPr>
          <p:cNvPr id="32" name="body: Work scales with cases × variants × policies × repeats × rounds,"/>
          <p:cNvSpPr txBox="1"/>
          <p:nvPr/>
        </p:nvSpPr>
        <p:spPr>
          <a:xfrm>
            <a:off x="777240" y="5905880"/>
            <a:ext cx="13075920" cy="358902"/>
          </a:xfrm>
          <a:prstGeom prst="rect">
            <a:avLst/>
          </a:prstGeom>
          <a:noFill/>
        </p:spPr>
        <p:txBody>
          <a:bodyPr wrap="none" lIns="0" rIns="0" tIns="0" bIns="0" anchor="t">
            <a:noAutofit/>
          </a:bodyPr>
          <a:lstStyle/>
          <a:p>
            <a:pPr algn="ctr">
              <a:lnSpc>
                <a:spcPts val="2286"/>
              </a:lnSpc>
              <a:spcBef>
                <a:spcPts val="0"/>
              </a:spcBef>
              <a:spcAft>
                <a:spcPts val="0"/>
              </a:spcAft>
            </a:pPr>
            <a:r>
              <a:rPr sz="1800" b="0">
                <a:solidFill>
                  <a:srgbClr val="68736E"/>
                </a:solidFill>
                <a:latin typeface="Trebuchet MS"/>
              </a:rPr>
              <a:t>Work scales with cases × variants × policies × repeats × rounds, plus rebuilding, label review and failed attempts.</a:t>
            </a:r>
          </a:p>
        </p:txBody>
      </p:sp>
      <p:sp>
        <p:nvSpPr>
          <p:cNvPr id="33" name="Rounded Rectangle 32"/>
          <p:cNvSpPr/>
          <p:nvPr/>
        </p:nvSpPr>
        <p:spPr>
          <a:xfrm>
            <a:off x="640080" y="6437376"/>
            <a:ext cx="13350240" cy="1005840"/>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642915" y="6440485"/>
            <a:ext cx="13341736" cy="1001359"/>
          </a:xfrm>
          <a:custGeom>
            <a:avLst/>
            <a:gdLst/>
            <a:ahLst/>
            <a:cxnLst/>
            <a:rect l="l" t="t" r="r" b="b"/>
            <a:pathLst>
              <a:path w="145907" h="10951">
                <a:moveTo>
                  <a:pt x="145821" y="5400"/>
                </a:moveTo>
                <a:lnTo>
                  <a:pt x="145907" y="7091"/>
                </a:lnTo>
                <a:lnTo>
                  <a:pt x="145665" y="7602"/>
                </a:lnTo>
                <a:lnTo>
                  <a:pt x="145395" y="8069"/>
                </a:lnTo>
                <a:lnTo>
                  <a:pt x="145307" y="8227"/>
                </a:lnTo>
                <a:lnTo>
                  <a:pt x="144924" y="8670"/>
                </a:lnTo>
                <a:lnTo>
                  <a:pt x="144302" y="8851"/>
                </a:lnTo>
                <a:lnTo>
                  <a:pt x="143960" y="9133"/>
                </a:lnTo>
                <a:lnTo>
                  <a:pt x="143200" y="9117"/>
                </a:lnTo>
                <a:lnTo>
                  <a:pt x="142676" y="9415"/>
                </a:lnTo>
                <a:lnTo>
                  <a:pt x="141851" y="9558"/>
                </a:lnTo>
                <a:lnTo>
                  <a:pt x="140969" y="9789"/>
                </a:lnTo>
                <a:lnTo>
                  <a:pt x="140034" y="9849"/>
                </a:lnTo>
                <a:lnTo>
                  <a:pt x="138917" y="9921"/>
                </a:lnTo>
                <a:lnTo>
                  <a:pt x="137578" y="9976"/>
                </a:lnTo>
                <a:lnTo>
                  <a:pt x="136439" y="10138"/>
                </a:lnTo>
                <a:lnTo>
                  <a:pt x="135035" y="10128"/>
                </a:lnTo>
                <a:lnTo>
                  <a:pt x="133508" y="10311"/>
                </a:lnTo>
                <a:lnTo>
                  <a:pt x="131958" y="10520"/>
                </a:lnTo>
                <a:lnTo>
                  <a:pt x="130052" y="10485"/>
                </a:lnTo>
                <a:lnTo>
                  <a:pt x="128234" y="10652"/>
                </a:lnTo>
                <a:lnTo>
                  <a:pt x="126202" y="10546"/>
                </a:lnTo>
                <a:lnTo>
                  <a:pt x="123727" y="10544"/>
                </a:lnTo>
                <a:lnTo>
                  <a:pt x="121421" y="10587"/>
                </a:lnTo>
                <a:lnTo>
                  <a:pt x="118451" y="10685"/>
                </a:lnTo>
                <a:lnTo>
                  <a:pt x="115397" y="10655"/>
                </a:lnTo>
                <a:lnTo>
                  <a:pt x="111819" y="10760"/>
                </a:lnTo>
                <a:lnTo>
                  <a:pt x="107737" y="10751"/>
                </a:lnTo>
                <a:lnTo>
                  <a:pt x="102405" y="10951"/>
                </a:lnTo>
                <a:lnTo>
                  <a:pt x="95280" y="10942"/>
                </a:lnTo>
                <a:lnTo>
                  <a:pt x="72986" y="10767"/>
                </a:lnTo>
                <a:lnTo>
                  <a:pt x="50614" y="10847"/>
                </a:lnTo>
                <a:lnTo>
                  <a:pt x="43472" y="10717"/>
                </a:lnTo>
                <a:lnTo>
                  <a:pt x="38228" y="10742"/>
                </a:lnTo>
                <a:lnTo>
                  <a:pt x="34129" y="10768"/>
                </a:lnTo>
                <a:lnTo>
                  <a:pt x="30567" y="10717"/>
                </a:lnTo>
                <a:lnTo>
                  <a:pt x="27283" y="10678"/>
                </a:lnTo>
                <a:lnTo>
                  <a:pt x="24664" y="10649"/>
                </a:lnTo>
                <a:lnTo>
                  <a:pt x="22128" y="10641"/>
                </a:lnTo>
                <a:lnTo>
                  <a:pt x="19954" y="10532"/>
                </a:lnTo>
                <a:lnTo>
                  <a:pt x="17790" y="10587"/>
                </a:lnTo>
                <a:lnTo>
                  <a:pt x="15690" y="10546"/>
                </a:lnTo>
                <a:lnTo>
                  <a:pt x="14109" y="10376"/>
                </a:lnTo>
                <a:lnTo>
                  <a:pt x="12532" y="10348"/>
                </a:lnTo>
                <a:lnTo>
                  <a:pt x="10908" y="10321"/>
                </a:lnTo>
                <a:lnTo>
                  <a:pt x="9537" y="10152"/>
                </a:lnTo>
                <a:lnTo>
                  <a:pt x="8366" y="10083"/>
                </a:lnTo>
                <a:lnTo>
                  <a:pt x="6959" y="9946"/>
                </a:lnTo>
                <a:lnTo>
                  <a:pt x="5979" y="9761"/>
                </a:lnTo>
                <a:lnTo>
                  <a:pt x="5150" y="9665"/>
                </a:lnTo>
                <a:lnTo>
                  <a:pt x="4198" y="9626"/>
                </a:lnTo>
                <a:lnTo>
                  <a:pt x="3263" y="9486"/>
                </a:lnTo>
                <a:lnTo>
                  <a:pt x="2632" y="9235"/>
                </a:lnTo>
                <a:lnTo>
                  <a:pt x="1992" y="8954"/>
                </a:lnTo>
                <a:lnTo>
                  <a:pt x="1535" y="8816"/>
                </a:lnTo>
                <a:lnTo>
                  <a:pt x="974" y="8573"/>
                </a:lnTo>
                <a:lnTo>
                  <a:pt x="613" y="8345"/>
                </a:lnTo>
                <a:lnTo>
                  <a:pt x="568" y="8059"/>
                </a:lnTo>
                <a:lnTo>
                  <a:pt x="355" y="7707"/>
                </a:lnTo>
                <a:lnTo>
                  <a:pt x="55" y="7099"/>
                </a:lnTo>
                <a:lnTo>
                  <a:pt x="78" y="5412"/>
                </a:lnTo>
                <a:lnTo>
                  <a:pt x="0" y="3766"/>
                </a:lnTo>
                <a:lnTo>
                  <a:pt x="165" y="3185"/>
                </a:lnTo>
                <a:lnTo>
                  <a:pt x="328" y="2830"/>
                </a:lnTo>
                <a:lnTo>
                  <a:pt x="747" y="2576"/>
                </a:lnTo>
                <a:lnTo>
                  <a:pt x="1028" y="2318"/>
                </a:lnTo>
                <a:lnTo>
                  <a:pt x="1638" y="2138"/>
                </a:lnTo>
                <a:lnTo>
                  <a:pt x="2058" y="1818"/>
                </a:lnTo>
                <a:lnTo>
                  <a:pt x="2636" y="1761"/>
                </a:lnTo>
                <a:lnTo>
                  <a:pt x="3412" y="1649"/>
                </a:lnTo>
                <a:lnTo>
                  <a:pt x="4101" y="1332"/>
                </a:lnTo>
                <a:lnTo>
                  <a:pt x="5113" y="1329"/>
                </a:lnTo>
                <a:lnTo>
                  <a:pt x="5979" y="1103"/>
                </a:lnTo>
                <a:lnTo>
                  <a:pt x="7046" y="1057"/>
                </a:lnTo>
                <a:lnTo>
                  <a:pt x="8306" y="839"/>
                </a:lnTo>
                <a:lnTo>
                  <a:pt x="9479" y="743"/>
                </a:lnTo>
                <a:lnTo>
                  <a:pt x="10881" y="650"/>
                </a:lnTo>
                <a:lnTo>
                  <a:pt x="12320" y="558"/>
                </a:lnTo>
                <a:lnTo>
                  <a:pt x="14013" y="414"/>
                </a:lnTo>
                <a:lnTo>
                  <a:pt x="15766" y="452"/>
                </a:lnTo>
                <a:lnTo>
                  <a:pt x="17766" y="288"/>
                </a:lnTo>
                <a:lnTo>
                  <a:pt x="19762" y="274"/>
                </a:lnTo>
                <a:lnTo>
                  <a:pt x="22009" y="189"/>
                </a:lnTo>
                <a:lnTo>
                  <a:pt x="24617" y="303"/>
                </a:lnTo>
                <a:lnTo>
                  <a:pt x="27358" y="247"/>
                </a:lnTo>
                <a:lnTo>
                  <a:pt x="30592" y="237"/>
                </a:lnTo>
                <a:lnTo>
                  <a:pt x="34166" y="248"/>
                </a:lnTo>
                <a:lnTo>
                  <a:pt x="38200" y="0"/>
                </a:lnTo>
                <a:lnTo>
                  <a:pt x="43322" y="197"/>
                </a:lnTo>
                <a:lnTo>
                  <a:pt x="50678" y="146"/>
                </a:lnTo>
                <a:lnTo>
                  <a:pt x="72928" y="45"/>
                </a:lnTo>
                <a:lnTo>
                  <a:pt x="95375" y="123"/>
                </a:lnTo>
                <a:lnTo>
                  <a:pt x="102418" y="99"/>
                </a:lnTo>
                <a:lnTo>
                  <a:pt x="107689" y="36"/>
                </a:lnTo>
                <a:lnTo>
                  <a:pt x="111753" y="64"/>
                </a:lnTo>
                <a:lnTo>
                  <a:pt x="115454" y="173"/>
                </a:lnTo>
                <a:lnTo>
                  <a:pt x="118621" y="163"/>
                </a:lnTo>
                <a:lnTo>
                  <a:pt x="121367" y="189"/>
                </a:lnTo>
                <a:lnTo>
                  <a:pt x="123715" y="366"/>
                </a:lnTo>
                <a:lnTo>
                  <a:pt x="126180" y="212"/>
                </a:lnTo>
                <a:lnTo>
                  <a:pt x="128144" y="493"/>
                </a:lnTo>
                <a:lnTo>
                  <a:pt x="130029" y="558"/>
                </a:lnTo>
                <a:lnTo>
                  <a:pt x="131935" y="634"/>
                </a:lnTo>
                <a:lnTo>
                  <a:pt x="133601" y="622"/>
                </a:lnTo>
                <a:lnTo>
                  <a:pt x="134953" y="627"/>
                </a:lnTo>
                <a:lnTo>
                  <a:pt x="136320" y="768"/>
                </a:lnTo>
                <a:lnTo>
                  <a:pt x="137570" y="908"/>
                </a:lnTo>
                <a:lnTo>
                  <a:pt x="138737" y="1026"/>
                </a:lnTo>
                <a:lnTo>
                  <a:pt x="139931" y="1198"/>
                </a:lnTo>
                <a:lnTo>
                  <a:pt x="140846" y="1161"/>
                </a:lnTo>
                <a:lnTo>
                  <a:pt x="141778" y="1279"/>
                </a:lnTo>
                <a:lnTo>
                  <a:pt x="142451" y="1477"/>
                </a:lnTo>
                <a:lnTo>
                  <a:pt x="143280" y="1818"/>
                </a:lnTo>
                <a:lnTo>
                  <a:pt x="143835" y="1818"/>
                </a:lnTo>
                <a:lnTo>
                  <a:pt x="144340" y="2122"/>
                </a:lnTo>
                <a:lnTo>
                  <a:pt x="144786" y="2213"/>
                </a:lnTo>
                <a:lnTo>
                  <a:pt x="145337" y="2556"/>
                </a:lnTo>
                <a:lnTo>
                  <a:pt x="145561" y="2793"/>
                </a:lnTo>
                <a:lnTo>
                  <a:pt x="145803" y="3171"/>
                </a:lnTo>
                <a:lnTo>
                  <a:pt x="145694" y="3774"/>
                </a:lnTo>
                <a:lnTo>
                  <a:pt x="145903" y="5517"/>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645018" y="6441308"/>
            <a:ext cx="13343748" cy="999531"/>
          </a:xfrm>
          <a:custGeom>
            <a:avLst/>
            <a:gdLst/>
            <a:ahLst/>
            <a:cxnLst/>
            <a:rect l="l" t="t" r="r" b="b"/>
            <a:pathLst>
              <a:path w="145929" h="10931">
                <a:moveTo>
                  <a:pt x="145833" y="5367"/>
                </a:moveTo>
                <a:lnTo>
                  <a:pt x="145914" y="7018"/>
                </a:lnTo>
                <a:lnTo>
                  <a:pt x="145760" y="7684"/>
                </a:lnTo>
                <a:lnTo>
                  <a:pt x="145368" y="7920"/>
                </a:lnTo>
                <a:lnTo>
                  <a:pt x="145126" y="8399"/>
                </a:lnTo>
                <a:lnTo>
                  <a:pt x="144768" y="8509"/>
                </a:lnTo>
                <a:lnTo>
                  <a:pt x="144471" y="8789"/>
                </a:lnTo>
                <a:lnTo>
                  <a:pt x="143780" y="9042"/>
                </a:lnTo>
                <a:lnTo>
                  <a:pt x="143129" y="9198"/>
                </a:lnTo>
                <a:lnTo>
                  <a:pt x="142594" y="9418"/>
                </a:lnTo>
                <a:lnTo>
                  <a:pt x="141820" y="9540"/>
                </a:lnTo>
                <a:lnTo>
                  <a:pt x="140837" y="9708"/>
                </a:lnTo>
                <a:lnTo>
                  <a:pt x="139966" y="9812"/>
                </a:lnTo>
                <a:lnTo>
                  <a:pt x="138953" y="9873"/>
                </a:lnTo>
                <a:lnTo>
                  <a:pt x="137753" y="9978"/>
                </a:lnTo>
                <a:lnTo>
                  <a:pt x="136447" y="10223"/>
                </a:lnTo>
                <a:lnTo>
                  <a:pt x="134887" y="10331"/>
                </a:lnTo>
                <a:lnTo>
                  <a:pt x="133425" y="10259"/>
                </a:lnTo>
                <a:lnTo>
                  <a:pt x="131760" y="10331"/>
                </a:lnTo>
                <a:lnTo>
                  <a:pt x="130036" y="10573"/>
                </a:lnTo>
                <a:lnTo>
                  <a:pt x="128154" y="10608"/>
                </a:lnTo>
                <a:lnTo>
                  <a:pt x="126034" y="10493"/>
                </a:lnTo>
                <a:lnTo>
                  <a:pt x="123843" y="10567"/>
                </a:lnTo>
                <a:lnTo>
                  <a:pt x="121277" y="10781"/>
                </a:lnTo>
                <a:lnTo>
                  <a:pt x="118552" y="10847"/>
                </a:lnTo>
                <a:lnTo>
                  <a:pt x="115309" y="10669"/>
                </a:lnTo>
                <a:lnTo>
                  <a:pt x="111795" y="10753"/>
                </a:lnTo>
                <a:lnTo>
                  <a:pt x="107772" y="10773"/>
                </a:lnTo>
                <a:lnTo>
                  <a:pt x="102496" y="10841"/>
                </a:lnTo>
                <a:lnTo>
                  <a:pt x="95386" y="10863"/>
                </a:lnTo>
                <a:lnTo>
                  <a:pt x="72974" y="10931"/>
                </a:lnTo>
                <a:lnTo>
                  <a:pt x="50549" y="10787"/>
                </a:lnTo>
                <a:lnTo>
                  <a:pt x="43324" y="10796"/>
                </a:lnTo>
                <a:lnTo>
                  <a:pt x="38334" y="10819"/>
                </a:lnTo>
                <a:lnTo>
                  <a:pt x="34041" y="10751"/>
                </a:lnTo>
                <a:lnTo>
                  <a:pt x="30582" y="10671"/>
                </a:lnTo>
                <a:lnTo>
                  <a:pt x="27429" y="10793"/>
                </a:lnTo>
                <a:lnTo>
                  <a:pt x="24673" y="10774"/>
                </a:lnTo>
                <a:lnTo>
                  <a:pt x="22038" y="10599"/>
                </a:lnTo>
                <a:lnTo>
                  <a:pt x="19787" y="10539"/>
                </a:lnTo>
                <a:lnTo>
                  <a:pt x="17792" y="10498"/>
                </a:lnTo>
                <a:lnTo>
                  <a:pt x="15769" y="10553"/>
                </a:lnTo>
                <a:lnTo>
                  <a:pt x="14033" y="10281"/>
                </a:lnTo>
                <a:lnTo>
                  <a:pt x="12393" y="10389"/>
                </a:lnTo>
                <a:lnTo>
                  <a:pt x="10896" y="10331"/>
                </a:lnTo>
                <a:lnTo>
                  <a:pt x="9419" y="10245"/>
                </a:lnTo>
                <a:lnTo>
                  <a:pt x="8225" y="9941"/>
                </a:lnTo>
                <a:lnTo>
                  <a:pt x="7159" y="9942"/>
                </a:lnTo>
                <a:lnTo>
                  <a:pt x="5875" y="9734"/>
                </a:lnTo>
                <a:lnTo>
                  <a:pt x="4981" y="9610"/>
                </a:lnTo>
                <a:lnTo>
                  <a:pt x="4188" y="9587"/>
                </a:lnTo>
                <a:lnTo>
                  <a:pt x="3224" y="9400"/>
                </a:lnTo>
                <a:lnTo>
                  <a:pt x="2752" y="9118"/>
                </a:lnTo>
                <a:lnTo>
                  <a:pt x="2073" y="9008"/>
                </a:lnTo>
                <a:lnTo>
                  <a:pt x="1419" y="8906"/>
                </a:lnTo>
                <a:lnTo>
                  <a:pt x="1185" y="8502"/>
                </a:lnTo>
                <a:lnTo>
                  <a:pt x="615" y="8404"/>
                </a:lnTo>
                <a:lnTo>
                  <a:pt x="349" y="8134"/>
                </a:lnTo>
                <a:lnTo>
                  <a:pt x="160" y="7729"/>
                </a:lnTo>
                <a:lnTo>
                  <a:pt x="166" y="7053"/>
                </a:lnTo>
                <a:lnTo>
                  <a:pt x="16" y="5544"/>
                </a:lnTo>
                <a:lnTo>
                  <a:pt x="0" y="3827"/>
                </a:lnTo>
                <a:lnTo>
                  <a:pt x="243" y="3193"/>
                </a:lnTo>
                <a:lnTo>
                  <a:pt x="528" y="2965"/>
                </a:lnTo>
                <a:lnTo>
                  <a:pt x="748" y="2517"/>
                </a:lnTo>
                <a:lnTo>
                  <a:pt x="1037" y="2428"/>
                </a:lnTo>
                <a:lnTo>
                  <a:pt x="1437" y="2115"/>
                </a:lnTo>
                <a:lnTo>
                  <a:pt x="1991" y="1778"/>
                </a:lnTo>
                <a:lnTo>
                  <a:pt x="2538" y="1646"/>
                </a:lnTo>
                <a:lnTo>
                  <a:pt x="3243" y="1552"/>
                </a:lnTo>
                <a:lnTo>
                  <a:pt x="4103" y="1463"/>
                </a:lnTo>
                <a:lnTo>
                  <a:pt x="5053" y="1244"/>
                </a:lnTo>
                <a:lnTo>
                  <a:pt x="5961" y="1060"/>
                </a:lnTo>
                <a:lnTo>
                  <a:pt x="7029" y="1029"/>
                </a:lnTo>
                <a:lnTo>
                  <a:pt x="8119" y="770"/>
                </a:lnTo>
                <a:lnTo>
                  <a:pt x="9463" y="815"/>
                </a:lnTo>
                <a:lnTo>
                  <a:pt x="10842" y="677"/>
                </a:lnTo>
                <a:lnTo>
                  <a:pt x="12415" y="479"/>
                </a:lnTo>
                <a:lnTo>
                  <a:pt x="14144" y="413"/>
                </a:lnTo>
                <a:lnTo>
                  <a:pt x="15890" y="350"/>
                </a:lnTo>
                <a:lnTo>
                  <a:pt x="17641" y="290"/>
                </a:lnTo>
                <a:lnTo>
                  <a:pt x="19925" y="372"/>
                </a:lnTo>
                <a:lnTo>
                  <a:pt x="21980" y="212"/>
                </a:lnTo>
                <a:lnTo>
                  <a:pt x="24590" y="198"/>
                </a:lnTo>
                <a:lnTo>
                  <a:pt x="27294" y="262"/>
                </a:lnTo>
                <a:lnTo>
                  <a:pt x="30391" y="270"/>
                </a:lnTo>
                <a:lnTo>
                  <a:pt x="34078" y="35"/>
                </a:lnTo>
                <a:lnTo>
                  <a:pt x="38261" y="13"/>
                </a:lnTo>
                <a:lnTo>
                  <a:pt x="43312" y="78"/>
                </a:lnTo>
                <a:lnTo>
                  <a:pt x="50599" y="30"/>
                </a:lnTo>
                <a:lnTo>
                  <a:pt x="73014" y="178"/>
                </a:lnTo>
                <a:lnTo>
                  <a:pt x="95388" y="177"/>
                </a:lnTo>
                <a:lnTo>
                  <a:pt x="102563" y="0"/>
                </a:lnTo>
                <a:lnTo>
                  <a:pt x="107544" y="28"/>
                </a:lnTo>
                <a:lnTo>
                  <a:pt x="111701" y="180"/>
                </a:lnTo>
                <a:lnTo>
                  <a:pt x="115263" y="163"/>
                </a:lnTo>
                <a:lnTo>
                  <a:pt x="118495" y="203"/>
                </a:lnTo>
                <a:lnTo>
                  <a:pt x="121338" y="180"/>
                </a:lnTo>
                <a:lnTo>
                  <a:pt x="123912" y="172"/>
                </a:lnTo>
                <a:lnTo>
                  <a:pt x="126053" y="228"/>
                </a:lnTo>
                <a:lnTo>
                  <a:pt x="128181" y="271"/>
                </a:lnTo>
                <a:lnTo>
                  <a:pt x="130017" y="527"/>
                </a:lnTo>
                <a:lnTo>
                  <a:pt x="131923" y="484"/>
                </a:lnTo>
                <a:lnTo>
                  <a:pt x="133536" y="590"/>
                </a:lnTo>
                <a:lnTo>
                  <a:pt x="135008" y="780"/>
                </a:lnTo>
                <a:lnTo>
                  <a:pt x="136511" y="740"/>
                </a:lnTo>
                <a:lnTo>
                  <a:pt x="137607" y="875"/>
                </a:lnTo>
                <a:lnTo>
                  <a:pt x="138716" y="1041"/>
                </a:lnTo>
                <a:lnTo>
                  <a:pt x="139942" y="994"/>
                </a:lnTo>
                <a:lnTo>
                  <a:pt x="140968" y="1208"/>
                </a:lnTo>
                <a:lnTo>
                  <a:pt x="141835" y="1404"/>
                </a:lnTo>
                <a:lnTo>
                  <a:pt x="142654" y="1465"/>
                </a:lnTo>
                <a:lnTo>
                  <a:pt x="143304" y="1691"/>
                </a:lnTo>
                <a:lnTo>
                  <a:pt x="143825" y="1889"/>
                </a:lnTo>
                <a:lnTo>
                  <a:pt x="144376" y="2178"/>
                </a:lnTo>
                <a:lnTo>
                  <a:pt x="144937" y="2406"/>
                </a:lnTo>
                <a:lnTo>
                  <a:pt x="145178" y="2698"/>
                </a:lnTo>
                <a:lnTo>
                  <a:pt x="145420" y="2880"/>
                </a:lnTo>
                <a:lnTo>
                  <a:pt x="145794" y="3351"/>
                </a:lnTo>
                <a:lnTo>
                  <a:pt x="145724" y="3703"/>
                </a:lnTo>
                <a:lnTo>
                  <a:pt x="145929" y="5428"/>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13742609" y="7202729"/>
            <a:ext cx="178125" cy="80833"/>
          </a:xfrm>
          <a:custGeom>
            <a:avLst/>
            <a:gdLst/>
            <a:ahLst/>
            <a:cxnLst/>
            <a:rect l="l" t="t" r="r" b="b"/>
            <a:pathLst>
              <a:path w="1948" h="884">
                <a:moveTo>
                  <a:pt x="1948" y="0"/>
                </a:moveTo>
                <a:lnTo>
                  <a:pt x="1585" y="263"/>
                </a:lnTo>
                <a:lnTo>
                  <a:pt x="1141" y="493"/>
                </a:lnTo>
                <a:lnTo>
                  <a:pt x="613" y="699"/>
                </a:lnTo>
                <a:lnTo>
                  <a:pt x="0" y="88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11735775" y="7398776"/>
            <a:ext cx="805678" cy="20117"/>
          </a:xfrm>
          <a:custGeom>
            <a:avLst/>
            <a:gdLst/>
            <a:ahLst/>
            <a:cxnLst/>
            <a:rect l="l" t="t" r="r" b="b"/>
            <a:pathLst>
              <a:path w="8811" h="220">
                <a:moveTo>
                  <a:pt x="8811" y="0"/>
                </a:moveTo>
                <a:lnTo>
                  <a:pt x="6889" y="65"/>
                </a:lnTo>
                <a:lnTo>
                  <a:pt x="4797" y="123"/>
                </a:lnTo>
                <a:lnTo>
                  <a:pt x="2511" y="175"/>
                </a:lnTo>
                <a:lnTo>
                  <a:pt x="0" y="22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665019" y="7414778"/>
            <a:ext cx="1094720" cy="13167"/>
          </a:xfrm>
          <a:custGeom>
            <a:avLst/>
            <a:gdLst/>
            <a:ahLst/>
            <a:cxnLst/>
            <a:rect l="l" t="t" r="r" b="b"/>
            <a:pathLst>
              <a:path w="11972" h="144">
                <a:moveTo>
                  <a:pt x="11972" y="144"/>
                </a:moveTo>
                <a:lnTo>
                  <a:pt x="8412" y="117"/>
                </a:lnTo>
                <a:lnTo>
                  <a:pt x="5293" y="84"/>
                </a:lnTo>
                <a:lnTo>
                  <a:pt x="2511" y="45"/>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831738" y="7266645"/>
            <a:ext cx="272217" cy="59436"/>
          </a:xfrm>
          <a:custGeom>
            <a:avLst/>
            <a:gdLst/>
            <a:ahLst/>
            <a:cxnLst/>
            <a:rect l="l" t="t" r="r" b="b"/>
            <a:pathLst>
              <a:path w="2977" h="650">
                <a:moveTo>
                  <a:pt x="2977" y="650"/>
                </a:moveTo>
                <a:lnTo>
                  <a:pt x="2099" y="508"/>
                </a:lnTo>
                <a:lnTo>
                  <a:pt x="1312" y="354"/>
                </a:lnTo>
                <a:lnTo>
                  <a:pt x="613" y="185"/>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709666" y="6597030"/>
            <a:ext cx="178125" cy="80833"/>
          </a:xfrm>
          <a:custGeom>
            <a:avLst/>
            <a:gdLst/>
            <a:ahLst/>
            <a:cxnLst/>
            <a:rect l="l" t="t" r="r" b="b"/>
            <a:pathLst>
              <a:path w="1948" h="884">
                <a:moveTo>
                  <a:pt x="0" y="884"/>
                </a:moveTo>
                <a:lnTo>
                  <a:pt x="363" y="621"/>
                </a:lnTo>
                <a:lnTo>
                  <a:pt x="807" y="391"/>
                </a:lnTo>
                <a:lnTo>
                  <a:pt x="1335" y="185"/>
                </a:lnTo>
                <a:lnTo>
                  <a:pt x="1948"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088947" y="6461699"/>
            <a:ext cx="805678" cy="20117"/>
          </a:xfrm>
          <a:custGeom>
            <a:avLst/>
            <a:gdLst/>
            <a:ahLst/>
            <a:cxnLst/>
            <a:rect l="l" t="t" r="r" b="b"/>
            <a:pathLst>
              <a:path w="8811" h="220">
                <a:moveTo>
                  <a:pt x="0" y="220"/>
                </a:moveTo>
                <a:lnTo>
                  <a:pt x="1922" y="155"/>
                </a:lnTo>
                <a:lnTo>
                  <a:pt x="4014" y="97"/>
                </a:lnTo>
                <a:lnTo>
                  <a:pt x="6300" y="45"/>
                </a:lnTo>
                <a:lnTo>
                  <a:pt x="8811"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10870662" y="6452646"/>
            <a:ext cx="1094720" cy="13167"/>
          </a:xfrm>
          <a:custGeom>
            <a:avLst/>
            <a:gdLst/>
            <a:ahLst/>
            <a:cxnLst/>
            <a:rect l="l" t="t" r="r" b="b"/>
            <a:pathLst>
              <a:path w="11972" h="144">
                <a:moveTo>
                  <a:pt x="0" y="0"/>
                </a:moveTo>
                <a:lnTo>
                  <a:pt x="3560" y="27"/>
                </a:lnTo>
                <a:lnTo>
                  <a:pt x="6679" y="60"/>
                </a:lnTo>
                <a:lnTo>
                  <a:pt x="9461" y="99"/>
                </a:lnTo>
                <a:lnTo>
                  <a:pt x="11972" y="14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13526445" y="6554511"/>
            <a:ext cx="272217" cy="59436"/>
          </a:xfrm>
          <a:custGeom>
            <a:avLst/>
            <a:gdLst/>
            <a:ahLst/>
            <a:cxnLst/>
            <a:rect l="l" t="t" r="r" b="b"/>
            <a:pathLst>
              <a:path w="2977" h="650">
                <a:moveTo>
                  <a:pt x="0" y="0"/>
                </a:moveTo>
                <a:lnTo>
                  <a:pt x="878" y="142"/>
                </a:lnTo>
                <a:lnTo>
                  <a:pt x="1665" y="296"/>
                </a:lnTo>
                <a:lnTo>
                  <a:pt x="2364" y="465"/>
                </a:lnTo>
                <a:lnTo>
                  <a:pt x="2977" y="65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ody: Rare-event example: at p = 0.1%, 2,995 independent trials give a"/>
          <p:cNvSpPr txBox="1"/>
          <p:nvPr/>
        </p:nvSpPr>
        <p:spPr>
          <a:xfrm>
            <a:off x="914400" y="6599555"/>
            <a:ext cx="12801600" cy="681481"/>
          </a:xfrm>
          <a:prstGeom prst="rect">
            <a:avLst/>
          </a:prstGeom>
          <a:noFill/>
        </p:spPr>
        <p:txBody>
          <a:bodyPr wrap="none" lIns="0" rIns="0" tIns="0" bIns="0" anchor="t">
            <a:noAutofit/>
          </a:bodyPr>
          <a:lstStyle/>
          <a:p>
            <a:pPr algn="ctr">
              <a:lnSpc>
                <a:spcPts val="2413"/>
              </a:lnSpc>
              <a:spcBef>
                <a:spcPts val="0"/>
              </a:spcBef>
              <a:spcAft>
                <a:spcPts val="0"/>
              </a:spcAft>
            </a:pPr>
            <a:r>
              <a:rPr sz="1900" b="0">
                <a:solidFill>
                  <a:srgbClr val="293E46"/>
                </a:solidFill>
                <a:latin typeface="Trebuchet MS"/>
              </a:rPr>
              <a:t>Rare-event example: at p = 0.1%, 2,995 independent trials give a 95% chance of seeing at least one event.</a:t>
            </a:r>
            <a:br/>
            <a:r>
              <a:rPr sz="1900" b="0">
                <a:solidFill>
                  <a:srgbClr val="293E46"/>
                </a:solidFill>
                <a:latin typeface="Trebuchet MS"/>
              </a:rPr>
              <a:t>Comparing policies requires a separate power analysis.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7 · REPLAY FEASIBILITY"/>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7 · REPLAY FEASIBILITY</a:t>
            </a:r>
          </a:p>
        </p:txBody>
      </p:sp>
      <p:sp>
        <p:nvSpPr>
          <p:cNvPr id="3" name="title: When full replay is blocked, test the key mechanism"/>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When full replay is blocked, test the key mechanism</a:t>
            </a:r>
          </a:p>
        </p:txBody>
      </p:sp>
      <p:sp>
        <p:nvSpPr>
          <p:cNvPr id="4" name="subtitle: Example: reconstruct a test-harness bypass in a controlled codin"/>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Example: reconstruct a test-harness bypass in a controlled coding environment</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36"/>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36</a:t>
            </a:r>
          </a:p>
        </p:txBody>
      </p:sp>
      <p:sp>
        <p:nvSpPr>
          <p:cNvPr id="12" name="Rounded Rectangle 11"/>
          <p:cNvSpPr/>
          <p:nvPr/>
        </p:nvSpPr>
        <p:spPr>
          <a:xfrm>
            <a:off x="640080" y="1783080"/>
            <a:ext cx="4242816" cy="4224528"/>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641360" y="1785366"/>
            <a:ext cx="4240804" cy="4212001"/>
          </a:xfrm>
          <a:custGeom>
            <a:avLst/>
            <a:gdLst/>
            <a:ahLst/>
            <a:cxnLst/>
            <a:rect l="l" t="t" r="r" b="b"/>
            <a:pathLst>
              <a:path w="46378" h="46063">
                <a:moveTo>
                  <a:pt x="46378" y="23045"/>
                </a:moveTo>
                <a:lnTo>
                  <a:pt x="46344" y="30026"/>
                </a:lnTo>
                <a:lnTo>
                  <a:pt x="46096" y="32460"/>
                </a:lnTo>
                <a:lnTo>
                  <a:pt x="46172" y="34007"/>
                </a:lnTo>
                <a:lnTo>
                  <a:pt x="46054" y="35354"/>
                </a:lnTo>
                <a:lnTo>
                  <a:pt x="45914" y="36519"/>
                </a:lnTo>
                <a:lnTo>
                  <a:pt x="45714" y="37497"/>
                </a:lnTo>
                <a:lnTo>
                  <a:pt x="45532" y="38292"/>
                </a:lnTo>
                <a:lnTo>
                  <a:pt x="45412" y="39144"/>
                </a:lnTo>
                <a:lnTo>
                  <a:pt x="45154" y="39862"/>
                </a:lnTo>
                <a:lnTo>
                  <a:pt x="44916" y="40591"/>
                </a:lnTo>
                <a:lnTo>
                  <a:pt x="44820" y="41175"/>
                </a:lnTo>
                <a:lnTo>
                  <a:pt x="44490" y="41535"/>
                </a:lnTo>
                <a:lnTo>
                  <a:pt x="44132" y="42065"/>
                </a:lnTo>
                <a:lnTo>
                  <a:pt x="43717" y="42697"/>
                </a:lnTo>
                <a:lnTo>
                  <a:pt x="43275" y="43173"/>
                </a:lnTo>
                <a:lnTo>
                  <a:pt x="42738" y="43412"/>
                </a:lnTo>
                <a:lnTo>
                  <a:pt x="42239" y="43795"/>
                </a:lnTo>
                <a:lnTo>
                  <a:pt x="41738" y="44073"/>
                </a:lnTo>
                <a:lnTo>
                  <a:pt x="41406" y="44548"/>
                </a:lnTo>
                <a:lnTo>
                  <a:pt x="40579" y="44868"/>
                </a:lnTo>
                <a:lnTo>
                  <a:pt x="39958" y="44907"/>
                </a:lnTo>
                <a:lnTo>
                  <a:pt x="39317" y="45205"/>
                </a:lnTo>
                <a:lnTo>
                  <a:pt x="38461" y="45540"/>
                </a:lnTo>
                <a:lnTo>
                  <a:pt x="37736" y="45652"/>
                </a:lnTo>
                <a:lnTo>
                  <a:pt x="36593" y="45842"/>
                </a:lnTo>
                <a:lnTo>
                  <a:pt x="35466" y="45943"/>
                </a:lnTo>
                <a:lnTo>
                  <a:pt x="34300" y="46048"/>
                </a:lnTo>
                <a:lnTo>
                  <a:pt x="32528" y="45928"/>
                </a:lnTo>
                <a:lnTo>
                  <a:pt x="30303" y="45926"/>
                </a:lnTo>
                <a:lnTo>
                  <a:pt x="23272" y="45988"/>
                </a:lnTo>
                <a:lnTo>
                  <a:pt x="16034" y="46063"/>
                </a:lnTo>
                <a:lnTo>
                  <a:pt x="13827" y="45980"/>
                </a:lnTo>
                <a:lnTo>
                  <a:pt x="12202" y="46002"/>
                </a:lnTo>
                <a:lnTo>
                  <a:pt x="10803" y="45789"/>
                </a:lnTo>
                <a:lnTo>
                  <a:pt x="9841" y="45784"/>
                </a:lnTo>
                <a:lnTo>
                  <a:pt x="8681" y="45499"/>
                </a:lnTo>
                <a:lnTo>
                  <a:pt x="7775" y="45541"/>
                </a:lnTo>
                <a:lnTo>
                  <a:pt x="6996" y="45330"/>
                </a:lnTo>
                <a:lnTo>
                  <a:pt x="6411" y="45116"/>
                </a:lnTo>
                <a:lnTo>
                  <a:pt x="5700" y="44667"/>
                </a:lnTo>
                <a:lnTo>
                  <a:pt x="5139" y="44449"/>
                </a:lnTo>
                <a:lnTo>
                  <a:pt x="4616" y="44192"/>
                </a:lnTo>
                <a:lnTo>
                  <a:pt x="3907" y="43878"/>
                </a:lnTo>
                <a:lnTo>
                  <a:pt x="3410" y="43451"/>
                </a:lnTo>
                <a:lnTo>
                  <a:pt x="3145" y="43048"/>
                </a:lnTo>
                <a:lnTo>
                  <a:pt x="2779" y="42645"/>
                </a:lnTo>
                <a:lnTo>
                  <a:pt x="2237" y="42105"/>
                </a:lnTo>
                <a:lnTo>
                  <a:pt x="2111" y="41586"/>
                </a:lnTo>
                <a:lnTo>
                  <a:pt x="1643" y="41059"/>
                </a:lnTo>
                <a:lnTo>
                  <a:pt x="1389" y="40387"/>
                </a:lnTo>
                <a:lnTo>
                  <a:pt x="1053" y="39747"/>
                </a:lnTo>
                <a:lnTo>
                  <a:pt x="893" y="39035"/>
                </a:lnTo>
                <a:lnTo>
                  <a:pt x="823" y="38422"/>
                </a:lnTo>
                <a:lnTo>
                  <a:pt x="664" y="37345"/>
                </a:lnTo>
                <a:lnTo>
                  <a:pt x="396" y="36468"/>
                </a:lnTo>
                <a:lnTo>
                  <a:pt x="202" y="35269"/>
                </a:lnTo>
                <a:lnTo>
                  <a:pt x="345" y="34047"/>
                </a:lnTo>
                <a:lnTo>
                  <a:pt x="111" y="32311"/>
                </a:lnTo>
                <a:lnTo>
                  <a:pt x="236" y="30177"/>
                </a:lnTo>
                <a:lnTo>
                  <a:pt x="154" y="23019"/>
                </a:lnTo>
                <a:lnTo>
                  <a:pt x="0" y="15904"/>
                </a:lnTo>
                <a:lnTo>
                  <a:pt x="161" y="13646"/>
                </a:lnTo>
                <a:lnTo>
                  <a:pt x="208" y="12139"/>
                </a:lnTo>
                <a:lnTo>
                  <a:pt x="218" y="10706"/>
                </a:lnTo>
                <a:lnTo>
                  <a:pt x="365" y="9580"/>
                </a:lnTo>
                <a:lnTo>
                  <a:pt x="459" y="8625"/>
                </a:lnTo>
                <a:lnTo>
                  <a:pt x="778" y="7749"/>
                </a:lnTo>
                <a:lnTo>
                  <a:pt x="1034" y="6984"/>
                </a:lnTo>
                <a:lnTo>
                  <a:pt x="1216" y="6335"/>
                </a:lnTo>
                <a:lnTo>
                  <a:pt x="1359" y="5751"/>
                </a:lnTo>
                <a:lnTo>
                  <a:pt x="1680" y="5041"/>
                </a:lnTo>
                <a:lnTo>
                  <a:pt x="1993" y="4438"/>
                </a:lnTo>
                <a:lnTo>
                  <a:pt x="2436" y="3862"/>
                </a:lnTo>
                <a:lnTo>
                  <a:pt x="2642" y="3533"/>
                </a:lnTo>
                <a:lnTo>
                  <a:pt x="3063" y="3010"/>
                </a:lnTo>
                <a:lnTo>
                  <a:pt x="3483" y="2743"/>
                </a:lnTo>
                <a:lnTo>
                  <a:pt x="4016" y="2342"/>
                </a:lnTo>
                <a:lnTo>
                  <a:pt x="4497" y="1990"/>
                </a:lnTo>
                <a:lnTo>
                  <a:pt x="5081" y="1763"/>
                </a:lnTo>
                <a:lnTo>
                  <a:pt x="5675" y="1394"/>
                </a:lnTo>
                <a:lnTo>
                  <a:pt x="6450" y="1102"/>
                </a:lnTo>
                <a:lnTo>
                  <a:pt x="7019" y="1019"/>
                </a:lnTo>
                <a:lnTo>
                  <a:pt x="7823" y="612"/>
                </a:lnTo>
                <a:lnTo>
                  <a:pt x="8822" y="616"/>
                </a:lnTo>
                <a:lnTo>
                  <a:pt x="9843" y="520"/>
                </a:lnTo>
                <a:lnTo>
                  <a:pt x="10984" y="320"/>
                </a:lnTo>
                <a:lnTo>
                  <a:pt x="12241" y="113"/>
                </a:lnTo>
                <a:lnTo>
                  <a:pt x="13725" y="116"/>
                </a:lnTo>
                <a:lnTo>
                  <a:pt x="16182" y="0"/>
                </a:lnTo>
                <a:lnTo>
                  <a:pt x="23177" y="204"/>
                </a:lnTo>
                <a:lnTo>
                  <a:pt x="30254" y="4"/>
                </a:lnTo>
                <a:lnTo>
                  <a:pt x="32593" y="49"/>
                </a:lnTo>
                <a:lnTo>
                  <a:pt x="34288" y="133"/>
                </a:lnTo>
                <a:lnTo>
                  <a:pt x="35480" y="201"/>
                </a:lnTo>
                <a:lnTo>
                  <a:pt x="36532" y="336"/>
                </a:lnTo>
                <a:lnTo>
                  <a:pt x="37642" y="604"/>
                </a:lnTo>
                <a:lnTo>
                  <a:pt x="38496" y="710"/>
                </a:lnTo>
                <a:lnTo>
                  <a:pt x="39211" y="969"/>
                </a:lnTo>
                <a:lnTo>
                  <a:pt x="39963" y="1137"/>
                </a:lnTo>
                <a:lnTo>
                  <a:pt x="40590" y="1472"/>
                </a:lnTo>
                <a:lnTo>
                  <a:pt x="41401" y="1766"/>
                </a:lnTo>
                <a:lnTo>
                  <a:pt x="41861" y="1846"/>
                </a:lnTo>
                <a:lnTo>
                  <a:pt x="42340" y="2305"/>
                </a:lnTo>
                <a:lnTo>
                  <a:pt x="42787" y="2559"/>
                </a:lnTo>
                <a:lnTo>
                  <a:pt x="43298" y="3125"/>
                </a:lnTo>
                <a:lnTo>
                  <a:pt x="43569" y="3558"/>
                </a:lnTo>
                <a:lnTo>
                  <a:pt x="44148" y="4003"/>
                </a:lnTo>
                <a:lnTo>
                  <a:pt x="44438" y="4612"/>
                </a:lnTo>
                <a:lnTo>
                  <a:pt x="44815" y="5086"/>
                </a:lnTo>
                <a:lnTo>
                  <a:pt x="45083" y="5676"/>
                </a:lnTo>
                <a:lnTo>
                  <a:pt x="45197" y="6438"/>
                </a:lnTo>
                <a:lnTo>
                  <a:pt x="45485" y="6977"/>
                </a:lnTo>
                <a:lnTo>
                  <a:pt x="45541" y="7713"/>
                </a:lnTo>
                <a:lnTo>
                  <a:pt x="45684" y="8630"/>
                </a:lnTo>
                <a:lnTo>
                  <a:pt x="46049" y="9601"/>
                </a:lnTo>
                <a:lnTo>
                  <a:pt x="46181" y="10915"/>
                </a:lnTo>
                <a:lnTo>
                  <a:pt x="46038" y="12166"/>
                </a:lnTo>
                <a:lnTo>
                  <a:pt x="46285" y="13671"/>
                </a:lnTo>
                <a:lnTo>
                  <a:pt x="46222" y="16130"/>
                </a:lnTo>
                <a:lnTo>
                  <a:pt x="46179" y="23163"/>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641269" y="1786372"/>
            <a:ext cx="4242450" cy="4212641"/>
          </a:xfrm>
          <a:custGeom>
            <a:avLst/>
            <a:gdLst/>
            <a:ahLst/>
            <a:cxnLst/>
            <a:rect l="l" t="t" r="r" b="b"/>
            <a:pathLst>
              <a:path w="46396" h="46070">
                <a:moveTo>
                  <a:pt x="46396" y="23013"/>
                </a:moveTo>
                <a:lnTo>
                  <a:pt x="46368" y="30016"/>
                </a:lnTo>
                <a:lnTo>
                  <a:pt x="46231" y="32453"/>
                </a:lnTo>
                <a:lnTo>
                  <a:pt x="46166" y="33954"/>
                </a:lnTo>
                <a:lnTo>
                  <a:pt x="46123" y="35422"/>
                </a:lnTo>
                <a:lnTo>
                  <a:pt x="45956" y="36566"/>
                </a:lnTo>
                <a:lnTo>
                  <a:pt x="45869" y="37473"/>
                </a:lnTo>
                <a:lnTo>
                  <a:pt x="45627" y="38412"/>
                </a:lnTo>
                <a:lnTo>
                  <a:pt x="45477" y="39024"/>
                </a:lnTo>
                <a:lnTo>
                  <a:pt x="45199" y="39763"/>
                </a:lnTo>
                <a:lnTo>
                  <a:pt x="44947" y="40596"/>
                </a:lnTo>
                <a:lnTo>
                  <a:pt x="44772" y="41193"/>
                </a:lnTo>
                <a:lnTo>
                  <a:pt x="44335" y="41580"/>
                </a:lnTo>
                <a:lnTo>
                  <a:pt x="43973" y="42199"/>
                </a:lnTo>
                <a:lnTo>
                  <a:pt x="43742" y="42609"/>
                </a:lnTo>
                <a:lnTo>
                  <a:pt x="43207" y="43087"/>
                </a:lnTo>
                <a:lnTo>
                  <a:pt x="42923" y="43448"/>
                </a:lnTo>
                <a:lnTo>
                  <a:pt x="42295" y="43787"/>
                </a:lnTo>
                <a:lnTo>
                  <a:pt x="41934" y="44289"/>
                </a:lnTo>
                <a:lnTo>
                  <a:pt x="41392" y="44391"/>
                </a:lnTo>
                <a:lnTo>
                  <a:pt x="40724" y="44734"/>
                </a:lnTo>
                <a:lnTo>
                  <a:pt x="40068" y="44923"/>
                </a:lnTo>
                <a:lnTo>
                  <a:pt x="39390" y="45309"/>
                </a:lnTo>
                <a:lnTo>
                  <a:pt x="38623" y="45532"/>
                </a:lnTo>
                <a:lnTo>
                  <a:pt x="37697" y="45486"/>
                </a:lnTo>
                <a:lnTo>
                  <a:pt x="36553" y="45674"/>
                </a:lnTo>
                <a:lnTo>
                  <a:pt x="35591" y="45822"/>
                </a:lnTo>
                <a:lnTo>
                  <a:pt x="34140" y="45844"/>
                </a:lnTo>
                <a:lnTo>
                  <a:pt x="32535" y="46070"/>
                </a:lnTo>
                <a:lnTo>
                  <a:pt x="30234" y="46027"/>
                </a:lnTo>
                <a:lnTo>
                  <a:pt x="23287" y="45939"/>
                </a:lnTo>
                <a:lnTo>
                  <a:pt x="16084" y="45924"/>
                </a:lnTo>
                <a:lnTo>
                  <a:pt x="13868" y="45890"/>
                </a:lnTo>
                <a:lnTo>
                  <a:pt x="12324" y="45835"/>
                </a:lnTo>
                <a:lnTo>
                  <a:pt x="10930" y="45878"/>
                </a:lnTo>
                <a:lnTo>
                  <a:pt x="9845" y="45639"/>
                </a:lnTo>
                <a:lnTo>
                  <a:pt x="8713" y="45646"/>
                </a:lnTo>
                <a:lnTo>
                  <a:pt x="7800" y="45424"/>
                </a:lnTo>
                <a:lnTo>
                  <a:pt x="6994" y="45125"/>
                </a:lnTo>
                <a:lnTo>
                  <a:pt x="6331" y="44989"/>
                </a:lnTo>
                <a:lnTo>
                  <a:pt x="5605" y="44712"/>
                </a:lnTo>
                <a:lnTo>
                  <a:pt x="5112" y="44482"/>
                </a:lnTo>
                <a:lnTo>
                  <a:pt x="4412" y="44099"/>
                </a:lnTo>
                <a:lnTo>
                  <a:pt x="3956" y="43912"/>
                </a:lnTo>
                <a:lnTo>
                  <a:pt x="3524" y="43491"/>
                </a:lnTo>
                <a:lnTo>
                  <a:pt x="3044" y="43030"/>
                </a:lnTo>
                <a:lnTo>
                  <a:pt x="2638" y="42724"/>
                </a:lnTo>
                <a:lnTo>
                  <a:pt x="2398" y="42132"/>
                </a:lnTo>
                <a:lnTo>
                  <a:pt x="2048" y="41546"/>
                </a:lnTo>
                <a:lnTo>
                  <a:pt x="1805" y="41070"/>
                </a:lnTo>
                <a:lnTo>
                  <a:pt x="1361" y="40504"/>
                </a:lnTo>
                <a:lnTo>
                  <a:pt x="1248" y="39898"/>
                </a:lnTo>
                <a:lnTo>
                  <a:pt x="860" y="39015"/>
                </a:lnTo>
                <a:lnTo>
                  <a:pt x="694" y="38233"/>
                </a:lnTo>
                <a:lnTo>
                  <a:pt x="636" y="37358"/>
                </a:lnTo>
                <a:lnTo>
                  <a:pt x="535" y="36444"/>
                </a:lnTo>
                <a:lnTo>
                  <a:pt x="279" y="35318"/>
                </a:lnTo>
                <a:lnTo>
                  <a:pt x="344" y="34055"/>
                </a:lnTo>
                <a:lnTo>
                  <a:pt x="60" y="32431"/>
                </a:lnTo>
                <a:lnTo>
                  <a:pt x="0" y="30217"/>
                </a:lnTo>
                <a:lnTo>
                  <a:pt x="118" y="22962"/>
                </a:lnTo>
                <a:lnTo>
                  <a:pt x="217" y="16031"/>
                </a:lnTo>
                <a:lnTo>
                  <a:pt x="41" y="13765"/>
                </a:lnTo>
                <a:lnTo>
                  <a:pt x="114" y="12014"/>
                </a:lnTo>
                <a:lnTo>
                  <a:pt x="428" y="10835"/>
                </a:lnTo>
                <a:lnTo>
                  <a:pt x="308" y="9657"/>
                </a:lnTo>
                <a:lnTo>
                  <a:pt x="500" y="8798"/>
                </a:lnTo>
                <a:lnTo>
                  <a:pt x="678" y="7819"/>
                </a:lnTo>
                <a:lnTo>
                  <a:pt x="799" y="6945"/>
                </a:lnTo>
                <a:lnTo>
                  <a:pt x="1204" y="6236"/>
                </a:lnTo>
                <a:lnTo>
                  <a:pt x="1323" y="5686"/>
                </a:lnTo>
                <a:lnTo>
                  <a:pt x="1580" y="5108"/>
                </a:lnTo>
                <a:lnTo>
                  <a:pt x="1924" y="4482"/>
                </a:lnTo>
                <a:lnTo>
                  <a:pt x="2407" y="3887"/>
                </a:lnTo>
                <a:lnTo>
                  <a:pt x="2634" y="3594"/>
                </a:lnTo>
                <a:lnTo>
                  <a:pt x="3213" y="3177"/>
                </a:lnTo>
                <a:lnTo>
                  <a:pt x="3466" y="2764"/>
                </a:lnTo>
                <a:lnTo>
                  <a:pt x="4038" y="2295"/>
                </a:lnTo>
                <a:lnTo>
                  <a:pt x="4637" y="1879"/>
                </a:lnTo>
                <a:lnTo>
                  <a:pt x="5122" y="1643"/>
                </a:lnTo>
                <a:lnTo>
                  <a:pt x="5739" y="1321"/>
                </a:lnTo>
                <a:lnTo>
                  <a:pt x="6406" y="1139"/>
                </a:lnTo>
                <a:lnTo>
                  <a:pt x="6976" y="897"/>
                </a:lnTo>
                <a:lnTo>
                  <a:pt x="7818" y="628"/>
                </a:lnTo>
                <a:lnTo>
                  <a:pt x="8691" y="441"/>
                </a:lnTo>
                <a:lnTo>
                  <a:pt x="9670" y="463"/>
                </a:lnTo>
                <a:lnTo>
                  <a:pt x="10934" y="346"/>
                </a:lnTo>
                <a:lnTo>
                  <a:pt x="12089" y="248"/>
                </a:lnTo>
                <a:lnTo>
                  <a:pt x="13778" y="239"/>
                </a:lnTo>
                <a:lnTo>
                  <a:pt x="16111" y="157"/>
                </a:lnTo>
                <a:lnTo>
                  <a:pt x="23294" y="59"/>
                </a:lnTo>
                <a:lnTo>
                  <a:pt x="30200" y="0"/>
                </a:lnTo>
                <a:lnTo>
                  <a:pt x="32546" y="70"/>
                </a:lnTo>
                <a:lnTo>
                  <a:pt x="34219" y="112"/>
                </a:lnTo>
                <a:lnTo>
                  <a:pt x="35398" y="195"/>
                </a:lnTo>
                <a:lnTo>
                  <a:pt x="36645" y="393"/>
                </a:lnTo>
                <a:lnTo>
                  <a:pt x="37507" y="637"/>
                </a:lnTo>
                <a:lnTo>
                  <a:pt x="38597" y="763"/>
                </a:lnTo>
                <a:lnTo>
                  <a:pt x="39231" y="892"/>
                </a:lnTo>
                <a:lnTo>
                  <a:pt x="39943" y="1141"/>
                </a:lnTo>
                <a:lnTo>
                  <a:pt x="40735" y="1467"/>
                </a:lnTo>
                <a:lnTo>
                  <a:pt x="41277" y="1714"/>
                </a:lnTo>
                <a:lnTo>
                  <a:pt x="41931" y="1977"/>
                </a:lnTo>
                <a:lnTo>
                  <a:pt x="42304" y="2193"/>
                </a:lnTo>
                <a:lnTo>
                  <a:pt x="42903" y="2573"/>
                </a:lnTo>
                <a:lnTo>
                  <a:pt x="43211" y="3089"/>
                </a:lnTo>
                <a:lnTo>
                  <a:pt x="43803" y="3492"/>
                </a:lnTo>
                <a:lnTo>
                  <a:pt x="43932" y="3913"/>
                </a:lnTo>
                <a:lnTo>
                  <a:pt x="44405" y="4415"/>
                </a:lnTo>
                <a:lnTo>
                  <a:pt x="44571" y="5128"/>
                </a:lnTo>
                <a:lnTo>
                  <a:pt x="44941" y="5626"/>
                </a:lnTo>
                <a:lnTo>
                  <a:pt x="45208" y="6329"/>
                </a:lnTo>
                <a:lnTo>
                  <a:pt x="45407" y="7007"/>
                </a:lnTo>
                <a:lnTo>
                  <a:pt x="45530" y="7801"/>
                </a:lnTo>
                <a:lnTo>
                  <a:pt x="45914" y="8799"/>
                </a:lnTo>
                <a:lnTo>
                  <a:pt x="45881" y="9777"/>
                </a:lnTo>
                <a:lnTo>
                  <a:pt x="46121" y="10870"/>
                </a:lnTo>
                <a:lnTo>
                  <a:pt x="46115" y="12143"/>
                </a:lnTo>
                <a:lnTo>
                  <a:pt x="46087" y="13750"/>
                </a:lnTo>
                <a:lnTo>
                  <a:pt x="46250" y="15911"/>
                </a:lnTo>
                <a:lnTo>
                  <a:pt x="46328" y="22965"/>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4796942" y="5016398"/>
            <a:ext cx="56418" cy="345186"/>
          </a:xfrm>
          <a:custGeom>
            <a:avLst/>
            <a:gdLst/>
            <a:ahLst/>
            <a:cxnLst/>
            <a:rect l="l" t="t" r="r" b="b"/>
            <a:pathLst>
              <a:path w="617" h="3775">
                <a:moveTo>
                  <a:pt x="617" y="0"/>
                </a:moveTo>
                <a:lnTo>
                  <a:pt x="502" y="1123"/>
                </a:lnTo>
                <a:lnTo>
                  <a:pt x="361" y="2106"/>
                </a:lnTo>
                <a:lnTo>
                  <a:pt x="194" y="2983"/>
                </a:lnTo>
                <a:lnTo>
                  <a:pt x="0" y="3775"/>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61434" y="5853806"/>
            <a:ext cx="255118" cy="85862"/>
          </a:xfrm>
          <a:custGeom>
            <a:avLst/>
            <a:gdLst/>
            <a:ahLst/>
            <a:cxnLst/>
            <a:rect l="l" t="t" r="r" b="b"/>
            <a:pathLst>
              <a:path w="2790" h="939">
                <a:moveTo>
                  <a:pt x="2790" y="0"/>
                </a:moveTo>
                <a:lnTo>
                  <a:pt x="2181" y="277"/>
                </a:lnTo>
                <a:lnTo>
                  <a:pt x="1519" y="525"/>
                </a:lnTo>
                <a:lnTo>
                  <a:pt x="795" y="746"/>
                </a:lnTo>
                <a:lnTo>
                  <a:pt x="0" y="93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288847" y="5922020"/>
            <a:ext cx="346649" cy="56144"/>
          </a:xfrm>
          <a:custGeom>
            <a:avLst/>
            <a:gdLst/>
            <a:ahLst/>
            <a:cxnLst/>
            <a:rect l="l" t="t" r="r" b="b"/>
            <a:pathLst>
              <a:path w="3791" h="614">
                <a:moveTo>
                  <a:pt x="3791" y="614"/>
                </a:moveTo>
                <a:lnTo>
                  <a:pt x="2664" y="500"/>
                </a:lnTo>
                <a:lnTo>
                  <a:pt x="1676" y="359"/>
                </a:lnTo>
                <a:lnTo>
                  <a:pt x="795" y="193"/>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08294" y="5289164"/>
            <a:ext cx="86136" cy="254112"/>
          </a:xfrm>
          <a:custGeom>
            <a:avLst/>
            <a:gdLst/>
            <a:ahLst/>
            <a:cxnLst/>
            <a:rect l="l" t="t" r="r" b="b"/>
            <a:pathLst>
              <a:path w="942" h="2779">
                <a:moveTo>
                  <a:pt x="942" y="2779"/>
                </a:moveTo>
                <a:lnTo>
                  <a:pt x="664" y="2173"/>
                </a:lnTo>
                <a:lnTo>
                  <a:pt x="415" y="1513"/>
                </a:lnTo>
                <a:lnTo>
                  <a:pt x="194" y="792"/>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69615" y="2429104"/>
            <a:ext cx="56418" cy="345186"/>
          </a:xfrm>
          <a:custGeom>
            <a:avLst/>
            <a:gdLst/>
            <a:ahLst/>
            <a:cxnLst/>
            <a:rect l="l" t="t" r="r" b="b"/>
            <a:pathLst>
              <a:path w="617" h="3775">
                <a:moveTo>
                  <a:pt x="0" y="3775"/>
                </a:moveTo>
                <a:lnTo>
                  <a:pt x="115" y="2652"/>
                </a:lnTo>
                <a:lnTo>
                  <a:pt x="256" y="1669"/>
                </a:lnTo>
                <a:lnTo>
                  <a:pt x="423" y="792"/>
                </a:lnTo>
                <a:lnTo>
                  <a:pt x="617"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106424" y="1851020"/>
            <a:ext cx="255118" cy="85862"/>
          </a:xfrm>
          <a:custGeom>
            <a:avLst/>
            <a:gdLst/>
            <a:ahLst/>
            <a:cxnLst/>
            <a:rect l="l" t="t" r="r" b="b"/>
            <a:pathLst>
              <a:path w="2790" h="939">
                <a:moveTo>
                  <a:pt x="0" y="939"/>
                </a:moveTo>
                <a:lnTo>
                  <a:pt x="609" y="662"/>
                </a:lnTo>
                <a:lnTo>
                  <a:pt x="1271" y="414"/>
                </a:lnTo>
                <a:lnTo>
                  <a:pt x="1995" y="193"/>
                </a:lnTo>
                <a:lnTo>
                  <a:pt x="279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887480" y="1812524"/>
            <a:ext cx="346649" cy="56144"/>
          </a:xfrm>
          <a:custGeom>
            <a:avLst/>
            <a:gdLst/>
            <a:ahLst/>
            <a:cxnLst/>
            <a:rect l="l" t="t" r="r" b="b"/>
            <a:pathLst>
              <a:path w="3791" h="614">
                <a:moveTo>
                  <a:pt x="0" y="0"/>
                </a:moveTo>
                <a:lnTo>
                  <a:pt x="1127" y="114"/>
                </a:lnTo>
                <a:lnTo>
                  <a:pt x="2115" y="255"/>
                </a:lnTo>
                <a:lnTo>
                  <a:pt x="2996" y="421"/>
                </a:lnTo>
                <a:lnTo>
                  <a:pt x="3791" y="614"/>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728545" y="2247412"/>
            <a:ext cx="86136" cy="254112"/>
          </a:xfrm>
          <a:custGeom>
            <a:avLst/>
            <a:gdLst/>
            <a:ahLst/>
            <a:cxnLst/>
            <a:rect l="l" t="t" r="r" b="b"/>
            <a:pathLst>
              <a:path w="942" h="2779">
                <a:moveTo>
                  <a:pt x="0" y="0"/>
                </a:moveTo>
                <a:lnTo>
                  <a:pt x="278" y="606"/>
                </a:lnTo>
                <a:lnTo>
                  <a:pt x="527" y="1266"/>
                </a:lnTo>
                <a:lnTo>
                  <a:pt x="748" y="1987"/>
                </a:lnTo>
                <a:lnTo>
                  <a:pt x="942" y="2779"/>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 Preserve the causal ingredients"/>
          <p:cNvSpPr txBox="1"/>
          <p:nvPr/>
        </p:nvSpPr>
        <p:spPr>
          <a:xfrm>
            <a:off x="996695" y="2093594"/>
            <a:ext cx="3529584" cy="366522"/>
          </a:xfrm>
          <a:prstGeom prst="rect">
            <a:avLst/>
          </a:prstGeom>
          <a:noFill/>
        </p:spPr>
        <p:txBody>
          <a:bodyPr wrap="none" lIns="0" rIns="0" tIns="0" bIns="0" anchor="t">
            <a:noAutofit/>
          </a:bodyPr>
          <a:lstStyle/>
          <a:p>
            <a:pPr algn="ctr">
              <a:lnSpc>
                <a:spcPts val="2346"/>
              </a:lnSpc>
              <a:spcBef>
                <a:spcPts val="0"/>
              </a:spcBef>
              <a:spcAft>
                <a:spcPts val="0"/>
              </a:spcAft>
            </a:pPr>
            <a:r>
              <a:rPr sz="1725" b="1">
                <a:solidFill>
                  <a:srgbClr val="4E7892"/>
                </a:solidFill>
                <a:latin typeface="Chalkboard SE"/>
              </a:rPr>
              <a:t>Preserve the causal ingredients</a:t>
            </a:r>
          </a:p>
        </p:txBody>
      </p:sp>
      <p:sp>
        <p:nvSpPr>
          <p:cNvPr id="24" name="Oval 23"/>
          <p:cNvSpPr/>
          <p:nvPr/>
        </p:nvSpPr>
        <p:spPr>
          <a:xfrm>
            <a:off x="909828" y="287705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A legitimate coding task and an incentive to pass its tests"/>
          <p:cNvSpPr txBox="1"/>
          <p:nvPr/>
        </p:nvSpPr>
        <p:spPr>
          <a:xfrm>
            <a:off x="1143000" y="2776474"/>
            <a:ext cx="3483864"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A legitimate coding task and</a:t>
            </a:r>
            <a:br/>
            <a:r>
              <a:rPr sz="2000" b="0">
                <a:solidFill>
                  <a:srgbClr val="293E46"/>
                </a:solidFill>
                <a:latin typeface="Trebuchet MS"/>
              </a:rPr>
              <a:t>an incentive to pass its tests</a:t>
            </a:r>
          </a:p>
        </p:txBody>
      </p:sp>
      <p:sp>
        <p:nvSpPr>
          <p:cNvPr id="26" name="Oval 25"/>
          <p:cNvSpPr/>
          <p:nvPr/>
        </p:nvSpPr>
        <p:spPr>
          <a:xfrm>
            <a:off x="909828" y="370967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A specific opportunity to tamper with testing or exploit weak ch"/>
          <p:cNvSpPr txBox="1"/>
          <p:nvPr/>
        </p:nvSpPr>
        <p:spPr>
          <a:xfrm>
            <a:off x="1143000" y="3609086"/>
            <a:ext cx="3483864" cy="103632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A specific opportunity to</a:t>
            </a:r>
            <a:br/>
            <a:r>
              <a:rPr sz="2000" b="0">
                <a:solidFill>
                  <a:srgbClr val="293E46"/>
                </a:solidFill>
                <a:latin typeface="Trebuchet MS"/>
              </a:rPr>
              <a:t>tamper with testing or</a:t>
            </a:r>
            <a:br/>
            <a:r>
              <a:rPr sz="2000" b="0">
                <a:solidFill>
                  <a:srgbClr val="293E46"/>
                </a:solidFill>
                <a:latin typeface="Trebuchet MS"/>
              </a:rPr>
              <a:t>exploit weak checks</a:t>
            </a:r>
          </a:p>
        </p:txBody>
      </p:sp>
      <p:sp>
        <p:nvSpPr>
          <p:cNvPr id="28" name="Oval 27"/>
          <p:cNvSpPr/>
          <p:nvPr/>
        </p:nvSpPr>
        <p:spPr>
          <a:xfrm>
            <a:off x="909828" y="486486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An independent observer of what actually ran and changed"/>
          <p:cNvSpPr txBox="1"/>
          <p:nvPr/>
        </p:nvSpPr>
        <p:spPr>
          <a:xfrm>
            <a:off x="1143000" y="4764278"/>
            <a:ext cx="3483864" cy="103632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An independent observer of</a:t>
            </a:r>
            <a:br/>
            <a:r>
              <a:rPr sz="2000" b="0">
                <a:solidFill>
                  <a:srgbClr val="293E46"/>
                </a:solidFill>
                <a:latin typeface="Trebuchet MS"/>
              </a:rPr>
              <a:t>what actually ran and</a:t>
            </a:r>
            <a:br/>
            <a:r>
              <a:rPr sz="2000" b="0">
                <a:solidFill>
                  <a:srgbClr val="293E46"/>
                </a:solidFill>
                <a:latin typeface="Trebuchet MS"/>
              </a:rPr>
              <a:t>changed</a:t>
            </a:r>
          </a:p>
        </p:txBody>
      </p:sp>
      <p:sp>
        <p:nvSpPr>
          <p:cNvPr id="30" name="Rounded Rectangle 29"/>
          <p:cNvSpPr/>
          <p:nvPr/>
        </p:nvSpPr>
        <p:spPr>
          <a:xfrm>
            <a:off x="5193792" y="1783080"/>
            <a:ext cx="4242816" cy="4224528"/>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5202204" y="1784726"/>
            <a:ext cx="4224619" cy="4220870"/>
          </a:xfrm>
          <a:custGeom>
            <a:avLst/>
            <a:gdLst/>
            <a:ahLst/>
            <a:cxnLst/>
            <a:rect l="l" t="t" r="r" b="b"/>
            <a:pathLst>
              <a:path w="46201" h="46160">
                <a:moveTo>
                  <a:pt x="46182" y="23004"/>
                </a:moveTo>
                <a:lnTo>
                  <a:pt x="46170" y="30164"/>
                </a:lnTo>
                <a:lnTo>
                  <a:pt x="46012" y="32280"/>
                </a:lnTo>
                <a:lnTo>
                  <a:pt x="46201" y="34096"/>
                </a:lnTo>
                <a:lnTo>
                  <a:pt x="45876" y="35411"/>
                </a:lnTo>
                <a:lnTo>
                  <a:pt x="45861" y="36465"/>
                </a:lnTo>
                <a:lnTo>
                  <a:pt x="45787" y="37436"/>
                </a:lnTo>
                <a:lnTo>
                  <a:pt x="45546" y="38437"/>
                </a:lnTo>
                <a:lnTo>
                  <a:pt x="45358" y="39014"/>
                </a:lnTo>
                <a:lnTo>
                  <a:pt x="45235" y="39806"/>
                </a:lnTo>
                <a:lnTo>
                  <a:pt x="44867" y="40580"/>
                </a:lnTo>
                <a:lnTo>
                  <a:pt x="44632" y="41164"/>
                </a:lnTo>
                <a:lnTo>
                  <a:pt x="44338" y="41551"/>
                </a:lnTo>
                <a:lnTo>
                  <a:pt x="44055" y="42201"/>
                </a:lnTo>
                <a:lnTo>
                  <a:pt x="43682" y="42627"/>
                </a:lnTo>
                <a:lnTo>
                  <a:pt x="43084" y="43133"/>
                </a:lnTo>
                <a:lnTo>
                  <a:pt x="42657" y="43491"/>
                </a:lnTo>
                <a:lnTo>
                  <a:pt x="42184" y="43807"/>
                </a:lnTo>
                <a:lnTo>
                  <a:pt x="41867" y="44306"/>
                </a:lnTo>
                <a:lnTo>
                  <a:pt x="41286" y="44458"/>
                </a:lnTo>
                <a:lnTo>
                  <a:pt x="40582" y="44810"/>
                </a:lnTo>
                <a:lnTo>
                  <a:pt x="40062" y="45022"/>
                </a:lnTo>
                <a:lnTo>
                  <a:pt x="39233" y="45270"/>
                </a:lnTo>
                <a:lnTo>
                  <a:pt x="38382" y="45475"/>
                </a:lnTo>
                <a:lnTo>
                  <a:pt x="37628" y="45525"/>
                </a:lnTo>
                <a:lnTo>
                  <a:pt x="36626" y="45714"/>
                </a:lnTo>
                <a:lnTo>
                  <a:pt x="35341" y="45961"/>
                </a:lnTo>
                <a:lnTo>
                  <a:pt x="34179" y="45846"/>
                </a:lnTo>
                <a:lnTo>
                  <a:pt x="32480" y="45953"/>
                </a:lnTo>
                <a:lnTo>
                  <a:pt x="30247" y="46160"/>
                </a:lnTo>
                <a:lnTo>
                  <a:pt x="23189" y="46047"/>
                </a:lnTo>
                <a:lnTo>
                  <a:pt x="15995" y="46139"/>
                </a:lnTo>
                <a:lnTo>
                  <a:pt x="13828" y="46021"/>
                </a:lnTo>
                <a:lnTo>
                  <a:pt x="12005" y="45965"/>
                </a:lnTo>
                <a:lnTo>
                  <a:pt x="10694" y="45763"/>
                </a:lnTo>
                <a:lnTo>
                  <a:pt x="9728" y="45803"/>
                </a:lnTo>
                <a:lnTo>
                  <a:pt x="8682" y="45721"/>
                </a:lnTo>
                <a:lnTo>
                  <a:pt x="7910" y="45338"/>
                </a:lnTo>
                <a:lnTo>
                  <a:pt x="7020" y="45194"/>
                </a:lnTo>
                <a:lnTo>
                  <a:pt x="6267" y="45109"/>
                </a:lnTo>
                <a:lnTo>
                  <a:pt x="5658" y="44881"/>
                </a:lnTo>
                <a:lnTo>
                  <a:pt x="5031" y="44434"/>
                </a:lnTo>
                <a:lnTo>
                  <a:pt x="4432" y="44168"/>
                </a:lnTo>
                <a:lnTo>
                  <a:pt x="3962" y="43933"/>
                </a:lnTo>
                <a:lnTo>
                  <a:pt x="3463" y="43582"/>
                </a:lnTo>
                <a:lnTo>
                  <a:pt x="3037" y="43010"/>
                </a:lnTo>
                <a:lnTo>
                  <a:pt x="2534" y="42580"/>
                </a:lnTo>
                <a:lnTo>
                  <a:pt x="2356" y="42098"/>
                </a:lnTo>
                <a:lnTo>
                  <a:pt x="1975" y="41556"/>
                </a:lnTo>
                <a:lnTo>
                  <a:pt x="1650" y="41037"/>
                </a:lnTo>
                <a:lnTo>
                  <a:pt x="1246" y="40529"/>
                </a:lnTo>
                <a:lnTo>
                  <a:pt x="972" y="39737"/>
                </a:lnTo>
                <a:lnTo>
                  <a:pt x="846" y="39108"/>
                </a:lnTo>
                <a:lnTo>
                  <a:pt x="775" y="38408"/>
                </a:lnTo>
                <a:lnTo>
                  <a:pt x="420" y="37490"/>
                </a:lnTo>
                <a:lnTo>
                  <a:pt x="348" y="36566"/>
                </a:lnTo>
                <a:lnTo>
                  <a:pt x="197" y="35391"/>
                </a:lnTo>
                <a:lnTo>
                  <a:pt x="29" y="33911"/>
                </a:lnTo>
                <a:lnTo>
                  <a:pt x="134" y="32488"/>
                </a:lnTo>
                <a:lnTo>
                  <a:pt x="36" y="30150"/>
                </a:lnTo>
                <a:lnTo>
                  <a:pt x="72" y="23021"/>
                </a:lnTo>
                <a:lnTo>
                  <a:pt x="0" y="15986"/>
                </a:lnTo>
                <a:lnTo>
                  <a:pt x="158" y="13806"/>
                </a:lnTo>
                <a:lnTo>
                  <a:pt x="186" y="12204"/>
                </a:lnTo>
                <a:lnTo>
                  <a:pt x="194" y="10724"/>
                </a:lnTo>
                <a:lnTo>
                  <a:pt x="445" y="9788"/>
                </a:lnTo>
                <a:lnTo>
                  <a:pt x="613" y="8809"/>
                </a:lnTo>
                <a:lnTo>
                  <a:pt x="601" y="7933"/>
                </a:lnTo>
                <a:lnTo>
                  <a:pt x="893" y="7039"/>
                </a:lnTo>
                <a:lnTo>
                  <a:pt x="1128" y="6404"/>
                </a:lnTo>
                <a:lnTo>
                  <a:pt x="1243" y="5706"/>
                </a:lnTo>
                <a:lnTo>
                  <a:pt x="1620" y="4958"/>
                </a:lnTo>
                <a:lnTo>
                  <a:pt x="1945" y="4493"/>
                </a:lnTo>
                <a:lnTo>
                  <a:pt x="2253" y="4043"/>
                </a:lnTo>
                <a:lnTo>
                  <a:pt x="2689" y="3610"/>
                </a:lnTo>
                <a:lnTo>
                  <a:pt x="3027" y="3006"/>
                </a:lnTo>
                <a:lnTo>
                  <a:pt x="3408" y="2630"/>
                </a:lnTo>
                <a:lnTo>
                  <a:pt x="3940" y="2266"/>
                </a:lnTo>
                <a:lnTo>
                  <a:pt x="4333" y="1941"/>
                </a:lnTo>
                <a:lnTo>
                  <a:pt x="5125" y="1566"/>
                </a:lnTo>
                <a:lnTo>
                  <a:pt x="5714" y="1318"/>
                </a:lnTo>
                <a:lnTo>
                  <a:pt x="6223" y="1134"/>
                </a:lnTo>
                <a:lnTo>
                  <a:pt x="7055" y="997"/>
                </a:lnTo>
                <a:lnTo>
                  <a:pt x="7769" y="787"/>
                </a:lnTo>
                <a:lnTo>
                  <a:pt x="8698" y="591"/>
                </a:lnTo>
                <a:lnTo>
                  <a:pt x="9686" y="450"/>
                </a:lnTo>
                <a:lnTo>
                  <a:pt x="10861" y="294"/>
                </a:lnTo>
                <a:lnTo>
                  <a:pt x="12192" y="273"/>
                </a:lnTo>
                <a:lnTo>
                  <a:pt x="13801" y="113"/>
                </a:lnTo>
                <a:lnTo>
                  <a:pt x="16055" y="69"/>
                </a:lnTo>
                <a:lnTo>
                  <a:pt x="23021" y="0"/>
                </a:lnTo>
                <a:lnTo>
                  <a:pt x="30118" y="218"/>
                </a:lnTo>
                <a:lnTo>
                  <a:pt x="32524" y="90"/>
                </a:lnTo>
                <a:lnTo>
                  <a:pt x="34040" y="183"/>
                </a:lnTo>
                <a:lnTo>
                  <a:pt x="35468" y="400"/>
                </a:lnTo>
                <a:lnTo>
                  <a:pt x="36660" y="376"/>
                </a:lnTo>
                <a:lnTo>
                  <a:pt x="37507" y="536"/>
                </a:lnTo>
                <a:lnTo>
                  <a:pt x="38381" y="716"/>
                </a:lnTo>
                <a:lnTo>
                  <a:pt x="39285" y="931"/>
                </a:lnTo>
                <a:lnTo>
                  <a:pt x="40001" y="1108"/>
                </a:lnTo>
                <a:lnTo>
                  <a:pt x="40592" y="1311"/>
                </a:lnTo>
                <a:lnTo>
                  <a:pt x="41327" y="1613"/>
                </a:lnTo>
                <a:lnTo>
                  <a:pt x="41685" y="1907"/>
                </a:lnTo>
                <a:lnTo>
                  <a:pt x="42157" y="2202"/>
                </a:lnTo>
                <a:lnTo>
                  <a:pt x="42860" y="2791"/>
                </a:lnTo>
                <a:lnTo>
                  <a:pt x="43134" y="3192"/>
                </a:lnTo>
                <a:lnTo>
                  <a:pt x="43598" y="3575"/>
                </a:lnTo>
                <a:lnTo>
                  <a:pt x="43934" y="3927"/>
                </a:lnTo>
                <a:lnTo>
                  <a:pt x="44387" y="4436"/>
                </a:lnTo>
                <a:lnTo>
                  <a:pt x="44645" y="5095"/>
                </a:lnTo>
                <a:lnTo>
                  <a:pt x="44814" y="5597"/>
                </a:lnTo>
                <a:lnTo>
                  <a:pt x="45215" y="6357"/>
                </a:lnTo>
                <a:lnTo>
                  <a:pt x="45439" y="7155"/>
                </a:lnTo>
                <a:lnTo>
                  <a:pt x="45657" y="7742"/>
                </a:lnTo>
                <a:lnTo>
                  <a:pt x="45628" y="8745"/>
                </a:lnTo>
                <a:lnTo>
                  <a:pt x="45864" y="9669"/>
                </a:lnTo>
                <a:lnTo>
                  <a:pt x="45996" y="10724"/>
                </a:lnTo>
                <a:lnTo>
                  <a:pt x="46159" y="12166"/>
                </a:lnTo>
                <a:lnTo>
                  <a:pt x="46201" y="13870"/>
                </a:lnTo>
                <a:lnTo>
                  <a:pt x="46105" y="16037"/>
                </a:lnTo>
                <a:lnTo>
                  <a:pt x="46058" y="22974"/>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5200193" y="1786372"/>
            <a:ext cx="4235684" cy="4214378"/>
          </a:xfrm>
          <a:custGeom>
            <a:avLst/>
            <a:gdLst/>
            <a:ahLst/>
            <a:cxnLst/>
            <a:rect l="l" t="t" r="r" b="b"/>
            <a:pathLst>
              <a:path w="46322" h="46089">
                <a:moveTo>
                  <a:pt x="46321" y="22953"/>
                </a:moveTo>
                <a:lnTo>
                  <a:pt x="46322" y="30218"/>
                </a:lnTo>
                <a:lnTo>
                  <a:pt x="46059" y="32402"/>
                </a:lnTo>
                <a:lnTo>
                  <a:pt x="46011" y="34110"/>
                </a:lnTo>
                <a:lnTo>
                  <a:pt x="46064" y="35317"/>
                </a:lnTo>
                <a:lnTo>
                  <a:pt x="45999" y="36388"/>
                </a:lnTo>
                <a:lnTo>
                  <a:pt x="45820" y="37483"/>
                </a:lnTo>
                <a:lnTo>
                  <a:pt x="45494" y="38326"/>
                </a:lnTo>
                <a:lnTo>
                  <a:pt x="45423" y="39010"/>
                </a:lnTo>
                <a:lnTo>
                  <a:pt x="45047" y="39874"/>
                </a:lnTo>
                <a:lnTo>
                  <a:pt x="44798" y="40593"/>
                </a:lnTo>
                <a:lnTo>
                  <a:pt x="44753" y="41091"/>
                </a:lnTo>
                <a:lnTo>
                  <a:pt x="44343" y="41699"/>
                </a:lnTo>
                <a:lnTo>
                  <a:pt x="43929" y="42140"/>
                </a:lnTo>
                <a:lnTo>
                  <a:pt x="43691" y="42642"/>
                </a:lnTo>
                <a:lnTo>
                  <a:pt x="43104" y="43057"/>
                </a:lnTo>
                <a:lnTo>
                  <a:pt x="42710" y="43540"/>
                </a:lnTo>
                <a:lnTo>
                  <a:pt x="42329" y="43867"/>
                </a:lnTo>
                <a:lnTo>
                  <a:pt x="41858" y="44163"/>
                </a:lnTo>
                <a:lnTo>
                  <a:pt x="41269" y="44480"/>
                </a:lnTo>
                <a:lnTo>
                  <a:pt x="40711" y="44848"/>
                </a:lnTo>
                <a:lnTo>
                  <a:pt x="40079" y="45006"/>
                </a:lnTo>
                <a:lnTo>
                  <a:pt x="39247" y="45170"/>
                </a:lnTo>
                <a:lnTo>
                  <a:pt x="38374" y="45414"/>
                </a:lnTo>
                <a:lnTo>
                  <a:pt x="37521" y="45498"/>
                </a:lnTo>
                <a:lnTo>
                  <a:pt x="36449" y="45842"/>
                </a:lnTo>
                <a:lnTo>
                  <a:pt x="35398" y="45772"/>
                </a:lnTo>
                <a:lnTo>
                  <a:pt x="34121" y="45956"/>
                </a:lnTo>
                <a:lnTo>
                  <a:pt x="32482" y="45923"/>
                </a:lnTo>
                <a:lnTo>
                  <a:pt x="30297" y="45928"/>
                </a:lnTo>
                <a:lnTo>
                  <a:pt x="23068" y="45929"/>
                </a:lnTo>
                <a:lnTo>
                  <a:pt x="15925" y="46089"/>
                </a:lnTo>
                <a:lnTo>
                  <a:pt x="13752" y="45969"/>
                </a:lnTo>
                <a:lnTo>
                  <a:pt x="12220" y="46034"/>
                </a:lnTo>
                <a:lnTo>
                  <a:pt x="10776" y="45731"/>
                </a:lnTo>
                <a:lnTo>
                  <a:pt x="9561" y="45684"/>
                </a:lnTo>
                <a:lnTo>
                  <a:pt x="8701" y="45630"/>
                </a:lnTo>
                <a:lnTo>
                  <a:pt x="7703" y="45312"/>
                </a:lnTo>
                <a:lnTo>
                  <a:pt x="7003" y="45168"/>
                </a:lnTo>
                <a:lnTo>
                  <a:pt x="6291" y="44960"/>
                </a:lnTo>
                <a:lnTo>
                  <a:pt x="5652" y="44739"/>
                </a:lnTo>
                <a:lnTo>
                  <a:pt x="4976" y="44533"/>
                </a:lnTo>
                <a:lnTo>
                  <a:pt x="4410" y="44235"/>
                </a:lnTo>
                <a:lnTo>
                  <a:pt x="4046" y="43861"/>
                </a:lnTo>
                <a:lnTo>
                  <a:pt x="3600" y="43580"/>
                </a:lnTo>
                <a:lnTo>
                  <a:pt x="3068" y="43087"/>
                </a:lnTo>
                <a:lnTo>
                  <a:pt x="2676" y="42704"/>
                </a:lnTo>
                <a:lnTo>
                  <a:pt x="2250" y="42173"/>
                </a:lnTo>
                <a:lnTo>
                  <a:pt x="1887" y="41528"/>
                </a:lnTo>
                <a:lnTo>
                  <a:pt x="1648" y="41205"/>
                </a:lnTo>
                <a:lnTo>
                  <a:pt x="1363" y="40443"/>
                </a:lnTo>
                <a:lnTo>
                  <a:pt x="969" y="39788"/>
                </a:lnTo>
                <a:lnTo>
                  <a:pt x="906" y="39214"/>
                </a:lnTo>
                <a:lnTo>
                  <a:pt x="636" y="38298"/>
                </a:lnTo>
                <a:lnTo>
                  <a:pt x="390" y="37524"/>
                </a:lnTo>
                <a:lnTo>
                  <a:pt x="334" y="36510"/>
                </a:lnTo>
                <a:lnTo>
                  <a:pt x="136" y="35255"/>
                </a:lnTo>
                <a:lnTo>
                  <a:pt x="54" y="34032"/>
                </a:lnTo>
                <a:lnTo>
                  <a:pt x="216" y="32307"/>
                </a:lnTo>
                <a:lnTo>
                  <a:pt x="130" y="30098"/>
                </a:lnTo>
                <a:lnTo>
                  <a:pt x="0" y="23101"/>
                </a:lnTo>
                <a:lnTo>
                  <a:pt x="54" y="15952"/>
                </a:lnTo>
                <a:lnTo>
                  <a:pt x="105" y="13835"/>
                </a:lnTo>
                <a:lnTo>
                  <a:pt x="66" y="12116"/>
                </a:lnTo>
                <a:lnTo>
                  <a:pt x="268" y="10899"/>
                </a:lnTo>
                <a:lnTo>
                  <a:pt x="404" y="9634"/>
                </a:lnTo>
                <a:lnTo>
                  <a:pt x="401" y="8773"/>
                </a:lnTo>
                <a:lnTo>
                  <a:pt x="632" y="7779"/>
                </a:lnTo>
                <a:lnTo>
                  <a:pt x="851" y="7085"/>
                </a:lnTo>
                <a:lnTo>
                  <a:pt x="1185" y="6264"/>
                </a:lnTo>
                <a:lnTo>
                  <a:pt x="1293" y="5698"/>
                </a:lnTo>
                <a:lnTo>
                  <a:pt x="1712" y="5108"/>
                </a:lnTo>
                <a:lnTo>
                  <a:pt x="1890" y="4458"/>
                </a:lnTo>
                <a:lnTo>
                  <a:pt x="2330" y="3918"/>
                </a:lnTo>
                <a:lnTo>
                  <a:pt x="2665" y="3459"/>
                </a:lnTo>
                <a:lnTo>
                  <a:pt x="3078" y="2989"/>
                </a:lnTo>
                <a:lnTo>
                  <a:pt x="3552" y="2639"/>
                </a:lnTo>
                <a:lnTo>
                  <a:pt x="3985" y="2350"/>
                </a:lnTo>
                <a:lnTo>
                  <a:pt x="4532" y="2044"/>
                </a:lnTo>
                <a:lnTo>
                  <a:pt x="4988" y="1626"/>
                </a:lnTo>
                <a:lnTo>
                  <a:pt x="5528" y="1284"/>
                </a:lnTo>
                <a:lnTo>
                  <a:pt x="6307" y="1231"/>
                </a:lnTo>
                <a:lnTo>
                  <a:pt x="6910" y="863"/>
                </a:lnTo>
                <a:lnTo>
                  <a:pt x="7859" y="749"/>
                </a:lnTo>
                <a:lnTo>
                  <a:pt x="8587" y="621"/>
                </a:lnTo>
                <a:lnTo>
                  <a:pt x="9761" y="442"/>
                </a:lnTo>
                <a:lnTo>
                  <a:pt x="10716" y="200"/>
                </a:lnTo>
                <a:lnTo>
                  <a:pt x="12076" y="192"/>
                </a:lnTo>
                <a:lnTo>
                  <a:pt x="13701" y="217"/>
                </a:lnTo>
                <a:lnTo>
                  <a:pt x="15927" y="100"/>
                </a:lnTo>
                <a:lnTo>
                  <a:pt x="23054" y="83"/>
                </a:lnTo>
                <a:lnTo>
                  <a:pt x="30122" y="0"/>
                </a:lnTo>
                <a:lnTo>
                  <a:pt x="32428" y="229"/>
                </a:lnTo>
                <a:lnTo>
                  <a:pt x="34124" y="218"/>
                </a:lnTo>
                <a:lnTo>
                  <a:pt x="35480" y="313"/>
                </a:lnTo>
                <a:lnTo>
                  <a:pt x="36492" y="395"/>
                </a:lnTo>
                <a:lnTo>
                  <a:pt x="37504" y="640"/>
                </a:lnTo>
                <a:lnTo>
                  <a:pt x="38470" y="752"/>
                </a:lnTo>
                <a:lnTo>
                  <a:pt x="39252" y="838"/>
                </a:lnTo>
                <a:lnTo>
                  <a:pt x="39958" y="1073"/>
                </a:lnTo>
                <a:lnTo>
                  <a:pt x="40557" y="1357"/>
                </a:lnTo>
                <a:lnTo>
                  <a:pt x="41104" y="1591"/>
                </a:lnTo>
                <a:lnTo>
                  <a:pt x="41852" y="1960"/>
                </a:lnTo>
                <a:lnTo>
                  <a:pt x="42436" y="2232"/>
                </a:lnTo>
                <a:lnTo>
                  <a:pt x="42866" y="2658"/>
                </a:lnTo>
                <a:lnTo>
                  <a:pt x="43242" y="3057"/>
                </a:lnTo>
                <a:lnTo>
                  <a:pt x="43525" y="3389"/>
                </a:lnTo>
                <a:lnTo>
                  <a:pt x="44079" y="3946"/>
                </a:lnTo>
                <a:lnTo>
                  <a:pt x="44431" y="4373"/>
                </a:lnTo>
                <a:lnTo>
                  <a:pt x="44724" y="5014"/>
                </a:lnTo>
                <a:lnTo>
                  <a:pt x="44876" y="5768"/>
                </a:lnTo>
                <a:lnTo>
                  <a:pt x="45199" y="6362"/>
                </a:lnTo>
                <a:lnTo>
                  <a:pt x="45361" y="6940"/>
                </a:lnTo>
                <a:lnTo>
                  <a:pt x="45491" y="7846"/>
                </a:lnTo>
                <a:lnTo>
                  <a:pt x="45867" y="8735"/>
                </a:lnTo>
                <a:lnTo>
                  <a:pt x="45873" y="9565"/>
                </a:lnTo>
                <a:lnTo>
                  <a:pt x="45957" y="10866"/>
                </a:lnTo>
                <a:lnTo>
                  <a:pt x="46027" y="12073"/>
                </a:lnTo>
                <a:lnTo>
                  <a:pt x="46038" y="13839"/>
                </a:lnTo>
                <a:lnTo>
                  <a:pt x="46282" y="16043"/>
                </a:lnTo>
                <a:lnTo>
                  <a:pt x="46305" y="23087"/>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9350654" y="5016398"/>
            <a:ext cx="56418" cy="345186"/>
          </a:xfrm>
          <a:custGeom>
            <a:avLst/>
            <a:gdLst/>
            <a:ahLst/>
            <a:cxnLst/>
            <a:rect l="l" t="t" r="r" b="b"/>
            <a:pathLst>
              <a:path w="617" h="3775">
                <a:moveTo>
                  <a:pt x="617" y="0"/>
                </a:moveTo>
                <a:lnTo>
                  <a:pt x="502" y="1123"/>
                </a:lnTo>
                <a:lnTo>
                  <a:pt x="361" y="2106"/>
                </a:lnTo>
                <a:lnTo>
                  <a:pt x="194" y="2983"/>
                </a:lnTo>
                <a:lnTo>
                  <a:pt x="0" y="3775"/>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8715146" y="5853806"/>
            <a:ext cx="255118" cy="85862"/>
          </a:xfrm>
          <a:custGeom>
            <a:avLst/>
            <a:gdLst/>
            <a:ahLst/>
            <a:cxnLst/>
            <a:rect l="l" t="t" r="r" b="b"/>
            <a:pathLst>
              <a:path w="2790" h="939">
                <a:moveTo>
                  <a:pt x="2790" y="0"/>
                </a:moveTo>
                <a:lnTo>
                  <a:pt x="2181" y="277"/>
                </a:lnTo>
                <a:lnTo>
                  <a:pt x="1519" y="525"/>
                </a:lnTo>
                <a:lnTo>
                  <a:pt x="795" y="746"/>
                </a:lnTo>
                <a:lnTo>
                  <a:pt x="0" y="93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5842559" y="5922020"/>
            <a:ext cx="346649" cy="56144"/>
          </a:xfrm>
          <a:custGeom>
            <a:avLst/>
            <a:gdLst/>
            <a:ahLst/>
            <a:cxnLst/>
            <a:rect l="l" t="t" r="r" b="b"/>
            <a:pathLst>
              <a:path w="3791" h="614">
                <a:moveTo>
                  <a:pt x="3791" y="614"/>
                </a:moveTo>
                <a:lnTo>
                  <a:pt x="2664" y="500"/>
                </a:lnTo>
                <a:lnTo>
                  <a:pt x="1676" y="359"/>
                </a:lnTo>
                <a:lnTo>
                  <a:pt x="795" y="193"/>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5262006" y="5289164"/>
            <a:ext cx="86136" cy="254112"/>
          </a:xfrm>
          <a:custGeom>
            <a:avLst/>
            <a:gdLst/>
            <a:ahLst/>
            <a:cxnLst/>
            <a:rect l="l" t="t" r="r" b="b"/>
            <a:pathLst>
              <a:path w="942" h="2779">
                <a:moveTo>
                  <a:pt x="942" y="2779"/>
                </a:moveTo>
                <a:lnTo>
                  <a:pt x="664" y="2173"/>
                </a:lnTo>
                <a:lnTo>
                  <a:pt x="415" y="1513"/>
                </a:lnTo>
                <a:lnTo>
                  <a:pt x="194" y="792"/>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5223327" y="2429104"/>
            <a:ext cx="56418" cy="345186"/>
          </a:xfrm>
          <a:custGeom>
            <a:avLst/>
            <a:gdLst/>
            <a:ahLst/>
            <a:cxnLst/>
            <a:rect l="l" t="t" r="r" b="b"/>
            <a:pathLst>
              <a:path w="617" h="3775">
                <a:moveTo>
                  <a:pt x="0" y="3775"/>
                </a:moveTo>
                <a:lnTo>
                  <a:pt x="115" y="2652"/>
                </a:lnTo>
                <a:lnTo>
                  <a:pt x="256" y="1669"/>
                </a:lnTo>
                <a:lnTo>
                  <a:pt x="423" y="792"/>
                </a:lnTo>
                <a:lnTo>
                  <a:pt x="617"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5660136" y="1851020"/>
            <a:ext cx="255118" cy="85862"/>
          </a:xfrm>
          <a:custGeom>
            <a:avLst/>
            <a:gdLst/>
            <a:ahLst/>
            <a:cxnLst/>
            <a:rect l="l" t="t" r="r" b="b"/>
            <a:pathLst>
              <a:path w="2790" h="939">
                <a:moveTo>
                  <a:pt x="0" y="939"/>
                </a:moveTo>
                <a:lnTo>
                  <a:pt x="609" y="662"/>
                </a:lnTo>
                <a:lnTo>
                  <a:pt x="1271" y="414"/>
                </a:lnTo>
                <a:lnTo>
                  <a:pt x="1995" y="193"/>
                </a:lnTo>
                <a:lnTo>
                  <a:pt x="279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8441192" y="1812524"/>
            <a:ext cx="346649" cy="56144"/>
          </a:xfrm>
          <a:custGeom>
            <a:avLst/>
            <a:gdLst/>
            <a:ahLst/>
            <a:cxnLst/>
            <a:rect l="l" t="t" r="r" b="b"/>
            <a:pathLst>
              <a:path w="3791" h="614">
                <a:moveTo>
                  <a:pt x="0" y="0"/>
                </a:moveTo>
                <a:lnTo>
                  <a:pt x="1127" y="114"/>
                </a:lnTo>
                <a:lnTo>
                  <a:pt x="2115" y="255"/>
                </a:lnTo>
                <a:lnTo>
                  <a:pt x="2996" y="421"/>
                </a:lnTo>
                <a:lnTo>
                  <a:pt x="3791" y="614"/>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9282257" y="2247412"/>
            <a:ext cx="86136" cy="254112"/>
          </a:xfrm>
          <a:custGeom>
            <a:avLst/>
            <a:gdLst/>
            <a:ahLst/>
            <a:cxnLst/>
            <a:rect l="l" t="t" r="r" b="b"/>
            <a:pathLst>
              <a:path w="942" h="2779">
                <a:moveTo>
                  <a:pt x="0" y="0"/>
                </a:moveTo>
                <a:lnTo>
                  <a:pt x="278" y="606"/>
                </a:lnTo>
                <a:lnTo>
                  <a:pt x="527" y="1266"/>
                </a:lnTo>
                <a:lnTo>
                  <a:pt x="748" y="1987"/>
                </a:lnTo>
                <a:lnTo>
                  <a:pt x="942" y="277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ody: Declare what was simplified"/>
          <p:cNvSpPr txBox="1"/>
          <p:nvPr/>
        </p:nvSpPr>
        <p:spPr>
          <a:xfrm>
            <a:off x="5550408" y="2074163"/>
            <a:ext cx="3529584" cy="405384"/>
          </a:xfrm>
          <a:prstGeom prst="rect">
            <a:avLst/>
          </a:prstGeom>
          <a:noFill/>
        </p:spPr>
        <p:txBody>
          <a:bodyPr wrap="none" lIns="0" rIns="0" tIns="0" bIns="0" anchor="t">
            <a:noAutofit/>
          </a:bodyPr>
          <a:lstStyle/>
          <a:p>
            <a:pPr algn="ctr">
              <a:lnSpc>
                <a:spcPts val="2652"/>
              </a:lnSpc>
              <a:spcBef>
                <a:spcPts val="0"/>
              </a:spcBef>
              <a:spcAft>
                <a:spcPts val="0"/>
              </a:spcAft>
            </a:pPr>
            <a:r>
              <a:rPr sz="1950" b="1">
                <a:solidFill>
                  <a:srgbClr val="9D7B35"/>
                </a:solidFill>
                <a:latin typeface="Chalkboard SE"/>
              </a:rPr>
              <a:t>Declare what was simplified</a:t>
            </a:r>
          </a:p>
        </p:txBody>
      </p:sp>
      <p:sp>
        <p:nvSpPr>
          <p:cNvPr id="42" name="Oval 41"/>
          <p:cNvSpPr/>
          <p:nvPr/>
        </p:nvSpPr>
        <p:spPr>
          <a:xfrm>
            <a:off x="5463540" y="2925445"/>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dy: Use a small repository, local tools and an accessible model"/>
          <p:cNvSpPr txBox="1"/>
          <p:nvPr/>
        </p:nvSpPr>
        <p:spPr>
          <a:xfrm>
            <a:off x="5696712" y="2824861"/>
            <a:ext cx="3483864" cy="689546"/>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Use a small repository, local</a:t>
            </a:r>
            <a:br/>
            <a:r>
              <a:rPr sz="1925" b="0">
                <a:solidFill>
                  <a:srgbClr val="293E46"/>
                </a:solidFill>
                <a:latin typeface="Trebuchet MS"/>
              </a:rPr>
              <a:t>tools and an accessible model</a:t>
            </a:r>
          </a:p>
        </p:txBody>
      </p:sp>
      <p:sp>
        <p:nvSpPr>
          <p:cNvPr id="44" name="Oval 43"/>
          <p:cNvSpPr/>
          <p:nvPr/>
        </p:nvSpPr>
        <p:spPr>
          <a:xfrm>
            <a:off x="5463540" y="3733863"/>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ody: Record differences in prompts, permissions, grader and checkpoin"/>
          <p:cNvSpPr txBox="1"/>
          <p:nvPr/>
        </p:nvSpPr>
        <p:spPr>
          <a:xfrm>
            <a:off x="5696712" y="3633279"/>
            <a:ext cx="3483864" cy="1000029"/>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Record differences in</a:t>
            </a:r>
            <a:br/>
            <a:r>
              <a:rPr sz="1925" b="0">
                <a:solidFill>
                  <a:srgbClr val="293E46"/>
                </a:solidFill>
                <a:latin typeface="Trebuchet MS"/>
              </a:rPr>
              <a:t>prompts, permissions, grader</a:t>
            </a:r>
            <a:br/>
            <a:r>
              <a:rPr sz="1925" b="0">
                <a:solidFill>
                  <a:srgbClr val="293E46"/>
                </a:solidFill>
                <a:latin typeface="Trebuchet MS"/>
              </a:rPr>
              <a:t>and checkpoint</a:t>
            </a:r>
          </a:p>
        </p:txBody>
      </p:sp>
      <p:sp>
        <p:nvSpPr>
          <p:cNvPr id="46" name="Oval 45"/>
          <p:cNvSpPr/>
          <p:nvPr/>
        </p:nvSpPr>
        <p:spPr>
          <a:xfrm>
            <a:off x="5463540" y="4852765"/>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ody: Mark actions as model-generated, attack-instructed or scripted"/>
          <p:cNvSpPr txBox="1"/>
          <p:nvPr/>
        </p:nvSpPr>
        <p:spPr>
          <a:xfrm>
            <a:off x="5696712" y="4752181"/>
            <a:ext cx="3483864" cy="1000029"/>
          </a:xfrm>
          <a:prstGeom prst="rect">
            <a:avLst/>
          </a:prstGeom>
          <a:noFill/>
        </p:spPr>
        <p:txBody>
          <a:bodyPr wrap="none" lIns="0" rIns="0" tIns="0" bIns="0" anchor="t">
            <a:noAutofit/>
          </a:bodyPr>
          <a:lstStyle/>
          <a:p>
            <a:pPr algn="l">
              <a:lnSpc>
                <a:spcPts val="2444"/>
              </a:lnSpc>
              <a:spcBef>
                <a:spcPts val="0"/>
              </a:spcBef>
              <a:spcAft>
                <a:spcPts val="0"/>
              </a:spcAft>
            </a:pPr>
            <a:r>
              <a:rPr sz="1925" b="0">
                <a:solidFill>
                  <a:srgbClr val="293E46"/>
                </a:solidFill>
                <a:latin typeface="Trebuchet MS"/>
              </a:rPr>
              <a:t>Mark actions as</a:t>
            </a:r>
            <a:br/>
            <a:r>
              <a:rPr sz="1925" b="0">
                <a:solidFill>
                  <a:srgbClr val="293E46"/>
                </a:solidFill>
                <a:latin typeface="Trebuchet MS"/>
              </a:rPr>
              <a:t>model-generated,</a:t>
            </a:r>
            <a:br/>
            <a:r>
              <a:rPr sz="1925" b="0">
                <a:solidFill>
                  <a:srgbClr val="293E46"/>
                </a:solidFill>
                <a:latin typeface="Trebuchet MS"/>
              </a:rPr>
              <a:t>attack-instructed or scripted</a:t>
            </a:r>
          </a:p>
        </p:txBody>
      </p:sp>
      <p:sp>
        <p:nvSpPr>
          <p:cNvPr id="48" name="Rounded Rectangle 47"/>
          <p:cNvSpPr/>
          <p:nvPr/>
        </p:nvSpPr>
        <p:spPr>
          <a:xfrm>
            <a:off x="9747504" y="1783080"/>
            <a:ext cx="4242816" cy="4224528"/>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9749424" y="1794327"/>
            <a:ext cx="4236049" cy="4202308"/>
          </a:xfrm>
          <a:custGeom>
            <a:avLst/>
            <a:gdLst/>
            <a:ahLst/>
            <a:cxnLst/>
            <a:rect l="l" t="t" r="r" b="b"/>
            <a:pathLst>
              <a:path w="46326" h="45957">
                <a:moveTo>
                  <a:pt x="46199" y="22993"/>
                </a:moveTo>
                <a:lnTo>
                  <a:pt x="46326" y="30035"/>
                </a:lnTo>
                <a:lnTo>
                  <a:pt x="46222" y="32330"/>
                </a:lnTo>
                <a:lnTo>
                  <a:pt x="46254" y="33931"/>
                </a:lnTo>
                <a:lnTo>
                  <a:pt x="46041" y="35289"/>
                </a:lnTo>
                <a:lnTo>
                  <a:pt x="45815" y="36337"/>
                </a:lnTo>
                <a:lnTo>
                  <a:pt x="45761" y="37434"/>
                </a:lnTo>
                <a:lnTo>
                  <a:pt x="45678" y="38236"/>
                </a:lnTo>
                <a:lnTo>
                  <a:pt x="45329" y="38976"/>
                </a:lnTo>
                <a:lnTo>
                  <a:pt x="45342" y="39833"/>
                </a:lnTo>
                <a:lnTo>
                  <a:pt x="45058" y="40450"/>
                </a:lnTo>
                <a:lnTo>
                  <a:pt x="44583" y="40918"/>
                </a:lnTo>
                <a:lnTo>
                  <a:pt x="44299" y="41543"/>
                </a:lnTo>
                <a:lnTo>
                  <a:pt x="44109" y="41998"/>
                </a:lnTo>
                <a:lnTo>
                  <a:pt x="43605" y="42524"/>
                </a:lnTo>
                <a:lnTo>
                  <a:pt x="43350" y="42870"/>
                </a:lnTo>
                <a:lnTo>
                  <a:pt x="42844" y="43282"/>
                </a:lnTo>
                <a:lnTo>
                  <a:pt x="42373" y="43722"/>
                </a:lnTo>
                <a:lnTo>
                  <a:pt x="41798" y="44176"/>
                </a:lnTo>
                <a:lnTo>
                  <a:pt x="41250" y="44333"/>
                </a:lnTo>
                <a:lnTo>
                  <a:pt x="40769" y="44679"/>
                </a:lnTo>
                <a:lnTo>
                  <a:pt x="40070" y="44903"/>
                </a:lnTo>
                <a:lnTo>
                  <a:pt x="39331" y="45212"/>
                </a:lnTo>
                <a:lnTo>
                  <a:pt x="38434" y="45273"/>
                </a:lnTo>
                <a:lnTo>
                  <a:pt x="37637" y="45383"/>
                </a:lnTo>
                <a:lnTo>
                  <a:pt x="36700" y="45564"/>
                </a:lnTo>
                <a:lnTo>
                  <a:pt x="35471" y="45658"/>
                </a:lnTo>
                <a:lnTo>
                  <a:pt x="34272" y="45851"/>
                </a:lnTo>
                <a:lnTo>
                  <a:pt x="32550" y="45824"/>
                </a:lnTo>
                <a:lnTo>
                  <a:pt x="30302" y="45925"/>
                </a:lnTo>
                <a:lnTo>
                  <a:pt x="23250" y="45926"/>
                </a:lnTo>
                <a:lnTo>
                  <a:pt x="16137" y="45880"/>
                </a:lnTo>
                <a:lnTo>
                  <a:pt x="13715" y="45957"/>
                </a:lnTo>
                <a:lnTo>
                  <a:pt x="12124" y="45753"/>
                </a:lnTo>
                <a:lnTo>
                  <a:pt x="10760" y="45712"/>
                </a:lnTo>
                <a:lnTo>
                  <a:pt x="9840" y="45667"/>
                </a:lnTo>
                <a:lnTo>
                  <a:pt x="8812" y="45559"/>
                </a:lnTo>
                <a:lnTo>
                  <a:pt x="7894" y="45431"/>
                </a:lnTo>
                <a:lnTo>
                  <a:pt x="7075" y="45114"/>
                </a:lnTo>
                <a:lnTo>
                  <a:pt x="6354" y="44975"/>
                </a:lnTo>
                <a:lnTo>
                  <a:pt x="5594" y="44593"/>
                </a:lnTo>
                <a:lnTo>
                  <a:pt x="5033" y="44291"/>
                </a:lnTo>
                <a:lnTo>
                  <a:pt x="4472" y="44031"/>
                </a:lnTo>
                <a:lnTo>
                  <a:pt x="4041" y="43853"/>
                </a:lnTo>
                <a:lnTo>
                  <a:pt x="3428" y="43409"/>
                </a:lnTo>
                <a:lnTo>
                  <a:pt x="3068" y="42959"/>
                </a:lnTo>
                <a:lnTo>
                  <a:pt x="2764" y="42608"/>
                </a:lnTo>
                <a:lnTo>
                  <a:pt x="2349" y="42049"/>
                </a:lnTo>
                <a:lnTo>
                  <a:pt x="1932" y="41517"/>
                </a:lnTo>
                <a:lnTo>
                  <a:pt x="1593" y="40968"/>
                </a:lnTo>
                <a:lnTo>
                  <a:pt x="1415" y="40366"/>
                </a:lnTo>
                <a:lnTo>
                  <a:pt x="1014" y="39701"/>
                </a:lnTo>
                <a:lnTo>
                  <a:pt x="808" y="38932"/>
                </a:lnTo>
                <a:lnTo>
                  <a:pt x="641" y="38276"/>
                </a:lnTo>
                <a:lnTo>
                  <a:pt x="648" y="37443"/>
                </a:lnTo>
                <a:lnTo>
                  <a:pt x="544" y="36259"/>
                </a:lnTo>
                <a:lnTo>
                  <a:pt x="285" y="35131"/>
                </a:lnTo>
                <a:lnTo>
                  <a:pt x="286" y="33851"/>
                </a:lnTo>
                <a:lnTo>
                  <a:pt x="60" y="32309"/>
                </a:lnTo>
                <a:lnTo>
                  <a:pt x="118" y="29942"/>
                </a:lnTo>
                <a:lnTo>
                  <a:pt x="103" y="23039"/>
                </a:lnTo>
                <a:lnTo>
                  <a:pt x="0" y="15944"/>
                </a:lnTo>
                <a:lnTo>
                  <a:pt x="89" y="13710"/>
                </a:lnTo>
                <a:lnTo>
                  <a:pt x="179" y="11950"/>
                </a:lnTo>
                <a:lnTo>
                  <a:pt x="233" y="10759"/>
                </a:lnTo>
                <a:lnTo>
                  <a:pt x="367" y="9563"/>
                </a:lnTo>
                <a:lnTo>
                  <a:pt x="637" y="8613"/>
                </a:lnTo>
                <a:lnTo>
                  <a:pt x="845" y="7624"/>
                </a:lnTo>
                <a:lnTo>
                  <a:pt x="898" y="6991"/>
                </a:lnTo>
                <a:lnTo>
                  <a:pt x="1130" y="6128"/>
                </a:lnTo>
                <a:lnTo>
                  <a:pt x="1400" y="5661"/>
                </a:lnTo>
                <a:lnTo>
                  <a:pt x="1636" y="4850"/>
                </a:lnTo>
                <a:lnTo>
                  <a:pt x="1968" y="4286"/>
                </a:lnTo>
                <a:lnTo>
                  <a:pt x="2410" y="3803"/>
                </a:lnTo>
                <a:lnTo>
                  <a:pt x="2710" y="3297"/>
                </a:lnTo>
                <a:lnTo>
                  <a:pt x="3076" y="3012"/>
                </a:lnTo>
                <a:lnTo>
                  <a:pt x="3445" y="2549"/>
                </a:lnTo>
                <a:lnTo>
                  <a:pt x="3936" y="2303"/>
                </a:lnTo>
                <a:lnTo>
                  <a:pt x="4514" y="1952"/>
                </a:lnTo>
                <a:lnTo>
                  <a:pt x="5150" y="1507"/>
                </a:lnTo>
                <a:lnTo>
                  <a:pt x="5678" y="1293"/>
                </a:lnTo>
                <a:lnTo>
                  <a:pt x="6376" y="920"/>
                </a:lnTo>
                <a:lnTo>
                  <a:pt x="7166" y="931"/>
                </a:lnTo>
                <a:lnTo>
                  <a:pt x="7998" y="518"/>
                </a:lnTo>
                <a:lnTo>
                  <a:pt x="8655" y="467"/>
                </a:lnTo>
                <a:lnTo>
                  <a:pt x="9643" y="358"/>
                </a:lnTo>
                <a:lnTo>
                  <a:pt x="10747" y="124"/>
                </a:lnTo>
                <a:lnTo>
                  <a:pt x="12160" y="199"/>
                </a:lnTo>
                <a:lnTo>
                  <a:pt x="13815" y="99"/>
                </a:lnTo>
                <a:lnTo>
                  <a:pt x="15991" y="110"/>
                </a:lnTo>
                <a:lnTo>
                  <a:pt x="23052" y="70"/>
                </a:lnTo>
                <a:lnTo>
                  <a:pt x="30227" y="0"/>
                </a:lnTo>
                <a:lnTo>
                  <a:pt x="32535" y="81"/>
                </a:lnTo>
                <a:lnTo>
                  <a:pt x="34109" y="140"/>
                </a:lnTo>
                <a:lnTo>
                  <a:pt x="35418" y="119"/>
                </a:lnTo>
                <a:lnTo>
                  <a:pt x="36613" y="269"/>
                </a:lnTo>
                <a:lnTo>
                  <a:pt x="37627" y="510"/>
                </a:lnTo>
                <a:lnTo>
                  <a:pt x="38462" y="617"/>
                </a:lnTo>
                <a:lnTo>
                  <a:pt x="39221" y="699"/>
                </a:lnTo>
                <a:lnTo>
                  <a:pt x="40040" y="1151"/>
                </a:lnTo>
                <a:lnTo>
                  <a:pt x="40728" y="1178"/>
                </a:lnTo>
                <a:lnTo>
                  <a:pt x="41266" y="1515"/>
                </a:lnTo>
                <a:lnTo>
                  <a:pt x="41921" y="1747"/>
                </a:lnTo>
                <a:lnTo>
                  <a:pt x="42365" y="2188"/>
                </a:lnTo>
                <a:lnTo>
                  <a:pt x="42926" y="2644"/>
                </a:lnTo>
                <a:lnTo>
                  <a:pt x="43336" y="3021"/>
                </a:lnTo>
                <a:lnTo>
                  <a:pt x="43756" y="3346"/>
                </a:lnTo>
                <a:lnTo>
                  <a:pt x="44048" y="3775"/>
                </a:lnTo>
                <a:lnTo>
                  <a:pt x="44277" y="4301"/>
                </a:lnTo>
                <a:lnTo>
                  <a:pt x="44750" y="5057"/>
                </a:lnTo>
                <a:lnTo>
                  <a:pt x="44925" y="5557"/>
                </a:lnTo>
                <a:lnTo>
                  <a:pt x="45114" y="6237"/>
                </a:lnTo>
                <a:lnTo>
                  <a:pt x="45518" y="6996"/>
                </a:lnTo>
                <a:lnTo>
                  <a:pt x="45635" y="7637"/>
                </a:lnTo>
                <a:lnTo>
                  <a:pt x="45895" y="8700"/>
                </a:lnTo>
                <a:lnTo>
                  <a:pt x="45957" y="9631"/>
                </a:lnTo>
                <a:lnTo>
                  <a:pt x="46014" y="10729"/>
                </a:lnTo>
                <a:lnTo>
                  <a:pt x="46198" y="12085"/>
                </a:lnTo>
                <a:lnTo>
                  <a:pt x="46113" y="13707"/>
                </a:lnTo>
                <a:lnTo>
                  <a:pt x="46195" y="15869"/>
                </a:lnTo>
                <a:lnTo>
                  <a:pt x="46134" y="22872"/>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9754636" y="1788841"/>
            <a:ext cx="4231477" cy="4204137"/>
          </a:xfrm>
          <a:custGeom>
            <a:avLst/>
            <a:gdLst/>
            <a:ahLst/>
            <a:cxnLst/>
            <a:rect l="l" t="t" r="r" b="b"/>
            <a:pathLst>
              <a:path w="46276" h="45977">
                <a:moveTo>
                  <a:pt x="46085" y="23095"/>
                </a:moveTo>
                <a:lnTo>
                  <a:pt x="46166" y="30151"/>
                </a:lnTo>
                <a:lnTo>
                  <a:pt x="46256" y="32256"/>
                </a:lnTo>
                <a:lnTo>
                  <a:pt x="46095" y="33947"/>
                </a:lnTo>
                <a:lnTo>
                  <a:pt x="45959" y="35213"/>
                </a:lnTo>
                <a:lnTo>
                  <a:pt x="45885" y="36430"/>
                </a:lnTo>
                <a:lnTo>
                  <a:pt x="45637" y="37394"/>
                </a:lnTo>
                <a:lnTo>
                  <a:pt x="45559" y="38194"/>
                </a:lnTo>
                <a:lnTo>
                  <a:pt x="45302" y="38989"/>
                </a:lnTo>
                <a:lnTo>
                  <a:pt x="45062" y="39722"/>
                </a:lnTo>
                <a:lnTo>
                  <a:pt x="44886" y="40343"/>
                </a:lnTo>
                <a:lnTo>
                  <a:pt x="44570" y="40988"/>
                </a:lnTo>
                <a:lnTo>
                  <a:pt x="44249" y="41561"/>
                </a:lnTo>
                <a:lnTo>
                  <a:pt x="44061" y="42236"/>
                </a:lnTo>
                <a:lnTo>
                  <a:pt x="43586" y="42635"/>
                </a:lnTo>
                <a:lnTo>
                  <a:pt x="43217" y="42968"/>
                </a:lnTo>
                <a:lnTo>
                  <a:pt x="42852" y="43454"/>
                </a:lnTo>
                <a:lnTo>
                  <a:pt x="42310" y="43742"/>
                </a:lnTo>
                <a:lnTo>
                  <a:pt x="41782" y="44062"/>
                </a:lnTo>
                <a:lnTo>
                  <a:pt x="41151" y="44379"/>
                </a:lnTo>
                <a:lnTo>
                  <a:pt x="40712" y="44762"/>
                </a:lnTo>
                <a:lnTo>
                  <a:pt x="40072" y="44917"/>
                </a:lnTo>
                <a:lnTo>
                  <a:pt x="39293" y="45280"/>
                </a:lnTo>
                <a:lnTo>
                  <a:pt x="38400" y="45298"/>
                </a:lnTo>
                <a:lnTo>
                  <a:pt x="37615" y="45474"/>
                </a:lnTo>
                <a:lnTo>
                  <a:pt x="36444" y="45587"/>
                </a:lnTo>
                <a:lnTo>
                  <a:pt x="35558" y="45727"/>
                </a:lnTo>
                <a:lnTo>
                  <a:pt x="34005" y="45825"/>
                </a:lnTo>
                <a:lnTo>
                  <a:pt x="32401" y="45871"/>
                </a:lnTo>
                <a:lnTo>
                  <a:pt x="30256" y="45956"/>
                </a:lnTo>
                <a:lnTo>
                  <a:pt x="23003" y="45977"/>
                </a:lnTo>
                <a:lnTo>
                  <a:pt x="16104" y="45928"/>
                </a:lnTo>
                <a:lnTo>
                  <a:pt x="13725" y="45889"/>
                </a:lnTo>
                <a:lnTo>
                  <a:pt x="12039" y="45813"/>
                </a:lnTo>
                <a:lnTo>
                  <a:pt x="10830" y="45755"/>
                </a:lnTo>
                <a:lnTo>
                  <a:pt x="9661" y="45675"/>
                </a:lnTo>
                <a:lnTo>
                  <a:pt x="8801" y="45541"/>
                </a:lnTo>
                <a:lnTo>
                  <a:pt x="7763" y="45399"/>
                </a:lnTo>
                <a:lnTo>
                  <a:pt x="7068" y="45241"/>
                </a:lnTo>
                <a:lnTo>
                  <a:pt x="6307" y="45066"/>
                </a:lnTo>
                <a:lnTo>
                  <a:pt x="5535" y="44708"/>
                </a:lnTo>
                <a:lnTo>
                  <a:pt x="4991" y="44405"/>
                </a:lnTo>
                <a:lnTo>
                  <a:pt x="4412" y="44160"/>
                </a:lnTo>
                <a:lnTo>
                  <a:pt x="4007" y="43700"/>
                </a:lnTo>
                <a:lnTo>
                  <a:pt x="3363" y="43441"/>
                </a:lnTo>
                <a:lnTo>
                  <a:pt x="3157" y="42968"/>
                </a:lnTo>
                <a:lnTo>
                  <a:pt x="2709" y="42660"/>
                </a:lnTo>
                <a:lnTo>
                  <a:pt x="2198" y="42033"/>
                </a:lnTo>
                <a:lnTo>
                  <a:pt x="1948" y="41729"/>
                </a:lnTo>
                <a:lnTo>
                  <a:pt x="1529" y="41018"/>
                </a:lnTo>
                <a:lnTo>
                  <a:pt x="1330" y="40505"/>
                </a:lnTo>
                <a:lnTo>
                  <a:pt x="990" y="39903"/>
                </a:lnTo>
                <a:lnTo>
                  <a:pt x="845" y="39093"/>
                </a:lnTo>
                <a:lnTo>
                  <a:pt x="681" y="38162"/>
                </a:lnTo>
                <a:lnTo>
                  <a:pt x="537" y="37429"/>
                </a:lnTo>
                <a:lnTo>
                  <a:pt x="469" y="36510"/>
                </a:lnTo>
                <a:lnTo>
                  <a:pt x="361" y="35289"/>
                </a:lnTo>
                <a:lnTo>
                  <a:pt x="167" y="34070"/>
                </a:lnTo>
                <a:lnTo>
                  <a:pt x="42" y="32379"/>
                </a:lnTo>
                <a:lnTo>
                  <a:pt x="0" y="30010"/>
                </a:lnTo>
                <a:lnTo>
                  <a:pt x="160" y="23025"/>
                </a:lnTo>
                <a:lnTo>
                  <a:pt x="34" y="16027"/>
                </a:lnTo>
                <a:lnTo>
                  <a:pt x="16" y="13760"/>
                </a:lnTo>
                <a:lnTo>
                  <a:pt x="97" y="12092"/>
                </a:lnTo>
                <a:lnTo>
                  <a:pt x="176" y="10738"/>
                </a:lnTo>
                <a:lnTo>
                  <a:pt x="462" y="9774"/>
                </a:lnTo>
                <a:lnTo>
                  <a:pt x="550" y="8557"/>
                </a:lnTo>
                <a:lnTo>
                  <a:pt x="652" y="7823"/>
                </a:lnTo>
                <a:lnTo>
                  <a:pt x="944" y="7118"/>
                </a:lnTo>
                <a:lnTo>
                  <a:pt x="1203" y="6208"/>
                </a:lnTo>
                <a:lnTo>
                  <a:pt x="1362" y="5680"/>
                </a:lnTo>
                <a:lnTo>
                  <a:pt x="1579" y="4917"/>
                </a:lnTo>
                <a:lnTo>
                  <a:pt x="2012" y="4428"/>
                </a:lnTo>
                <a:lnTo>
                  <a:pt x="2233" y="3913"/>
                </a:lnTo>
                <a:lnTo>
                  <a:pt x="2524" y="3544"/>
                </a:lnTo>
                <a:lnTo>
                  <a:pt x="3143" y="3150"/>
                </a:lnTo>
                <a:lnTo>
                  <a:pt x="3431" y="2679"/>
                </a:lnTo>
                <a:lnTo>
                  <a:pt x="3849" y="2221"/>
                </a:lnTo>
                <a:lnTo>
                  <a:pt x="4443" y="1868"/>
                </a:lnTo>
                <a:lnTo>
                  <a:pt x="5128" y="1500"/>
                </a:lnTo>
                <a:lnTo>
                  <a:pt x="5527" y="1237"/>
                </a:lnTo>
                <a:lnTo>
                  <a:pt x="6205" y="1107"/>
                </a:lnTo>
                <a:lnTo>
                  <a:pt x="6930" y="944"/>
                </a:lnTo>
                <a:lnTo>
                  <a:pt x="7802" y="739"/>
                </a:lnTo>
                <a:lnTo>
                  <a:pt x="8572" y="543"/>
                </a:lnTo>
                <a:lnTo>
                  <a:pt x="9660" y="281"/>
                </a:lnTo>
                <a:lnTo>
                  <a:pt x="10703" y="368"/>
                </a:lnTo>
                <a:lnTo>
                  <a:pt x="12183" y="290"/>
                </a:lnTo>
                <a:lnTo>
                  <a:pt x="13879" y="16"/>
                </a:lnTo>
                <a:lnTo>
                  <a:pt x="15925" y="120"/>
                </a:lnTo>
                <a:lnTo>
                  <a:pt x="23010" y="21"/>
                </a:lnTo>
                <a:lnTo>
                  <a:pt x="30091" y="0"/>
                </a:lnTo>
                <a:lnTo>
                  <a:pt x="32560" y="38"/>
                </a:lnTo>
                <a:lnTo>
                  <a:pt x="34164" y="103"/>
                </a:lnTo>
                <a:lnTo>
                  <a:pt x="35561" y="293"/>
                </a:lnTo>
                <a:lnTo>
                  <a:pt x="36522" y="451"/>
                </a:lnTo>
                <a:lnTo>
                  <a:pt x="37571" y="616"/>
                </a:lnTo>
                <a:lnTo>
                  <a:pt x="38559" y="562"/>
                </a:lnTo>
                <a:lnTo>
                  <a:pt x="39308" y="761"/>
                </a:lnTo>
                <a:lnTo>
                  <a:pt x="39860" y="1039"/>
                </a:lnTo>
                <a:lnTo>
                  <a:pt x="40741" y="1425"/>
                </a:lnTo>
                <a:lnTo>
                  <a:pt x="41274" y="1569"/>
                </a:lnTo>
                <a:lnTo>
                  <a:pt x="41673" y="1951"/>
                </a:lnTo>
                <a:lnTo>
                  <a:pt x="42414" y="2294"/>
                </a:lnTo>
                <a:lnTo>
                  <a:pt x="42889" y="2716"/>
                </a:lnTo>
                <a:lnTo>
                  <a:pt x="43142" y="2987"/>
                </a:lnTo>
                <a:lnTo>
                  <a:pt x="43566" y="3452"/>
                </a:lnTo>
                <a:lnTo>
                  <a:pt x="44117" y="3892"/>
                </a:lnTo>
                <a:lnTo>
                  <a:pt x="44306" y="4459"/>
                </a:lnTo>
                <a:lnTo>
                  <a:pt x="44554" y="5095"/>
                </a:lnTo>
                <a:lnTo>
                  <a:pt x="44940" y="5560"/>
                </a:lnTo>
                <a:lnTo>
                  <a:pt x="45109" y="6371"/>
                </a:lnTo>
                <a:lnTo>
                  <a:pt x="45477" y="7090"/>
                </a:lnTo>
                <a:lnTo>
                  <a:pt x="45588" y="7750"/>
                </a:lnTo>
                <a:lnTo>
                  <a:pt x="45633" y="8658"/>
                </a:lnTo>
                <a:lnTo>
                  <a:pt x="45761" y="9683"/>
                </a:lnTo>
                <a:lnTo>
                  <a:pt x="46104" y="10775"/>
                </a:lnTo>
                <a:lnTo>
                  <a:pt x="45999" y="12192"/>
                </a:lnTo>
                <a:lnTo>
                  <a:pt x="46037" y="13730"/>
                </a:lnTo>
                <a:lnTo>
                  <a:pt x="46276" y="15889"/>
                </a:lnTo>
                <a:lnTo>
                  <a:pt x="46085" y="22932"/>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3904366" y="5016398"/>
            <a:ext cx="56418" cy="345186"/>
          </a:xfrm>
          <a:custGeom>
            <a:avLst/>
            <a:gdLst/>
            <a:ahLst/>
            <a:cxnLst/>
            <a:rect l="l" t="t" r="r" b="b"/>
            <a:pathLst>
              <a:path w="617" h="3775">
                <a:moveTo>
                  <a:pt x="617" y="0"/>
                </a:moveTo>
                <a:lnTo>
                  <a:pt x="502" y="1123"/>
                </a:lnTo>
                <a:lnTo>
                  <a:pt x="361" y="2106"/>
                </a:lnTo>
                <a:lnTo>
                  <a:pt x="194" y="2983"/>
                </a:lnTo>
                <a:lnTo>
                  <a:pt x="0" y="3775"/>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13268858" y="5853806"/>
            <a:ext cx="255118" cy="85862"/>
          </a:xfrm>
          <a:custGeom>
            <a:avLst/>
            <a:gdLst/>
            <a:ahLst/>
            <a:cxnLst/>
            <a:rect l="l" t="t" r="r" b="b"/>
            <a:pathLst>
              <a:path w="2790" h="939">
                <a:moveTo>
                  <a:pt x="2790" y="0"/>
                </a:moveTo>
                <a:lnTo>
                  <a:pt x="2181" y="277"/>
                </a:lnTo>
                <a:lnTo>
                  <a:pt x="1519" y="525"/>
                </a:lnTo>
                <a:lnTo>
                  <a:pt x="795" y="746"/>
                </a:lnTo>
                <a:lnTo>
                  <a:pt x="0" y="939"/>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0396271" y="5922020"/>
            <a:ext cx="346649" cy="56144"/>
          </a:xfrm>
          <a:custGeom>
            <a:avLst/>
            <a:gdLst/>
            <a:ahLst/>
            <a:cxnLst/>
            <a:rect l="l" t="t" r="r" b="b"/>
            <a:pathLst>
              <a:path w="3791" h="614">
                <a:moveTo>
                  <a:pt x="3791" y="614"/>
                </a:moveTo>
                <a:lnTo>
                  <a:pt x="2664" y="500"/>
                </a:lnTo>
                <a:lnTo>
                  <a:pt x="1676" y="359"/>
                </a:lnTo>
                <a:lnTo>
                  <a:pt x="795" y="193"/>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9815718" y="5289164"/>
            <a:ext cx="86136" cy="254112"/>
          </a:xfrm>
          <a:custGeom>
            <a:avLst/>
            <a:gdLst/>
            <a:ahLst/>
            <a:cxnLst/>
            <a:rect l="l" t="t" r="r" b="b"/>
            <a:pathLst>
              <a:path w="942" h="2779">
                <a:moveTo>
                  <a:pt x="942" y="2779"/>
                </a:moveTo>
                <a:lnTo>
                  <a:pt x="664" y="2173"/>
                </a:lnTo>
                <a:lnTo>
                  <a:pt x="415" y="1513"/>
                </a:lnTo>
                <a:lnTo>
                  <a:pt x="194" y="792"/>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9777039" y="2429104"/>
            <a:ext cx="56418" cy="345186"/>
          </a:xfrm>
          <a:custGeom>
            <a:avLst/>
            <a:gdLst/>
            <a:ahLst/>
            <a:cxnLst/>
            <a:rect l="l" t="t" r="r" b="b"/>
            <a:pathLst>
              <a:path w="617" h="3775">
                <a:moveTo>
                  <a:pt x="0" y="3775"/>
                </a:moveTo>
                <a:lnTo>
                  <a:pt x="115" y="2652"/>
                </a:lnTo>
                <a:lnTo>
                  <a:pt x="256" y="1669"/>
                </a:lnTo>
                <a:lnTo>
                  <a:pt x="423" y="792"/>
                </a:lnTo>
                <a:lnTo>
                  <a:pt x="617"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10213848" y="1851020"/>
            <a:ext cx="255118" cy="85862"/>
          </a:xfrm>
          <a:custGeom>
            <a:avLst/>
            <a:gdLst/>
            <a:ahLst/>
            <a:cxnLst/>
            <a:rect l="l" t="t" r="r" b="b"/>
            <a:pathLst>
              <a:path w="2790" h="939">
                <a:moveTo>
                  <a:pt x="0" y="939"/>
                </a:moveTo>
                <a:lnTo>
                  <a:pt x="609" y="662"/>
                </a:lnTo>
                <a:lnTo>
                  <a:pt x="1271" y="414"/>
                </a:lnTo>
                <a:lnTo>
                  <a:pt x="1995" y="193"/>
                </a:lnTo>
                <a:lnTo>
                  <a:pt x="279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12994904" y="1812524"/>
            <a:ext cx="346649" cy="56144"/>
          </a:xfrm>
          <a:custGeom>
            <a:avLst/>
            <a:gdLst/>
            <a:ahLst/>
            <a:cxnLst/>
            <a:rect l="l" t="t" r="r" b="b"/>
            <a:pathLst>
              <a:path w="3791" h="614">
                <a:moveTo>
                  <a:pt x="0" y="0"/>
                </a:moveTo>
                <a:lnTo>
                  <a:pt x="1127" y="114"/>
                </a:lnTo>
                <a:lnTo>
                  <a:pt x="2115" y="255"/>
                </a:lnTo>
                <a:lnTo>
                  <a:pt x="2996" y="421"/>
                </a:lnTo>
                <a:lnTo>
                  <a:pt x="3791" y="614"/>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13835969" y="2247412"/>
            <a:ext cx="86136" cy="254112"/>
          </a:xfrm>
          <a:custGeom>
            <a:avLst/>
            <a:gdLst/>
            <a:ahLst/>
            <a:cxnLst/>
            <a:rect l="l" t="t" r="r" b="b"/>
            <a:pathLst>
              <a:path w="942" h="2779">
                <a:moveTo>
                  <a:pt x="0" y="0"/>
                </a:moveTo>
                <a:lnTo>
                  <a:pt x="278" y="606"/>
                </a:lnTo>
                <a:lnTo>
                  <a:pt x="527" y="1266"/>
                </a:lnTo>
                <a:lnTo>
                  <a:pt x="748" y="1987"/>
                </a:lnTo>
                <a:lnTo>
                  <a:pt x="942" y="2779"/>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ody: Test the proposed explanation"/>
          <p:cNvSpPr txBox="1"/>
          <p:nvPr/>
        </p:nvSpPr>
        <p:spPr>
          <a:xfrm>
            <a:off x="10104120" y="2087117"/>
            <a:ext cx="3529584" cy="379476"/>
          </a:xfrm>
          <a:prstGeom prst="rect">
            <a:avLst/>
          </a:prstGeom>
          <a:noFill/>
        </p:spPr>
        <p:txBody>
          <a:bodyPr wrap="none" lIns="0" rIns="0" tIns="0" bIns="0" anchor="t">
            <a:noAutofit/>
          </a:bodyPr>
          <a:lstStyle/>
          <a:p>
            <a:pPr algn="ctr">
              <a:lnSpc>
                <a:spcPts val="2448"/>
              </a:lnSpc>
              <a:spcBef>
                <a:spcPts val="0"/>
              </a:spcBef>
              <a:spcAft>
                <a:spcPts val="0"/>
              </a:spcAft>
            </a:pPr>
            <a:r>
              <a:rPr sz="1800" b="1">
                <a:solidFill>
                  <a:srgbClr val="557B65"/>
                </a:solidFill>
                <a:latin typeface="Chalkboard SE"/>
              </a:rPr>
              <a:t>Test the proposed explanation</a:t>
            </a:r>
          </a:p>
        </p:txBody>
      </p:sp>
      <p:sp>
        <p:nvSpPr>
          <p:cNvPr id="60" name="Oval 59"/>
          <p:cNvSpPr/>
          <p:nvPr/>
        </p:nvSpPr>
        <p:spPr>
          <a:xfrm>
            <a:off x="10017252" y="287705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dy: Observe the failure and an honest benign-twin solution"/>
          <p:cNvSpPr txBox="1"/>
          <p:nvPr/>
        </p:nvSpPr>
        <p:spPr>
          <a:xfrm>
            <a:off x="10250424" y="2776474"/>
            <a:ext cx="3483864"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Observe the failure and an</a:t>
            </a:r>
            <a:br/>
            <a:r>
              <a:rPr sz="2000" b="0">
                <a:solidFill>
                  <a:srgbClr val="293E46"/>
                </a:solidFill>
                <a:latin typeface="Trebuchet MS"/>
              </a:rPr>
              <a:t>honest benign-twin solution</a:t>
            </a:r>
          </a:p>
        </p:txBody>
      </p:sp>
      <p:sp>
        <p:nvSpPr>
          <p:cNvPr id="62" name="Oval 61"/>
          <p:cNvSpPr/>
          <p:nvPr/>
        </p:nvSpPr>
        <p:spPr>
          <a:xfrm>
            <a:off x="10017252" y="370967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ody: Remove the suspected opportunity and repeat; inspect alternative"/>
          <p:cNvSpPr txBox="1"/>
          <p:nvPr/>
        </p:nvSpPr>
        <p:spPr>
          <a:xfrm>
            <a:off x="10250424" y="3609086"/>
            <a:ext cx="3483864" cy="103632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Remove the suspected</a:t>
            </a:r>
            <a:br/>
            <a:r>
              <a:rPr sz="2000" b="0">
                <a:solidFill>
                  <a:srgbClr val="293E46"/>
                </a:solidFill>
                <a:latin typeface="Trebuchet MS"/>
              </a:rPr>
              <a:t>opportunity and repeat;</a:t>
            </a:r>
            <a:br/>
            <a:r>
              <a:rPr sz="2000" b="0">
                <a:solidFill>
                  <a:srgbClr val="293E46"/>
                </a:solidFill>
                <a:latin typeface="Trebuchet MS"/>
              </a:rPr>
              <a:t>inspect alternative causes</a:t>
            </a:r>
          </a:p>
        </p:txBody>
      </p:sp>
      <p:sp>
        <p:nvSpPr>
          <p:cNvPr id="64" name="Oval 63"/>
          <p:cNvSpPr/>
          <p:nvPr/>
        </p:nvSpPr>
        <p:spPr>
          <a:xfrm>
            <a:off x="10017252" y="4864862"/>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ody: Test guard effectiveness and retained task utility separately"/>
          <p:cNvSpPr txBox="1"/>
          <p:nvPr/>
        </p:nvSpPr>
        <p:spPr>
          <a:xfrm>
            <a:off x="10250424" y="4764278"/>
            <a:ext cx="3483864" cy="103632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Test guard effectiveness and</a:t>
            </a:r>
            <a:br/>
            <a:r>
              <a:rPr sz="2000" b="0">
                <a:solidFill>
                  <a:srgbClr val="293E46"/>
                </a:solidFill>
                <a:latin typeface="Trebuchet MS"/>
              </a:rPr>
              <a:t>retained task utility</a:t>
            </a:r>
            <a:br/>
            <a:r>
              <a:rPr sz="2000" b="0">
                <a:solidFill>
                  <a:srgbClr val="293E46"/>
                </a:solidFill>
                <a:latin typeface="Trebuchet MS"/>
              </a:rPr>
              <a:t>separately</a:t>
            </a:r>
          </a:p>
        </p:txBody>
      </p:sp>
      <p:sp>
        <p:nvSpPr>
          <p:cNvPr id="66" name="Rounded Rectangle 65"/>
          <p:cNvSpPr/>
          <p:nvPr/>
        </p:nvSpPr>
        <p:spPr>
          <a:xfrm>
            <a:off x="640080" y="6263640"/>
            <a:ext cx="13350240" cy="1170432"/>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644926" y="6267023"/>
            <a:ext cx="13339633" cy="1165220"/>
          </a:xfrm>
          <a:custGeom>
            <a:avLst/>
            <a:gdLst/>
            <a:ahLst/>
            <a:cxnLst/>
            <a:rect l="l" t="t" r="r" b="b"/>
            <a:pathLst>
              <a:path w="145884" h="12743">
                <a:moveTo>
                  <a:pt x="145702" y="6352"/>
                </a:moveTo>
                <a:lnTo>
                  <a:pt x="145854" y="8376"/>
                </a:lnTo>
                <a:lnTo>
                  <a:pt x="145582" y="8796"/>
                </a:lnTo>
                <a:lnTo>
                  <a:pt x="145532" y="9346"/>
                </a:lnTo>
                <a:lnTo>
                  <a:pt x="145314" y="9781"/>
                </a:lnTo>
                <a:lnTo>
                  <a:pt x="144852" y="9991"/>
                </a:lnTo>
                <a:lnTo>
                  <a:pt x="144335" y="10250"/>
                </a:lnTo>
                <a:lnTo>
                  <a:pt x="143828" y="10485"/>
                </a:lnTo>
                <a:lnTo>
                  <a:pt x="143182" y="10628"/>
                </a:lnTo>
                <a:lnTo>
                  <a:pt x="142459" y="10910"/>
                </a:lnTo>
                <a:lnTo>
                  <a:pt x="141857" y="11054"/>
                </a:lnTo>
                <a:lnTo>
                  <a:pt x="140834" y="11386"/>
                </a:lnTo>
                <a:lnTo>
                  <a:pt x="139834" y="11423"/>
                </a:lnTo>
                <a:lnTo>
                  <a:pt x="138752" y="11489"/>
                </a:lnTo>
                <a:lnTo>
                  <a:pt x="137780" y="11629"/>
                </a:lnTo>
                <a:lnTo>
                  <a:pt x="136299" y="11760"/>
                </a:lnTo>
                <a:lnTo>
                  <a:pt x="135024" y="11913"/>
                </a:lnTo>
                <a:lnTo>
                  <a:pt x="133539" y="11924"/>
                </a:lnTo>
                <a:lnTo>
                  <a:pt x="131957" y="12064"/>
                </a:lnTo>
                <a:lnTo>
                  <a:pt x="129981" y="12209"/>
                </a:lnTo>
                <a:lnTo>
                  <a:pt x="128101" y="12347"/>
                </a:lnTo>
                <a:lnTo>
                  <a:pt x="126158" y="12307"/>
                </a:lnTo>
                <a:lnTo>
                  <a:pt x="123795" y="12476"/>
                </a:lnTo>
                <a:lnTo>
                  <a:pt x="121376" y="12430"/>
                </a:lnTo>
                <a:lnTo>
                  <a:pt x="118450" y="12524"/>
                </a:lnTo>
                <a:lnTo>
                  <a:pt x="115384" y="12643"/>
                </a:lnTo>
                <a:lnTo>
                  <a:pt x="111922" y="12556"/>
                </a:lnTo>
                <a:lnTo>
                  <a:pt x="107623" y="12530"/>
                </a:lnTo>
                <a:lnTo>
                  <a:pt x="102579" y="12677"/>
                </a:lnTo>
                <a:lnTo>
                  <a:pt x="95455" y="12598"/>
                </a:lnTo>
                <a:lnTo>
                  <a:pt x="72994" y="12720"/>
                </a:lnTo>
                <a:lnTo>
                  <a:pt x="50501" y="12743"/>
                </a:lnTo>
                <a:lnTo>
                  <a:pt x="43353" y="12581"/>
                </a:lnTo>
                <a:lnTo>
                  <a:pt x="38182" y="12671"/>
                </a:lnTo>
                <a:lnTo>
                  <a:pt x="34041" y="12593"/>
                </a:lnTo>
                <a:lnTo>
                  <a:pt x="30418" y="12570"/>
                </a:lnTo>
                <a:lnTo>
                  <a:pt x="27417" y="12463"/>
                </a:lnTo>
                <a:lnTo>
                  <a:pt x="24608" y="12525"/>
                </a:lnTo>
                <a:lnTo>
                  <a:pt x="22027" y="12505"/>
                </a:lnTo>
                <a:lnTo>
                  <a:pt x="19918" y="12433"/>
                </a:lnTo>
                <a:lnTo>
                  <a:pt x="17668" y="12342"/>
                </a:lnTo>
                <a:lnTo>
                  <a:pt x="15672" y="12124"/>
                </a:lnTo>
                <a:lnTo>
                  <a:pt x="14117" y="12160"/>
                </a:lnTo>
                <a:lnTo>
                  <a:pt x="12503" y="12006"/>
                </a:lnTo>
                <a:lnTo>
                  <a:pt x="10996" y="11972"/>
                </a:lnTo>
                <a:lnTo>
                  <a:pt x="9483" y="11906"/>
                </a:lnTo>
                <a:lnTo>
                  <a:pt x="8273" y="11744"/>
                </a:lnTo>
                <a:lnTo>
                  <a:pt x="7144" y="11493"/>
                </a:lnTo>
                <a:lnTo>
                  <a:pt x="6110" y="11423"/>
                </a:lnTo>
                <a:lnTo>
                  <a:pt x="5049" y="11265"/>
                </a:lnTo>
                <a:lnTo>
                  <a:pt x="4071" y="11230"/>
                </a:lnTo>
                <a:lnTo>
                  <a:pt x="3428" y="10894"/>
                </a:lnTo>
                <a:lnTo>
                  <a:pt x="2617" y="10768"/>
                </a:lnTo>
                <a:lnTo>
                  <a:pt x="2095" y="10522"/>
                </a:lnTo>
                <a:lnTo>
                  <a:pt x="1471" y="10253"/>
                </a:lnTo>
                <a:lnTo>
                  <a:pt x="1002" y="9982"/>
                </a:lnTo>
                <a:lnTo>
                  <a:pt x="836" y="9603"/>
                </a:lnTo>
                <a:lnTo>
                  <a:pt x="419" y="9439"/>
                </a:lnTo>
                <a:lnTo>
                  <a:pt x="342" y="8928"/>
                </a:lnTo>
                <a:lnTo>
                  <a:pt x="0" y="8299"/>
                </a:lnTo>
                <a:lnTo>
                  <a:pt x="125" y="6364"/>
                </a:lnTo>
                <a:lnTo>
                  <a:pt x="191" y="4505"/>
                </a:lnTo>
                <a:lnTo>
                  <a:pt x="330" y="3805"/>
                </a:lnTo>
                <a:lnTo>
                  <a:pt x="380" y="3301"/>
                </a:lnTo>
                <a:lnTo>
                  <a:pt x="796" y="3101"/>
                </a:lnTo>
                <a:lnTo>
                  <a:pt x="986" y="2748"/>
                </a:lnTo>
                <a:lnTo>
                  <a:pt x="1394" y="2456"/>
                </a:lnTo>
                <a:lnTo>
                  <a:pt x="2072" y="2239"/>
                </a:lnTo>
                <a:lnTo>
                  <a:pt x="2548" y="1927"/>
                </a:lnTo>
                <a:lnTo>
                  <a:pt x="3251" y="1721"/>
                </a:lnTo>
                <a:lnTo>
                  <a:pt x="4044" y="1519"/>
                </a:lnTo>
                <a:lnTo>
                  <a:pt x="4941" y="1419"/>
                </a:lnTo>
                <a:lnTo>
                  <a:pt x="5966" y="1283"/>
                </a:lnTo>
                <a:lnTo>
                  <a:pt x="7058" y="1205"/>
                </a:lnTo>
                <a:lnTo>
                  <a:pt x="8218" y="1096"/>
                </a:lnTo>
                <a:lnTo>
                  <a:pt x="9581" y="915"/>
                </a:lnTo>
                <a:lnTo>
                  <a:pt x="10926" y="755"/>
                </a:lnTo>
                <a:lnTo>
                  <a:pt x="12379" y="766"/>
                </a:lnTo>
                <a:lnTo>
                  <a:pt x="14008" y="503"/>
                </a:lnTo>
                <a:lnTo>
                  <a:pt x="15669" y="413"/>
                </a:lnTo>
                <a:lnTo>
                  <a:pt x="17833" y="441"/>
                </a:lnTo>
                <a:lnTo>
                  <a:pt x="19701" y="439"/>
                </a:lnTo>
                <a:lnTo>
                  <a:pt x="22205" y="381"/>
                </a:lnTo>
                <a:lnTo>
                  <a:pt x="24663" y="174"/>
                </a:lnTo>
                <a:lnTo>
                  <a:pt x="27331" y="129"/>
                </a:lnTo>
                <a:lnTo>
                  <a:pt x="30396" y="221"/>
                </a:lnTo>
                <a:lnTo>
                  <a:pt x="34124" y="168"/>
                </a:lnTo>
                <a:lnTo>
                  <a:pt x="38284" y="44"/>
                </a:lnTo>
                <a:lnTo>
                  <a:pt x="43499" y="0"/>
                </a:lnTo>
                <a:lnTo>
                  <a:pt x="50445" y="39"/>
                </a:lnTo>
                <a:lnTo>
                  <a:pt x="73065" y="40"/>
                </a:lnTo>
                <a:lnTo>
                  <a:pt x="95439" y="159"/>
                </a:lnTo>
                <a:lnTo>
                  <a:pt x="102486" y="213"/>
                </a:lnTo>
                <a:lnTo>
                  <a:pt x="107712" y="185"/>
                </a:lnTo>
                <a:lnTo>
                  <a:pt x="111878" y="159"/>
                </a:lnTo>
                <a:lnTo>
                  <a:pt x="115461" y="119"/>
                </a:lnTo>
                <a:lnTo>
                  <a:pt x="118391" y="160"/>
                </a:lnTo>
                <a:lnTo>
                  <a:pt x="121195" y="328"/>
                </a:lnTo>
                <a:lnTo>
                  <a:pt x="123790" y="196"/>
                </a:lnTo>
                <a:lnTo>
                  <a:pt x="126145" y="287"/>
                </a:lnTo>
                <a:lnTo>
                  <a:pt x="128268" y="337"/>
                </a:lnTo>
                <a:lnTo>
                  <a:pt x="130061" y="586"/>
                </a:lnTo>
                <a:lnTo>
                  <a:pt x="131916" y="508"/>
                </a:lnTo>
                <a:lnTo>
                  <a:pt x="133590" y="717"/>
                </a:lnTo>
                <a:lnTo>
                  <a:pt x="134935" y="891"/>
                </a:lnTo>
                <a:lnTo>
                  <a:pt x="136426" y="827"/>
                </a:lnTo>
                <a:lnTo>
                  <a:pt x="137723" y="989"/>
                </a:lnTo>
                <a:lnTo>
                  <a:pt x="138908" y="1154"/>
                </a:lnTo>
                <a:lnTo>
                  <a:pt x="139876" y="1222"/>
                </a:lnTo>
                <a:lnTo>
                  <a:pt x="140887" y="1388"/>
                </a:lnTo>
                <a:lnTo>
                  <a:pt x="141786" y="1713"/>
                </a:lnTo>
                <a:lnTo>
                  <a:pt x="142430" y="1695"/>
                </a:lnTo>
                <a:lnTo>
                  <a:pt x="143312" y="1980"/>
                </a:lnTo>
                <a:lnTo>
                  <a:pt x="143818" y="2104"/>
                </a:lnTo>
                <a:lnTo>
                  <a:pt x="144257" y="2323"/>
                </a:lnTo>
                <a:lnTo>
                  <a:pt x="144721" y="2778"/>
                </a:lnTo>
                <a:lnTo>
                  <a:pt x="145188" y="3097"/>
                </a:lnTo>
                <a:lnTo>
                  <a:pt x="145363" y="3414"/>
                </a:lnTo>
                <a:lnTo>
                  <a:pt x="145595" y="3881"/>
                </a:lnTo>
                <a:lnTo>
                  <a:pt x="145727" y="4545"/>
                </a:lnTo>
                <a:lnTo>
                  <a:pt x="145884" y="6479"/>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641817" y="6266475"/>
            <a:ext cx="13349417" cy="1167140"/>
          </a:xfrm>
          <a:custGeom>
            <a:avLst/>
            <a:gdLst/>
            <a:ahLst/>
            <a:cxnLst/>
            <a:rect l="l" t="t" r="r" b="b"/>
            <a:pathLst>
              <a:path w="145991" h="12764">
                <a:moveTo>
                  <a:pt x="145991" y="6371"/>
                </a:moveTo>
                <a:lnTo>
                  <a:pt x="145694" y="8374"/>
                </a:lnTo>
                <a:lnTo>
                  <a:pt x="145664" y="8824"/>
                </a:lnTo>
                <a:lnTo>
                  <a:pt x="145438" y="9267"/>
                </a:lnTo>
                <a:lnTo>
                  <a:pt x="145124" y="9729"/>
                </a:lnTo>
                <a:lnTo>
                  <a:pt x="144831" y="10014"/>
                </a:lnTo>
                <a:lnTo>
                  <a:pt x="144295" y="10363"/>
                </a:lnTo>
                <a:lnTo>
                  <a:pt x="143950" y="10493"/>
                </a:lnTo>
                <a:lnTo>
                  <a:pt x="143148" y="10701"/>
                </a:lnTo>
                <a:lnTo>
                  <a:pt x="142534" y="10968"/>
                </a:lnTo>
                <a:lnTo>
                  <a:pt x="141792" y="11210"/>
                </a:lnTo>
                <a:lnTo>
                  <a:pt x="140840" y="11328"/>
                </a:lnTo>
                <a:lnTo>
                  <a:pt x="139835" y="11510"/>
                </a:lnTo>
                <a:lnTo>
                  <a:pt x="138887" y="11514"/>
                </a:lnTo>
                <a:lnTo>
                  <a:pt x="137756" y="11608"/>
                </a:lnTo>
                <a:lnTo>
                  <a:pt x="136352" y="11879"/>
                </a:lnTo>
                <a:lnTo>
                  <a:pt x="134963" y="11931"/>
                </a:lnTo>
                <a:lnTo>
                  <a:pt x="133462" y="12018"/>
                </a:lnTo>
                <a:lnTo>
                  <a:pt x="132001" y="12185"/>
                </a:lnTo>
                <a:lnTo>
                  <a:pt x="130165" y="12201"/>
                </a:lnTo>
                <a:lnTo>
                  <a:pt x="128287" y="12312"/>
                </a:lnTo>
                <a:lnTo>
                  <a:pt x="126143" y="12461"/>
                </a:lnTo>
                <a:lnTo>
                  <a:pt x="123924" y="12360"/>
                </a:lnTo>
                <a:lnTo>
                  <a:pt x="121370" y="12513"/>
                </a:lnTo>
                <a:lnTo>
                  <a:pt x="118609" y="12623"/>
                </a:lnTo>
                <a:lnTo>
                  <a:pt x="115301" y="12682"/>
                </a:lnTo>
                <a:lnTo>
                  <a:pt x="111769" y="12595"/>
                </a:lnTo>
                <a:lnTo>
                  <a:pt x="107715" y="12620"/>
                </a:lnTo>
                <a:lnTo>
                  <a:pt x="102426" y="12644"/>
                </a:lnTo>
                <a:lnTo>
                  <a:pt x="95296" y="12764"/>
                </a:lnTo>
                <a:lnTo>
                  <a:pt x="73060" y="12567"/>
                </a:lnTo>
                <a:lnTo>
                  <a:pt x="50528" y="12613"/>
                </a:lnTo>
                <a:lnTo>
                  <a:pt x="43338" y="12577"/>
                </a:lnTo>
                <a:lnTo>
                  <a:pt x="38312" y="12536"/>
                </a:lnTo>
                <a:lnTo>
                  <a:pt x="34120" y="12642"/>
                </a:lnTo>
                <a:lnTo>
                  <a:pt x="30442" y="12618"/>
                </a:lnTo>
                <a:lnTo>
                  <a:pt x="27501" y="12643"/>
                </a:lnTo>
                <a:lnTo>
                  <a:pt x="24757" y="12538"/>
                </a:lnTo>
                <a:lnTo>
                  <a:pt x="22026" y="12429"/>
                </a:lnTo>
                <a:lnTo>
                  <a:pt x="19951" y="12479"/>
                </a:lnTo>
                <a:lnTo>
                  <a:pt x="17735" y="12347"/>
                </a:lnTo>
                <a:lnTo>
                  <a:pt x="15887" y="12340"/>
                </a:lnTo>
                <a:lnTo>
                  <a:pt x="14052" y="12216"/>
                </a:lnTo>
                <a:lnTo>
                  <a:pt x="12299" y="11941"/>
                </a:lnTo>
                <a:lnTo>
                  <a:pt x="10977" y="12037"/>
                </a:lnTo>
                <a:lnTo>
                  <a:pt x="9415" y="11932"/>
                </a:lnTo>
                <a:lnTo>
                  <a:pt x="8134" y="11781"/>
                </a:lnTo>
                <a:lnTo>
                  <a:pt x="7089" y="11706"/>
                </a:lnTo>
                <a:lnTo>
                  <a:pt x="5949" y="11495"/>
                </a:lnTo>
                <a:lnTo>
                  <a:pt x="5084" y="11315"/>
                </a:lnTo>
                <a:lnTo>
                  <a:pt x="4273" y="11132"/>
                </a:lnTo>
                <a:lnTo>
                  <a:pt x="3318" y="10967"/>
                </a:lnTo>
                <a:lnTo>
                  <a:pt x="2609" y="10820"/>
                </a:lnTo>
                <a:lnTo>
                  <a:pt x="2130" y="10521"/>
                </a:lnTo>
                <a:lnTo>
                  <a:pt x="1461" y="10228"/>
                </a:lnTo>
                <a:lnTo>
                  <a:pt x="1109" y="9998"/>
                </a:lnTo>
                <a:lnTo>
                  <a:pt x="722" y="9741"/>
                </a:lnTo>
                <a:lnTo>
                  <a:pt x="461" y="9335"/>
                </a:lnTo>
                <a:lnTo>
                  <a:pt x="280" y="8930"/>
                </a:lnTo>
                <a:lnTo>
                  <a:pt x="269" y="8373"/>
                </a:lnTo>
                <a:lnTo>
                  <a:pt x="0" y="6455"/>
                </a:lnTo>
                <a:lnTo>
                  <a:pt x="173" y="4398"/>
                </a:lnTo>
                <a:lnTo>
                  <a:pt x="266" y="3798"/>
                </a:lnTo>
                <a:lnTo>
                  <a:pt x="372" y="3386"/>
                </a:lnTo>
                <a:lnTo>
                  <a:pt x="868" y="2960"/>
                </a:lnTo>
                <a:lnTo>
                  <a:pt x="1202" y="2653"/>
                </a:lnTo>
                <a:lnTo>
                  <a:pt x="1504" y="2555"/>
                </a:lnTo>
                <a:lnTo>
                  <a:pt x="2037" y="2315"/>
                </a:lnTo>
                <a:lnTo>
                  <a:pt x="2690" y="1912"/>
                </a:lnTo>
                <a:lnTo>
                  <a:pt x="3269" y="1909"/>
                </a:lnTo>
                <a:lnTo>
                  <a:pt x="4288" y="1692"/>
                </a:lnTo>
                <a:lnTo>
                  <a:pt x="4938" y="1440"/>
                </a:lnTo>
                <a:lnTo>
                  <a:pt x="5989" y="1350"/>
                </a:lnTo>
                <a:lnTo>
                  <a:pt x="7154" y="1202"/>
                </a:lnTo>
                <a:lnTo>
                  <a:pt x="8185" y="1036"/>
                </a:lnTo>
                <a:lnTo>
                  <a:pt x="9539" y="851"/>
                </a:lnTo>
                <a:lnTo>
                  <a:pt x="11000" y="887"/>
                </a:lnTo>
                <a:lnTo>
                  <a:pt x="12471" y="672"/>
                </a:lnTo>
                <a:lnTo>
                  <a:pt x="14113" y="489"/>
                </a:lnTo>
                <a:lnTo>
                  <a:pt x="15856" y="530"/>
                </a:lnTo>
                <a:lnTo>
                  <a:pt x="17833" y="406"/>
                </a:lnTo>
                <a:lnTo>
                  <a:pt x="19820" y="383"/>
                </a:lnTo>
                <a:lnTo>
                  <a:pt x="22024" y="291"/>
                </a:lnTo>
                <a:lnTo>
                  <a:pt x="24656" y="309"/>
                </a:lnTo>
                <a:lnTo>
                  <a:pt x="27317" y="170"/>
                </a:lnTo>
                <a:lnTo>
                  <a:pt x="30567" y="100"/>
                </a:lnTo>
                <a:lnTo>
                  <a:pt x="34095" y="42"/>
                </a:lnTo>
                <a:lnTo>
                  <a:pt x="38204" y="236"/>
                </a:lnTo>
                <a:lnTo>
                  <a:pt x="43442" y="198"/>
                </a:lnTo>
                <a:lnTo>
                  <a:pt x="50628" y="92"/>
                </a:lnTo>
                <a:lnTo>
                  <a:pt x="73011" y="150"/>
                </a:lnTo>
                <a:lnTo>
                  <a:pt x="95499" y="0"/>
                </a:lnTo>
                <a:lnTo>
                  <a:pt x="102508" y="96"/>
                </a:lnTo>
                <a:lnTo>
                  <a:pt x="107629" y="222"/>
                </a:lnTo>
                <a:lnTo>
                  <a:pt x="111785" y="104"/>
                </a:lnTo>
                <a:lnTo>
                  <a:pt x="115455" y="153"/>
                </a:lnTo>
                <a:lnTo>
                  <a:pt x="118501" y="216"/>
                </a:lnTo>
                <a:lnTo>
                  <a:pt x="121259" y="183"/>
                </a:lnTo>
                <a:lnTo>
                  <a:pt x="123816" y="246"/>
                </a:lnTo>
                <a:lnTo>
                  <a:pt x="126233" y="467"/>
                </a:lnTo>
                <a:lnTo>
                  <a:pt x="128221" y="367"/>
                </a:lnTo>
                <a:lnTo>
                  <a:pt x="130094" y="416"/>
                </a:lnTo>
                <a:lnTo>
                  <a:pt x="131898" y="503"/>
                </a:lnTo>
                <a:lnTo>
                  <a:pt x="133512" y="769"/>
                </a:lnTo>
                <a:lnTo>
                  <a:pt x="134943" y="790"/>
                </a:lnTo>
                <a:lnTo>
                  <a:pt x="136495" y="786"/>
                </a:lnTo>
                <a:lnTo>
                  <a:pt x="137617" y="1052"/>
                </a:lnTo>
                <a:lnTo>
                  <a:pt x="138873" y="1096"/>
                </a:lnTo>
                <a:lnTo>
                  <a:pt x="139938" y="1395"/>
                </a:lnTo>
                <a:lnTo>
                  <a:pt x="140966" y="1336"/>
                </a:lnTo>
                <a:lnTo>
                  <a:pt x="141801" y="1638"/>
                </a:lnTo>
                <a:lnTo>
                  <a:pt x="142674" y="1774"/>
                </a:lnTo>
                <a:lnTo>
                  <a:pt x="143142" y="2003"/>
                </a:lnTo>
                <a:lnTo>
                  <a:pt x="143843" y="2240"/>
                </a:lnTo>
                <a:lnTo>
                  <a:pt x="144474" y="2388"/>
                </a:lnTo>
                <a:lnTo>
                  <a:pt x="144864" y="2765"/>
                </a:lnTo>
                <a:lnTo>
                  <a:pt x="145162" y="3018"/>
                </a:lnTo>
                <a:lnTo>
                  <a:pt x="145459" y="3303"/>
                </a:lnTo>
                <a:lnTo>
                  <a:pt x="145799" y="3770"/>
                </a:lnTo>
                <a:lnTo>
                  <a:pt x="145784" y="4515"/>
                </a:lnTo>
                <a:lnTo>
                  <a:pt x="145881" y="6314"/>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3742609" y="7155271"/>
            <a:ext cx="178125" cy="94275"/>
          </a:xfrm>
          <a:custGeom>
            <a:avLst/>
            <a:gdLst/>
            <a:ahLst/>
            <a:cxnLst/>
            <a:rect l="l" t="t" r="r" b="b"/>
            <a:pathLst>
              <a:path w="1948" h="1031">
                <a:moveTo>
                  <a:pt x="1948" y="0"/>
                </a:moveTo>
                <a:lnTo>
                  <a:pt x="1585" y="306"/>
                </a:lnTo>
                <a:lnTo>
                  <a:pt x="1141" y="575"/>
                </a:lnTo>
                <a:lnTo>
                  <a:pt x="613" y="815"/>
                </a:lnTo>
                <a:lnTo>
                  <a:pt x="0" y="1031"/>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11735775" y="7384054"/>
            <a:ext cx="805678" cy="23500"/>
          </a:xfrm>
          <a:custGeom>
            <a:avLst/>
            <a:gdLst/>
            <a:ahLst/>
            <a:cxnLst/>
            <a:rect l="l" t="t" r="r" b="b"/>
            <a:pathLst>
              <a:path w="8811" h="257">
                <a:moveTo>
                  <a:pt x="8811" y="0"/>
                </a:moveTo>
                <a:lnTo>
                  <a:pt x="6889" y="76"/>
                </a:lnTo>
                <a:lnTo>
                  <a:pt x="4797" y="144"/>
                </a:lnTo>
                <a:lnTo>
                  <a:pt x="2511" y="204"/>
                </a:lnTo>
                <a:lnTo>
                  <a:pt x="0" y="257"/>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2665019" y="7402708"/>
            <a:ext cx="1094720" cy="15362"/>
          </a:xfrm>
          <a:custGeom>
            <a:avLst/>
            <a:gdLst/>
            <a:ahLst/>
            <a:cxnLst/>
            <a:rect l="l" t="t" r="r" b="b"/>
            <a:pathLst>
              <a:path w="11972" h="168">
                <a:moveTo>
                  <a:pt x="11972" y="168"/>
                </a:moveTo>
                <a:lnTo>
                  <a:pt x="8412" y="137"/>
                </a:lnTo>
                <a:lnTo>
                  <a:pt x="5293" y="98"/>
                </a:lnTo>
                <a:lnTo>
                  <a:pt x="2511" y="53"/>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831738" y="7229795"/>
            <a:ext cx="272217" cy="69403"/>
          </a:xfrm>
          <a:custGeom>
            <a:avLst/>
            <a:gdLst/>
            <a:ahLst/>
            <a:cxnLst/>
            <a:rect l="l" t="t" r="r" b="b"/>
            <a:pathLst>
              <a:path w="2977" h="759">
                <a:moveTo>
                  <a:pt x="2977" y="759"/>
                </a:moveTo>
                <a:lnTo>
                  <a:pt x="2099" y="593"/>
                </a:lnTo>
                <a:lnTo>
                  <a:pt x="1312" y="413"/>
                </a:lnTo>
                <a:lnTo>
                  <a:pt x="613" y="216"/>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709666" y="6448166"/>
            <a:ext cx="178125" cy="94275"/>
          </a:xfrm>
          <a:custGeom>
            <a:avLst/>
            <a:gdLst/>
            <a:ahLst/>
            <a:cxnLst/>
            <a:rect l="l" t="t" r="r" b="b"/>
            <a:pathLst>
              <a:path w="1948" h="1031">
                <a:moveTo>
                  <a:pt x="0" y="1031"/>
                </a:moveTo>
                <a:lnTo>
                  <a:pt x="363" y="725"/>
                </a:lnTo>
                <a:lnTo>
                  <a:pt x="807" y="456"/>
                </a:lnTo>
                <a:lnTo>
                  <a:pt x="1335" y="216"/>
                </a:lnTo>
                <a:lnTo>
                  <a:pt x="1948"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088947" y="6290158"/>
            <a:ext cx="805678" cy="23500"/>
          </a:xfrm>
          <a:custGeom>
            <a:avLst/>
            <a:gdLst/>
            <a:ahLst/>
            <a:cxnLst/>
            <a:rect l="l" t="t" r="r" b="b"/>
            <a:pathLst>
              <a:path w="8811" h="257">
                <a:moveTo>
                  <a:pt x="0" y="257"/>
                </a:moveTo>
                <a:lnTo>
                  <a:pt x="1922" y="181"/>
                </a:lnTo>
                <a:lnTo>
                  <a:pt x="4014" y="113"/>
                </a:lnTo>
                <a:lnTo>
                  <a:pt x="6300" y="53"/>
                </a:lnTo>
                <a:lnTo>
                  <a:pt x="8811"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10870662" y="6279642"/>
            <a:ext cx="1094720" cy="15362"/>
          </a:xfrm>
          <a:custGeom>
            <a:avLst/>
            <a:gdLst/>
            <a:ahLst/>
            <a:cxnLst/>
            <a:rect l="l" t="t" r="r" b="b"/>
            <a:pathLst>
              <a:path w="11972" h="168">
                <a:moveTo>
                  <a:pt x="0" y="0"/>
                </a:moveTo>
                <a:lnTo>
                  <a:pt x="3560" y="31"/>
                </a:lnTo>
                <a:lnTo>
                  <a:pt x="6679" y="70"/>
                </a:lnTo>
                <a:lnTo>
                  <a:pt x="9461" y="115"/>
                </a:lnTo>
                <a:lnTo>
                  <a:pt x="11972" y="168"/>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13526445" y="6398514"/>
            <a:ext cx="272217" cy="69403"/>
          </a:xfrm>
          <a:custGeom>
            <a:avLst/>
            <a:gdLst/>
            <a:ahLst/>
            <a:cxnLst/>
            <a:rect l="l" t="t" r="r" b="b"/>
            <a:pathLst>
              <a:path w="2977" h="759">
                <a:moveTo>
                  <a:pt x="0" y="0"/>
                </a:moveTo>
                <a:lnTo>
                  <a:pt x="878" y="166"/>
                </a:lnTo>
                <a:lnTo>
                  <a:pt x="1665" y="346"/>
                </a:lnTo>
                <a:lnTo>
                  <a:pt x="2364" y="543"/>
                </a:lnTo>
                <a:lnTo>
                  <a:pt x="2977" y="759"/>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ody: Supported claim: this controlled setup reproduces specified mech"/>
          <p:cNvSpPr txBox="1"/>
          <p:nvPr/>
        </p:nvSpPr>
        <p:spPr>
          <a:xfrm>
            <a:off x="914400" y="6491986"/>
            <a:ext cx="12801600" cy="713739"/>
          </a:xfrm>
          <a:prstGeom prst="rect">
            <a:avLst/>
          </a:prstGeom>
          <a:noFill/>
        </p:spPr>
        <p:txBody>
          <a:bodyPr wrap="none" lIns="0" rIns="0" tIns="0" bIns="0" anchor="t">
            <a:noAutofit/>
          </a:bodyPr>
          <a:lstStyle/>
          <a:p>
            <a:pPr algn="ctr">
              <a:lnSpc>
                <a:spcPts val="2540"/>
              </a:lnSpc>
              <a:spcBef>
                <a:spcPts val="0"/>
              </a:spcBef>
              <a:spcAft>
                <a:spcPts val="0"/>
              </a:spcAft>
            </a:pPr>
            <a:r>
              <a:rPr sz="2000" b="0">
                <a:solidFill>
                  <a:srgbClr val="293E46"/>
                </a:solidFill>
                <a:latin typeface="Trebuchet MS"/>
              </a:rPr>
              <a:t>Supported claim: this controlled setup reproduces specified mechanisms and behavior patterns. It does not</a:t>
            </a:r>
            <a:br/>
            <a:r>
              <a:rPr sz="2000" b="0">
                <a:solidFill>
                  <a:srgbClr val="293E46"/>
                </a:solidFill>
                <a:latin typeface="Trebuchet MS"/>
              </a:rPr>
              <a:t>recover the original incident rate, private model behavior or training cause.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7 · REPLAY FEASIBILITY"/>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7 · REPLAY FEASIBILITY</a:t>
            </a:r>
          </a:p>
        </p:txBody>
      </p:sp>
      <p:sp>
        <p:nvSpPr>
          <p:cNvPr id="3" name="title: Choose the replay scope case by case"/>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Choose the replay scope case by case</a:t>
            </a:r>
          </a:p>
        </p:txBody>
      </p:sp>
      <p:sp>
        <p:nvSpPr>
          <p:cNvPr id="4" name="subtitle: Audit access and fidelity first; compare the scientific value wi"/>
          <p:cNvSpPr txBox="1"/>
          <p:nvPr/>
        </p:nvSpPr>
        <p:spPr>
          <a:xfrm>
            <a:off x="914400" y="1203166"/>
            <a:ext cx="12801600" cy="318579"/>
          </a:xfrm>
          <a:prstGeom prst="rect">
            <a:avLst/>
          </a:prstGeom>
          <a:noFill/>
        </p:spPr>
        <p:txBody>
          <a:bodyPr wrap="none" lIns="0" rIns="0" tIns="0" bIns="0" anchor="t">
            <a:noAutofit/>
          </a:bodyPr>
          <a:lstStyle/>
          <a:p>
            <a:pPr algn="ctr">
              <a:lnSpc>
                <a:spcPts val="1968"/>
              </a:lnSpc>
              <a:spcBef>
                <a:spcPts val="0"/>
              </a:spcBef>
              <a:spcAft>
                <a:spcPts val="0"/>
              </a:spcAft>
            </a:pPr>
            <a:r>
              <a:rPr sz="1550" b="0">
                <a:solidFill>
                  <a:srgbClr val="68736E"/>
                </a:solidFill>
                <a:latin typeface="Trebuchet MS"/>
              </a:rPr>
              <a:t>Audit access and fidelity first; compare the scientific value with measured effort before scaling</a:t>
            </a:r>
          </a:p>
        </p:txBody>
      </p:sp>
      <p:sp>
        <p:nvSpPr>
          <p:cNvPr id="5" name="Freeform 4"/>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1" name="page: 37"/>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37</a:t>
            </a:r>
          </a:p>
        </p:txBody>
      </p:sp>
      <p:sp>
        <p:nvSpPr>
          <p:cNvPr id="12" name="Rounded Rectangle 11"/>
          <p:cNvSpPr/>
          <p:nvPr/>
        </p:nvSpPr>
        <p:spPr>
          <a:xfrm>
            <a:off x="640080" y="1783080"/>
            <a:ext cx="13350240" cy="592429"/>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 Condition"/>
          <p:cNvSpPr txBox="1"/>
          <p:nvPr/>
        </p:nvSpPr>
        <p:spPr>
          <a:xfrm>
            <a:off x="777240" y="1891779"/>
            <a:ext cx="402336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Condition</a:t>
            </a:r>
          </a:p>
        </p:txBody>
      </p:sp>
      <p:sp>
        <p:nvSpPr>
          <p:cNvPr id="14" name="body: Route"/>
          <p:cNvSpPr txBox="1"/>
          <p:nvPr/>
        </p:nvSpPr>
        <p:spPr>
          <a:xfrm>
            <a:off x="5074920" y="1891779"/>
            <a:ext cx="347472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Route</a:t>
            </a:r>
          </a:p>
        </p:txBody>
      </p:sp>
      <p:sp>
        <p:nvSpPr>
          <p:cNvPr id="15" name="body: What may enter the library"/>
          <p:cNvSpPr txBox="1"/>
          <p:nvPr/>
        </p:nvSpPr>
        <p:spPr>
          <a:xfrm>
            <a:off x="8823960" y="1891779"/>
            <a:ext cx="5029200" cy="375031"/>
          </a:xfrm>
          <a:prstGeom prst="rect">
            <a:avLst/>
          </a:prstGeom>
          <a:noFill/>
        </p:spPr>
        <p:txBody>
          <a:bodyPr wrap="none" lIns="0" rIns="0" tIns="0" bIns="0" anchor="t">
            <a:noAutofit/>
          </a:bodyPr>
          <a:lstStyle/>
          <a:p>
            <a:pPr algn="ctr">
              <a:lnSpc>
                <a:spcPts val="2413"/>
              </a:lnSpc>
              <a:spcBef>
                <a:spcPts val="0"/>
              </a:spcBef>
              <a:spcAft>
                <a:spcPts val="0"/>
              </a:spcAft>
            </a:pPr>
            <a:r>
              <a:rPr sz="1900" b="1">
                <a:solidFill>
                  <a:srgbClr val="4E7892"/>
                </a:solidFill>
                <a:latin typeface="Trebuchet MS"/>
              </a:rPr>
              <a:t>What may enter the library</a:t>
            </a:r>
          </a:p>
        </p:txBody>
      </p:sp>
      <p:sp>
        <p:nvSpPr>
          <p:cNvPr id="16" name="Rounded Rectangle 15"/>
          <p:cNvSpPr/>
          <p:nvPr/>
        </p:nvSpPr>
        <p:spPr>
          <a:xfrm>
            <a:off x="640080" y="2434945"/>
            <a:ext cx="13350240" cy="917168"/>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 Critical artifacts available; cost justified"/>
          <p:cNvSpPr txBox="1"/>
          <p:nvPr/>
        </p:nvSpPr>
        <p:spPr>
          <a:xfrm>
            <a:off x="777240" y="2552788"/>
            <a:ext cx="4023360" cy="681481"/>
          </a:xfrm>
          <a:prstGeom prst="rect">
            <a:avLst/>
          </a:prstGeom>
          <a:noFill/>
        </p:spPr>
        <p:txBody>
          <a:bodyPr wrap="none" lIns="0" rIns="0" tIns="0" bIns="0" anchor="t">
            <a:noAutofit/>
          </a:bodyPr>
          <a:lstStyle/>
          <a:p>
            <a:pPr algn="l">
              <a:lnSpc>
                <a:spcPts val="2413"/>
              </a:lnSpc>
              <a:spcBef>
                <a:spcPts val="0"/>
              </a:spcBef>
              <a:spcAft>
                <a:spcPts val="0"/>
              </a:spcAft>
            </a:pPr>
            <a:r>
              <a:rPr sz="1900" b="1">
                <a:solidFill>
                  <a:srgbClr val="4E7892"/>
                </a:solidFill>
                <a:latin typeface="Trebuchet MS"/>
              </a:rPr>
              <a:t>Critical artifacts available; cost</a:t>
            </a:r>
            <a:br/>
            <a:r>
              <a:rPr sz="1900" b="1">
                <a:solidFill>
                  <a:srgbClr val="4E7892"/>
                </a:solidFill>
                <a:latin typeface="Trebuchet MS"/>
              </a:rPr>
              <a:t>justified</a:t>
            </a:r>
          </a:p>
        </p:txBody>
      </p:sp>
      <p:sp>
        <p:nvSpPr>
          <p:cNvPr id="18" name="body: Attempt matched agent replay"/>
          <p:cNvSpPr txBox="1"/>
          <p:nvPr/>
        </p:nvSpPr>
        <p:spPr>
          <a:xfrm>
            <a:off x="5074920" y="2552788"/>
            <a:ext cx="3474720"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Attempt matched agent</a:t>
            </a:r>
            <a:br/>
            <a:r>
              <a:rPr sz="1900" b="0">
                <a:solidFill>
                  <a:srgbClr val="293E46"/>
                </a:solidFill>
                <a:latin typeface="Trebuchet MS"/>
              </a:rPr>
              <a:t>replay</a:t>
            </a:r>
          </a:p>
        </p:txBody>
      </p:sp>
      <p:sp>
        <p:nvSpPr>
          <p:cNvPr id="19" name="body: Qualified executions with pinned conditions, controls and uncert"/>
          <p:cNvSpPr txBox="1"/>
          <p:nvPr/>
        </p:nvSpPr>
        <p:spPr>
          <a:xfrm>
            <a:off x="8823960" y="2552788"/>
            <a:ext cx="5029200"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Qualified executions with pinned</a:t>
            </a:r>
            <a:br/>
            <a:r>
              <a:rPr sz="1900" b="0">
                <a:solidFill>
                  <a:srgbClr val="293E46"/>
                </a:solidFill>
                <a:latin typeface="Trebuchet MS"/>
              </a:rPr>
              <a:t>conditions, controls and uncertainty.</a:t>
            </a:r>
          </a:p>
        </p:txBody>
      </p:sp>
      <p:sp>
        <p:nvSpPr>
          <p:cNvPr id="20" name="Rounded Rectangle 19"/>
          <p:cNvSpPr/>
          <p:nvPr/>
        </p:nvSpPr>
        <p:spPr>
          <a:xfrm>
            <a:off x="640080" y="3411550"/>
            <a:ext cx="13350240" cy="917168"/>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dy: Full setup blocked or too expensive; mechanism isolatable"/>
          <p:cNvSpPr txBox="1"/>
          <p:nvPr/>
        </p:nvSpPr>
        <p:spPr>
          <a:xfrm>
            <a:off x="777240" y="3529393"/>
            <a:ext cx="4023360" cy="681481"/>
          </a:xfrm>
          <a:prstGeom prst="rect">
            <a:avLst/>
          </a:prstGeom>
          <a:noFill/>
        </p:spPr>
        <p:txBody>
          <a:bodyPr wrap="none" lIns="0" rIns="0" tIns="0" bIns="0" anchor="t">
            <a:noAutofit/>
          </a:bodyPr>
          <a:lstStyle/>
          <a:p>
            <a:pPr algn="l">
              <a:lnSpc>
                <a:spcPts val="2413"/>
              </a:lnSpc>
              <a:spcBef>
                <a:spcPts val="0"/>
              </a:spcBef>
              <a:spcAft>
                <a:spcPts val="0"/>
              </a:spcAft>
            </a:pPr>
            <a:r>
              <a:rPr sz="1900" b="1">
                <a:solidFill>
                  <a:srgbClr val="4E7892"/>
                </a:solidFill>
                <a:latin typeface="Trebuchet MS"/>
              </a:rPr>
              <a:t>Full setup blocked or too</a:t>
            </a:r>
            <a:br/>
            <a:r>
              <a:rPr sz="1900" b="1">
                <a:solidFill>
                  <a:srgbClr val="4E7892"/>
                </a:solidFill>
                <a:latin typeface="Trebuchet MS"/>
              </a:rPr>
              <a:t>expensive; mechanism isolatable</a:t>
            </a:r>
          </a:p>
        </p:txBody>
      </p:sp>
      <p:sp>
        <p:nvSpPr>
          <p:cNvPr id="22" name="body: Controlled mechanism / behavior study"/>
          <p:cNvSpPr txBox="1"/>
          <p:nvPr/>
        </p:nvSpPr>
        <p:spPr>
          <a:xfrm>
            <a:off x="5074920" y="3529393"/>
            <a:ext cx="3474720"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Controlled mechanism /</a:t>
            </a:r>
            <a:br/>
            <a:r>
              <a:rPr sz="1900" b="0">
                <a:solidFill>
                  <a:srgbClr val="293E46"/>
                </a:solidFill>
                <a:latin typeface="Trebuchet MS"/>
              </a:rPr>
              <a:t>behavior study</a:t>
            </a:r>
          </a:p>
        </p:txBody>
      </p:sp>
      <p:sp>
        <p:nvSpPr>
          <p:cNvPr id="23" name="body: Explicitly reconstructed cases; separate scripted effects from a"/>
          <p:cNvSpPr txBox="1"/>
          <p:nvPr/>
        </p:nvSpPr>
        <p:spPr>
          <a:xfrm>
            <a:off x="8823960" y="3529393"/>
            <a:ext cx="5029200"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Explicitly reconstructed cases; separate</a:t>
            </a:r>
            <a:br/>
            <a:r>
              <a:rPr sz="1900" b="0">
                <a:solidFill>
                  <a:srgbClr val="293E46"/>
                </a:solidFill>
                <a:latin typeface="Trebuchet MS"/>
              </a:rPr>
              <a:t>scripted effects from actor behavior.</a:t>
            </a:r>
          </a:p>
        </p:txBody>
      </p:sp>
      <p:sp>
        <p:nvSpPr>
          <p:cNvPr id="24" name="Rounded Rectangle 23"/>
          <p:cNvSpPr/>
          <p:nvPr/>
        </p:nvSpPr>
        <p:spPr>
          <a:xfrm>
            <a:off x="640080" y="4388154"/>
            <a:ext cx="13350240" cy="917168"/>
          </a:xfrm>
          <a:prstGeom prst="roundRect">
            <a:avLst>
              <a:gd name="adj" fmla="val 18000"/>
            </a:avLst>
          </a:prstGeom>
          <a:solidFill>
            <a:srgbClr val="F0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 Only actions / traces and usable state or labels"/>
          <p:cNvSpPr txBox="1"/>
          <p:nvPr/>
        </p:nvSpPr>
        <p:spPr>
          <a:xfrm>
            <a:off x="777240" y="4505998"/>
            <a:ext cx="4023360" cy="681481"/>
          </a:xfrm>
          <a:prstGeom prst="rect">
            <a:avLst/>
          </a:prstGeom>
          <a:noFill/>
        </p:spPr>
        <p:txBody>
          <a:bodyPr wrap="none" lIns="0" rIns="0" tIns="0" bIns="0" anchor="t">
            <a:noAutofit/>
          </a:bodyPr>
          <a:lstStyle/>
          <a:p>
            <a:pPr algn="l">
              <a:lnSpc>
                <a:spcPts val="2413"/>
              </a:lnSpc>
              <a:spcBef>
                <a:spcPts val="0"/>
              </a:spcBef>
              <a:spcAft>
                <a:spcPts val="0"/>
              </a:spcAft>
            </a:pPr>
            <a:r>
              <a:rPr sz="1900" b="1">
                <a:solidFill>
                  <a:srgbClr val="4E7892"/>
                </a:solidFill>
                <a:latin typeface="Trebuchet MS"/>
              </a:rPr>
              <a:t>Only actions / traces and usable</a:t>
            </a:r>
            <a:br/>
            <a:r>
              <a:rPr sz="1900" b="1">
                <a:solidFill>
                  <a:srgbClr val="4E7892"/>
                </a:solidFill>
                <a:latin typeface="Trebuchet MS"/>
              </a:rPr>
              <a:t>state or labels</a:t>
            </a:r>
          </a:p>
        </p:txBody>
      </p:sp>
      <p:sp>
        <p:nvSpPr>
          <p:cNvPr id="26" name="body: Effect replay or offline monitor evaluation"/>
          <p:cNvSpPr txBox="1"/>
          <p:nvPr/>
        </p:nvSpPr>
        <p:spPr>
          <a:xfrm>
            <a:off x="5074920" y="4505998"/>
            <a:ext cx="3474720"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Effect replay or offline</a:t>
            </a:r>
            <a:br/>
            <a:r>
              <a:rPr sz="1900" b="0">
                <a:solidFill>
                  <a:srgbClr val="293E46"/>
                </a:solidFill>
                <a:latin typeface="Trebuchet MS"/>
              </a:rPr>
              <a:t>monitor evaluation</a:t>
            </a:r>
          </a:p>
        </p:txBody>
      </p:sp>
      <p:sp>
        <p:nvSpPr>
          <p:cNvPr id="27" name="body: Evidence for that effect or observation task, not original model"/>
          <p:cNvSpPr txBox="1"/>
          <p:nvPr/>
        </p:nvSpPr>
        <p:spPr>
          <a:xfrm>
            <a:off x="8823960" y="4505998"/>
            <a:ext cx="5029200"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Evidence for that effect or observation</a:t>
            </a:r>
            <a:br/>
            <a:r>
              <a:rPr sz="1900" b="0">
                <a:solidFill>
                  <a:srgbClr val="293E46"/>
                </a:solidFill>
                <a:latin typeface="Trebuchet MS"/>
              </a:rPr>
              <a:t>task, not original model incident rates.</a:t>
            </a:r>
          </a:p>
        </p:txBody>
      </p:sp>
      <p:sp>
        <p:nvSpPr>
          <p:cNvPr id="28" name="Rounded Rectangle 27"/>
          <p:cNvSpPr/>
          <p:nvPr/>
        </p:nvSpPr>
        <p:spPr>
          <a:xfrm>
            <a:off x="640080" y="5364759"/>
            <a:ext cx="13350240" cy="917168"/>
          </a:xfrm>
          <a:prstGeom prst="roundRect">
            <a:avLst>
              <a:gd name="adj" fmla="val 18000"/>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 Critical gaps remain; no valid reduced test"/>
          <p:cNvSpPr txBox="1"/>
          <p:nvPr/>
        </p:nvSpPr>
        <p:spPr>
          <a:xfrm>
            <a:off x="777240" y="5482602"/>
            <a:ext cx="4023360" cy="681481"/>
          </a:xfrm>
          <a:prstGeom prst="rect">
            <a:avLst/>
          </a:prstGeom>
          <a:noFill/>
        </p:spPr>
        <p:txBody>
          <a:bodyPr wrap="none" lIns="0" rIns="0" tIns="0" bIns="0" anchor="t">
            <a:noAutofit/>
          </a:bodyPr>
          <a:lstStyle/>
          <a:p>
            <a:pPr algn="l">
              <a:lnSpc>
                <a:spcPts val="2413"/>
              </a:lnSpc>
              <a:spcBef>
                <a:spcPts val="0"/>
              </a:spcBef>
              <a:spcAft>
                <a:spcPts val="0"/>
              </a:spcAft>
            </a:pPr>
            <a:r>
              <a:rPr sz="1900" b="1">
                <a:solidFill>
                  <a:srgbClr val="4E7892"/>
                </a:solidFill>
                <a:latin typeface="Trebuchet MS"/>
              </a:rPr>
              <a:t>Critical gaps remain; no valid</a:t>
            </a:r>
            <a:br/>
            <a:r>
              <a:rPr sz="1900" b="1">
                <a:solidFill>
                  <a:srgbClr val="4E7892"/>
                </a:solidFill>
                <a:latin typeface="Trebuchet MS"/>
              </a:rPr>
              <a:t>reduced test</a:t>
            </a:r>
          </a:p>
        </p:txBody>
      </p:sp>
      <p:sp>
        <p:nvSpPr>
          <p:cNvPr id="30" name="body: Defer, archive, or seek owner-run evidence"/>
          <p:cNvSpPr txBox="1"/>
          <p:nvPr/>
        </p:nvSpPr>
        <p:spPr>
          <a:xfrm>
            <a:off x="5074920" y="5482602"/>
            <a:ext cx="3474720"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Defer, archive, or seek</a:t>
            </a:r>
            <a:br/>
            <a:r>
              <a:rPr sz="1900" b="0">
                <a:solidFill>
                  <a:srgbClr val="293E46"/>
                </a:solidFill>
                <a:latin typeface="Trebuchet MS"/>
              </a:rPr>
              <a:t>owner-run evidence</a:t>
            </a:r>
          </a:p>
        </p:txBody>
      </p:sp>
      <p:sp>
        <p:nvSpPr>
          <p:cNvPr id="31" name="body: Document the blocker. Missing or unaffordable replay is not a cl"/>
          <p:cNvSpPr txBox="1"/>
          <p:nvPr/>
        </p:nvSpPr>
        <p:spPr>
          <a:xfrm>
            <a:off x="8823960" y="5482602"/>
            <a:ext cx="5029200" cy="681481"/>
          </a:xfrm>
          <a:prstGeom prst="rect">
            <a:avLst/>
          </a:prstGeom>
          <a:noFill/>
        </p:spPr>
        <p:txBody>
          <a:bodyPr wrap="none" lIns="0" rIns="0" tIns="0" bIns="0" anchor="t">
            <a:noAutofit/>
          </a:bodyPr>
          <a:lstStyle/>
          <a:p>
            <a:pPr algn="l">
              <a:lnSpc>
                <a:spcPts val="2413"/>
              </a:lnSpc>
              <a:spcBef>
                <a:spcPts val="0"/>
              </a:spcBef>
              <a:spcAft>
                <a:spcPts val="0"/>
              </a:spcAft>
            </a:pPr>
            <a:r>
              <a:rPr sz="1900" b="0">
                <a:solidFill>
                  <a:srgbClr val="293E46"/>
                </a:solidFill>
                <a:latin typeface="Trebuchet MS"/>
              </a:rPr>
              <a:t>Document the blocker. Missing or</a:t>
            </a:r>
            <a:br/>
            <a:r>
              <a:rPr sz="1900" b="0">
                <a:solidFill>
                  <a:srgbClr val="293E46"/>
                </a:solidFill>
                <a:latin typeface="Trebuchet MS"/>
              </a:rPr>
              <a:t>unaffordable replay is not a clean result.</a:t>
            </a:r>
          </a:p>
        </p:txBody>
      </p:sp>
      <p:sp>
        <p:nvSpPr>
          <p:cNvPr id="32" name="Rounded Rectangle 31"/>
          <p:cNvSpPr/>
          <p:nvPr/>
        </p:nvSpPr>
        <p:spPr>
          <a:xfrm>
            <a:off x="640080" y="6492240"/>
            <a:ext cx="13350240" cy="960120"/>
          </a:xfrm>
          <a:prstGeom prst="roundRect">
            <a:avLst>
              <a:gd name="adj" fmla="val 18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646664" y="6493429"/>
            <a:ext cx="13343016" cy="957468"/>
          </a:xfrm>
          <a:custGeom>
            <a:avLst/>
            <a:gdLst/>
            <a:ahLst/>
            <a:cxnLst/>
            <a:rect l="l" t="t" r="r" b="b"/>
            <a:pathLst>
              <a:path w="145921" h="10471">
                <a:moveTo>
                  <a:pt x="145921" y="5153"/>
                </a:moveTo>
                <a:lnTo>
                  <a:pt x="145701" y="6752"/>
                </a:lnTo>
                <a:lnTo>
                  <a:pt x="145601" y="7273"/>
                </a:lnTo>
                <a:lnTo>
                  <a:pt x="145558" y="7746"/>
                </a:lnTo>
                <a:lnTo>
                  <a:pt x="145076" y="8037"/>
                </a:lnTo>
                <a:lnTo>
                  <a:pt x="144775" y="8300"/>
                </a:lnTo>
                <a:lnTo>
                  <a:pt x="144468" y="8545"/>
                </a:lnTo>
                <a:lnTo>
                  <a:pt x="143785" y="8589"/>
                </a:lnTo>
                <a:lnTo>
                  <a:pt x="143285" y="8770"/>
                </a:lnTo>
                <a:lnTo>
                  <a:pt x="142469" y="9096"/>
                </a:lnTo>
                <a:lnTo>
                  <a:pt x="141827" y="9160"/>
                </a:lnTo>
                <a:lnTo>
                  <a:pt x="140913" y="9209"/>
                </a:lnTo>
                <a:lnTo>
                  <a:pt x="139882" y="9439"/>
                </a:lnTo>
                <a:lnTo>
                  <a:pt x="138924" y="9520"/>
                </a:lnTo>
                <a:lnTo>
                  <a:pt x="137599" y="9560"/>
                </a:lnTo>
                <a:lnTo>
                  <a:pt x="136457" y="9669"/>
                </a:lnTo>
                <a:lnTo>
                  <a:pt x="134883" y="9888"/>
                </a:lnTo>
                <a:lnTo>
                  <a:pt x="133447" y="9936"/>
                </a:lnTo>
                <a:lnTo>
                  <a:pt x="131821" y="9841"/>
                </a:lnTo>
                <a:lnTo>
                  <a:pt x="130211" y="10125"/>
                </a:lnTo>
                <a:lnTo>
                  <a:pt x="128154" y="10060"/>
                </a:lnTo>
                <a:lnTo>
                  <a:pt x="126185" y="10095"/>
                </a:lnTo>
                <a:lnTo>
                  <a:pt x="123691" y="10145"/>
                </a:lnTo>
                <a:lnTo>
                  <a:pt x="121267" y="10129"/>
                </a:lnTo>
                <a:lnTo>
                  <a:pt x="118388" y="10337"/>
                </a:lnTo>
                <a:lnTo>
                  <a:pt x="115432" y="10414"/>
                </a:lnTo>
                <a:lnTo>
                  <a:pt x="111796" y="10216"/>
                </a:lnTo>
                <a:lnTo>
                  <a:pt x="107502" y="10456"/>
                </a:lnTo>
                <a:lnTo>
                  <a:pt x="102546" y="10399"/>
                </a:lnTo>
                <a:lnTo>
                  <a:pt x="95276" y="10467"/>
                </a:lnTo>
                <a:lnTo>
                  <a:pt x="72857" y="10471"/>
                </a:lnTo>
                <a:lnTo>
                  <a:pt x="50615" y="10451"/>
                </a:lnTo>
                <a:lnTo>
                  <a:pt x="43365" y="10387"/>
                </a:lnTo>
                <a:lnTo>
                  <a:pt x="38232" y="10403"/>
                </a:lnTo>
                <a:lnTo>
                  <a:pt x="34091" y="10267"/>
                </a:lnTo>
                <a:lnTo>
                  <a:pt x="30598" y="10370"/>
                </a:lnTo>
                <a:lnTo>
                  <a:pt x="27386" y="10377"/>
                </a:lnTo>
                <a:lnTo>
                  <a:pt x="24572" y="10313"/>
                </a:lnTo>
                <a:lnTo>
                  <a:pt x="22056" y="10207"/>
                </a:lnTo>
                <a:lnTo>
                  <a:pt x="19692" y="10050"/>
                </a:lnTo>
                <a:lnTo>
                  <a:pt x="17650" y="10108"/>
                </a:lnTo>
                <a:lnTo>
                  <a:pt x="15891" y="9961"/>
                </a:lnTo>
                <a:lnTo>
                  <a:pt x="13899" y="9933"/>
                </a:lnTo>
                <a:lnTo>
                  <a:pt x="12331" y="9927"/>
                </a:lnTo>
                <a:lnTo>
                  <a:pt x="10919" y="9846"/>
                </a:lnTo>
                <a:lnTo>
                  <a:pt x="9546" y="9718"/>
                </a:lnTo>
                <a:lnTo>
                  <a:pt x="8232" y="9611"/>
                </a:lnTo>
                <a:lnTo>
                  <a:pt x="7112" y="9422"/>
                </a:lnTo>
                <a:lnTo>
                  <a:pt x="6077" y="9337"/>
                </a:lnTo>
                <a:lnTo>
                  <a:pt x="5030" y="9312"/>
                </a:lnTo>
                <a:lnTo>
                  <a:pt x="4062" y="9036"/>
                </a:lnTo>
                <a:lnTo>
                  <a:pt x="3416" y="9090"/>
                </a:lnTo>
                <a:lnTo>
                  <a:pt x="2518" y="8918"/>
                </a:lnTo>
                <a:lnTo>
                  <a:pt x="1981" y="8751"/>
                </a:lnTo>
                <a:lnTo>
                  <a:pt x="1415" y="8435"/>
                </a:lnTo>
                <a:lnTo>
                  <a:pt x="1172" y="8211"/>
                </a:lnTo>
                <a:lnTo>
                  <a:pt x="792" y="8042"/>
                </a:lnTo>
                <a:lnTo>
                  <a:pt x="490" y="7633"/>
                </a:lnTo>
                <a:lnTo>
                  <a:pt x="257" y="7416"/>
                </a:lnTo>
                <a:lnTo>
                  <a:pt x="79" y="6754"/>
                </a:lnTo>
                <a:lnTo>
                  <a:pt x="0" y="5312"/>
                </a:lnTo>
                <a:lnTo>
                  <a:pt x="178" y="3595"/>
                </a:lnTo>
                <a:lnTo>
                  <a:pt x="293" y="3132"/>
                </a:lnTo>
                <a:lnTo>
                  <a:pt x="415" y="2842"/>
                </a:lnTo>
                <a:lnTo>
                  <a:pt x="713" y="2425"/>
                </a:lnTo>
                <a:lnTo>
                  <a:pt x="932" y="2181"/>
                </a:lnTo>
                <a:lnTo>
                  <a:pt x="1386" y="1968"/>
                </a:lnTo>
                <a:lnTo>
                  <a:pt x="1982" y="1746"/>
                </a:lnTo>
                <a:lnTo>
                  <a:pt x="2538" y="1724"/>
                </a:lnTo>
                <a:lnTo>
                  <a:pt x="3431" y="1501"/>
                </a:lnTo>
                <a:lnTo>
                  <a:pt x="4215" y="1404"/>
                </a:lnTo>
                <a:lnTo>
                  <a:pt x="5023" y="1097"/>
                </a:lnTo>
                <a:lnTo>
                  <a:pt x="5949" y="1154"/>
                </a:lnTo>
                <a:lnTo>
                  <a:pt x="7022" y="934"/>
                </a:lnTo>
                <a:lnTo>
                  <a:pt x="8173" y="819"/>
                </a:lnTo>
                <a:lnTo>
                  <a:pt x="9552" y="721"/>
                </a:lnTo>
                <a:lnTo>
                  <a:pt x="10928" y="584"/>
                </a:lnTo>
                <a:lnTo>
                  <a:pt x="12394" y="617"/>
                </a:lnTo>
                <a:lnTo>
                  <a:pt x="14034" y="552"/>
                </a:lnTo>
                <a:lnTo>
                  <a:pt x="15669" y="507"/>
                </a:lnTo>
                <a:lnTo>
                  <a:pt x="17781" y="406"/>
                </a:lnTo>
                <a:lnTo>
                  <a:pt x="19797" y="240"/>
                </a:lnTo>
                <a:lnTo>
                  <a:pt x="21949" y="321"/>
                </a:lnTo>
                <a:lnTo>
                  <a:pt x="24592" y="337"/>
                </a:lnTo>
                <a:lnTo>
                  <a:pt x="27447" y="182"/>
                </a:lnTo>
                <a:lnTo>
                  <a:pt x="30510" y="194"/>
                </a:lnTo>
                <a:lnTo>
                  <a:pt x="33987" y="216"/>
                </a:lnTo>
                <a:lnTo>
                  <a:pt x="38302" y="123"/>
                </a:lnTo>
                <a:lnTo>
                  <a:pt x="43512" y="0"/>
                </a:lnTo>
                <a:lnTo>
                  <a:pt x="50414" y="115"/>
                </a:lnTo>
                <a:lnTo>
                  <a:pt x="72873" y="138"/>
                </a:lnTo>
                <a:lnTo>
                  <a:pt x="95266" y="124"/>
                </a:lnTo>
                <a:lnTo>
                  <a:pt x="102515" y="187"/>
                </a:lnTo>
                <a:lnTo>
                  <a:pt x="107628" y="121"/>
                </a:lnTo>
                <a:lnTo>
                  <a:pt x="111841" y="185"/>
                </a:lnTo>
                <a:lnTo>
                  <a:pt x="115289" y="266"/>
                </a:lnTo>
                <a:lnTo>
                  <a:pt x="118605" y="302"/>
                </a:lnTo>
                <a:lnTo>
                  <a:pt x="121206" y="315"/>
                </a:lnTo>
                <a:lnTo>
                  <a:pt x="123828" y="340"/>
                </a:lnTo>
                <a:lnTo>
                  <a:pt x="126028" y="396"/>
                </a:lnTo>
                <a:lnTo>
                  <a:pt x="128099" y="300"/>
                </a:lnTo>
                <a:lnTo>
                  <a:pt x="129988" y="435"/>
                </a:lnTo>
                <a:lnTo>
                  <a:pt x="131908" y="440"/>
                </a:lnTo>
                <a:lnTo>
                  <a:pt x="133480" y="661"/>
                </a:lnTo>
                <a:lnTo>
                  <a:pt x="134984" y="696"/>
                </a:lnTo>
                <a:lnTo>
                  <a:pt x="136456" y="747"/>
                </a:lnTo>
                <a:lnTo>
                  <a:pt x="137621" y="787"/>
                </a:lnTo>
                <a:lnTo>
                  <a:pt x="138696" y="1011"/>
                </a:lnTo>
                <a:lnTo>
                  <a:pt x="139989" y="1060"/>
                </a:lnTo>
                <a:lnTo>
                  <a:pt x="140973" y="1294"/>
                </a:lnTo>
                <a:lnTo>
                  <a:pt x="141845" y="1381"/>
                </a:lnTo>
                <a:lnTo>
                  <a:pt x="142508" y="1508"/>
                </a:lnTo>
                <a:lnTo>
                  <a:pt x="143345" y="1640"/>
                </a:lnTo>
                <a:lnTo>
                  <a:pt x="143786" y="1889"/>
                </a:lnTo>
                <a:lnTo>
                  <a:pt x="144386" y="2046"/>
                </a:lnTo>
                <a:lnTo>
                  <a:pt x="144850" y="2249"/>
                </a:lnTo>
                <a:lnTo>
                  <a:pt x="145071" y="2381"/>
                </a:lnTo>
                <a:lnTo>
                  <a:pt x="145408" y="2816"/>
                </a:lnTo>
                <a:lnTo>
                  <a:pt x="145717" y="3158"/>
                </a:lnTo>
                <a:lnTo>
                  <a:pt x="145782" y="3623"/>
                </a:lnTo>
                <a:lnTo>
                  <a:pt x="145917" y="5126"/>
                </a:lnTo>
                <a:close/>
              </a:path>
            </a:pathLst>
          </a:custGeom>
          <a:noFill/>
          <a:ln w="19685" cap="rnd">
            <a:solidFill>
              <a:srgbClr val="4E7892">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642732" y="6495806"/>
            <a:ext cx="13347588" cy="954816"/>
          </a:xfrm>
          <a:custGeom>
            <a:avLst/>
            <a:gdLst/>
            <a:ahLst/>
            <a:cxnLst/>
            <a:rect l="l" t="t" r="r" b="b"/>
            <a:pathLst>
              <a:path w="145971" h="10442">
                <a:moveTo>
                  <a:pt x="145833" y="5151"/>
                </a:moveTo>
                <a:lnTo>
                  <a:pt x="145857" y="6888"/>
                </a:lnTo>
                <a:lnTo>
                  <a:pt x="145797" y="7393"/>
                </a:lnTo>
                <a:lnTo>
                  <a:pt x="145384" y="7720"/>
                </a:lnTo>
                <a:lnTo>
                  <a:pt x="145208" y="8039"/>
                </a:lnTo>
                <a:lnTo>
                  <a:pt x="144870" y="8259"/>
                </a:lnTo>
                <a:lnTo>
                  <a:pt x="144510" y="8361"/>
                </a:lnTo>
                <a:lnTo>
                  <a:pt x="143789" y="8721"/>
                </a:lnTo>
                <a:lnTo>
                  <a:pt x="143258" y="8865"/>
                </a:lnTo>
                <a:lnTo>
                  <a:pt x="142662" y="8897"/>
                </a:lnTo>
                <a:lnTo>
                  <a:pt x="141813" y="9051"/>
                </a:lnTo>
                <a:lnTo>
                  <a:pt x="140880" y="9124"/>
                </a:lnTo>
                <a:lnTo>
                  <a:pt x="139927" y="9402"/>
                </a:lnTo>
                <a:lnTo>
                  <a:pt x="138792" y="9552"/>
                </a:lnTo>
                <a:lnTo>
                  <a:pt x="137768" y="9576"/>
                </a:lnTo>
                <a:lnTo>
                  <a:pt x="136435" y="9640"/>
                </a:lnTo>
                <a:lnTo>
                  <a:pt x="135004" y="9705"/>
                </a:lnTo>
                <a:lnTo>
                  <a:pt x="133457" y="9771"/>
                </a:lnTo>
                <a:lnTo>
                  <a:pt x="131983" y="9960"/>
                </a:lnTo>
                <a:lnTo>
                  <a:pt x="130157" y="9941"/>
                </a:lnTo>
                <a:lnTo>
                  <a:pt x="128254" y="9973"/>
                </a:lnTo>
                <a:lnTo>
                  <a:pt x="126051" y="10093"/>
                </a:lnTo>
                <a:lnTo>
                  <a:pt x="123947" y="10173"/>
                </a:lnTo>
                <a:lnTo>
                  <a:pt x="121391" y="10207"/>
                </a:lnTo>
                <a:lnTo>
                  <a:pt x="118404" y="10234"/>
                </a:lnTo>
                <a:lnTo>
                  <a:pt x="115475" y="10181"/>
                </a:lnTo>
                <a:lnTo>
                  <a:pt x="111735" y="10381"/>
                </a:lnTo>
                <a:lnTo>
                  <a:pt x="107721" y="10391"/>
                </a:lnTo>
                <a:lnTo>
                  <a:pt x="102558" y="10227"/>
                </a:lnTo>
                <a:lnTo>
                  <a:pt x="95397" y="10237"/>
                </a:lnTo>
                <a:lnTo>
                  <a:pt x="72964" y="10275"/>
                </a:lnTo>
                <a:lnTo>
                  <a:pt x="50567" y="10416"/>
                </a:lnTo>
                <a:lnTo>
                  <a:pt x="43509" y="10442"/>
                </a:lnTo>
                <a:lnTo>
                  <a:pt x="38319" y="10292"/>
                </a:lnTo>
                <a:lnTo>
                  <a:pt x="34106" y="10399"/>
                </a:lnTo>
                <a:lnTo>
                  <a:pt x="30407" y="10219"/>
                </a:lnTo>
                <a:lnTo>
                  <a:pt x="27470" y="10241"/>
                </a:lnTo>
                <a:lnTo>
                  <a:pt x="24518" y="10143"/>
                </a:lnTo>
                <a:lnTo>
                  <a:pt x="22056" y="10181"/>
                </a:lnTo>
                <a:lnTo>
                  <a:pt x="19876" y="10030"/>
                </a:lnTo>
                <a:lnTo>
                  <a:pt x="17741" y="10014"/>
                </a:lnTo>
                <a:lnTo>
                  <a:pt x="15777" y="9991"/>
                </a:lnTo>
                <a:lnTo>
                  <a:pt x="14011" y="9996"/>
                </a:lnTo>
                <a:lnTo>
                  <a:pt x="12519" y="9928"/>
                </a:lnTo>
                <a:lnTo>
                  <a:pt x="10929" y="9821"/>
                </a:lnTo>
                <a:lnTo>
                  <a:pt x="9410" y="9721"/>
                </a:lnTo>
                <a:lnTo>
                  <a:pt x="8277" y="9633"/>
                </a:lnTo>
                <a:lnTo>
                  <a:pt x="7006" y="9386"/>
                </a:lnTo>
                <a:lnTo>
                  <a:pt x="5957" y="9443"/>
                </a:lnTo>
                <a:lnTo>
                  <a:pt x="5074" y="9258"/>
                </a:lnTo>
                <a:lnTo>
                  <a:pt x="4291" y="9072"/>
                </a:lnTo>
                <a:lnTo>
                  <a:pt x="3358" y="8854"/>
                </a:lnTo>
                <a:lnTo>
                  <a:pt x="2589" y="8886"/>
                </a:lnTo>
                <a:lnTo>
                  <a:pt x="1942" y="8496"/>
                </a:lnTo>
                <a:lnTo>
                  <a:pt x="1649" y="8532"/>
                </a:lnTo>
                <a:lnTo>
                  <a:pt x="969" y="8102"/>
                </a:lnTo>
                <a:lnTo>
                  <a:pt x="709" y="7916"/>
                </a:lnTo>
                <a:lnTo>
                  <a:pt x="416" y="7644"/>
                </a:lnTo>
                <a:lnTo>
                  <a:pt x="239" y="7390"/>
                </a:lnTo>
                <a:lnTo>
                  <a:pt x="158" y="6673"/>
                </a:lnTo>
                <a:lnTo>
                  <a:pt x="0" y="5197"/>
                </a:lnTo>
                <a:lnTo>
                  <a:pt x="44" y="3547"/>
                </a:lnTo>
                <a:lnTo>
                  <a:pt x="139" y="3122"/>
                </a:lnTo>
                <a:lnTo>
                  <a:pt x="399" y="2825"/>
                </a:lnTo>
                <a:lnTo>
                  <a:pt x="747" y="2440"/>
                </a:lnTo>
                <a:lnTo>
                  <a:pt x="982" y="2178"/>
                </a:lnTo>
                <a:lnTo>
                  <a:pt x="1577" y="1894"/>
                </a:lnTo>
                <a:lnTo>
                  <a:pt x="2149" y="1897"/>
                </a:lnTo>
                <a:lnTo>
                  <a:pt x="2677" y="1594"/>
                </a:lnTo>
                <a:lnTo>
                  <a:pt x="3495" y="1451"/>
                </a:lnTo>
                <a:lnTo>
                  <a:pt x="4168" y="1366"/>
                </a:lnTo>
                <a:lnTo>
                  <a:pt x="5154" y="1107"/>
                </a:lnTo>
                <a:lnTo>
                  <a:pt x="5942" y="1111"/>
                </a:lnTo>
                <a:lnTo>
                  <a:pt x="7099" y="898"/>
                </a:lnTo>
                <a:lnTo>
                  <a:pt x="8343" y="920"/>
                </a:lnTo>
                <a:lnTo>
                  <a:pt x="9415" y="784"/>
                </a:lnTo>
                <a:lnTo>
                  <a:pt x="10814" y="754"/>
                </a:lnTo>
                <a:lnTo>
                  <a:pt x="12463" y="535"/>
                </a:lnTo>
                <a:lnTo>
                  <a:pt x="13957" y="383"/>
                </a:lnTo>
                <a:lnTo>
                  <a:pt x="15747" y="427"/>
                </a:lnTo>
                <a:lnTo>
                  <a:pt x="17802" y="396"/>
                </a:lnTo>
                <a:lnTo>
                  <a:pt x="19928" y="342"/>
                </a:lnTo>
                <a:lnTo>
                  <a:pt x="22177" y="325"/>
                </a:lnTo>
                <a:lnTo>
                  <a:pt x="24701" y="280"/>
                </a:lnTo>
                <a:lnTo>
                  <a:pt x="27483" y="198"/>
                </a:lnTo>
                <a:lnTo>
                  <a:pt x="30645" y="133"/>
                </a:lnTo>
                <a:lnTo>
                  <a:pt x="34141" y="78"/>
                </a:lnTo>
                <a:lnTo>
                  <a:pt x="38335" y="64"/>
                </a:lnTo>
                <a:lnTo>
                  <a:pt x="43456" y="40"/>
                </a:lnTo>
                <a:lnTo>
                  <a:pt x="50505" y="106"/>
                </a:lnTo>
                <a:lnTo>
                  <a:pt x="72861" y="94"/>
                </a:lnTo>
                <a:lnTo>
                  <a:pt x="95414" y="101"/>
                </a:lnTo>
                <a:lnTo>
                  <a:pt x="102524" y="36"/>
                </a:lnTo>
                <a:lnTo>
                  <a:pt x="107664" y="0"/>
                </a:lnTo>
                <a:lnTo>
                  <a:pt x="111811" y="19"/>
                </a:lnTo>
                <a:lnTo>
                  <a:pt x="115500" y="234"/>
                </a:lnTo>
                <a:lnTo>
                  <a:pt x="118659" y="237"/>
                </a:lnTo>
                <a:lnTo>
                  <a:pt x="121354" y="100"/>
                </a:lnTo>
                <a:lnTo>
                  <a:pt x="123810" y="336"/>
                </a:lnTo>
                <a:lnTo>
                  <a:pt x="126013" y="193"/>
                </a:lnTo>
                <a:lnTo>
                  <a:pt x="128236" y="315"/>
                </a:lnTo>
                <a:lnTo>
                  <a:pt x="130195" y="371"/>
                </a:lnTo>
                <a:lnTo>
                  <a:pt x="131994" y="413"/>
                </a:lnTo>
                <a:lnTo>
                  <a:pt x="133578" y="627"/>
                </a:lnTo>
                <a:lnTo>
                  <a:pt x="135107" y="753"/>
                </a:lnTo>
                <a:lnTo>
                  <a:pt x="136308" y="636"/>
                </a:lnTo>
                <a:lnTo>
                  <a:pt x="137702" y="769"/>
                </a:lnTo>
                <a:lnTo>
                  <a:pt x="138777" y="854"/>
                </a:lnTo>
                <a:lnTo>
                  <a:pt x="139942" y="1104"/>
                </a:lnTo>
                <a:lnTo>
                  <a:pt x="140863" y="1248"/>
                </a:lnTo>
                <a:lnTo>
                  <a:pt x="141814" y="1368"/>
                </a:lnTo>
                <a:lnTo>
                  <a:pt x="142483" y="1445"/>
                </a:lnTo>
                <a:lnTo>
                  <a:pt x="143327" y="1597"/>
                </a:lnTo>
                <a:lnTo>
                  <a:pt x="143758" y="1885"/>
                </a:lnTo>
                <a:lnTo>
                  <a:pt x="144316" y="2054"/>
                </a:lnTo>
                <a:lnTo>
                  <a:pt x="144772" y="2104"/>
                </a:lnTo>
                <a:lnTo>
                  <a:pt x="145332" y="2550"/>
                </a:lnTo>
                <a:lnTo>
                  <a:pt x="145365" y="2803"/>
                </a:lnTo>
                <a:lnTo>
                  <a:pt x="145576" y="3138"/>
                </a:lnTo>
                <a:lnTo>
                  <a:pt x="145818" y="3526"/>
                </a:lnTo>
                <a:lnTo>
                  <a:pt x="145971" y="5303"/>
                </a:lnTo>
                <a:close/>
              </a:path>
            </a:pathLst>
          </a:custGeom>
          <a:noFill/>
          <a:ln w="7620" cap="rnd">
            <a:solidFill>
              <a:srgbClr val="4E7892">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13742609" y="7222571"/>
            <a:ext cx="178125" cy="77084"/>
          </a:xfrm>
          <a:custGeom>
            <a:avLst/>
            <a:gdLst/>
            <a:ahLst/>
            <a:cxnLst/>
            <a:rect l="l" t="t" r="r" b="b"/>
            <a:pathLst>
              <a:path w="1948" h="843">
                <a:moveTo>
                  <a:pt x="1948" y="0"/>
                </a:moveTo>
                <a:lnTo>
                  <a:pt x="1585" y="251"/>
                </a:lnTo>
                <a:lnTo>
                  <a:pt x="1141" y="470"/>
                </a:lnTo>
                <a:lnTo>
                  <a:pt x="613" y="666"/>
                </a:lnTo>
                <a:lnTo>
                  <a:pt x="0" y="843"/>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11735775" y="7409475"/>
            <a:ext cx="805678" cy="19202"/>
          </a:xfrm>
          <a:custGeom>
            <a:avLst/>
            <a:gdLst/>
            <a:ahLst/>
            <a:cxnLst/>
            <a:rect l="l" t="t" r="r" b="b"/>
            <a:pathLst>
              <a:path w="8811" h="210">
                <a:moveTo>
                  <a:pt x="8811" y="0"/>
                </a:moveTo>
                <a:lnTo>
                  <a:pt x="6889" y="62"/>
                </a:lnTo>
                <a:lnTo>
                  <a:pt x="4797" y="118"/>
                </a:lnTo>
                <a:lnTo>
                  <a:pt x="2511" y="167"/>
                </a:lnTo>
                <a:lnTo>
                  <a:pt x="0" y="21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665019" y="7424745"/>
            <a:ext cx="1094720" cy="12527"/>
          </a:xfrm>
          <a:custGeom>
            <a:avLst/>
            <a:gdLst/>
            <a:ahLst/>
            <a:cxnLst/>
            <a:rect l="l" t="t" r="r" b="b"/>
            <a:pathLst>
              <a:path w="11972" h="137">
                <a:moveTo>
                  <a:pt x="11972" y="137"/>
                </a:moveTo>
                <a:lnTo>
                  <a:pt x="8412" y="111"/>
                </a:lnTo>
                <a:lnTo>
                  <a:pt x="5293" y="80"/>
                </a:lnTo>
                <a:lnTo>
                  <a:pt x="2511" y="43"/>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831738" y="7283470"/>
            <a:ext cx="272217" cy="56693"/>
          </a:xfrm>
          <a:custGeom>
            <a:avLst/>
            <a:gdLst/>
            <a:ahLst/>
            <a:cxnLst/>
            <a:rect l="l" t="t" r="r" b="b"/>
            <a:pathLst>
              <a:path w="2977" h="620">
                <a:moveTo>
                  <a:pt x="2977" y="620"/>
                </a:moveTo>
                <a:lnTo>
                  <a:pt x="2099" y="485"/>
                </a:lnTo>
                <a:lnTo>
                  <a:pt x="1312" y="338"/>
                </a:lnTo>
                <a:lnTo>
                  <a:pt x="613" y="177"/>
                </a:lnTo>
                <a:lnTo>
                  <a:pt x="0"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709666" y="6644945"/>
            <a:ext cx="178125" cy="77084"/>
          </a:xfrm>
          <a:custGeom>
            <a:avLst/>
            <a:gdLst/>
            <a:ahLst/>
            <a:cxnLst/>
            <a:rect l="l" t="t" r="r" b="b"/>
            <a:pathLst>
              <a:path w="1948" h="843">
                <a:moveTo>
                  <a:pt x="0" y="843"/>
                </a:moveTo>
                <a:lnTo>
                  <a:pt x="363" y="592"/>
                </a:lnTo>
                <a:lnTo>
                  <a:pt x="807" y="373"/>
                </a:lnTo>
                <a:lnTo>
                  <a:pt x="1335" y="177"/>
                </a:lnTo>
                <a:lnTo>
                  <a:pt x="1948"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088947" y="6515923"/>
            <a:ext cx="805678" cy="19202"/>
          </a:xfrm>
          <a:custGeom>
            <a:avLst/>
            <a:gdLst/>
            <a:ahLst/>
            <a:cxnLst/>
            <a:rect l="l" t="t" r="r" b="b"/>
            <a:pathLst>
              <a:path w="8811" h="210">
                <a:moveTo>
                  <a:pt x="0" y="210"/>
                </a:moveTo>
                <a:lnTo>
                  <a:pt x="1922" y="148"/>
                </a:lnTo>
                <a:lnTo>
                  <a:pt x="4014" y="92"/>
                </a:lnTo>
                <a:lnTo>
                  <a:pt x="6300" y="43"/>
                </a:lnTo>
                <a:lnTo>
                  <a:pt x="8811" y="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10870662" y="6507328"/>
            <a:ext cx="1094720" cy="12527"/>
          </a:xfrm>
          <a:custGeom>
            <a:avLst/>
            <a:gdLst/>
            <a:ahLst/>
            <a:cxnLst/>
            <a:rect l="l" t="t" r="r" b="b"/>
            <a:pathLst>
              <a:path w="11972" h="137">
                <a:moveTo>
                  <a:pt x="0" y="0"/>
                </a:moveTo>
                <a:lnTo>
                  <a:pt x="3560" y="26"/>
                </a:lnTo>
                <a:lnTo>
                  <a:pt x="6679" y="57"/>
                </a:lnTo>
                <a:lnTo>
                  <a:pt x="9461" y="94"/>
                </a:lnTo>
                <a:lnTo>
                  <a:pt x="11972" y="137"/>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13526445" y="6604437"/>
            <a:ext cx="272217" cy="56693"/>
          </a:xfrm>
          <a:custGeom>
            <a:avLst/>
            <a:gdLst/>
            <a:ahLst/>
            <a:cxnLst/>
            <a:rect l="l" t="t" r="r" b="b"/>
            <a:pathLst>
              <a:path w="2977" h="620">
                <a:moveTo>
                  <a:pt x="0" y="0"/>
                </a:moveTo>
                <a:lnTo>
                  <a:pt x="878" y="135"/>
                </a:lnTo>
                <a:lnTo>
                  <a:pt x="1665" y="282"/>
                </a:lnTo>
                <a:lnTo>
                  <a:pt x="2364" y="443"/>
                </a:lnTo>
                <a:lnTo>
                  <a:pt x="2977" y="620"/>
                </a:lnTo>
              </a:path>
            </a:pathLst>
          </a:custGeom>
          <a:noFill/>
          <a:ln w="27940" cap="rnd">
            <a:solidFill>
              <a:srgbClr val="4E7892">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ody: Record evidence grade, replay mode, fidelity, missing dependenci"/>
          <p:cNvSpPr txBox="1"/>
          <p:nvPr/>
        </p:nvSpPr>
        <p:spPr>
          <a:xfrm>
            <a:off x="914400" y="6631559"/>
            <a:ext cx="12801600" cy="681481"/>
          </a:xfrm>
          <a:prstGeom prst="rect">
            <a:avLst/>
          </a:prstGeom>
          <a:noFill/>
        </p:spPr>
        <p:txBody>
          <a:bodyPr wrap="none" lIns="0" rIns="0" tIns="0" bIns="0" anchor="t">
            <a:noAutofit/>
          </a:bodyPr>
          <a:lstStyle/>
          <a:p>
            <a:pPr algn="ctr">
              <a:lnSpc>
                <a:spcPts val="2413"/>
              </a:lnSpc>
              <a:spcBef>
                <a:spcPts val="0"/>
              </a:spcBef>
              <a:spcAft>
                <a:spcPts val="0"/>
              </a:spcAft>
            </a:pPr>
            <a:r>
              <a:rPr sz="1900" b="0">
                <a:solidFill>
                  <a:srgbClr val="293E46"/>
                </a:solidFill>
                <a:latin typeface="Trebuchet MS"/>
              </a:rPr>
              <a:t>Record evidence grade, replay mode, fidelity, missing dependencies and actual cost. Report qualified coverage</a:t>
            </a:r>
            <a:br/>
            <a:r>
              <a:rPr sz="1900" b="0">
                <a:solidFill>
                  <a:srgbClr val="293E46"/>
                </a:solidFill>
                <a:latin typeface="Trebuchet MS"/>
              </a:rPr>
              <a:t>and excluded cases; easy-to-replay cases can bias the library.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SUMMARY"/>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SUMMARY</a:t>
            </a:r>
          </a:p>
        </p:txBody>
      </p:sp>
      <p:sp>
        <p:nvSpPr>
          <p:cNvPr id="3" name="title: Summary"/>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Summary</a:t>
            </a:r>
          </a:p>
        </p:txBody>
      </p:sp>
      <p:sp>
        <p:nvSpPr>
          <p:cNvPr id="4" name="Freeform 3"/>
          <p:cNvSpPr/>
          <p:nvPr/>
        </p:nvSpPr>
        <p:spPr>
          <a:xfrm>
            <a:off x="6263640" y="1361907"/>
            <a:ext cx="2103120" cy="37125"/>
          </a:xfrm>
          <a:custGeom>
            <a:avLst/>
            <a:gdLst/>
            <a:ahLst/>
            <a:cxnLst/>
            <a:rect l="l" t="t" r="r" b="b"/>
            <a:pathLst>
              <a:path w="23000" h="406">
                <a:moveTo>
                  <a:pt x="0" y="140"/>
                </a:moveTo>
                <a:lnTo>
                  <a:pt x="958" y="341"/>
                </a:lnTo>
                <a:lnTo>
                  <a:pt x="1917" y="376"/>
                </a:lnTo>
                <a:lnTo>
                  <a:pt x="2875" y="392"/>
                </a:lnTo>
                <a:lnTo>
                  <a:pt x="3833" y="251"/>
                </a:lnTo>
                <a:lnTo>
                  <a:pt x="4792" y="110"/>
                </a:lnTo>
                <a:lnTo>
                  <a:pt x="5750" y="0"/>
                </a:lnTo>
                <a:lnTo>
                  <a:pt x="6708" y="98"/>
                </a:lnTo>
                <a:lnTo>
                  <a:pt x="7667" y="148"/>
                </a:lnTo>
                <a:lnTo>
                  <a:pt x="8625" y="307"/>
                </a:lnTo>
                <a:lnTo>
                  <a:pt x="9583" y="325"/>
                </a:lnTo>
                <a:lnTo>
                  <a:pt x="10542" y="375"/>
                </a:lnTo>
                <a:lnTo>
                  <a:pt x="11500" y="231"/>
                </a:lnTo>
                <a:lnTo>
                  <a:pt x="12458" y="17"/>
                </a:lnTo>
                <a:lnTo>
                  <a:pt x="13417" y="80"/>
                </a:lnTo>
                <a:lnTo>
                  <a:pt x="14375" y="102"/>
                </a:lnTo>
                <a:lnTo>
                  <a:pt x="15333" y="191"/>
                </a:lnTo>
                <a:lnTo>
                  <a:pt x="16292" y="290"/>
                </a:lnTo>
                <a:lnTo>
                  <a:pt x="17250" y="406"/>
                </a:lnTo>
                <a:lnTo>
                  <a:pt x="18208" y="253"/>
                </a:lnTo>
                <a:lnTo>
                  <a:pt x="19167" y="183"/>
                </a:lnTo>
                <a:lnTo>
                  <a:pt x="20125" y="48"/>
                </a:lnTo>
                <a:lnTo>
                  <a:pt x="21083" y="4"/>
                </a:lnTo>
                <a:lnTo>
                  <a:pt x="22042" y="199"/>
                </a:lnTo>
                <a:lnTo>
                  <a:pt x="23000" y="318"/>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8367"/>
            <a:ext cx="2103120" cy="37125"/>
          </a:xfrm>
          <a:custGeom>
            <a:avLst/>
            <a:gdLst/>
            <a:ahLst/>
            <a:cxnLst/>
            <a:rect l="l" t="t" r="r" b="b"/>
            <a:pathLst>
              <a:path w="23000" h="406">
                <a:moveTo>
                  <a:pt x="0" y="140"/>
                </a:moveTo>
                <a:lnTo>
                  <a:pt x="958" y="341"/>
                </a:lnTo>
                <a:lnTo>
                  <a:pt x="1917" y="376"/>
                </a:lnTo>
                <a:lnTo>
                  <a:pt x="2875" y="392"/>
                </a:lnTo>
                <a:lnTo>
                  <a:pt x="3833" y="251"/>
                </a:lnTo>
                <a:lnTo>
                  <a:pt x="4792" y="110"/>
                </a:lnTo>
                <a:lnTo>
                  <a:pt x="5750" y="0"/>
                </a:lnTo>
                <a:lnTo>
                  <a:pt x="6708" y="98"/>
                </a:lnTo>
                <a:lnTo>
                  <a:pt x="7667" y="148"/>
                </a:lnTo>
                <a:lnTo>
                  <a:pt x="8625" y="307"/>
                </a:lnTo>
                <a:lnTo>
                  <a:pt x="9583" y="325"/>
                </a:lnTo>
                <a:lnTo>
                  <a:pt x="10542" y="375"/>
                </a:lnTo>
                <a:lnTo>
                  <a:pt x="11500" y="231"/>
                </a:lnTo>
                <a:lnTo>
                  <a:pt x="12458" y="17"/>
                </a:lnTo>
                <a:lnTo>
                  <a:pt x="13417" y="80"/>
                </a:lnTo>
                <a:lnTo>
                  <a:pt x="14375" y="102"/>
                </a:lnTo>
                <a:lnTo>
                  <a:pt x="15333" y="191"/>
                </a:lnTo>
                <a:lnTo>
                  <a:pt x="16292" y="290"/>
                </a:lnTo>
                <a:lnTo>
                  <a:pt x="17250" y="406"/>
                </a:lnTo>
                <a:lnTo>
                  <a:pt x="18208" y="253"/>
                </a:lnTo>
                <a:lnTo>
                  <a:pt x="19167" y="183"/>
                </a:lnTo>
                <a:lnTo>
                  <a:pt x="20125" y="48"/>
                </a:lnTo>
                <a:lnTo>
                  <a:pt x="21083" y="4"/>
                </a:lnTo>
                <a:lnTo>
                  <a:pt x="22042" y="199"/>
                </a:lnTo>
                <a:lnTo>
                  <a:pt x="23000" y="318"/>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2" name="page: 38"/>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38</a:t>
            </a:r>
          </a:p>
        </p:txBody>
      </p:sp>
      <p:sp>
        <p:nvSpPr>
          <p:cNvPr id="13" name="Oval 12"/>
          <p:cNvSpPr/>
          <p:nvPr/>
        </p:nvSpPr>
        <p:spPr>
          <a:xfrm>
            <a:off x="854964" y="2178304"/>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ody: Incidents will keep happening; a scorer cannot see them, an obse"/>
          <p:cNvSpPr txBox="1"/>
          <p:nvPr/>
        </p:nvSpPr>
        <p:spPr>
          <a:xfrm>
            <a:off x="1088136" y="2077720"/>
            <a:ext cx="7534656" cy="810514"/>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Incidents will keep happening; a scorer cannot see</a:t>
            </a:r>
            <a:br/>
            <a:r>
              <a:rPr sz="2300" b="0">
                <a:solidFill>
                  <a:srgbClr val="293E46"/>
                </a:solidFill>
                <a:latin typeface="Trebuchet MS"/>
              </a:rPr>
              <a:t>them, an observer can</a:t>
            </a:r>
          </a:p>
        </p:txBody>
      </p:sp>
      <p:sp>
        <p:nvSpPr>
          <p:cNvPr id="15" name="Oval 14"/>
          <p:cNvSpPr/>
          <p:nvPr/>
        </p:nvSpPr>
        <p:spPr>
          <a:xfrm>
            <a:off x="854964" y="3226561"/>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ody: Each verified incident becomes an executable case with a benign "/>
          <p:cNvSpPr txBox="1"/>
          <p:nvPr/>
        </p:nvSpPr>
        <p:spPr>
          <a:xfrm>
            <a:off x="1088136" y="3125977"/>
            <a:ext cx="7534656" cy="810514"/>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Each verified incident becomes an executable case</a:t>
            </a:r>
            <a:br/>
            <a:r>
              <a:rPr sz="2300" b="0">
                <a:solidFill>
                  <a:srgbClr val="293E46"/>
                </a:solidFill>
                <a:latin typeface="Trebuchet MS"/>
              </a:rPr>
              <a:t>with a benign twin</a:t>
            </a:r>
          </a:p>
        </p:txBody>
      </p:sp>
      <p:sp>
        <p:nvSpPr>
          <p:cNvPr id="17" name="Oval 16"/>
          <p:cNvSpPr/>
          <p:nvPr/>
        </p:nvSpPr>
        <p:spPr>
          <a:xfrm>
            <a:off x="854964" y="4274820"/>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 A scheduled loop replays, revises and releases only what passes "/>
          <p:cNvSpPr txBox="1"/>
          <p:nvPr/>
        </p:nvSpPr>
        <p:spPr>
          <a:xfrm>
            <a:off x="1088136" y="4174235"/>
            <a:ext cx="7534656" cy="810514"/>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A scheduled loop replays, revises and releases only</a:t>
            </a:r>
            <a:br/>
            <a:r>
              <a:rPr sz="2300" b="0">
                <a:solidFill>
                  <a:srgbClr val="293E46"/>
                </a:solidFill>
                <a:latin typeface="Trebuchet MS"/>
              </a:rPr>
              <a:t>what passes a regression gate and a human</a:t>
            </a:r>
          </a:p>
        </p:txBody>
      </p:sp>
      <p:sp>
        <p:nvSpPr>
          <p:cNvPr id="19" name="Oval 18"/>
          <p:cNvSpPr/>
          <p:nvPr/>
        </p:nvSpPr>
        <p:spPr>
          <a:xfrm>
            <a:off x="854964" y="5323078"/>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dy: The frozen policy is judged on untouched tasks and on incidents "/>
          <p:cNvSpPr txBox="1"/>
          <p:nvPr/>
        </p:nvSpPr>
        <p:spPr>
          <a:xfrm>
            <a:off x="1088136" y="5222493"/>
            <a:ext cx="7534656" cy="810514"/>
          </a:xfrm>
          <a:prstGeom prst="rect">
            <a:avLst/>
          </a:prstGeom>
          <a:noFill/>
        </p:spPr>
        <p:txBody>
          <a:bodyPr wrap="none" lIns="0" rIns="0" tIns="0" bIns="0" anchor="t">
            <a:noAutofit/>
          </a:bodyPr>
          <a:lstStyle/>
          <a:p>
            <a:pPr algn="l">
              <a:lnSpc>
                <a:spcPts val="2921"/>
              </a:lnSpc>
              <a:spcBef>
                <a:spcPts val="0"/>
              </a:spcBef>
              <a:spcAft>
                <a:spcPts val="0"/>
              </a:spcAft>
            </a:pPr>
            <a:r>
              <a:rPr sz="2300" b="0">
                <a:solidFill>
                  <a:srgbClr val="293E46"/>
                </a:solidFill>
                <a:latin typeface="Trebuchet MS"/>
              </a:rPr>
              <a:t>The frozen policy is judged on untouched tasks and on</a:t>
            </a:r>
            <a:br/>
            <a:r>
              <a:rPr sz="2300" b="0">
                <a:solidFill>
                  <a:srgbClr val="293E46"/>
                </a:solidFill>
                <a:latin typeface="Trebuchet MS"/>
              </a:rPr>
              <a:t>incidents reported after the cutoff</a:t>
            </a:r>
          </a:p>
        </p:txBody>
      </p:sp>
      <p:sp>
        <p:nvSpPr>
          <p:cNvPr id="21" name="Rounded Rectangle 20"/>
          <p:cNvSpPr/>
          <p:nvPr/>
        </p:nvSpPr>
        <p:spPr>
          <a:xfrm>
            <a:off x="9070848" y="1847088"/>
            <a:ext cx="4919472" cy="4416552"/>
          </a:xfrm>
          <a:prstGeom prst="roundRect">
            <a:avLst>
              <a:gd name="adj" fmla="val 18000"/>
            </a:avLst>
          </a:prstGeom>
          <a:solidFill>
            <a:srgbClr val="EE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9070482" y="1849283"/>
            <a:ext cx="4911517" cy="4412620"/>
          </a:xfrm>
          <a:custGeom>
            <a:avLst/>
            <a:gdLst/>
            <a:ahLst/>
            <a:cxnLst/>
            <a:rect l="l" t="t" r="r" b="b"/>
            <a:pathLst>
              <a:path w="53713" h="48257">
                <a:moveTo>
                  <a:pt x="53589" y="24019"/>
                </a:moveTo>
                <a:lnTo>
                  <a:pt x="53586" y="31416"/>
                </a:lnTo>
                <a:lnTo>
                  <a:pt x="53553" y="33839"/>
                </a:lnTo>
                <a:lnTo>
                  <a:pt x="53645" y="35461"/>
                </a:lnTo>
                <a:lnTo>
                  <a:pt x="53536" y="36977"/>
                </a:lnTo>
                <a:lnTo>
                  <a:pt x="53379" y="38136"/>
                </a:lnTo>
                <a:lnTo>
                  <a:pt x="53173" y="39076"/>
                </a:lnTo>
                <a:lnTo>
                  <a:pt x="53035" y="40154"/>
                </a:lnTo>
                <a:lnTo>
                  <a:pt x="52749" y="40832"/>
                </a:lnTo>
                <a:lnTo>
                  <a:pt x="52436" y="41606"/>
                </a:lnTo>
                <a:lnTo>
                  <a:pt x="52221" y="42242"/>
                </a:lnTo>
                <a:lnTo>
                  <a:pt x="51754" y="43057"/>
                </a:lnTo>
                <a:lnTo>
                  <a:pt x="51548" y="43492"/>
                </a:lnTo>
                <a:lnTo>
                  <a:pt x="51095" y="44136"/>
                </a:lnTo>
                <a:lnTo>
                  <a:pt x="50649" y="44478"/>
                </a:lnTo>
                <a:lnTo>
                  <a:pt x="50100" y="45069"/>
                </a:lnTo>
                <a:lnTo>
                  <a:pt x="49800" y="45401"/>
                </a:lnTo>
                <a:lnTo>
                  <a:pt x="49236" y="45962"/>
                </a:lnTo>
                <a:lnTo>
                  <a:pt x="48429" y="46221"/>
                </a:lnTo>
                <a:lnTo>
                  <a:pt x="48031" y="46422"/>
                </a:lnTo>
                <a:lnTo>
                  <a:pt x="47087" y="46883"/>
                </a:lnTo>
                <a:lnTo>
                  <a:pt x="46463" y="47021"/>
                </a:lnTo>
                <a:lnTo>
                  <a:pt x="45473" y="47395"/>
                </a:lnTo>
                <a:lnTo>
                  <a:pt x="44780" y="47521"/>
                </a:lnTo>
                <a:lnTo>
                  <a:pt x="43760" y="47632"/>
                </a:lnTo>
                <a:lnTo>
                  <a:pt x="42425" y="47729"/>
                </a:lnTo>
                <a:lnTo>
                  <a:pt x="41279" y="48038"/>
                </a:lnTo>
                <a:lnTo>
                  <a:pt x="39665" y="47976"/>
                </a:lnTo>
                <a:lnTo>
                  <a:pt x="37717" y="47996"/>
                </a:lnTo>
                <a:lnTo>
                  <a:pt x="35105" y="48178"/>
                </a:lnTo>
                <a:lnTo>
                  <a:pt x="27001" y="48117"/>
                </a:lnTo>
                <a:lnTo>
                  <a:pt x="18569" y="48257"/>
                </a:lnTo>
                <a:lnTo>
                  <a:pt x="16042" y="48204"/>
                </a:lnTo>
                <a:lnTo>
                  <a:pt x="14214" y="47961"/>
                </a:lnTo>
                <a:lnTo>
                  <a:pt x="12645" y="47845"/>
                </a:lnTo>
                <a:lnTo>
                  <a:pt x="11215" y="47894"/>
                </a:lnTo>
                <a:lnTo>
                  <a:pt x="10079" y="47627"/>
                </a:lnTo>
                <a:lnTo>
                  <a:pt x="9029" y="47554"/>
                </a:lnTo>
                <a:lnTo>
                  <a:pt x="8278" y="47248"/>
                </a:lnTo>
                <a:lnTo>
                  <a:pt x="7256" y="47133"/>
                </a:lnTo>
                <a:lnTo>
                  <a:pt x="6488" y="46912"/>
                </a:lnTo>
                <a:lnTo>
                  <a:pt x="5815" y="46547"/>
                </a:lnTo>
                <a:lnTo>
                  <a:pt x="5295" y="46275"/>
                </a:lnTo>
                <a:lnTo>
                  <a:pt x="4561" y="45965"/>
                </a:lnTo>
                <a:lnTo>
                  <a:pt x="4151" y="45412"/>
                </a:lnTo>
                <a:lnTo>
                  <a:pt x="3463" y="45015"/>
                </a:lnTo>
                <a:lnTo>
                  <a:pt x="3077" y="44630"/>
                </a:lnTo>
                <a:lnTo>
                  <a:pt x="2783" y="44030"/>
                </a:lnTo>
                <a:lnTo>
                  <a:pt x="2179" y="43513"/>
                </a:lnTo>
                <a:lnTo>
                  <a:pt x="2062" y="43084"/>
                </a:lnTo>
                <a:lnTo>
                  <a:pt x="1606" y="42378"/>
                </a:lnTo>
                <a:lnTo>
                  <a:pt x="1337" y="41609"/>
                </a:lnTo>
                <a:lnTo>
                  <a:pt x="986" y="40801"/>
                </a:lnTo>
                <a:lnTo>
                  <a:pt x="856" y="40058"/>
                </a:lnTo>
                <a:lnTo>
                  <a:pt x="747" y="39030"/>
                </a:lnTo>
                <a:lnTo>
                  <a:pt x="397" y="38054"/>
                </a:lnTo>
                <a:lnTo>
                  <a:pt x="260" y="36885"/>
                </a:lnTo>
                <a:lnTo>
                  <a:pt x="227" y="35593"/>
                </a:lnTo>
                <a:lnTo>
                  <a:pt x="206" y="33766"/>
                </a:lnTo>
                <a:lnTo>
                  <a:pt x="62" y="31485"/>
                </a:lnTo>
                <a:lnTo>
                  <a:pt x="0" y="24210"/>
                </a:lnTo>
                <a:lnTo>
                  <a:pt x="67" y="16687"/>
                </a:lnTo>
                <a:lnTo>
                  <a:pt x="180" y="14321"/>
                </a:lnTo>
                <a:lnTo>
                  <a:pt x="154" y="12592"/>
                </a:lnTo>
                <a:lnTo>
                  <a:pt x="248" y="11357"/>
                </a:lnTo>
                <a:lnTo>
                  <a:pt x="451" y="10129"/>
                </a:lnTo>
                <a:lnTo>
                  <a:pt x="715" y="9050"/>
                </a:lnTo>
                <a:lnTo>
                  <a:pt x="977" y="8183"/>
                </a:lnTo>
                <a:lnTo>
                  <a:pt x="1067" y="7241"/>
                </a:lnTo>
                <a:lnTo>
                  <a:pt x="1419" y="6651"/>
                </a:lnTo>
                <a:lnTo>
                  <a:pt x="1720" y="5887"/>
                </a:lnTo>
                <a:lnTo>
                  <a:pt x="2009" y="5269"/>
                </a:lnTo>
                <a:lnTo>
                  <a:pt x="2348" y="4751"/>
                </a:lnTo>
                <a:lnTo>
                  <a:pt x="2785" y="4168"/>
                </a:lnTo>
                <a:lnTo>
                  <a:pt x="3128" y="3627"/>
                </a:lnTo>
                <a:lnTo>
                  <a:pt x="3591" y="3121"/>
                </a:lnTo>
                <a:lnTo>
                  <a:pt x="4042" y="2729"/>
                </a:lnTo>
                <a:lnTo>
                  <a:pt x="4685" y="2407"/>
                </a:lnTo>
                <a:lnTo>
                  <a:pt x="5300" y="2065"/>
                </a:lnTo>
                <a:lnTo>
                  <a:pt x="5883" y="1710"/>
                </a:lnTo>
                <a:lnTo>
                  <a:pt x="6602" y="1403"/>
                </a:lnTo>
                <a:lnTo>
                  <a:pt x="7439" y="1224"/>
                </a:lnTo>
                <a:lnTo>
                  <a:pt x="8289" y="1045"/>
                </a:lnTo>
                <a:lnTo>
                  <a:pt x="9200" y="741"/>
                </a:lnTo>
                <a:lnTo>
                  <a:pt x="10037" y="679"/>
                </a:lnTo>
                <a:lnTo>
                  <a:pt x="11243" y="338"/>
                </a:lnTo>
                <a:lnTo>
                  <a:pt x="12692" y="338"/>
                </a:lnTo>
                <a:lnTo>
                  <a:pt x="14103" y="296"/>
                </a:lnTo>
                <a:lnTo>
                  <a:pt x="15931" y="229"/>
                </a:lnTo>
                <a:lnTo>
                  <a:pt x="18743" y="0"/>
                </a:lnTo>
                <a:lnTo>
                  <a:pt x="26931" y="159"/>
                </a:lnTo>
                <a:lnTo>
                  <a:pt x="35039" y="143"/>
                </a:lnTo>
                <a:lnTo>
                  <a:pt x="37673" y="210"/>
                </a:lnTo>
                <a:lnTo>
                  <a:pt x="39733" y="173"/>
                </a:lnTo>
                <a:lnTo>
                  <a:pt x="41186" y="309"/>
                </a:lnTo>
                <a:lnTo>
                  <a:pt x="42446" y="398"/>
                </a:lnTo>
                <a:lnTo>
                  <a:pt x="43692" y="465"/>
                </a:lnTo>
                <a:lnTo>
                  <a:pt x="44713" y="722"/>
                </a:lnTo>
                <a:lnTo>
                  <a:pt x="45630" y="965"/>
                </a:lnTo>
                <a:lnTo>
                  <a:pt x="46392" y="1166"/>
                </a:lnTo>
                <a:lnTo>
                  <a:pt x="47117" y="1449"/>
                </a:lnTo>
                <a:lnTo>
                  <a:pt x="47778" y="1771"/>
                </a:lnTo>
                <a:lnTo>
                  <a:pt x="48684" y="1999"/>
                </a:lnTo>
                <a:lnTo>
                  <a:pt x="49213" y="2433"/>
                </a:lnTo>
                <a:lnTo>
                  <a:pt x="49758" y="2892"/>
                </a:lnTo>
                <a:lnTo>
                  <a:pt x="50319" y="3140"/>
                </a:lnTo>
                <a:lnTo>
                  <a:pt x="50760" y="3696"/>
                </a:lnTo>
                <a:lnTo>
                  <a:pt x="51079" y="4118"/>
                </a:lnTo>
                <a:lnTo>
                  <a:pt x="51431" y="4667"/>
                </a:lnTo>
                <a:lnTo>
                  <a:pt x="51976" y="5220"/>
                </a:lnTo>
                <a:lnTo>
                  <a:pt x="52153" y="5844"/>
                </a:lnTo>
                <a:lnTo>
                  <a:pt x="52374" y="6493"/>
                </a:lnTo>
                <a:lnTo>
                  <a:pt x="52699" y="7279"/>
                </a:lnTo>
                <a:lnTo>
                  <a:pt x="53057" y="8228"/>
                </a:lnTo>
                <a:lnTo>
                  <a:pt x="53258" y="9110"/>
                </a:lnTo>
                <a:lnTo>
                  <a:pt x="53187" y="10125"/>
                </a:lnTo>
                <a:lnTo>
                  <a:pt x="53468" y="11311"/>
                </a:lnTo>
                <a:lnTo>
                  <a:pt x="53452" y="12797"/>
                </a:lnTo>
                <a:lnTo>
                  <a:pt x="53578" y="14412"/>
                </a:lnTo>
                <a:lnTo>
                  <a:pt x="53655" y="16687"/>
                </a:lnTo>
                <a:lnTo>
                  <a:pt x="53713" y="24149"/>
                </a:lnTo>
                <a:close/>
              </a:path>
            </a:pathLst>
          </a:custGeom>
          <a:noFill/>
          <a:ln w="19685" cap="rnd">
            <a:solidFill>
              <a:srgbClr val="557B6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9085113" y="1848734"/>
            <a:ext cx="4896612" cy="4413260"/>
          </a:xfrm>
          <a:custGeom>
            <a:avLst/>
            <a:gdLst/>
            <a:ahLst/>
            <a:cxnLst/>
            <a:rect l="l" t="t" r="r" b="b"/>
            <a:pathLst>
              <a:path w="53550" h="48264">
                <a:moveTo>
                  <a:pt x="53550" y="24091"/>
                </a:moveTo>
                <a:lnTo>
                  <a:pt x="53515" y="31600"/>
                </a:lnTo>
                <a:lnTo>
                  <a:pt x="53353" y="33985"/>
                </a:lnTo>
                <a:lnTo>
                  <a:pt x="53458" y="35555"/>
                </a:lnTo>
                <a:lnTo>
                  <a:pt x="53212" y="37069"/>
                </a:lnTo>
                <a:lnTo>
                  <a:pt x="53148" y="38197"/>
                </a:lnTo>
                <a:lnTo>
                  <a:pt x="53047" y="39248"/>
                </a:lnTo>
                <a:lnTo>
                  <a:pt x="52813" y="40051"/>
                </a:lnTo>
                <a:lnTo>
                  <a:pt x="52575" y="40798"/>
                </a:lnTo>
                <a:lnTo>
                  <a:pt x="52243" y="41576"/>
                </a:lnTo>
                <a:lnTo>
                  <a:pt x="51968" y="42227"/>
                </a:lnTo>
                <a:lnTo>
                  <a:pt x="51765" y="42963"/>
                </a:lnTo>
                <a:lnTo>
                  <a:pt x="51444" y="43637"/>
                </a:lnTo>
                <a:lnTo>
                  <a:pt x="50883" y="44054"/>
                </a:lnTo>
                <a:lnTo>
                  <a:pt x="50434" y="44600"/>
                </a:lnTo>
                <a:lnTo>
                  <a:pt x="50151" y="45131"/>
                </a:lnTo>
                <a:lnTo>
                  <a:pt x="49517" y="45486"/>
                </a:lnTo>
                <a:lnTo>
                  <a:pt x="49049" y="45906"/>
                </a:lnTo>
                <a:lnTo>
                  <a:pt x="48454" y="46306"/>
                </a:lnTo>
                <a:lnTo>
                  <a:pt x="47702" y="46481"/>
                </a:lnTo>
                <a:lnTo>
                  <a:pt x="46915" y="46848"/>
                </a:lnTo>
                <a:lnTo>
                  <a:pt x="46374" y="47154"/>
                </a:lnTo>
                <a:lnTo>
                  <a:pt x="45358" y="47427"/>
                </a:lnTo>
                <a:lnTo>
                  <a:pt x="44535" y="47447"/>
                </a:lnTo>
                <a:lnTo>
                  <a:pt x="43413" y="47731"/>
                </a:lnTo>
                <a:lnTo>
                  <a:pt x="42368" y="47847"/>
                </a:lnTo>
                <a:lnTo>
                  <a:pt x="41034" y="47972"/>
                </a:lnTo>
                <a:lnTo>
                  <a:pt x="39420" y="47929"/>
                </a:lnTo>
                <a:lnTo>
                  <a:pt x="37627" y="48045"/>
                </a:lnTo>
                <a:lnTo>
                  <a:pt x="34868" y="48254"/>
                </a:lnTo>
                <a:lnTo>
                  <a:pt x="26844" y="48079"/>
                </a:lnTo>
                <a:lnTo>
                  <a:pt x="18418" y="48264"/>
                </a:lnTo>
                <a:lnTo>
                  <a:pt x="15823" y="48157"/>
                </a:lnTo>
                <a:lnTo>
                  <a:pt x="14040" y="47946"/>
                </a:lnTo>
                <a:lnTo>
                  <a:pt x="12385" y="47851"/>
                </a:lnTo>
                <a:lnTo>
                  <a:pt x="11030" y="47823"/>
                </a:lnTo>
                <a:lnTo>
                  <a:pt x="10131" y="47802"/>
                </a:lnTo>
                <a:lnTo>
                  <a:pt x="8989" y="47550"/>
                </a:lnTo>
                <a:lnTo>
                  <a:pt x="7963" y="47237"/>
                </a:lnTo>
                <a:lnTo>
                  <a:pt x="7110" y="47073"/>
                </a:lnTo>
                <a:lnTo>
                  <a:pt x="6363" y="46741"/>
                </a:lnTo>
                <a:lnTo>
                  <a:pt x="5708" y="46505"/>
                </a:lnTo>
                <a:lnTo>
                  <a:pt x="5144" y="46290"/>
                </a:lnTo>
                <a:lnTo>
                  <a:pt x="4483" y="45868"/>
                </a:lnTo>
                <a:lnTo>
                  <a:pt x="4041" y="45467"/>
                </a:lnTo>
                <a:lnTo>
                  <a:pt x="3367" y="44948"/>
                </a:lnTo>
                <a:lnTo>
                  <a:pt x="3033" y="44510"/>
                </a:lnTo>
                <a:lnTo>
                  <a:pt x="2548" y="44195"/>
                </a:lnTo>
                <a:lnTo>
                  <a:pt x="2061" y="43466"/>
                </a:lnTo>
                <a:lnTo>
                  <a:pt x="1804" y="42946"/>
                </a:lnTo>
                <a:lnTo>
                  <a:pt x="1451" y="42241"/>
                </a:lnTo>
                <a:lnTo>
                  <a:pt x="1160" y="41724"/>
                </a:lnTo>
                <a:lnTo>
                  <a:pt x="966" y="40918"/>
                </a:lnTo>
                <a:lnTo>
                  <a:pt x="621" y="40145"/>
                </a:lnTo>
                <a:lnTo>
                  <a:pt x="476" y="39168"/>
                </a:lnTo>
                <a:lnTo>
                  <a:pt x="454" y="38227"/>
                </a:lnTo>
                <a:lnTo>
                  <a:pt x="147" y="36887"/>
                </a:lnTo>
                <a:lnTo>
                  <a:pt x="123" y="35529"/>
                </a:lnTo>
                <a:lnTo>
                  <a:pt x="147" y="33792"/>
                </a:lnTo>
                <a:lnTo>
                  <a:pt x="1" y="31415"/>
                </a:lnTo>
                <a:lnTo>
                  <a:pt x="27" y="24185"/>
                </a:lnTo>
                <a:lnTo>
                  <a:pt x="0" y="16838"/>
                </a:lnTo>
                <a:lnTo>
                  <a:pt x="69" y="14460"/>
                </a:lnTo>
                <a:lnTo>
                  <a:pt x="205" y="12808"/>
                </a:lnTo>
                <a:lnTo>
                  <a:pt x="211" y="11313"/>
                </a:lnTo>
                <a:lnTo>
                  <a:pt x="280" y="10115"/>
                </a:lnTo>
                <a:lnTo>
                  <a:pt x="513" y="9181"/>
                </a:lnTo>
                <a:lnTo>
                  <a:pt x="769" y="8259"/>
                </a:lnTo>
                <a:lnTo>
                  <a:pt x="1030" y="7428"/>
                </a:lnTo>
                <a:lnTo>
                  <a:pt x="1237" y="6653"/>
                </a:lnTo>
                <a:lnTo>
                  <a:pt x="1559" y="5946"/>
                </a:lnTo>
                <a:lnTo>
                  <a:pt x="1732" y="5341"/>
                </a:lnTo>
                <a:lnTo>
                  <a:pt x="2133" y="4658"/>
                </a:lnTo>
                <a:lnTo>
                  <a:pt x="2588" y="4147"/>
                </a:lnTo>
                <a:lnTo>
                  <a:pt x="2898" y="3789"/>
                </a:lnTo>
                <a:lnTo>
                  <a:pt x="3498" y="3308"/>
                </a:lnTo>
                <a:lnTo>
                  <a:pt x="3970" y="2870"/>
                </a:lnTo>
                <a:lnTo>
                  <a:pt x="4447" y="2474"/>
                </a:lnTo>
                <a:lnTo>
                  <a:pt x="4970" y="2094"/>
                </a:lnTo>
                <a:lnTo>
                  <a:pt x="5789" y="1855"/>
                </a:lnTo>
                <a:lnTo>
                  <a:pt x="6408" y="1476"/>
                </a:lnTo>
                <a:lnTo>
                  <a:pt x="7199" y="1111"/>
                </a:lnTo>
                <a:lnTo>
                  <a:pt x="8064" y="971"/>
                </a:lnTo>
                <a:lnTo>
                  <a:pt x="9038" y="714"/>
                </a:lnTo>
                <a:lnTo>
                  <a:pt x="10034" y="495"/>
                </a:lnTo>
                <a:lnTo>
                  <a:pt x="11080" y="411"/>
                </a:lnTo>
                <a:lnTo>
                  <a:pt x="12436" y="317"/>
                </a:lnTo>
                <a:lnTo>
                  <a:pt x="13974" y="212"/>
                </a:lnTo>
                <a:lnTo>
                  <a:pt x="16005" y="108"/>
                </a:lnTo>
                <a:lnTo>
                  <a:pt x="18450" y="233"/>
                </a:lnTo>
                <a:lnTo>
                  <a:pt x="26779" y="0"/>
                </a:lnTo>
                <a:lnTo>
                  <a:pt x="35016" y="194"/>
                </a:lnTo>
                <a:lnTo>
                  <a:pt x="37705" y="238"/>
                </a:lnTo>
                <a:lnTo>
                  <a:pt x="39409" y="266"/>
                </a:lnTo>
                <a:lnTo>
                  <a:pt x="41116" y="401"/>
                </a:lnTo>
                <a:lnTo>
                  <a:pt x="42361" y="409"/>
                </a:lnTo>
                <a:lnTo>
                  <a:pt x="43524" y="516"/>
                </a:lnTo>
                <a:lnTo>
                  <a:pt x="44581" y="803"/>
                </a:lnTo>
                <a:lnTo>
                  <a:pt x="45422" y="906"/>
                </a:lnTo>
                <a:lnTo>
                  <a:pt x="46327" y="1183"/>
                </a:lnTo>
                <a:lnTo>
                  <a:pt x="47131" y="1457"/>
                </a:lnTo>
                <a:lnTo>
                  <a:pt x="47818" y="1807"/>
                </a:lnTo>
                <a:lnTo>
                  <a:pt x="48415" y="2087"/>
                </a:lnTo>
                <a:lnTo>
                  <a:pt x="49061" y="2321"/>
                </a:lnTo>
                <a:lnTo>
                  <a:pt x="49453" y="2847"/>
                </a:lnTo>
                <a:lnTo>
                  <a:pt x="49949" y="3204"/>
                </a:lnTo>
                <a:lnTo>
                  <a:pt x="50589" y="3678"/>
                </a:lnTo>
                <a:lnTo>
                  <a:pt x="50962" y="4070"/>
                </a:lnTo>
                <a:lnTo>
                  <a:pt x="51316" y="4758"/>
                </a:lnTo>
                <a:lnTo>
                  <a:pt x="51577" y="5323"/>
                </a:lnTo>
                <a:lnTo>
                  <a:pt x="51928" y="5948"/>
                </a:lnTo>
                <a:lnTo>
                  <a:pt x="52372" y="6613"/>
                </a:lnTo>
                <a:lnTo>
                  <a:pt x="52616" y="7247"/>
                </a:lnTo>
                <a:lnTo>
                  <a:pt x="52671" y="8097"/>
                </a:lnTo>
                <a:lnTo>
                  <a:pt x="52904" y="9163"/>
                </a:lnTo>
                <a:lnTo>
                  <a:pt x="53218" y="10148"/>
                </a:lnTo>
                <a:lnTo>
                  <a:pt x="53322" y="11313"/>
                </a:lnTo>
                <a:lnTo>
                  <a:pt x="53419" y="12771"/>
                </a:lnTo>
                <a:lnTo>
                  <a:pt x="53383" y="14505"/>
                </a:lnTo>
                <a:lnTo>
                  <a:pt x="53387" y="16780"/>
                </a:lnTo>
                <a:lnTo>
                  <a:pt x="53545" y="24193"/>
                </a:lnTo>
                <a:close/>
              </a:path>
            </a:pathLst>
          </a:custGeom>
          <a:noFill/>
          <a:ln w="7620" cap="rnd">
            <a:solidFill>
              <a:srgbClr val="557B6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13892388" y="5227716"/>
            <a:ext cx="65380" cy="360914"/>
          </a:xfrm>
          <a:custGeom>
            <a:avLst/>
            <a:gdLst/>
            <a:ahLst/>
            <a:cxnLst/>
            <a:rect l="l" t="t" r="r" b="b"/>
            <a:pathLst>
              <a:path w="715" h="3947">
                <a:moveTo>
                  <a:pt x="715" y="0"/>
                </a:moveTo>
                <a:lnTo>
                  <a:pt x="582" y="1173"/>
                </a:lnTo>
                <a:lnTo>
                  <a:pt x="419" y="2202"/>
                </a:lnTo>
                <a:lnTo>
                  <a:pt x="225" y="3119"/>
                </a:lnTo>
                <a:lnTo>
                  <a:pt x="0" y="3947"/>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13154924" y="6103346"/>
            <a:ext cx="296083" cy="89703"/>
          </a:xfrm>
          <a:custGeom>
            <a:avLst/>
            <a:gdLst/>
            <a:ahLst/>
            <a:cxnLst/>
            <a:rect l="l" t="t" r="r" b="b"/>
            <a:pathLst>
              <a:path w="3238" h="981">
                <a:moveTo>
                  <a:pt x="3238" y="0"/>
                </a:moveTo>
                <a:lnTo>
                  <a:pt x="2531" y="289"/>
                </a:lnTo>
                <a:lnTo>
                  <a:pt x="1763" y="549"/>
                </a:lnTo>
                <a:lnTo>
                  <a:pt x="923" y="779"/>
                </a:lnTo>
                <a:lnTo>
                  <a:pt x="0" y="981"/>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9821845" y="6174577"/>
            <a:ext cx="402245" cy="58796"/>
          </a:xfrm>
          <a:custGeom>
            <a:avLst/>
            <a:gdLst/>
            <a:ahLst/>
            <a:cxnLst/>
            <a:rect l="l" t="t" r="r" b="b"/>
            <a:pathLst>
              <a:path w="4399" h="643">
                <a:moveTo>
                  <a:pt x="4399" y="643"/>
                </a:moveTo>
                <a:lnTo>
                  <a:pt x="3091" y="523"/>
                </a:lnTo>
                <a:lnTo>
                  <a:pt x="1945" y="376"/>
                </a:lnTo>
                <a:lnTo>
                  <a:pt x="923" y="202"/>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9148206" y="5512918"/>
            <a:ext cx="100035" cy="265633"/>
          </a:xfrm>
          <a:custGeom>
            <a:avLst/>
            <a:gdLst/>
            <a:ahLst/>
            <a:cxnLst/>
            <a:rect l="l" t="t" r="r" b="b"/>
            <a:pathLst>
              <a:path w="1094" h="2905">
                <a:moveTo>
                  <a:pt x="1094" y="2905"/>
                </a:moveTo>
                <a:lnTo>
                  <a:pt x="771" y="2271"/>
                </a:lnTo>
                <a:lnTo>
                  <a:pt x="482" y="1582"/>
                </a:lnTo>
                <a:lnTo>
                  <a:pt x="225" y="828"/>
                </a:lnTo>
                <a:lnTo>
                  <a:pt x="0"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9103401" y="2522098"/>
            <a:ext cx="65380" cy="360914"/>
          </a:xfrm>
          <a:custGeom>
            <a:avLst/>
            <a:gdLst/>
            <a:ahLst/>
            <a:cxnLst/>
            <a:rect l="l" t="t" r="r" b="b"/>
            <a:pathLst>
              <a:path w="715" h="3947">
                <a:moveTo>
                  <a:pt x="0" y="3947"/>
                </a:moveTo>
                <a:lnTo>
                  <a:pt x="133" y="2774"/>
                </a:lnTo>
                <a:lnTo>
                  <a:pt x="296" y="1745"/>
                </a:lnTo>
                <a:lnTo>
                  <a:pt x="490" y="828"/>
                </a:lnTo>
                <a:lnTo>
                  <a:pt x="715"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9610161" y="1917680"/>
            <a:ext cx="296083" cy="89703"/>
          </a:xfrm>
          <a:custGeom>
            <a:avLst/>
            <a:gdLst/>
            <a:ahLst/>
            <a:cxnLst/>
            <a:rect l="l" t="t" r="r" b="b"/>
            <a:pathLst>
              <a:path w="3238" h="981">
                <a:moveTo>
                  <a:pt x="0" y="981"/>
                </a:moveTo>
                <a:lnTo>
                  <a:pt x="707" y="692"/>
                </a:lnTo>
                <a:lnTo>
                  <a:pt x="1475" y="432"/>
                </a:lnTo>
                <a:lnTo>
                  <a:pt x="2315" y="202"/>
                </a:lnTo>
                <a:lnTo>
                  <a:pt x="3238" y="0"/>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12837079" y="1877355"/>
            <a:ext cx="402245" cy="58796"/>
          </a:xfrm>
          <a:custGeom>
            <a:avLst/>
            <a:gdLst/>
            <a:ahLst/>
            <a:cxnLst/>
            <a:rect l="l" t="t" r="r" b="b"/>
            <a:pathLst>
              <a:path w="4399" h="643">
                <a:moveTo>
                  <a:pt x="0" y="0"/>
                </a:moveTo>
                <a:lnTo>
                  <a:pt x="1308" y="120"/>
                </a:lnTo>
                <a:lnTo>
                  <a:pt x="2454" y="267"/>
                </a:lnTo>
                <a:lnTo>
                  <a:pt x="3476" y="441"/>
                </a:lnTo>
                <a:lnTo>
                  <a:pt x="4399" y="643"/>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13812926" y="2332177"/>
            <a:ext cx="100035" cy="265633"/>
          </a:xfrm>
          <a:custGeom>
            <a:avLst/>
            <a:gdLst/>
            <a:ahLst/>
            <a:cxnLst/>
            <a:rect l="l" t="t" r="r" b="b"/>
            <a:pathLst>
              <a:path w="1094" h="2905">
                <a:moveTo>
                  <a:pt x="0" y="0"/>
                </a:moveTo>
                <a:lnTo>
                  <a:pt x="323" y="634"/>
                </a:lnTo>
                <a:lnTo>
                  <a:pt x="612" y="1323"/>
                </a:lnTo>
                <a:lnTo>
                  <a:pt x="869" y="2077"/>
                </a:lnTo>
                <a:lnTo>
                  <a:pt x="1094" y="2905"/>
                </a:lnTo>
              </a:path>
            </a:pathLst>
          </a:custGeom>
          <a:noFill/>
          <a:ln w="27940" cap="rnd">
            <a:solidFill>
              <a:srgbClr val="557B6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ody: Decisions to make"/>
          <p:cNvSpPr txBox="1"/>
          <p:nvPr/>
        </p:nvSpPr>
        <p:spPr>
          <a:xfrm>
            <a:off x="9427464" y="2125218"/>
            <a:ext cx="4206240" cy="431292"/>
          </a:xfrm>
          <a:prstGeom prst="rect">
            <a:avLst/>
          </a:prstGeom>
          <a:noFill/>
        </p:spPr>
        <p:txBody>
          <a:bodyPr wrap="none" lIns="0" rIns="0" tIns="0" bIns="0" anchor="t">
            <a:noAutofit/>
          </a:bodyPr>
          <a:lstStyle/>
          <a:p>
            <a:pPr algn="ctr">
              <a:lnSpc>
                <a:spcPts val="2856"/>
              </a:lnSpc>
              <a:spcBef>
                <a:spcPts val="0"/>
              </a:spcBef>
              <a:spcAft>
                <a:spcPts val="0"/>
              </a:spcAft>
            </a:pPr>
            <a:r>
              <a:rPr sz="2100" b="1">
                <a:solidFill>
                  <a:srgbClr val="557B65"/>
                </a:solidFill>
                <a:latin typeface="Chalkboard SE"/>
              </a:rPr>
              <a:t>Decisions to make</a:t>
            </a:r>
          </a:p>
        </p:txBody>
      </p:sp>
      <p:sp>
        <p:nvSpPr>
          <p:cNvPr id="33" name="Oval 32"/>
          <p:cNvSpPr/>
          <p:nvPr/>
        </p:nvSpPr>
        <p:spPr>
          <a:xfrm>
            <a:off x="9340596" y="352399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ody: Opt-in plugin first?"/>
          <p:cNvSpPr txBox="1"/>
          <p:nvPr/>
        </p:nvSpPr>
        <p:spPr>
          <a:xfrm>
            <a:off x="9573767" y="3423412"/>
            <a:ext cx="4160520"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Opt-in plugin first?</a:t>
            </a:r>
          </a:p>
        </p:txBody>
      </p:sp>
      <p:sp>
        <p:nvSpPr>
          <p:cNvPr id="35" name="Oval 34"/>
          <p:cNvSpPr/>
          <p:nvPr/>
        </p:nvSpPr>
        <p:spPr>
          <a:xfrm>
            <a:off x="9340596" y="406628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ody: First benchmark for B3 vs B4?"/>
          <p:cNvSpPr txBox="1"/>
          <p:nvPr/>
        </p:nvSpPr>
        <p:spPr>
          <a:xfrm>
            <a:off x="9573767" y="3965702"/>
            <a:ext cx="4160520"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First benchmark for B3 vs B4?</a:t>
            </a:r>
          </a:p>
        </p:txBody>
      </p:sp>
      <p:sp>
        <p:nvSpPr>
          <p:cNvPr id="37" name="Oval 36"/>
          <p:cNvSpPr/>
          <p:nvPr/>
        </p:nvSpPr>
        <p:spPr>
          <a:xfrm>
            <a:off x="9340596" y="460857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ody: Who qualifies shared cases?"/>
          <p:cNvSpPr txBox="1"/>
          <p:nvPr/>
        </p:nvSpPr>
        <p:spPr>
          <a:xfrm>
            <a:off x="9573767" y="4507992"/>
            <a:ext cx="4160520"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Who qualifies shared cases?</a:t>
            </a:r>
          </a:p>
        </p:txBody>
      </p:sp>
      <p:sp>
        <p:nvSpPr>
          <p:cNvPr id="39" name="Oval 38"/>
          <p:cNvSpPr/>
          <p:nvPr/>
        </p:nvSpPr>
        <p:spPr>
          <a:xfrm>
            <a:off x="9340596" y="5150866"/>
            <a:ext cx="62179" cy="62179"/>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ody: Budget for Phases 2 and 3?"/>
          <p:cNvSpPr txBox="1"/>
          <p:nvPr/>
        </p:nvSpPr>
        <p:spPr>
          <a:xfrm>
            <a:off x="9573767" y="5050282"/>
            <a:ext cx="4160520" cy="423418"/>
          </a:xfrm>
          <a:prstGeom prst="rect">
            <a:avLst/>
          </a:prstGeom>
          <a:noFill/>
        </p:spPr>
        <p:txBody>
          <a:bodyPr wrap="none" lIns="0" rIns="0" tIns="0" bIns="0" anchor="t">
            <a:noAutofit/>
          </a:bodyPr>
          <a:lstStyle/>
          <a:p>
            <a:pPr algn="l">
              <a:lnSpc>
                <a:spcPts val="2794"/>
              </a:lnSpc>
              <a:spcBef>
                <a:spcPts val="0"/>
              </a:spcBef>
              <a:spcAft>
                <a:spcPts val="0"/>
              </a:spcAft>
            </a:pPr>
            <a:r>
              <a:rPr sz="2200" b="0">
                <a:solidFill>
                  <a:srgbClr val="293E46"/>
                </a:solidFill>
                <a:latin typeface="Trebuchet MS"/>
              </a:rPr>
              <a:t>Budget for Phases 2 and 3?</a:t>
            </a:r>
          </a:p>
        </p:txBody>
      </p:sp>
      <p:sp>
        <p:nvSpPr>
          <p:cNvPr id="41" name="Rounded Rectangle 40"/>
          <p:cNvSpPr/>
          <p:nvPr/>
        </p:nvSpPr>
        <p:spPr>
          <a:xfrm>
            <a:off x="640080" y="6556248"/>
            <a:ext cx="13350240" cy="886968"/>
          </a:xfrm>
          <a:prstGeom prst="roundRect">
            <a:avLst>
              <a:gd name="adj" fmla="val 18000"/>
            </a:avLst>
          </a:prstGeom>
          <a:solidFill>
            <a:srgbClr val="FBF1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652516" y="6559631"/>
            <a:ext cx="13332958" cy="877275"/>
          </a:xfrm>
          <a:custGeom>
            <a:avLst/>
            <a:gdLst/>
            <a:ahLst/>
            <a:cxnLst/>
            <a:rect l="l" t="t" r="r" b="b"/>
            <a:pathLst>
              <a:path w="145811" h="9594">
                <a:moveTo>
                  <a:pt x="145677" y="4703"/>
                </a:moveTo>
                <a:lnTo>
                  <a:pt x="145635" y="6182"/>
                </a:lnTo>
                <a:lnTo>
                  <a:pt x="145707" y="6759"/>
                </a:lnTo>
                <a:lnTo>
                  <a:pt x="145275" y="7177"/>
                </a:lnTo>
                <a:lnTo>
                  <a:pt x="145172" y="7379"/>
                </a:lnTo>
                <a:lnTo>
                  <a:pt x="144719" y="7478"/>
                </a:lnTo>
                <a:lnTo>
                  <a:pt x="144387" y="7789"/>
                </a:lnTo>
                <a:lnTo>
                  <a:pt x="143638" y="7876"/>
                </a:lnTo>
                <a:lnTo>
                  <a:pt x="143261" y="8169"/>
                </a:lnTo>
                <a:lnTo>
                  <a:pt x="142402" y="8163"/>
                </a:lnTo>
                <a:lnTo>
                  <a:pt x="141734" y="8334"/>
                </a:lnTo>
                <a:lnTo>
                  <a:pt x="140878" y="8633"/>
                </a:lnTo>
                <a:lnTo>
                  <a:pt x="139818" y="8639"/>
                </a:lnTo>
                <a:lnTo>
                  <a:pt x="138855" y="8624"/>
                </a:lnTo>
                <a:lnTo>
                  <a:pt x="137626" y="8822"/>
                </a:lnTo>
                <a:lnTo>
                  <a:pt x="136305" y="8835"/>
                </a:lnTo>
                <a:lnTo>
                  <a:pt x="134828" y="8967"/>
                </a:lnTo>
                <a:lnTo>
                  <a:pt x="133306" y="9127"/>
                </a:lnTo>
                <a:lnTo>
                  <a:pt x="131794" y="9106"/>
                </a:lnTo>
                <a:lnTo>
                  <a:pt x="130024" y="9243"/>
                </a:lnTo>
                <a:lnTo>
                  <a:pt x="128042" y="9190"/>
                </a:lnTo>
                <a:lnTo>
                  <a:pt x="126049" y="9266"/>
                </a:lnTo>
                <a:lnTo>
                  <a:pt x="123806" y="9298"/>
                </a:lnTo>
                <a:lnTo>
                  <a:pt x="121185" y="9532"/>
                </a:lnTo>
                <a:lnTo>
                  <a:pt x="118550" y="9359"/>
                </a:lnTo>
                <a:lnTo>
                  <a:pt x="115319" y="9537"/>
                </a:lnTo>
                <a:lnTo>
                  <a:pt x="111796" y="9454"/>
                </a:lnTo>
                <a:lnTo>
                  <a:pt x="107501" y="9447"/>
                </a:lnTo>
                <a:lnTo>
                  <a:pt x="102278" y="9594"/>
                </a:lnTo>
                <a:lnTo>
                  <a:pt x="95191" y="9500"/>
                </a:lnTo>
                <a:lnTo>
                  <a:pt x="72818" y="9556"/>
                </a:lnTo>
                <a:lnTo>
                  <a:pt x="50540" y="9549"/>
                </a:lnTo>
                <a:lnTo>
                  <a:pt x="43439" y="9588"/>
                </a:lnTo>
                <a:lnTo>
                  <a:pt x="38119" y="9432"/>
                </a:lnTo>
                <a:lnTo>
                  <a:pt x="34050" y="9523"/>
                </a:lnTo>
                <a:lnTo>
                  <a:pt x="30521" y="9495"/>
                </a:lnTo>
                <a:lnTo>
                  <a:pt x="27339" y="9362"/>
                </a:lnTo>
                <a:lnTo>
                  <a:pt x="24602" y="9357"/>
                </a:lnTo>
                <a:lnTo>
                  <a:pt x="21893" y="9267"/>
                </a:lnTo>
                <a:lnTo>
                  <a:pt x="19844" y="9388"/>
                </a:lnTo>
                <a:lnTo>
                  <a:pt x="17711" y="9214"/>
                </a:lnTo>
                <a:lnTo>
                  <a:pt x="15631" y="9120"/>
                </a:lnTo>
                <a:lnTo>
                  <a:pt x="13880" y="9064"/>
                </a:lnTo>
                <a:lnTo>
                  <a:pt x="12377" y="8974"/>
                </a:lnTo>
                <a:lnTo>
                  <a:pt x="10922" y="9061"/>
                </a:lnTo>
                <a:lnTo>
                  <a:pt x="9510" y="8961"/>
                </a:lnTo>
                <a:lnTo>
                  <a:pt x="8025" y="8959"/>
                </a:lnTo>
                <a:lnTo>
                  <a:pt x="7071" y="8726"/>
                </a:lnTo>
                <a:lnTo>
                  <a:pt x="5887" y="8634"/>
                </a:lnTo>
                <a:lnTo>
                  <a:pt x="4888" y="8456"/>
                </a:lnTo>
                <a:lnTo>
                  <a:pt x="3935" y="8452"/>
                </a:lnTo>
                <a:lnTo>
                  <a:pt x="3325" y="8314"/>
                </a:lnTo>
                <a:lnTo>
                  <a:pt x="2522" y="8058"/>
                </a:lnTo>
                <a:lnTo>
                  <a:pt x="1946" y="7838"/>
                </a:lnTo>
                <a:lnTo>
                  <a:pt x="1427" y="7794"/>
                </a:lnTo>
                <a:lnTo>
                  <a:pt x="862" y="7486"/>
                </a:lnTo>
                <a:lnTo>
                  <a:pt x="743" y="7345"/>
                </a:lnTo>
                <a:lnTo>
                  <a:pt x="450" y="7148"/>
                </a:lnTo>
                <a:lnTo>
                  <a:pt x="262" y="6736"/>
                </a:lnTo>
                <a:lnTo>
                  <a:pt x="0" y="6356"/>
                </a:lnTo>
                <a:lnTo>
                  <a:pt x="31" y="4921"/>
                </a:lnTo>
                <a:lnTo>
                  <a:pt x="52" y="3418"/>
                </a:lnTo>
                <a:lnTo>
                  <a:pt x="77" y="2835"/>
                </a:lnTo>
                <a:lnTo>
                  <a:pt x="401" y="2483"/>
                </a:lnTo>
                <a:lnTo>
                  <a:pt x="563" y="2321"/>
                </a:lnTo>
                <a:lnTo>
                  <a:pt x="976" y="2169"/>
                </a:lnTo>
                <a:lnTo>
                  <a:pt x="1477" y="1878"/>
                </a:lnTo>
                <a:lnTo>
                  <a:pt x="2014" y="1711"/>
                </a:lnTo>
                <a:lnTo>
                  <a:pt x="2522" y="1610"/>
                </a:lnTo>
                <a:lnTo>
                  <a:pt x="3258" y="1431"/>
                </a:lnTo>
                <a:lnTo>
                  <a:pt x="3940" y="1316"/>
                </a:lnTo>
                <a:lnTo>
                  <a:pt x="4837" y="1013"/>
                </a:lnTo>
                <a:lnTo>
                  <a:pt x="6032" y="1083"/>
                </a:lnTo>
                <a:lnTo>
                  <a:pt x="7084" y="869"/>
                </a:lnTo>
                <a:lnTo>
                  <a:pt x="8096" y="844"/>
                </a:lnTo>
                <a:lnTo>
                  <a:pt x="9418" y="737"/>
                </a:lnTo>
                <a:lnTo>
                  <a:pt x="10930" y="617"/>
                </a:lnTo>
                <a:lnTo>
                  <a:pt x="12352" y="577"/>
                </a:lnTo>
                <a:lnTo>
                  <a:pt x="13970" y="360"/>
                </a:lnTo>
                <a:lnTo>
                  <a:pt x="15588" y="326"/>
                </a:lnTo>
                <a:lnTo>
                  <a:pt x="17718" y="351"/>
                </a:lnTo>
                <a:lnTo>
                  <a:pt x="19634" y="289"/>
                </a:lnTo>
                <a:lnTo>
                  <a:pt x="22089" y="235"/>
                </a:lnTo>
                <a:lnTo>
                  <a:pt x="24635" y="307"/>
                </a:lnTo>
                <a:lnTo>
                  <a:pt x="27422" y="153"/>
                </a:lnTo>
                <a:lnTo>
                  <a:pt x="30456" y="168"/>
                </a:lnTo>
                <a:lnTo>
                  <a:pt x="34076" y="28"/>
                </a:lnTo>
                <a:lnTo>
                  <a:pt x="38134" y="0"/>
                </a:lnTo>
                <a:lnTo>
                  <a:pt x="43256" y="129"/>
                </a:lnTo>
                <a:lnTo>
                  <a:pt x="50394" y="146"/>
                </a:lnTo>
                <a:lnTo>
                  <a:pt x="72945" y="57"/>
                </a:lnTo>
                <a:lnTo>
                  <a:pt x="95203" y="26"/>
                </a:lnTo>
                <a:lnTo>
                  <a:pt x="102395" y="134"/>
                </a:lnTo>
                <a:lnTo>
                  <a:pt x="107524" y="186"/>
                </a:lnTo>
                <a:lnTo>
                  <a:pt x="111791" y="118"/>
                </a:lnTo>
                <a:lnTo>
                  <a:pt x="115248" y="64"/>
                </a:lnTo>
                <a:lnTo>
                  <a:pt x="118477" y="225"/>
                </a:lnTo>
                <a:lnTo>
                  <a:pt x="121104" y="180"/>
                </a:lnTo>
                <a:lnTo>
                  <a:pt x="123687" y="370"/>
                </a:lnTo>
                <a:lnTo>
                  <a:pt x="125927" y="367"/>
                </a:lnTo>
                <a:lnTo>
                  <a:pt x="127987" y="428"/>
                </a:lnTo>
                <a:lnTo>
                  <a:pt x="129890" y="503"/>
                </a:lnTo>
                <a:lnTo>
                  <a:pt x="131730" y="409"/>
                </a:lnTo>
                <a:lnTo>
                  <a:pt x="133328" y="421"/>
                </a:lnTo>
                <a:lnTo>
                  <a:pt x="134961" y="669"/>
                </a:lnTo>
                <a:lnTo>
                  <a:pt x="136186" y="632"/>
                </a:lnTo>
                <a:lnTo>
                  <a:pt x="137685" y="741"/>
                </a:lnTo>
                <a:lnTo>
                  <a:pt x="138630" y="903"/>
                </a:lnTo>
                <a:lnTo>
                  <a:pt x="139735" y="1055"/>
                </a:lnTo>
                <a:lnTo>
                  <a:pt x="140754" y="1104"/>
                </a:lnTo>
                <a:lnTo>
                  <a:pt x="141775" y="1111"/>
                </a:lnTo>
                <a:lnTo>
                  <a:pt x="142469" y="1378"/>
                </a:lnTo>
                <a:lnTo>
                  <a:pt x="143149" y="1422"/>
                </a:lnTo>
                <a:lnTo>
                  <a:pt x="143675" y="1574"/>
                </a:lnTo>
                <a:lnTo>
                  <a:pt x="144350" y="1799"/>
                </a:lnTo>
                <a:lnTo>
                  <a:pt x="144819" y="2050"/>
                </a:lnTo>
                <a:lnTo>
                  <a:pt x="145164" y="2275"/>
                </a:lnTo>
                <a:lnTo>
                  <a:pt x="145337" y="2446"/>
                </a:lnTo>
                <a:lnTo>
                  <a:pt x="145509" y="2945"/>
                </a:lnTo>
                <a:lnTo>
                  <a:pt x="145693" y="3340"/>
                </a:lnTo>
                <a:lnTo>
                  <a:pt x="145811" y="4818"/>
                </a:lnTo>
                <a:close/>
              </a:path>
            </a:pathLst>
          </a:custGeom>
          <a:noFill/>
          <a:ln w="19685" cap="rnd">
            <a:solidFill>
              <a:srgbClr val="9D7B35">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647578" y="6559174"/>
            <a:ext cx="13336798" cy="881664"/>
          </a:xfrm>
          <a:custGeom>
            <a:avLst/>
            <a:gdLst/>
            <a:ahLst/>
            <a:cxnLst/>
            <a:rect l="l" t="t" r="r" b="b"/>
            <a:pathLst>
              <a:path w="145853" h="9642">
                <a:moveTo>
                  <a:pt x="145853" y="4752"/>
                </a:moveTo>
                <a:lnTo>
                  <a:pt x="145651" y="6274"/>
                </a:lnTo>
                <a:lnTo>
                  <a:pt x="145604" y="6847"/>
                </a:lnTo>
                <a:lnTo>
                  <a:pt x="145346" y="7150"/>
                </a:lnTo>
                <a:lnTo>
                  <a:pt x="145144" y="7375"/>
                </a:lnTo>
                <a:lnTo>
                  <a:pt x="144733" y="7545"/>
                </a:lnTo>
                <a:lnTo>
                  <a:pt x="144315" y="7770"/>
                </a:lnTo>
                <a:lnTo>
                  <a:pt x="143729" y="7950"/>
                </a:lnTo>
                <a:lnTo>
                  <a:pt x="143112" y="8200"/>
                </a:lnTo>
                <a:lnTo>
                  <a:pt x="142624" y="8286"/>
                </a:lnTo>
                <a:lnTo>
                  <a:pt x="141707" y="8460"/>
                </a:lnTo>
                <a:lnTo>
                  <a:pt x="140798" y="8565"/>
                </a:lnTo>
                <a:lnTo>
                  <a:pt x="139984" y="8629"/>
                </a:lnTo>
                <a:lnTo>
                  <a:pt x="138856" y="8723"/>
                </a:lnTo>
                <a:lnTo>
                  <a:pt x="137607" y="8949"/>
                </a:lnTo>
                <a:lnTo>
                  <a:pt x="136298" y="8906"/>
                </a:lnTo>
                <a:lnTo>
                  <a:pt x="134971" y="8997"/>
                </a:lnTo>
                <a:lnTo>
                  <a:pt x="133513" y="9075"/>
                </a:lnTo>
                <a:lnTo>
                  <a:pt x="131762" y="9197"/>
                </a:lnTo>
                <a:lnTo>
                  <a:pt x="130175" y="9224"/>
                </a:lnTo>
                <a:lnTo>
                  <a:pt x="128204" y="9225"/>
                </a:lnTo>
                <a:lnTo>
                  <a:pt x="126020" y="9451"/>
                </a:lnTo>
                <a:lnTo>
                  <a:pt x="123836" y="9356"/>
                </a:lnTo>
                <a:lnTo>
                  <a:pt x="121239" y="9346"/>
                </a:lnTo>
                <a:lnTo>
                  <a:pt x="118421" y="9508"/>
                </a:lnTo>
                <a:lnTo>
                  <a:pt x="115291" y="9417"/>
                </a:lnTo>
                <a:lnTo>
                  <a:pt x="111782" y="9621"/>
                </a:lnTo>
                <a:lnTo>
                  <a:pt x="107622" y="9450"/>
                </a:lnTo>
                <a:lnTo>
                  <a:pt x="102412" y="9516"/>
                </a:lnTo>
                <a:lnTo>
                  <a:pt x="95222" y="9642"/>
                </a:lnTo>
                <a:lnTo>
                  <a:pt x="72944" y="9453"/>
                </a:lnTo>
                <a:lnTo>
                  <a:pt x="50548" y="9569"/>
                </a:lnTo>
                <a:lnTo>
                  <a:pt x="43411" y="9463"/>
                </a:lnTo>
                <a:lnTo>
                  <a:pt x="38312" y="9455"/>
                </a:lnTo>
                <a:lnTo>
                  <a:pt x="34095" y="9530"/>
                </a:lnTo>
                <a:lnTo>
                  <a:pt x="30359" y="9491"/>
                </a:lnTo>
                <a:lnTo>
                  <a:pt x="27335" y="9498"/>
                </a:lnTo>
                <a:lnTo>
                  <a:pt x="24681" y="9410"/>
                </a:lnTo>
                <a:lnTo>
                  <a:pt x="22057" y="9368"/>
                </a:lnTo>
                <a:lnTo>
                  <a:pt x="19789" y="9406"/>
                </a:lnTo>
                <a:lnTo>
                  <a:pt x="17759" y="9257"/>
                </a:lnTo>
                <a:lnTo>
                  <a:pt x="15869" y="9166"/>
                </a:lnTo>
                <a:lnTo>
                  <a:pt x="14119" y="9244"/>
                </a:lnTo>
                <a:lnTo>
                  <a:pt x="12438" y="9074"/>
                </a:lnTo>
                <a:lnTo>
                  <a:pt x="10813" y="8996"/>
                </a:lnTo>
                <a:lnTo>
                  <a:pt x="9425" y="8884"/>
                </a:lnTo>
                <a:lnTo>
                  <a:pt x="8112" y="8944"/>
                </a:lnTo>
                <a:lnTo>
                  <a:pt x="6976" y="8771"/>
                </a:lnTo>
                <a:lnTo>
                  <a:pt x="6051" y="8750"/>
                </a:lnTo>
                <a:lnTo>
                  <a:pt x="4875" y="8542"/>
                </a:lnTo>
                <a:lnTo>
                  <a:pt x="3986" y="8465"/>
                </a:lnTo>
                <a:lnTo>
                  <a:pt x="3252" y="8246"/>
                </a:lnTo>
                <a:lnTo>
                  <a:pt x="2648" y="8044"/>
                </a:lnTo>
                <a:lnTo>
                  <a:pt x="2104" y="8038"/>
                </a:lnTo>
                <a:lnTo>
                  <a:pt x="1411" y="7841"/>
                </a:lnTo>
                <a:lnTo>
                  <a:pt x="1083" y="7528"/>
                </a:lnTo>
                <a:lnTo>
                  <a:pt x="763" y="7442"/>
                </a:lnTo>
                <a:lnTo>
                  <a:pt x="429" y="7125"/>
                </a:lnTo>
                <a:lnTo>
                  <a:pt x="221" y="6770"/>
                </a:lnTo>
                <a:lnTo>
                  <a:pt x="0" y="6187"/>
                </a:lnTo>
                <a:lnTo>
                  <a:pt x="6" y="4881"/>
                </a:lnTo>
                <a:lnTo>
                  <a:pt x="178" y="3476"/>
                </a:lnTo>
                <a:lnTo>
                  <a:pt x="185" y="2869"/>
                </a:lnTo>
                <a:lnTo>
                  <a:pt x="494" y="2608"/>
                </a:lnTo>
                <a:lnTo>
                  <a:pt x="661" y="2383"/>
                </a:lnTo>
                <a:lnTo>
                  <a:pt x="1080" y="1975"/>
                </a:lnTo>
                <a:lnTo>
                  <a:pt x="1439" y="1970"/>
                </a:lnTo>
                <a:lnTo>
                  <a:pt x="2120" y="1687"/>
                </a:lnTo>
                <a:lnTo>
                  <a:pt x="2578" y="1538"/>
                </a:lnTo>
                <a:lnTo>
                  <a:pt x="3245" y="1423"/>
                </a:lnTo>
                <a:lnTo>
                  <a:pt x="4177" y="1307"/>
                </a:lnTo>
                <a:lnTo>
                  <a:pt x="4896" y="1128"/>
                </a:lnTo>
                <a:lnTo>
                  <a:pt x="6043" y="933"/>
                </a:lnTo>
                <a:lnTo>
                  <a:pt x="6932" y="872"/>
                </a:lnTo>
                <a:lnTo>
                  <a:pt x="8193" y="871"/>
                </a:lnTo>
                <a:lnTo>
                  <a:pt x="9349" y="628"/>
                </a:lnTo>
                <a:lnTo>
                  <a:pt x="10880" y="709"/>
                </a:lnTo>
                <a:lnTo>
                  <a:pt x="12389" y="624"/>
                </a:lnTo>
                <a:lnTo>
                  <a:pt x="13868" y="362"/>
                </a:lnTo>
                <a:lnTo>
                  <a:pt x="15831" y="322"/>
                </a:lnTo>
                <a:lnTo>
                  <a:pt x="17758" y="297"/>
                </a:lnTo>
                <a:lnTo>
                  <a:pt x="19788" y="329"/>
                </a:lnTo>
                <a:lnTo>
                  <a:pt x="22153" y="259"/>
                </a:lnTo>
                <a:lnTo>
                  <a:pt x="24496" y="104"/>
                </a:lnTo>
                <a:lnTo>
                  <a:pt x="27284" y="208"/>
                </a:lnTo>
                <a:lnTo>
                  <a:pt x="30527" y="108"/>
                </a:lnTo>
                <a:lnTo>
                  <a:pt x="34090" y="136"/>
                </a:lnTo>
                <a:lnTo>
                  <a:pt x="38191" y="40"/>
                </a:lnTo>
                <a:lnTo>
                  <a:pt x="43373" y="124"/>
                </a:lnTo>
                <a:lnTo>
                  <a:pt x="50647" y="43"/>
                </a:lnTo>
                <a:lnTo>
                  <a:pt x="72949" y="98"/>
                </a:lnTo>
                <a:lnTo>
                  <a:pt x="95270" y="0"/>
                </a:lnTo>
                <a:lnTo>
                  <a:pt x="102456" y="39"/>
                </a:lnTo>
                <a:lnTo>
                  <a:pt x="107598" y="85"/>
                </a:lnTo>
                <a:lnTo>
                  <a:pt x="111698" y="39"/>
                </a:lnTo>
                <a:lnTo>
                  <a:pt x="115360" y="259"/>
                </a:lnTo>
                <a:lnTo>
                  <a:pt x="118408" y="183"/>
                </a:lnTo>
                <a:lnTo>
                  <a:pt x="121186" y="183"/>
                </a:lnTo>
                <a:lnTo>
                  <a:pt x="123884" y="195"/>
                </a:lnTo>
                <a:lnTo>
                  <a:pt x="126033" y="360"/>
                </a:lnTo>
                <a:lnTo>
                  <a:pt x="128098" y="329"/>
                </a:lnTo>
                <a:lnTo>
                  <a:pt x="130012" y="413"/>
                </a:lnTo>
                <a:lnTo>
                  <a:pt x="131718" y="503"/>
                </a:lnTo>
                <a:lnTo>
                  <a:pt x="133541" y="512"/>
                </a:lnTo>
                <a:lnTo>
                  <a:pt x="134892" y="723"/>
                </a:lnTo>
                <a:lnTo>
                  <a:pt x="136265" y="616"/>
                </a:lnTo>
                <a:lnTo>
                  <a:pt x="137561" y="718"/>
                </a:lnTo>
                <a:lnTo>
                  <a:pt x="138727" y="988"/>
                </a:lnTo>
                <a:lnTo>
                  <a:pt x="139858" y="1063"/>
                </a:lnTo>
                <a:lnTo>
                  <a:pt x="140841" y="1212"/>
                </a:lnTo>
                <a:lnTo>
                  <a:pt x="141780" y="1299"/>
                </a:lnTo>
                <a:lnTo>
                  <a:pt x="142485" y="1384"/>
                </a:lnTo>
                <a:lnTo>
                  <a:pt x="143338" y="1475"/>
                </a:lnTo>
                <a:lnTo>
                  <a:pt x="143829" y="1690"/>
                </a:lnTo>
                <a:lnTo>
                  <a:pt x="144220" y="1879"/>
                </a:lnTo>
                <a:lnTo>
                  <a:pt x="144753" y="1952"/>
                </a:lnTo>
                <a:lnTo>
                  <a:pt x="145147" y="2319"/>
                </a:lnTo>
                <a:lnTo>
                  <a:pt x="145350" y="2585"/>
                </a:lnTo>
                <a:lnTo>
                  <a:pt x="145701" y="2889"/>
                </a:lnTo>
                <a:lnTo>
                  <a:pt x="145785" y="3339"/>
                </a:lnTo>
                <a:lnTo>
                  <a:pt x="145748" y="4713"/>
                </a:lnTo>
                <a:close/>
              </a:path>
            </a:pathLst>
          </a:custGeom>
          <a:noFill/>
          <a:ln w="7620" cap="rnd">
            <a:solidFill>
              <a:srgbClr val="9D7B35">
                <a:alpha val="4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13742609" y="7230527"/>
            <a:ext cx="178125" cy="71049"/>
          </a:xfrm>
          <a:custGeom>
            <a:avLst/>
            <a:gdLst/>
            <a:ahLst/>
            <a:cxnLst/>
            <a:rect l="l" t="t" r="r" b="b"/>
            <a:pathLst>
              <a:path w="1948" h="777">
                <a:moveTo>
                  <a:pt x="1948" y="0"/>
                </a:moveTo>
                <a:lnTo>
                  <a:pt x="1585" y="231"/>
                </a:lnTo>
                <a:lnTo>
                  <a:pt x="1141" y="433"/>
                </a:lnTo>
                <a:lnTo>
                  <a:pt x="613" y="614"/>
                </a:lnTo>
                <a:lnTo>
                  <a:pt x="0" y="777"/>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11735775" y="7402891"/>
            <a:ext cx="805678" cy="17648"/>
          </a:xfrm>
          <a:custGeom>
            <a:avLst/>
            <a:gdLst/>
            <a:ahLst/>
            <a:cxnLst/>
            <a:rect l="l" t="t" r="r" b="b"/>
            <a:pathLst>
              <a:path w="8811" h="193">
                <a:moveTo>
                  <a:pt x="8811" y="0"/>
                </a:moveTo>
                <a:lnTo>
                  <a:pt x="6889" y="57"/>
                </a:lnTo>
                <a:lnTo>
                  <a:pt x="4797" y="108"/>
                </a:lnTo>
                <a:lnTo>
                  <a:pt x="2511" y="153"/>
                </a:lnTo>
                <a:lnTo>
                  <a:pt x="0" y="193"/>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2665019" y="7416881"/>
            <a:ext cx="1094720" cy="11521"/>
          </a:xfrm>
          <a:custGeom>
            <a:avLst/>
            <a:gdLst/>
            <a:ahLst/>
            <a:cxnLst/>
            <a:rect l="l" t="t" r="r" b="b"/>
            <a:pathLst>
              <a:path w="11972" h="126">
                <a:moveTo>
                  <a:pt x="11972" y="126"/>
                </a:moveTo>
                <a:lnTo>
                  <a:pt x="8412" y="103"/>
                </a:lnTo>
                <a:lnTo>
                  <a:pt x="5293" y="74"/>
                </a:lnTo>
                <a:lnTo>
                  <a:pt x="2511" y="40"/>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831738" y="7286671"/>
            <a:ext cx="272217" cy="52212"/>
          </a:xfrm>
          <a:custGeom>
            <a:avLst/>
            <a:gdLst/>
            <a:ahLst/>
            <a:cxnLst/>
            <a:rect l="l" t="t" r="r" b="b"/>
            <a:pathLst>
              <a:path w="2977" h="571">
                <a:moveTo>
                  <a:pt x="2977" y="571"/>
                </a:moveTo>
                <a:lnTo>
                  <a:pt x="2099" y="447"/>
                </a:lnTo>
                <a:lnTo>
                  <a:pt x="1312" y="311"/>
                </a:lnTo>
                <a:lnTo>
                  <a:pt x="613" y="163"/>
                </a:lnTo>
                <a:lnTo>
                  <a:pt x="0"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709666" y="6697889"/>
            <a:ext cx="178125" cy="71049"/>
          </a:xfrm>
          <a:custGeom>
            <a:avLst/>
            <a:gdLst/>
            <a:ahLst/>
            <a:cxnLst/>
            <a:rect l="l" t="t" r="r" b="b"/>
            <a:pathLst>
              <a:path w="1948" h="777">
                <a:moveTo>
                  <a:pt x="0" y="777"/>
                </a:moveTo>
                <a:lnTo>
                  <a:pt x="363" y="546"/>
                </a:lnTo>
                <a:lnTo>
                  <a:pt x="807" y="344"/>
                </a:lnTo>
                <a:lnTo>
                  <a:pt x="1335" y="163"/>
                </a:lnTo>
                <a:lnTo>
                  <a:pt x="1948"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2088947" y="6578925"/>
            <a:ext cx="805678" cy="17648"/>
          </a:xfrm>
          <a:custGeom>
            <a:avLst/>
            <a:gdLst/>
            <a:ahLst/>
            <a:cxnLst/>
            <a:rect l="l" t="t" r="r" b="b"/>
            <a:pathLst>
              <a:path w="8811" h="193">
                <a:moveTo>
                  <a:pt x="0" y="193"/>
                </a:moveTo>
                <a:lnTo>
                  <a:pt x="1922" y="136"/>
                </a:lnTo>
                <a:lnTo>
                  <a:pt x="4014" y="85"/>
                </a:lnTo>
                <a:lnTo>
                  <a:pt x="6300" y="40"/>
                </a:lnTo>
                <a:lnTo>
                  <a:pt x="8811" y="0"/>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0870662" y="6571061"/>
            <a:ext cx="1094720" cy="11521"/>
          </a:xfrm>
          <a:custGeom>
            <a:avLst/>
            <a:gdLst/>
            <a:ahLst/>
            <a:cxnLst/>
            <a:rect l="l" t="t" r="r" b="b"/>
            <a:pathLst>
              <a:path w="11972" h="126">
                <a:moveTo>
                  <a:pt x="0" y="0"/>
                </a:moveTo>
                <a:lnTo>
                  <a:pt x="3560" y="23"/>
                </a:lnTo>
                <a:lnTo>
                  <a:pt x="6679" y="52"/>
                </a:lnTo>
                <a:lnTo>
                  <a:pt x="9461" y="86"/>
                </a:lnTo>
                <a:lnTo>
                  <a:pt x="11972" y="126"/>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3526445" y="6660581"/>
            <a:ext cx="272217" cy="52212"/>
          </a:xfrm>
          <a:custGeom>
            <a:avLst/>
            <a:gdLst/>
            <a:ahLst/>
            <a:cxnLst/>
            <a:rect l="l" t="t" r="r" b="b"/>
            <a:pathLst>
              <a:path w="2977" h="571">
                <a:moveTo>
                  <a:pt x="0" y="0"/>
                </a:moveTo>
                <a:lnTo>
                  <a:pt x="878" y="124"/>
                </a:lnTo>
                <a:lnTo>
                  <a:pt x="1665" y="260"/>
                </a:lnTo>
                <a:lnTo>
                  <a:pt x="2364" y="408"/>
                </a:lnTo>
                <a:lnTo>
                  <a:pt x="2977" y="571"/>
                </a:lnTo>
              </a:path>
            </a:pathLst>
          </a:custGeom>
          <a:noFill/>
          <a:ln w="27940" cap="rnd">
            <a:solidFill>
              <a:srgbClr val="9D7B35">
                <a:alpha val="1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ody: No benchmark-level safety or utility improvement has been measur"/>
          <p:cNvSpPr txBox="1"/>
          <p:nvPr/>
        </p:nvSpPr>
        <p:spPr>
          <a:xfrm>
            <a:off x="914400" y="6816248"/>
            <a:ext cx="12801600" cy="366966"/>
          </a:xfrm>
          <a:prstGeom prst="rect">
            <a:avLst/>
          </a:prstGeom>
          <a:noFill/>
        </p:spPr>
        <p:txBody>
          <a:bodyPr wrap="none" lIns="0" rIns="0" tIns="0" bIns="0" anchor="t">
            <a:noAutofit/>
          </a:bodyPr>
          <a:lstStyle/>
          <a:p>
            <a:pPr algn="ctr">
              <a:lnSpc>
                <a:spcPts val="2349"/>
              </a:lnSpc>
              <a:spcBef>
                <a:spcPts val="0"/>
              </a:spcBef>
              <a:spcAft>
                <a:spcPts val="0"/>
              </a:spcAft>
            </a:pPr>
            <a:r>
              <a:rPr sz="1850" b="0">
                <a:solidFill>
                  <a:srgbClr val="293E46"/>
                </a:solidFill>
                <a:latin typeface="Trebuchet MS"/>
              </a:rPr>
              <a:t>No benchmark-level safety or utility improvement has been measured. The figures are design overviews, not results.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REFERENCE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REFERENCES</a:t>
            </a:r>
          </a:p>
        </p:txBody>
      </p:sp>
      <p:sp>
        <p:nvSpPr>
          <p:cNvPr id="3" name="title: Reference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References</a:t>
            </a:r>
          </a:p>
        </p:txBody>
      </p:sp>
      <p:sp>
        <p:nvSpPr>
          <p:cNvPr id="4" name="Freeform 3"/>
          <p:cNvSpPr/>
          <p:nvPr/>
        </p:nvSpPr>
        <p:spPr>
          <a:xfrm>
            <a:off x="6263640" y="1359347"/>
            <a:ext cx="2103120" cy="37948"/>
          </a:xfrm>
          <a:custGeom>
            <a:avLst/>
            <a:gdLst/>
            <a:ahLst/>
            <a:cxnLst/>
            <a:rect l="l" t="t" r="r" b="b"/>
            <a:pathLst>
              <a:path w="23000" h="415">
                <a:moveTo>
                  <a:pt x="0" y="163"/>
                </a:moveTo>
                <a:lnTo>
                  <a:pt x="958" y="368"/>
                </a:lnTo>
                <a:lnTo>
                  <a:pt x="1917" y="334"/>
                </a:lnTo>
                <a:lnTo>
                  <a:pt x="2875" y="337"/>
                </a:lnTo>
                <a:lnTo>
                  <a:pt x="3833" y="196"/>
                </a:lnTo>
                <a:lnTo>
                  <a:pt x="4792" y="147"/>
                </a:lnTo>
                <a:lnTo>
                  <a:pt x="5750" y="45"/>
                </a:lnTo>
                <a:lnTo>
                  <a:pt x="6708" y="132"/>
                </a:lnTo>
                <a:lnTo>
                  <a:pt x="7667" y="335"/>
                </a:lnTo>
                <a:lnTo>
                  <a:pt x="8625" y="346"/>
                </a:lnTo>
                <a:lnTo>
                  <a:pt x="9583" y="377"/>
                </a:lnTo>
                <a:lnTo>
                  <a:pt x="10542" y="415"/>
                </a:lnTo>
                <a:lnTo>
                  <a:pt x="11500" y="173"/>
                </a:lnTo>
                <a:lnTo>
                  <a:pt x="12458" y="36"/>
                </a:lnTo>
                <a:lnTo>
                  <a:pt x="13417" y="56"/>
                </a:lnTo>
                <a:lnTo>
                  <a:pt x="14375" y="158"/>
                </a:lnTo>
                <a:lnTo>
                  <a:pt x="15333" y="198"/>
                </a:lnTo>
                <a:lnTo>
                  <a:pt x="16292" y="407"/>
                </a:lnTo>
                <a:lnTo>
                  <a:pt x="17250" y="406"/>
                </a:lnTo>
                <a:lnTo>
                  <a:pt x="18208" y="294"/>
                </a:lnTo>
                <a:lnTo>
                  <a:pt x="19167" y="170"/>
                </a:lnTo>
                <a:lnTo>
                  <a:pt x="20125" y="132"/>
                </a:lnTo>
                <a:lnTo>
                  <a:pt x="21083" y="0"/>
                </a:lnTo>
                <a:lnTo>
                  <a:pt x="22042" y="131"/>
                </a:lnTo>
                <a:lnTo>
                  <a:pt x="23000" y="300"/>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5806"/>
            <a:ext cx="2103120" cy="37948"/>
          </a:xfrm>
          <a:custGeom>
            <a:avLst/>
            <a:gdLst/>
            <a:ahLst/>
            <a:cxnLst/>
            <a:rect l="l" t="t" r="r" b="b"/>
            <a:pathLst>
              <a:path w="23000" h="415">
                <a:moveTo>
                  <a:pt x="0" y="163"/>
                </a:moveTo>
                <a:lnTo>
                  <a:pt x="958" y="368"/>
                </a:lnTo>
                <a:lnTo>
                  <a:pt x="1917" y="334"/>
                </a:lnTo>
                <a:lnTo>
                  <a:pt x="2875" y="337"/>
                </a:lnTo>
                <a:lnTo>
                  <a:pt x="3833" y="196"/>
                </a:lnTo>
                <a:lnTo>
                  <a:pt x="4792" y="147"/>
                </a:lnTo>
                <a:lnTo>
                  <a:pt x="5750" y="45"/>
                </a:lnTo>
                <a:lnTo>
                  <a:pt x="6708" y="132"/>
                </a:lnTo>
                <a:lnTo>
                  <a:pt x="7667" y="335"/>
                </a:lnTo>
                <a:lnTo>
                  <a:pt x="8625" y="346"/>
                </a:lnTo>
                <a:lnTo>
                  <a:pt x="9583" y="377"/>
                </a:lnTo>
                <a:lnTo>
                  <a:pt x="10542" y="415"/>
                </a:lnTo>
                <a:lnTo>
                  <a:pt x="11500" y="173"/>
                </a:lnTo>
                <a:lnTo>
                  <a:pt x="12458" y="36"/>
                </a:lnTo>
                <a:lnTo>
                  <a:pt x="13417" y="56"/>
                </a:lnTo>
                <a:lnTo>
                  <a:pt x="14375" y="158"/>
                </a:lnTo>
                <a:lnTo>
                  <a:pt x="15333" y="198"/>
                </a:lnTo>
                <a:lnTo>
                  <a:pt x="16292" y="407"/>
                </a:lnTo>
                <a:lnTo>
                  <a:pt x="17250" y="406"/>
                </a:lnTo>
                <a:lnTo>
                  <a:pt x="18208" y="294"/>
                </a:lnTo>
                <a:lnTo>
                  <a:pt x="19167" y="170"/>
                </a:lnTo>
                <a:lnTo>
                  <a:pt x="20125" y="132"/>
                </a:lnTo>
                <a:lnTo>
                  <a:pt x="21083" y="0"/>
                </a:lnTo>
                <a:lnTo>
                  <a:pt x="22042" y="131"/>
                </a:lnTo>
                <a:lnTo>
                  <a:pt x="23000" y="300"/>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rt: 1 / 2"/>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1 / 2</a:t>
            </a:r>
          </a:p>
        </p:txBody>
      </p:sp>
      <p:sp>
        <p:nvSpPr>
          <p:cNvPr id="11" name="Freeform 10"/>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3" name="page: 39"/>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39</a:t>
            </a:r>
          </a:p>
        </p:txBody>
      </p:sp>
      <p:sp>
        <p:nvSpPr>
          <p:cNvPr id="14" name="Oval 13"/>
          <p:cNvSpPr/>
          <p:nvPr/>
        </p:nvSpPr>
        <p:spPr>
          <a:xfrm>
            <a:off x="822960" y="2064258"/>
            <a:ext cx="109728" cy="109728"/>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ody: Greenblatt et al. (2023). AI Control: Improving Safety Despite I"/>
          <p:cNvSpPr txBox="1"/>
          <p:nvPr/>
        </p:nvSpPr>
        <p:spPr>
          <a:xfrm>
            <a:off x="1170432" y="1911572"/>
            <a:ext cx="12527280"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Greenblatt et al. (2023). AI Control: Improving Safety Despite Intentional Subversion. arXiv:2312.06942</a:t>
            </a:r>
          </a:p>
        </p:txBody>
      </p:sp>
      <p:sp>
        <p:nvSpPr>
          <p:cNvPr id="16" name="Freeform 15"/>
          <p:cNvSpPr/>
          <p:nvPr/>
        </p:nvSpPr>
        <p:spPr>
          <a:xfrm>
            <a:off x="1170432" y="246613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772918"/>
            <a:ext cx="109728" cy="109728"/>
          </a:xfrm>
          <a:prstGeom prst="ellipse">
            <a:avLst/>
          </a:prstGeom>
          <a:solidFill>
            <a:srgbClr val="557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 Bhatt et al. (2025). Ctrl-Z: Controlling AI Agents via Resamplin"/>
          <p:cNvSpPr txBox="1"/>
          <p:nvPr/>
        </p:nvSpPr>
        <p:spPr>
          <a:xfrm>
            <a:off x="1170432" y="2620232"/>
            <a:ext cx="12527280"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Bhatt et al. (2025). Ctrl-Z: Controlling AI Agents via Resampling. arXiv:2504.10374</a:t>
            </a:r>
          </a:p>
        </p:txBody>
      </p:sp>
      <p:sp>
        <p:nvSpPr>
          <p:cNvPr id="19" name="Freeform 18"/>
          <p:cNvSpPr/>
          <p:nvPr/>
        </p:nvSpPr>
        <p:spPr>
          <a:xfrm>
            <a:off x="1170432" y="317479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60" y="3481578"/>
            <a:ext cx="109728" cy="109728"/>
          </a:xfrm>
          <a:prstGeom prst="ellipse">
            <a:avLst/>
          </a:prstGeom>
          <a:solidFill>
            <a:srgbClr val="9D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dy: Kutasov et al. (2025). SHADE-Arena: Evaluating Sabotage and Moni"/>
          <p:cNvSpPr txBox="1"/>
          <p:nvPr/>
        </p:nvSpPr>
        <p:spPr>
          <a:xfrm>
            <a:off x="1170432" y="3328892"/>
            <a:ext cx="12527280"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Kutasov et al. (2025). SHADE-Arena: Evaluating Sabotage and Monitoring in LLM Agents. arXiv:2506.15740</a:t>
            </a:r>
          </a:p>
        </p:txBody>
      </p:sp>
      <p:sp>
        <p:nvSpPr>
          <p:cNvPr id="22" name="Freeform 21"/>
          <p:cNvSpPr/>
          <p:nvPr/>
        </p:nvSpPr>
        <p:spPr>
          <a:xfrm>
            <a:off x="1170432" y="388345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2960" y="4190238"/>
            <a:ext cx="109728" cy="109728"/>
          </a:xfrm>
          <a:prstGeom prst="ellipse">
            <a:avLst/>
          </a:prstGeom>
          <a:solidFill>
            <a:srgbClr val="AE6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Debenedetti et al. (2024). AgentDojo: A Dynamic Environment to E"/>
          <p:cNvSpPr txBox="1"/>
          <p:nvPr/>
        </p:nvSpPr>
        <p:spPr>
          <a:xfrm>
            <a:off x="1170432" y="3900455"/>
            <a:ext cx="12527280" cy="657288"/>
          </a:xfrm>
          <a:prstGeom prst="rect">
            <a:avLst/>
          </a:prstGeom>
          <a:noFill/>
        </p:spPr>
        <p:txBody>
          <a:bodyPr wrap="none" lIns="0" rIns="0" tIns="0" bIns="0" anchor="t">
            <a:noAutofit/>
          </a:bodyPr>
          <a:lstStyle/>
          <a:p>
            <a:pPr algn="l">
              <a:lnSpc>
                <a:spcPts val="2317"/>
              </a:lnSpc>
              <a:spcBef>
                <a:spcPts val="0"/>
              </a:spcBef>
              <a:spcAft>
                <a:spcPts val="0"/>
              </a:spcAft>
            </a:pPr>
            <a:r>
              <a:rPr sz="1825" b="0">
                <a:solidFill>
                  <a:srgbClr val="293E46"/>
                </a:solidFill>
                <a:latin typeface="Trebuchet MS"/>
              </a:rPr>
              <a:t>Debenedetti et al. (2024). AgentDojo: A Dynamic Environment to Evaluate Prompt Injection Attacks and Defenses</a:t>
            </a:r>
            <a:br/>
            <a:r>
              <a:rPr sz="1825" b="0">
                <a:solidFill>
                  <a:srgbClr val="293E46"/>
                </a:solidFill>
                <a:latin typeface="Trebuchet MS"/>
              </a:rPr>
              <a:t>for LLM Agents. NeurIPS D&amp;B</a:t>
            </a:r>
          </a:p>
        </p:txBody>
      </p:sp>
      <p:sp>
        <p:nvSpPr>
          <p:cNvPr id="25" name="Freeform 24"/>
          <p:cNvSpPr/>
          <p:nvPr/>
        </p:nvSpPr>
        <p:spPr>
          <a:xfrm>
            <a:off x="1170432" y="459211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60" y="4898898"/>
            <a:ext cx="109728" cy="109728"/>
          </a:xfrm>
          <a:prstGeom prst="ellipse">
            <a:avLst/>
          </a:prstGeom>
          <a:solidFill>
            <a:srgbClr val="7C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Zhong, Raghunathan, Carlini (2025). ImpossibleBench: Measuring L"/>
          <p:cNvSpPr txBox="1"/>
          <p:nvPr/>
        </p:nvSpPr>
        <p:spPr>
          <a:xfrm>
            <a:off x="1170432" y="4609115"/>
            <a:ext cx="12527280" cy="657288"/>
          </a:xfrm>
          <a:prstGeom prst="rect">
            <a:avLst/>
          </a:prstGeom>
          <a:noFill/>
        </p:spPr>
        <p:txBody>
          <a:bodyPr wrap="none" lIns="0" rIns="0" tIns="0" bIns="0" anchor="t">
            <a:noAutofit/>
          </a:bodyPr>
          <a:lstStyle/>
          <a:p>
            <a:pPr algn="l">
              <a:lnSpc>
                <a:spcPts val="2317"/>
              </a:lnSpc>
              <a:spcBef>
                <a:spcPts val="0"/>
              </a:spcBef>
              <a:spcAft>
                <a:spcPts val="0"/>
              </a:spcAft>
            </a:pPr>
            <a:r>
              <a:rPr sz="1825" b="0">
                <a:solidFill>
                  <a:srgbClr val="293E46"/>
                </a:solidFill>
                <a:latin typeface="Trebuchet MS"/>
              </a:rPr>
              <a:t>Zhong, Raghunathan, Carlini (2025). ImpossibleBench: Measuring LLMs' Propensity of Exploiting Test Cases.</a:t>
            </a:r>
            <a:br/>
            <a:r>
              <a:rPr sz="1825" b="0">
                <a:solidFill>
                  <a:srgbClr val="293E46"/>
                </a:solidFill>
                <a:latin typeface="Trebuchet MS"/>
              </a:rPr>
              <a:t>arXiv:2510.20270</a:t>
            </a:r>
          </a:p>
        </p:txBody>
      </p:sp>
      <p:sp>
        <p:nvSpPr>
          <p:cNvPr id="28" name="Freeform 27"/>
          <p:cNvSpPr/>
          <p:nvPr/>
        </p:nvSpPr>
        <p:spPr>
          <a:xfrm>
            <a:off x="1170432" y="530077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2960" y="5607557"/>
            <a:ext cx="109728" cy="109728"/>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ody: ResearchArena (aisa-group, 2025). github.com/aisa-group/Research"/>
          <p:cNvSpPr txBox="1"/>
          <p:nvPr/>
        </p:nvSpPr>
        <p:spPr>
          <a:xfrm>
            <a:off x="1170432" y="5454872"/>
            <a:ext cx="12527280"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ResearchArena (aisa-group, 2025). github.com/aisa-group/ResearchArena</a:t>
            </a:r>
          </a:p>
        </p:txBody>
      </p:sp>
      <p:sp>
        <p:nvSpPr>
          <p:cNvPr id="31" name="Freeform 30"/>
          <p:cNvSpPr/>
          <p:nvPr/>
        </p:nvSpPr>
        <p:spPr>
          <a:xfrm>
            <a:off x="1170432" y="600943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2960" y="6316218"/>
            <a:ext cx="109728" cy="109728"/>
          </a:xfrm>
          <a:prstGeom prst="ellipse">
            <a:avLst/>
          </a:prstGeom>
          <a:solidFill>
            <a:srgbClr val="557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ody: Baker et al. (2025). Monitoring Reasoning Models for Misbehavior"/>
          <p:cNvSpPr txBox="1"/>
          <p:nvPr/>
        </p:nvSpPr>
        <p:spPr>
          <a:xfrm>
            <a:off x="1170432" y="6026435"/>
            <a:ext cx="12527280" cy="657288"/>
          </a:xfrm>
          <a:prstGeom prst="rect">
            <a:avLst/>
          </a:prstGeom>
          <a:noFill/>
        </p:spPr>
        <p:txBody>
          <a:bodyPr wrap="none" lIns="0" rIns="0" tIns="0" bIns="0" anchor="t">
            <a:noAutofit/>
          </a:bodyPr>
          <a:lstStyle/>
          <a:p>
            <a:pPr algn="l">
              <a:lnSpc>
                <a:spcPts val="2317"/>
              </a:lnSpc>
              <a:spcBef>
                <a:spcPts val="0"/>
              </a:spcBef>
              <a:spcAft>
                <a:spcPts val="0"/>
              </a:spcAft>
            </a:pPr>
            <a:r>
              <a:rPr sz="1825" b="0">
                <a:solidFill>
                  <a:srgbClr val="293E46"/>
                </a:solidFill>
                <a:latin typeface="Trebuchet MS"/>
              </a:rPr>
              <a:t>Baker et al. (2025). Monitoring Reasoning Models for Misbehavior and the Risks of Promoting Obfuscation.</a:t>
            </a:r>
            <a:br/>
            <a:r>
              <a:rPr sz="1825" b="0">
                <a:solidFill>
                  <a:srgbClr val="293E46"/>
                </a:solidFill>
                <a:latin typeface="Trebuchet MS"/>
              </a:rPr>
              <a:t>arXiv:2503.11926</a:t>
            </a:r>
          </a:p>
        </p:txBody>
      </p:sp>
      <p:sp>
        <p:nvSpPr>
          <p:cNvPr id="34" name="Freeform 33"/>
          <p:cNvSpPr/>
          <p:nvPr/>
        </p:nvSpPr>
        <p:spPr>
          <a:xfrm>
            <a:off x="1170432" y="671809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22960" y="7024878"/>
            <a:ext cx="109728" cy="109728"/>
          </a:xfrm>
          <a:prstGeom prst="ellipse">
            <a:avLst/>
          </a:prstGeom>
          <a:solidFill>
            <a:srgbClr val="9D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ody: Slattery et al. (2024). The AI Risk Repository. MIT. arXiv:2408."/>
          <p:cNvSpPr txBox="1"/>
          <p:nvPr/>
        </p:nvSpPr>
        <p:spPr>
          <a:xfrm>
            <a:off x="1170432" y="6872192"/>
            <a:ext cx="12527280"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Slattery et al. (2024). The AI Risk Repository. MIT. arXiv:2408.12622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REFERENCE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REFERENCES</a:t>
            </a:r>
          </a:p>
        </p:txBody>
      </p:sp>
      <p:sp>
        <p:nvSpPr>
          <p:cNvPr id="3" name="title: Reference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References</a:t>
            </a:r>
          </a:p>
        </p:txBody>
      </p:sp>
      <p:sp>
        <p:nvSpPr>
          <p:cNvPr id="4" name="Freeform 3"/>
          <p:cNvSpPr/>
          <p:nvPr/>
        </p:nvSpPr>
        <p:spPr>
          <a:xfrm>
            <a:off x="6263640" y="1357518"/>
            <a:ext cx="2103120" cy="45903"/>
          </a:xfrm>
          <a:custGeom>
            <a:avLst/>
            <a:gdLst/>
            <a:ahLst/>
            <a:cxnLst/>
            <a:rect l="l" t="t" r="r" b="b"/>
            <a:pathLst>
              <a:path w="23000" h="502">
                <a:moveTo>
                  <a:pt x="0" y="235"/>
                </a:moveTo>
                <a:lnTo>
                  <a:pt x="958" y="447"/>
                </a:lnTo>
                <a:lnTo>
                  <a:pt x="1917" y="444"/>
                </a:lnTo>
                <a:lnTo>
                  <a:pt x="2875" y="335"/>
                </a:lnTo>
                <a:lnTo>
                  <a:pt x="3833" y="187"/>
                </a:lnTo>
                <a:lnTo>
                  <a:pt x="4792" y="79"/>
                </a:lnTo>
                <a:lnTo>
                  <a:pt x="5750" y="57"/>
                </a:lnTo>
                <a:lnTo>
                  <a:pt x="6708" y="218"/>
                </a:lnTo>
                <a:lnTo>
                  <a:pt x="7667" y="340"/>
                </a:lnTo>
                <a:lnTo>
                  <a:pt x="8625" y="341"/>
                </a:lnTo>
                <a:lnTo>
                  <a:pt x="9583" y="404"/>
                </a:lnTo>
                <a:lnTo>
                  <a:pt x="10542" y="339"/>
                </a:lnTo>
                <a:lnTo>
                  <a:pt x="11500" y="264"/>
                </a:lnTo>
                <a:lnTo>
                  <a:pt x="12458" y="94"/>
                </a:lnTo>
                <a:lnTo>
                  <a:pt x="13417" y="0"/>
                </a:lnTo>
                <a:lnTo>
                  <a:pt x="14375" y="234"/>
                </a:lnTo>
                <a:lnTo>
                  <a:pt x="15333" y="351"/>
                </a:lnTo>
                <a:lnTo>
                  <a:pt x="16292" y="397"/>
                </a:lnTo>
                <a:lnTo>
                  <a:pt x="17250" y="502"/>
                </a:lnTo>
                <a:lnTo>
                  <a:pt x="18208" y="305"/>
                </a:lnTo>
                <a:lnTo>
                  <a:pt x="19167" y="144"/>
                </a:lnTo>
                <a:lnTo>
                  <a:pt x="20125" y="23"/>
                </a:lnTo>
                <a:lnTo>
                  <a:pt x="21083" y="147"/>
                </a:lnTo>
                <a:lnTo>
                  <a:pt x="22042" y="241"/>
                </a:lnTo>
                <a:lnTo>
                  <a:pt x="23000" y="257"/>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3977"/>
            <a:ext cx="2103120" cy="45903"/>
          </a:xfrm>
          <a:custGeom>
            <a:avLst/>
            <a:gdLst/>
            <a:ahLst/>
            <a:cxnLst/>
            <a:rect l="l" t="t" r="r" b="b"/>
            <a:pathLst>
              <a:path w="23000" h="502">
                <a:moveTo>
                  <a:pt x="0" y="235"/>
                </a:moveTo>
                <a:lnTo>
                  <a:pt x="958" y="447"/>
                </a:lnTo>
                <a:lnTo>
                  <a:pt x="1917" y="444"/>
                </a:lnTo>
                <a:lnTo>
                  <a:pt x="2875" y="335"/>
                </a:lnTo>
                <a:lnTo>
                  <a:pt x="3833" y="187"/>
                </a:lnTo>
                <a:lnTo>
                  <a:pt x="4792" y="79"/>
                </a:lnTo>
                <a:lnTo>
                  <a:pt x="5750" y="57"/>
                </a:lnTo>
                <a:lnTo>
                  <a:pt x="6708" y="218"/>
                </a:lnTo>
                <a:lnTo>
                  <a:pt x="7667" y="340"/>
                </a:lnTo>
                <a:lnTo>
                  <a:pt x="8625" y="341"/>
                </a:lnTo>
                <a:lnTo>
                  <a:pt x="9583" y="404"/>
                </a:lnTo>
                <a:lnTo>
                  <a:pt x="10542" y="339"/>
                </a:lnTo>
                <a:lnTo>
                  <a:pt x="11500" y="264"/>
                </a:lnTo>
                <a:lnTo>
                  <a:pt x="12458" y="94"/>
                </a:lnTo>
                <a:lnTo>
                  <a:pt x="13417" y="0"/>
                </a:lnTo>
                <a:lnTo>
                  <a:pt x="14375" y="234"/>
                </a:lnTo>
                <a:lnTo>
                  <a:pt x="15333" y="351"/>
                </a:lnTo>
                <a:lnTo>
                  <a:pt x="16292" y="397"/>
                </a:lnTo>
                <a:lnTo>
                  <a:pt x="17250" y="502"/>
                </a:lnTo>
                <a:lnTo>
                  <a:pt x="18208" y="305"/>
                </a:lnTo>
                <a:lnTo>
                  <a:pt x="19167" y="144"/>
                </a:lnTo>
                <a:lnTo>
                  <a:pt x="20125" y="23"/>
                </a:lnTo>
                <a:lnTo>
                  <a:pt x="21083" y="147"/>
                </a:lnTo>
                <a:lnTo>
                  <a:pt x="22042" y="241"/>
                </a:lnTo>
                <a:lnTo>
                  <a:pt x="23000" y="257"/>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rt: 2 / 2"/>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2 / 2</a:t>
            </a:r>
          </a:p>
        </p:txBody>
      </p:sp>
      <p:sp>
        <p:nvSpPr>
          <p:cNvPr id="11" name="Freeform 10"/>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3" name="page: 40"/>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40</a:t>
            </a:r>
          </a:p>
        </p:txBody>
      </p:sp>
      <p:sp>
        <p:nvSpPr>
          <p:cNvPr id="14" name="Oval 13"/>
          <p:cNvSpPr/>
          <p:nvPr/>
        </p:nvSpPr>
        <p:spPr>
          <a:xfrm>
            <a:off x="822960" y="2064258"/>
            <a:ext cx="109728" cy="109728"/>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ody: UK AI Security Institute. Inspect AI: tool approval and approver"/>
          <p:cNvSpPr txBox="1"/>
          <p:nvPr/>
        </p:nvSpPr>
        <p:spPr>
          <a:xfrm>
            <a:off x="1170432" y="1911572"/>
            <a:ext cx="12527280"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UK AI Security Institute. Inspect AI: tool approval and approvers. inspect.aisi.org.uk</a:t>
            </a:r>
          </a:p>
        </p:txBody>
      </p:sp>
      <p:sp>
        <p:nvSpPr>
          <p:cNvPr id="16" name="Freeform 15"/>
          <p:cNvSpPr/>
          <p:nvPr/>
        </p:nvSpPr>
        <p:spPr>
          <a:xfrm>
            <a:off x="1170432" y="246613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772918"/>
            <a:ext cx="109728" cy="109728"/>
          </a:xfrm>
          <a:prstGeom prst="ellipse">
            <a:avLst/>
          </a:prstGeom>
          <a:solidFill>
            <a:srgbClr val="557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 UK AISI and Meridian Labs (2025). Inspect Scout: transcript anal"/>
          <p:cNvSpPr txBox="1"/>
          <p:nvPr/>
        </p:nvSpPr>
        <p:spPr>
          <a:xfrm>
            <a:off x="1170432" y="2620232"/>
            <a:ext cx="12527280"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UK AISI and Meridian Labs (2025). Inspect Scout: transcript analysis</a:t>
            </a:r>
          </a:p>
        </p:txBody>
      </p:sp>
      <p:sp>
        <p:nvSpPr>
          <p:cNvPr id="19" name="Freeform 18"/>
          <p:cNvSpPr/>
          <p:nvPr/>
        </p:nvSpPr>
        <p:spPr>
          <a:xfrm>
            <a:off x="1170432" y="317479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60" y="3481578"/>
            <a:ext cx="109728" cy="109728"/>
          </a:xfrm>
          <a:prstGeom prst="ellipse">
            <a:avLst/>
          </a:prstGeom>
          <a:solidFill>
            <a:srgbClr val="9D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dy: UK AISI (2025). ControlArena: monitors, micro-protocols, BashAre"/>
          <p:cNvSpPr txBox="1"/>
          <p:nvPr/>
        </p:nvSpPr>
        <p:spPr>
          <a:xfrm>
            <a:off x="1170432" y="3328892"/>
            <a:ext cx="12527280"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UK AISI (2025). ControlArena: monitors, micro-protocols, BashArena. control-arena.aisi.org.uk</a:t>
            </a:r>
          </a:p>
        </p:txBody>
      </p:sp>
      <p:sp>
        <p:nvSpPr>
          <p:cNvPr id="22" name="Freeform 21"/>
          <p:cNvSpPr/>
          <p:nvPr/>
        </p:nvSpPr>
        <p:spPr>
          <a:xfrm>
            <a:off x="1170432" y="388345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2960" y="4190238"/>
            <a:ext cx="109728" cy="109728"/>
          </a:xfrm>
          <a:prstGeom prst="ellipse">
            <a:avLst/>
          </a:prstGeom>
          <a:solidFill>
            <a:srgbClr val="AE6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METR (2025). Hawk: run Inspect evals in the cloud. github.com/ME"/>
          <p:cNvSpPr txBox="1"/>
          <p:nvPr/>
        </p:nvSpPr>
        <p:spPr>
          <a:xfrm>
            <a:off x="1170432" y="4037552"/>
            <a:ext cx="12527280"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METR (2025). Hawk: run Inspect evals in the cloud. github.com/METR/hawk</a:t>
            </a:r>
          </a:p>
        </p:txBody>
      </p:sp>
      <p:sp>
        <p:nvSpPr>
          <p:cNvPr id="25" name="Freeform 24"/>
          <p:cNvSpPr/>
          <p:nvPr/>
        </p:nvSpPr>
        <p:spPr>
          <a:xfrm>
            <a:off x="1170432" y="459211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60" y="4898898"/>
            <a:ext cx="109728" cy="109728"/>
          </a:xfrm>
          <a:prstGeom prst="ellipse">
            <a:avLst/>
          </a:prstGeom>
          <a:solidFill>
            <a:srgbClr val="7C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McGregor (2021). Preventing Repeated Real World AI Failures by C"/>
          <p:cNvSpPr txBox="1"/>
          <p:nvPr/>
        </p:nvSpPr>
        <p:spPr>
          <a:xfrm>
            <a:off x="1170432" y="4609115"/>
            <a:ext cx="12527280" cy="657288"/>
          </a:xfrm>
          <a:prstGeom prst="rect">
            <a:avLst/>
          </a:prstGeom>
          <a:noFill/>
        </p:spPr>
        <p:txBody>
          <a:bodyPr wrap="none" lIns="0" rIns="0" tIns="0" bIns="0" anchor="t">
            <a:noAutofit/>
          </a:bodyPr>
          <a:lstStyle/>
          <a:p>
            <a:pPr algn="l">
              <a:lnSpc>
                <a:spcPts val="2317"/>
              </a:lnSpc>
              <a:spcBef>
                <a:spcPts val="0"/>
              </a:spcBef>
              <a:spcAft>
                <a:spcPts val="0"/>
              </a:spcAft>
            </a:pPr>
            <a:r>
              <a:rPr sz="1825" b="0">
                <a:solidFill>
                  <a:srgbClr val="293E46"/>
                </a:solidFill>
                <a:latin typeface="Trebuchet MS"/>
              </a:rPr>
              <a:t>McGregor (2021). Preventing Repeated Real World AI Failures by Cataloging Incidents: The AI Incident Database.</a:t>
            </a:r>
            <a:br/>
            <a:r>
              <a:rPr sz="1825" b="0">
                <a:solidFill>
                  <a:srgbClr val="293E46"/>
                </a:solidFill>
                <a:latin typeface="Trebuchet MS"/>
              </a:rPr>
              <a:t>AAAI</a:t>
            </a:r>
          </a:p>
        </p:txBody>
      </p:sp>
      <p:sp>
        <p:nvSpPr>
          <p:cNvPr id="28" name="Freeform 27"/>
          <p:cNvSpPr/>
          <p:nvPr/>
        </p:nvSpPr>
        <p:spPr>
          <a:xfrm>
            <a:off x="1170432" y="530077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2960" y="5607557"/>
            <a:ext cx="109728" cy="109728"/>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ody: OECD (2023). AI Incident Monitor. MITRE ATLAS. OWASP Top 10 for "/>
          <p:cNvSpPr txBox="1"/>
          <p:nvPr/>
        </p:nvSpPr>
        <p:spPr>
          <a:xfrm>
            <a:off x="1170432" y="5454872"/>
            <a:ext cx="12527280"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OECD (2023). AI Incident Monitor. MITRE ATLAS. OWASP Top 10 for LLM and Agentic Applications</a:t>
            </a:r>
          </a:p>
        </p:txBody>
      </p:sp>
      <p:sp>
        <p:nvSpPr>
          <p:cNvPr id="31" name="Freeform 30"/>
          <p:cNvSpPr/>
          <p:nvPr/>
        </p:nvSpPr>
        <p:spPr>
          <a:xfrm>
            <a:off x="1170432" y="600943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2960" y="6316218"/>
            <a:ext cx="109728" cy="109728"/>
          </a:xfrm>
          <a:prstGeom prst="ellipse">
            <a:avLst/>
          </a:prstGeom>
          <a:solidFill>
            <a:srgbClr val="557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ody: Perrow (1984). Normal Accidents. Reason (1990). Human Error. Tal"/>
          <p:cNvSpPr txBox="1"/>
          <p:nvPr/>
        </p:nvSpPr>
        <p:spPr>
          <a:xfrm>
            <a:off x="1170432" y="6026435"/>
            <a:ext cx="12527280" cy="657288"/>
          </a:xfrm>
          <a:prstGeom prst="rect">
            <a:avLst/>
          </a:prstGeom>
          <a:noFill/>
        </p:spPr>
        <p:txBody>
          <a:bodyPr wrap="none" lIns="0" rIns="0" tIns="0" bIns="0" anchor="t">
            <a:noAutofit/>
          </a:bodyPr>
          <a:lstStyle/>
          <a:p>
            <a:pPr algn="l">
              <a:lnSpc>
                <a:spcPts val="2317"/>
              </a:lnSpc>
              <a:spcBef>
                <a:spcPts val="0"/>
              </a:spcBef>
              <a:spcAft>
                <a:spcPts val="0"/>
              </a:spcAft>
            </a:pPr>
            <a:r>
              <a:rPr sz="1825" b="0">
                <a:solidFill>
                  <a:srgbClr val="293E46"/>
                </a:solidFill>
                <a:latin typeface="Trebuchet MS"/>
              </a:rPr>
              <a:t>Perrow (1984). Normal Accidents. Reason (1990). Human Error. Taleb (2007). The Black Swan. Popper (1963).</a:t>
            </a:r>
            <a:br/>
            <a:r>
              <a:rPr sz="1825" b="0">
                <a:solidFill>
                  <a:srgbClr val="293E46"/>
                </a:solidFill>
                <a:latin typeface="Trebuchet MS"/>
              </a:rPr>
              <a:t>Conjectures and Refutations</a:t>
            </a:r>
          </a:p>
        </p:txBody>
      </p:sp>
      <p:sp>
        <p:nvSpPr>
          <p:cNvPr id="34" name="Freeform 33"/>
          <p:cNvSpPr/>
          <p:nvPr/>
        </p:nvSpPr>
        <p:spPr>
          <a:xfrm>
            <a:off x="1170432" y="6718097"/>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22960" y="7024878"/>
            <a:ext cx="109728" cy="109728"/>
          </a:xfrm>
          <a:prstGeom prst="ellipse">
            <a:avLst/>
          </a:prstGeom>
          <a:solidFill>
            <a:srgbClr val="9D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ody: EU AI Act, Article 73. California SB 53 (2025)"/>
          <p:cNvSpPr txBox="1"/>
          <p:nvPr/>
        </p:nvSpPr>
        <p:spPr>
          <a:xfrm>
            <a:off x="1170432" y="6872192"/>
            <a:ext cx="12527280" cy="383095"/>
          </a:xfrm>
          <a:prstGeom prst="rect">
            <a:avLst/>
          </a:prstGeom>
          <a:noFill/>
        </p:spPr>
        <p:txBody>
          <a:bodyPr wrap="none" lIns="0" rIns="0" tIns="0" bIns="0" anchor="t">
            <a:noAutofit/>
          </a:bodyPr>
          <a:lstStyle/>
          <a:p>
            <a:pPr algn="l">
              <a:lnSpc>
                <a:spcPts val="2476"/>
              </a:lnSpc>
              <a:spcBef>
                <a:spcPts val="0"/>
              </a:spcBef>
              <a:spcAft>
                <a:spcPts val="0"/>
              </a:spcAft>
            </a:pPr>
            <a:r>
              <a:rPr sz="1950" b="0">
                <a:solidFill>
                  <a:srgbClr val="293E46"/>
                </a:solidFill>
                <a:latin typeface="Trebuchet MS"/>
              </a:rPr>
              <a:t>EU AI Act, Article 73. California SB 53 (2025)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REFERENCE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REFERENCES</a:t>
            </a:r>
          </a:p>
        </p:txBody>
      </p:sp>
      <p:sp>
        <p:nvSpPr>
          <p:cNvPr id="3" name="title: References: incident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References: incidents</a:t>
            </a:r>
          </a:p>
        </p:txBody>
      </p:sp>
      <p:sp>
        <p:nvSpPr>
          <p:cNvPr id="4" name="Freeform 3"/>
          <p:cNvSpPr/>
          <p:nvPr/>
        </p:nvSpPr>
        <p:spPr>
          <a:xfrm>
            <a:off x="6263640" y="1362547"/>
            <a:ext cx="2103120" cy="41148"/>
          </a:xfrm>
          <a:custGeom>
            <a:avLst/>
            <a:gdLst/>
            <a:ahLst/>
            <a:cxnLst/>
            <a:rect l="l" t="t" r="r" b="b"/>
            <a:pathLst>
              <a:path w="23000" h="450">
                <a:moveTo>
                  <a:pt x="0" y="197"/>
                </a:moveTo>
                <a:lnTo>
                  <a:pt x="958" y="295"/>
                </a:lnTo>
                <a:lnTo>
                  <a:pt x="1917" y="431"/>
                </a:lnTo>
                <a:lnTo>
                  <a:pt x="2875" y="397"/>
                </a:lnTo>
                <a:lnTo>
                  <a:pt x="3833" y="117"/>
                </a:lnTo>
                <a:lnTo>
                  <a:pt x="4792" y="84"/>
                </a:lnTo>
                <a:lnTo>
                  <a:pt x="5750" y="0"/>
                </a:lnTo>
                <a:lnTo>
                  <a:pt x="6708" y="129"/>
                </a:lnTo>
                <a:lnTo>
                  <a:pt x="7667" y="148"/>
                </a:lnTo>
                <a:lnTo>
                  <a:pt x="8625" y="314"/>
                </a:lnTo>
                <a:lnTo>
                  <a:pt x="9583" y="450"/>
                </a:lnTo>
                <a:lnTo>
                  <a:pt x="10542" y="272"/>
                </a:lnTo>
                <a:lnTo>
                  <a:pt x="11500" y="172"/>
                </a:lnTo>
                <a:lnTo>
                  <a:pt x="12458" y="117"/>
                </a:lnTo>
                <a:lnTo>
                  <a:pt x="13417" y="58"/>
                </a:lnTo>
                <a:lnTo>
                  <a:pt x="14375" y="73"/>
                </a:lnTo>
                <a:lnTo>
                  <a:pt x="15333" y="193"/>
                </a:lnTo>
                <a:lnTo>
                  <a:pt x="16292" y="287"/>
                </a:lnTo>
                <a:lnTo>
                  <a:pt x="17250" y="343"/>
                </a:lnTo>
                <a:lnTo>
                  <a:pt x="18208" y="311"/>
                </a:lnTo>
                <a:lnTo>
                  <a:pt x="19167" y="130"/>
                </a:lnTo>
                <a:lnTo>
                  <a:pt x="20125" y="96"/>
                </a:lnTo>
                <a:lnTo>
                  <a:pt x="21083" y="48"/>
                </a:lnTo>
                <a:lnTo>
                  <a:pt x="22042" y="153"/>
                </a:lnTo>
                <a:lnTo>
                  <a:pt x="23000" y="272"/>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9007"/>
            <a:ext cx="2103120" cy="41148"/>
          </a:xfrm>
          <a:custGeom>
            <a:avLst/>
            <a:gdLst/>
            <a:ahLst/>
            <a:cxnLst/>
            <a:rect l="l" t="t" r="r" b="b"/>
            <a:pathLst>
              <a:path w="23000" h="450">
                <a:moveTo>
                  <a:pt x="0" y="197"/>
                </a:moveTo>
                <a:lnTo>
                  <a:pt x="958" y="295"/>
                </a:lnTo>
                <a:lnTo>
                  <a:pt x="1917" y="431"/>
                </a:lnTo>
                <a:lnTo>
                  <a:pt x="2875" y="397"/>
                </a:lnTo>
                <a:lnTo>
                  <a:pt x="3833" y="117"/>
                </a:lnTo>
                <a:lnTo>
                  <a:pt x="4792" y="84"/>
                </a:lnTo>
                <a:lnTo>
                  <a:pt x="5750" y="0"/>
                </a:lnTo>
                <a:lnTo>
                  <a:pt x="6708" y="129"/>
                </a:lnTo>
                <a:lnTo>
                  <a:pt x="7667" y="148"/>
                </a:lnTo>
                <a:lnTo>
                  <a:pt x="8625" y="314"/>
                </a:lnTo>
                <a:lnTo>
                  <a:pt x="9583" y="450"/>
                </a:lnTo>
                <a:lnTo>
                  <a:pt x="10542" y="272"/>
                </a:lnTo>
                <a:lnTo>
                  <a:pt x="11500" y="172"/>
                </a:lnTo>
                <a:lnTo>
                  <a:pt x="12458" y="117"/>
                </a:lnTo>
                <a:lnTo>
                  <a:pt x="13417" y="58"/>
                </a:lnTo>
                <a:lnTo>
                  <a:pt x="14375" y="73"/>
                </a:lnTo>
                <a:lnTo>
                  <a:pt x="15333" y="193"/>
                </a:lnTo>
                <a:lnTo>
                  <a:pt x="16292" y="287"/>
                </a:lnTo>
                <a:lnTo>
                  <a:pt x="17250" y="343"/>
                </a:lnTo>
                <a:lnTo>
                  <a:pt x="18208" y="311"/>
                </a:lnTo>
                <a:lnTo>
                  <a:pt x="19167" y="130"/>
                </a:lnTo>
                <a:lnTo>
                  <a:pt x="20125" y="96"/>
                </a:lnTo>
                <a:lnTo>
                  <a:pt x="21083" y="48"/>
                </a:lnTo>
                <a:lnTo>
                  <a:pt x="22042" y="153"/>
                </a:lnTo>
                <a:lnTo>
                  <a:pt x="23000" y="272"/>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rt: 1 / 2"/>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1 / 2</a:t>
            </a:r>
          </a:p>
        </p:txBody>
      </p:sp>
      <p:sp>
        <p:nvSpPr>
          <p:cNvPr id="11" name="Freeform 10"/>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3" name="page: 41"/>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41</a:t>
            </a:r>
          </a:p>
        </p:txBody>
      </p:sp>
      <p:sp>
        <p:nvSpPr>
          <p:cNvPr id="14" name="Oval 13"/>
          <p:cNvSpPr/>
          <p:nvPr/>
        </p:nvSpPr>
        <p:spPr>
          <a:xfrm>
            <a:off x="822960" y="2114876"/>
            <a:ext cx="109728" cy="109728"/>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ody: Sakana AI (Aug 2024). The AI Scientist. sakana.ai/ai-scientist; "/>
          <p:cNvSpPr txBox="1"/>
          <p:nvPr/>
        </p:nvSpPr>
        <p:spPr>
          <a:xfrm>
            <a:off x="1170432" y="1958158"/>
            <a:ext cx="1252728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Sakana AI (Aug 2024). The AI Scientist. sakana.ai/ai-scientist; coverage: Ars Technica</a:t>
            </a:r>
          </a:p>
        </p:txBody>
      </p:sp>
      <p:sp>
        <p:nvSpPr>
          <p:cNvPr id="16" name="Freeform 15"/>
          <p:cNvSpPr/>
          <p:nvPr/>
        </p:nvSpPr>
        <p:spPr>
          <a:xfrm>
            <a:off x="1170432" y="2567361"/>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924773"/>
            <a:ext cx="109728" cy="109728"/>
          </a:xfrm>
          <a:prstGeom prst="ellipse">
            <a:avLst/>
          </a:prstGeom>
          <a:solidFill>
            <a:srgbClr val="557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 OpenAI (Dec 2024). o1 System Card, Apollo Research scheming eval"/>
          <p:cNvSpPr txBox="1"/>
          <p:nvPr/>
        </p:nvSpPr>
        <p:spPr>
          <a:xfrm>
            <a:off x="1170432" y="2606765"/>
            <a:ext cx="1252728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OpenAI (Dec 2024). o1 System Card, Apollo Research scheming evaluations.</a:t>
            </a:r>
            <a:br/>
            <a:r>
              <a:rPr sz="2000" b="0">
                <a:solidFill>
                  <a:srgbClr val="293E46"/>
                </a:solidFill>
                <a:latin typeface="Trebuchet MS"/>
              </a:rPr>
              <a:t>cdn.openai.com/o1-system-card-20241205.pdf</a:t>
            </a:r>
          </a:p>
        </p:txBody>
      </p:sp>
      <p:sp>
        <p:nvSpPr>
          <p:cNvPr id="19" name="Freeform 18"/>
          <p:cNvSpPr/>
          <p:nvPr/>
        </p:nvSpPr>
        <p:spPr>
          <a:xfrm>
            <a:off x="1170432" y="3377245"/>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60" y="3734670"/>
            <a:ext cx="109728" cy="109728"/>
          </a:xfrm>
          <a:prstGeom prst="ellipse">
            <a:avLst/>
          </a:prstGeom>
          <a:solidFill>
            <a:srgbClr val="9D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dy: Palisade Research (Dec 2024, Feb 2025). o1-preview hacks its che"/>
          <p:cNvSpPr txBox="1"/>
          <p:nvPr/>
        </p:nvSpPr>
        <p:spPr>
          <a:xfrm>
            <a:off x="1170432" y="3416662"/>
            <a:ext cx="1252728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Palisade Research (Dec 2024, Feb 2025). o1-preview hacks its chess environment. x.com/PalisadeAI; MIT</a:t>
            </a:r>
            <a:br/>
            <a:r>
              <a:rPr sz="2000" b="0">
                <a:solidFill>
                  <a:srgbClr val="293E46"/>
                </a:solidFill>
                <a:latin typeface="Trebuchet MS"/>
              </a:rPr>
              <a:t>Technology Review</a:t>
            </a:r>
          </a:p>
        </p:txBody>
      </p:sp>
      <p:sp>
        <p:nvSpPr>
          <p:cNvPr id="22" name="Freeform 21"/>
          <p:cNvSpPr/>
          <p:nvPr/>
        </p:nvSpPr>
        <p:spPr>
          <a:xfrm>
            <a:off x="1170432" y="4187129"/>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2960" y="4544568"/>
            <a:ext cx="109728" cy="109728"/>
          </a:xfrm>
          <a:prstGeom prst="ellipse">
            <a:avLst/>
          </a:prstGeom>
          <a:solidFill>
            <a:srgbClr val="AE6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Baker et al., OpenAI (Mar 2025). Monitoring Reasoning Models for"/>
          <p:cNvSpPr txBox="1"/>
          <p:nvPr/>
        </p:nvSpPr>
        <p:spPr>
          <a:xfrm>
            <a:off x="1170432" y="4387850"/>
            <a:ext cx="1252728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Baker et al., OpenAI (Mar 2025). Monitoring Reasoning Models for Misbehavior. arXiv:2503.11926</a:t>
            </a:r>
          </a:p>
        </p:txBody>
      </p:sp>
      <p:sp>
        <p:nvSpPr>
          <p:cNvPr id="25" name="Freeform 24"/>
          <p:cNvSpPr/>
          <p:nvPr/>
        </p:nvSpPr>
        <p:spPr>
          <a:xfrm>
            <a:off x="1170432" y="4997105"/>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60" y="5354465"/>
            <a:ext cx="109728" cy="109728"/>
          </a:xfrm>
          <a:prstGeom prst="ellipse">
            <a:avLst/>
          </a:prstGeom>
          <a:solidFill>
            <a:srgbClr val="7C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Palisade Research (May 2025). o3 sabotages shutdown in 7/100 run"/>
          <p:cNvSpPr txBox="1"/>
          <p:nvPr/>
        </p:nvSpPr>
        <p:spPr>
          <a:xfrm>
            <a:off x="1170432" y="5197747"/>
            <a:ext cx="1252728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Palisade Research (May 2025). o3 sabotages shutdown in 7/100 runs. BleepingComputer, The Register</a:t>
            </a:r>
          </a:p>
        </p:txBody>
      </p:sp>
      <p:sp>
        <p:nvSpPr>
          <p:cNvPr id="28" name="Freeform 27"/>
          <p:cNvSpPr/>
          <p:nvPr/>
        </p:nvSpPr>
        <p:spPr>
          <a:xfrm>
            <a:off x="1170432" y="5806989"/>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2960" y="6164362"/>
            <a:ext cx="109728" cy="109728"/>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ody: Anthropic (May 2025). System Card: Claude Opus 4 and Sonnet 4. a"/>
          <p:cNvSpPr txBox="1"/>
          <p:nvPr/>
        </p:nvSpPr>
        <p:spPr>
          <a:xfrm>
            <a:off x="1170432" y="6007644"/>
            <a:ext cx="1252728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Anthropic (May 2025). System Card: Claude Opus 4 and Sonnet 4. anthropic.com/claude-4-system-card</a:t>
            </a:r>
          </a:p>
        </p:txBody>
      </p:sp>
      <p:sp>
        <p:nvSpPr>
          <p:cNvPr id="31" name="Freeform 30"/>
          <p:cNvSpPr/>
          <p:nvPr/>
        </p:nvSpPr>
        <p:spPr>
          <a:xfrm>
            <a:off x="1170432" y="6616873"/>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2960" y="6974259"/>
            <a:ext cx="109728" cy="109728"/>
          </a:xfrm>
          <a:prstGeom prst="ellipse">
            <a:avLst/>
          </a:prstGeom>
          <a:solidFill>
            <a:srgbClr val="557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ody: Anthropic (Jun 2025). Agentic Misalignment: How LLMs Could Be In"/>
          <p:cNvSpPr txBox="1"/>
          <p:nvPr/>
        </p:nvSpPr>
        <p:spPr>
          <a:xfrm>
            <a:off x="1170432" y="6817541"/>
            <a:ext cx="1252728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Anthropic (Jun 2025). Agentic Misalignment: How LLMs Could Be Insider Threats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0"/>
        </a:solidFill>
        <a:effectLst/>
      </p:bgPr>
    </p:bg>
    <p:spTree>
      <p:nvGrpSpPr>
        <p:cNvPr id="1" name=""/>
        <p:cNvGrpSpPr/>
        <p:nvPr/>
      </p:nvGrpSpPr>
      <p:grpSpPr/>
      <p:sp>
        <p:nvSpPr>
          <p:cNvPr id="2" name="section: REFERENCES"/>
          <p:cNvSpPr txBox="1"/>
          <p:nvPr/>
        </p:nvSpPr>
        <p:spPr>
          <a:xfrm>
            <a:off x="4206240" y="206184"/>
            <a:ext cx="6217920" cy="245999"/>
          </a:xfrm>
          <a:prstGeom prst="rect">
            <a:avLst/>
          </a:prstGeom>
          <a:noFill/>
        </p:spPr>
        <p:txBody>
          <a:bodyPr wrap="none" lIns="0" rIns="0" tIns="0" bIns="0" anchor="t">
            <a:noAutofit/>
          </a:bodyPr>
          <a:lstStyle/>
          <a:p>
            <a:pPr algn="ctr">
              <a:lnSpc>
                <a:spcPts val="1397"/>
              </a:lnSpc>
              <a:spcBef>
                <a:spcPts val="0"/>
              </a:spcBef>
              <a:spcAft>
                <a:spcPts val="0"/>
              </a:spcAft>
            </a:pPr>
            <a:r>
              <a:rPr sz="1100" b="1">
                <a:solidFill>
                  <a:srgbClr val="4E7892"/>
                </a:solidFill>
                <a:latin typeface="Trebuchet MS"/>
              </a:rPr>
              <a:t>REFERENCES</a:t>
            </a:r>
          </a:p>
        </p:txBody>
      </p:sp>
      <p:sp>
        <p:nvSpPr>
          <p:cNvPr id="3" name="title: References: incidents"/>
          <p:cNvSpPr txBox="1"/>
          <p:nvPr/>
        </p:nvSpPr>
        <p:spPr>
          <a:xfrm>
            <a:off x="777240" y="577469"/>
            <a:ext cx="13075920" cy="582422"/>
          </a:xfrm>
          <a:prstGeom prst="rect">
            <a:avLst/>
          </a:prstGeom>
          <a:noFill/>
        </p:spPr>
        <p:txBody>
          <a:bodyPr wrap="none" lIns="0" rIns="0" tIns="0" bIns="0" anchor="t">
            <a:noAutofit/>
          </a:bodyPr>
          <a:lstStyle/>
          <a:p>
            <a:pPr algn="ctr">
              <a:lnSpc>
                <a:spcPts val="4046"/>
              </a:lnSpc>
              <a:spcBef>
                <a:spcPts val="0"/>
              </a:spcBef>
              <a:spcAft>
                <a:spcPts val="0"/>
              </a:spcAft>
            </a:pPr>
            <a:r>
              <a:rPr sz="2975" b="1">
                <a:solidFill>
                  <a:srgbClr val="293E46"/>
                </a:solidFill>
                <a:latin typeface="Chalkboard SE"/>
              </a:rPr>
              <a:t>References: incidents</a:t>
            </a:r>
          </a:p>
        </p:txBody>
      </p:sp>
      <p:sp>
        <p:nvSpPr>
          <p:cNvPr id="4" name="Freeform 3"/>
          <p:cNvSpPr/>
          <p:nvPr/>
        </p:nvSpPr>
        <p:spPr>
          <a:xfrm>
            <a:off x="6263640" y="1362822"/>
            <a:ext cx="2103120" cy="36485"/>
          </a:xfrm>
          <a:custGeom>
            <a:avLst/>
            <a:gdLst/>
            <a:ahLst/>
            <a:cxnLst/>
            <a:rect l="l" t="t" r="r" b="b"/>
            <a:pathLst>
              <a:path w="23000" h="399">
                <a:moveTo>
                  <a:pt x="0" y="254"/>
                </a:moveTo>
                <a:lnTo>
                  <a:pt x="958" y="362"/>
                </a:lnTo>
                <a:lnTo>
                  <a:pt x="1917" y="309"/>
                </a:lnTo>
                <a:lnTo>
                  <a:pt x="2875" y="351"/>
                </a:lnTo>
                <a:lnTo>
                  <a:pt x="3833" y="131"/>
                </a:lnTo>
                <a:lnTo>
                  <a:pt x="4792" y="6"/>
                </a:lnTo>
                <a:lnTo>
                  <a:pt x="5750" y="0"/>
                </a:lnTo>
                <a:lnTo>
                  <a:pt x="6708" y="74"/>
                </a:lnTo>
                <a:lnTo>
                  <a:pt x="7667" y="203"/>
                </a:lnTo>
                <a:lnTo>
                  <a:pt x="8625" y="323"/>
                </a:lnTo>
                <a:lnTo>
                  <a:pt x="9583" y="320"/>
                </a:lnTo>
                <a:lnTo>
                  <a:pt x="10542" y="334"/>
                </a:lnTo>
                <a:lnTo>
                  <a:pt x="11500" y="183"/>
                </a:lnTo>
                <a:lnTo>
                  <a:pt x="12458" y="89"/>
                </a:lnTo>
                <a:lnTo>
                  <a:pt x="13417" y="89"/>
                </a:lnTo>
                <a:lnTo>
                  <a:pt x="14375" y="35"/>
                </a:lnTo>
                <a:lnTo>
                  <a:pt x="15333" y="228"/>
                </a:lnTo>
                <a:lnTo>
                  <a:pt x="16292" y="399"/>
                </a:lnTo>
                <a:lnTo>
                  <a:pt x="17250" y="367"/>
                </a:lnTo>
                <a:lnTo>
                  <a:pt x="18208" y="284"/>
                </a:lnTo>
                <a:lnTo>
                  <a:pt x="19167" y="95"/>
                </a:lnTo>
                <a:lnTo>
                  <a:pt x="20125" y="66"/>
                </a:lnTo>
                <a:lnTo>
                  <a:pt x="21083" y="41"/>
                </a:lnTo>
                <a:lnTo>
                  <a:pt x="22042" y="172"/>
                </a:lnTo>
                <a:lnTo>
                  <a:pt x="23000" y="196"/>
                </a:lnTo>
              </a:path>
            </a:pathLst>
          </a:custGeom>
          <a:noFill/>
          <a:ln w="38100" cap="rnd">
            <a:solidFill>
              <a:srgbClr val="9D7B35">
                <a:alpha val="44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63640" y="1379281"/>
            <a:ext cx="2103120" cy="36485"/>
          </a:xfrm>
          <a:custGeom>
            <a:avLst/>
            <a:gdLst/>
            <a:ahLst/>
            <a:cxnLst/>
            <a:rect l="l" t="t" r="r" b="b"/>
            <a:pathLst>
              <a:path w="23000" h="399">
                <a:moveTo>
                  <a:pt x="0" y="254"/>
                </a:moveTo>
                <a:lnTo>
                  <a:pt x="958" y="362"/>
                </a:lnTo>
                <a:lnTo>
                  <a:pt x="1917" y="309"/>
                </a:lnTo>
                <a:lnTo>
                  <a:pt x="2875" y="351"/>
                </a:lnTo>
                <a:lnTo>
                  <a:pt x="3833" y="131"/>
                </a:lnTo>
                <a:lnTo>
                  <a:pt x="4792" y="6"/>
                </a:lnTo>
                <a:lnTo>
                  <a:pt x="5750" y="0"/>
                </a:lnTo>
                <a:lnTo>
                  <a:pt x="6708" y="74"/>
                </a:lnTo>
                <a:lnTo>
                  <a:pt x="7667" y="203"/>
                </a:lnTo>
                <a:lnTo>
                  <a:pt x="8625" y="323"/>
                </a:lnTo>
                <a:lnTo>
                  <a:pt x="9583" y="320"/>
                </a:lnTo>
                <a:lnTo>
                  <a:pt x="10542" y="334"/>
                </a:lnTo>
                <a:lnTo>
                  <a:pt x="11500" y="183"/>
                </a:lnTo>
                <a:lnTo>
                  <a:pt x="12458" y="89"/>
                </a:lnTo>
                <a:lnTo>
                  <a:pt x="13417" y="89"/>
                </a:lnTo>
                <a:lnTo>
                  <a:pt x="14375" y="35"/>
                </a:lnTo>
                <a:lnTo>
                  <a:pt x="15333" y="228"/>
                </a:lnTo>
                <a:lnTo>
                  <a:pt x="16292" y="399"/>
                </a:lnTo>
                <a:lnTo>
                  <a:pt x="17250" y="367"/>
                </a:lnTo>
                <a:lnTo>
                  <a:pt x="18208" y="284"/>
                </a:lnTo>
                <a:lnTo>
                  <a:pt x="19167" y="95"/>
                </a:lnTo>
                <a:lnTo>
                  <a:pt x="20125" y="66"/>
                </a:lnTo>
                <a:lnTo>
                  <a:pt x="21083" y="41"/>
                </a:lnTo>
                <a:lnTo>
                  <a:pt x="22042" y="172"/>
                </a:lnTo>
                <a:lnTo>
                  <a:pt x="23000" y="196"/>
                </a:lnTo>
              </a:path>
            </a:pathLst>
          </a:custGeom>
          <a:noFill/>
          <a:ln w="10160" cap="rnd">
            <a:solidFill>
              <a:srgbClr val="9D7B35">
                <a:alpha val="58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3903452" y="658368"/>
            <a:ext cx="173736" cy="183"/>
          </a:xfrm>
          <a:custGeom>
            <a:avLst/>
            <a:gdLst/>
            <a:ahLst/>
            <a:cxnLst/>
            <a:rect l="l" t="t" r="r" b="b"/>
            <a:pathLst>
              <a:path w="1900" h="2">
                <a:moveTo>
                  <a:pt x="0" y="0"/>
                </a:moveTo>
                <a:lnTo>
                  <a:pt x="1900" y="2"/>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3990320" y="571500"/>
            <a:ext cx="183" cy="173736"/>
          </a:xfrm>
          <a:custGeom>
            <a:avLst/>
            <a:gdLst/>
            <a:ahLst/>
            <a:cxnLst/>
            <a:rect l="l" t="t" r="r" b="b"/>
            <a:pathLst>
              <a:path w="2" h="1900">
                <a:moveTo>
                  <a:pt x="0" y="0"/>
                </a:moveTo>
                <a:lnTo>
                  <a:pt x="2" y="19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930884" y="598932"/>
            <a:ext cx="118872" cy="118872"/>
          </a:xfrm>
          <a:custGeom>
            <a:avLst/>
            <a:gdLst/>
            <a:ahLst/>
            <a:cxnLst/>
            <a:rect l="l" t="t" r="r" b="b"/>
            <a:pathLst>
              <a:path w="1300" h="1300">
                <a:moveTo>
                  <a:pt x="0" y="0"/>
                </a:moveTo>
                <a:lnTo>
                  <a:pt x="1300" y="130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930884" y="598932"/>
            <a:ext cx="118872" cy="118872"/>
          </a:xfrm>
          <a:custGeom>
            <a:avLst/>
            <a:gdLst/>
            <a:ahLst/>
            <a:cxnLst/>
            <a:rect l="l" t="t" r="r" b="b"/>
            <a:pathLst>
              <a:path w="1300" h="1300">
                <a:moveTo>
                  <a:pt x="0" y="1300"/>
                </a:moveTo>
                <a:lnTo>
                  <a:pt x="1300" y="0"/>
                </a:lnTo>
              </a:path>
            </a:pathLst>
          </a:custGeom>
          <a:noFill/>
          <a:ln w="16510" cap="rnd">
            <a:solidFill>
              <a:srgbClr val="9D7B35">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art: 2 / 2"/>
          <p:cNvSpPr txBox="1"/>
          <p:nvPr/>
        </p:nvSpPr>
        <p:spPr>
          <a:xfrm>
            <a:off x="12893040" y="206184"/>
            <a:ext cx="1051560" cy="245999"/>
          </a:xfrm>
          <a:prstGeom prst="rect">
            <a:avLst/>
          </a:prstGeom>
          <a:noFill/>
        </p:spPr>
        <p:txBody>
          <a:bodyPr wrap="none" lIns="0" rIns="0" tIns="0" bIns="0" anchor="t">
            <a:noAutofit/>
          </a:bodyPr>
          <a:lstStyle/>
          <a:p>
            <a:pPr algn="ctr">
              <a:lnSpc>
                <a:spcPts val="1397"/>
              </a:lnSpc>
              <a:spcBef>
                <a:spcPts val="0"/>
              </a:spcBef>
              <a:spcAft>
                <a:spcPts val="0"/>
              </a:spcAft>
            </a:pPr>
            <a:r>
              <a:rPr sz="1100" b="0">
                <a:solidFill>
                  <a:srgbClr val="68736E"/>
                </a:solidFill>
                <a:latin typeface="Trebuchet MS"/>
              </a:rPr>
              <a:t>2 / 2</a:t>
            </a:r>
          </a:p>
        </p:txBody>
      </p:sp>
      <p:sp>
        <p:nvSpPr>
          <p:cNvPr id="11" name="Freeform 10"/>
          <p:cNvSpPr/>
          <p:nvPr/>
        </p:nvSpPr>
        <p:spPr>
          <a:xfrm>
            <a:off x="640080" y="7754112"/>
            <a:ext cx="13350240" cy="9144"/>
          </a:xfrm>
          <a:custGeom>
            <a:avLst/>
            <a:gdLst/>
            <a:ahLst/>
            <a:cxnLst/>
            <a:rect l="l" t="t" r="r" b="b"/>
            <a:pathLst>
              <a:path w="146000" h="100">
                <a:moveTo>
                  <a:pt x="0" y="0"/>
                </a:moveTo>
                <a:lnTo>
                  <a:pt x="73000" y="100"/>
                </a:lnTo>
                <a:lnTo>
                  <a:pt x="146000" y="0"/>
                </a:lnTo>
              </a:path>
            </a:pathLst>
          </a:custGeom>
          <a:noFill/>
          <a:ln w="7620"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ooter: Incident-aware optimization · design proposal · containment-exte"/>
          <p:cNvSpPr txBox="1"/>
          <p:nvPr/>
        </p:nvSpPr>
        <p:spPr>
          <a:xfrm>
            <a:off x="685800" y="7833614"/>
            <a:ext cx="12481560" cy="197611"/>
          </a:xfrm>
          <a:prstGeom prst="rect">
            <a:avLst/>
          </a:prstGeom>
          <a:noFill/>
        </p:spPr>
        <p:txBody>
          <a:bodyPr wrap="none" lIns="0" rIns="0" tIns="0" bIns="0" anchor="t">
            <a:noAutofit/>
          </a:bodyPr>
          <a:lstStyle/>
          <a:p>
            <a:pPr algn="ctr">
              <a:lnSpc>
                <a:spcPts val="1016"/>
              </a:lnSpc>
              <a:spcBef>
                <a:spcPts val="0"/>
              </a:spcBef>
              <a:spcAft>
                <a:spcPts val="0"/>
              </a:spcAft>
            </a:pPr>
            <a:r>
              <a:rPr sz="800" b="0">
                <a:solidFill>
                  <a:srgbClr val="68736E"/>
                </a:solidFill>
                <a:latin typeface="Trebuchet MS"/>
              </a:rPr>
              <a:t>Incident-aware optimization · design proposal · containment-extension · October 2026 · no benchmark improvement measured</a:t>
            </a:r>
          </a:p>
        </p:txBody>
      </p:sp>
      <p:sp>
        <p:nvSpPr>
          <p:cNvPr id="13" name="page: 42"/>
          <p:cNvSpPr txBox="1"/>
          <p:nvPr/>
        </p:nvSpPr>
        <p:spPr>
          <a:xfrm>
            <a:off x="13505688" y="7826629"/>
            <a:ext cx="393192" cy="229870"/>
          </a:xfrm>
          <a:prstGeom prst="rect">
            <a:avLst/>
          </a:prstGeom>
          <a:noFill/>
        </p:spPr>
        <p:txBody>
          <a:bodyPr wrap="none" lIns="0" rIns="0" tIns="0" bIns="0" anchor="t">
            <a:noAutofit/>
          </a:bodyPr>
          <a:lstStyle/>
          <a:p>
            <a:pPr algn="ctr">
              <a:lnSpc>
                <a:spcPts val="1270"/>
              </a:lnSpc>
              <a:spcBef>
                <a:spcPts val="0"/>
              </a:spcBef>
              <a:spcAft>
                <a:spcPts val="0"/>
              </a:spcAft>
            </a:pPr>
            <a:r>
              <a:rPr sz="1000" b="0">
                <a:solidFill>
                  <a:srgbClr val="4E7892"/>
                </a:solidFill>
                <a:latin typeface="Trebuchet MS"/>
              </a:rPr>
              <a:t>42</a:t>
            </a:r>
          </a:p>
        </p:txBody>
      </p:sp>
      <p:sp>
        <p:nvSpPr>
          <p:cNvPr id="14" name="Oval 13"/>
          <p:cNvSpPr/>
          <p:nvPr/>
        </p:nvSpPr>
        <p:spPr>
          <a:xfrm>
            <a:off x="822960" y="2114876"/>
            <a:ext cx="109728" cy="109728"/>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ody: Invariant Labs (May 2025). GitHub MCP private-repository exfiltr"/>
          <p:cNvSpPr txBox="1"/>
          <p:nvPr/>
        </p:nvSpPr>
        <p:spPr>
          <a:xfrm>
            <a:off x="1170432" y="1796868"/>
            <a:ext cx="1252728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Invariant Labs (May 2025). GitHub MCP private-repository exfiltration. github/github-mcp-server issue</a:t>
            </a:r>
            <a:br/>
            <a:r>
              <a:rPr sz="2000" b="0">
                <a:solidFill>
                  <a:srgbClr val="293E46"/>
                </a:solidFill>
                <a:latin typeface="Trebuchet MS"/>
              </a:rPr>
              <a:t>#844</a:t>
            </a:r>
          </a:p>
        </p:txBody>
      </p:sp>
      <p:sp>
        <p:nvSpPr>
          <p:cNvPr id="16" name="Freeform 15"/>
          <p:cNvSpPr/>
          <p:nvPr/>
        </p:nvSpPr>
        <p:spPr>
          <a:xfrm>
            <a:off x="1170432" y="2567361"/>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924773"/>
            <a:ext cx="109728" cy="109728"/>
          </a:xfrm>
          <a:prstGeom prst="ellipse">
            <a:avLst/>
          </a:prstGeom>
          <a:solidFill>
            <a:srgbClr val="557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 SaaStr / Replit (Jul 2025). Production database deleted during c"/>
          <p:cNvSpPr txBox="1"/>
          <p:nvPr/>
        </p:nvSpPr>
        <p:spPr>
          <a:xfrm>
            <a:off x="1170432" y="2768055"/>
            <a:ext cx="1252728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SaaStr / Replit (Jul 2025). Production database deleted during code freeze. Slashdot, Fortune</a:t>
            </a:r>
          </a:p>
        </p:txBody>
      </p:sp>
      <p:sp>
        <p:nvSpPr>
          <p:cNvPr id="19" name="Freeform 18"/>
          <p:cNvSpPr/>
          <p:nvPr/>
        </p:nvSpPr>
        <p:spPr>
          <a:xfrm>
            <a:off x="1170432" y="3377245"/>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60" y="3734670"/>
            <a:ext cx="109728" cy="109728"/>
          </a:xfrm>
          <a:prstGeom prst="ellipse">
            <a:avLst/>
          </a:prstGeom>
          <a:solidFill>
            <a:srgbClr val="9D7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dy: AWS; 404 Media (Jul 2025). Amazon Q Developer extension 1.84.0 w"/>
          <p:cNvSpPr txBox="1"/>
          <p:nvPr/>
        </p:nvSpPr>
        <p:spPr>
          <a:xfrm>
            <a:off x="1170432" y="3577952"/>
            <a:ext cx="1252728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AWS; 404 Media (Jul 2025). Amazon Q Developer extension 1.84.0 wiper prompt. SC Media</a:t>
            </a:r>
          </a:p>
        </p:txBody>
      </p:sp>
      <p:sp>
        <p:nvSpPr>
          <p:cNvPr id="22" name="Freeform 21"/>
          <p:cNvSpPr/>
          <p:nvPr/>
        </p:nvSpPr>
        <p:spPr>
          <a:xfrm>
            <a:off x="1170432" y="4187129"/>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2960" y="4544568"/>
            <a:ext cx="109728" cy="109728"/>
          </a:xfrm>
          <a:prstGeom prst="ellipse">
            <a:avLst/>
          </a:prstGeom>
          <a:solidFill>
            <a:srgbClr val="AE6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ody: AI Incident Database (Jul 2025). Incident 1178: Gemini CLI delet"/>
          <p:cNvSpPr txBox="1"/>
          <p:nvPr/>
        </p:nvSpPr>
        <p:spPr>
          <a:xfrm>
            <a:off x="1170432" y="4226560"/>
            <a:ext cx="1252728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AI Incident Database (Jul 2025). Incident 1178: Gemini CLI deletes user files.</a:t>
            </a:r>
            <a:br/>
            <a:r>
              <a:rPr sz="2000" b="0">
                <a:solidFill>
                  <a:srgbClr val="293E46"/>
                </a:solidFill>
                <a:latin typeface="Trebuchet MS"/>
              </a:rPr>
              <a:t>incidentdatabase.ai/cite/1178</a:t>
            </a:r>
          </a:p>
        </p:txBody>
      </p:sp>
      <p:sp>
        <p:nvSpPr>
          <p:cNvPr id="25" name="Freeform 24"/>
          <p:cNvSpPr/>
          <p:nvPr/>
        </p:nvSpPr>
        <p:spPr>
          <a:xfrm>
            <a:off x="1170432" y="4997105"/>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2960" y="5354465"/>
            <a:ext cx="109728" cy="109728"/>
          </a:xfrm>
          <a:prstGeom prst="ellipse">
            <a:avLst/>
          </a:prstGeom>
          <a:solidFill>
            <a:srgbClr val="7C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ody: Brave Security (Aug 2025). Indirect prompt injection in Perplexi"/>
          <p:cNvSpPr txBox="1"/>
          <p:nvPr/>
        </p:nvSpPr>
        <p:spPr>
          <a:xfrm>
            <a:off x="1170432" y="5197747"/>
            <a:ext cx="1252728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Brave Security (Aug 2025). Indirect prompt injection in Perplexity Comet. brave.com/blog</a:t>
            </a:r>
          </a:p>
        </p:txBody>
      </p:sp>
      <p:sp>
        <p:nvSpPr>
          <p:cNvPr id="28" name="Freeform 27"/>
          <p:cNvSpPr/>
          <p:nvPr/>
        </p:nvSpPr>
        <p:spPr>
          <a:xfrm>
            <a:off x="1170432" y="5806989"/>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2960" y="6164362"/>
            <a:ext cx="109728" cy="109728"/>
          </a:xfrm>
          <a:prstGeom prst="ellipse">
            <a:avLst/>
          </a:prstGeom>
          <a:solidFill>
            <a:srgbClr val="4E7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ody: OpenAI (Oct–Dec 2025). ChatGPT Atlas prompt-injection update. Cy"/>
          <p:cNvSpPr txBox="1"/>
          <p:nvPr/>
        </p:nvSpPr>
        <p:spPr>
          <a:xfrm>
            <a:off x="1170432" y="6007644"/>
            <a:ext cx="12527280" cy="391160"/>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OpenAI (Oct–Dec 2025). ChatGPT Atlas prompt-injection update. CyberScoop</a:t>
            </a:r>
          </a:p>
        </p:txBody>
      </p:sp>
      <p:sp>
        <p:nvSpPr>
          <p:cNvPr id="31" name="Freeform 30"/>
          <p:cNvSpPr/>
          <p:nvPr/>
        </p:nvSpPr>
        <p:spPr>
          <a:xfrm>
            <a:off x="1170432" y="6616873"/>
            <a:ext cx="12527280" cy="183"/>
          </a:xfrm>
          <a:custGeom>
            <a:avLst/>
            <a:gdLst/>
            <a:ahLst/>
            <a:cxnLst/>
            <a:rect l="l" t="t" r="r" b="b"/>
            <a:pathLst>
              <a:path w="137000" h="2">
                <a:moveTo>
                  <a:pt x="0" y="0"/>
                </a:moveTo>
                <a:lnTo>
                  <a:pt x="137000" y="2"/>
                </a:lnTo>
              </a:path>
            </a:pathLst>
          </a:custGeom>
          <a:noFill/>
          <a:ln w="5715" cap="rnd">
            <a:solidFill>
              <a:srgbClr val="DDD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2960" y="6974259"/>
            <a:ext cx="109728" cy="109728"/>
          </a:xfrm>
          <a:prstGeom prst="ellipse">
            <a:avLst/>
          </a:prstGeom>
          <a:solidFill>
            <a:srgbClr val="557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ody: Anthropic (Nov 2025). Disrupting the first AI-orchestrated cyber"/>
          <p:cNvSpPr txBox="1"/>
          <p:nvPr/>
        </p:nvSpPr>
        <p:spPr>
          <a:xfrm>
            <a:off x="1170432" y="6656251"/>
            <a:ext cx="12527280" cy="713739"/>
          </a:xfrm>
          <a:prstGeom prst="rect">
            <a:avLst/>
          </a:prstGeom>
          <a:noFill/>
        </p:spPr>
        <p:txBody>
          <a:bodyPr wrap="none" lIns="0" rIns="0" tIns="0" bIns="0" anchor="t">
            <a:noAutofit/>
          </a:bodyPr>
          <a:lstStyle/>
          <a:p>
            <a:pPr algn="l">
              <a:lnSpc>
                <a:spcPts val="2540"/>
              </a:lnSpc>
              <a:spcBef>
                <a:spcPts val="0"/>
              </a:spcBef>
              <a:spcAft>
                <a:spcPts val="0"/>
              </a:spcAft>
            </a:pPr>
            <a:r>
              <a:rPr sz="2000" b="0">
                <a:solidFill>
                  <a:srgbClr val="293E46"/>
                </a:solidFill>
                <a:latin typeface="Trebuchet MS"/>
              </a:rPr>
              <a:t>Anthropic (Nov 2025). Disrupting the first AI-orchestrated cyber espionage campaign (GTG-1002). AI</a:t>
            </a:r>
            <a:br/>
            <a:r>
              <a:rPr sz="2000" b="0">
                <a:solidFill>
                  <a:srgbClr val="293E46"/>
                </a:solidFill>
                <a:latin typeface="Trebuchet MS"/>
              </a:rPr>
              <a:t>Incident Database 1263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Incident-Aware Optimization</dc:title>
  <dc:subject>Crayon restyling of the original v2 deck; original content preserved</dc:subject>
  <dc:creator>Jiawei Li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