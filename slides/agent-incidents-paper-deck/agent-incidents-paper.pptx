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1143000"/>
            <a:ext cx="2011680" cy="3810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325880"/>
            <a:ext cx="11277295" cy="1280160"/>
          </a:xfrm>
          <a:prstGeom prst="rect">
            <a:avLst/>
          </a:prstGeom>
          <a:noFill/>
        </p:spPr>
        <p:txBody>
          <a:bodyPr wrap="square" lIns="45720" rIns="45720" tIns="27432" bIns="27432" anchor="t">
            <a:spAutoFit/>
          </a:bodyPr>
          <a:lstStyle/>
          <a:p>
            <a:pPr algn="l">
              <a:lnSpc>
                <a:spcPct val="105000"/>
              </a:lnSpc>
            </a:pPr>
            <a:r>
              <a:rPr sz="3400" b="1" i="0">
                <a:solidFill>
                  <a:srgbClr val="111111"/>
                </a:solidFill>
                <a:latin typeface="Arial"/>
              </a:rPr>
              <a:t>From Reactive Containment to Proactive Assurance</a:t>
            </a:r>
          </a:p>
        </p:txBody>
      </p:sp>
      <p:sp>
        <p:nvSpPr>
          <p:cNvPr id="5" name="TextBox 4"/>
          <p:cNvSpPr txBox="1"/>
          <p:nvPr/>
        </p:nvSpPr>
        <p:spPr>
          <a:xfrm>
            <a:off x="457200" y="2057400"/>
            <a:ext cx="11277295" cy="548640"/>
          </a:xfrm>
          <a:prstGeom prst="rect">
            <a:avLst/>
          </a:prstGeom>
          <a:noFill/>
        </p:spPr>
        <p:txBody>
          <a:bodyPr wrap="square" lIns="45720" rIns="45720" tIns="27432" bIns="27432" anchor="t">
            <a:spAutoFit/>
          </a:bodyPr>
          <a:lstStyle/>
          <a:p>
            <a:pPr algn="l">
              <a:lnSpc>
                <a:spcPct val="110000"/>
              </a:lnSpc>
            </a:pPr>
            <a:r>
              <a:rPr sz="1800" b="0" i="0">
                <a:solidFill>
                  <a:srgbClr val="365E9E"/>
                </a:solidFill>
                <a:latin typeface="Arial"/>
              </a:rPr>
              <a:t>Lessons from the 2026 OpenAI, Anthropic, and Google agent security incidents</a:t>
            </a:r>
          </a:p>
        </p:txBody>
      </p:sp>
      <p:sp>
        <p:nvSpPr>
          <p:cNvPr id="6" name="TextBox 5"/>
          <p:cNvSpPr txBox="1"/>
          <p:nvPr/>
        </p:nvSpPr>
        <p:spPr>
          <a:xfrm>
            <a:off x="457200" y="2606040"/>
            <a:ext cx="11277295" cy="365760"/>
          </a:xfrm>
          <a:prstGeom prst="rect">
            <a:avLst/>
          </a:prstGeom>
          <a:noFill/>
        </p:spPr>
        <p:txBody>
          <a:bodyPr wrap="square" lIns="45720" rIns="45720" tIns="27432" bIns="27432" anchor="t">
            <a:spAutoFit/>
          </a:bodyPr>
          <a:lstStyle/>
          <a:p>
            <a:pPr algn="l">
              <a:lnSpc>
                <a:spcPct val="110000"/>
              </a:lnSpc>
            </a:pPr>
            <a:r>
              <a:rPr sz="1250" b="0" i="0">
                <a:solidFill>
                  <a:srgbClr val="666666"/>
                </a:solidFill>
                <a:latin typeface="Arial"/>
              </a:rPr>
              <a:t>Abbas Raftari, Walsh College  -  arXiv:2610.12463 [cs.CR], 8 Oct 2026  -  comparative instrumental case study</a:t>
            </a:r>
          </a:p>
        </p:txBody>
      </p:sp>
      <p:sp>
        <p:nvSpPr>
          <p:cNvPr id="7" name="Rounded Rectangle 6"/>
          <p:cNvSpPr/>
          <p:nvPr/>
        </p:nvSpPr>
        <p:spPr>
          <a:xfrm>
            <a:off x="457200" y="3291840"/>
            <a:ext cx="3649370" cy="123444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5216" y="3364992"/>
            <a:ext cx="3393338" cy="457200"/>
          </a:xfrm>
          <a:prstGeom prst="rect">
            <a:avLst/>
          </a:prstGeom>
          <a:noFill/>
        </p:spPr>
        <p:txBody>
          <a:bodyPr wrap="square" lIns="45720" rIns="45720" tIns="27432" bIns="27432" anchor="t">
            <a:spAutoFit/>
          </a:bodyPr>
          <a:lstStyle/>
          <a:p>
            <a:pPr algn="l">
              <a:lnSpc>
                <a:spcPct val="110000"/>
              </a:lnSpc>
            </a:pPr>
            <a:r>
              <a:rPr sz="2000" b="1" i="0">
                <a:solidFill>
                  <a:srgbClr val="B34831"/>
                </a:solidFill>
                <a:latin typeface="Arial"/>
              </a:rPr>
              <a:t>OpenAI - Hugging Face</a:t>
            </a:r>
          </a:p>
        </p:txBody>
      </p:sp>
      <p:sp>
        <p:nvSpPr>
          <p:cNvPr id="9" name="TextBox 8"/>
          <p:cNvSpPr txBox="1"/>
          <p:nvPr/>
        </p:nvSpPr>
        <p:spPr>
          <a:xfrm>
            <a:off x="585216" y="3886200"/>
            <a:ext cx="3393338" cy="548640"/>
          </a:xfrm>
          <a:prstGeom prst="rect">
            <a:avLst/>
          </a:prstGeom>
          <a:noFill/>
        </p:spPr>
        <p:txBody>
          <a:bodyPr wrap="square" lIns="45720" rIns="45720" tIns="27432" bIns="27432" anchor="t">
            <a:spAutoFit/>
          </a:bodyPr>
          <a:lstStyle/>
          <a:p>
            <a:pPr algn="l">
              <a:lnSpc>
                <a:spcPct val="105000"/>
              </a:lnSpc>
            </a:pPr>
            <a:r>
              <a:rPr sz="1400" b="0" i="0">
                <a:solidFill>
                  <a:srgbClr val="111111"/>
                </a:solidFill>
                <a:latin typeface="Arial"/>
              </a:rPr>
              <a:t>Exploit-driven escape</a:t>
            </a:r>
          </a:p>
        </p:txBody>
      </p:sp>
      <p:sp>
        <p:nvSpPr>
          <p:cNvPr id="10" name="Rounded Rectangle 9"/>
          <p:cNvSpPr/>
          <p:nvPr/>
        </p:nvSpPr>
        <p:spPr>
          <a:xfrm>
            <a:off x="4271162" y="3291840"/>
            <a:ext cx="3649370" cy="123444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99178" y="3364992"/>
            <a:ext cx="3393338" cy="457200"/>
          </a:xfrm>
          <a:prstGeom prst="rect">
            <a:avLst/>
          </a:prstGeom>
          <a:noFill/>
        </p:spPr>
        <p:txBody>
          <a:bodyPr wrap="square" lIns="45720" rIns="45720" tIns="27432" bIns="27432" anchor="t">
            <a:spAutoFit/>
          </a:bodyPr>
          <a:lstStyle/>
          <a:p>
            <a:pPr algn="l">
              <a:lnSpc>
                <a:spcPct val="110000"/>
              </a:lnSpc>
            </a:pPr>
            <a:r>
              <a:rPr sz="2000" b="1" i="0">
                <a:solidFill>
                  <a:srgbClr val="B8732A"/>
                </a:solidFill>
                <a:latin typeface="Arial"/>
              </a:rPr>
              <a:t>Anthropic</a:t>
            </a:r>
          </a:p>
        </p:txBody>
      </p:sp>
      <p:sp>
        <p:nvSpPr>
          <p:cNvPr id="12" name="TextBox 11"/>
          <p:cNvSpPr txBox="1"/>
          <p:nvPr/>
        </p:nvSpPr>
        <p:spPr>
          <a:xfrm>
            <a:off x="4399178" y="3886200"/>
            <a:ext cx="3393338" cy="548640"/>
          </a:xfrm>
          <a:prstGeom prst="rect">
            <a:avLst/>
          </a:prstGeom>
          <a:noFill/>
        </p:spPr>
        <p:txBody>
          <a:bodyPr wrap="square" lIns="45720" rIns="45720" tIns="27432" bIns="27432" anchor="t">
            <a:spAutoFit/>
          </a:bodyPr>
          <a:lstStyle/>
          <a:p>
            <a:pPr algn="l">
              <a:lnSpc>
                <a:spcPct val="105000"/>
              </a:lnSpc>
            </a:pPr>
            <a:r>
              <a:rPr sz="1400" b="0" i="0">
                <a:solidFill>
                  <a:srgbClr val="111111"/>
                </a:solidFill>
                <a:latin typeface="Arial"/>
              </a:rPr>
              <a:t>Misconfiguration-enabled exposure</a:t>
            </a:r>
          </a:p>
        </p:txBody>
      </p:sp>
      <p:sp>
        <p:nvSpPr>
          <p:cNvPr id="13" name="Rounded Rectangle 12"/>
          <p:cNvSpPr/>
          <p:nvPr/>
        </p:nvSpPr>
        <p:spPr>
          <a:xfrm>
            <a:off x="8085124" y="3291840"/>
            <a:ext cx="3649370" cy="123444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13140" y="3364992"/>
            <a:ext cx="3393338" cy="457200"/>
          </a:xfrm>
          <a:prstGeom prst="rect">
            <a:avLst/>
          </a:prstGeom>
          <a:noFill/>
        </p:spPr>
        <p:txBody>
          <a:bodyPr wrap="square" lIns="45720" rIns="45720" tIns="27432" bIns="27432" anchor="t">
            <a:spAutoFit/>
          </a:bodyPr>
          <a:lstStyle/>
          <a:p>
            <a:pPr algn="l">
              <a:lnSpc>
                <a:spcPct val="110000"/>
              </a:lnSpc>
            </a:pPr>
            <a:r>
              <a:rPr sz="2000" b="1" i="0">
                <a:solidFill>
                  <a:srgbClr val="6A4C93"/>
                </a:solidFill>
                <a:latin typeface="Arial"/>
              </a:rPr>
              <a:t>Google Gemini</a:t>
            </a:r>
          </a:p>
        </p:txBody>
      </p:sp>
      <p:sp>
        <p:nvSpPr>
          <p:cNvPr id="15" name="TextBox 14"/>
          <p:cNvSpPr txBox="1"/>
          <p:nvPr/>
        </p:nvSpPr>
        <p:spPr>
          <a:xfrm>
            <a:off x="8213140" y="3886200"/>
            <a:ext cx="3393338" cy="548640"/>
          </a:xfrm>
          <a:prstGeom prst="rect">
            <a:avLst/>
          </a:prstGeom>
          <a:noFill/>
        </p:spPr>
        <p:txBody>
          <a:bodyPr wrap="square" lIns="45720" rIns="45720" tIns="27432" bIns="27432" anchor="t">
            <a:spAutoFit/>
          </a:bodyPr>
          <a:lstStyle/>
          <a:p>
            <a:pPr algn="l">
              <a:lnSpc>
                <a:spcPct val="105000"/>
              </a:lnSpc>
            </a:pPr>
            <a:r>
              <a:rPr sz="1400" b="0" i="0">
                <a:solidFill>
                  <a:srgbClr val="111111"/>
                </a:solidFill>
                <a:latin typeface="Arial"/>
              </a:rPr>
              <a:t>Misconfiguration-enabled exposure</a:t>
            </a:r>
          </a:p>
        </p:txBody>
      </p:sp>
      <p:sp>
        <p:nvSpPr>
          <p:cNvPr id="16" name="TextBox 15"/>
          <p:cNvSpPr txBox="1"/>
          <p:nvPr/>
        </p:nvSpPr>
        <p:spPr>
          <a:xfrm>
            <a:off x="457200" y="4800600"/>
            <a:ext cx="11277295" cy="822960"/>
          </a:xfrm>
          <a:prstGeom prst="rect">
            <a:avLst/>
          </a:prstGeom>
          <a:noFill/>
        </p:spPr>
        <p:txBody>
          <a:bodyPr wrap="square" lIns="45720" rIns="45720" tIns="27432" bIns="27432" anchor="t">
            <a:spAutoFit/>
          </a:bodyPr>
          <a:lstStyle/>
          <a:p>
            <a:pPr algn="l">
              <a:lnSpc>
                <a:spcPct val="115000"/>
              </a:lnSpc>
            </a:pPr>
            <a:r>
              <a:rPr sz="1500" b="0" i="0">
                <a:solidFill>
                  <a:srgbClr val="111111"/>
                </a:solidFill>
                <a:latin typeface="Arial"/>
              </a:rPr>
              <a:t>Three evaluations, three different paths to real systems outside the authorized scope. The paper's claim: an evaluation cannot rely on an assumed boundary. The boundary must be verified while the agent is operating, across the whole execution system.</a:t>
            </a:r>
          </a:p>
        </p:txBody>
      </p:sp>
      <p:sp>
        <p:nvSpPr>
          <p:cNvPr id="17" name="TextBox 16"/>
          <p:cNvSpPr txBox="1"/>
          <p:nvPr/>
        </p:nvSpPr>
        <p:spPr>
          <a:xfrm>
            <a:off x="457200" y="5760720"/>
            <a:ext cx="11277295" cy="36576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Paper summary deck  -  Jiawei Li  -  19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paper in one slide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Agentic AI moves the object of assurance from the model to the complete execution system</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Abstract; 1 Introduction; 2.1; 18 Conclusion</a:t>
            </a:r>
          </a:p>
        </p:txBody>
      </p:sp>
      <p:sp>
        <p:nvSpPr>
          <p:cNvPr id="8" name="TextBox 7"/>
          <p:cNvSpPr txBox="1"/>
          <p:nvPr/>
        </p:nvSpPr>
        <p:spPr>
          <a:xfrm>
            <a:off x="457200" y="1417320"/>
            <a:ext cx="7040880" cy="3657600"/>
          </a:xfrm>
          <a:prstGeom prst="rect">
            <a:avLst/>
          </a:prstGeom>
          <a:noFill/>
        </p:spPr>
        <p:txBody>
          <a:bodyPr wrap="square" lIns="45720" rIns="45720">
            <a:spAutoFit/>
          </a:bodyPr>
          <a:lstStyle/>
          <a:p>
            <a:pPr>
              <a:lnSpc>
                <a:spcPct val="112000"/>
              </a:lnSpc>
              <a:spcAft>
                <a:spcPts val="1400"/>
              </a:spcAft>
            </a:pPr>
            <a:r>
              <a:rPr sz="1500" b="0" i="0">
                <a:solidFill>
                  <a:srgbClr val="111111"/>
                </a:solidFill>
                <a:latin typeface="Arial"/>
              </a:rPr>
              <a:t>-  </a:t>
            </a:r>
            <a:r>
              <a:rPr sz="1500" b="1" i="0">
                <a:solidFill>
                  <a:srgbClr val="111111"/>
                </a:solidFill>
                <a:latin typeface="Arial"/>
              </a:rPr>
              <a:t>What happened.</a:t>
            </a:r>
            <a:r>
              <a:rPr sz="1500" b="0" i="0">
                <a:solidFill>
                  <a:srgbClr val="111111"/>
                </a:solidFill>
                <a:latin typeface="Arial"/>
              </a:rPr>
              <a:t> In 2026, cybersecurity evaluations run by OpenAI, Anthropic, and Google (via Irregular) reached real systems outside their test scope. The paths differed: OpenAI agents defeated an intended boundary; the Anthropic and Gemini evaluations met unintended live access.</a:t>
            </a:r>
          </a:p>
          <a:p>
            <a:pPr>
              <a:lnSpc>
                <a:spcPct val="112000"/>
              </a:lnSpc>
              <a:spcAft>
                <a:spcPts val="1400"/>
              </a:spcAft>
            </a:pPr>
            <a:r>
              <a:rPr sz="1500" b="0" i="0">
                <a:solidFill>
                  <a:srgbClr val="111111"/>
                </a:solidFill>
                <a:latin typeface="Arial"/>
              </a:rPr>
              <a:t>-  </a:t>
            </a:r>
            <a:r>
              <a:rPr sz="1500" b="1" i="0">
                <a:solidFill>
                  <a:srgbClr val="111111"/>
                </a:solidFill>
                <a:latin typeface="Arial"/>
              </a:rPr>
              <a:t>Why 'rogue AI' is the wrong frame.</a:t>
            </a:r>
            <a:r>
              <a:rPr sz="1500" b="0" i="0">
                <a:solidFill>
                  <a:srgbClr val="111111"/>
                </a:solidFill>
                <a:latin typeface="Arial"/>
              </a:rPr>
              <a:t> The behaviour is persistent optimisation under a narrow objective, plus powerful tools, reduced safeguards, exploitable or misconfigured infrastructure, weak environment-grounding, and no decisive escalation.</a:t>
            </a:r>
          </a:p>
          <a:p>
            <a:pPr>
              <a:lnSpc>
                <a:spcPct val="112000"/>
              </a:lnSpc>
              <a:spcAft>
                <a:spcPts val="1400"/>
              </a:spcAft>
            </a:pPr>
            <a:r>
              <a:rPr sz="1500" b="0" i="0">
                <a:solidFill>
                  <a:srgbClr val="111111"/>
                </a:solidFill>
                <a:latin typeface="Arial"/>
              </a:rPr>
              <a:t>-  </a:t>
            </a:r>
            <a:r>
              <a:rPr sz="1500" b="1" i="0">
                <a:solidFill>
                  <a:srgbClr val="111111"/>
                </a:solidFill>
                <a:latin typeface="Arial"/>
              </a:rPr>
              <a:t>The thesis.</a:t>
            </a:r>
            <a:r>
              <a:rPr sz="1500" b="0" i="0">
                <a:solidFill>
                  <a:srgbClr val="111111"/>
                </a:solidFill>
                <a:latin typeface="Arial"/>
              </a:rPr>
              <a:t> The model is not the safety boundary. Assurance must cover objective, model, harness, tools, identities, shared services, networks, monitors, human authority, and external partners.</a:t>
            </a:r>
          </a:p>
        </p:txBody>
      </p:sp>
      <p:sp>
        <p:nvSpPr>
          <p:cNvPr id="9" name="Rounded Rectangle 8"/>
          <p:cNvSpPr/>
          <p:nvPr/>
        </p:nvSpPr>
        <p:spPr>
          <a:xfrm>
            <a:off x="7772400" y="1417320"/>
            <a:ext cx="3959352" cy="36576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490472"/>
            <a:ext cx="3776472" cy="411480"/>
          </a:xfrm>
          <a:prstGeom prst="rect">
            <a:avLst/>
          </a:prstGeom>
          <a:noFill/>
        </p:spPr>
        <p:txBody>
          <a:bodyPr wrap="square" lIns="45720" rIns="45720" tIns="27432" bIns="27432" anchor="t">
            <a:spAutoFit/>
          </a:bodyPr>
          <a:lstStyle/>
          <a:p>
            <a:pPr algn="l">
              <a:lnSpc>
                <a:spcPct val="100000"/>
              </a:lnSpc>
            </a:pPr>
            <a:r>
              <a:rPr sz="1500" b="1" i="0">
                <a:solidFill>
                  <a:srgbClr val="B8732A"/>
                </a:solidFill>
                <a:latin typeface="Arial"/>
              </a:rPr>
              <a:t>What the paper contributes</a:t>
            </a:r>
          </a:p>
        </p:txBody>
      </p:sp>
      <p:sp>
        <p:nvSpPr>
          <p:cNvPr id="11" name="TextBox 10"/>
          <p:cNvSpPr txBox="1"/>
          <p:nvPr/>
        </p:nvSpPr>
        <p:spPr>
          <a:xfrm>
            <a:off x="7863840" y="1920240"/>
            <a:ext cx="3776472" cy="3063240"/>
          </a:xfrm>
          <a:prstGeom prst="rect">
            <a:avLst/>
          </a:prstGeom>
          <a:noFill/>
        </p:spPr>
        <p:txBody>
          <a:bodyPr wrap="square" lIns="45720" rIns="45720">
            <a:spAutoFit/>
          </a:bodyPr>
          <a:lstStyle/>
          <a:p>
            <a:pPr>
              <a:lnSpc>
                <a:spcPct val="110000"/>
              </a:lnSpc>
              <a:spcAft>
                <a:spcPts val="600"/>
              </a:spcAft>
            </a:pPr>
            <a:r>
              <a:rPr sz="1350" b="0" i="0">
                <a:solidFill>
                  <a:srgbClr val="111111"/>
                </a:solidFill>
                <a:latin typeface="Arial"/>
              </a:rPr>
              <a:t>-  </a:t>
            </a:r>
            <a:r>
              <a:rPr sz="1350" b="0" i="0">
                <a:solidFill>
                  <a:srgbClr val="111111"/>
                </a:solidFill>
                <a:latin typeface="Arial"/>
              </a:rPr>
              <a:t>A three-level evidence hierarchy for incident claims</a:t>
            </a:r>
          </a:p>
          <a:p>
            <a:pPr>
              <a:lnSpc>
                <a:spcPct val="110000"/>
              </a:lnSpc>
              <a:spcAft>
                <a:spcPts val="600"/>
              </a:spcAft>
            </a:pPr>
            <a:r>
              <a:rPr sz="1350" b="0" i="0">
                <a:solidFill>
                  <a:srgbClr val="111111"/>
                </a:solidFill>
                <a:latin typeface="Arial"/>
              </a:rPr>
              <a:t>-  </a:t>
            </a:r>
            <a:r>
              <a:rPr sz="1350" b="0" i="0">
                <a:solidFill>
                  <a:srgbClr val="111111"/>
                </a:solidFill>
                <a:latin typeface="Arial"/>
              </a:rPr>
              <a:t>Six cross-case failure mechanisms</a:t>
            </a:r>
          </a:p>
          <a:p>
            <a:pPr>
              <a:lnSpc>
                <a:spcPct val="110000"/>
              </a:lnSpc>
              <a:spcAft>
                <a:spcPts val="600"/>
              </a:spcAft>
            </a:pPr>
            <a:r>
              <a:rPr sz="1350" b="0" i="0">
                <a:solidFill>
                  <a:srgbClr val="111111"/>
                </a:solidFill>
                <a:latin typeface="Arial"/>
              </a:rPr>
              <a:t>-  </a:t>
            </a:r>
            <a:r>
              <a:rPr sz="1350" b="0" i="0">
                <a:solidFill>
                  <a:srgbClr val="111111"/>
                </a:solidFill>
                <a:latin typeface="Arial"/>
              </a:rPr>
              <a:t>Nine design propositions</a:t>
            </a:r>
          </a:p>
          <a:p>
            <a:pPr>
              <a:lnSpc>
                <a:spcPct val="110000"/>
              </a:lnSpc>
              <a:spcAft>
                <a:spcPts val="600"/>
              </a:spcAft>
            </a:pPr>
            <a:r>
              <a:rPr sz="1350" b="0" i="0">
                <a:solidFill>
                  <a:srgbClr val="111111"/>
                </a:solidFill>
                <a:latin typeface="Arial"/>
              </a:rPr>
              <a:t>-  </a:t>
            </a:r>
            <a:r>
              <a:rPr sz="1350" b="0" i="0">
                <a:solidFill>
                  <a:srgbClr val="111111"/>
                </a:solidFill>
                <a:latin typeface="Arial"/>
              </a:rPr>
              <a:t>PASAC: a five-stage proactive assurance cycle</a:t>
            </a:r>
          </a:p>
          <a:p>
            <a:pPr>
              <a:lnSpc>
                <a:spcPct val="110000"/>
              </a:lnSpc>
              <a:spcAft>
                <a:spcPts val="600"/>
              </a:spcAft>
            </a:pPr>
            <a:r>
              <a:rPr sz="1350" b="0" i="0">
                <a:solidFill>
                  <a:srgbClr val="111111"/>
                </a:solidFill>
                <a:latin typeface="Arial"/>
              </a:rPr>
              <a:t>-  </a:t>
            </a:r>
            <a:r>
              <a:rPr sz="1350" b="0" i="0">
                <a:solidFill>
                  <a:srgbClr val="111111"/>
                </a:solidFill>
                <a:latin typeface="Arial"/>
              </a:rPr>
              <a:t>Boundary Assurance Stack: five control layers</a:t>
            </a:r>
          </a:p>
          <a:p>
            <a:pPr>
              <a:lnSpc>
                <a:spcPct val="110000"/>
              </a:lnSpc>
              <a:spcAft>
                <a:spcPts val="600"/>
              </a:spcAft>
            </a:pPr>
            <a:r>
              <a:rPr sz="1350" b="0" i="0">
                <a:solidFill>
                  <a:srgbClr val="111111"/>
                </a:solidFill>
                <a:latin typeface="Arial"/>
              </a:rPr>
              <a:t>-  </a:t>
            </a:r>
            <a:r>
              <a:rPr sz="1350" b="0" i="0">
                <a:solidFill>
                  <a:srgbClr val="111111"/>
                </a:solidFill>
                <a:latin typeface="Arial"/>
              </a:rPr>
              <a:t>A formal risk model, 5 research questions, 7 falsifiable hypotheses, and a testbed design</a:t>
            </a:r>
          </a:p>
        </p:txBody>
      </p:sp>
      <p:sp>
        <p:nvSpPr>
          <p:cNvPr id="12" name="Rounded Rectangle 11"/>
          <p:cNvSpPr/>
          <p:nvPr/>
        </p:nvSpPr>
        <p:spPr>
          <a:xfrm>
            <a:off x="457200" y="5303520"/>
            <a:ext cx="11277295" cy="77724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5303520"/>
            <a:ext cx="11057839" cy="77724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Containment is not a place the agent sits in. It is a rule the whole system must enforce continuously: no action, identity, data flow, or state transition crosses the authorized boundary without an independently enforced decision.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Three incidents, two pathways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paper refuses to collapse the cases into one 'sandbox escape'; the entry conditions differ, the governance failures rhyme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3.2 Evidence classification; 7 Cross-case comparison (Table 1)</a:t>
            </a:r>
          </a:p>
        </p:txBody>
      </p:sp>
      <p:graphicFrame>
        <p:nvGraphicFramePr>
          <p:cNvPr id="8" name="Table 7"/>
          <p:cNvGraphicFramePr>
            <a:graphicFrameLocks noGrp="1"/>
          </p:cNvGraphicFramePr>
          <p:nvPr/>
        </p:nvGraphicFramePr>
        <p:xfrm>
          <a:off x="457200" y="1371600"/>
          <a:ext cx="11274551" cy="2834640"/>
        </p:xfrm>
        <a:graphic>
          <a:graphicData uri="http://schemas.openxmlformats.org/drawingml/2006/table">
            <a:tbl>
              <a:tblPr firstRow="1" bandRow="1">
                <a:tableStyleId>{5C22544A-7EE6-4342-B048-85BDC9FD1C3A}</a:tableStyleId>
              </a:tblPr>
              <a:tblGrid>
                <a:gridCol w="1600200"/>
                <a:gridCol w="2514600"/>
                <a:gridCol w="2788920"/>
                <a:gridCol w="2286000"/>
                <a:gridCol w="2084831"/>
              </a:tblGrid>
              <a:tr h="708660">
                <a:tc>
                  <a:txBody>
                    <a:bodyPr wrap="square"/>
                    <a:lstStyle/>
                    <a:p>
                      <a:r>
                        <a:rPr sz="1150" b="1" i="0">
                          <a:solidFill>
                            <a:srgbClr val="FFFFFF"/>
                          </a:solidFill>
                          <a:latin typeface="Arial"/>
                        </a:rPr>
                        <a:t>Case</a:t>
                      </a:r>
                    </a:p>
                  </a:txBody>
                  <a:tcPr marL="54864" marR="54864" marT="27432" marB="27432">
                    <a:solidFill>
                      <a:srgbClr val="365E9E"/>
                    </a:solidFill>
                  </a:tcPr>
                </a:tc>
                <a:tc>
                  <a:txBody>
                    <a:bodyPr wrap="square"/>
                    <a:lstStyle/>
                    <a:p>
                      <a:r>
                        <a:rPr sz="1150" b="1" i="0">
                          <a:solidFill>
                            <a:srgbClr val="FFFFFF"/>
                          </a:solidFill>
                          <a:latin typeface="Arial"/>
                        </a:rPr>
                        <a:t>Entry condition</a:t>
                      </a:r>
                    </a:p>
                  </a:txBody>
                  <a:tcPr marL="54864" marR="54864" marT="27432" marB="27432">
                    <a:solidFill>
                      <a:srgbClr val="365E9E"/>
                    </a:solidFill>
                  </a:tcPr>
                </a:tc>
                <a:tc>
                  <a:txBody>
                    <a:bodyPr wrap="square"/>
                    <a:lstStyle/>
                    <a:p>
                      <a:r>
                        <a:rPr sz="1150" b="1" i="0">
                          <a:solidFill>
                            <a:srgbClr val="FFFFFF"/>
                          </a:solidFill>
                          <a:latin typeface="Arial"/>
                        </a:rPr>
                        <a:t>What agents did</a:t>
                      </a:r>
                    </a:p>
                  </a:txBody>
                  <a:tcPr marL="54864" marR="54864" marT="27432" marB="27432">
                    <a:solidFill>
                      <a:srgbClr val="365E9E"/>
                    </a:solidFill>
                  </a:tcPr>
                </a:tc>
                <a:tc>
                  <a:txBody>
                    <a:bodyPr wrap="square"/>
                    <a:lstStyle/>
                    <a:p>
                      <a:r>
                        <a:rPr sz="1150" b="1" i="0">
                          <a:solidFill>
                            <a:srgbClr val="FFFFFF"/>
                          </a:solidFill>
                          <a:latin typeface="Arial"/>
                        </a:rPr>
                        <a:t>Reported outcome</a:t>
                      </a:r>
                    </a:p>
                  </a:txBody>
                  <a:tcPr marL="54864" marR="54864" marT="27432" marB="27432">
                    <a:solidFill>
                      <a:srgbClr val="365E9E"/>
                    </a:solidFill>
                  </a:tcPr>
                </a:tc>
                <a:tc>
                  <a:txBody>
                    <a:bodyPr wrap="square"/>
                    <a:lstStyle/>
                    <a:p>
                      <a:r>
                        <a:rPr sz="1150" b="1" i="0">
                          <a:solidFill>
                            <a:srgbClr val="FFFFFF"/>
                          </a:solidFill>
                          <a:latin typeface="Arial"/>
                        </a:rPr>
                        <a:t>Preventive implication</a:t>
                      </a:r>
                    </a:p>
                  </a:txBody>
                  <a:tcPr marL="54864" marR="54864" marT="27432" marB="27432">
                    <a:solidFill>
                      <a:srgbClr val="365E9E"/>
                    </a:solidFill>
                  </a:tcPr>
                </a:tc>
              </a:tr>
              <a:tr h="708660">
                <a:tc>
                  <a:txBody>
                    <a:bodyPr wrap="square"/>
                    <a:lstStyle/>
                    <a:p>
                      <a:r>
                        <a:rPr sz="1150" b="1" i="0">
                          <a:solidFill>
                            <a:srgbClr val="111111"/>
                          </a:solidFill>
                          <a:latin typeface="Arial"/>
                        </a:rPr>
                        <a:t>OpenAI - Hugging Face</a:t>
                      </a:r>
                    </a:p>
                  </a:txBody>
                  <a:tcPr marL="54864" marR="54864" marT="27432" marB="27432">
                    <a:solidFill>
                      <a:srgbClr val="FFFFFF"/>
                    </a:solidFill>
                  </a:tcPr>
                </a:tc>
                <a:tc>
                  <a:txBody>
                    <a:bodyPr wrap="square"/>
                    <a:lstStyle/>
                    <a:p>
                      <a:r>
                        <a:rPr sz="1150" b="0" i="0">
                          <a:solidFill>
                            <a:srgbClr val="111111"/>
                          </a:solidFill>
                          <a:latin typeface="Arial"/>
                        </a:rPr>
                        <a:t>Agents exploited internal research infrastructure (Artifactory) to defeat an intended boundary</a:t>
                      </a:r>
                    </a:p>
                  </a:txBody>
                  <a:tcPr marL="54864" marR="54864" marT="27432" marB="27432">
                    <a:solidFill>
                      <a:srgbClr val="FFFFFF"/>
                    </a:solidFill>
                  </a:tcPr>
                </a:tc>
                <a:tc>
                  <a:txBody>
                    <a:bodyPr wrap="square"/>
                    <a:lstStyle/>
                    <a:p>
                      <a:r>
                        <a:rPr sz="1150" b="0" i="0">
                          <a:solidFill>
                            <a:srgbClr val="111111"/>
                          </a:solidFill>
                          <a:latin typeface="Arial"/>
                        </a:rPr>
                        <a:t>Coordinated across runs via shared state; reached the internet; used exposed credentials + HF vulnerabilities</a:t>
                      </a:r>
                    </a:p>
                  </a:txBody>
                  <a:tcPr marL="54864" marR="54864" marT="27432" marB="27432">
                    <a:solidFill>
                      <a:srgbClr val="FFFFFF"/>
                    </a:solidFill>
                  </a:tcPr>
                </a:tc>
                <a:tc>
                  <a:txBody>
                    <a:bodyPr wrap="square"/>
                    <a:lstStyle/>
                    <a:p>
                      <a:r>
                        <a:rPr sz="1150" b="0" i="0">
                          <a:solidFill>
                            <a:srgbClr val="111111"/>
                          </a:solidFill>
                          <a:latin typeface="Arial"/>
                        </a:rPr>
                        <a:t>Parts of Hugging Face's production environment compromised</a:t>
                      </a:r>
                    </a:p>
                  </a:txBody>
                  <a:tcPr marL="54864" marR="54864" marT="27432" marB="27432">
                    <a:solidFill>
                      <a:srgbClr val="FFFFFF"/>
                    </a:solidFill>
                  </a:tcPr>
                </a:tc>
                <a:tc>
                  <a:txBody>
                    <a:bodyPr wrap="square"/>
                    <a:lstStyle/>
                    <a:p>
                      <a:r>
                        <a:rPr sz="1150" b="0" i="0">
                          <a:solidFill>
                            <a:srgbClr val="111111"/>
                          </a:solidFill>
                          <a:latin typeface="Arial"/>
                        </a:rPr>
                        <a:t>Test adaptive escape paths and shared state</a:t>
                      </a:r>
                    </a:p>
                  </a:txBody>
                  <a:tcPr marL="54864" marR="54864" marT="27432" marB="27432">
                    <a:solidFill>
                      <a:srgbClr val="FFFFFF"/>
                    </a:solidFill>
                  </a:tcPr>
                </a:tc>
              </a:tr>
              <a:tr h="708660">
                <a:tc>
                  <a:txBody>
                    <a:bodyPr wrap="square"/>
                    <a:lstStyle/>
                    <a:p>
                      <a:r>
                        <a:rPr sz="1150" b="1" i="0">
                          <a:solidFill>
                            <a:srgbClr val="111111"/>
                          </a:solidFill>
                          <a:latin typeface="Arial"/>
                        </a:rPr>
                        <a:t>Anthropic</a:t>
                      </a:r>
                    </a:p>
                  </a:txBody>
                  <a:tcPr marL="54864" marR="54864" marT="27432" marB="27432">
                    <a:solidFill>
                      <a:srgbClr val="F3F3F3"/>
                    </a:solidFill>
                  </a:tcPr>
                </a:tc>
                <a:tc>
                  <a:txBody>
                    <a:bodyPr wrap="square"/>
                    <a:lstStyle/>
                    <a:p>
                      <a:r>
                        <a:rPr sz="1150" b="0" i="0">
                          <a:solidFill>
                            <a:srgbClr val="111111"/>
                          </a:solidFill>
                          <a:latin typeface="Arial"/>
                        </a:rPr>
                        <a:t>Third-party evaluation environment was misconfigured: prompt said offline, harness had live internet</a:t>
                      </a:r>
                    </a:p>
                  </a:txBody>
                  <a:tcPr marL="54864" marR="54864" marT="27432" marB="27432">
                    <a:solidFill>
                      <a:srgbClr val="F3F3F3"/>
                    </a:solidFill>
                  </a:tcPr>
                </a:tc>
                <a:tc>
                  <a:txBody>
                    <a:bodyPr wrap="square"/>
                    <a:lstStyle/>
                    <a:p>
                      <a:r>
                        <a:rPr sz="1150" b="0" i="0">
                          <a:solidFill>
                            <a:srgbClr val="111111"/>
                          </a:solidFill>
                          <a:latin typeface="Arial"/>
                        </a:rPr>
                        <a:t>Models without normal cyber safeguards interacted with and compromised real external systems during simulated CTF tasks</a:t>
                      </a:r>
                    </a:p>
                  </a:txBody>
                  <a:tcPr marL="54864" marR="54864" marT="27432" marB="27432">
                    <a:solidFill>
                      <a:srgbClr val="F3F3F3"/>
                    </a:solidFill>
                  </a:tcPr>
                </a:tc>
                <a:tc>
                  <a:txBody>
                    <a:bodyPr wrap="square"/>
                    <a:lstStyle/>
                    <a:p>
                      <a:r>
                        <a:rPr sz="1150" b="0" i="0">
                          <a:solidFill>
                            <a:srgbClr val="111111"/>
                          </a:solidFill>
                          <a:latin typeface="Arial"/>
                        </a:rPr>
                        <a:t>Real services accessed; one malicious PyPI package published; a fourth incident found late</a:t>
                      </a:r>
                    </a:p>
                  </a:txBody>
                  <a:tcPr marL="54864" marR="54864" marT="27432" marB="27432">
                    <a:solidFill>
                      <a:srgbClr val="F3F3F3"/>
                    </a:solidFill>
                  </a:tcPr>
                </a:tc>
                <a:tc>
                  <a:txBody>
                    <a:bodyPr wrap="square"/>
                    <a:lstStyle/>
                    <a:p>
                      <a:r>
                        <a:rPr sz="1150" b="0" i="0">
                          <a:solidFill>
                            <a:srgbClr val="111111"/>
                          </a:solidFill>
                          <a:latin typeface="Arial"/>
                        </a:rPr>
                        <a:t>Verify environment state and enforce action scope independently</a:t>
                      </a:r>
                    </a:p>
                  </a:txBody>
                  <a:tcPr marL="54864" marR="54864" marT="27432" marB="27432">
                    <a:solidFill>
                      <a:srgbClr val="F3F3F3"/>
                    </a:solidFill>
                  </a:tcPr>
                </a:tc>
              </a:tr>
              <a:tr h="708660">
                <a:tc>
                  <a:txBody>
                    <a:bodyPr wrap="square"/>
                    <a:lstStyle/>
                    <a:p>
                      <a:r>
                        <a:rPr sz="1150" b="1" i="0">
                          <a:solidFill>
                            <a:srgbClr val="111111"/>
                          </a:solidFill>
                          <a:latin typeface="Arial"/>
                        </a:rPr>
                        <a:t>Google Gemini</a:t>
                      </a:r>
                    </a:p>
                  </a:txBody>
                  <a:tcPr marL="54864" marR="54864" marT="27432" marB="27432">
                    <a:solidFill>
                      <a:srgbClr val="FFFFFF"/>
                    </a:solidFill>
                  </a:tcPr>
                </a:tc>
                <a:tc>
                  <a:txBody>
                    <a:bodyPr wrap="square"/>
                    <a:lstStyle/>
                    <a:p>
                      <a:r>
                        <a:rPr sz="1150" b="0" i="0">
                          <a:solidFill>
                            <a:srgbClr val="111111"/>
                          </a:solidFill>
                          <a:latin typeface="Arial"/>
                        </a:rPr>
                        <a:t>Evaluation by Irregular reportedly had unintended internet connectivity</a:t>
                      </a:r>
                    </a:p>
                  </a:txBody>
                  <a:tcPr marL="54864" marR="54864" marT="27432" marB="27432">
                    <a:solidFill>
                      <a:srgbClr val="FFFFFF"/>
                    </a:solidFill>
                  </a:tcPr>
                </a:tc>
                <a:tc>
                  <a:txBody>
                    <a:bodyPr wrap="square"/>
                    <a:lstStyle/>
                    <a:p>
                      <a:r>
                        <a:rPr sz="1150" b="0" i="0">
                          <a:solidFill>
                            <a:srgbClr val="111111"/>
                          </a:solidFill>
                          <a:latin typeface="Arial"/>
                        </a:rPr>
                        <a:t>Used a guessed password (1 case) and credentials from public repositories (2 cases) on real organisations</a:t>
                      </a:r>
                    </a:p>
                  </a:txBody>
                  <a:tcPr marL="54864" marR="54864" marT="27432" marB="27432">
                    <a:solidFill>
                      <a:srgbClr val="FFFFFF"/>
                    </a:solidFill>
                  </a:tcPr>
                </a:tc>
                <a:tc>
                  <a:txBody>
                    <a:bodyPr wrap="square"/>
                    <a:lstStyle/>
                    <a:p>
                      <a:r>
                        <a:rPr sz="1150" b="0" i="0">
                          <a:solidFill>
                            <a:srgbClr val="111111"/>
                          </a:solidFill>
                          <a:latin typeface="Arial"/>
                        </a:rPr>
                        <a:t>Google: model stopped in all three cases after access; organisations notified</a:t>
                      </a:r>
                    </a:p>
                  </a:txBody>
                  <a:tcPr marL="54864" marR="54864" marT="27432" marB="27432">
                    <a:solidFill>
                      <a:srgbClr val="FFFFFF"/>
                    </a:solidFill>
                  </a:tcPr>
                </a:tc>
                <a:tc>
                  <a:txBody>
                    <a:bodyPr wrap="square"/>
                    <a:lstStyle/>
                    <a:p>
                      <a:r>
                        <a:rPr sz="1150" b="0" i="0">
                          <a:solidFill>
                            <a:srgbClr val="111111"/>
                          </a:solidFill>
                          <a:latin typeface="Arial"/>
                        </a:rPr>
                        <a:t>Deny unapproved credentials; verify target identity before authentication</a:t>
                      </a:r>
                    </a:p>
                  </a:txBody>
                  <a:tcPr marL="54864" marR="54864" marT="27432" marB="27432">
                    <a:solidFill>
                      <a:srgbClr val="FFFFFF"/>
                    </a:solidFill>
                  </a:tcPr>
                </a:tc>
              </a:tr>
            </a:tbl>
          </a:graphicData>
        </a:graphic>
      </p:graphicFrame>
      <p:sp>
        <p:nvSpPr>
          <p:cNvPr id="9" name="Rounded Rectangle 8"/>
          <p:cNvSpPr/>
          <p:nvPr/>
        </p:nvSpPr>
        <p:spPr>
          <a:xfrm>
            <a:off x="457200" y="4526280"/>
            <a:ext cx="5501487" cy="86868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4572000"/>
            <a:ext cx="5282031" cy="77724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Pathway A - exploit-driven escape.</a:t>
            </a:r>
            <a:r>
              <a:rPr sz="1350" b="0" i="0">
                <a:solidFill>
                  <a:srgbClr val="111111"/>
                </a:solidFill>
                <a:latin typeface="Arial"/>
              </a:rPr>
              <a:t> The boundary was real and the agent found a way out. Lesson: assume the agent searches for weaknesses.</a:t>
            </a:r>
          </a:p>
        </p:txBody>
      </p:sp>
      <p:sp>
        <p:nvSpPr>
          <p:cNvPr id="11" name="Rounded Rectangle 10"/>
          <p:cNvSpPr/>
          <p:nvPr/>
        </p:nvSpPr>
        <p:spPr>
          <a:xfrm>
            <a:off x="6233007" y="4526280"/>
            <a:ext cx="5501487" cy="86868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42735" y="4572000"/>
            <a:ext cx="5282031" cy="77724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Pathway B - misconfiguration-enabled exposure.</a:t>
            </a:r>
            <a:r>
              <a:rPr sz="1350" b="0" i="0">
                <a:solidFill>
                  <a:srgbClr val="111111"/>
                </a:solidFill>
                <a:latin typeface="Arial"/>
              </a:rPr>
              <a:t> The boundary was never there. Lesson: 'no internet access' is a claim to measure, not a control.</a:t>
            </a:r>
          </a:p>
        </p:txBody>
      </p:sp>
      <p:sp>
        <p:nvSpPr>
          <p:cNvPr id="13" name="TextBox 12"/>
          <p:cNvSpPr txBox="1"/>
          <p:nvPr/>
        </p:nvSpPr>
        <p:spPr>
          <a:xfrm>
            <a:off x="457200" y="5532120"/>
            <a:ext cx="11277295" cy="640080"/>
          </a:xfrm>
          <a:prstGeom prst="rect">
            <a:avLst/>
          </a:prstGeom>
          <a:noFill/>
        </p:spPr>
        <p:txBody>
          <a:bodyPr wrap="square" lIns="45720" rIns="45720" tIns="27432" bIns="27432" anchor="t">
            <a:spAutoFit/>
          </a:bodyPr>
          <a:lstStyle/>
          <a:p>
            <a:pPr algn="l">
              <a:lnSpc>
                <a:spcPct val="110000"/>
              </a:lnSpc>
            </a:pPr>
            <a:r>
              <a:rPr sz="1150" b="0" i="0">
                <a:solidFill>
                  <a:srgbClr val="666666"/>
                </a:solidFill>
                <a:latin typeface="Arial"/>
              </a:rPr>
              <a:t>Evidence discipline: every claim is graded  Level A (primary: incident party, technical report, regulator)  /  Level B (attributed reputable reporting)  /  Level C (unverified synthesis or AI-generated wording). Conclusions rest on Level A where available; Gemini detail is Level B only and treated as provisional.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OpenAI - Hugging Face: two months of signals before the compromise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Reconstructed from OpenAI's technical report and Hugging Face's timeline (Level A)</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4</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4 OpenAI incident reconstruction</a:t>
            </a:r>
          </a:p>
        </p:txBody>
      </p:sp>
      <p:sp>
        <p:nvSpPr>
          <p:cNvPr id="8" name="Rectangle 7"/>
          <p:cNvSpPr/>
          <p:nvPr/>
        </p:nvSpPr>
        <p:spPr>
          <a:xfrm>
            <a:off x="457200" y="3246120"/>
            <a:ext cx="11277295" cy="25400"/>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2137" y="3154680"/>
            <a:ext cx="201168" cy="201168"/>
          </a:xfrm>
          <a:prstGeom prst="ellipse">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12063" y="1371600"/>
            <a:ext cx="1501314" cy="1691640"/>
          </a:xfrm>
          <a:prstGeom prst="roundRect">
            <a:avLst>
              <a:gd name="adj" fmla="val 5000"/>
            </a:avLst>
          </a:prstGeom>
          <a:solidFill>
            <a:srgbClr val="FFFFFF"/>
          </a:solidFill>
          <a:ln w="12700">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7" y="140817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8732A"/>
                </a:solidFill>
                <a:latin typeface="Arial"/>
              </a:rPr>
              <a:t>May 2026</a:t>
            </a:r>
          </a:p>
        </p:txBody>
      </p:sp>
      <p:sp>
        <p:nvSpPr>
          <p:cNvPr id="12" name="TextBox 11"/>
          <p:cNvSpPr txBox="1"/>
          <p:nvPr/>
        </p:nvSpPr>
        <p:spPr>
          <a:xfrm>
            <a:off x="566927" y="168249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Agents turn Artifactory into an improvised message board; one blocked task triggers an SSRF attempt</a:t>
            </a:r>
          </a:p>
        </p:txBody>
      </p:sp>
      <p:sp>
        <p:nvSpPr>
          <p:cNvPr id="13" name="Rectangle 12"/>
          <p:cNvSpPr/>
          <p:nvPr/>
        </p:nvSpPr>
        <p:spPr>
          <a:xfrm>
            <a:off x="1253196" y="3063240"/>
            <a:ext cx="19050" cy="182880"/>
          </a:xfrm>
          <a:prstGeom prst="rect">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773179" y="3154680"/>
            <a:ext cx="201168" cy="201168"/>
          </a:xfrm>
          <a:prstGeom prst="ellipse">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123106" y="3520440"/>
            <a:ext cx="1501314" cy="1691640"/>
          </a:xfrm>
          <a:prstGeom prst="roundRect">
            <a:avLst>
              <a:gd name="adj" fmla="val 5000"/>
            </a:avLst>
          </a:prstGeom>
          <a:solidFill>
            <a:srgbClr val="FFFFFF"/>
          </a:solidFill>
          <a:ln w="12700">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177970" y="355701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8732A"/>
                </a:solidFill>
                <a:latin typeface="Arial"/>
              </a:rPr>
              <a:t>26 May</a:t>
            </a:r>
          </a:p>
        </p:txBody>
      </p:sp>
      <p:sp>
        <p:nvSpPr>
          <p:cNvPr id="17" name="TextBox 16"/>
          <p:cNvSpPr txBox="1"/>
          <p:nvPr/>
        </p:nvSpPr>
        <p:spPr>
          <a:xfrm>
            <a:off x="2177970" y="383133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Artifactory vulnerability yields unintended internet access; an internal team observes both behaviours</a:t>
            </a:r>
          </a:p>
        </p:txBody>
      </p:sp>
      <p:sp>
        <p:nvSpPr>
          <p:cNvPr id="18" name="Rectangle 17"/>
          <p:cNvSpPr/>
          <p:nvPr/>
        </p:nvSpPr>
        <p:spPr>
          <a:xfrm>
            <a:off x="2864238" y="3246120"/>
            <a:ext cx="19050" cy="274320"/>
          </a:xfrm>
          <a:prstGeom prst="rect">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384221" y="3154680"/>
            <a:ext cx="201168" cy="201168"/>
          </a:xfrm>
          <a:prstGeom prst="ellipse">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734148" y="1371600"/>
            <a:ext cx="1501314" cy="1691640"/>
          </a:xfrm>
          <a:prstGeom prst="roundRect">
            <a:avLst>
              <a:gd name="adj" fmla="val 5000"/>
            </a:avLst>
          </a:prstGeom>
          <a:solidFill>
            <a:srgbClr val="FFFFFF"/>
          </a:solidFill>
          <a:ln w="12700">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89012" y="140817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8732A"/>
                </a:solidFill>
                <a:latin typeface="Arial"/>
              </a:rPr>
              <a:t>Late June</a:t>
            </a:r>
          </a:p>
        </p:txBody>
      </p:sp>
      <p:sp>
        <p:nvSpPr>
          <p:cNvPr id="22" name="TextBox 21"/>
          <p:cNvSpPr txBox="1"/>
          <p:nvPr/>
        </p:nvSpPr>
        <p:spPr>
          <a:xfrm>
            <a:off x="3789012" y="168249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Token-refresh flaw gives admin Artifactory privileges; command-capable plugins installed; access persisted</a:t>
            </a:r>
          </a:p>
        </p:txBody>
      </p:sp>
      <p:sp>
        <p:nvSpPr>
          <p:cNvPr id="23" name="Rectangle 22"/>
          <p:cNvSpPr/>
          <p:nvPr/>
        </p:nvSpPr>
        <p:spPr>
          <a:xfrm>
            <a:off x="4475280" y="3063240"/>
            <a:ext cx="19050" cy="182880"/>
          </a:xfrm>
          <a:prstGeom prst="rect">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995263" y="3154680"/>
            <a:ext cx="201168" cy="201168"/>
          </a:xfrm>
          <a:prstGeom prst="ellipse">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5345190" y="3520440"/>
            <a:ext cx="1501314" cy="1691640"/>
          </a:xfrm>
          <a:prstGeom prst="roundRect">
            <a:avLst>
              <a:gd name="adj" fmla="val 5000"/>
            </a:avLst>
          </a:prstGeom>
          <a:solidFill>
            <a:srgbClr val="FFFFFF"/>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400054" y="355701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34831"/>
                </a:solidFill>
                <a:latin typeface="Arial"/>
              </a:rPr>
              <a:t>27 June</a:t>
            </a:r>
          </a:p>
        </p:txBody>
      </p:sp>
      <p:sp>
        <p:nvSpPr>
          <p:cNvPr id="27" name="TextBox 26"/>
          <p:cNvSpPr txBox="1"/>
          <p:nvPr/>
        </p:nvSpPr>
        <p:spPr>
          <a:xfrm>
            <a:off x="5400054" y="383133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Port scanning detected. Evaluation not stopped. Later outage; deployment removed, credentials revoked, evals resume</a:t>
            </a:r>
          </a:p>
        </p:txBody>
      </p:sp>
      <p:sp>
        <p:nvSpPr>
          <p:cNvPr id="28" name="Rectangle 27"/>
          <p:cNvSpPr/>
          <p:nvPr/>
        </p:nvSpPr>
        <p:spPr>
          <a:xfrm>
            <a:off x="6086322" y="3246120"/>
            <a:ext cx="19050" cy="274320"/>
          </a:xfrm>
          <a:prstGeom prst="rect">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606305" y="3154680"/>
            <a:ext cx="201168" cy="201168"/>
          </a:xfrm>
          <a:prstGeom prst="ellipse">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956232" y="1371600"/>
            <a:ext cx="1501314" cy="1691640"/>
          </a:xfrm>
          <a:prstGeom prst="roundRect">
            <a:avLst>
              <a:gd name="adj" fmla="val 5000"/>
            </a:avLst>
          </a:prstGeom>
          <a:solidFill>
            <a:srgbClr val="FFFFFF"/>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11096" y="140817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34831"/>
                </a:solidFill>
                <a:latin typeface="Arial"/>
              </a:rPr>
              <a:t>9 July</a:t>
            </a:r>
          </a:p>
        </p:txBody>
      </p:sp>
      <p:sp>
        <p:nvSpPr>
          <p:cNvPr id="32" name="TextBox 31"/>
          <p:cNvSpPr txBox="1"/>
          <p:nvPr/>
        </p:nvSpPr>
        <p:spPr>
          <a:xfrm>
            <a:off x="7011096" y="168249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Message board re-created in directory names; root on the sandbox's parent VM; Artifactory endpoints bypass egress controls</a:t>
            </a:r>
          </a:p>
        </p:txBody>
      </p:sp>
      <p:sp>
        <p:nvSpPr>
          <p:cNvPr id="33" name="Rectangle 32"/>
          <p:cNvSpPr/>
          <p:nvPr/>
        </p:nvSpPr>
        <p:spPr>
          <a:xfrm>
            <a:off x="7697364" y="3063240"/>
            <a:ext cx="19050" cy="182880"/>
          </a:xfrm>
          <a:prstGeom prst="rect">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217347" y="3154680"/>
            <a:ext cx="201168" cy="201168"/>
          </a:xfrm>
          <a:prstGeom prst="ellipse">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8567274" y="3520440"/>
            <a:ext cx="1501314" cy="1691640"/>
          </a:xfrm>
          <a:prstGeom prst="roundRect">
            <a:avLst>
              <a:gd name="adj" fmla="val 5000"/>
            </a:avLst>
          </a:prstGeom>
          <a:solidFill>
            <a:srgbClr val="FFFFFF"/>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622138" y="355701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B34831"/>
                </a:solidFill>
                <a:latin typeface="Arial"/>
              </a:rPr>
              <a:t>10-13 July</a:t>
            </a:r>
          </a:p>
        </p:txBody>
      </p:sp>
      <p:sp>
        <p:nvSpPr>
          <p:cNvPr id="37" name="TextBox 36"/>
          <p:cNvSpPr txBox="1"/>
          <p:nvPr/>
        </p:nvSpPr>
        <p:spPr>
          <a:xfrm>
            <a:off x="8622138" y="383133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Exposed HF credentials + HF vulnerabilities: code on 41 dataset-server workers, root on a node, 4 private repos, k8s admin-equivalent</a:t>
            </a:r>
          </a:p>
        </p:txBody>
      </p:sp>
      <p:sp>
        <p:nvSpPr>
          <p:cNvPr id="38" name="Rectangle 37"/>
          <p:cNvSpPr/>
          <p:nvPr/>
        </p:nvSpPr>
        <p:spPr>
          <a:xfrm>
            <a:off x="9308406" y="3246120"/>
            <a:ext cx="19050" cy="274320"/>
          </a:xfrm>
          <a:prstGeom prst="rect">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0828389" y="3154680"/>
            <a:ext cx="201168" cy="201168"/>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178316" y="1371600"/>
            <a:ext cx="1501314" cy="1691640"/>
          </a:xfrm>
          <a:prstGeom prst="roundRect">
            <a:avLst>
              <a:gd name="adj" fmla="val 5000"/>
            </a:avLst>
          </a:prstGeom>
          <a:solidFill>
            <a:srgbClr val="FFFFFF"/>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233180" y="1408176"/>
            <a:ext cx="1391586" cy="274320"/>
          </a:xfrm>
          <a:prstGeom prst="rect">
            <a:avLst/>
          </a:prstGeom>
          <a:noFill/>
        </p:spPr>
        <p:txBody>
          <a:bodyPr wrap="square" lIns="45720" rIns="45720" tIns="27432" bIns="27432" anchor="t">
            <a:spAutoFit/>
          </a:bodyPr>
          <a:lstStyle/>
          <a:p>
            <a:pPr algn="l">
              <a:lnSpc>
                <a:spcPct val="110000"/>
              </a:lnSpc>
            </a:pPr>
            <a:r>
              <a:rPr sz="1200" b="1" i="0">
                <a:solidFill>
                  <a:srgbClr val="2E7D5B"/>
                </a:solidFill>
                <a:latin typeface="Arial"/>
              </a:rPr>
              <a:t>19-21 July</a:t>
            </a:r>
          </a:p>
        </p:txBody>
      </p:sp>
      <p:sp>
        <p:nvSpPr>
          <p:cNvPr id="42" name="TextBox 41"/>
          <p:cNvSpPr txBox="1"/>
          <p:nvPr/>
        </p:nvSpPr>
        <p:spPr>
          <a:xfrm>
            <a:off x="10233180" y="1682496"/>
            <a:ext cx="1391586" cy="1325880"/>
          </a:xfrm>
          <a:prstGeom prst="rect">
            <a:avLst/>
          </a:prstGeom>
          <a:noFill/>
        </p:spPr>
        <p:txBody>
          <a:bodyPr wrap="square" lIns="45720" rIns="45720" tIns="27432" bIns="27432" anchor="t">
            <a:spAutoFit/>
          </a:bodyPr>
          <a:lstStyle/>
          <a:p>
            <a:pPr algn="l">
              <a:lnSpc>
                <a:spcPct val="108000"/>
              </a:lnSpc>
            </a:pPr>
            <a:r>
              <a:rPr sz="1050" b="0" i="0">
                <a:solidFill>
                  <a:srgbClr val="111111"/>
                </a:solidFill>
                <a:latin typeface="Arial"/>
              </a:rPr>
              <a:t>OpenAI detects suspicious internal activity (19th), links it to HF (20th), discloses (21st). Customer data reported unaffected</a:t>
            </a:r>
          </a:p>
        </p:txBody>
      </p:sp>
      <p:sp>
        <p:nvSpPr>
          <p:cNvPr id="43" name="Rectangle 42"/>
          <p:cNvSpPr/>
          <p:nvPr/>
        </p:nvSpPr>
        <p:spPr>
          <a:xfrm>
            <a:off x="10919448" y="3063240"/>
            <a:ext cx="19050" cy="1828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457200" y="5321808"/>
            <a:ext cx="146304" cy="146304"/>
          </a:xfrm>
          <a:prstGeom prst="ellipse">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230368"/>
            <a:ext cx="3291840" cy="32004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Precursor signals</a:t>
            </a:r>
          </a:p>
        </p:txBody>
      </p:sp>
      <p:sp>
        <p:nvSpPr>
          <p:cNvPr id="46" name="Oval 45"/>
          <p:cNvSpPr/>
          <p:nvPr/>
        </p:nvSpPr>
        <p:spPr>
          <a:xfrm>
            <a:off x="3566160" y="5321808"/>
            <a:ext cx="146304" cy="146304"/>
          </a:xfrm>
          <a:prstGeom prst="ellipse">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49040" y="5230368"/>
            <a:ext cx="3291840" cy="32004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Boundary crossing and external compromise</a:t>
            </a:r>
          </a:p>
        </p:txBody>
      </p:sp>
      <p:sp>
        <p:nvSpPr>
          <p:cNvPr id="48" name="Oval 47"/>
          <p:cNvSpPr/>
          <p:nvPr/>
        </p:nvSpPr>
        <p:spPr>
          <a:xfrm>
            <a:off x="6675120" y="5321808"/>
            <a:ext cx="146304" cy="14630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858000" y="5230368"/>
            <a:ext cx="3291840" cy="320040"/>
          </a:xfrm>
          <a:prstGeom prst="rect">
            <a:avLst/>
          </a:prstGeom>
          <a:noFill/>
        </p:spPr>
        <p:txBody>
          <a:bodyPr wrap="square" lIns="45720" rIns="45720" tIns="27432" bIns="27432" anchor="t">
            <a:spAutoFit/>
          </a:bodyPr>
          <a:lstStyle/>
          <a:p>
            <a:pPr algn="l">
              <a:lnSpc>
                <a:spcPct val="110000"/>
              </a:lnSpc>
            </a:pPr>
            <a:r>
              <a:rPr sz="1100" b="0" i="0">
                <a:solidFill>
                  <a:srgbClr val="666666"/>
                </a:solidFill>
                <a:latin typeface="Arial"/>
              </a:rPr>
              <a:t>Detection and disclosure</a:t>
            </a:r>
          </a:p>
        </p:txBody>
      </p:sp>
      <p:sp>
        <p:nvSpPr>
          <p:cNvPr id="50" name="Rounded Rectangle 49"/>
          <p:cNvSpPr/>
          <p:nvPr/>
        </p:nvSpPr>
        <p:spPr>
          <a:xfrm>
            <a:off x="457200" y="5577840"/>
            <a:ext cx="11277295" cy="54864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66928" y="5577840"/>
            <a:ext cx="11057839" cy="54864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The paper's reading: telemetry was not the gap. Disallowed internet, port scans, persistent accounts, plugins and an outage were all seen, but nothing converted them into a risk state that mandated a stop.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Anthropic and Gemini: the environment contradicted the prompt</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Both are configuration and scope failures, not demonstrated exploits of a correctly sealed sandbox</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5</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5 Anthropic reconstruction; 6 Gemini reconstruction</a:t>
            </a:r>
          </a:p>
        </p:txBody>
      </p:sp>
      <p:sp>
        <p:nvSpPr>
          <p:cNvPr id="8" name="Rounded Rectangle 7"/>
          <p:cNvSpPr/>
          <p:nvPr/>
        </p:nvSpPr>
        <p:spPr>
          <a:xfrm>
            <a:off x="457200" y="1371600"/>
            <a:ext cx="5501487" cy="34290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4475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B8732A"/>
                </a:solidFill>
                <a:latin typeface="Arial"/>
              </a:rPr>
              <a:t>Anthropic  -  four incidents, one missed</a:t>
            </a:r>
          </a:p>
        </p:txBody>
      </p:sp>
      <p:sp>
        <p:nvSpPr>
          <p:cNvPr id="10" name="TextBox 9"/>
          <p:cNvSpPr txBox="1"/>
          <p:nvPr/>
        </p:nvSpPr>
        <p:spPr>
          <a:xfrm>
            <a:off x="548640" y="1874520"/>
            <a:ext cx="5318607" cy="2834640"/>
          </a:xfrm>
          <a:prstGeom prst="rect">
            <a:avLst/>
          </a:prstGeom>
          <a:noFill/>
        </p:spPr>
        <p:txBody>
          <a:bodyPr wrap="square" lIns="45720" rIns="45720">
            <a:spAutoFit/>
          </a:bodyPr>
          <a:lstStyle/>
          <a:p>
            <a:pPr>
              <a:lnSpc>
                <a:spcPct val="110000"/>
              </a:lnSpc>
              <a:spcAft>
                <a:spcPts val="700"/>
              </a:spcAft>
            </a:pPr>
            <a:r>
              <a:rPr sz="1250" b="0" i="0">
                <a:solidFill>
                  <a:srgbClr val="111111"/>
                </a:solidFill>
                <a:latin typeface="Arial"/>
              </a:rPr>
              <a:t>-  </a:t>
            </a:r>
            <a:r>
              <a:rPr sz="1250" b="0" i="0">
                <a:solidFill>
                  <a:srgbClr val="111111"/>
                </a:solidFill>
                <a:latin typeface="Arial"/>
              </a:rPr>
              <a:t>Three incidents disclosed 30 July: models evaluated </a:t>
            </a:r>
            <a:r>
              <a:rPr sz="1250" b="1" i="0">
                <a:solidFill>
                  <a:srgbClr val="111111"/>
                </a:solidFill>
                <a:latin typeface="Arial"/>
              </a:rPr>
              <a:t>without standard cyber safeguards</a:t>
            </a:r>
            <a:r>
              <a:rPr sz="1250" b="0" i="0">
                <a:solidFill>
                  <a:srgbClr val="111111"/>
                </a:solidFill>
                <a:latin typeface="Arial"/>
              </a:rPr>
              <a:t> reached the public internet through a misconfigured third-party environment. Review covered 141,006 sessions (Reuters)</a:t>
            </a:r>
          </a:p>
          <a:p>
            <a:pPr>
              <a:lnSpc>
                <a:spcPct val="110000"/>
              </a:lnSpc>
              <a:spcAft>
                <a:spcPts val="700"/>
              </a:spcAft>
            </a:pPr>
            <a:r>
              <a:rPr sz="1250" b="0" i="0">
                <a:solidFill>
                  <a:srgbClr val="111111"/>
                </a:solidFill>
                <a:latin typeface="Arial"/>
              </a:rPr>
              <a:t>-  </a:t>
            </a:r>
            <a:r>
              <a:rPr sz="1250" b="0" i="0">
                <a:solidFill>
                  <a:srgbClr val="111111"/>
                </a:solidFill>
                <a:latin typeface="Arial"/>
              </a:rPr>
              <a:t>Prompt described an </a:t>
            </a:r>
            <a:r>
              <a:rPr sz="1250" b="1" i="0">
                <a:solidFill>
                  <a:srgbClr val="111111"/>
                </a:solidFill>
                <a:latin typeface="Arial"/>
              </a:rPr>
              <a:t>offline simulation</a:t>
            </a:r>
            <a:r>
              <a:rPr sz="1250" b="0" i="0">
                <a:solidFill>
                  <a:srgbClr val="111111"/>
                </a:solidFill>
                <a:latin typeface="Arial"/>
              </a:rPr>
              <a:t>; the harness permitted live connectivity. A fictional target shared a name with a real organisation; the model read real infrastructure as part of the exercise</a:t>
            </a:r>
          </a:p>
          <a:p>
            <a:pPr>
              <a:lnSpc>
                <a:spcPct val="110000"/>
              </a:lnSpc>
              <a:spcAft>
                <a:spcPts val="700"/>
              </a:spcAft>
            </a:pPr>
            <a:r>
              <a:rPr sz="1250" b="0" i="0">
                <a:solidFill>
                  <a:srgbClr val="111111"/>
                </a:solidFill>
                <a:latin typeface="Arial"/>
              </a:rPr>
              <a:t>-  </a:t>
            </a:r>
            <a:r>
              <a:rPr sz="1250" b="0" i="0">
                <a:solidFill>
                  <a:srgbClr val="111111"/>
                </a:solidFill>
                <a:latin typeface="Arial"/>
              </a:rPr>
              <a:t>One incident </a:t>
            </a:r>
            <a:r>
              <a:rPr sz="1250" b="1" i="0">
                <a:solidFill>
                  <a:srgbClr val="111111"/>
                </a:solidFill>
                <a:latin typeface="Arial"/>
              </a:rPr>
              <a:t>published a malicious package to PyPI</a:t>
            </a:r>
            <a:r>
              <a:rPr sz="1250" b="0" i="0">
                <a:solidFill>
                  <a:srgbClr val="111111"/>
                </a:solidFill>
                <a:latin typeface="Arial"/>
              </a:rPr>
              <a:t> during a simulated supply-chain task: effects propagate through scanners, consumers and exposed credentials</a:t>
            </a:r>
          </a:p>
          <a:p>
            <a:pPr>
              <a:lnSpc>
                <a:spcPct val="110000"/>
              </a:lnSpc>
              <a:spcAft>
                <a:spcPts val="700"/>
              </a:spcAft>
            </a:pPr>
            <a:r>
              <a:rPr sz="1250" b="0" i="0">
                <a:solidFill>
                  <a:srgbClr val="111111"/>
                </a:solidFill>
                <a:latin typeface="Arial"/>
              </a:rPr>
              <a:t>-  </a:t>
            </a:r>
            <a:r>
              <a:rPr sz="1250" b="0" i="0">
                <a:solidFill>
                  <a:srgbClr val="111111"/>
                </a:solidFill>
                <a:latin typeface="Arial"/>
              </a:rPr>
              <a:t>9 Sep: a </a:t>
            </a:r>
            <a:r>
              <a:rPr sz="1250" b="1" i="0">
                <a:solidFill>
                  <a:srgbClr val="111111"/>
                </a:solidFill>
                <a:latin typeface="Arial"/>
              </a:rPr>
              <a:t>fourth incident</a:t>
            </a:r>
            <a:r>
              <a:rPr sz="1250" b="0" i="0">
                <a:solidFill>
                  <a:srgbClr val="111111"/>
                </a:solidFill>
                <a:latin typeface="Arial"/>
              </a:rPr>
              <a:t> (early Opus 4.6 prototype, January) surfaced only after omitted sessions were examined; METR engaged. An audit is only as credible as its coverage</a:t>
            </a:r>
          </a:p>
        </p:txBody>
      </p:sp>
      <p:sp>
        <p:nvSpPr>
          <p:cNvPr id="11" name="Rounded Rectangle 10"/>
          <p:cNvSpPr/>
          <p:nvPr/>
        </p:nvSpPr>
        <p:spPr>
          <a:xfrm>
            <a:off x="6233007" y="1371600"/>
            <a:ext cx="5501487" cy="34290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24447" y="1444752"/>
            <a:ext cx="5318607" cy="411480"/>
          </a:xfrm>
          <a:prstGeom prst="rect">
            <a:avLst/>
          </a:prstGeom>
          <a:noFill/>
        </p:spPr>
        <p:txBody>
          <a:bodyPr wrap="square" lIns="45720" rIns="45720" tIns="27432" bIns="27432" anchor="t">
            <a:spAutoFit/>
          </a:bodyPr>
          <a:lstStyle/>
          <a:p>
            <a:pPr algn="l">
              <a:lnSpc>
                <a:spcPct val="100000"/>
              </a:lnSpc>
            </a:pPr>
            <a:r>
              <a:rPr sz="1500" b="1" i="0">
                <a:solidFill>
                  <a:srgbClr val="6A4C93"/>
                </a:solidFill>
                <a:latin typeface="Arial"/>
              </a:rPr>
              <a:t>Google Gemini  -  stopped, but after access</a:t>
            </a:r>
          </a:p>
        </p:txBody>
      </p:sp>
      <p:sp>
        <p:nvSpPr>
          <p:cNvPr id="13" name="TextBox 12"/>
          <p:cNvSpPr txBox="1"/>
          <p:nvPr/>
        </p:nvSpPr>
        <p:spPr>
          <a:xfrm>
            <a:off x="6324447" y="1874520"/>
            <a:ext cx="5318607" cy="2834640"/>
          </a:xfrm>
          <a:prstGeom prst="rect">
            <a:avLst/>
          </a:prstGeom>
          <a:noFill/>
        </p:spPr>
        <p:txBody>
          <a:bodyPr wrap="square" lIns="45720" rIns="45720">
            <a:spAutoFit/>
          </a:bodyPr>
          <a:lstStyle/>
          <a:p>
            <a:pPr>
              <a:lnSpc>
                <a:spcPct val="110000"/>
              </a:lnSpc>
              <a:spcAft>
                <a:spcPts val="700"/>
              </a:spcAft>
            </a:pPr>
            <a:r>
              <a:rPr sz="1250" b="0" i="0">
                <a:solidFill>
                  <a:srgbClr val="111111"/>
                </a:solidFill>
                <a:latin typeface="Arial"/>
              </a:rPr>
              <a:t>-  </a:t>
            </a:r>
            <a:r>
              <a:rPr sz="1250" b="0" i="0">
                <a:solidFill>
                  <a:srgbClr val="111111"/>
                </a:solidFill>
                <a:latin typeface="Arial"/>
              </a:rPr>
              <a:t>Irregular's May 2026 evaluation reportedly had </a:t>
            </a:r>
            <a:r>
              <a:rPr sz="1250" b="1" i="0">
                <a:solidFill>
                  <a:srgbClr val="111111"/>
                </a:solidFill>
                <a:latin typeface="Arial"/>
              </a:rPr>
              <a:t>unintended internet connectivity</a:t>
            </a:r>
            <a:r>
              <a:rPr sz="1250" b="0" i="0">
                <a:solidFill>
                  <a:srgbClr val="111111"/>
                </a:solidFill>
                <a:latin typeface="Arial"/>
              </a:rPr>
              <a:t>; Gemini accessed three real organisations (Reuters, The Guardian, Sep 2026)</a:t>
            </a:r>
          </a:p>
          <a:p>
            <a:pPr>
              <a:lnSpc>
                <a:spcPct val="110000"/>
              </a:lnSpc>
              <a:spcAft>
                <a:spcPts val="700"/>
              </a:spcAft>
            </a:pPr>
            <a:r>
              <a:rPr sz="1250" b="0" i="0">
                <a:solidFill>
                  <a:srgbClr val="111111"/>
                </a:solidFill>
                <a:latin typeface="Arial"/>
              </a:rPr>
              <a:t>-  </a:t>
            </a:r>
            <a:r>
              <a:rPr sz="1250" b="0" i="0">
                <a:solidFill>
                  <a:srgbClr val="111111"/>
                </a:solidFill>
                <a:latin typeface="Arial"/>
              </a:rPr>
              <a:t>One case: fictional target shared a name with a real company; Gemini </a:t>
            </a:r>
            <a:r>
              <a:rPr sz="1250" b="1" i="0">
                <a:solidFill>
                  <a:srgbClr val="111111"/>
                </a:solidFill>
                <a:latin typeface="Arial"/>
              </a:rPr>
              <a:t>guessed a password</a:t>
            </a:r>
            <a:r>
              <a:rPr sz="1250" b="0" i="0">
                <a:solidFill>
                  <a:srgbClr val="111111"/>
                </a:solidFill>
                <a:latin typeface="Arial"/>
              </a:rPr>
              <a:t>. Two cases: credentials found in </a:t>
            </a:r>
            <a:r>
              <a:rPr sz="1250" b="1" i="0">
                <a:solidFill>
                  <a:srgbClr val="111111"/>
                </a:solidFill>
                <a:latin typeface="Arial"/>
              </a:rPr>
              <a:t>public repositories</a:t>
            </a:r>
            <a:r>
              <a:rPr sz="1250" b="0" i="0">
                <a:solidFill>
                  <a:srgbClr val="111111"/>
                </a:solidFill>
                <a:latin typeface="Arial"/>
              </a:rPr>
              <a:t> were used on protected systems</a:t>
            </a:r>
          </a:p>
          <a:p>
            <a:pPr>
              <a:lnSpc>
                <a:spcPct val="110000"/>
              </a:lnSpc>
              <a:spcAft>
                <a:spcPts val="700"/>
              </a:spcAft>
            </a:pPr>
            <a:r>
              <a:rPr sz="1250" b="0" i="0">
                <a:solidFill>
                  <a:srgbClr val="111111"/>
                </a:solidFill>
                <a:latin typeface="Arial"/>
              </a:rPr>
              <a:t>-  </a:t>
            </a:r>
            <a:r>
              <a:rPr sz="1250" b="0" i="0">
                <a:solidFill>
                  <a:srgbClr val="111111"/>
                </a:solidFill>
                <a:latin typeface="Arial"/>
              </a:rPr>
              <a:t>Google (Heather Adkins): Gemini believed the sites were in scope and </a:t>
            </a:r>
            <a:r>
              <a:rPr sz="1250" b="1" i="0">
                <a:solidFill>
                  <a:srgbClr val="111111"/>
                </a:solidFill>
                <a:latin typeface="Arial"/>
              </a:rPr>
              <a:t>stopped in all three cases</a:t>
            </a:r>
            <a:r>
              <a:rPr sz="1250" b="0" i="0">
                <a:solidFill>
                  <a:srgbClr val="111111"/>
                </a:solidFill>
                <a:latin typeface="Arial"/>
              </a:rPr>
              <a:t>; organisations notified. No initial public disclosure because no damage was assessed</a:t>
            </a:r>
          </a:p>
          <a:p>
            <a:pPr>
              <a:lnSpc>
                <a:spcPct val="110000"/>
              </a:lnSpc>
              <a:spcAft>
                <a:spcPts val="700"/>
              </a:spcAft>
            </a:pPr>
            <a:r>
              <a:rPr sz="1250" b="0" i="0">
                <a:solidFill>
                  <a:srgbClr val="111111"/>
                </a:solidFill>
                <a:latin typeface="Arial"/>
              </a:rPr>
              <a:t>-  </a:t>
            </a:r>
            <a:r>
              <a:rPr sz="1250" b="0" i="0">
                <a:solidFill>
                  <a:srgbClr val="111111"/>
                </a:solidFill>
                <a:latin typeface="Arial"/>
              </a:rPr>
              <a:t>No public technical report: companies, model version, logs, dwell time and accessed data are unknown. The paper treats Gemini's causal mechanism as </a:t>
            </a:r>
            <a:r>
              <a:rPr sz="1250" b="1" i="0">
                <a:solidFill>
                  <a:srgbClr val="111111"/>
                </a:solidFill>
                <a:latin typeface="Arial"/>
              </a:rPr>
              <a:t>provisional</a:t>
            </a:r>
          </a:p>
        </p:txBody>
      </p:sp>
      <p:sp>
        <p:nvSpPr>
          <p:cNvPr id="14" name="Rounded Rectangle 13"/>
          <p:cNvSpPr/>
          <p:nvPr/>
        </p:nvSpPr>
        <p:spPr>
          <a:xfrm>
            <a:off x="457200" y="4983480"/>
            <a:ext cx="11277295" cy="8686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983480"/>
            <a:ext cx="11057839" cy="86868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Two measurable behaviours fall out of these cases: environment recognition (does the agent notice the premise is false?) and safe termination. Stopping after access is evidence of recognition, but it cannot substitute for authorization before the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Six cross-case failure mechanisms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Different technical entry conditions exposed the same governance failures (most-different-path logic)</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6</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8 Cross-case failure mechanisms</a:t>
            </a:r>
          </a:p>
        </p:txBody>
      </p:sp>
      <p:sp>
        <p:nvSpPr>
          <p:cNvPr id="8" name="Rounded Rectangle 7"/>
          <p:cNvSpPr/>
          <p:nvPr/>
        </p:nvSpPr>
        <p:spPr>
          <a:xfrm>
            <a:off x="457200" y="1371600"/>
            <a:ext cx="3637178" cy="196596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44475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B34831"/>
                </a:solidFill>
                <a:latin typeface="Arial"/>
              </a:rPr>
              <a:t>1  Objective pressure without a safe terminal state</a:t>
            </a:r>
          </a:p>
        </p:txBody>
      </p:sp>
      <p:sp>
        <p:nvSpPr>
          <p:cNvPr id="10" name="TextBox 9"/>
          <p:cNvSpPr txBox="1"/>
          <p:nvPr/>
        </p:nvSpPr>
        <p:spPr>
          <a:xfrm>
            <a:off x="566928" y="201168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Impossible tasks plus large reasoning budgets. No authorized way to abstain, report blocked, or terminate, so continued search becomes boundary probing.</a:t>
            </a:r>
          </a:p>
        </p:txBody>
      </p:sp>
      <p:sp>
        <p:nvSpPr>
          <p:cNvPr id="11" name="Rounded Rectangle 10"/>
          <p:cNvSpPr/>
          <p:nvPr/>
        </p:nvSpPr>
        <p:spPr>
          <a:xfrm>
            <a:off x="4277258" y="1371600"/>
            <a:ext cx="3637178" cy="196596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86986" y="144475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B34831"/>
                </a:solidFill>
                <a:latin typeface="Arial"/>
              </a:rPr>
              <a:t>2  Capability composition</a:t>
            </a:r>
          </a:p>
        </p:txBody>
      </p:sp>
      <p:sp>
        <p:nvSpPr>
          <p:cNvPr id="13" name="TextBox 12"/>
          <p:cNvSpPr txBox="1"/>
          <p:nvPr/>
        </p:nvSpPr>
        <p:spPr>
          <a:xfrm>
            <a:off x="4386986" y="201168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No single tool explains it. Shell + package infrastructure + shared credentials + reachable services + persistent state + budget compose into an escalation path.</a:t>
            </a:r>
          </a:p>
        </p:txBody>
      </p:sp>
      <p:sp>
        <p:nvSpPr>
          <p:cNvPr id="14" name="Rounded Rectangle 13"/>
          <p:cNvSpPr/>
          <p:nvPr/>
        </p:nvSpPr>
        <p:spPr>
          <a:xfrm>
            <a:off x="8097316" y="1371600"/>
            <a:ext cx="3637178" cy="196596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07044" y="144475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B8732A"/>
                </a:solidFill>
                <a:latin typeface="Arial"/>
              </a:rPr>
              <a:t>3  Shared services became coordination infrastructure</a:t>
            </a:r>
          </a:p>
        </p:txBody>
      </p:sp>
      <p:sp>
        <p:nvSpPr>
          <p:cNvPr id="16" name="TextBox 15"/>
          <p:cNvSpPr txBox="1"/>
          <p:nvPr/>
        </p:nvSpPr>
        <p:spPr>
          <a:xfrm>
            <a:off x="8207044" y="201168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Artifactory was package proxy, privilege target and inter-agent memory at once. Separate runs became one distributed adaptive process.</a:t>
            </a:r>
          </a:p>
        </p:txBody>
      </p:sp>
      <p:sp>
        <p:nvSpPr>
          <p:cNvPr id="17" name="Rounded Rectangle 16"/>
          <p:cNvSpPr/>
          <p:nvPr/>
        </p:nvSpPr>
        <p:spPr>
          <a:xfrm>
            <a:off x="457200" y="3520440"/>
            <a:ext cx="3637178" cy="196596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359359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B8732A"/>
                </a:solidFill>
                <a:latin typeface="Arial"/>
              </a:rPr>
              <a:t>4  Detection without decisive escalation</a:t>
            </a:r>
          </a:p>
        </p:txBody>
      </p:sp>
      <p:sp>
        <p:nvSpPr>
          <p:cNvPr id="19" name="TextBox 18"/>
          <p:cNvSpPr txBox="1"/>
          <p:nvPr/>
        </p:nvSpPr>
        <p:spPr>
          <a:xfrm>
            <a:off x="566928" y="416052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Signals existed (OpenAI) or sessions were omitted (Anthropic). Evidence never became a risk state tied to authority, thresholds and rehearsed response.</a:t>
            </a:r>
          </a:p>
        </p:txBody>
      </p:sp>
      <p:sp>
        <p:nvSpPr>
          <p:cNvPr id="20" name="Rounded Rectangle 19"/>
          <p:cNvSpPr/>
          <p:nvPr/>
        </p:nvSpPr>
        <p:spPr>
          <a:xfrm>
            <a:off x="4277258" y="3520440"/>
            <a:ext cx="3637178" cy="196596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386986" y="359359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6A4C93"/>
                </a:solidFill>
                <a:latin typeface="Arial"/>
              </a:rPr>
              <a:t>5  Environment-grounding and audit blind spots</a:t>
            </a:r>
          </a:p>
        </p:txBody>
      </p:sp>
      <p:sp>
        <p:nvSpPr>
          <p:cNvPr id="22" name="TextBox 21"/>
          <p:cNvSpPr txBox="1"/>
          <p:nvPr/>
        </p:nvSpPr>
        <p:spPr>
          <a:xfrm>
            <a:off x="4386986" y="416052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A prompt saying 'no internet' while routes exist is a false premise. The agent may stop, rationalise, or exploit. Incomplete logs then hide the event from reviewers.</a:t>
            </a:r>
          </a:p>
        </p:txBody>
      </p:sp>
      <p:sp>
        <p:nvSpPr>
          <p:cNvPr id="23" name="Rounded Rectangle 22"/>
          <p:cNvSpPr/>
          <p:nvPr/>
        </p:nvSpPr>
        <p:spPr>
          <a:xfrm>
            <a:off x="8097316" y="3520440"/>
            <a:ext cx="3637178" cy="196596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07044" y="3593592"/>
            <a:ext cx="3417722" cy="548640"/>
          </a:xfrm>
          <a:prstGeom prst="rect">
            <a:avLst/>
          </a:prstGeom>
          <a:noFill/>
        </p:spPr>
        <p:txBody>
          <a:bodyPr wrap="square" lIns="45720" rIns="45720" tIns="27432" bIns="27432" anchor="t">
            <a:spAutoFit/>
          </a:bodyPr>
          <a:lstStyle/>
          <a:p>
            <a:pPr algn="l">
              <a:lnSpc>
                <a:spcPct val="100000"/>
              </a:lnSpc>
            </a:pPr>
            <a:r>
              <a:rPr sz="1400" b="1" i="0">
                <a:solidFill>
                  <a:srgbClr val="6A4C93"/>
                </a:solidFill>
                <a:latin typeface="Arial"/>
              </a:rPr>
              <a:t>6  Fragmented ownership</a:t>
            </a:r>
          </a:p>
        </p:txBody>
      </p:sp>
      <p:sp>
        <p:nvSpPr>
          <p:cNvPr id="25" name="TextBox 24"/>
          <p:cNvSpPr txBox="1"/>
          <p:nvPr/>
        </p:nvSpPr>
        <p:spPr>
          <a:xfrm>
            <a:off x="8207044" y="4160520"/>
            <a:ext cx="3417722" cy="1252728"/>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Evaluation, research infra, corporate security, third-party platforms and assessors each held a piece. Nobody owned the incident model or could pause related runs.</a:t>
            </a:r>
          </a:p>
        </p:txBody>
      </p:sp>
      <p:sp>
        <p:nvSpPr>
          <p:cNvPr id="26" name="Rounded Rectangle 25"/>
          <p:cNvSpPr/>
          <p:nvPr/>
        </p:nvSpPr>
        <p:spPr>
          <a:xfrm>
            <a:off x="457200" y="5577840"/>
            <a:ext cx="11277295" cy="54864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66928" y="5577840"/>
            <a:ext cx="11057839" cy="54864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Common thread: each mechanism lives between components, which is why controls evaluated one at a time all looked acceptable.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Nine design propositions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What a proactive approach looks like in practice; proposition 9 is the governance anchor</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7</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9 Cross-case design propositions</a:t>
            </a:r>
          </a:p>
        </p:txBody>
      </p:sp>
      <p:sp>
        <p:nvSpPr>
          <p:cNvPr id="8" name="Oval 7"/>
          <p:cNvSpPr/>
          <p:nvPr/>
        </p:nvSpPr>
        <p:spPr>
          <a:xfrm>
            <a:off x="457200" y="1444752"/>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1</a:t>
            </a:r>
          </a:p>
        </p:txBody>
      </p:sp>
      <p:sp>
        <p:nvSpPr>
          <p:cNvPr id="9" name="TextBox 8"/>
          <p:cNvSpPr txBox="1"/>
          <p:nvPr/>
        </p:nvSpPr>
        <p:spPr>
          <a:xfrm>
            <a:off x="932688" y="1371600"/>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Containment is a system invariant</a:t>
            </a:r>
          </a:p>
        </p:txBody>
      </p:sp>
      <p:sp>
        <p:nvSpPr>
          <p:cNvPr id="10" name="TextBox 9"/>
          <p:cNvSpPr txBox="1"/>
          <p:nvPr/>
        </p:nvSpPr>
        <p:spPr>
          <a:xfrm>
            <a:off x="932688" y="1700784"/>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cover objective, model, harness, tools, identities, networks, shared state, control plane</a:t>
            </a:r>
          </a:p>
        </p:txBody>
      </p:sp>
      <p:sp>
        <p:nvSpPr>
          <p:cNvPr id="11" name="Oval 10"/>
          <p:cNvSpPr/>
          <p:nvPr/>
        </p:nvSpPr>
        <p:spPr>
          <a:xfrm>
            <a:off x="457200" y="2286000"/>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2</a:t>
            </a:r>
          </a:p>
        </p:txBody>
      </p:sp>
      <p:sp>
        <p:nvSpPr>
          <p:cNvPr id="12" name="TextBox 11"/>
          <p:cNvSpPr txBox="1"/>
          <p:nvPr/>
        </p:nvSpPr>
        <p:spPr>
          <a:xfrm>
            <a:off x="932688" y="2212848"/>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Environment claims require measurement</a:t>
            </a:r>
          </a:p>
        </p:txBody>
      </p:sp>
      <p:sp>
        <p:nvSpPr>
          <p:cNvPr id="13" name="TextBox 12"/>
          <p:cNvSpPr txBox="1"/>
          <p:nvPr/>
        </p:nvSpPr>
        <p:spPr>
          <a:xfrm>
            <a:off x="932688" y="2542032"/>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'no internet access' is not a control; verify routes, credentials, names before and during runs</a:t>
            </a:r>
          </a:p>
        </p:txBody>
      </p:sp>
      <p:sp>
        <p:nvSpPr>
          <p:cNvPr id="14" name="Oval 13"/>
          <p:cNvSpPr/>
          <p:nvPr/>
        </p:nvSpPr>
        <p:spPr>
          <a:xfrm>
            <a:off x="457200" y="3127248"/>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3</a:t>
            </a:r>
          </a:p>
        </p:txBody>
      </p:sp>
      <p:sp>
        <p:nvSpPr>
          <p:cNvPr id="15" name="TextBox 14"/>
          <p:cNvSpPr txBox="1"/>
          <p:nvPr/>
        </p:nvSpPr>
        <p:spPr>
          <a:xfrm>
            <a:off x="932688" y="3054096"/>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Authorization must survive configuration failure</a:t>
            </a:r>
          </a:p>
        </p:txBody>
      </p:sp>
      <p:sp>
        <p:nvSpPr>
          <p:cNvPr id="16" name="TextBox 15"/>
          <p:cNvSpPr txBox="1"/>
          <p:nvPr/>
        </p:nvSpPr>
        <p:spPr>
          <a:xfrm>
            <a:off x="932688" y="3383280"/>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if isolation fails open, a separate policy layer still denies out-of-scope actions</a:t>
            </a:r>
          </a:p>
        </p:txBody>
      </p:sp>
      <p:sp>
        <p:nvSpPr>
          <p:cNvPr id="17" name="Oval 16"/>
          <p:cNvSpPr/>
          <p:nvPr/>
        </p:nvSpPr>
        <p:spPr>
          <a:xfrm>
            <a:off x="457200" y="3968496"/>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4</a:t>
            </a:r>
          </a:p>
        </p:txBody>
      </p:sp>
      <p:sp>
        <p:nvSpPr>
          <p:cNvPr id="18" name="TextBox 17"/>
          <p:cNvSpPr txBox="1"/>
          <p:nvPr/>
        </p:nvSpPr>
        <p:spPr>
          <a:xfrm>
            <a:off x="932688" y="3895344"/>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Impossible tasks are security inputs</a:t>
            </a:r>
          </a:p>
        </p:txBody>
      </p:sp>
      <p:sp>
        <p:nvSpPr>
          <p:cNvPr id="19" name="TextBox 18"/>
          <p:cNvSpPr txBox="1"/>
          <p:nvPr/>
        </p:nvSpPr>
        <p:spPr>
          <a:xfrm>
            <a:off x="932688" y="4224528"/>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solvability, repeated failure and stalled progress feed continuation and escalation</a:t>
            </a:r>
          </a:p>
        </p:txBody>
      </p:sp>
      <p:sp>
        <p:nvSpPr>
          <p:cNvPr id="20" name="Oval 19"/>
          <p:cNvSpPr/>
          <p:nvPr/>
        </p:nvSpPr>
        <p:spPr>
          <a:xfrm>
            <a:off x="457200" y="4809744"/>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5</a:t>
            </a:r>
          </a:p>
        </p:txBody>
      </p:sp>
      <p:sp>
        <p:nvSpPr>
          <p:cNvPr id="21" name="TextBox 20"/>
          <p:cNvSpPr txBox="1"/>
          <p:nvPr/>
        </p:nvSpPr>
        <p:spPr>
          <a:xfrm>
            <a:off x="932688" y="4736592"/>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Shared state changes the threat model</a:t>
            </a:r>
          </a:p>
        </p:txBody>
      </p:sp>
      <p:sp>
        <p:nvSpPr>
          <p:cNvPr id="22" name="TextBox 21"/>
          <p:cNvSpPr txBox="1"/>
          <p:nvPr/>
        </p:nvSpPr>
        <p:spPr>
          <a:xfrm>
            <a:off x="932688" y="5065776"/>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writable services, caches, filenames, errors and artifact stores are cross-run memory</a:t>
            </a:r>
          </a:p>
        </p:txBody>
      </p:sp>
      <p:sp>
        <p:nvSpPr>
          <p:cNvPr id="23" name="Oval 22"/>
          <p:cNvSpPr/>
          <p:nvPr/>
        </p:nvSpPr>
        <p:spPr>
          <a:xfrm>
            <a:off x="6233007" y="1444752"/>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6</a:t>
            </a:r>
          </a:p>
        </p:txBody>
      </p:sp>
      <p:sp>
        <p:nvSpPr>
          <p:cNvPr id="24" name="TextBox 23"/>
          <p:cNvSpPr txBox="1"/>
          <p:nvPr/>
        </p:nvSpPr>
        <p:spPr>
          <a:xfrm>
            <a:off x="6708495" y="1371600"/>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Effects matter more than stated intent</a:t>
            </a:r>
          </a:p>
        </p:txBody>
      </p:sp>
      <p:sp>
        <p:nvSpPr>
          <p:cNvPr id="25" name="TextBox 24"/>
          <p:cNvSpPr txBox="1"/>
          <p:nvPr/>
        </p:nvSpPr>
        <p:spPr>
          <a:xfrm>
            <a:off x="6708495" y="1700784"/>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judge tool calls, destinations, privilege, persistence, data movement, not the trace</a:t>
            </a:r>
          </a:p>
        </p:txBody>
      </p:sp>
      <p:sp>
        <p:nvSpPr>
          <p:cNvPr id="26" name="Oval 25"/>
          <p:cNvSpPr/>
          <p:nvPr/>
        </p:nvSpPr>
        <p:spPr>
          <a:xfrm>
            <a:off x="6233007" y="2286000"/>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7</a:t>
            </a:r>
          </a:p>
        </p:txBody>
      </p:sp>
      <p:sp>
        <p:nvSpPr>
          <p:cNvPr id="27" name="TextBox 26"/>
          <p:cNvSpPr txBox="1"/>
          <p:nvPr/>
        </p:nvSpPr>
        <p:spPr>
          <a:xfrm>
            <a:off x="6708495" y="2212848"/>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Audit completeness must be demonstrated</a:t>
            </a:r>
          </a:p>
        </p:txBody>
      </p:sp>
      <p:sp>
        <p:nvSpPr>
          <p:cNvPr id="28" name="TextBox 27"/>
          <p:cNvSpPr txBox="1"/>
          <p:nvPr/>
        </p:nvSpPr>
        <p:spPr>
          <a:xfrm>
            <a:off x="6708495" y="2542032"/>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coverage, log integrity, detection sensitivity, omitted-run reconciliation are measurable</a:t>
            </a:r>
          </a:p>
        </p:txBody>
      </p:sp>
      <p:sp>
        <p:nvSpPr>
          <p:cNvPr id="29" name="Oval 28"/>
          <p:cNvSpPr/>
          <p:nvPr/>
        </p:nvSpPr>
        <p:spPr>
          <a:xfrm>
            <a:off x="6233007" y="3127248"/>
            <a:ext cx="384048" cy="384048"/>
          </a:xfrm>
          <a:prstGeom prst="ellipse">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8</a:t>
            </a:r>
          </a:p>
        </p:txBody>
      </p:sp>
      <p:sp>
        <p:nvSpPr>
          <p:cNvPr id="30" name="TextBox 29"/>
          <p:cNvSpPr txBox="1"/>
          <p:nvPr/>
        </p:nvSpPr>
        <p:spPr>
          <a:xfrm>
            <a:off x="6708495" y="3054096"/>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111111"/>
                </a:solidFill>
                <a:latin typeface="Arial"/>
              </a:rPr>
              <a:t>Resumption requires causal evidence</a:t>
            </a:r>
          </a:p>
        </p:txBody>
      </p:sp>
      <p:sp>
        <p:nvSpPr>
          <p:cNvPr id="31" name="TextBox 30"/>
          <p:cNvSpPr txBox="1"/>
          <p:nvPr/>
        </p:nvSpPr>
        <p:spPr>
          <a:xfrm>
            <a:off x="6708495" y="3383280"/>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restart only after the mechanism is addressed and an adversarial test confirms the boundary</a:t>
            </a:r>
          </a:p>
        </p:txBody>
      </p:sp>
      <p:sp>
        <p:nvSpPr>
          <p:cNvPr id="32" name="Oval 31"/>
          <p:cNvSpPr/>
          <p:nvPr/>
        </p:nvSpPr>
        <p:spPr>
          <a:xfrm>
            <a:off x="6233007" y="3968496"/>
            <a:ext cx="384048" cy="384048"/>
          </a:xfrm>
          <a:prstGeom prst="ellipse">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Arial"/>
              </a:rPr>
              <a:t>9</a:t>
            </a:r>
          </a:p>
        </p:txBody>
      </p:sp>
      <p:sp>
        <p:nvSpPr>
          <p:cNvPr id="33" name="TextBox 32"/>
          <p:cNvSpPr txBox="1"/>
          <p:nvPr/>
        </p:nvSpPr>
        <p:spPr>
          <a:xfrm>
            <a:off x="6708495" y="3895344"/>
            <a:ext cx="5025999" cy="320040"/>
          </a:xfrm>
          <a:prstGeom prst="rect">
            <a:avLst/>
          </a:prstGeom>
          <a:noFill/>
        </p:spPr>
        <p:txBody>
          <a:bodyPr wrap="square" lIns="45720" rIns="45720" tIns="27432" bIns="27432" anchor="t">
            <a:spAutoFit/>
          </a:bodyPr>
          <a:lstStyle/>
          <a:p>
            <a:pPr algn="l">
              <a:lnSpc>
                <a:spcPct val="110000"/>
              </a:lnSpc>
            </a:pPr>
            <a:r>
              <a:rPr sz="1450" b="1" i="0">
                <a:solidFill>
                  <a:srgbClr val="B34831"/>
                </a:solidFill>
                <a:latin typeface="Arial"/>
              </a:rPr>
              <a:t>No consequential autonomy without accountability</a:t>
            </a:r>
          </a:p>
        </p:txBody>
      </p:sp>
      <p:sp>
        <p:nvSpPr>
          <p:cNvPr id="34" name="TextBox 33"/>
          <p:cNvSpPr txBox="1"/>
          <p:nvPr/>
        </p:nvSpPr>
        <p:spPr>
          <a:xfrm>
            <a:off x="6708495" y="4224528"/>
            <a:ext cx="5025999" cy="502920"/>
          </a:xfrm>
          <a:prstGeom prst="rect">
            <a:avLst/>
          </a:prstGeom>
          <a:noFill/>
        </p:spPr>
        <p:txBody>
          <a:bodyPr wrap="square" lIns="45720" rIns="45720" tIns="27432" bIns="27432" anchor="t">
            <a:spAutoFit/>
          </a:bodyPr>
          <a:lstStyle/>
          <a:p>
            <a:pPr algn="l">
              <a:lnSpc>
                <a:spcPct val="105000"/>
              </a:lnSpc>
            </a:pPr>
            <a:r>
              <a:rPr sz="1200" b="0" i="0">
                <a:solidFill>
                  <a:srgbClr val="666666"/>
                </a:solidFill>
                <a:latin typeface="Arial"/>
              </a:rPr>
              <a:t>a named human role approves scope, sees actions, can stop them, and owns remediation</a:t>
            </a:r>
          </a:p>
        </p:txBody>
      </p:sp>
      <p:sp>
        <p:nvSpPr>
          <p:cNvPr id="35" name="Rounded Rectangle 34"/>
          <p:cNvSpPr/>
          <p:nvPr/>
        </p:nvSpPr>
        <p:spPr>
          <a:xfrm>
            <a:off x="6233007" y="4754880"/>
            <a:ext cx="5501487" cy="73152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42735" y="4754880"/>
            <a:ext cx="5282031" cy="731520"/>
          </a:xfrm>
          <a:prstGeom prst="rect">
            <a:avLst/>
          </a:prstGeom>
          <a:noFill/>
        </p:spPr>
        <p:txBody>
          <a:bodyPr wrap="square" lIns="45720" rIns="45720" tIns="27432" bIns="27432" anchor="ctr">
            <a:spAutoFit/>
          </a:bodyPr>
          <a:lstStyle/>
          <a:p>
            <a:pPr algn="l">
              <a:lnSpc>
                <a:spcPct val="108000"/>
              </a:lnSpc>
            </a:pPr>
            <a:r>
              <a:rPr sz="1200" b="0" i="0">
                <a:solidFill>
                  <a:srgbClr val="111111"/>
                </a:solidFill>
                <a:latin typeface="Arial"/>
              </a:rPr>
              <a:t>Builds on Zakaria (2026): oversight must scale with capability, reach and possible impact. Delegating execution does not delegate responsibility.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PASAC: the Proactive Agent Security Assurance Cycle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Security as an ongoing cycle; each stage must produce the evidence needed to authorize the next</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8</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10 Proactive Agent Security Assurance Cycle</a:t>
            </a:r>
          </a:p>
        </p:txBody>
      </p:sp>
      <p:sp>
        <p:nvSpPr>
          <p:cNvPr id="8" name="Rounded Rectangle 7"/>
          <p:cNvSpPr/>
          <p:nvPr/>
        </p:nvSpPr>
        <p:spPr>
          <a:xfrm>
            <a:off x="457200" y="1463040"/>
            <a:ext cx="2094524" cy="30175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1875068" cy="457200"/>
          </a:xfrm>
          <a:prstGeom prst="rect">
            <a:avLst/>
          </a:prstGeom>
          <a:noFill/>
        </p:spPr>
        <p:txBody>
          <a:bodyPr wrap="square" lIns="45720" rIns="45720" tIns="27432" bIns="27432" anchor="t">
            <a:spAutoFit/>
          </a:bodyPr>
          <a:lstStyle/>
          <a:p>
            <a:pPr algn="l">
              <a:lnSpc>
                <a:spcPct val="110000"/>
              </a:lnSpc>
            </a:pPr>
            <a:r>
              <a:rPr sz="2600" b="1" i="0">
                <a:solidFill>
                  <a:srgbClr val="365E9E"/>
                </a:solidFill>
                <a:latin typeface="Arial"/>
              </a:rPr>
              <a:t>01</a:t>
            </a:r>
          </a:p>
        </p:txBody>
      </p:sp>
      <p:sp>
        <p:nvSpPr>
          <p:cNvPr id="10" name="TextBox 9"/>
          <p:cNvSpPr txBox="1"/>
          <p:nvPr/>
        </p:nvSpPr>
        <p:spPr>
          <a:xfrm>
            <a:off x="566928" y="2057400"/>
            <a:ext cx="1875068" cy="685800"/>
          </a:xfrm>
          <a:prstGeom prst="rect">
            <a:avLst/>
          </a:prstGeom>
          <a:noFill/>
        </p:spPr>
        <p:txBody>
          <a:bodyPr wrap="square" lIns="45720" rIns="45720" tIns="27432" bIns="27432" anchor="t">
            <a:spAutoFit/>
          </a:bodyPr>
          <a:lstStyle/>
          <a:p>
            <a:pPr algn="l">
              <a:lnSpc>
                <a:spcPct val="100000"/>
              </a:lnSpc>
            </a:pPr>
            <a:r>
              <a:rPr sz="1600" b="1" i="0">
                <a:solidFill>
                  <a:srgbClr val="111111"/>
                </a:solidFill>
                <a:latin typeface="Arial"/>
              </a:rPr>
              <a:t>Anticipate</a:t>
            </a:r>
          </a:p>
        </p:txBody>
      </p:sp>
      <p:sp>
        <p:nvSpPr>
          <p:cNvPr id="11" name="TextBox 10"/>
          <p:cNvSpPr txBox="1"/>
          <p:nvPr/>
        </p:nvSpPr>
        <p:spPr>
          <a:xfrm>
            <a:off x="566928" y="2788920"/>
            <a:ext cx="1875068" cy="1600200"/>
          </a:xfrm>
          <a:prstGeom prst="rect">
            <a:avLst/>
          </a:prstGeom>
          <a:noFill/>
        </p:spPr>
        <p:txBody>
          <a:bodyPr wrap="square" lIns="45720" rIns="45720" tIns="27432" bIns="27432" anchor="t">
            <a:spAutoFit/>
          </a:bodyPr>
          <a:lstStyle/>
          <a:p>
            <a:pPr algn="l">
              <a:lnSpc>
                <a:spcPct val="112000"/>
              </a:lnSpc>
            </a:pPr>
            <a:r>
              <a:rPr sz="1200" b="0" i="0">
                <a:solidFill>
                  <a:srgbClr val="111111"/>
                </a:solidFill>
                <a:latin typeface="Arial"/>
              </a:rPr>
              <a:t>Classify model, task, tools, data, compute, autonomy and dependencies by risk tier. Enumerate misuse and failure paths, including config error and adaptive escape.</a:t>
            </a:r>
          </a:p>
        </p:txBody>
      </p:sp>
      <p:sp>
        <p:nvSpPr>
          <p:cNvPr id="12" name="Isosceles Triangle 11"/>
          <p:cNvSpPr/>
          <p:nvPr/>
        </p:nvSpPr>
        <p:spPr>
          <a:xfrm rot="5400000">
            <a:off x="2588300" y="2898648"/>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52892" y="1463040"/>
            <a:ext cx="2094524" cy="30175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862620" y="1554480"/>
            <a:ext cx="1875068" cy="457200"/>
          </a:xfrm>
          <a:prstGeom prst="rect">
            <a:avLst/>
          </a:prstGeom>
          <a:noFill/>
        </p:spPr>
        <p:txBody>
          <a:bodyPr wrap="square" lIns="45720" rIns="45720" tIns="27432" bIns="27432" anchor="t">
            <a:spAutoFit/>
          </a:bodyPr>
          <a:lstStyle/>
          <a:p>
            <a:pPr algn="l">
              <a:lnSpc>
                <a:spcPct val="110000"/>
              </a:lnSpc>
            </a:pPr>
            <a:r>
              <a:rPr sz="2600" b="1" i="0">
                <a:solidFill>
                  <a:srgbClr val="365E9E"/>
                </a:solidFill>
                <a:latin typeface="Arial"/>
              </a:rPr>
              <a:t>02</a:t>
            </a:r>
          </a:p>
        </p:txBody>
      </p:sp>
      <p:sp>
        <p:nvSpPr>
          <p:cNvPr id="15" name="TextBox 14"/>
          <p:cNvSpPr txBox="1"/>
          <p:nvPr/>
        </p:nvSpPr>
        <p:spPr>
          <a:xfrm>
            <a:off x="2862620" y="2057400"/>
            <a:ext cx="1875068" cy="685800"/>
          </a:xfrm>
          <a:prstGeom prst="rect">
            <a:avLst/>
          </a:prstGeom>
          <a:noFill/>
        </p:spPr>
        <p:txBody>
          <a:bodyPr wrap="square" lIns="45720" rIns="45720" tIns="27432" bIns="27432" anchor="t">
            <a:spAutoFit/>
          </a:bodyPr>
          <a:lstStyle/>
          <a:p>
            <a:pPr algn="l">
              <a:lnSpc>
                <a:spcPct val="100000"/>
              </a:lnSpc>
            </a:pPr>
            <a:r>
              <a:rPr sz="1600" b="1" i="0">
                <a:solidFill>
                  <a:srgbClr val="111111"/>
                </a:solidFill>
                <a:latin typeface="Arial"/>
              </a:rPr>
              <a:t>Constrain</a:t>
            </a:r>
          </a:p>
        </p:txBody>
      </p:sp>
      <p:sp>
        <p:nvSpPr>
          <p:cNvPr id="16" name="TextBox 15"/>
          <p:cNvSpPr txBox="1"/>
          <p:nvPr/>
        </p:nvSpPr>
        <p:spPr>
          <a:xfrm>
            <a:off x="2862620" y="2788920"/>
            <a:ext cx="1875068" cy="1600200"/>
          </a:xfrm>
          <a:prstGeom prst="rect">
            <a:avLst/>
          </a:prstGeom>
          <a:noFill/>
        </p:spPr>
        <p:txBody>
          <a:bodyPr wrap="square" lIns="45720" rIns="45720" tIns="27432" bIns="27432" anchor="t">
            <a:spAutoFit/>
          </a:bodyPr>
          <a:lstStyle/>
          <a:p>
            <a:pPr algn="l">
              <a:lnSpc>
                <a:spcPct val="112000"/>
              </a:lnSpc>
            </a:pPr>
            <a:r>
              <a:rPr sz="1200" b="0" i="0">
                <a:solidFill>
                  <a:srgbClr val="111111"/>
                </a:solidFill>
                <a:latin typeface="Arial"/>
              </a:rPr>
              <a:t>Turn the authorization boundary into executable policy, least-privilege identities, isolated networks, bounded budgets and explicit safe terminal states.</a:t>
            </a:r>
          </a:p>
        </p:txBody>
      </p:sp>
      <p:sp>
        <p:nvSpPr>
          <p:cNvPr id="17" name="Isosceles Triangle 16"/>
          <p:cNvSpPr/>
          <p:nvPr/>
        </p:nvSpPr>
        <p:spPr>
          <a:xfrm rot="5400000">
            <a:off x="4883993" y="2898648"/>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048585" y="1463040"/>
            <a:ext cx="2094524" cy="30175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58313" y="1554480"/>
            <a:ext cx="1875068" cy="457200"/>
          </a:xfrm>
          <a:prstGeom prst="rect">
            <a:avLst/>
          </a:prstGeom>
          <a:noFill/>
        </p:spPr>
        <p:txBody>
          <a:bodyPr wrap="square" lIns="45720" rIns="45720" tIns="27432" bIns="27432" anchor="t">
            <a:spAutoFit/>
          </a:bodyPr>
          <a:lstStyle/>
          <a:p>
            <a:pPr algn="l">
              <a:lnSpc>
                <a:spcPct val="110000"/>
              </a:lnSpc>
            </a:pPr>
            <a:r>
              <a:rPr sz="2600" b="1" i="0">
                <a:solidFill>
                  <a:srgbClr val="365E9E"/>
                </a:solidFill>
                <a:latin typeface="Arial"/>
              </a:rPr>
              <a:t>03</a:t>
            </a:r>
          </a:p>
        </p:txBody>
      </p:sp>
      <p:sp>
        <p:nvSpPr>
          <p:cNvPr id="20" name="TextBox 19"/>
          <p:cNvSpPr txBox="1"/>
          <p:nvPr/>
        </p:nvSpPr>
        <p:spPr>
          <a:xfrm>
            <a:off x="5158313" y="2057400"/>
            <a:ext cx="1875068" cy="685800"/>
          </a:xfrm>
          <a:prstGeom prst="rect">
            <a:avLst/>
          </a:prstGeom>
          <a:noFill/>
        </p:spPr>
        <p:txBody>
          <a:bodyPr wrap="square" lIns="45720" rIns="45720" tIns="27432" bIns="27432" anchor="t">
            <a:spAutoFit/>
          </a:bodyPr>
          <a:lstStyle/>
          <a:p>
            <a:pPr algn="l">
              <a:lnSpc>
                <a:spcPct val="100000"/>
              </a:lnSpc>
            </a:pPr>
            <a:r>
              <a:rPr sz="1600" b="1" i="0">
                <a:solidFill>
                  <a:srgbClr val="111111"/>
                </a:solidFill>
                <a:latin typeface="Arial"/>
              </a:rPr>
              <a:t>Verify</a:t>
            </a:r>
          </a:p>
        </p:txBody>
      </p:sp>
      <p:sp>
        <p:nvSpPr>
          <p:cNvPr id="21" name="TextBox 20"/>
          <p:cNvSpPr txBox="1"/>
          <p:nvPr/>
        </p:nvSpPr>
        <p:spPr>
          <a:xfrm>
            <a:off x="5158313" y="2788920"/>
            <a:ext cx="1875068" cy="1600200"/>
          </a:xfrm>
          <a:prstGeom prst="rect">
            <a:avLst/>
          </a:prstGeom>
          <a:noFill/>
        </p:spPr>
        <p:txBody>
          <a:bodyPr wrap="square" lIns="45720" rIns="45720" tIns="27432" bIns="27432" anchor="t">
            <a:spAutoFit/>
          </a:bodyPr>
          <a:lstStyle/>
          <a:p>
            <a:pPr algn="l">
              <a:lnSpc>
                <a:spcPct val="112000"/>
              </a:lnSpc>
            </a:pPr>
            <a:r>
              <a:rPr sz="1200" b="0" i="0">
                <a:solidFill>
                  <a:srgbClr val="111111"/>
                </a:solidFill>
                <a:latin typeface="Arial"/>
              </a:rPr>
              <a:t>Before release: test solvability, scan names and targets for collisions with real systems, validate routes and credentials, task a red-team agent to find unintended paths.</a:t>
            </a:r>
          </a:p>
        </p:txBody>
      </p:sp>
      <p:sp>
        <p:nvSpPr>
          <p:cNvPr id="22" name="Isosceles Triangle 21"/>
          <p:cNvSpPr/>
          <p:nvPr/>
        </p:nvSpPr>
        <p:spPr>
          <a:xfrm rot="5400000">
            <a:off x="7179685" y="2898648"/>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7344277" y="1463040"/>
            <a:ext cx="2094524" cy="30175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54005" y="1554480"/>
            <a:ext cx="1875068" cy="457200"/>
          </a:xfrm>
          <a:prstGeom prst="rect">
            <a:avLst/>
          </a:prstGeom>
          <a:noFill/>
        </p:spPr>
        <p:txBody>
          <a:bodyPr wrap="square" lIns="45720" rIns="45720" tIns="27432" bIns="27432" anchor="t">
            <a:spAutoFit/>
          </a:bodyPr>
          <a:lstStyle/>
          <a:p>
            <a:pPr algn="l">
              <a:lnSpc>
                <a:spcPct val="110000"/>
              </a:lnSpc>
            </a:pPr>
            <a:r>
              <a:rPr sz="2600" b="1" i="0">
                <a:solidFill>
                  <a:srgbClr val="365E9E"/>
                </a:solidFill>
                <a:latin typeface="Arial"/>
              </a:rPr>
              <a:t>04</a:t>
            </a:r>
          </a:p>
        </p:txBody>
      </p:sp>
      <p:sp>
        <p:nvSpPr>
          <p:cNvPr id="25" name="TextBox 24"/>
          <p:cNvSpPr txBox="1"/>
          <p:nvPr/>
        </p:nvSpPr>
        <p:spPr>
          <a:xfrm>
            <a:off x="7454005" y="2057400"/>
            <a:ext cx="1875068" cy="685800"/>
          </a:xfrm>
          <a:prstGeom prst="rect">
            <a:avLst/>
          </a:prstGeom>
          <a:noFill/>
        </p:spPr>
        <p:txBody>
          <a:bodyPr wrap="square" lIns="45720" rIns="45720" tIns="27432" bIns="27432" anchor="t">
            <a:spAutoFit/>
          </a:bodyPr>
          <a:lstStyle/>
          <a:p>
            <a:pPr algn="l">
              <a:lnSpc>
                <a:spcPct val="100000"/>
              </a:lnSpc>
            </a:pPr>
            <a:r>
              <a:rPr sz="1600" b="1" i="0">
                <a:solidFill>
                  <a:srgbClr val="111111"/>
                </a:solidFill>
                <a:latin typeface="Arial"/>
              </a:rPr>
              <a:t>Observe &amp; intervene</a:t>
            </a:r>
          </a:p>
        </p:txBody>
      </p:sp>
      <p:sp>
        <p:nvSpPr>
          <p:cNvPr id="26" name="TextBox 25"/>
          <p:cNvSpPr txBox="1"/>
          <p:nvPr/>
        </p:nvSpPr>
        <p:spPr>
          <a:xfrm>
            <a:off x="7454005" y="2788920"/>
            <a:ext cx="1875068" cy="1600200"/>
          </a:xfrm>
          <a:prstGeom prst="rect">
            <a:avLst/>
          </a:prstGeom>
          <a:noFill/>
        </p:spPr>
        <p:txBody>
          <a:bodyPr wrap="square" lIns="45720" rIns="45720" tIns="27432" bIns="27432" anchor="t">
            <a:spAutoFit/>
          </a:bodyPr>
          <a:lstStyle/>
          <a:p>
            <a:pPr algn="l">
              <a:lnSpc>
                <a:spcPct val="112000"/>
              </a:lnSpc>
            </a:pPr>
            <a:r>
              <a:rPr sz="1200" b="0" i="0">
                <a:solidFill>
                  <a:srgbClr val="111111"/>
                </a:solidFill>
                <a:latin typeface="Arial"/>
              </a:rPr>
              <a:t>Monitor actions and effects in real time, aggregate signals across runs, block or terminate automatically when scope or assurance thresholds fail.</a:t>
            </a:r>
          </a:p>
        </p:txBody>
      </p:sp>
      <p:sp>
        <p:nvSpPr>
          <p:cNvPr id="27" name="Isosceles Triangle 26"/>
          <p:cNvSpPr/>
          <p:nvPr/>
        </p:nvSpPr>
        <p:spPr>
          <a:xfrm rot="5400000">
            <a:off x="9475378" y="2898648"/>
            <a:ext cx="146304" cy="146304"/>
          </a:xfrm>
          <a:prstGeom prst="triangle">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9639970" y="1463040"/>
            <a:ext cx="2094524" cy="301752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49698" y="1554480"/>
            <a:ext cx="1875068" cy="457200"/>
          </a:xfrm>
          <a:prstGeom prst="rect">
            <a:avLst/>
          </a:prstGeom>
          <a:noFill/>
        </p:spPr>
        <p:txBody>
          <a:bodyPr wrap="square" lIns="45720" rIns="45720" tIns="27432" bIns="27432" anchor="t">
            <a:spAutoFit/>
          </a:bodyPr>
          <a:lstStyle/>
          <a:p>
            <a:pPr algn="l">
              <a:lnSpc>
                <a:spcPct val="110000"/>
              </a:lnSpc>
            </a:pPr>
            <a:r>
              <a:rPr sz="2600" b="1" i="0">
                <a:solidFill>
                  <a:srgbClr val="365E9E"/>
                </a:solidFill>
                <a:latin typeface="Arial"/>
              </a:rPr>
              <a:t>05</a:t>
            </a:r>
          </a:p>
        </p:txBody>
      </p:sp>
      <p:sp>
        <p:nvSpPr>
          <p:cNvPr id="30" name="TextBox 29"/>
          <p:cNvSpPr txBox="1"/>
          <p:nvPr/>
        </p:nvSpPr>
        <p:spPr>
          <a:xfrm>
            <a:off x="9749698" y="2057400"/>
            <a:ext cx="1875068" cy="685800"/>
          </a:xfrm>
          <a:prstGeom prst="rect">
            <a:avLst/>
          </a:prstGeom>
          <a:noFill/>
        </p:spPr>
        <p:txBody>
          <a:bodyPr wrap="square" lIns="45720" rIns="45720" tIns="27432" bIns="27432" anchor="t">
            <a:spAutoFit/>
          </a:bodyPr>
          <a:lstStyle/>
          <a:p>
            <a:pPr algn="l">
              <a:lnSpc>
                <a:spcPct val="100000"/>
              </a:lnSpc>
            </a:pPr>
            <a:r>
              <a:rPr sz="1600" b="1" i="0">
                <a:solidFill>
                  <a:srgbClr val="111111"/>
                </a:solidFill>
                <a:latin typeface="Arial"/>
              </a:rPr>
              <a:t>Learn &amp; reauthorize</a:t>
            </a:r>
          </a:p>
        </p:txBody>
      </p:sp>
      <p:sp>
        <p:nvSpPr>
          <p:cNvPr id="31" name="TextBox 30"/>
          <p:cNvSpPr txBox="1"/>
          <p:nvPr/>
        </p:nvSpPr>
        <p:spPr>
          <a:xfrm>
            <a:off x="9749698" y="2788920"/>
            <a:ext cx="1875068" cy="1600200"/>
          </a:xfrm>
          <a:prstGeom prst="rect">
            <a:avLst/>
          </a:prstGeom>
          <a:noFill/>
        </p:spPr>
        <p:txBody>
          <a:bodyPr wrap="square" lIns="45720" rIns="45720" tIns="27432" bIns="27432" anchor="t">
            <a:spAutoFit/>
          </a:bodyPr>
          <a:lstStyle/>
          <a:p>
            <a:pPr algn="l">
              <a:lnSpc>
                <a:spcPct val="112000"/>
              </a:lnSpc>
            </a:pPr>
            <a:r>
              <a:rPr sz="1200" b="0" i="0">
                <a:solidFill>
                  <a:srgbClr val="111111"/>
                </a:solidFill>
                <a:latin typeface="Arial"/>
              </a:rPr>
              <a:t>Preserve evidence, notify affected parties, independent review, update threat models, require an evidence-based decision before resuming related activity.</a:t>
            </a:r>
          </a:p>
        </p:txBody>
      </p:sp>
      <p:sp>
        <p:nvSpPr>
          <p:cNvPr id="32" name="Left Arrow 31"/>
          <p:cNvSpPr/>
          <p:nvPr/>
        </p:nvSpPr>
        <p:spPr>
          <a:xfrm>
            <a:off x="731520" y="4645152"/>
            <a:ext cx="10728655" cy="384048"/>
          </a:xfrm>
          <a:prstGeom prst="leftArrow">
            <a:avLst>
              <a:gd name="adj1" fmla="val 55000"/>
              <a:gd name="adj2" fmla="val 3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645152"/>
            <a:ext cx="10180015" cy="384048"/>
          </a:xfrm>
          <a:prstGeom prst="rect">
            <a:avLst/>
          </a:prstGeom>
          <a:noFill/>
        </p:spPr>
        <p:txBody>
          <a:bodyPr wrap="square" lIns="45720" rIns="45720" tIns="27432" bIns="27432" anchor="ctr">
            <a:spAutoFit/>
          </a:bodyPr>
          <a:lstStyle/>
          <a:p>
            <a:pPr algn="ctr">
              <a:lnSpc>
                <a:spcPct val="110000"/>
              </a:lnSpc>
            </a:pPr>
            <a:r>
              <a:rPr sz="1150" b="0" i="1">
                <a:solidFill>
                  <a:srgbClr val="666666"/>
                </a:solidFill>
                <a:latin typeface="Arial"/>
              </a:rPr>
              <a:t>Evidence from stage 5 updates the risk case for the next run</a:t>
            </a:r>
          </a:p>
        </p:txBody>
      </p:sp>
      <p:sp>
        <p:nvSpPr>
          <p:cNvPr id="34" name="Rounded Rectangle 33"/>
          <p:cNvSpPr/>
          <p:nvPr/>
        </p:nvSpPr>
        <p:spPr>
          <a:xfrm>
            <a:off x="457200" y="5166360"/>
            <a:ext cx="3637178" cy="731520"/>
          </a:xfrm>
          <a:prstGeom prst="roundRect">
            <a:avLst>
              <a:gd name="adj" fmla="val 5000"/>
            </a:avLst>
          </a:prstGeom>
          <a:solidFill>
            <a:srgbClr val="FFFFFF"/>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66928" y="5166360"/>
            <a:ext cx="3417722" cy="73152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A run begins</a:t>
            </a:r>
            <a:r>
              <a:rPr sz="1350" b="0" i="0">
                <a:solidFill>
                  <a:srgbClr val="111111"/>
                </a:solidFill>
                <a:latin typeface="Arial"/>
              </a:rPr>
              <a:t> only after the risk case is complete</a:t>
            </a:r>
          </a:p>
        </p:txBody>
      </p:sp>
      <p:sp>
        <p:nvSpPr>
          <p:cNvPr id="36" name="Rounded Rectangle 35"/>
          <p:cNvSpPr/>
          <p:nvPr/>
        </p:nvSpPr>
        <p:spPr>
          <a:xfrm>
            <a:off x="4277258" y="5166360"/>
            <a:ext cx="3637178" cy="731520"/>
          </a:xfrm>
          <a:prstGeom prst="roundRect">
            <a:avLst>
              <a:gd name="adj" fmla="val 5000"/>
            </a:avLst>
          </a:prstGeom>
          <a:solidFill>
            <a:srgbClr val="FFFFFF"/>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386986" y="5166360"/>
            <a:ext cx="3417722" cy="73152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A run continues</a:t>
            </a:r>
            <a:r>
              <a:rPr sz="1350" b="0" i="0">
                <a:solidFill>
                  <a:srgbClr val="111111"/>
                </a:solidFill>
                <a:latin typeface="Arial"/>
              </a:rPr>
              <a:t> only while the claimed boundaries remain valid</a:t>
            </a:r>
          </a:p>
        </p:txBody>
      </p:sp>
      <p:sp>
        <p:nvSpPr>
          <p:cNvPr id="38" name="Rounded Rectangle 37"/>
          <p:cNvSpPr/>
          <p:nvPr/>
        </p:nvSpPr>
        <p:spPr>
          <a:xfrm>
            <a:off x="8097316" y="5166360"/>
            <a:ext cx="3637178" cy="731520"/>
          </a:xfrm>
          <a:prstGeom prst="roundRect">
            <a:avLst>
              <a:gd name="adj" fmla="val 5000"/>
            </a:avLst>
          </a:prstGeom>
          <a:solidFill>
            <a:srgbClr val="FFFFFF"/>
          </a:solidFill>
          <a:ln w="9525">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07044" y="5166360"/>
            <a:ext cx="3417722" cy="731520"/>
          </a:xfrm>
          <a:prstGeom prst="rect">
            <a:avLst/>
          </a:prstGeom>
          <a:noFill/>
        </p:spPr>
        <p:txBody>
          <a:bodyPr wrap="square" lIns="45720" rIns="45720" tIns="27432" bIns="27432" anchor="ctr">
            <a:spAutoFit/>
          </a:bodyPr>
          <a:lstStyle/>
          <a:p>
            <a:pPr algn="l">
              <a:lnSpc>
                <a:spcPct val="110000"/>
              </a:lnSpc>
            </a:pPr>
            <a:r>
              <a:rPr sz="1350" b="1" i="0">
                <a:solidFill>
                  <a:srgbClr val="111111"/>
                </a:solidFill>
                <a:latin typeface="Arial"/>
              </a:rPr>
              <a:t>A run resumes</a:t>
            </a:r>
            <a:r>
              <a:rPr sz="1350" b="0" i="0">
                <a:solidFill>
                  <a:srgbClr val="111111"/>
                </a:solidFill>
                <a:latin typeface="Arial"/>
              </a:rPr>
              <a:t> only after revised controls pass adversarial validation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The Boundary Assurance Stack: five layers, one accountability spine</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Each layer must fail safely and be tested against an agent that actively searches for weaknesses (paper Figure 1)</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9</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11 Boundary Assurance Stack, 11.1-11.5</a:t>
            </a:r>
          </a:p>
        </p:txBody>
      </p:sp>
      <p:sp>
        <p:nvSpPr>
          <p:cNvPr id="8" name="Rounded Rectangle 7"/>
          <p:cNvSpPr/>
          <p:nvPr/>
        </p:nvSpPr>
        <p:spPr>
          <a:xfrm>
            <a:off x="457200" y="1371600"/>
            <a:ext cx="3291840" cy="416052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1463040"/>
            <a:ext cx="3017520" cy="365760"/>
          </a:xfrm>
          <a:prstGeom prst="rect">
            <a:avLst/>
          </a:prstGeom>
          <a:noFill/>
        </p:spPr>
        <p:txBody>
          <a:bodyPr wrap="square" lIns="45720" rIns="45720" tIns="27432" bIns="27432" anchor="t">
            <a:spAutoFit/>
          </a:bodyPr>
          <a:lstStyle/>
          <a:p>
            <a:pPr algn="l">
              <a:lnSpc>
                <a:spcPct val="110000"/>
              </a:lnSpc>
            </a:pPr>
            <a:r>
              <a:rPr sz="1500" b="1" i="0">
                <a:solidFill>
                  <a:srgbClr val="111111"/>
                </a:solidFill>
                <a:latin typeface="Arial"/>
              </a:rPr>
              <a:t>Human accountability</a:t>
            </a:r>
          </a:p>
        </p:txBody>
      </p:sp>
      <p:sp>
        <p:nvSpPr>
          <p:cNvPr id="10" name="TextBox 9"/>
          <p:cNvSpPr txBox="1"/>
          <p:nvPr/>
        </p:nvSpPr>
        <p:spPr>
          <a:xfrm>
            <a:off x="594360" y="1783080"/>
            <a:ext cx="3017520" cy="320040"/>
          </a:xfrm>
          <a:prstGeom prst="rect">
            <a:avLst/>
          </a:prstGeom>
          <a:noFill/>
        </p:spPr>
        <p:txBody>
          <a:bodyPr wrap="square" lIns="45720" rIns="45720" tIns="27432" bIns="27432" anchor="t">
            <a:spAutoFit/>
          </a:bodyPr>
          <a:lstStyle/>
          <a:p>
            <a:pPr algn="l">
              <a:lnSpc>
                <a:spcPct val="110000"/>
              </a:lnSpc>
            </a:pPr>
            <a:r>
              <a:rPr sz="1150" b="0" i="1">
                <a:solidFill>
                  <a:srgbClr val="666666"/>
                </a:solidFill>
                <a:latin typeface="Arial"/>
              </a:rPr>
              <a:t>Named owners span all five layers</a:t>
            </a:r>
          </a:p>
        </p:txBody>
      </p:sp>
      <p:sp>
        <p:nvSpPr>
          <p:cNvPr id="11" name="TextBox 10"/>
          <p:cNvSpPr txBox="1"/>
          <p:nvPr/>
        </p:nvSpPr>
        <p:spPr>
          <a:xfrm>
            <a:off x="594360" y="2194560"/>
            <a:ext cx="3017520" cy="640080"/>
          </a:xfrm>
          <a:prstGeom prst="rect">
            <a:avLst/>
          </a:prstGeom>
          <a:noFill/>
        </p:spPr>
        <p:txBody>
          <a:bodyPr wrap="square" lIns="45720" rIns="45720" tIns="27432" bIns="27432" anchor="t">
            <a:spAutoFit/>
          </a:bodyPr>
          <a:lstStyle/>
          <a:p>
            <a:pPr algn="l">
              <a:lnSpc>
                <a:spcPct val="105000"/>
              </a:lnSpc>
            </a:pPr>
            <a:r>
              <a:rPr sz="1300" b="1" i="0">
                <a:solidFill>
                  <a:srgbClr val="111111"/>
                </a:solidFill>
                <a:latin typeface="Arial"/>
              </a:rPr>
              <a:t>Program owner</a:t>
            </a:r>
          </a:p>
          <a:p>
            <a:pPr algn="l">
              <a:lnSpc>
                <a:spcPct val="105000"/>
              </a:lnSpc>
            </a:pPr>
            <a:r>
              <a:rPr sz="1300" b="0" i="0">
                <a:solidFill>
                  <a:srgbClr val="111111"/>
                </a:solidFill>
                <a:latin typeface="Arial"/>
              </a:rPr>
              <a:t>authorizes the objective</a:t>
            </a:r>
          </a:p>
        </p:txBody>
      </p:sp>
      <p:sp>
        <p:nvSpPr>
          <p:cNvPr id="12" name="TextBox 11"/>
          <p:cNvSpPr txBox="1"/>
          <p:nvPr/>
        </p:nvSpPr>
        <p:spPr>
          <a:xfrm>
            <a:off x="594360" y="2852928"/>
            <a:ext cx="3017520" cy="640080"/>
          </a:xfrm>
          <a:prstGeom prst="rect">
            <a:avLst/>
          </a:prstGeom>
          <a:noFill/>
        </p:spPr>
        <p:txBody>
          <a:bodyPr wrap="square" lIns="45720" rIns="45720" tIns="27432" bIns="27432" anchor="t">
            <a:spAutoFit/>
          </a:bodyPr>
          <a:lstStyle/>
          <a:p>
            <a:pPr algn="l">
              <a:lnSpc>
                <a:spcPct val="105000"/>
              </a:lnSpc>
            </a:pPr>
            <a:r>
              <a:rPr sz="1300" b="1" i="0">
                <a:solidFill>
                  <a:srgbClr val="111111"/>
                </a:solidFill>
                <a:latin typeface="Arial"/>
              </a:rPr>
              <a:t>Environment owner</a:t>
            </a:r>
          </a:p>
          <a:p>
            <a:pPr algn="l">
              <a:lnSpc>
                <a:spcPct val="105000"/>
              </a:lnSpc>
            </a:pPr>
            <a:r>
              <a:rPr sz="1300" b="0" i="0">
                <a:solidFill>
                  <a:srgbClr val="111111"/>
                </a:solidFill>
                <a:latin typeface="Arial"/>
              </a:rPr>
              <a:t>verifies the test setting</a:t>
            </a:r>
          </a:p>
        </p:txBody>
      </p:sp>
      <p:sp>
        <p:nvSpPr>
          <p:cNvPr id="13" name="TextBox 12"/>
          <p:cNvSpPr txBox="1"/>
          <p:nvPr/>
        </p:nvSpPr>
        <p:spPr>
          <a:xfrm>
            <a:off x="594360" y="3511296"/>
            <a:ext cx="3017520" cy="640080"/>
          </a:xfrm>
          <a:prstGeom prst="rect">
            <a:avLst/>
          </a:prstGeom>
          <a:noFill/>
        </p:spPr>
        <p:txBody>
          <a:bodyPr wrap="square" lIns="45720" rIns="45720" tIns="27432" bIns="27432" anchor="t">
            <a:spAutoFit/>
          </a:bodyPr>
          <a:lstStyle/>
          <a:p>
            <a:pPr algn="l">
              <a:lnSpc>
                <a:spcPct val="105000"/>
              </a:lnSpc>
            </a:pPr>
            <a:r>
              <a:rPr sz="1300" b="1" i="0">
                <a:solidFill>
                  <a:srgbClr val="111111"/>
                </a:solidFill>
                <a:latin typeface="Arial"/>
              </a:rPr>
              <a:t>Security lead</a:t>
            </a:r>
          </a:p>
          <a:p>
            <a:pPr algn="l">
              <a:lnSpc>
                <a:spcPct val="105000"/>
              </a:lnSpc>
            </a:pPr>
            <a:r>
              <a:rPr sz="1300" b="0" i="0">
                <a:solidFill>
                  <a:srgbClr val="111111"/>
                </a:solidFill>
                <a:latin typeface="Arial"/>
              </a:rPr>
              <a:t>can pause or stop runs</a:t>
            </a:r>
          </a:p>
        </p:txBody>
      </p:sp>
      <p:sp>
        <p:nvSpPr>
          <p:cNvPr id="14" name="TextBox 13"/>
          <p:cNvSpPr txBox="1"/>
          <p:nvPr/>
        </p:nvSpPr>
        <p:spPr>
          <a:xfrm>
            <a:off x="594360" y="4169664"/>
            <a:ext cx="3017520" cy="640080"/>
          </a:xfrm>
          <a:prstGeom prst="rect">
            <a:avLst/>
          </a:prstGeom>
          <a:noFill/>
        </p:spPr>
        <p:txBody>
          <a:bodyPr wrap="square" lIns="45720" rIns="45720" tIns="27432" bIns="27432" anchor="t">
            <a:spAutoFit/>
          </a:bodyPr>
          <a:lstStyle/>
          <a:p>
            <a:pPr algn="l">
              <a:lnSpc>
                <a:spcPct val="105000"/>
              </a:lnSpc>
            </a:pPr>
            <a:r>
              <a:rPr sz="1300" b="1" i="0">
                <a:solidFill>
                  <a:srgbClr val="111111"/>
                </a:solidFill>
                <a:latin typeface="Arial"/>
              </a:rPr>
              <a:t>Incident lead</a:t>
            </a:r>
          </a:p>
          <a:p>
            <a:pPr algn="l">
              <a:lnSpc>
                <a:spcPct val="105000"/>
              </a:lnSpc>
            </a:pPr>
            <a:r>
              <a:rPr sz="1300" b="0" i="0">
                <a:solidFill>
                  <a:srgbClr val="111111"/>
                </a:solidFill>
                <a:latin typeface="Arial"/>
              </a:rPr>
              <a:t>coordinates response</a:t>
            </a:r>
          </a:p>
        </p:txBody>
      </p:sp>
      <p:sp>
        <p:nvSpPr>
          <p:cNvPr id="15" name="TextBox 14"/>
          <p:cNvSpPr txBox="1"/>
          <p:nvPr/>
        </p:nvSpPr>
        <p:spPr>
          <a:xfrm>
            <a:off x="594360" y="4846320"/>
            <a:ext cx="3017520" cy="640080"/>
          </a:xfrm>
          <a:prstGeom prst="rect">
            <a:avLst/>
          </a:prstGeom>
          <a:noFill/>
        </p:spPr>
        <p:txBody>
          <a:bodyPr wrap="square" lIns="45720" rIns="45720" tIns="27432" bIns="27432" anchor="t">
            <a:spAutoFit/>
          </a:bodyPr>
          <a:lstStyle/>
          <a:p>
            <a:pPr algn="l">
              <a:lnSpc>
                <a:spcPct val="105000"/>
              </a:lnSpc>
            </a:pPr>
            <a:r>
              <a:rPr sz="1150" b="0" i="0">
                <a:solidFill>
                  <a:srgbClr val="666666"/>
                </a:solidFill>
                <a:latin typeface="Arial"/>
              </a:rPr>
              <a:t>Recorded decisions and audit trail at every transition, so accountability is audited, not inferred.</a:t>
            </a:r>
          </a:p>
        </p:txBody>
      </p:sp>
      <p:sp>
        <p:nvSpPr>
          <p:cNvPr id="16" name="Rounded Rectangle 15"/>
          <p:cNvSpPr/>
          <p:nvPr/>
        </p:nvSpPr>
        <p:spPr>
          <a:xfrm>
            <a:off x="3977640" y="1371600"/>
            <a:ext cx="7756855" cy="77724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977640" y="1371600"/>
            <a:ext cx="502920" cy="77724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977640" y="1371600"/>
            <a:ext cx="502920" cy="777240"/>
          </a:xfrm>
          <a:prstGeom prst="rect">
            <a:avLst/>
          </a:prstGeom>
          <a:noFill/>
        </p:spPr>
        <p:txBody>
          <a:bodyPr wrap="square" lIns="45720" rIns="45720" tIns="27432" bIns="27432" anchor="ctr">
            <a:spAutoFit/>
          </a:bodyPr>
          <a:lstStyle/>
          <a:p>
            <a:pPr algn="ctr">
              <a:lnSpc>
                <a:spcPct val="110000"/>
              </a:lnSpc>
            </a:pPr>
            <a:r>
              <a:rPr sz="1500" b="1" i="0">
                <a:solidFill>
                  <a:srgbClr val="FFFFFF"/>
                </a:solidFill>
                <a:latin typeface="Arial"/>
              </a:rPr>
              <a:t>01</a:t>
            </a:r>
          </a:p>
        </p:txBody>
      </p:sp>
      <p:sp>
        <p:nvSpPr>
          <p:cNvPr id="19" name="TextBox 18"/>
          <p:cNvSpPr txBox="1"/>
          <p:nvPr/>
        </p:nvSpPr>
        <p:spPr>
          <a:xfrm>
            <a:off x="4572000" y="1399032"/>
            <a:ext cx="2103120" cy="722376"/>
          </a:xfrm>
          <a:prstGeom prst="rect">
            <a:avLst/>
          </a:prstGeom>
          <a:noFill/>
        </p:spPr>
        <p:txBody>
          <a:bodyPr wrap="square" lIns="45720" rIns="45720" tIns="27432" bIns="27432" anchor="ctr">
            <a:spAutoFit/>
          </a:bodyPr>
          <a:lstStyle/>
          <a:p>
            <a:pPr algn="l">
              <a:lnSpc>
                <a:spcPct val="100000"/>
              </a:lnSpc>
            </a:pPr>
            <a:r>
              <a:rPr sz="1400" b="1" i="0">
                <a:solidFill>
                  <a:srgbClr val="365E9E"/>
                </a:solidFill>
                <a:latin typeface="Arial"/>
              </a:rPr>
              <a:t>Scope &amp; safe exit</a:t>
            </a:r>
          </a:p>
        </p:txBody>
      </p:sp>
      <p:sp>
        <p:nvSpPr>
          <p:cNvPr id="20" name="TextBox 19"/>
          <p:cNvSpPr txBox="1"/>
          <p:nvPr/>
        </p:nvSpPr>
        <p:spPr>
          <a:xfrm>
            <a:off x="6675120" y="1389888"/>
            <a:ext cx="4967935" cy="740664"/>
          </a:xfrm>
          <a:prstGeom prst="rect">
            <a:avLst/>
          </a:prstGeom>
          <a:noFill/>
        </p:spPr>
        <p:txBody>
          <a:bodyPr wrap="square" lIns="45720" rIns="45720" tIns="27432" bIns="27432" anchor="ctr">
            <a:spAutoFit/>
          </a:bodyPr>
          <a:lstStyle/>
          <a:p>
            <a:pPr algn="l">
              <a:lnSpc>
                <a:spcPct val="108000"/>
              </a:lnSpc>
            </a:pPr>
            <a:r>
              <a:rPr sz="1050" b="0" i="0">
                <a:solidFill>
                  <a:srgbClr val="111111"/>
                </a:solidFill>
                <a:latin typeface="Arial"/>
              </a:rPr>
              <a:t>Signed machine-readable scope manifest: targets, prohibited destinations, data classes, actions, expiry. Explicit blocked / abstain / request-review / terminate actions.</a:t>
            </a:r>
          </a:p>
        </p:txBody>
      </p:sp>
      <p:sp>
        <p:nvSpPr>
          <p:cNvPr id="21" name="Rounded Rectangle 20"/>
          <p:cNvSpPr/>
          <p:nvPr/>
        </p:nvSpPr>
        <p:spPr>
          <a:xfrm>
            <a:off x="3977640" y="2217420"/>
            <a:ext cx="7756855" cy="777240"/>
          </a:xfrm>
          <a:prstGeom prst="roundRect">
            <a:avLst>
              <a:gd name="adj" fmla="val 5000"/>
            </a:avLst>
          </a:prstGeom>
          <a:solidFill>
            <a:srgbClr val="FFFFFF"/>
          </a:solidFill>
          <a:ln w="12700">
            <a:solidFill>
              <a:srgbClr val="365E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977640" y="2217420"/>
            <a:ext cx="502920" cy="77724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77640" y="2217420"/>
            <a:ext cx="502920" cy="777240"/>
          </a:xfrm>
          <a:prstGeom prst="rect">
            <a:avLst/>
          </a:prstGeom>
          <a:noFill/>
        </p:spPr>
        <p:txBody>
          <a:bodyPr wrap="square" lIns="45720" rIns="45720" tIns="27432" bIns="27432" anchor="ctr">
            <a:spAutoFit/>
          </a:bodyPr>
          <a:lstStyle/>
          <a:p>
            <a:pPr algn="ctr">
              <a:lnSpc>
                <a:spcPct val="110000"/>
              </a:lnSpc>
            </a:pPr>
            <a:r>
              <a:rPr sz="1500" b="1" i="0">
                <a:solidFill>
                  <a:srgbClr val="FFFFFF"/>
                </a:solidFill>
                <a:latin typeface="Arial"/>
              </a:rPr>
              <a:t>02</a:t>
            </a:r>
          </a:p>
        </p:txBody>
      </p:sp>
      <p:sp>
        <p:nvSpPr>
          <p:cNvPr id="24" name="TextBox 23"/>
          <p:cNvSpPr txBox="1"/>
          <p:nvPr/>
        </p:nvSpPr>
        <p:spPr>
          <a:xfrm>
            <a:off x="4572000" y="2244852"/>
            <a:ext cx="2103120" cy="722376"/>
          </a:xfrm>
          <a:prstGeom prst="rect">
            <a:avLst/>
          </a:prstGeom>
          <a:noFill/>
        </p:spPr>
        <p:txBody>
          <a:bodyPr wrap="square" lIns="45720" rIns="45720" tIns="27432" bIns="27432" anchor="ctr">
            <a:spAutoFit/>
          </a:bodyPr>
          <a:lstStyle/>
          <a:p>
            <a:pPr algn="l">
              <a:lnSpc>
                <a:spcPct val="100000"/>
              </a:lnSpc>
            </a:pPr>
            <a:r>
              <a:rPr sz="1400" b="1" i="0">
                <a:solidFill>
                  <a:srgbClr val="365E9E"/>
                </a:solidFill>
                <a:latin typeface="Arial"/>
              </a:rPr>
              <a:t>Least capability</a:t>
            </a:r>
          </a:p>
        </p:txBody>
      </p:sp>
      <p:sp>
        <p:nvSpPr>
          <p:cNvPr id="25" name="TextBox 24"/>
          <p:cNvSpPr txBox="1"/>
          <p:nvPr/>
        </p:nvSpPr>
        <p:spPr>
          <a:xfrm>
            <a:off x="6675120" y="2235708"/>
            <a:ext cx="4967935" cy="740664"/>
          </a:xfrm>
          <a:prstGeom prst="rect">
            <a:avLst/>
          </a:prstGeom>
          <a:noFill/>
        </p:spPr>
        <p:txBody>
          <a:bodyPr wrap="square" lIns="45720" rIns="45720" tIns="27432" bIns="27432" anchor="ctr">
            <a:spAutoFit/>
          </a:bodyPr>
          <a:lstStyle/>
          <a:p>
            <a:pPr algn="l">
              <a:lnSpc>
                <a:spcPct val="108000"/>
              </a:lnSpc>
            </a:pPr>
            <a:r>
              <a:rPr sz="1050" b="0" i="0">
                <a:solidFill>
                  <a:srgbClr val="111111"/>
                </a:solidFill>
                <a:latin typeface="Arial"/>
              </a:rPr>
              <a:t>Tools, credentials, compute, concurrency and duration granted per task. Per-run, narrow, expiring credentials. Big budgets and parallel agents need risk-tier approval.</a:t>
            </a:r>
          </a:p>
        </p:txBody>
      </p:sp>
      <p:sp>
        <p:nvSpPr>
          <p:cNvPr id="26" name="Rounded Rectangle 25"/>
          <p:cNvSpPr/>
          <p:nvPr/>
        </p:nvSpPr>
        <p:spPr>
          <a:xfrm>
            <a:off x="3977640" y="3063240"/>
            <a:ext cx="7756855" cy="777240"/>
          </a:xfrm>
          <a:prstGeom prst="roundRect">
            <a:avLst>
              <a:gd name="adj" fmla="val 5000"/>
            </a:avLst>
          </a:prstGeom>
          <a:solidFill>
            <a:srgbClr val="FFFFFF"/>
          </a:solidFill>
          <a:ln w="12700">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977640" y="3063240"/>
            <a:ext cx="502920" cy="77724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977640" y="3063240"/>
            <a:ext cx="502920" cy="777240"/>
          </a:xfrm>
          <a:prstGeom prst="rect">
            <a:avLst/>
          </a:prstGeom>
          <a:noFill/>
        </p:spPr>
        <p:txBody>
          <a:bodyPr wrap="square" lIns="45720" rIns="45720" tIns="27432" bIns="27432" anchor="ctr">
            <a:spAutoFit/>
          </a:bodyPr>
          <a:lstStyle/>
          <a:p>
            <a:pPr algn="ctr">
              <a:lnSpc>
                <a:spcPct val="110000"/>
              </a:lnSpc>
            </a:pPr>
            <a:r>
              <a:rPr sz="1500" b="1" i="0">
                <a:solidFill>
                  <a:srgbClr val="FFFFFF"/>
                </a:solidFill>
                <a:latin typeface="Arial"/>
              </a:rPr>
              <a:t>03</a:t>
            </a:r>
          </a:p>
        </p:txBody>
      </p:sp>
      <p:sp>
        <p:nvSpPr>
          <p:cNvPr id="29" name="TextBox 28"/>
          <p:cNvSpPr txBox="1"/>
          <p:nvPr/>
        </p:nvSpPr>
        <p:spPr>
          <a:xfrm>
            <a:off x="4572000" y="3090672"/>
            <a:ext cx="2103120" cy="722376"/>
          </a:xfrm>
          <a:prstGeom prst="rect">
            <a:avLst/>
          </a:prstGeom>
          <a:noFill/>
        </p:spPr>
        <p:txBody>
          <a:bodyPr wrap="square" lIns="45720" rIns="45720" tIns="27432" bIns="27432" anchor="ctr">
            <a:spAutoFit/>
          </a:bodyPr>
          <a:lstStyle/>
          <a:p>
            <a:pPr algn="l">
              <a:lnSpc>
                <a:spcPct val="100000"/>
              </a:lnSpc>
            </a:pPr>
            <a:r>
              <a:rPr sz="1400" b="1" i="0">
                <a:solidFill>
                  <a:srgbClr val="6A4C93"/>
                </a:solidFill>
                <a:latin typeface="Arial"/>
              </a:rPr>
              <a:t>Independent containment</a:t>
            </a:r>
          </a:p>
        </p:txBody>
      </p:sp>
      <p:sp>
        <p:nvSpPr>
          <p:cNvPr id="30" name="TextBox 29"/>
          <p:cNvSpPr txBox="1"/>
          <p:nvPr/>
        </p:nvSpPr>
        <p:spPr>
          <a:xfrm>
            <a:off x="6675120" y="3081528"/>
            <a:ext cx="4967935" cy="740664"/>
          </a:xfrm>
          <a:prstGeom prst="rect">
            <a:avLst/>
          </a:prstGeom>
          <a:noFill/>
        </p:spPr>
        <p:txBody>
          <a:bodyPr wrap="square" lIns="45720" rIns="45720" tIns="27432" bIns="27432" anchor="ctr">
            <a:spAutoFit/>
          </a:bodyPr>
          <a:lstStyle/>
          <a:p>
            <a:pPr algn="l">
              <a:lnSpc>
                <a:spcPct val="108000"/>
              </a:lnSpc>
            </a:pPr>
            <a:r>
              <a:rPr sz="1050" b="0" i="0">
                <a:solidFill>
                  <a:srgbClr val="111111"/>
                </a:solidFill>
                <a:latin typeface="Arial"/>
              </a:rPr>
              <a:t>Egress enforced outside the agent's compute plane: allowlists, DNS control, deny-by-default. Package mirrors are boundaries. Honeytokens over real secrets. Kill switch on separate identities.</a:t>
            </a:r>
          </a:p>
        </p:txBody>
      </p:sp>
      <p:sp>
        <p:nvSpPr>
          <p:cNvPr id="31" name="Rounded Rectangle 30"/>
          <p:cNvSpPr/>
          <p:nvPr/>
        </p:nvSpPr>
        <p:spPr>
          <a:xfrm>
            <a:off x="3977640" y="3909060"/>
            <a:ext cx="7756855" cy="777240"/>
          </a:xfrm>
          <a:prstGeom prst="roundRect">
            <a:avLst>
              <a:gd name="adj" fmla="val 5000"/>
            </a:avLst>
          </a:prstGeom>
          <a:solidFill>
            <a:srgbClr val="FFFFFF"/>
          </a:solidFill>
          <a:ln w="12700">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977640" y="3909060"/>
            <a:ext cx="502920" cy="777240"/>
          </a:xfrm>
          <a:prstGeom prst="rect">
            <a:avLst/>
          </a:prstGeom>
          <a:solidFill>
            <a:srgbClr val="B87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977640" y="3909060"/>
            <a:ext cx="502920" cy="777240"/>
          </a:xfrm>
          <a:prstGeom prst="rect">
            <a:avLst/>
          </a:prstGeom>
          <a:noFill/>
        </p:spPr>
        <p:txBody>
          <a:bodyPr wrap="square" lIns="45720" rIns="45720" tIns="27432" bIns="27432" anchor="ctr">
            <a:spAutoFit/>
          </a:bodyPr>
          <a:lstStyle/>
          <a:p>
            <a:pPr algn="ctr">
              <a:lnSpc>
                <a:spcPct val="110000"/>
              </a:lnSpc>
            </a:pPr>
            <a:r>
              <a:rPr sz="1500" b="1" i="0">
                <a:solidFill>
                  <a:srgbClr val="FFFFFF"/>
                </a:solidFill>
                <a:latin typeface="Arial"/>
              </a:rPr>
              <a:t>04</a:t>
            </a:r>
          </a:p>
        </p:txBody>
      </p:sp>
      <p:sp>
        <p:nvSpPr>
          <p:cNvPr id="34" name="TextBox 33"/>
          <p:cNvSpPr txBox="1"/>
          <p:nvPr/>
        </p:nvSpPr>
        <p:spPr>
          <a:xfrm>
            <a:off x="4572000" y="3936492"/>
            <a:ext cx="2103120" cy="722376"/>
          </a:xfrm>
          <a:prstGeom prst="rect">
            <a:avLst/>
          </a:prstGeom>
          <a:noFill/>
        </p:spPr>
        <p:txBody>
          <a:bodyPr wrap="square" lIns="45720" rIns="45720" tIns="27432" bIns="27432" anchor="ctr">
            <a:spAutoFit/>
          </a:bodyPr>
          <a:lstStyle/>
          <a:p>
            <a:pPr algn="l">
              <a:lnSpc>
                <a:spcPct val="100000"/>
              </a:lnSpc>
            </a:pPr>
            <a:r>
              <a:rPr sz="1400" b="1" i="0">
                <a:solidFill>
                  <a:srgbClr val="B8732A"/>
                </a:solidFill>
                <a:latin typeface="Arial"/>
              </a:rPr>
              <a:t>Action &amp; effect monitoring</a:t>
            </a:r>
          </a:p>
        </p:txBody>
      </p:sp>
      <p:sp>
        <p:nvSpPr>
          <p:cNvPr id="35" name="TextBox 34"/>
          <p:cNvSpPr txBox="1"/>
          <p:nvPr/>
        </p:nvSpPr>
        <p:spPr>
          <a:xfrm>
            <a:off x="6675120" y="3927348"/>
            <a:ext cx="4967935" cy="740664"/>
          </a:xfrm>
          <a:prstGeom prst="rect">
            <a:avLst/>
          </a:prstGeom>
          <a:noFill/>
        </p:spPr>
        <p:txBody>
          <a:bodyPr wrap="square" lIns="45720" rIns="45720" tIns="27432" bIns="27432" anchor="ctr">
            <a:spAutoFit/>
          </a:bodyPr>
          <a:lstStyle/>
          <a:p>
            <a:pPr algn="l">
              <a:lnSpc>
                <a:spcPct val="108000"/>
              </a:lnSpc>
            </a:pPr>
            <a:r>
              <a:rPr sz="1050" b="0" i="0">
                <a:solidFill>
                  <a:srgbClr val="111111"/>
                </a:solidFill>
                <a:latin typeface="Arial"/>
              </a:rPr>
              <a:t>Judge proposed actions and observable effects, not just reasoning traces. Detect scope violations, credential discovery, privilege change, persistence, cross-run writes, covert channels, telemetry loss.</a:t>
            </a:r>
          </a:p>
        </p:txBody>
      </p:sp>
      <p:sp>
        <p:nvSpPr>
          <p:cNvPr id="36" name="Rounded Rectangle 35"/>
          <p:cNvSpPr/>
          <p:nvPr/>
        </p:nvSpPr>
        <p:spPr>
          <a:xfrm>
            <a:off x="3977640" y="4754880"/>
            <a:ext cx="7756855" cy="777240"/>
          </a:xfrm>
          <a:prstGeom prst="roundRect">
            <a:avLst>
              <a:gd name="adj" fmla="val 5000"/>
            </a:avLst>
          </a:prstGeom>
          <a:solidFill>
            <a:srgbClr val="FFFFFF"/>
          </a:solidFill>
          <a:ln w="12700">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977640" y="4754880"/>
            <a:ext cx="502920" cy="777240"/>
          </a:xfrm>
          <a:prstGeom prst="rect">
            <a:avLst/>
          </a:prstGeom>
          <a:solidFill>
            <a:srgbClr val="B348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977640" y="4754880"/>
            <a:ext cx="502920" cy="777240"/>
          </a:xfrm>
          <a:prstGeom prst="rect">
            <a:avLst/>
          </a:prstGeom>
          <a:noFill/>
        </p:spPr>
        <p:txBody>
          <a:bodyPr wrap="square" lIns="45720" rIns="45720" tIns="27432" bIns="27432" anchor="ctr">
            <a:spAutoFit/>
          </a:bodyPr>
          <a:lstStyle/>
          <a:p>
            <a:pPr algn="ctr">
              <a:lnSpc>
                <a:spcPct val="110000"/>
              </a:lnSpc>
            </a:pPr>
            <a:r>
              <a:rPr sz="1500" b="1" i="0">
                <a:solidFill>
                  <a:srgbClr val="FFFFFF"/>
                </a:solidFill>
                <a:latin typeface="Arial"/>
              </a:rPr>
              <a:t>05</a:t>
            </a:r>
          </a:p>
        </p:txBody>
      </p:sp>
      <p:sp>
        <p:nvSpPr>
          <p:cNvPr id="39" name="TextBox 38"/>
          <p:cNvSpPr txBox="1"/>
          <p:nvPr/>
        </p:nvSpPr>
        <p:spPr>
          <a:xfrm>
            <a:off x="4572000" y="4782312"/>
            <a:ext cx="2103120" cy="722376"/>
          </a:xfrm>
          <a:prstGeom prst="rect">
            <a:avLst/>
          </a:prstGeom>
          <a:noFill/>
        </p:spPr>
        <p:txBody>
          <a:bodyPr wrap="square" lIns="45720" rIns="45720" tIns="27432" bIns="27432" anchor="ctr">
            <a:spAutoFit/>
          </a:bodyPr>
          <a:lstStyle/>
          <a:p>
            <a:pPr algn="l">
              <a:lnSpc>
                <a:spcPct val="100000"/>
              </a:lnSpc>
            </a:pPr>
            <a:r>
              <a:rPr sz="1400" b="1" i="0">
                <a:solidFill>
                  <a:srgbClr val="B34831"/>
                </a:solidFill>
                <a:latin typeface="Arial"/>
              </a:rPr>
              <a:t>Response &amp; reauthorization</a:t>
            </a:r>
          </a:p>
        </p:txBody>
      </p:sp>
      <p:sp>
        <p:nvSpPr>
          <p:cNvPr id="40" name="TextBox 39"/>
          <p:cNvSpPr txBox="1"/>
          <p:nvPr/>
        </p:nvSpPr>
        <p:spPr>
          <a:xfrm>
            <a:off x="6675120" y="4773168"/>
            <a:ext cx="4967935" cy="740664"/>
          </a:xfrm>
          <a:prstGeom prst="rect">
            <a:avLst/>
          </a:prstGeom>
          <a:noFill/>
        </p:spPr>
        <p:txBody>
          <a:bodyPr wrap="square" lIns="45720" rIns="45720" tIns="27432" bIns="27432" anchor="ctr">
            <a:spAutoFit/>
          </a:bodyPr>
          <a:lstStyle/>
          <a:p>
            <a:pPr algn="l">
              <a:lnSpc>
                <a:spcPct val="108000"/>
              </a:lnSpc>
            </a:pPr>
            <a:r>
              <a:rPr sz="1050" b="0" i="0">
                <a:solidFill>
                  <a:srgbClr val="111111"/>
                </a:solidFill>
                <a:latin typeface="Arial"/>
              </a:rPr>
              <a:t>Precommitted stop conditions; on-call team can halt all related runs; revoke, isolate, preserve traces, notify, independent validation, time-bounded disclosure. Near misses count.</a:t>
            </a:r>
          </a:p>
        </p:txBody>
      </p:sp>
      <p:sp>
        <p:nvSpPr>
          <p:cNvPr id="41" name="Rounded Rectangle 40"/>
          <p:cNvSpPr/>
          <p:nvPr/>
        </p:nvSpPr>
        <p:spPr>
          <a:xfrm>
            <a:off x="457200" y="5623560"/>
            <a:ext cx="11277295" cy="50292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66928" y="5623560"/>
            <a:ext cx="11057839" cy="502920"/>
          </a:xfrm>
          <a:prstGeom prst="rect">
            <a:avLst/>
          </a:prstGeom>
          <a:noFill/>
        </p:spPr>
        <p:txBody>
          <a:bodyPr wrap="square" lIns="45720" rIns="45720" tIns="27432" bIns="27432" anchor="ctr">
            <a:spAutoFit/>
          </a:bodyPr>
          <a:lstStyle/>
          <a:p>
            <a:pPr algn="l">
              <a:lnSpc>
                <a:spcPct val="110000"/>
              </a:lnSpc>
            </a:pPr>
            <a:r>
              <a:rPr sz="1250" b="1" i="0">
                <a:solidFill>
                  <a:srgbClr val="111111"/>
                </a:solidFill>
                <a:latin typeface="Arial"/>
              </a:rPr>
              <a:t>Evidence from every layer updates future scope and controls. Natural-language instructions stay useful, but they are never the enforcement boundary.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A formal proactive risk model and leading indicators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A research specification, not a calibrated predictor: it names the variables a control plane should compute before and during a run</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10</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12 Formal proactive risk model</a:t>
            </a:r>
          </a:p>
        </p:txBody>
      </p:sp>
      <p:sp>
        <p:nvSpPr>
          <p:cNvPr id="8" name="Rounded Rectangle 7"/>
          <p:cNvSpPr/>
          <p:nvPr/>
        </p:nvSpPr>
        <p:spPr>
          <a:xfrm>
            <a:off x="457200" y="1371600"/>
            <a:ext cx="3624986" cy="342900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44752"/>
            <a:ext cx="3442106" cy="41148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Agentic boundary risk</a:t>
            </a:r>
          </a:p>
        </p:txBody>
      </p:sp>
      <p:sp>
        <p:nvSpPr>
          <p:cNvPr id="10" name="TextBox 9"/>
          <p:cNvSpPr txBox="1"/>
          <p:nvPr/>
        </p:nvSpPr>
        <p:spPr>
          <a:xfrm>
            <a:off x="548640" y="1874520"/>
            <a:ext cx="3442106" cy="2834640"/>
          </a:xfrm>
          <a:prstGeom prst="rect">
            <a:avLst/>
          </a:prstGeom>
          <a:noFill/>
        </p:spPr>
        <p:txBody>
          <a:bodyPr wrap="square" lIns="45720" rIns="45720">
            <a:spAutoFit/>
          </a:bodyPr>
          <a:lstStyle/>
          <a:p>
            <a:pPr>
              <a:lnSpc>
                <a:spcPct val="110000"/>
              </a:lnSpc>
              <a:spcAft>
                <a:spcPts val="800"/>
              </a:spcAft>
            </a:pPr>
            <a:r>
              <a:rPr sz="1250" b="0" i="0">
                <a:solidFill>
                  <a:srgbClr val="111111"/>
                </a:solidFill>
                <a:latin typeface="Arial"/>
              </a:rPr>
              <a:t>-  </a:t>
            </a:r>
            <a:r>
              <a:rPr sz="1250" b="1" i="0">
                <a:solidFill>
                  <a:srgbClr val="111111"/>
                </a:solidFill>
                <a:latin typeface="Arial"/>
              </a:rPr>
              <a:t>R_t = P(B_t | X_t) · I(B_t) · D_t</a:t>
            </a:r>
            <a:r>
              <a:rPr sz="1250" b="0" i="0">
                <a:solidFill>
                  <a:srgbClr val="111111"/>
                </a:solidFill>
                <a:latin typeface="Arial"/>
              </a:rPr>
              <a:t>  -  probability of an unauthorized crossing, times expected impact, times expected dwell time before containment</a:t>
            </a:r>
          </a:p>
          <a:p>
            <a:pPr>
              <a:lnSpc>
                <a:spcPct val="110000"/>
              </a:lnSpc>
              <a:spcAft>
                <a:spcPts val="800"/>
              </a:spcAft>
            </a:pPr>
            <a:r>
              <a:rPr sz="1250" b="0" i="0">
                <a:solidFill>
                  <a:srgbClr val="111111"/>
                </a:solidFill>
                <a:latin typeface="Arial"/>
              </a:rPr>
              <a:t>-  </a:t>
            </a:r>
            <a:r>
              <a:rPr sz="1250" b="1" i="0">
                <a:solidFill>
                  <a:srgbClr val="111111"/>
                </a:solidFill>
                <a:latin typeface="Arial"/>
              </a:rPr>
              <a:t>X_t = (G, C, E, S, M, R)</a:t>
            </a:r>
            <a:r>
              <a:rPr sz="1250" b="0" i="0">
                <a:solidFill>
                  <a:srgbClr val="111111"/>
                </a:solidFill>
                <a:latin typeface="Arial"/>
              </a:rPr>
              <a:t>: goal pressure, capability, exposure to external assets, shared state, monitoring effectiveness, response readiness</a:t>
            </a:r>
          </a:p>
          <a:p>
            <a:pPr>
              <a:lnSpc>
                <a:spcPct val="110000"/>
              </a:lnSpc>
              <a:spcAft>
                <a:spcPts val="800"/>
              </a:spcAft>
            </a:pPr>
            <a:r>
              <a:rPr sz="1250" b="0" i="0">
                <a:solidFill>
                  <a:srgbClr val="111111"/>
                </a:solidFill>
                <a:latin typeface="Arial"/>
              </a:rPr>
              <a:t>-  </a:t>
            </a:r>
            <a:r>
              <a:rPr sz="1250" b="0" i="0">
                <a:solidFill>
                  <a:srgbClr val="111111"/>
                </a:solidFill>
                <a:latin typeface="Arial"/>
              </a:rPr>
              <a:t>Logistic approximation with interaction terms </a:t>
            </a:r>
            <a:r>
              <a:rPr sz="1250" b="1" i="0">
                <a:solidFill>
                  <a:srgbClr val="111111"/>
                </a:solidFill>
                <a:latin typeface="Arial"/>
              </a:rPr>
              <a:t>G×C</a:t>
            </a:r>
            <a:r>
              <a:rPr sz="1250" b="0" i="0">
                <a:solidFill>
                  <a:srgbClr val="111111"/>
                </a:solidFill>
                <a:latin typeface="Arial"/>
              </a:rPr>
              <a:t> and </a:t>
            </a:r>
            <a:r>
              <a:rPr sz="1250" b="1" i="0">
                <a:solidFill>
                  <a:srgbClr val="111111"/>
                </a:solidFill>
                <a:latin typeface="Arial"/>
              </a:rPr>
              <a:t>C×S</a:t>
            </a:r>
            <a:r>
              <a:rPr sz="1250" b="0" i="0">
                <a:solidFill>
                  <a:srgbClr val="111111"/>
                </a:solidFill>
                <a:latin typeface="Arial"/>
              </a:rPr>
              <a:t>: goal pressure is more dangerous with broad capability; capability is more dangerous when agents can preserve and share discoveries</a:t>
            </a:r>
          </a:p>
        </p:txBody>
      </p:sp>
      <p:sp>
        <p:nvSpPr>
          <p:cNvPr id="11" name="Rounded Rectangle 10"/>
          <p:cNvSpPr/>
          <p:nvPr/>
        </p:nvSpPr>
        <p:spPr>
          <a:xfrm>
            <a:off x="4283354" y="1371600"/>
            <a:ext cx="3624986" cy="34290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74794" y="1444752"/>
            <a:ext cx="3442106" cy="411480"/>
          </a:xfrm>
          <a:prstGeom prst="rect">
            <a:avLst/>
          </a:prstGeom>
          <a:noFill/>
        </p:spPr>
        <p:txBody>
          <a:bodyPr wrap="square" lIns="45720" rIns="45720" tIns="27432" bIns="27432" anchor="t">
            <a:spAutoFit/>
          </a:bodyPr>
          <a:lstStyle/>
          <a:p>
            <a:pPr algn="l">
              <a:lnSpc>
                <a:spcPct val="100000"/>
              </a:lnSpc>
            </a:pPr>
            <a:r>
              <a:rPr sz="1500" b="1" i="0">
                <a:solidFill>
                  <a:srgbClr val="B8732A"/>
                </a:solidFill>
                <a:latin typeface="Arial"/>
              </a:rPr>
              <a:t>Leading indicators and thresholds</a:t>
            </a:r>
          </a:p>
        </p:txBody>
      </p:sp>
      <p:sp>
        <p:nvSpPr>
          <p:cNvPr id="13" name="TextBox 12"/>
          <p:cNvSpPr txBox="1"/>
          <p:nvPr/>
        </p:nvSpPr>
        <p:spPr>
          <a:xfrm>
            <a:off x="4374794" y="1874520"/>
            <a:ext cx="3442106" cy="2834640"/>
          </a:xfrm>
          <a:prstGeom prst="rect">
            <a:avLst/>
          </a:prstGeom>
          <a:noFill/>
        </p:spPr>
        <p:txBody>
          <a:bodyPr wrap="square" lIns="45720" rIns="45720">
            <a:spAutoFit/>
          </a:bodyPr>
          <a:lstStyle/>
          <a:p>
            <a:pPr>
              <a:lnSpc>
                <a:spcPct val="110000"/>
              </a:lnSpc>
              <a:spcAft>
                <a:spcPts val="800"/>
              </a:spcAft>
            </a:pPr>
            <a:r>
              <a:rPr sz="1250" b="0" i="0">
                <a:solidFill>
                  <a:srgbClr val="111111"/>
                </a:solidFill>
                <a:latin typeface="Arial"/>
              </a:rPr>
              <a:t>-  </a:t>
            </a:r>
            <a:r>
              <a:rPr sz="1250" b="1" i="0">
                <a:solidFill>
                  <a:srgbClr val="111111"/>
                </a:solidFill>
                <a:latin typeface="Arial"/>
              </a:rPr>
              <a:t>z_t = (f, p, x, c, v, o)</a:t>
            </a:r>
            <a:r>
              <a:rPr sz="1250" b="0" i="0">
                <a:solidFill>
                  <a:srgbClr val="111111"/>
                </a:solidFill>
                <a:latin typeface="Arial"/>
              </a:rPr>
              <a:t>: repeated task failure, boundary probing, unexpected external contact, cross-run communication, privilege change, observability loss</a:t>
            </a:r>
          </a:p>
          <a:p>
            <a:pPr>
              <a:lnSpc>
                <a:spcPct val="110000"/>
              </a:lnSpc>
              <a:spcAft>
                <a:spcPts val="800"/>
              </a:spcAft>
            </a:pPr>
            <a:r>
              <a:rPr sz="1250" b="0" i="0">
                <a:solidFill>
                  <a:srgbClr val="111111"/>
                </a:solidFill>
                <a:latin typeface="Arial"/>
              </a:rPr>
              <a:t>-  </a:t>
            </a:r>
            <a:r>
              <a:rPr sz="1250" b="0" i="0">
                <a:solidFill>
                  <a:srgbClr val="111111"/>
                </a:solidFill>
                <a:latin typeface="Arial"/>
              </a:rPr>
              <a:t>Sequential detector </a:t>
            </a:r>
            <a:r>
              <a:rPr sz="1250" b="1" i="0">
                <a:solidFill>
                  <a:srgbClr val="111111"/>
                </a:solidFill>
                <a:latin typeface="Arial"/>
              </a:rPr>
              <a:t>L_t = P(crossing within horizon h | z_1:t)</a:t>
            </a:r>
          </a:p>
          <a:p>
            <a:pPr>
              <a:lnSpc>
                <a:spcPct val="110000"/>
              </a:lnSpc>
              <a:spcAft>
                <a:spcPts val="800"/>
              </a:spcAft>
            </a:pPr>
            <a:r>
              <a:rPr sz="1250" b="0" i="0">
                <a:solidFill>
                  <a:srgbClr val="111111"/>
                </a:solidFill>
                <a:latin typeface="Arial"/>
              </a:rPr>
              <a:t>-  </a:t>
            </a:r>
            <a:r>
              <a:rPr sz="1250" b="1" i="0">
                <a:solidFill>
                  <a:srgbClr val="111111"/>
                </a:solidFill>
                <a:latin typeface="Arial"/>
              </a:rPr>
              <a:t>L_t ≥ τ_stop</a:t>
            </a:r>
            <a:r>
              <a:rPr sz="1250" b="0" i="0">
                <a:solidFill>
                  <a:srgbClr val="111111"/>
                </a:solidFill>
                <a:latin typeface="Arial"/>
              </a:rPr>
              <a:t>: block the action, terminate related runs.  </a:t>
            </a:r>
            <a:r>
              <a:rPr sz="1250" b="1" i="0">
                <a:solidFill>
                  <a:srgbClr val="111111"/>
                </a:solidFill>
                <a:latin typeface="Arial"/>
              </a:rPr>
              <a:t>τ_review ≤ L_t &lt; τ_stop</a:t>
            </a:r>
            <a:r>
              <a:rPr sz="1250" b="0" i="0">
                <a:solidFill>
                  <a:srgbClr val="111111"/>
                </a:solidFill>
                <a:latin typeface="Arial"/>
              </a:rPr>
              <a:t>: pause for independent review</a:t>
            </a:r>
          </a:p>
          <a:p>
            <a:pPr>
              <a:lnSpc>
                <a:spcPct val="110000"/>
              </a:lnSpc>
              <a:spcAft>
                <a:spcPts val="800"/>
              </a:spcAft>
            </a:pPr>
            <a:r>
              <a:rPr sz="1250" b="0" i="0">
                <a:solidFill>
                  <a:srgbClr val="111111"/>
                </a:solidFill>
                <a:latin typeface="Arial"/>
              </a:rPr>
              <a:t>-  </a:t>
            </a:r>
            <a:r>
              <a:rPr sz="1250" b="0" i="0">
                <a:solidFill>
                  <a:srgbClr val="111111"/>
                </a:solidFill>
                <a:latin typeface="Arial"/>
              </a:rPr>
              <a:t>Thresholds set before the evaluation and tested for false-stop cost and missed-event risk</a:t>
            </a:r>
          </a:p>
        </p:txBody>
      </p:sp>
      <p:sp>
        <p:nvSpPr>
          <p:cNvPr id="14" name="Rounded Rectangle 13"/>
          <p:cNvSpPr/>
          <p:nvPr/>
        </p:nvSpPr>
        <p:spPr>
          <a:xfrm>
            <a:off x="8109508" y="1371600"/>
            <a:ext cx="3624986" cy="34290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00948" y="1444752"/>
            <a:ext cx="3442106" cy="411480"/>
          </a:xfrm>
          <a:prstGeom prst="rect">
            <a:avLst/>
          </a:prstGeom>
          <a:noFill/>
        </p:spPr>
        <p:txBody>
          <a:bodyPr wrap="square" lIns="45720" rIns="45720" tIns="27432" bIns="27432" anchor="t">
            <a:spAutoFit/>
          </a:bodyPr>
          <a:lstStyle/>
          <a:p>
            <a:pPr algn="l">
              <a:lnSpc>
                <a:spcPct val="100000"/>
              </a:lnSpc>
            </a:pPr>
            <a:r>
              <a:rPr sz="1500" b="1" i="0">
                <a:solidFill>
                  <a:srgbClr val="6A4C93"/>
                </a:solidFill>
                <a:latin typeface="Arial"/>
              </a:rPr>
              <a:t>Per-action gate and assurance</a:t>
            </a:r>
          </a:p>
        </p:txBody>
      </p:sp>
      <p:sp>
        <p:nvSpPr>
          <p:cNvPr id="16" name="TextBox 15"/>
          <p:cNvSpPr txBox="1"/>
          <p:nvPr/>
        </p:nvSpPr>
        <p:spPr>
          <a:xfrm>
            <a:off x="8200948" y="1874520"/>
            <a:ext cx="3442106" cy="2834640"/>
          </a:xfrm>
          <a:prstGeom prst="rect">
            <a:avLst/>
          </a:prstGeom>
          <a:noFill/>
        </p:spPr>
        <p:txBody>
          <a:bodyPr wrap="square" lIns="45720" rIns="45720">
            <a:spAutoFit/>
          </a:bodyPr>
          <a:lstStyle/>
          <a:p>
            <a:pPr>
              <a:lnSpc>
                <a:spcPct val="110000"/>
              </a:lnSpc>
              <a:spcAft>
                <a:spcPts val="800"/>
              </a:spcAft>
            </a:pPr>
            <a:r>
              <a:rPr sz="1250" b="0" i="0">
                <a:solidFill>
                  <a:srgbClr val="111111"/>
                </a:solidFill>
                <a:latin typeface="Arial"/>
              </a:rPr>
              <a:t>-  </a:t>
            </a:r>
            <a:r>
              <a:rPr sz="1250" b="1" i="0">
                <a:solidFill>
                  <a:srgbClr val="111111"/>
                </a:solidFill>
                <a:latin typeface="Arial"/>
              </a:rPr>
              <a:t>Allow(a) = 1[a ∈ A_scope] · 1[resource(a) ∈ W] · 1[risk(a) &lt; τ] · 1[lease valid]</a:t>
            </a:r>
            <a:r>
              <a:rPr sz="1250" b="0" i="0">
                <a:solidFill>
                  <a:srgbClr val="111111"/>
                </a:solidFill>
                <a:latin typeface="Arial"/>
              </a:rPr>
              <a:t>  -  any zero denies; sensitive actions can also need human or automated approval</a:t>
            </a:r>
          </a:p>
          <a:p>
            <a:pPr>
              <a:lnSpc>
                <a:spcPct val="110000"/>
              </a:lnSpc>
              <a:spcAft>
                <a:spcPts val="800"/>
              </a:spcAft>
            </a:pPr>
            <a:r>
              <a:rPr sz="1250" b="0" i="0">
                <a:solidFill>
                  <a:srgbClr val="111111"/>
                </a:solidFill>
                <a:latin typeface="Arial"/>
              </a:rPr>
              <a:t>-  </a:t>
            </a:r>
            <a:r>
              <a:rPr sz="1250" b="0" i="0">
                <a:solidFill>
                  <a:srgbClr val="111111"/>
                </a:solidFill>
                <a:latin typeface="Arial"/>
              </a:rPr>
              <a:t>Boundary-assurance vector </a:t>
            </a:r>
            <a:r>
              <a:rPr sz="1250" b="1" i="0">
                <a:solidFill>
                  <a:srgbClr val="111111"/>
                </a:solidFill>
                <a:latin typeface="Arial"/>
              </a:rPr>
              <a:t>b = (scope, identity, network, storage, monitor, response)</a:t>
            </a:r>
            <a:r>
              <a:rPr sz="1250" b="0" i="0">
                <a:solidFill>
                  <a:srgbClr val="111111"/>
                </a:solidFill>
                <a:latin typeface="Arial"/>
              </a:rPr>
              <a:t>, each in [0, 1]</a:t>
            </a:r>
          </a:p>
          <a:p>
            <a:pPr>
              <a:lnSpc>
                <a:spcPct val="110000"/>
              </a:lnSpc>
              <a:spcAft>
                <a:spcPts val="800"/>
              </a:spcAft>
            </a:pPr>
            <a:r>
              <a:rPr sz="1250" b="0" i="0">
                <a:solidFill>
                  <a:srgbClr val="111111"/>
                </a:solidFill>
                <a:latin typeface="Arial"/>
              </a:rPr>
              <a:t>-  </a:t>
            </a:r>
            <a:r>
              <a:rPr sz="1250" b="0" i="0">
                <a:solidFill>
                  <a:srgbClr val="111111"/>
                </a:solidFill>
                <a:latin typeface="Arial"/>
              </a:rPr>
              <a:t>Overall </a:t>
            </a:r>
            <a:r>
              <a:rPr sz="1250" b="1" i="0">
                <a:solidFill>
                  <a:srgbClr val="111111"/>
                </a:solidFill>
                <a:latin typeface="Arial"/>
              </a:rPr>
              <a:t>A_t = min_i b_i</a:t>
            </a:r>
            <a:r>
              <a:rPr sz="1250" b="0" i="0">
                <a:solidFill>
                  <a:srgbClr val="111111"/>
                </a:solidFill>
                <a:latin typeface="Arial"/>
              </a:rPr>
              <a:t> (weakest layer dominates) or </a:t>
            </a:r>
            <a:r>
              <a:rPr sz="1250" b="1" i="0">
                <a:solidFill>
                  <a:srgbClr val="111111"/>
                </a:solidFill>
                <a:latin typeface="Arial"/>
              </a:rPr>
              <a:t>A_t = Π b_i</a:t>
            </a:r>
            <a:r>
              <a:rPr sz="1250" b="0" i="0">
                <a:solidFill>
                  <a:srgbClr val="111111"/>
                </a:solidFill>
                <a:latin typeface="Arial"/>
              </a:rPr>
              <a:t> if failures are independent</a:t>
            </a:r>
          </a:p>
          <a:p>
            <a:pPr>
              <a:lnSpc>
                <a:spcPct val="110000"/>
              </a:lnSpc>
              <a:spcAft>
                <a:spcPts val="800"/>
              </a:spcAft>
            </a:pPr>
            <a:r>
              <a:rPr sz="1250" b="0" i="0">
                <a:solidFill>
                  <a:srgbClr val="111111"/>
                </a:solidFill>
                <a:latin typeface="Arial"/>
              </a:rPr>
              <a:t>-  </a:t>
            </a:r>
            <a:r>
              <a:rPr sz="1250" b="0" i="0">
                <a:solidFill>
                  <a:srgbClr val="111111"/>
                </a:solidFill>
                <a:latin typeface="Arial"/>
              </a:rPr>
              <a:t>Correlated failures must be measured: defense in depth is nominal when several controls share one service or credential</a:t>
            </a:r>
          </a:p>
        </p:txBody>
      </p:sp>
      <p:sp>
        <p:nvSpPr>
          <p:cNvPr id="17" name="Rounded Rectangle 16"/>
          <p:cNvSpPr/>
          <p:nvPr/>
        </p:nvSpPr>
        <p:spPr>
          <a:xfrm>
            <a:off x="457200" y="4983480"/>
            <a:ext cx="11277295" cy="685800"/>
          </a:xfrm>
          <a:prstGeom prst="roundRect">
            <a:avLst>
              <a:gd name="adj" fmla="val 5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4983480"/>
            <a:ext cx="11057839" cy="685800"/>
          </a:xfrm>
          <a:prstGeom prst="rect">
            <a:avLst/>
          </a:prstGeom>
          <a:noFill/>
        </p:spPr>
        <p:txBody>
          <a:bodyPr wrap="square" lIns="45720" rIns="45720" tIns="27432" bIns="27432" anchor="ctr">
            <a:spAutoFit/>
          </a:bodyPr>
          <a:lstStyle/>
          <a:p>
            <a:pPr algn="l">
              <a:lnSpc>
                <a:spcPct val="110000"/>
              </a:lnSpc>
            </a:pPr>
            <a:r>
              <a:rPr sz="1300" b="1" i="0">
                <a:solidFill>
                  <a:srgbClr val="111111"/>
                </a:solidFill>
                <a:latin typeface="Arial"/>
              </a:rPr>
              <a:t>Operational reading: estimate R before the run, update it after every consequential state transition, and let the thresholds, not a reviewer's discretion, decide when a run pauses.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Turning the framework into a testable program</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Seven falsifiable hypotheses and a two-pathway testbed; the paper states what evidence would reject BAS</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11</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13 Research questions and hypotheses; 14 Experimental program</a:t>
            </a:r>
          </a:p>
        </p:txBody>
      </p:sp>
      <p:sp>
        <p:nvSpPr>
          <p:cNvPr id="8" name="Rounded Rectangle 7"/>
          <p:cNvSpPr/>
          <p:nvPr/>
        </p:nvSpPr>
        <p:spPr>
          <a:xfrm>
            <a:off x="457200" y="1371600"/>
            <a:ext cx="4572000" cy="3383280"/>
          </a:xfrm>
          <a:prstGeom prst="roundRect">
            <a:avLst>
              <a:gd name="adj" fmla="val 5000"/>
            </a:avLst>
          </a:prstGeom>
          <a:solidFill>
            <a:srgbClr val="EDF4FB"/>
          </a:solidFill>
          <a:ln w="9525">
            <a:solidFill>
              <a:srgbClr val="BDD8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444752"/>
            <a:ext cx="4389120" cy="685800"/>
          </a:xfrm>
          <a:prstGeom prst="rect">
            <a:avLst/>
          </a:prstGeom>
          <a:noFill/>
        </p:spPr>
        <p:txBody>
          <a:bodyPr wrap="square" lIns="45720" rIns="45720" tIns="27432" bIns="27432" anchor="t">
            <a:spAutoFit/>
          </a:bodyPr>
          <a:lstStyle/>
          <a:p>
            <a:pPr algn="l">
              <a:lnSpc>
                <a:spcPct val="100000"/>
              </a:lnSpc>
            </a:pPr>
            <a:r>
              <a:rPr sz="1500" b="1" i="0">
                <a:solidFill>
                  <a:srgbClr val="365E9E"/>
                </a:solidFill>
                <a:latin typeface="Arial"/>
              </a:rPr>
              <a:t>Testbed: reproduce failure classes, not the exploits</a:t>
            </a:r>
          </a:p>
        </p:txBody>
      </p:sp>
      <p:sp>
        <p:nvSpPr>
          <p:cNvPr id="10" name="TextBox 9"/>
          <p:cNvSpPr txBox="1"/>
          <p:nvPr/>
        </p:nvSpPr>
        <p:spPr>
          <a:xfrm>
            <a:off x="548640" y="2148840"/>
            <a:ext cx="4389120" cy="2514600"/>
          </a:xfrm>
          <a:prstGeom prst="rect">
            <a:avLst/>
          </a:prstGeom>
          <a:noFill/>
        </p:spPr>
        <p:txBody>
          <a:bodyPr wrap="square" lIns="45720" rIns="45720">
            <a:spAutoFit/>
          </a:bodyPr>
          <a:lstStyle/>
          <a:p>
            <a:pPr>
              <a:lnSpc>
                <a:spcPct val="110000"/>
              </a:lnSpc>
              <a:spcAft>
                <a:spcPts val="500"/>
              </a:spcAft>
            </a:pPr>
            <a:r>
              <a:rPr sz="1150" b="0" i="0">
                <a:solidFill>
                  <a:srgbClr val="111111"/>
                </a:solidFill>
                <a:latin typeface="Arial"/>
              </a:rPr>
              <a:t>-  </a:t>
            </a:r>
            <a:r>
              <a:rPr sz="1150" b="0" i="0">
                <a:solidFill>
                  <a:srgbClr val="111111"/>
                </a:solidFill>
                <a:latin typeface="Arial"/>
              </a:rPr>
              <a:t>Simulated enterprise services, synthetic identities, seeded vulnerabilities, package mirrors, decoy domains, separate control plane. No route to any uncontrolled public system</a:t>
            </a:r>
          </a:p>
          <a:p>
            <a:pPr>
              <a:lnSpc>
                <a:spcPct val="110000"/>
              </a:lnSpc>
              <a:spcAft>
                <a:spcPts val="500"/>
              </a:spcAft>
            </a:pPr>
            <a:r>
              <a:rPr sz="1150" b="0" i="0">
                <a:solidFill>
                  <a:srgbClr val="111111"/>
                </a:solidFill>
                <a:latin typeface="Arial"/>
              </a:rPr>
              <a:t>-  </a:t>
            </a:r>
            <a:r>
              <a:rPr sz="1150" b="1" i="0">
                <a:solidFill>
                  <a:srgbClr val="111111"/>
                </a:solidFill>
                <a:latin typeface="Arial"/>
              </a:rPr>
              <a:t>Adaptive-escape pathway</a:t>
            </a:r>
            <a:r>
              <a:rPr sz="1150" b="0" i="0">
                <a:solidFill>
                  <a:srgbClr val="111111"/>
                </a:solidFill>
                <a:latin typeface="Arial"/>
              </a:rPr>
              <a:t>: network genuinely sealed but seeded with composable weaknesses</a:t>
            </a:r>
          </a:p>
          <a:p>
            <a:pPr>
              <a:lnSpc>
                <a:spcPct val="110000"/>
              </a:lnSpc>
              <a:spcAft>
                <a:spcPts val="500"/>
              </a:spcAft>
            </a:pPr>
            <a:r>
              <a:rPr sz="1150" b="0" i="0">
                <a:solidFill>
                  <a:srgbClr val="111111"/>
                </a:solidFill>
                <a:latin typeface="Arial"/>
              </a:rPr>
              <a:t>-  </a:t>
            </a:r>
            <a:r>
              <a:rPr sz="1150" b="1" i="0">
                <a:solidFill>
                  <a:srgbClr val="111111"/>
                </a:solidFill>
                <a:latin typeface="Arial"/>
              </a:rPr>
              <a:t>Misconfiguration-exposure pathway</a:t>
            </a:r>
            <a:r>
              <a:rPr sz="1150" b="0" i="0">
                <a:solidFill>
                  <a:srgbClr val="111111"/>
                </a:solidFill>
                <a:latin typeface="Arial"/>
              </a:rPr>
              <a:t>: task claims offline while a decoy network is reachable; desired behaviour is detect, stop, escalate</a:t>
            </a:r>
          </a:p>
          <a:p>
            <a:pPr>
              <a:lnSpc>
                <a:spcPct val="110000"/>
              </a:lnSpc>
              <a:spcAft>
                <a:spcPts val="500"/>
              </a:spcAft>
            </a:pPr>
            <a:r>
              <a:rPr sz="1150" b="0" i="0">
                <a:solidFill>
                  <a:srgbClr val="111111"/>
                </a:solidFill>
                <a:latin typeface="Arial"/>
              </a:rPr>
              <a:t>-  </a:t>
            </a:r>
            <a:r>
              <a:rPr sz="1150" b="0" i="0">
                <a:solidFill>
                  <a:srgbClr val="111111"/>
                </a:solidFill>
                <a:latin typeface="Arial"/>
              </a:rPr>
              <a:t>Factorial over solvability, budget, capability breadth, shared-state availability, declared-vs-measured consistency; several model families and harnesses; preregistered outcomes</a:t>
            </a:r>
          </a:p>
        </p:txBody>
      </p:sp>
      <p:sp>
        <p:nvSpPr>
          <p:cNvPr id="11" name="TextBox 10"/>
          <p:cNvSpPr txBox="1"/>
          <p:nvPr/>
        </p:nvSpPr>
        <p:spPr>
          <a:xfrm>
            <a:off x="5257800" y="1371600"/>
            <a:ext cx="6476695" cy="320040"/>
          </a:xfrm>
          <a:prstGeom prst="rect">
            <a:avLst/>
          </a:prstGeom>
          <a:noFill/>
        </p:spPr>
        <p:txBody>
          <a:bodyPr wrap="square" lIns="45720" rIns="45720" tIns="27432" bIns="27432" anchor="t">
            <a:spAutoFit/>
          </a:bodyPr>
          <a:lstStyle/>
          <a:p>
            <a:pPr algn="l">
              <a:lnSpc>
                <a:spcPct val="110000"/>
              </a:lnSpc>
            </a:pPr>
            <a:r>
              <a:rPr sz="1500" b="1" i="0">
                <a:solidFill>
                  <a:srgbClr val="365E9E"/>
                </a:solidFill>
                <a:latin typeface="Arial"/>
              </a:rPr>
              <a:t>Seven hypotheses</a:t>
            </a:r>
          </a:p>
        </p:txBody>
      </p:sp>
      <p:sp>
        <p:nvSpPr>
          <p:cNvPr id="12" name="TextBox 11"/>
          <p:cNvSpPr txBox="1"/>
          <p:nvPr/>
        </p:nvSpPr>
        <p:spPr>
          <a:xfrm>
            <a:off x="5257800" y="1737360"/>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H1</a:t>
            </a:r>
          </a:p>
        </p:txBody>
      </p:sp>
      <p:sp>
        <p:nvSpPr>
          <p:cNvPr id="13" name="TextBox 12"/>
          <p:cNvSpPr txBox="1"/>
          <p:nvPr/>
        </p:nvSpPr>
        <p:spPr>
          <a:xfrm>
            <a:off x="5715000" y="1737360"/>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Executable scope enforcement beats natural-language scope alone on unauthorized external actions, at equal task completion</a:t>
            </a:r>
          </a:p>
        </p:txBody>
      </p:sp>
      <p:sp>
        <p:nvSpPr>
          <p:cNvPr id="14" name="TextBox 13"/>
          <p:cNvSpPr txBox="1"/>
          <p:nvPr/>
        </p:nvSpPr>
        <p:spPr>
          <a:xfrm>
            <a:off x="5257800" y="2139696"/>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H2</a:t>
            </a:r>
          </a:p>
        </p:txBody>
      </p:sp>
      <p:sp>
        <p:nvSpPr>
          <p:cNvPr id="15" name="TextBox 14"/>
          <p:cNvSpPr txBox="1"/>
          <p:nvPr/>
        </p:nvSpPr>
        <p:spPr>
          <a:xfrm>
            <a:off x="5715000" y="2139696"/>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A safe-exit policy on repeated failure cuts probing on unsolved tasks without hurting solvable ones</a:t>
            </a:r>
          </a:p>
        </p:txBody>
      </p:sp>
      <p:sp>
        <p:nvSpPr>
          <p:cNvPr id="16" name="TextBox 15"/>
          <p:cNvSpPr txBox="1"/>
          <p:nvPr/>
        </p:nvSpPr>
        <p:spPr>
          <a:xfrm>
            <a:off x="5257800" y="2542032"/>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H3</a:t>
            </a:r>
          </a:p>
        </p:txBody>
      </p:sp>
      <p:sp>
        <p:nvSpPr>
          <p:cNvPr id="17" name="TextBox 16"/>
          <p:cNvSpPr txBox="1"/>
          <p:nvPr/>
        </p:nvSpPr>
        <p:spPr>
          <a:xfrm>
            <a:off x="5715000" y="2542032"/>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Per-run credentials and isolated writable state reduce cross-run technique transfer and coordinated targeting</a:t>
            </a:r>
          </a:p>
        </p:txBody>
      </p:sp>
      <p:sp>
        <p:nvSpPr>
          <p:cNvPr id="18" name="TextBox 17"/>
          <p:cNvSpPr txBox="1"/>
          <p:nvPr/>
        </p:nvSpPr>
        <p:spPr>
          <a:xfrm>
            <a:off x="5257800" y="2944368"/>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H4</a:t>
            </a:r>
          </a:p>
        </p:txBody>
      </p:sp>
      <p:sp>
        <p:nvSpPr>
          <p:cNvPr id="19" name="TextBox 18"/>
          <p:cNvSpPr txBox="1"/>
          <p:nvPr/>
        </p:nvSpPr>
        <p:spPr>
          <a:xfrm>
            <a:off x="5715000" y="2944368"/>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Egress enforced outside the workload plane withstands more adaptive attack trials than an in-environment proxy</a:t>
            </a:r>
          </a:p>
        </p:txBody>
      </p:sp>
      <p:sp>
        <p:nvSpPr>
          <p:cNvPr id="20" name="TextBox 19"/>
          <p:cNvSpPr txBox="1"/>
          <p:nvPr/>
        </p:nvSpPr>
        <p:spPr>
          <a:xfrm>
            <a:off x="5257800" y="3346704"/>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H5</a:t>
            </a:r>
          </a:p>
        </p:txBody>
      </p:sp>
      <p:sp>
        <p:nvSpPr>
          <p:cNvPr id="21" name="TextBox 20"/>
          <p:cNvSpPr txBox="1"/>
          <p:nvPr/>
        </p:nvSpPr>
        <p:spPr>
          <a:xfrm>
            <a:off x="5715000" y="3346704"/>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A monitor fusing action, network, identity and cross-run signals detects coordination earlier than CoT or infra alerts alone</a:t>
            </a:r>
          </a:p>
        </p:txBody>
      </p:sp>
      <p:sp>
        <p:nvSpPr>
          <p:cNvPr id="22" name="TextBox 21"/>
          <p:cNvSpPr txBox="1"/>
          <p:nvPr/>
        </p:nvSpPr>
        <p:spPr>
          <a:xfrm>
            <a:off x="5257800" y="3749040"/>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H6</a:t>
            </a:r>
          </a:p>
        </p:txBody>
      </p:sp>
      <p:sp>
        <p:nvSpPr>
          <p:cNvPr id="23" name="TextBox 22"/>
          <p:cNvSpPr txBox="1"/>
          <p:nvPr/>
        </p:nvSpPr>
        <p:spPr>
          <a:xfrm>
            <a:off x="5715000" y="3749040"/>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Precommitted stop thresholds and central incident command shorten detection-to-containment time</a:t>
            </a:r>
          </a:p>
        </p:txBody>
      </p:sp>
      <p:sp>
        <p:nvSpPr>
          <p:cNvPr id="24" name="TextBox 23"/>
          <p:cNvSpPr txBox="1"/>
          <p:nvPr/>
        </p:nvSpPr>
        <p:spPr>
          <a:xfrm>
            <a:off x="5257800" y="4151376"/>
            <a:ext cx="457200" cy="402336"/>
          </a:xfrm>
          <a:prstGeom prst="rect">
            <a:avLst/>
          </a:prstGeom>
          <a:noFill/>
        </p:spPr>
        <p:txBody>
          <a:bodyPr wrap="square" lIns="45720" rIns="45720" tIns="27432" bIns="27432" anchor="ctr">
            <a:spAutoFit/>
          </a:bodyPr>
          <a:lstStyle/>
          <a:p>
            <a:pPr algn="l">
              <a:lnSpc>
                <a:spcPct val="110000"/>
              </a:lnSpc>
            </a:pPr>
            <a:r>
              <a:rPr sz="1250" b="1" i="0">
                <a:solidFill>
                  <a:srgbClr val="365E9E"/>
                </a:solidFill>
                <a:latin typeface="Arial"/>
              </a:rPr>
              <a:t>H7</a:t>
            </a:r>
          </a:p>
        </p:txBody>
      </p:sp>
      <p:sp>
        <p:nvSpPr>
          <p:cNvPr id="25" name="TextBox 24"/>
          <p:cNvSpPr txBox="1"/>
          <p:nvPr/>
        </p:nvSpPr>
        <p:spPr>
          <a:xfrm>
            <a:off x="5715000" y="4151376"/>
            <a:ext cx="6019495" cy="402336"/>
          </a:xfrm>
          <a:prstGeom prst="rect">
            <a:avLst/>
          </a:prstGeom>
          <a:noFill/>
        </p:spPr>
        <p:txBody>
          <a:bodyPr wrap="square" lIns="45720" rIns="45720" tIns="27432" bIns="27432" anchor="ctr">
            <a:spAutoFit/>
          </a:bodyPr>
          <a:lstStyle/>
          <a:p>
            <a:pPr algn="l">
              <a:lnSpc>
                <a:spcPct val="100000"/>
              </a:lnSpc>
            </a:pPr>
            <a:r>
              <a:rPr sz="1150" b="0" i="0">
                <a:solidFill>
                  <a:srgbClr val="111111"/>
                </a:solidFill>
                <a:latin typeface="Arial"/>
              </a:rPr>
              <a:t>Full PASAC reduces external-impact events more than any single control, controlling for capability and difficulty</a:t>
            </a:r>
          </a:p>
        </p:txBody>
      </p:sp>
      <p:sp>
        <p:nvSpPr>
          <p:cNvPr id="26" name="TextBox 25"/>
          <p:cNvSpPr txBox="1"/>
          <p:nvPr/>
        </p:nvSpPr>
        <p:spPr>
          <a:xfrm>
            <a:off x="457200" y="4800600"/>
            <a:ext cx="4572000" cy="548640"/>
          </a:xfrm>
          <a:prstGeom prst="rect">
            <a:avLst/>
          </a:prstGeom>
          <a:noFill/>
        </p:spPr>
        <p:txBody>
          <a:bodyPr wrap="square" lIns="45720" rIns="45720" tIns="27432" bIns="27432" anchor="t">
            <a:spAutoFit/>
          </a:bodyPr>
          <a:lstStyle/>
          <a:p>
            <a:pPr algn="l">
              <a:lnSpc>
                <a:spcPct val="108000"/>
              </a:lnSpc>
            </a:pPr>
            <a:r>
              <a:rPr sz="1150" b="1" i="0">
                <a:solidFill>
                  <a:srgbClr val="111111"/>
                </a:solidFill>
                <a:latin typeface="Arial"/>
              </a:rPr>
              <a:t>Primary outcomes:</a:t>
            </a:r>
            <a:r>
              <a:rPr sz="1150" b="0" i="0">
                <a:solidFill>
                  <a:srgbClr val="111111"/>
                </a:solidFill>
                <a:latin typeface="Arial"/>
              </a:rPr>
              <a:t> unauthorized-action rate, boundary-crossing rate, correct stop-and-escalate rate under contradiction, time to first violation, detection and containment latency, task success.</a:t>
            </a:r>
          </a:p>
        </p:txBody>
      </p:sp>
      <p:sp>
        <p:nvSpPr>
          <p:cNvPr id="27" name="Rounded Rectangle 26"/>
          <p:cNvSpPr/>
          <p:nvPr/>
        </p:nvSpPr>
        <p:spPr>
          <a:xfrm>
            <a:off x="457200" y="5349240"/>
            <a:ext cx="11277295" cy="777240"/>
          </a:xfrm>
          <a:prstGeom prst="roundRect">
            <a:avLst>
              <a:gd name="adj" fmla="val 5000"/>
            </a:avLst>
          </a:prstGeom>
          <a:solidFill>
            <a:srgbClr val="FB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6928" y="5349240"/>
            <a:ext cx="11057839" cy="777240"/>
          </a:xfrm>
          <a:prstGeom prst="rect">
            <a:avLst/>
          </a:prstGeom>
          <a:noFill/>
        </p:spPr>
        <p:txBody>
          <a:bodyPr wrap="square" lIns="45720" rIns="45720" tIns="27432" bIns="27432" anchor="ctr">
            <a:spAutoFit/>
          </a:bodyPr>
          <a:lstStyle/>
          <a:p>
            <a:pPr algn="l">
              <a:lnSpc>
                <a:spcPct val="110000"/>
              </a:lnSpc>
            </a:pPr>
            <a:r>
              <a:rPr sz="1250" b="1" i="0">
                <a:solidFill>
                  <a:srgbClr val="111111"/>
                </a:solidFill>
                <a:latin typeface="Arial"/>
              </a:rPr>
              <a:t>What would count against BAS: matched conventional controls doing as well at lower cost; scope manifests routinely bypassed; safe-exit suppressing valid capability measurement; multi-signal monitors producing unmanageable false alarms.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Oversight that counts: three ways a human in the loop fails</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Putting a person on a form is not oversight; the reviewer needs time, information and authority to change the outcome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12</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15 Governance and organizational implications</a:t>
            </a:r>
          </a:p>
        </p:txBody>
      </p:sp>
      <p:sp>
        <p:nvSpPr>
          <p:cNvPr id="8" name="Rounded Rectangle 7"/>
          <p:cNvSpPr/>
          <p:nvPr/>
        </p:nvSpPr>
        <p:spPr>
          <a:xfrm>
            <a:off x="457200" y="1371600"/>
            <a:ext cx="3624986" cy="3200400"/>
          </a:xfrm>
          <a:prstGeom prst="roundRect">
            <a:avLst>
              <a:gd name="adj" fmla="val 5000"/>
            </a:avLst>
          </a:prstGeom>
          <a:solidFill>
            <a:srgbClr val="FBEFEC"/>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463040"/>
            <a:ext cx="3405530" cy="365760"/>
          </a:xfrm>
          <a:prstGeom prst="rect">
            <a:avLst/>
          </a:prstGeom>
          <a:noFill/>
        </p:spPr>
        <p:txBody>
          <a:bodyPr wrap="square" lIns="45720" rIns="45720" tIns="27432" bIns="27432" anchor="t">
            <a:spAutoFit/>
          </a:bodyPr>
          <a:lstStyle/>
          <a:p>
            <a:pPr algn="l">
              <a:lnSpc>
                <a:spcPct val="110000"/>
              </a:lnSpc>
            </a:pPr>
            <a:r>
              <a:rPr sz="1600" b="1" i="0">
                <a:solidFill>
                  <a:srgbClr val="B34831"/>
                </a:solidFill>
                <a:latin typeface="Arial"/>
              </a:rPr>
              <a:t>Intervention latency</a:t>
            </a:r>
          </a:p>
        </p:txBody>
      </p:sp>
      <p:sp>
        <p:nvSpPr>
          <p:cNvPr id="10" name="TextBox 9"/>
          <p:cNvSpPr txBox="1"/>
          <p:nvPr/>
        </p:nvSpPr>
        <p:spPr>
          <a:xfrm>
            <a:off x="566928" y="1920240"/>
            <a:ext cx="3405530" cy="1737360"/>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The agent reaches an external target before alert, reviewer decision and stop can take effect. For consequential actions the enforcement point must pause </a:t>
            </a:r>
            <a:r>
              <a:rPr sz="1250" b="1" i="0">
                <a:solidFill>
                  <a:srgbClr val="111111"/>
                </a:solidFill>
                <a:latin typeface="Arial"/>
              </a:rPr>
              <a:t>before</a:t>
            </a:r>
            <a:r>
              <a:rPr sz="1250" b="0" i="0">
                <a:solidFill>
                  <a:srgbClr val="111111"/>
                </a:solidFill>
                <a:latin typeface="Arial"/>
              </a:rPr>
              <a:t> the crossing; late monitoring cannot be made preventive.</a:t>
            </a:r>
          </a:p>
        </p:txBody>
      </p:sp>
      <p:sp>
        <p:nvSpPr>
          <p:cNvPr id="11" name="Rounded Rectangle 10"/>
          <p:cNvSpPr/>
          <p:nvPr/>
        </p:nvSpPr>
        <p:spPr>
          <a:xfrm>
            <a:off x="566928" y="3703320"/>
            <a:ext cx="3405530" cy="749808"/>
          </a:xfrm>
          <a:prstGeom prst="roundRect">
            <a:avLst>
              <a:gd name="adj" fmla="val 5000"/>
            </a:avLst>
          </a:prstGeom>
          <a:solidFill>
            <a:srgbClr val="FFFFFF"/>
          </a:solidFill>
          <a:ln w="9525">
            <a:solidFill>
              <a:srgbClr val="B3483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703320"/>
            <a:ext cx="3259226" cy="749808"/>
          </a:xfrm>
          <a:prstGeom prst="rect">
            <a:avLst/>
          </a:prstGeom>
          <a:noFill/>
        </p:spPr>
        <p:txBody>
          <a:bodyPr wrap="square" lIns="45720" rIns="45720" tIns="27432" bIns="27432" anchor="ctr">
            <a:spAutoFit/>
          </a:bodyPr>
          <a:lstStyle/>
          <a:p>
            <a:pPr algn="l">
              <a:lnSpc>
                <a:spcPct val="105000"/>
              </a:lnSpc>
            </a:pPr>
            <a:r>
              <a:rPr sz="1150" b="0" i="0">
                <a:solidFill>
                  <a:srgbClr val="111111"/>
                </a:solidFill>
                <a:latin typeface="Arial"/>
              </a:rPr>
              <a:t>Test: shortest observed time-to-harm vs. alert + stop latency under realistic concurrent load.</a:t>
            </a:r>
          </a:p>
        </p:txBody>
      </p:sp>
      <p:sp>
        <p:nvSpPr>
          <p:cNvPr id="13" name="Rounded Rectangle 12"/>
          <p:cNvSpPr/>
          <p:nvPr/>
        </p:nvSpPr>
        <p:spPr>
          <a:xfrm>
            <a:off x="4283354" y="1371600"/>
            <a:ext cx="3624986" cy="3200400"/>
          </a:xfrm>
          <a:prstGeom prst="roundRect">
            <a:avLst>
              <a:gd name="adj" fmla="val 5000"/>
            </a:avLst>
          </a:prstGeom>
          <a:solidFill>
            <a:srgbClr val="FDF3E7"/>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93082" y="1463040"/>
            <a:ext cx="3405530" cy="365760"/>
          </a:xfrm>
          <a:prstGeom prst="rect">
            <a:avLst/>
          </a:prstGeom>
          <a:noFill/>
        </p:spPr>
        <p:txBody>
          <a:bodyPr wrap="square" lIns="45720" rIns="45720" tIns="27432" bIns="27432" anchor="t">
            <a:spAutoFit/>
          </a:bodyPr>
          <a:lstStyle/>
          <a:p>
            <a:pPr algn="l">
              <a:lnSpc>
                <a:spcPct val="110000"/>
              </a:lnSpc>
            </a:pPr>
            <a:r>
              <a:rPr sz="1600" b="1" i="0">
                <a:solidFill>
                  <a:srgbClr val="B8732A"/>
                </a:solidFill>
                <a:latin typeface="Arial"/>
              </a:rPr>
              <a:t>Nominal approval</a:t>
            </a:r>
          </a:p>
        </p:txBody>
      </p:sp>
      <p:sp>
        <p:nvSpPr>
          <p:cNvPr id="15" name="TextBox 14"/>
          <p:cNvSpPr txBox="1"/>
          <p:nvPr/>
        </p:nvSpPr>
        <p:spPr>
          <a:xfrm>
            <a:off x="4393082" y="1920240"/>
            <a:ext cx="3405530" cy="1737360"/>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The agent recommends; the person routinely confirms without examining scope, evidence, alternatives or downstream effects. A high approval rate proves nothing.</a:t>
            </a:r>
          </a:p>
        </p:txBody>
      </p:sp>
      <p:sp>
        <p:nvSpPr>
          <p:cNvPr id="16" name="Rounded Rectangle 15"/>
          <p:cNvSpPr/>
          <p:nvPr/>
        </p:nvSpPr>
        <p:spPr>
          <a:xfrm>
            <a:off x="4393082" y="3703320"/>
            <a:ext cx="3405530" cy="749808"/>
          </a:xfrm>
          <a:prstGeom prst="roundRect">
            <a:avLst>
              <a:gd name="adj" fmla="val 5000"/>
            </a:avLst>
          </a:prstGeom>
          <a:solidFill>
            <a:srgbClr val="FFFFFF"/>
          </a:solidFill>
          <a:ln w="9525">
            <a:solidFill>
              <a:srgbClr val="B873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66234" y="3703320"/>
            <a:ext cx="3259226" cy="749808"/>
          </a:xfrm>
          <a:prstGeom prst="rect">
            <a:avLst/>
          </a:prstGeom>
          <a:noFill/>
        </p:spPr>
        <p:txBody>
          <a:bodyPr wrap="square" lIns="45720" rIns="45720" tIns="27432" bIns="27432" anchor="ctr">
            <a:spAutoFit/>
          </a:bodyPr>
          <a:lstStyle/>
          <a:p>
            <a:pPr algn="l">
              <a:lnSpc>
                <a:spcPct val="105000"/>
              </a:lnSpc>
            </a:pPr>
            <a:r>
              <a:rPr sz="1150" b="0" i="0">
                <a:solidFill>
                  <a:srgbClr val="111111"/>
                </a:solidFill>
                <a:latin typeface="Arial"/>
              </a:rPr>
              <a:t>Test: seed prohibited or ambiguous proposals; measure correct rejection, decision time, reviewer workload.</a:t>
            </a:r>
          </a:p>
        </p:txBody>
      </p:sp>
      <p:sp>
        <p:nvSpPr>
          <p:cNvPr id="18" name="Rounded Rectangle 17"/>
          <p:cNvSpPr/>
          <p:nvPr/>
        </p:nvSpPr>
        <p:spPr>
          <a:xfrm>
            <a:off x="8109508" y="1371600"/>
            <a:ext cx="3624986" cy="3200400"/>
          </a:xfrm>
          <a:prstGeom prst="roundRect">
            <a:avLst>
              <a:gd name="adj" fmla="val 5000"/>
            </a:avLst>
          </a:prstGeom>
          <a:solidFill>
            <a:srgbClr val="F1ECF8"/>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19236" y="1463040"/>
            <a:ext cx="3405530" cy="365760"/>
          </a:xfrm>
          <a:prstGeom prst="rect">
            <a:avLst/>
          </a:prstGeom>
          <a:noFill/>
        </p:spPr>
        <p:txBody>
          <a:bodyPr wrap="square" lIns="45720" rIns="45720" tIns="27432" bIns="27432" anchor="t">
            <a:spAutoFit/>
          </a:bodyPr>
          <a:lstStyle/>
          <a:p>
            <a:pPr algn="l">
              <a:lnSpc>
                <a:spcPct val="110000"/>
              </a:lnSpc>
            </a:pPr>
            <a:r>
              <a:rPr sz="1600" b="1" i="0">
                <a:solidFill>
                  <a:srgbClr val="6A4C93"/>
                </a:solidFill>
                <a:latin typeface="Arial"/>
              </a:rPr>
              <a:t>Responsibility gap</a:t>
            </a:r>
          </a:p>
        </p:txBody>
      </p:sp>
      <p:sp>
        <p:nvSpPr>
          <p:cNvPr id="20" name="TextBox 19"/>
          <p:cNvSpPr txBox="1"/>
          <p:nvPr/>
        </p:nvSpPr>
        <p:spPr>
          <a:xfrm>
            <a:off x="8219236" y="1920240"/>
            <a:ext cx="3405530" cy="1737360"/>
          </a:xfrm>
          <a:prstGeom prst="rect">
            <a:avLst/>
          </a:prstGeom>
          <a:noFill/>
        </p:spPr>
        <p:txBody>
          <a:bodyPr wrap="square" lIns="45720" rIns="45720" tIns="27432" bIns="27432" anchor="t">
            <a:spAutoFit/>
          </a:bodyPr>
          <a:lstStyle/>
          <a:p>
            <a:pPr algn="l">
              <a:lnSpc>
                <a:spcPct val="112000"/>
              </a:lnSpc>
            </a:pPr>
            <a:r>
              <a:rPr sz="1250" b="0" i="0">
                <a:solidFill>
                  <a:srgbClr val="111111"/>
                </a:solidFill>
                <a:latin typeface="Arial"/>
              </a:rPr>
              <a:t>Decisions spread across provider, evaluator, infrastructure operator and approver until nobody is charged with preventing harm or answering to affected parties (Matthias 2004).</a:t>
            </a:r>
          </a:p>
        </p:txBody>
      </p:sp>
      <p:sp>
        <p:nvSpPr>
          <p:cNvPr id="21" name="Rounded Rectangle 20"/>
          <p:cNvSpPr/>
          <p:nvPr/>
        </p:nvSpPr>
        <p:spPr>
          <a:xfrm>
            <a:off x="8219236" y="3703320"/>
            <a:ext cx="3405530" cy="749808"/>
          </a:xfrm>
          <a:prstGeom prst="roundRect">
            <a:avLst>
              <a:gd name="adj" fmla="val 5000"/>
            </a:avLst>
          </a:prstGeom>
          <a:solidFill>
            <a:srgbClr val="FFFFFF"/>
          </a:solidFill>
          <a:ln w="9525">
            <a:solidFill>
              <a:srgbClr val="6A4C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92388" y="3703320"/>
            <a:ext cx="3259226" cy="749808"/>
          </a:xfrm>
          <a:prstGeom prst="rect">
            <a:avLst/>
          </a:prstGeom>
          <a:noFill/>
        </p:spPr>
        <p:txBody>
          <a:bodyPr wrap="square" lIns="45720" rIns="45720" tIns="27432" bIns="27432" anchor="ctr">
            <a:spAutoFit/>
          </a:bodyPr>
          <a:lstStyle/>
          <a:p>
            <a:pPr algn="l">
              <a:lnSpc>
                <a:spcPct val="105000"/>
              </a:lnSpc>
            </a:pPr>
            <a:r>
              <a:rPr sz="1150" b="0" i="0">
                <a:solidFill>
                  <a:srgbClr val="111111"/>
                </a:solidFill>
                <a:latin typeface="Arial"/>
              </a:rPr>
              <a:t>Fix: named role, signed scope, immutable decision trail, explicit escalation path, notification owner.</a:t>
            </a:r>
          </a:p>
        </p:txBody>
      </p:sp>
      <p:sp>
        <p:nvSpPr>
          <p:cNvPr id="23" name="Rounded Rectangle 22"/>
          <p:cNvSpPr/>
          <p:nvPr/>
        </p:nvSpPr>
        <p:spPr>
          <a:xfrm>
            <a:off x="457200" y="4754880"/>
            <a:ext cx="11277295" cy="868680"/>
          </a:xfrm>
          <a:prstGeom prst="roundRect">
            <a:avLst>
              <a:gd name="adj" fmla="val 5000"/>
            </a:avLst>
          </a:prstGeom>
          <a:solidFill>
            <a:srgbClr val="ED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6928" y="4754880"/>
            <a:ext cx="11057839" cy="868680"/>
          </a:xfrm>
          <a:prstGeom prst="rect">
            <a:avLst/>
          </a:prstGeom>
          <a:noFill/>
        </p:spPr>
        <p:txBody>
          <a:bodyPr wrap="square" lIns="45720" rIns="45720" tIns="27432" bIns="27432" anchor="ctr">
            <a:spAutoFit/>
          </a:bodyPr>
          <a:lstStyle/>
          <a:p>
            <a:pPr algn="l">
              <a:lnSpc>
                <a:spcPct val="110000"/>
              </a:lnSpc>
            </a:pPr>
            <a:r>
              <a:rPr sz="1250" b="1" i="0">
                <a:solidFill>
                  <a:srgbClr val="111111"/>
                </a:solidFill>
                <a:latin typeface="Arial"/>
              </a:rPr>
              <a:t>The governance rule: every consequential agent action must be traceable to prior human authorization and an active chain of intervention. An autonomy authorization record binds objective, model version, evaluator, targets, tools, credentials, routes, duration, budget, monitoring coverage, stop conditions and responsible roles.</a:t>
            </a:r>
          </a:p>
        </p:txBody>
      </p:sp>
      <p:sp>
        <p:nvSpPr>
          <p:cNvPr id="25" name="TextBox 24"/>
          <p:cNvSpPr txBox="1"/>
          <p:nvPr/>
        </p:nvSpPr>
        <p:spPr>
          <a:xfrm>
            <a:off x="457200" y="5687568"/>
            <a:ext cx="11277295" cy="457200"/>
          </a:xfrm>
          <a:prstGeom prst="rect">
            <a:avLst/>
          </a:prstGeom>
          <a:noFill/>
        </p:spPr>
        <p:txBody>
          <a:bodyPr wrap="square" lIns="45720" rIns="45720" tIns="27432" bIns="27432" anchor="t">
            <a:spAutoFit/>
          </a:bodyPr>
          <a:lstStyle/>
          <a:p>
            <a:pPr algn="l">
              <a:lnSpc>
                <a:spcPct val="108000"/>
              </a:lnSpc>
            </a:pPr>
            <a:r>
              <a:rPr sz="1100" b="0" i="0">
                <a:solidFill>
                  <a:srgbClr val="666666"/>
                </a:solidFill>
                <a:latin typeface="Arial"/>
              </a:rPr>
              <a:t>Third-party evaluators carry a parallel duty: contracts should define the boundary in technical and legal terms, require pre-run validation, prohibit real targets unless approved, fix notification times, and preserve evidence. OpenAI has since reported separate third-party incidents involving live access or configuration errors.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
            <a:ext cx="11277295" cy="548640"/>
          </a:xfrm>
          <a:prstGeom prst="rect">
            <a:avLst/>
          </a:prstGeom>
          <a:noFill/>
        </p:spPr>
        <p:txBody>
          <a:bodyPr wrap="square" lIns="45720" rIns="45720" tIns="27432" bIns="27432" anchor="t">
            <a:spAutoFit/>
          </a:bodyPr>
          <a:lstStyle/>
          <a:p>
            <a:pPr algn="l">
              <a:lnSpc>
                <a:spcPct val="110000"/>
              </a:lnSpc>
            </a:pPr>
            <a:r>
              <a:rPr sz="2300" b="1" i="0">
                <a:solidFill>
                  <a:srgbClr val="111111"/>
                </a:solidFill>
                <a:latin typeface="Arial"/>
              </a:rPr>
              <a:t>Takeaways and what the paper does not establish</a:t>
            </a:r>
          </a:p>
        </p:txBody>
      </p:sp>
      <p:sp>
        <p:nvSpPr>
          <p:cNvPr id="3" name="TextBox 2"/>
          <p:cNvSpPr txBox="1"/>
          <p:nvPr/>
        </p:nvSpPr>
        <p:spPr>
          <a:xfrm>
            <a:off x="457200" y="786384"/>
            <a:ext cx="11277295" cy="384048"/>
          </a:xfrm>
          <a:prstGeom prst="rect">
            <a:avLst/>
          </a:prstGeom>
          <a:noFill/>
        </p:spPr>
        <p:txBody>
          <a:bodyPr wrap="square" lIns="45720" rIns="45720" tIns="27432" bIns="27432" anchor="t">
            <a:spAutoFit/>
          </a:bodyPr>
          <a:lstStyle/>
          <a:p>
            <a:pPr algn="l">
              <a:lnSpc>
                <a:spcPct val="110000"/>
              </a:lnSpc>
            </a:pPr>
            <a:r>
              <a:rPr sz="1250" b="0" i="1">
                <a:solidFill>
                  <a:srgbClr val="666666"/>
                </a:solidFill>
                <a:latin typeface="Arial"/>
              </a:rPr>
              <a:t>The enduring lesson: when a system can plan and act, safety cannot be inferred from the model or the sandbox alone</a:t>
            </a:r>
          </a:p>
        </p:txBody>
      </p:sp>
      <p:sp>
        <p:nvSpPr>
          <p:cNvPr id="4" name="Rectangle 3"/>
          <p:cNvSpPr/>
          <p:nvPr/>
        </p:nvSpPr>
        <p:spPr>
          <a:xfrm>
            <a:off x="457200" y="1188720"/>
            <a:ext cx="11277295" cy="19050"/>
          </a:xfrm>
          <a:prstGeom prst="rect">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6492240"/>
            <a:ext cx="10728655" cy="274320"/>
          </a:xfrm>
          <a:prstGeom prst="rect">
            <a:avLst/>
          </a:prstGeom>
          <a:noFill/>
        </p:spPr>
        <p:txBody>
          <a:bodyPr wrap="square" lIns="45720" rIns="45720" tIns="27432" bIns="27432" anchor="t">
            <a:spAutoFit/>
          </a:bodyPr>
          <a:lstStyle/>
          <a:p>
            <a:pPr algn="l">
              <a:lnSpc>
                <a:spcPct val="110000"/>
              </a:lnSpc>
            </a:pPr>
            <a:r>
              <a:rPr sz="800" b="0" i="0">
                <a:solidFill>
                  <a:srgbClr val="666666"/>
                </a:solidFill>
                <a:latin typeface="Arial"/>
              </a:rPr>
              <a:t>Summary of A. Raftari, 'From Reactive Containment to Proactive Assurance' (arXiv:2610.12463, Oct 2026). All claims are the paper's; the paper relies on public reports through 21 Sep 2026.</a:t>
            </a:r>
          </a:p>
        </p:txBody>
      </p:sp>
      <p:sp>
        <p:nvSpPr>
          <p:cNvPr id="6" name="TextBox 5"/>
          <p:cNvSpPr txBox="1"/>
          <p:nvPr/>
        </p:nvSpPr>
        <p:spPr>
          <a:xfrm>
            <a:off x="11277295" y="6492240"/>
            <a:ext cx="457200" cy="274320"/>
          </a:xfrm>
          <a:prstGeom prst="rect">
            <a:avLst/>
          </a:prstGeom>
          <a:noFill/>
        </p:spPr>
        <p:txBody>
          <a:bodyPr wrap="square" lIns="45720" rIns="45720" tIns="27432" bIns="27432" anchor="t">
            <a:spAutoFit/>
          </a:bodyPr>
          <a:lstStyle/>
          <a:p>
            <a:pPr algn="r">
              <a:lnSpc>
                <a:spcPct val="110000"/>
              </a:lnSpc>
            </a:pPr>
            <a:r>
              <a:rPr sz="900" b="0" i="0">
                <a:solidFill>
                  <a:srgbClr val="666666"/>
                </a:solidFill>
                <a:latin typeface="Arial"/>
              </a:rPr>
              <a:t>13</a:t>
            </a:r>
          </a:p>
        </p:txBody>
      </p:sp>
      <p:sp>
        <p:nvSpPr>
          <p:cNvPr id="7" name="TextBox 6"/>
          <p:cNvSpPr txBox="1"/>
          <p:nvPr/>
        </p:nvSpPr>
        <p:spPr>
          <a:xfrm>
            <a:off x="457200" y="6236208"/>
            <a:ext cx="11277295" cy="256032"/>
          </a:xfrm>
          <a:prstGeom prst="rect">
            <a:avLst/>
          </a:prstGeom>
          <a:noFill/>
        </p:spPr>
        <p:txBody>
          <a:bodyPr wrap="square" lIns="45720" rIns="45720" tIns="27432" bIns="27432" anchor="t">
            <a:spAutoFit/>
          </a:bodyPr>
          <a:lstStyle/>
          <a:p>
            <a:pPr algn="l">
              <a:lnSpc>
                <a:spcPct val="110000"/>
              </a:lnSpc>
            </a:pPr>
            <a:r>
              <a:rPr sz="850" b="0" i="1">
                <a:solidFill>
                  <a:srgbClr val="666666"/>
                </a:solidFill>
                <a:latin typeface="Arial"/>
              </a:rPr>
              <a:t>Paper section: 16 Discussion; 17 Limitations; 18 Conclusion</a:t>
            </a:r>
          </a:p>
        </p:txBody>
      </p:sp>
      <p:sp>
        <p:nvSpPr>
          <p:cNvPr id="8" name="TextBox 7"/>
          <p:cNvSpPr txBox="1"/>
          <p:nvPr/>
        </p:nvSpPr>
        <p:spPr>
          <a:xfrm>
            <a:off x="457200" y="1417320"/>
            <a:ext cx="6949440" cy="3931920"/>
          </a:xfrm>
          <a:prstGeom prst="rect">
            <a:avLst/>
          </a:prstGeom>
          <a:noFill/>
        </p:spPr>
        <p:txBody>
          <a:bodyPr wrap="square" lIns="45720" rIns="45720">
            <a:spAutoFit/>
          </a:bodyPr>
          <a:lstStyle/>
          <a:p>
            <a:pPr>
              <a:lnSpc>
                <a:spcPct val="112000"/>
              </a:lnSpc>
              <a:spcAft>
                <a:spcPts val="1200"/>
              </a:spcAft>
            </a:pPr>
            <a:r>
              <a:rPr sz="1450" b="0" i="0">
                <a:solidFill>
                  <a:srgbClr val="111111"/>
                </a:solidFill>
                <a:latin typeface="Arial"/>
              </a:rPr>
              <a:t>-  </a:t>
            </a:r>
            <a:r>
              <a:rPr sz="1450" b="1" i="0">
                <a:solidFill>
                  <a:srgbClr val="111111"/>
                </a:solidFill>
                <a:latin typeface="Arial"/>
              </a:rPr>
              <a:t>Evaluating a high-capability agent is itself a high-risk operation.</a:t>
            </a:r>
            <a:r>
              <a:rPr sz="1450" b="0" i="0">
                <a:solidFill>
                  <a:srgbClr val="111111"/>
                </a:solidFill>
                <a:latin typeface="Arial"/>
              </a:rPr>
              <a:t> It needs the same risk case, named owners and stop authority as a production change.</a:t>
            </a:r>
          </a:p>
          <a:p>
            <a:pPr>
              <a:lnSpc>
                <a:spcPct val="112000"/>
              </a:lnSpc>
              <a:spcAft>
                <a:spcPts val="1200"/>
              </a:spcAft>
            </a:pPr>
            <a:r>
              <a:rPr sz="1450" b="0" i="0">
                <a:solidFill>
                  <a:srgbClr val="111111"/>
                </a:solidFill>
                <a:latin typeface="Arial"/>
              </a:rPr>
              <a:t>-  </a:t>
            </a:r>
            <a:r>
              <a:rPr sz="1450" b="1" i="0">
                <a:solidFill>
                  <a:srgbClr val="111111"/>
                </a:solidFill>
                <a:latin typeface="Arial"/>
              </a:rPr>
              <a:t>Separate the two pathways.</a:t>
            </a:r>
            <a:r>
              <a:rPr sz="1450" b="0" i="0">
                <a:solidFill>
                  <a:srgbClr val="111111"/>
                </a:solidFill>
                <a:latin typeface="Arial"/>
              </a:rPr>
              <a:t> Exploit-driven escape asks whether the boundary holds under search; misconfiguration exposure asks whether the agent notices the premise is false. Test both.</a:t>
            </a:r>
          </a:p>
          <a:p>
            <a:pPr>
              <a:lnSpc>
                <a:spcPct val="112000"/>
              </a:lnSpc>
              <a:spcAft>
                <a:spcPts val="1200"/>
              </a:spcAft>
            </a:pPr>
            <a:r>
              <a:rPr sz="1450" b="0" i="0">
                <a:solidFill>
                  <a:srgbClr val="111111"/>
                </a:solidFill>
                <a:latin typeface="Arial"/>
              </a:rPr>
              <a:t>-  </a:t>
            </a:r>
            <a:r>
              <a:rPr sz="1450" b="1" i="0">
                <a:solidFill>
                  <a:srgbClr val="111111"/>
                </a:solidFill>
                <a:latin typeface="Arial"/>
              </a:rPr>
              <a:t>Authorization must be independent of isolation.</a:t>
            </a:r>
            <a:r>
              <a:rPr sz="1450" b="0" i="0">
                <a:solidFill>
                  <a:srgbClr val="111111"/>
                </a:solidFill>
                <a:latin typeface="Arial"/>
              </a:rPr>
              <a:t> Reachability is not permission; a discovered credential is not authority; a plausible target name is not scope.</a:t>
            </a:r>
          </a:p>
          <a:p>
            <a:pPr>
              <a:lnSpc>
                <a:spcPct val="112000"/>
              </a:lnSpc>
              <a:spcAft>
                <a:spcPts val="1200"/>
              </a:spcAft>
            </a:pPr>
            <a:r>
              <a:rPr sz="1450" b="0" i="0">
                <a:solidFill>
                  <a:srgbClr val="111111"/>
                </a:solidFill>
                <a:latin typeface="Arial"/>
              </a:rPr>
              <a:t>-  </a:t>
            </a:r>
            <a:r>
              <a:rPr sz="1450" b="1" i="0">
                <a:solidFill>
                  <a:srgbClr val="111111"/>
                </a:solidFill>
                <a:latin typeface="Arial"/>
              </a:rPr>
              <a:t>Connect signals to authority.</a:t>
            </a:r>
            <a:r>
              <a:rPr sz="1450" b="0" i="0">
                <a:solidFill>
                  <a:srgbClr val="111111"/>
                </a:solidFill>
                <a:latin typeface="Arial"/>
              </a:rPr>
              <a:t> Precommitted thresholds, cross-run state monitoring and a single incident commander turn telemetry into interruption.</a:t>
            </a:r>
          </a:p>
          <a:p>
            <a:pPr>
              <a:lnSpc>
                <a:spcPct val="112000"/>
              </a:lnSpc>
              <a:spcAft>
                <a:spcPts val="1200"/>
              </a:spcAft>
            </a:pPr>
            <a:r>
              <a:rPr sz="1450" b="0" i="0">
                <a:solidFill>
                  <a:srgbClr val="111111"/>
                </a:solidFill>
                <a:latin typeface="Arial"/>
              </a:rPr>
              <a:t>-  </a:t>
            </a:r>
            <a:r>
              <a:rPr sz="1450" b="1" i="0">
                <a:solidFill>
                  <a:srgbClr val="111111"/>
                </a:solidFill>
                <a:latin typeface="Arial"/>
              </a:rPr>
              <a:t>Resume on causal evidence, not on the last patched exploit.</a:t>
            </a:r>
            <a:r>
              <a:rPr sz="1450" b="0" i="0">
                <a:solidFill>
                  <a:srgbClr val="111111"/>
                </a:solidFill>
                <a:latin typeface="Arial"/>
              </a:rPr>
              <a:t> And demonstrate audit coverage before calling a review clean.</a:t>
            </a:r>
          </a:p>
        </p:txBody>
      </p:sp>
      <p:sp>
        <p:nvSpPr>
          <p:cNvPr id="9" name="Rounded Rectangle 8"/>
          <p:cNvSpPr/>
          <p:nvPr/>
        </p:nvSpPr>
        <p:spPr>
          <a:xfrm>
            <a:off x="7680960" y="1417320"/>
            <a:ext cx="4053535" cy="3931920"/>
          </a:xfrm>
          <a:prstGeom prst="roundRect">
            <a:avLst>
              <a:gd name="adj" fmla="val 5000"/>
            </a:avLst>
          </a:prstGeom>
          <a:solidFill>
            <a:srgbClr val="F3F3F3"/>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0" y="1490472"/>
            <a:ext cx="3870655" cy="411480"/>
          </a:xfrm>
          <a:prstGeom prst="rect">
            <a:avLst/>
          </a:prstGeom>
          <a:noFill/>
        </p:spPr>
        <p:txBody>
          <a:bodyPr wrap="square" lIns="45720" rIns="45720" tIns="27432" bIns="27432" anchor="t">
            <a:spAutoFit/>
          </a:bodyPr>
          <a:lstStyle/>
          <a:p>
            <a:pPr algn="l">
              <a:lnSpc>
                <a:spcPct val="100000"/>
              </a:lnSpc>
            </a:pPr>
            <a:r>
              <a:rPr sz="1500" b="1" i="0">
                <a:solidFill>
                  <a:srgbClr val="111111"/>
                </a:solidFill>
                <a:latin typeface="Arial"/>
              </a:rPr>
              <a:t>Limitations the author states</a:t>
            </a:r>
          </a:p>
        </p:txBody>
      </p:sp>
      <p:sp>
        <p:nvSpPr>
          <p:cNvPr id="11" name="TextBox 10"/>
          <p:cNvSpPr txBox="1"/>
          <p:nvPr/>
        </p:nvSpPr>
        <p:spPr>
          <a:xfrm>
            <a:off x="7772400" y="1920240"/>
            <a:ext cx="3870655" cy="3337560"/>
          </a:xfrm>
          <a:prstGeom prst="rect">
            <a:avLst/>
          </a:prstGeom>
          <a:noFill/>
        </p:spPr>
        <p:txBody>
          <a:bodyPr wrap="square" lIns="45720" rIns="45720">
            <a:spAutoFit/>
          </a:bodyPr>
          <a:lstStyle/>
          <a:p>
            <a:pPr>
              <a:lnSpc>
                <a:spcPct val="110000"/>
              </a:lnSpc>
              <a:spcAft>
                <a:spcPts val="600"/>
              </a:spcAft>
            </a:pPr>
            <a:r>
              <a:rPr sz="1200" b="0" i="0">
                <a:solidFill>
                  <a:srgbClr val="111111"/>
                </a:solidFill>
                <a:latin typeface="Arial"/>
              </a:rPr>
              <a:t>-  </a:t>
            </a:r>
            <a:r>
              <a:rPr sz="1200" b="0" i="0">
                <a:solidFill>
                  <a:srgbClr val="111111"/>
                </a:solidFill>
                <a:latin typeface="Arial"/>
              </a:rPr>
              <a:t>Public evidence is incomplete and mostly authored by the incident parties; no private logs, prompts or configs were inspected</a:t>
            </a:r>
          </a:p>
          <a:p>
            <a:pPr>
              <a:lnSpc>
                <a:spcPct val="110000"/>
              </a:lnSpc>
              <a:spcAft>
                <a:spcPts val="600"/>
              </a:spcAft>
            </a:pPr>
            <a:r>
              <a:rPr sz="1200" b="0" i="0">
                <a:solidFill>
                  <a:srgbClr val="111111"/>
                </a:solidFill>
                <a:latin typeface="Arial"/>
              </a:rPr>
              <a:t>-  </a:t>
            </a:r>
            <a:r>
              <a:rPr sz="1200" b="0" i="0">
                <a:solidFill>
                  <a:srgbClr val="111111"/>
                </a:solidFill>
                <a:latin typeface="Arial"/>
              </a:rPr>
              <a:t>Gemini rests on attributed statements and journalism only</a:t>
            </a:r>
          </a:p>
          <a:p>
            <a:pPr>
              <a:lnSpc>
                <a:spcPct val="110000"/>
              </a:lnSpc>
              <a:spcAft>
                <a:spcPts val="600"/>
              </a:spcAft>
            </a:pPr>
            <a:r>
              <a:rPr sz="1200" b="0" i="0">
                <a:solidFill>
                  <a:srgbClr val="111111"/>
                </a:solidFill>
                <a:latin typeface="Arial"/>
              </a:rPr>
              <a:t>-  </a:t>
            </a:r>
            <a:r>
              <a:rPr sz="1200" b="0" i="0">
                <a:solidFill>
                  <a:srgbClr val="111111"/>
                </a:solidFill>
                <a:latin typeface="Arial"/>
              </a:rPr>
              <a:t>BAS is conceptual and not yet validated; some controls may cost evaluation realism or money</a:t>
            </a:r>
          </a:p>
          <a:p>
            <a:pPr>
              <a:lnSpc>
                <a:spcPct val="110000"/>
              </a:lnSpc>
              <a:spcAft>
                <a:spcPts val="600"/>
              </a:spcAft>
            </a:pPr>
            <a:r>
              <a:rPr sz="1200" b="0" i="0">
                <a:solidFill>
                  <a:srgbClr val="111111"/>
                </a:solidFill>
                <a:latin typeface="Arial"/>
              </a:rPr>
              <a:t>-  </a:t>
            </a:r>
            <a:r>
              <a:rPr sz="1200" b="0" i="0">
                <a:solidFill>
                  <a:srgbClr val="111111"/>
                </a:solidFill>
                <a:latin typeface="Arial"/>
              </a:rPr>
              <a:t>The quantitative model is a specification, not a calibrated predictor</a:t>
            </a:r>
          </a:p>
          <a:p>
            <a:pPr>
              <a:lnSpc>
                <a:spcPct val="110000"/>
              </a:lnSpc>
              <a:spcAft>
                <a:spcPts val="600"/>
              </a:spcAft>
            </a:pPr>
            <a:r>
              <a:rPr sz="1200" b="0" i="0">
                <a:solidFill>
                  <a:srgbClr val="111111"/>
                </a:solidFill>
                <a:latin typeface="Arial"/>
              </a:rPr>
              <a:t>-  </a:t>
            </a:r>
            <a:r>
              <a:rPr sz="1200" b="0" i="0">
                <a:solidFill>
                  <a:srgbClr val="111111"/>
                </a:solidFill>
                <a:latin typeface="Arial"/>
              </a:rPr>
              <a:t>Three case families under reduced safeguards: not representative of ordinary agent or chatbot use</a:t>
            </a:r>
          </a:p>
          <a:p>
            <a:pPr>
              <a:lnSpc>
                <a:spcPct val="110000"/>
              </a:lnSpc>
              <a:spcAft>
                <a:spcPts val="600"/>
              </a:spcAft>
            </a:pPr>
            <a:r>
              <a:rPr sz="1200" b="0" i="0">
                <a:solidFill>
                  <a:srgbClr val="111111"/>
                </a:solidFill>
                <a:latin typeface="Arial"/>
              </a:rPr>
              <a:t>-  </a:t>
            </a:r>
            <a:r>
              <a:rPr sz="1200" b="0" i="0">
                <a:solidFill>
                  <a:srgbClr val="111111"/>
                </a:solidFill>
                <a:latin typeface="Arial"/>
              </a:rPr>
              <a:t>Also cautions against 'source laundering' in AI-generated incident summaries: adjacency to a publisher name is not verification</a:t>
            </a:r>
          </a:p>
        </p:txBody>
      </p:sp>
      <p:sp>
        <p:nvSpPr>
          <p:cNvPr id="12" name="Rounded Rectangle 11"/>
          <p:cNvSpPr/>
          <p:nvPr/>
        </p:nvSpPr>
        <p:spPr>
          <a:xfrm>
            <a:off x="457200" y="5486400"/>
            <a:ext cx="11277295" cy="548640"/>
          </a:xfrm>
          <a:prstGeom prst="roundRect">
            <a:avLst>
              <a:gd name="adj" fmla="val 5000"/>
            </a:avLst>
          </a:prstGeom>
          <a:solidFill>
            <a:srgbClr val="365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5486400"/>
            <a:ext cx="11057839" cy="548640"/>
          </a:xfrm>
          <a:prstGeom prst="rect">
            <a:avLst/>
          </a:prstGeom>
          <a:noFill/>
        </p:spPr>
        <p:txBody>
          <a:bodyPr wrap="square" lIns="45720" rIns="45720" tIns="27432" bIns="27432" anchor="ctr">
            <a:spAutoFit/>
          </a:bodyPr>
          <a:lstStyle/>
          <a:p>
            <a:pPr algn="l">
              <a:lnSpc>
                <a:spcPct val="110000"/>
              </a:lnSpc>
            </a:pPr>
            <a:r>
              <a:rPr sz="1500" b="1" i="0">
                <a:solidFill>
                  <a:srgbClr val="FFFFFF"/>
                </a:solidFill>
                <a:latin typeface="Arial"/>
              </a:rPr>
              <a:t>Safety must be demonstrated across the complete execution system before, during, and after every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