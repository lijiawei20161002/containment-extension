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row is a public report; figures are the reporters' own. Full sources on the incident references slide. Several rows are evaluation findings in constructed scenarios, not deployment incidents; the deck says which.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docs/incident-study-results.md, docs/link-study-results.md, results/link-study-v1/run-0022.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Seed material already in the repo: 28 harness cases, 8 replay controls, 12 permission controls, ImpossibleBench checks, 1,543 monitor inputs from 224 rollouts. None stored in this schema yet.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Foundation: counterfactual evaluation infrastructure offline stages passed (4 cases, 320 transition checks, 17 grader cases).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checked 2026-10-05. Replay implications and admission rules are design assessments, not completed replications or estimates of the original laboratories' expenditure.</a:t>
            </a:r>
          </a:p>
          <a:p/>
          <a:p>
            <a:r>
              <a:t>OpenAI o1 System Card, section 3: https://cdn.openai.com/o1-system-card-20241205.pdf</a:t>
            </a:r>
          </a:p>
          <a:p>
            <a:r>
              <a:t>Baker et al. (2025), sections 2–3 and Appendix C: https://arxiv.org/html/2503.11926v1</a:t>
            </a:r>
          </a:p>
          <a:p>
            <a:r>
              <a:t>Palisade shutdown study: https://palisaderesearch.org/research/shutdown-resistance</a:t>
            </a:r>
          </a:p>
          <a:p>
            <a:r>
              <a:t>Palisade public harness: https://github.com/PalisadeResearch/shutdown_avoidance</a:t>
            </a:r>
          </a:p>
          <a:p>
            <a:r>
              <a:t>Apollo scheming demo: https://www.apolloresearch.ai/science/demo-example-scheming-reasoning-evaluations</a:t>
            </a:r>
          </a:p>
          <a:p>
            <a:r>
              <a:t>OpenAI reasoning visibility: https://developers.openai.com/api/docs/guides/reasoning</a:t>
            </a:r>
          </a:p>
          <a:p>
            <a:r>
              <a:t>OpenAI model availability: https://developers.openai.com/api/docs/deprecations</a:t>
            </a:r>
          </a:p>
          <a:p/>
          <a:p>
            <a:r>
              <a:t>This is an artifact-by-artifact feasibility assessment. Do not infer that every OpenAI incident used an unreleased model, or that every evaluation detail is secret. Public checkpoint names, prompts, code or traces can each help without establishing access to the entire original experiment. Full replay here means rerunning under materially matched conditions and measuring uncertainty, not guaranteeing a byte-identical stochastic trajectory. The public reasoning API exposes summaries rather than raw reasoning text; an observation-dependent evaluator may therefore be impossible to match.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checked 2026-10-05. Replay implications and admission rules are design assessments, not completed replications or estimates of the original laboratories' expenditure.</a:t>
            </a:r>
          </a:p>
          <a:p/>
          <a:p>
            <a:r>
              <a:t>OpenAI o1 System Card, section 3: https://cdn.openai.com/o1-system-card-20241205.pdf</a:t>
            </a:r>
          </a:p>
          <a:p>
            <a:r>
              <a:t>Baker et al. (2025), sections 2–3 and Appendix C: https://arxiv.org/html/2503.11926v1</a:t>
            </a:r>
          </a:p>
          <a:p>
            <a:r>
              <a:t>Palisade shutdown study: https://palisaderesearch.org/research/shutdown-resistance</a:t>
            </a:r>
          </a:p>
          <a:p>
            <a:r>
              <a:t>Palisade public harness: https://github.com/PalisadeResearch/shutdown_avoidance</a:t>
            </a:r>
          </a:p>
          <a:p>
            <a:r>
              <a:t>Apollo scheming demo: https://www.apolloresearch.ai/science/demo-example-scheming-reasoning-evaluations</a:t>
            </a:r>
          </a:p>
          <a:p>
            <a:r>
              <a:t>OpenAI reasoning visibility: https://developers.openai.com/api/docs/guides/reasoning</a:t>
            </a:r>
          </a:p>
          <a:p>
            <a:r>
              <a:t>OpenAI model availability: https://developers.openai.com/api/docs/deprecations</a:t>
            </a:r>
          </a:p>
          <a:p/>
          <a:p>
            <a:r>
              <a:t>Sources: o1 System Card section 3; Baker et al. sections 2–3 and Appendix C; Palisade's public shutdown_avoidance repository. The last column is our inference about requirements, not a claim that an exhaustive artifact search has proved every item unavailable. Account access and retired snapshots must be checked separately. The shutdown example is an external study of an OpenAI model, unlike the training-time examples. Do not pool their reproduction feasibility.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checked 2026-10-05. Replay implications and admission rules are design assessments, not completed replications or estimates of the original laboratories' expenditure.</a:t>
            </a:r>
          </a:p>
          <a:p/>
          <a:p>
            <a:r>
              <a:t>OpenAI o1 System Card, section 3: https://cdn.openai.com/o1-system-card-20241205.pdf</a:t>
            </a:r>
          </a:p>
          <a:p>
            <a:r>
              <a:t>Baker et al. (2025), sections 2–3 and Appendix C: https://arxiv.org/html/2503.11926v1</a:t>
            </a:r>
          </a:p>
          <a:p>
            <a:r>
              <a:t>Palisade shutdown study: https://palisaderesearch.org/research/shutdown-resistance</a:t>
            </a:r>
          </a:p>
          <a:p>
            <a:r>
              <a:t>Palisade public harness: https://github.com/PalisadeResearch/shutdown_avoidance</a:t>
            </a:r>
          </a:p>
          <a:p>
            <a:r>
              <a:t>Apollo scheming demo: https://www.apolloresearch.ai/science/demo-example-scheming-reasoning-evaluations</a:t>
            </a:r>
          </a:p>
          <a:p>
            <a:r>
              <a:t>OpenAI reasoning visibility: https://developers.openai.com/api/docs/guides/reasoning</a:t>
            </a:r>
          </a:p>
          <a:p>
            <a:r>
              <a:t>OpenAI model availability: https://developers.openai.com/api/docs/deprecations</a:t>
            </a:r>
          </a:p>
          <a:p/>
          <a:p>
            <a:r>
              <a:t>The first two modes can be useful even if the incident-generating model is unavailable. Re-scoring can consume judge API calls; fixed-action execution can consume environment resources. Neither is automatically cost-free. Selected public traces can support a conditional detection evaluation but do not provide a population denominator. An injected action tests a control against that action, not whether a policy prevents an agent from independently selecting another action. Changing a tool response invalidates a recorded future as a behavioral counterfactual: resample the actor from the intervention point, or limit the claim to the fixed-action effect. This matches the distinction in docs/counterfactual-replay.md.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checked 2026-10-05. Replay implications and admission rules are design assessments, not completed replications or estimates of the original laboratories' expenditure.</a:t>
            </a:r>
          </a:p>
          <a:p/>
          <a:p>
            <a:r>
              <a:t>OpenAI o1 System Card, section 3: https://cdn.openai.com/o1-system-card-20241205.pdf</a:t>
            </a:r>
          </a:p>
          <a:p>
            <a:r>
              <a:t>Baker et al. (2025), sections 2–3 and Appendix C: https://arxiv.org/html/2503.11926v1</a:t>
            </a:r>
          </a:p>
          <a:p>
            <a:r>
              <a:t>Palisade shutdown study: https://palisaderesearch.org/research/shutdown-resistance</a:t>
            </a:r>
          </a:p>
          <a:p>
            <a:r>
              <a:t>Palisade public harness: https://github.com/PalisadeResearch/shutdown_avoidance</a:t>
            </a:r>
          </a:p>
          <a:p>
            <a:r>
              <a:t>Apollo scheming demo: https://www.apolloresearch.ai/science/demo-example-scheming-reasoning-evaluations</a:t>
            </a:r>
          </a:p>
          <a:p>
            <a:r>
              <a:t>OpenAI reasoning visibility: https://developers.openai.com/api/docs/guides/reasoning</a:t>
            </a:r>
          </a:p>
          <a:p>
            <a:r>
              <a:t>OpenAI model availability: https://developers.openai.com/api/docs/deprecations</a:t>
            </a:r>
          </a:p>
          <a:p/>
          <a:p>
            <a:r>
              <a:t>These are proposed qualification requirements, not a statement that this project already supports arbitrary evaluator infrastructure. A harness adapter needs snapshot/reset, tool input/output interception and trusted event capture. External services, time, randomness, authentication and asynchronous actions can make snapshots incomplete. Mocks must preserve the state transitions relevant to the tested mechanism; their deviations must be declared. Independently check the effect rather than trusting a score the agent can manipulate. For a grader-induced failure, the grader configuration is itself a critical dependency. Reject or narrow the causal claim when it cannot be recovered. See docs/counterfactual-replay.md and docs/standardized-benchmarks.md.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checked 2026-10-05. Replay implications and admission rules are design assessments, not completed replications or estimates of the original laboratories' expenditure.</a:t>
            </a:r>
          </a:p>
          <a:p/>
          <a:p>
            <a:r>
              <a:t>OpenAI o1 System Card, section 3: https://cdn.openai.com/o1-system-card-20241205.pdf</a:t>
            </a:r>
          </a:p>
          <a:p>
            <a:r>
              <a:t>Baker et al. (2025), sections 2–3 and Appendix C: https://arxiv.org/html/2503.11926v1</a:t>
            </a:r>
          </a:p>
          <a:p>
            <a:r>
              <a:t>Palisade shutdown study: https://palisaderesearch.org/research/shutdown-resistance</a:t>
            </a:r>
          </a:p>
          <a:p>
            <a:r>
              <a:t>Palisade public harness: https://github.com/PalisadeResearch/shutdown_avoidance</a:t>
            </a:r>
          </a:p>
          <a:p>
            <a:r>
              <a:t>Apollo scheming demo: https://www.apolloresearch.ai/science/demo-example-scheming-reasoning-evaluations</a:t>
            </a:r>
          </a:p>
          <a:p>
            <a:r>
              <a:t>OpenAI reasoning visibility: https://developers.openai.com/api/docs/guides/reasoning</a:t>
            </a:r>
          </a:p>
          <a:p>
            <a:r>
              <a:t>OpenAI model availability: https://developers.openai.com/api/docs/deprecations</a:t>
            </a:r>
          </a:p>
          <a:p/>
          <a:p>
            <a:r>
              <a:t>Resource accounting: sum billed input/output tokens times the selected model rates for actor and judge calls; include repeated history, hidden reasoning, retries and failed usage. For self-hosting, measure GPU-hours, memory, throughput and utilization on the actual checkpoint/context, then apply the applicable hardware rate. Add CPU/IO, reset, storage, engineering and human qualification. A public inference API quote does not estimate an internal RL experiment or buy access to missing weights. Large models need not be trained again merely to rerun inference if the exact checkpoint is accessible; reproducing a training-dependent cause is a different study. Dollar totals are premature before these dependencies are known. API availability/rate limits and engineering lead time can dominate even when per-token cost is modest. The sampling illustration is ceil(log(0.05)/log(1-0.001)) = 2,995 under independent, fixed-rate Bernoulli trials. This is not an empirical rate, a safety certificate, or the sample size for a policy comparison. Correlated variants do not replace independent lineages. Reuse shared fixed-pool development trajectories where valid; do not count them twice for B3/B4 or reuse test outcomes for selection. Cap requests, tokens, GPU-hours and wall time; timeouts remain unknown outcomes.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checked 2026-10-05. Replay implications and admission rules are design assessments, not completed replications or estimates of the original laboratories' expenditure.</a:t>
            </a:r>
          </a:p>
          <a:p/>
          <a:p>
            <a:r>
              <a:t>OpenAI o1 System Card, section 3: https://cdn.openai.com/o1-system-card-20241205.pdf</a:t>
            </a:r>
          </a:p>
          <a:p>
            <a:r>
              <a:t>Baker et al. (2025), sections 2–3 and Appendix C: https://arxiv.org/html/2503.11926v1</a:t>
            </a:r>
          </a:p>
          <a:p>
            <a:r>
              <a:t>Palisade shutdown study: https://palisaderesearch.org/research/shutdown-resistance</a:t>
            </a:r>
          </a:p>
          <a:p>
            <a:r>
              <a:t>Palisade public harness: https://github.com/PalisadeResearch/shutdown_avoidance</a:t>
            </a:r>
          </a:p>
          <a:p>
            <a:r>
              <a:t>Apollo scheming demo: https://www.apolloresearch.ai/science/demo-example-scheming-reasoning-evaluations</a:t>
            </a:r>
          </a:p>
          <a:p>
            <a:r>
              <a:t>OpenAI reasoning visibility: https://developers.openai.com/api/docs/guides/reasoning</a:t>
            </a:r>
          </a:p>
          <a:p>
            <a:r>
              <a:t>OpenAI model availability: https://developers.openai.com/api/docs/deprecations</a:t>
            </a:r>
          </a:p>
          <a:p/>
          <a:p>
            <a:r>
              <a:t>This is a proposed mechanism study inspired by test-harness reward hacking, not a report that it has been run. The core hypothesis is that a mismatch between apparent task success and independently observed effects, combined with a relevant opportunity and incentive, permits the failure. Keep those ingredients explicit. An accessible actor must independently exhibit the behavior before claiming behavioral reproduction under the declared prompts. A script or an explicitly attack-instructed actor can qualify an effect/guard fixture but cannot establish naturally occurring misbehavior; keep these populations separate. A negative control should remove the suspected opportunity while preserving the legitimate task, and the benign twin must verify that a defense does not merely block all useful work. If behavior does not occur, report an inconclusive behavioral reproduction rather than forcing it and relabeling it as natural. Mechanism preservation is a hypothesis tested by controls, not something guaranteed by constructing a plausible sandbox. This does not reproduce the emergence of a failure during RL, or transport a measured rate to another model or real deployment.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checked 2026-10-05. Replay implications and admission rules are design assessments, not completed replications or estimates of the original laboratories' expenditure.</a:t>
            </a:r>
          </a:p>
          <a:p/>
          <a:p>
            <a:r>
              <a:t>OpenAI o1 System Card, section 3: https://cdn.openai.com/o1-system-card-20241205.pdf</a:t>
            </a:r>
          </a:p>
          <a:p>
            <a:r>
              <a:t>Baker et al. (2025), sections 2–3 and Appendix C: https://arxiv.org/html/2503.11926v1</a:t>
            </a:r>
          </a:p>
          <a:p>
            <a:r>
              <a:t>Palisade shutdown study: https://palisaderesearch.org/research/shutdown-resistance</a:t>
            </a:r>
          </a:p>
          <a:p>
            <a:r>
              <a:t>Palisade public harness: https://github.com/PalisadeResearch/shutdown_avoidance</a:t>
            </a:r>
          </a:p>
          <a:p>
            <a:r>
              <a:t>Apollo scheming demo: https://www.apolloresearch.ai/science/demo-example-scheming-reasoning-evaluations</a:t>
            </a:r>
          </a:p>
          <a:p>
            <a:r>
              <a:t>OpenAI reasoning visibility: https://developers.openai.com/api/docs/guides/reasoning</a:t>
            </a:r>
          </a:p>
          <a:p>
            <a:r>
              <a:t>OpenAI model availability: https://developers.openai.com/api/docs/deprecations</a:t>
            </a:r>
          </a:p>
          <a:p/>
          <a:p>
            <a:r>
              <a:t>Proposed admission metadata: incident/source lineage; evidence grade A/B/C; execution mode; historical fidelity; model/checkpoint and access status; prompt/scaffold hashes; environment/state references; observer visibility; controls and qualification result; missing dependencies; request/token/GPU/wall-time limits and actual usage; intended and unsupported claims. Grade A can describe an executable mechanism fixture without establishing historical model equivalence. Start with own runs and public reproducible harnesses, since logs and snapshots can be captured at source. For private cases, the owner could run a versioned adapter in its existing infrastructure and share permitted evidence; that is owner-run evidence, not independently reproduced access. Choose full replay when the needed scientific claim depends on the exact actor/environment and access plus cost make it feasible. Choose a controlled mechanism study only when the narrower claim is useful and the relevant causal structure can be tested. Otherwise defer. Keep narrative leads and unsupported labels out of automatic optimizer feedback. Regression gates operate on qualified, declared suites; unknowns never become passes. Track reports considered, artifacts obtained, environments built, qualified cases, blocked reasons and measured costs. Report outcomes by fidelity and lineage instead of pooling historical, surrogate and trace-only cases. This makes the limits of the deck's incident-to-regression vision explicit.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320040" cy="6858000"/>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14400" y="1463040"/>
            <a:ext cx="10515600" cy="1097280"/>
          </a:xfrm>
          <a:prstGeom prst="rect">
            <a:avLst/>
          </a:prstGeom>
          <a:noFill/>
        </p:spPr>
        <p:txBody>
          <a:bodyPr wrap="square" lIns="45720" rIns="45720" tIns="27432" bIns="27432" anchor="t">
            <a:spAutoFit/>
          </a:bodyPr>
          <a:lstStyle/>
          <a:p>
            <a:pPr algn="l">
              <a:lnSpc>
                <a:spcPct val="110000"/>
              </a:lnSpc>
            </a:pPr>
            <a:r>
              <a:rPr sz="4400" b="1" i="0">
                <a:solidFill>
                  <a:srgbClr val="111111"/>
                </a:solidFill>
                <a:latin typeface="Arial"/>
              </a:rPr>
              <a:t>Incident-Aware Optimization</a:t>
            </a:r>
          </a:p>
        </p:txBody>
      </p:sp>
      <p:sp>
        <p:nvSpPr>
          <p:cNvPr id="5" name="TextBox 4"/>
          <p:cNvSpPr txBox="1"/>
          <p:nvPr/>
        </p:nvSpPr>
        <p:spPr>
          <a:xfrm>
            <a:off x="914400" y="2377440"/>
            <a:ext cx="10332720" cy="1280160"/>
          </a:xfrm>
          <a:prstGeom prst="rect">
            <a:avLst/>
          </a:prstGeom>
          <a:noFill/>
        </p:spPr>
        <p:txBody>
          <a:bodyPr wrap="square" lIns="45720" rIns="45720" tIns="27432" bIns="27432" anchor="t">
            <a:spAutoFit/>
          </a:bodyPr>
          <a:lstStyle/>
          <a:p>
            <a:pPr algn="l">
              <a:lnSpc>
                <a:spcPct val="110000"/>
              </a:lnSpc>
            </a:pPr>
            <a:r>
              <a:rPr sz="2200" b="0" i="0">
                <a:solidFill>
                  <a:srgbClr val="365E9E"/>
                </a:solidFill>
                <a:latin typeface="Arial"/>
              </a:rPr>
              <a:t>Turning the history of agent incidents into better evaluation tasks,</a:t>
            </a:r>
          </a:p>
          <a:p>
            <a:pPr algn="l">
              <a:lnSpc>
                <a:spcPct val="110000"/>
              </a:lnSpc>
            </a:pPr>
            <a:r>
              <a:rPr sz="2200" b="0" i="0">
                <a:solidFill>
                  <a:srgbClr val="365E9E"/>
                </a:solidFill>
                <a:latin typeface="Arial"/>
              </a:rPr>
              <a:t>runtime monitors and instructions: a proposed Inspect extension</a:t>
            </a:r>
          </a:p>
        </p:txBody>
      </p:sp>
      <p:sp>
        <p:nvSpPr>
          <p:cNvPr id="6" name="TextBox 5"/>
          <p:cNvSpPr txBox="1"/>
          <p:nvPr/>
        </p:nvSpPr>
        <p:spPr>
          <a:xfrm>
            <a:off x="914400" y="3977639"/>
            <a:ext cx="10058400" cy="1280160"/>
          </a:xfrm>
          <a:prstGeom prst="rect">
            <a:avLst/>
          </a:prstGeom>
          <a:noFill/>
        </p:spPr>
        <p:txBody>
          <a:bodyPr wrap="square" lIns="45720" rIns="45720" tIns="27432" bIns="27432" anchor="t">
            <a:spAutoFit/>
          </a:bodyPr>
          <a:lstStyle/>
          <a:p>
            <a:pPr algn="l">
              <a:lnSpc>
                <a:spcPct val="110000"/>
              </a:lnSpc>
            </a:pPr>
            <a:r>
              <a:rPr sz="1600" b="0" i="1">
                <a:solidFill>
                  <a:srgbClr val="666666"/>
                </a:solidFill>
                <a:latin typeface="Arial"/>
              </a:rPr>
              <a:t>We cannot make incidents never happen. We can make every incident that did happen</a:t>
            </a:r>
          </a:p>
          <a:p>
            <a:pPr algn="l">
              <a:lnSpc>
                <a:spcPct val="110000"/>
              </a:lnSpc>
            </a:pPr>
            <a:r>
              <a:rPr sz="1600" b="0" i="1">
                <a:solidFill>
                  <a:srgbClr val="666666"/>
                </a:solidFill>
                <a:latin typeface="Arial"/>
              </a:rPr>
              <a:t>a permanent, regression-tested improvement to the next policy.</a:t>
            </a:r>
          </a:p>
        </p:txBody>
      </p:sp>
      <p:sp>
        <p:nvSpPr>
          <p:cNvPr id="7" name="TextBox 6"/>
          <p:cNvSpPr txBox="1"/>
          <p:nvPr/>
        </p:nvSpPr>
        <p:spPr>
          <a:xfrm>
            <a:off x="914400" y="5394960"/>
            <a:ext cx="10058400" cy="731520"/>
          </a:xfrm>
          <a:prstGeom prst="rect">
            <a:avLst/>
          </a:prstGeom>
          <a:noFill/>
        </p:spPr>
        <p:txBody>
          <a:bodyPr wrap="square" lIns="45720" rIns="45720" tIns="27432" bIns="27432" anchor="t">
            <a:spAutoFit/>
          </a:bodyPr>
          <a:lstStyle/>
          <a:p>
            <a:pPr algn="l">
              <a:lnSpc>
                <a:spcPct val="110000"/>
              </a:lnSpc>
            </a:pPr>
            <a:r>
              <a:rPr sz="1200" b="0" i="0">
                <a:solidFill>
                  <a:srgbClr val="666666"/>
                </a:solidFill>
                <a:latin typeface="Arial"/>
              </a:rPr>
              <a:t>Jiawei Li · containment-extension · design proposal,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82296" cy="566928"/>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301752"/>
            <a:ext cx="10515600" cy="548640"/>
          </a:xfrm>
          <a:prstGeom prst="rect">
            <a:avLst/>
          </a:prstGeom>
          <a:noFill/>
        </p:spPr>
        <p:txBody>
          <a:bodyPr wrap="square" lIns="45720" rIns="45720" tIns="27432" bIns="27432" anchor="ctr">
            <a:spAutoFit/>
          </a:bodyPr>
          <a:lstStyle/>
          <a:p>
            <a:pPr algn="l">
              <a:lnSpc>
                <a:spcPct val="110000"/>
              </a:lnSpc>
            </a:pPr>
            <a:r>
              <a:rPr sz="2600" b="1" i="0">
                <a:solidFill>
                  <a:srgbClr val="111111"/>
                </a:solidFill>
                <a:latin typeface="Arial"/>
              </a:rPr>
              <a:t>What this deck covers</a:t>
            </a:r>
          </a:p>
        </p:txBody>
      </p:sp>
      <p:cxnSp>
        <p:nvCxnSpPr>
          <p:cNvPr id="4" name="Connector 3"/>
          <p:cNvCxnSpPr/>
          <p:nvPr/>
        </p:nvCxnSpPr>
        <p:spPr>
          <a:xfrm>
            <a:off x="457200" y="6446520"/>
            <a:ext cx="11277295" cy="0"/>
          </a:xfrm>
          <a:prstGeom prst="line">
            <a:avLst/>
          </a:prstGeom>
          <a:ln w="6350">
            <a:solidFill>
              <a:srgbClr val="C9C9C9"/>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73952"/>
            <a:ext cx="10058400" cy="274320"/>
          </a:xfrm>
          <a:prstGeom prst="rect">
            <a:avLst/>
          </a:prstGeom>
          <a:noFill/>
        </p:spPr>
        <p:txBody>
          <a:bodyPr wrap="square" lIns="45720" rIns="45720" tIns="27432" bIns="27432" anchor="t">
            <a:spAutoFit/>
          </a:bodyPr>
          <a:lstStyle/>
          <a:p>
            <a:pPr algn="l">
              <a:lnSpc>
                <a:spcPct val="110000"/>
              </a:lnSpc>
            </a:pPr>
            <a:r>
              <a:rPr sz="800" b="0" i="0">
                <a:solidFill>
                  <a:srgbClr val="666666"/>
                </a:solidFill>
                <a:latin typeface="Arial"/>
              </a:rPr>
              <a:t>Incident-aware optimization · design proposal · containment-extension · October 2026 · no benchmark improvement measured</a:t>
            </a:r>
          </a:p>
        </p:txBody>
      </p:sp>
      <p:sp>
        <p:nvSpPr>
          <p:cNvPr id="6" name="TextBox 5"/>
          <p:cNvSpPr txBox="1"/>
          <p:nvPr/>
        </p:nvSpPr>
        <p:spPr>
          <a:xfrm>
            <a:off x="10820095" y="6473952"/>
            <a:ext cx="914400" cy="274320"/>
          </a:xfrm>
          <a:prstGeom prst="rect">
            <a:avLst/>
          </a:prstGeom>
          <a:noFill/>
        </p:spPr>
        <p:txBody>
          <a:bodyPr wrap="square" lIns="45720" rIns="45720" tIns="27432" bIns="27432" anchor="t">
            <a:spAutoFit/>
          </a:bodyPr>
          <a:lstStyle/>
          <a:p>
            <a:pPr algn="r">
              <a:lnSpc>
                <a:spcPct val="110000"/>
              </a:lnSpc>
            </a:pPr>
            <a:r>
              <a:rPr sz="900" b="0" i="0">
                <a:solidFill>
                  <a:srgbClr val="666666"/>
                </a:solidFill>
                <a:latin typeface="Arial"/>
              </a:rPr>
              <a:t>2</a:t>
            </a:r>
          </a:p>
        </p:txBody>
      </p:sp>
      <p:sp>
        <p:nvSpPr>
          <p:cNvPr id="7" name="Rounded Rectangle 6"/>
          <p:cNvSpPr/>
          <p:nvPr/>
        </p:nvSpPr>
        <p:spPr>
          <a:xfrm>
            <a:off x="457200" y="1325880"/>
            <a:ext cx="11277295" cy="713232"/>
          </a:xfrm>
          <a:prstGeom prst="roundRect">
            <a:avLst>
              <a:gd name="adj" fmla="val 6000"/>
            </a:avLst>
          </a:prstGeom>
          <a:solidFill>
            <a:srgbClr val="EDF4FB"/>
          </a:solidFill>
          <a:ln w="6350">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94360" y="1417320"/>
            <a:ext cx="548640" cy="548640"/>
          </a:xfrm>
          <a:prstGeom prst="rect">
            <a:avLst/>
          </a:prstGeom>
          <a:noFill/>
        </p:spPr>
        <p:txBody>
          <a:bodyPr wrap="square" lIns="45720" rIns="45720" tIns="27432" bIns="27432" anchor="t">
            <a:spAutoFit/>
          </a:bodyPr>
          <a:lstStyle/>
          <a:p>
            <a:pPr algn="l">
              <a:lnSpc>
                <a:spcPct val="110000"/>
              </a:lnSpc>
            </a:pPr>
            <a:r>
              <a:rPr sz="2400" b="1" i="0">
                <a:solidFill>
                  <a:srgbClr val="365E9E"/>
                </a:solidFill>
                <a:latin typeface="Arial"/>
              </a:rPr>
              <a:t>1</a:t>
            </a:r>
          </a:p>
        </p:txBody>
      </p:sp>
      <p:sp>
        <p:nvSpPr>
          <p:cNvPr id="9" name="TextBox 8"/>
          <p:cNvSpPr txBox="1"/>
          <p:nvPr/>
        </p:nvSpPr>
        <p:spPr>
          <a:xfrm>
            <a:off x="1188720" y="1399032"/>
            <a:ext cx="3291840" cy="548640"/>
          </a:xfrm>
          <a:prstGeom prst="rect">
            <a:avLst/>
          </a:prstGeom>
          <a:noFill/>
        </p:spPr>
        <p:txBody>
          <a:bodyPr wrap="square" lIns="45720" rIns="45720" tIns="27432" bIns="27432" anchor="ctr">
            <a:spAutoFit/>
          </a:bodyPr>
          <a:lstStyle/>
          <a:p>
            <a:pPr algn="l">
              <a:lnSpc>
                <a:spcPct val="110000"/>
              </a:lnSpc>
            </a:pPr>
            <a:r>
              <a:rPr sz="1800" b="1" i="0">
                <a:solidFill>
                  <a:srgbClr val="111111"/>
                </a:solidFill>
                <a:latin typeface="Arial"/>
              </a:rPr>
              <a:t>Motivation</a:t>
            </a:r>
          </a:p>
        </p:txBody>
      </p:sp>
      <p:sp>
        <p:nvSpPr>
          <p:cNvPr id="10" name="TextBox 9"/>
          <p:cNvSpPr txBox="1"/>
          <p:nvPr/>
        </p:nvSpPr>
        <p:spPr>
          <a:xfrm>
            <a:off x="4572000" y="1399032"/>
            <a:ext cx="7040880" cy="566928"/>
          </a:xfrm>
          <a:prstGeom prst="rect">
            <a:avLst/>
          </a:prstGeom>
          <a:noFill/>
        </p:spPr>
        <p:txBody>
          <a:bodyPr wrap="square" lIns="45720" rIns="45720" tIns="27432" bIns="27432" anchor="ctr">
            <a:spAutoFit/>
          </a:bodyPr>
          <a:lstStyle/>
          <a:p>
            <a:pPr algn="l">
              <a:lnSpc>
                <a:spcPct val="110000"/>
              </a:lnSpc>
            </a:pPr>
            <a:r>
              <a:rPr sz="1500" b="0" i="0">
                <a:solidFill>
                  <a:srgbClr val="666666"/>
                </a:solidFill>
                <a:latin typeface="Arial"/>
              </a:rPr>
              <a:t>Incidents are inevitable; history is the asset</a:t>
            </a:r>
          </a:p>
        </p:txBody>
      </p:sp>
      <p:sp>
        <p:nvSpPr>
          <p:cNvPr id="11" name="Rounded Rectangle 10"/>
          <p:cNvSpPr/>
          <p:nvPr/>
        </p:nvSpPr>
        <p:spPr>
          <a:xfrm>
            <a:off x="457200" y="2130552"/>
            <a:ext cx="11277295" cy="713232"/>
          </a:xfrm>
          <a:prstGeom prst="roundRect">
            <a:avLst>
              <a:gd name="adj" fmla="val 6000"/>
            </a:avLst>
          </a:prstGeom>
          <a:solidFill>
            <a:srgbClr val="FFFFFF"/>
          </a:solidFill>
          <a:ln w="6350">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94360" y="2221992"/>
            <a:ext cx="548640" cy="548640"/>
          </a:xfrm>
          <a:prstGeom prst="rect">
            <a:avLst/>
          </a:prstGeom>
          <a:noFill/>
        </p:spPr>
        <p:txBody>
          <a:bodyPr wrap="square" lIns="45720" rIns="45720" tIns="27432" bIns="27432" anchor="t">
            <a:spAutoFit/>
          </a:bodyPr>
          <a:lstStyle/>
          <a:p>
            <a:pPr algn="l">
              <a:lnSpc>
                <a:spcPct val="110000"/>
              </a:lnSpc>
            </a:pPr>
            <a:r>
              <a:rPr sz="2400" b="1" i="0">
                <a:solidFill>
                  <a:srgbClr val="365E9E"/>
                </a:solidFill>
                <a:latin typeface="Arial"/>
              </a:rPr>
              <a:t>2</a:t>
            </a:r>
          </a:p>
        </p:txBody>
      </p:sp>
      <p:sp>
        <p:nvSpPr>
          <p:cNvPr id="13" name="TextBox 12"/>
          <p:cNvSpPr txBox="1"/>
          <p:nvPr/>
        </p:nvSpPr>
        <p:spPr>
          <a:xfrm>
            <a:off x="1188720" y="2203704"/>
            <a:ext cx="3291840" cy="548640"/>
          </a:xfrm>
          <a:prstGeom prst="rect">
            <a:avLst/>
          </a:prstGeom>
          <a:noFill/>
        </p:spPr>
        <p:txBody>
          <a:bodyPr wrap="square" lIns="45720" rIns="45720" tIns="27432" bIns="27432" anchor="ctr">
            <a:spAutoFit/>
          </a:bodyPr>
          <a:lstStyle/>
          <a:p>
            <a:pPr algn="l">
              <a:lnSpc>
                <a:spcPct val="110000"/>
              </a:lnSpc>
            </a:pPr>
            <a:r>
              <a:rPr sz="1800" b="1" i="0">
                <a:solidFill>
                  <a:srgbClr val="111111"/>
                </a:solidFill>
                <a:latin typeface="Arial"/>
              </a:rPr>
              <a:t>Delivery</a:t>
            </a:r>
          </a:p>
        </p:txBody>
      </p:sp>
      <p:sp>
        <p:nvSpPr>
          <p:cNvPr id="14" name="TextBox 13"/>
          <p:cNvSpPr txBox="1"/>
          <p:nvPr/>
        </p:nvSpPr>
        <p:spPr>
          <a:xfrm>
            <a:off x="4572000" y="2203704"/>
            <a:ext cx="7040880" cy="566928"/>
          </a:xfrm>
          <a:prstGeom prst="rect">
            <a:avLst/>
          </a:prstGeom>
          <a:noFill/>
        </p:spPr>
        <p:txBody>
          <a:bodyPr wrap="square" lIns="45720" rIns="45720" tIns="27432" bIns="27432" anchor="ctr">
            <a:spAutoFit/>
          </a:bodyPr>
          <a:lstStyle/>
          <a:p>
            <a:pPr algn="l">
              <a:lnSpc>
                <a:spcPct val="110000"/>
              </a:lnSpc>
            </a:pPr>
            <a:r>
              <a:rPr sz="1500" b="0" i="0">
                <a:solidFill>
                  <a:srgbClr val="666666"/>
                </a:solidFill>
                <a:latin typeface="Arial"/>
              </a:rPr>
              <a:t>An Inspect extension plus an incident library; who uses it</a:t>
            </a:r>
          </a:p>
        </p:txBody>
      </p:sp>
      <p:sp>
        <p:nvSpPr>
          <p:cNvPr id="15" name="Rounded Rectangle 14"/>
          <p:cNvSpPr/>
          <p:nvPr/>
        </p:nvSpPr>
        <p:spPr>
          <a:xfrm>
            <a:off x="457200" y="2935224"/>
            <a:ext cx="11277295" cy="713232"/>
          </a:xfrm>
          <a:prstGeom prst="roundRect">
            <a:avLst>
              <a:gd name="adj" fmla="val 6000"/>
            </a:avLst>
          </a:prstGeom>
          <a:solidFill>
            <a:srgbClr val="EDF4FB"/>
          </a:solidFill>
          <a:ln w="6350">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94360" y="3026664"/>
            <a:ext cx="548640" cy="548640"/>
          </a:xfrm>
          <a:prstGeom prst="rect">
            <a:avLst/>
          </a:prstGeom>
          <a:noFill/>
        </p:spPr>
        <p:txBody>
          <a:bodyPr wrap="square" lIns="45720" rIns="45720" tIns="27432" bIns="27432" anchor="t">
            <a:spAutoFit/>
          </a:bodyPr>
          <a:lstStyle/>
          <a:p>
            <a:pPr algn="l">
              <a:lnSpc>
                <a:spcPct val="110000"/>
              </a:lnSpc>
            </a:pPr>
            <a:r>
              <a:rPr sz="2400" b="1" i="0">
                <a:solidFill>
                  <a:srgbClr val="365E9E"/>
                </a:solidFill>
                <a:latin typeface="Arial"/>
              </a:rPr>
              <a:t>3</a:t>
            </a:r>
          </a:p>
        </p:txBody>
      </p:sp>
      <p:sp>
        <p:nvSpPr>
          <p:cNvPr id="17" name="TextBox 16"/>
          <p:cNvSpPr txBox="1"/>
          <p:nvPr/>
        </p:nvSpPr>
        <p:spPr>
          <a:xfrm>
            <a:off x="1188720" y="3008376"/>
            <a:ext cx="3291840" cy="548640"/>
          </a:xfrm>
          <a:prstGeom prst="rect">
            <a:avLst/>
          </a:prstGeom>
          <a:noFill/>
        </p:spPr>
        <p:txBody>
          <a:bodyPr wrap="square" lIns="45720" rIns="45720" tIns="27432" bIns="27432" anchor="ctr">
            <a:spAutoFit/>
          </a:bodyPr>
          <a:lstStyle/>
          <a:p>
            <a:pPr algn="l">
              <a:lnSpc>
                <a:spcPct val="110000"/>
              </a:lnSpc>
            </a:pPr>
            <a:r>
              <a:rPr sz="1800" b="1" i="0">
                <a:solidFill>
                  <a:srgbClr val="111111"/>
                </a:solidFill>
                <a:latin typeface="Arial"/>
              </a:rPr>
              <a:t>Design</a:t>
            </a:r>
          </a:p>
        </p:txBody>
      </p:sp>
      <p:sp>
        <p:nvSpPr>
          <p:cNvPr id="18" name="TextBox 17"/>
          <p:cNvSpPr txBox="1"/>
          <p:nvPr/>
        </p:nvSpPr>
        <p:spPr>
          <a:xfrm>
            <a:off x="4572000" y="3008376"/>
            <a:ext cx="7040880" cy="566928"/>
          </a:xfrm>
          <a:prstGeom prst="rect">
            <a:avLst/>
          </a:prstGeom>
          <a:noFill/>
        </p:spPr>
        <p:txBody>
          <a:bodyPr wrap="square" lIns="45720" rIns="45720" tIns="27432" bIns="27432" anchor="ctr">
            <a:spAutoFit/>
          </a:bodyPr>
          <a:lstStyle/>
          <a:p>
            <a:pPr algn="l">
              <a:lnSpc>
                <a:spcPct val="110000"/>
              </a:lnSpc>
            </a:pPr>
            <a:r>
              <a:rPr sz="1500" b="0" i="0">
                <a:solidFill>
                  <a:srgbClr val="666666"/>
                </a:solidFill>
                <a:latin typeface="Arial"/>
              </a:rPr>
              <a:t>One architecture, seven principles</a:t>
            </a:r>
          </a:p>
        </p:txBody>
      </p:sp>
      <p:sp>
        <p:nvSpPr>
          <p:cNvPr id="19" name="Rounded Rectangle 18"/>
          <p:cNvSpPr/>
          <p:nvPr/>
        </p:nvSpPr>
        <p:spPr>
          <a:xfrm>
            <a:off x="457200" y="3739896"/>
            <a:ext cx="11277295" cy="713232"/>
          </a:xfrm>
          <a:prstGeom prst="roundRect">
            <a:avLst>
              <a:gd name="adj" fmla="val 6000"/>
            </a:avLst>
          </a:prstGeom>
          <a:solidFill>
            <a:srgbClr val="FFFFFF"/>
          </a:solidFill>
          <a:ln w="6350">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94360" y="3831336"/>
            <a:ext cx="548640" cy="548640"/>
          </a:xfrm>
          <a:prstGeom prst="rect">
            <a:avLst/>
          </a:prstGeom>
          <a:noFill/>
        </p:spPr>
        <p:txBody>
          <a:bodyPr wrap="square" lIns="45720" rIns="45720" tIns="27432" bIns="27432" anchor="t">
            <a:spAutoFit/>
          </a:bodyPr>
          <a:lstStyle/>
          <a:p>
            <a:pPr algn="l">
              <a:lnSpc>
                <a:spcPct val="110000"/>
              </a:lnSpc>
            </a:pPr>
            <a:r>
              <a:rPr sz="2400" b="1" i="0">
                <a:solidFill>
                  <a:srgbClr val="365E9E"/>
                </a:solidFill>
                <a:latin typeface="Arial"/>
              </a:rPr>
              <a:t>4</a:t>
            </a:r>
          </a:p>
        </p:txBody>
      </p:sp>
      <p:sp>
        <p:nvSpPr>
          <p:cNvPr id="21" name="TextBox 20"/>
          <p:cNvSpPr txBox="1"/>
          <p:nvPr/>
        </p:nvSpPr>
        <p:spPr>
          <a:xfrm>
            <a:off x="1188720" y="3813048"/>
            <a:ext cx="3291840" cy="548640"/>
          </a:xfrm>
          <a:prstGeom prst="rect">
            <a:avLst/>
          </a:prstGeom>
          <a:noFill/>
        </p:spPr>
        <p:txBody>
          <a:bodyPr wrap="square" lIns="45720" rIns="45720" tIns="27432" bIns="27432" anchor="ctr">
            <a:spAutoFit/>
          </a:bodyPr>
          <a:lstStyle/>
          <a:p>
            <a:pPr algn="l">
              <a:lnSpc>
                <a:spcPct val="110000"/>
              </a:lnSpc>
            </a:pPr>
            <a:r>
              <a:rPr sz="1800" b="1" i="0">
                <a:solidFill>
                  <a:srgbClr val="111111"/>
                </a:solidFill>
                <a:latin typeface="Arial"/>
              </a:rPr>
              <a:t>Components</a:t>
            </a:r>
          </a:p>
        </p:txBody>
      </p:sp>
      <p:sp>
        <p:nvSpPr>
          <p:cNvPr id="22" name="TextBox 21"/>
          <p:cNvSpPr txBox="1"/>
          <p:nvPr/>
        </p:nvSpPr>
        <p:spPr>
          <a:xfrm>
            <a:off x="4572000" y="3813048"/>
            <a:ext cx="7040880" cy="566928"/>
          </a:xfrm>
          <a:prstGeom prst="rect">
            <a:avLst/>
          </a:prstGeom>
          <a:noFill/>
        </p:spPr>
        <p:txBody>
          <a:bodyPr wrap="square" lIns="45720" rIns="45720" tIns="27432" bIns="27432" anchor="ctr">
            <a:spAutoFit/>
          </a:bodyPr>
          <a:lstStyle/>
          <a:p>
            <a:pPr algn="l">
              <a:lnSpc>
                <a:spcPct val="110000"/>
              </a:lnSpc>
            </a:pPr>
            <a:r>
              <a:rPr sz="1500" b="0" i="0">
                <a:solidFill>
                  <a:srgbClr val="666666"/>
                </a:solidFill>
                <a:latin typeface="Arial"/>
              </a:rPr>
              <a:t>Intake, library, synthesis, replay, optimizer, monitor, release</a:t>
            </a:r>
          </a:p>
        </p:txBody>
      </p:sp>
      <p:sp>
        <p:nvSpPr>
          <p:cNvPr id="23" name="Rounded Rectangle 22"/>
          <p:cNvSpPr/>
          <p:nvPr/>
        </p:nvSpPr>
        <p:spPr>
          <a:xfrm>
            <a:off x="457200" y="4544568"/>
            <a:ext cx="11277295" cy="713232"/>
          </a:xfrm>
          <a:prstGeom prst="roundRect">
            <a:avLst>
              <a:gd name="adj" fmla="val 6000"/>
            </a:avLst>
          </a:prstGeom>
          <a:solidFill>
            <a:srgbClr val="EDF4FB"/>
          </a:solidFill>
          <a:ln w="6350">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94360" y="4636008"/>
            <a:ext cx="548640" cy="548640"/>
          </a:xfrm>
          <a:prstGeom prst="rect">
            <a:avLst/>
          </a:prstGeom>
          <a:noFill/>
        </p:spPr>
        <p:txBody>
          <a:bodyPr wrap="square" lIns="45720" rIns="45720" tIns="27432" bIns="27432" anchor="t">
            <a:spAutoFit/>
          </a:bodyPr>
          <a:lstStyle/>
          <a:p>
            <a:pPr algn="l">
              <a:lnSpc>
                <a:spcPct val="110000"/>
              </a:lnSpc>
            </a:pPr>
            <a:r>
              <a:rPr sz="2400" b="1" i="0">
                <a:solidFill>
                  <a:srgbClr val="365E9E"/>
                </a:solidFill>
                <a:latin typeface="Arial"/>
              </a:rPr>
              <a:t>5</a:t>
            </a:r>
          </a:p>
        </p:txBody>
      </p:sp>
      <p:sp>
        <p:nvSpPr>
          <p:cNvPr id="25" name="TextBox 24"/>
          <p:cNvSpPr txBox="1"/>
          <p:nvPr/>
        </p:nvSpPr>
        <p:spPr>
          <a:xfrm>
            <a:off x="1188720" y="4617720"/>
            <a:ext cx="3291840" cy="548640"/>
          </a:xfrm>
          <a:prstGeom prst="rect">
            <a:avLst/>
          </a:prstGeom>
          <a:noFill/>
        </p:spPr>
        <p:txBody>
          <a:bodyPr wrap="square" lIns="45720" rIns="45720" tIns="27432" bIns="27432" anchor="ctr">
            <a:spAutoFit/>
          </a:bodyPr>
          <a:lstStyle/>
          <a:p>
            <a:pPr algn="l">
              <a:lnSpc>
                <a:spcPct val="110000"/>
              </a:lnSpc>
            </a:pPr>
            <a:r>
              <a:rPr sz="1800" b="1" i="0">
                <a:solidFill>
                  <a:srgbClr val="111111"/>
                </a:solidFill>
                <a:latin typeface="Arial"/>
              </a:rPr>
              <a:t>Standout features</a:t>
            </a:r>
          </a:p>
        </p:txBody>
      </p:sp>
      <p:sp>
        <p:nvSpPr>
          <p:cNvPr id="26" name="TextBox 25"/>
          <p:cNvSpPr txBox="1"/>
          <p:nvPr/>
        </p:nvSpPr>
        <p:spPr>
          <a:xfrm>
            <a:off x="4572000" y="4617720"/>
            <a:ext cx="7040880" cy="566928"/>
          </a:xfrm>
          <a:prstGeom prst="rect">
            <a:avLst/>
          </a:prstGeom>
          <a:noFill/>
        </p:spPr>
        <p:txBody>
          <a:bodyPr wrap="square" lIns="45720" rIns="45720" tIns="27432" bIns="27432" anchor="ctr">
            <a:spAutoFit/>
          </a:bodyPr>
          <a:lstStyle/>
          <a:p>
            <a:pPr algn="l">
              <a:lnSpc>
                <a:spcPct val="110000"/>
              </a:lnSpc>
            </a:pPr>
            <a:r>
              <a:rPr sz="1500" b="0" i="0">
                <a:solidFill>
                  <a:srgbClr val="666666"/>
                </a:solidFill>
                <a:latin typeface="Arial"/>
              </a:rPr>
              <a:t>Time split, benign twins, poisoning defence, blame</a:t>
            </a:r>
          </a:p>
        </p:txBody>
      </p:sp>
      <p:sp>
        <p:nvSpPr>
          <p:cNvPr id="27" name="Rounded Rectangle 26"/>
          <p:cNvSpPr/>
          <p:nvPr/>
        </p:nvSpPr>
        <p:spPr>
          <a:xfrm>
            <a:off x="457200" y="5349240"/>
            <a:ext cx="11277295" cy="713232"/>
          </a:xfrm>
          <a:prstGeom prst="roundRect">
            <a:avLst>
              <a:gd name="adj" fmla="val 6000"/>
            </a:avLst>
          </a:prstGeom>
          <a:solidFill>
            <a:srgbClr val="FFFFFF"/>
          </a:solidFill>
          <a:ln w="6350">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594360" y="5440680"/>
            <a:ext cx="548640" cy="548640"/>
          </a:xfrm>
          <a:prstGeom prst="rect">
            <a:avLst/>
          </a:prstGeom>
          <a:noFill/>
        </p:spPr>
        <p:txBody>
          <a:bodyPr wrap="square" lIns="45720" rIns="45720" tIns="27432" bIns="27432" anchor="t">
            <a:spAutoFit/>
          </a:bodyPr>
          <a:lstStyle/>
          <a:p>
            <a:pPr algn="l">
              <a:lnSpc>
                <a:spcPct val="110000"/>
              </a:lnSpc>
            </a:pPr>
            <a:r>
              <a:rPr sz="2400" b="1" i="0">
                <a:solidFill>
                  <a:srgbClr val="365E9E"/>
                </a:solidFill>
                <a:latin typeface="Arial"/>
              </a:rPr>
              <a:t>6</a:t>
            </a:r>
          </a:p>
        </p:txBody>
      </p:sp>
      <p:sp>
        <p:nvSpPr>
          <p:cNvPr id="29" name="TextBox 28"/>
          <p:cNvSpPr txBox="1"/>
          <p:nvPr/>
        </p:nvSpPr>
        <p:spPr>
          <a:xfrm>
            <a:off x="1188720" y="5422392"/>
            <a:ext cx="3291840" cy="548640"/>
          </a:xfrm>
          <a:prstGeom prst="rect">
            <a:avLst/>
          </a:prstGeom>
          <a:noFill/>
        </p:spPr>
        <p:txBody>
          <a:bodyPr wrap="square" lIns="45720" rIns="45720" tIns="27432" bIns="27432" anchor="ctr">
            <a:spAutoFit/>
          </a:bodyPr>
          <a:lstStyle/>
          <a:p>
            <a:pPr algn="l">
              <a:lnSpc>
                <a:spcPct val="110000"/>
              </a:lnSpc>
            </a:pPr>
            <a:r>
              <a:rPr sz="1800" b="1" i="0">
                <a:solidFill>
                  <a:srgbClr val="111111"/>
                </a:solidFill>
                <a:latin typeface="Arial"/>
              </a:rPr>
              <a:t>Risks, evaluation, status</a:t>
            </a:r>
          </a:p>
        </p:txBody>
      </p:sp>
      <p:sp>
        <p:nvSpPr>
          <p:cNvPr id="30" name="TextBox 29"/>
          <p:cNvSpPr txBox="1"/>
          <p:nvPr/>
        </p:nvSpPr>
        <p:spPr>
          <a:xfrm>
            <a:off x="4572000" y="5422392"/>
            <a:ext cx="7040880" cy="566928"/>
          </a:xfrm>
          <a:prstGeom prst="rect">
            <a:avLst/>
          </a:prstGeom>
          <a:noFill/>
        </p:spPr>
        <p:txBody>
          <a:bodyPr wrap="square" lIns="45720" rIns="45720" tIns="27432" bIns="27432" anchor="ctr">
            <a:spAutoFit/>
          </a:bodyPr>
          <a:lstStyle/>
          <a:p>
            <a:pPr algn="l">
              <a:lnSpc>
                <a:spcPct val="110000"/>
              </a:lnSpc>
            </a:pPr>
            <a:r>
              <a:rPr sz="1500" b="0" i="0">
                <a:solidFill>
                  <a:srgbClr val="666666"/>
                </a:solidFill>
                <a:latin typeface="Arial"/>
              </a:rPr>
              <a:t>What could fool us, how we would know, what exists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82296" cy="566928"/>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301752"/>
            <a:ext cx="10515600" cy="548640"/>
          </a:xfrm>
          <a:prstGeom prst="rect">
            <a:avLst/>
          </a:prstGeom>
          <a:noFill/>
        </p:spPr>
        <p:txBody>
          <a:bodyPr wrap="square" lIns="45720" rIns="45720" tIns="27432" bIns="27432" anchor="ctr">
            <a:spAutoFit/>
          </a:bodyPr>
          <a:lstStyle/>
          <a:p>
            <a:pPr algn="l">
              <a:lnSpc>
                <a:spcPct val="110000"/>
              </a:lnSpc>
            </a:pPr>
            <a:r>
              <a:rPr sz="2600" b="1" i="0">
                <a:solidFill>
                  <a:srgbClr val="111111"/>
                </a:solidFill>
                <a:latin typeface="Arial"/>
              </a:rPr>
              <a:t>Incidents are a property of complex systems</a:t>
            </a:r>
          </a:p>
        </p:txBody>
      </p:sp>
      <p:sp>
        <p:nvSpPr>
          <p:cNvPr id="4" name="TextBox 3"/>
          <p:cNvSpPr txBox="1"/>
          <p:nvPr/>
        </p:nvSpPr>
        <p:spPr>
          <a:xfrm>
            <a:off x="640080" y="868680"/>
            <a:ext cx="10972800" cy="365760"/>
          </a:xfrm>
          <a:prstGeom prst="rect">
            <a:avLst/>
          </a:prstGeom>
          <a:noFill/>
        </p:spPr>
        <p:txBody>
          <a:bodyPr wrap="square" lIns="45720" rIns="45720" tIns="27432" bIns="27432" anchor="t">
            <a:spAutoFit/>
          </a:bodyPr>
          <a:lstStyle/>
          <a:p>
            <a:pPr algn="l">
              <a:lnSpc>
                <a:spcPct val="110000"/>
              </a:lnSpc>
            </a:pPr>
            <a:r>
              <a:rPr sz="1300" b="0" i="0">
                <a:solidFill>
                  <a:srgbClr val="666666"/>
                </a:solidFill>
                <a:latin typeface="Arial"/>
              </a:rPr>
              <a:t>Four views that agree on the premise</a:t>
            </a:r>
          </a:p>
        </p:txBody>
      </p:sp>
      <p:sp>
        <p:nvSpPr>
          <p:cNvPr id="5" name="TextBox 4"/>
          <p:cNvSpPr txBox="1"/>
          <p:nvPr/>
        </p:nvSpPr>
        <p:spPr>
          <a:xfrm>
            <a:off x="8503920" y="109728"/>
            <a:ext cx="3200400" cy="274320"/>
          </a:xfrm>
          <a:prstGeom prst="rect">
            <a:avLst/>
          </a:prstGeom>
          <a:noFill/>
        </p:spPr>
        <p:txBody>
          <a:bodyPr wrap="square" lIns="45720" rIns="45720" tIns="27432" bIns="27432" anchor="t">
            <a:spAutoFit/>
          </a:bodyPr>
          <a:lstStyle/>
          <a:p>
            <a:pPr algn="r">
              <a:lnSpc>
                <a:spcPct val="110000"/>
              </a:lnSpc>
            </a:pPr>
            <a:r>
              <a:rPr sz="900" b="1" i="0">
                <a:solidFill>
                  <a:srgbClr val="365E9E"/>
                </a:solidFill>
                <a:latin typeface="Arial"/>
              </a:rPr>
              <a:t>1 · MOTIVATION</a:t>
            </a:r>
          </a:p>
        </p:txBody>
      </p:sp>
      <p:cxnSp>
        <p:nvCxnSpPr>
          <p:cNvPr id="6" name="Connector 5"/>
          <p:cNvCxnSpPr/>
          <p:nvPr/>
        </p:nvCxnSpPr>
        <p:spPr>
          <a:xfrm>
            <a:off x="457200" y="6446520"/>
            <a:ext cx="11277295" cy="0"/>
          </a:xfrm>
          <a:prstGeom prst="line">
            <a:avLst/>
          </a:prstGeom>
          <a:ln w="6350">
            <a:solidFill>
              <a:srgbClr val="C9C9C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57200" y="6473952"/>
            <a:ext cx="10058400" cy="274320"/>
          </a:xfrm>
          <a:prstGeom prst="rect">
            <a:avLst/>
          </a:prstGeom>
          <a:noFill/>
        </p:spPr>
        <p:txBody>
          <a:bodyPr wrap="square" lIns="45720" rIns="45720" tIns="27432" bIns="27432" anchor="t">
            <a:spAutoFit/>
          </a:bodyPr>
          <a:lstStyle/>
          <a:p>
            <a:pPr algn="l">
              <a:lnSpc>
                <a:spcPct val="110000"/>
              </a:lnSpc>
            </a:pPr>
            <a:r>
              <a:rPr sz="800" b="0" i="0">
                <a:solidFill>
                  <a:srgbClr val="666666"/>
                </a:solidFill>
                <a:latin typeface="Arial"/>
              </a:rPr>
              <a:t>Incident-aware optimization · design proposal · containment-extension · October 2026 · no benchmark improvement measured</a:t>
            </a:r>
          </a:p>
        </p:txBody>
      </p:sp>
      <p:sp>
        <p:nvSpPr>
          <p:cNvPr id="8" name="TextBox 7"/>
          <p:cNvSpPr txBox="1"/>
          <p:nvPr/>
        </p:nvSpPr>
        <p:spPr>
          <a:xfrm>
            <a:off x="10820095" y="6473952"/>
            <a:ext cx="914400" cy="274320"/>
          </a:xfrm>
          <a:prstGeom prst="rect">
            <a:avLst/>
          </a:prstGeom>
          <a:noFill/>
        </p:spPr>
        <p:txBody>
          <a:bodyPr wrap="square" lIns="45720" rIns="45720" tIns="27432" bIns="27432" anchor="t">
            <a:spAutoFit/>
          </a:bodyPr>
          <a:lstStyle/>
          <a:p>
            <a:pPr algn="r">
              <a:lnSpc>
                <a:spcPct val="110000"/>
              </a:lnSpc>
            </a:pPr>
            <a:r>
              <a:rPr sz="900" b="0" i="0">
                <a:solidFill>
                  <a:srgbClr val="666666"/>
                </a:solidFill>
                <a:latin typeface="Arial"/>
              </a:rPr>
              <a:t>3</a:t>
            </a:r>
          </a:p>
        </p:txBody>
      </p:sp>
      <p:sp>
        <p:nvSpPr>
          <p:cNvPr id="9" name="Rounded Rectangle 8"/>
          <p:cNvSpPr/>
          <p:nvPr/>
        </p:nvSpPr>
        <p:spPr>
          <a:xfrm>
            <a:off x="457200" y="1325880"/>
            <a:ext cx="6035040" cy="987552"/>
          </a:xfrm>
          <a:prstGeom prst="roundRect">
            <a:avLst>
              <a:gd name="adj" fmla="val 6000"/>
            </a:avLst>
          </a:prstGeom>
          <a:solidFill>
            <a:srgbClr val="EDF4FB"/>
          </a:solidFill>
          <a:ln w="12700">
            <a:solidFill>
              <a:srgbClr val="365E9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1399032"/>
            <a:ext cx="5833872" cy="365760"/>
          </a:xfrm>
          <a:prstGeom prst="rect">
            <a:avLst/>
          </a:prstGeom>
          <a:noFill/>
        </p:spPr>
        <p:txBody>
          <a:bodyPr wrap="square" lIns="45720" rIns="45720" tIns="27432" bIns="27432" anchor="t">
            <a:spAutoFit/>
          </a:bodyPr>
          <a:lstStyle/>
          <a:p>
            <a:pPr algn="l">
              <a:lnSpc>
                <a:spcPct val="110000"/>
              </a:lnSpc>
            </a:pPr>
            <a:r>
              <a:rPr sz="1400" b="1" i="0">
                <a:solidFill>
                  <a:srgbClr val="365E9E"/>
                </a:solidFill>
                <a:latin typeface="Arial"/>
              </a:rPr>
              <a:t>Perrow, Normal Accidents (1984)</a:t>
            </a:r>
          </a:p>
        </p:txBody>
      </p:sp>
      <p:sp>
        <p:nvSpPr>
          <p:cNvPr id="11" name="TextBox 10"/>
          <p:cNvSpPr txBox="1"/>
          <p:nvPr/>
        </p:nvSpPr>
        <p:spPr>
          <a:xfrm>
            <a:off x="548640" y="1764792"/>
            <a:ext cx="5852160" cy="484632"/>
          </a:xfrm>
          <a:prstGeom prst="rect">
            <a:avLst/>
          </a:prstGeom>
          <a:noFill/>
        </p:spPr>
        <p:txBody>
          <a:bodyPr wrap="square" lIns="45720" rIns="45720" tIns="27432" bIns="27432" anchor="t">
            <a:spAutoFit/>
          </a:bodyPr>
          <a:lstStyle/>
          <a:p>
            <a:pPr algn="l">
              <a:lnSpc>
                <a:spcPct val="112000"/>
              </a:lnSpc>
            </a:pPr>
            <a:r>
              <a:rPr sz="1500" b="0" i="0">
                <a:solidFill>
                  <a:srgbClr val="111111"/>
                </a:solidFill>
                <a:latin typeface="Arial"/>
              </a:rPr>
              <a:t>Tightly coupled, complex systems make some accidents inevitable.</a:t>
            </a:r>
          </a:p>
        </p:txBody>
      </p:sp>
      <p:sp>
        <p:nvSpPr>
          <p:cNvPr id="12" name="Rounded Rectangle 11"/>
          <p:cNvSpPr/>
          <p:nvPr/>
        </p:nvSpPr>
        <p:spPr>
          <a:xfrm>
            <a:off x="457200" y="2395728"/>
            <a:ext cx="6035040" cy="987552"/>
          </a:xfrm>
          <a:prstGeom prst="roundRect">
            <a:avLst>
              <a:gd name="adj" fmla="val 6000"/>
            </a:avLst>
          </a:prstGeom>
          <a:solidFill>
            <a:srgbClr val="EDF4FB"/>
          </a:solidFill>
          <a:ln w="12700">
            <a:solidFill>
              <a:srgbClr val="365E9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66928" y="2468880"/>
            <a:ext cx="5833872" cy="365760"/>
          </a:xfrm>
          <a:prstGeom prst="rect">
            <a:avLst/>
          </a:prstGeom>
          <a:noFill/>
        </p:spPr>
        <p:txBody>
          <a:bodyPr wrap="square" lIns="45720" rIns="45720" tIns="27432" bIns="27432" anchor="t">
            <a:spAutoFit/>
          </a:bodyPr>
          <a:lstStyle/>
          <a:p>
            <a:pPr algn="l">
              <a:lnSpc>
                <a:spcPct val="110000"/>
              </a:lnSpc>
            </a:pPr>
            <a:r>
              <a:rPr sz="1400" b="1" i="0">
                <a:solidFill>
                  <a:srgbClr val="365E9E"/>
                </a:solidFill>
                <a:latin typeface="Arial"/>
              </a:rPr>
              <a:t>Taleb, The Black Swan (2007)</a:t>
            </a:r>
          </a:p>
        </p:txBody>
      </p:sp>
      <p:sp>
        <p:nvSpPr>
          <p:cNvPr id="14" name="TextBox 13"/>
          <p:cNvSpPr txBox="1"/>
          <p:nvPr/>
        </p:nvSpPr>
        <p:spPr>
          <a:xfrm>
            <a:off x="548640" y="2834640"/>
            <a:ext cx="5852160" cy="484632"/>
          </a:xfrm>
          <a:prstGeom prst="rect">
            <a:avLst/>
          </a:prstGeom>
          <a:noFill/>
        </p:spPr>
        <p:txBody>
          <a:bodyPr wrap="square" lIns="45720" rIns="45720" tIns="27432" bIns="27432" anchor="t">
            <a:spAutoFit/>
          </a:bodyPr>
          <a:lstStyle/>
          <a:p>
            <a:pPr algn="l">
              <a:lnSpc>
                <a:spcPct val="112000"/>
              </a:lnSpc>
            </a:pPr>
            <a:r>
              <a:rPr sz="1500" b="0" i="0">
                <a:solidFill>
                  <a:srgbClr val="111111"/>
                </a:solidFill>
                <a:latin typeface="Arial"/>
              </a:rPr>
              <a:t>Rare events cannot be predicted in detail. Build systems that gain from them.</a:t>
            </a:r>
          </a:p>
        </p:txBody>
      </p:sp>
      <p:sp>
        <p:nvSpPr>
          <p:cNvPr id="15" name="Rounded Rectangle 14"/>
          <p:cNvSpPr/>
          <p:nvPr/>
        </p:nvSpPr>
        <p:spPr>
          <a:xfrm>
            <a:off x="457200" y="3465576"/>
            <a:ext cx="6035040" cy="987552"/>
          </a:xfrm>
          <a:prstGeom prst="roundRect">
            <a:avLst>
              <a:gd name="adj" fmla="val 6000"/>
            </a:avLst>
          </a:prstGeom>
          <a:solidFill>
            <a:srgbClr val="EDF4FB"/>
          </a:solidFill>
          <a:ln w="12700">
            <a:solidFill>
              <a:srgbClr val="365E9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66928" y="3538728"/>
            <a:ext cx="5833872" cy="365760"/>
          </a:xfrm>
          <a:prstGeom prst="rect">
            <a:avLst/>
          </a:prstGeom>
          <a:noFill/>
        </p:spPr>
        <p:txBody>
          <a:bodyPr wrap="square" lIns="45720" rIns="45720" tIns="27432" bIns="27432" anchor="t">
            <a:spAutoFit/>
          </a:bodyPr>
          <a:lstStyle/>
          <a:p>
            <a:pPr algn="l">
              <a:lnSpc>
                <a:spcPct val="110000"/>
              </a:lnSpc>
            </a:pPr>
            <a:r>
              <a:rPr sz="1400" b="1" i="0">
                <a:solidFill>
                  <a:srgbClr val="365E9E"/>
                </a:solidFill>
                <a:latin typeface="Arial"/>
              </a:rPr>
              <a:t>Popper (1963)</a:t>
            </a:r>
          </a:p>
        </p:txBody>
      </p:sp>
      <p:sp>
        <p:nvSpPr>
          <p:cNvPr id="17" name="TextBox 16"/>
          <p:cNvSpPr txBox="1"/>
          <p:nvPr/>
        </p:nvSpPr>
        <p:spPr>
          <a:xfrm>
            <a:off x="548640" y="3904488"/>
            <a:ext cx="5852160" cy="484632"/>
          </a:xfrm>
          <a:prstGeom prst="rect">
            <a:avLst/>
          </a:prstGeom>
          <a:noFill/>
        </p:spPr>
        <p:txBody>
          <a:bodyPr wrap="square" lIns="45720" rIns="45720" tIns="27432" bIns="27432" anchor="t">
            <a:spAutoFit/>
          </a:bodyPr>
          <a:lstStyle/>
          <a:p>
            <a:pPr algn="l">
              <a:lnSpc>
                <a:spcPct val="112000"/>
              </a:lnSpc>
            </a:pPr>
            <a:r>
              <a:rPr sz="1500" b="0" i="0">
                <a:solidFill>
                  <a:srgbClr val="111111"/>
                </a:solidFill>
                <a:latin typeface="Arial"/>
              </a:rPr>
              <a:t>Knowledge grows by correcting errors.</a:t>
            </a:r>
          </a:p>
        </p:txBody>
      </p:sp>
      <p:sp>
        <p:nvSpPr>
          <p:cNvPr id="18" name="Rounded Rectangle 17"/>
          <p:cNvSpPr/>
          <p:nvPr/>
        </p:nvSpPr>
        <p:spPr>
          <a:xfrm>
            <a:off x="457200" y="4535424"/>
            <a:ext cx="6035040" cy="987552"/>
          </a:xfrm>
          <a:prstGeom prst="roundRect">
            <a:avLst>
              <a:gd name="adj" fmla="val 6000"/>
            </a:avLst>
          </a:prstGeom>
          <a:solidFill>
            <a:srgbClr val="EDF4FB"/>
          </a:solidFill>
          <a:ln w="12700">
            <a:solidFill>
              <a:srgbClr val="365E9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66928" y="4608576"/>
            <a:ext cx="5833872" cy="365760"/>
          </a:xfrm>
          <a:prstGeom prst="rect">
            <a:avLst/>
          </a:prstGeom>
          <a:noFill/>
        </p:spPr>
        <p:txBody>
          <a:bodyPr wrap="square" lIns="45720" rIns="45720" tIns="27432" bIns="27432" anchor="t">
            <a:spAutoFit/>
          </a:bodyPr>
          <a:lstStyle/>
          <a:p>
            <a:pPr algn="l">
              <a:lnSpc>
                <a:spcPct val="110000"/>
              </a:lnSpc>
            </a:pPr>
            <a:r>
              <a:rPr sz="1400" b="1" i="0">
                <a:solidFill>
                  <a:srgbClr val="365E9E"/>
                </a:solidFill>
                <a:latin typeface="Arial"/>
              </a:rPr>
              <a:t>Reason, Swiss cheese (1990)</a:t>
            </a:r>
          </a:p>
        </p:txBody>
      </p:sp>
      <p:sp>
        <p:nvSpPr>
          <p:cNvPr id="20" name="TextBox 19"/>
          <p:cNvSpPr txBox="1"/>
          <p:nvPr/>
        </p:nvSpPr>
        <p:spPr>
          <a:xfrm>
            <a:off x="548640" y="4974336"/>
            <a:ext cx="5852160" cy="484632"/>
          </a:xfrm>
          <a:prstGeom prst="rect">
            <a:avLst/>
          </a:prstGeom>
          <a:noFill/>
        </p:spPr>
        <p:txBody>
          <a:bodyPr wrap="square" lIns="45720" rIns="45720" tIns="27432" bIns="27432" anchor="t">
            <a:spAutoFit/>
          </a:bodyPr>
          <a:lstStyle/>
          <a:p>
            <a:pPr algn="l">
              <a:lnSpc>
                <a:spcPct val="112000"/>
              </a:lnSpc>
            </a:pPr>
            <a:r>
              <a:rPr sz="1500" b="0" i="0">
                <a:solidFill>
                  <a:srgbClr val="111111"/>
                </a:solidFill>
                <a:latin typeface="Arial"/>
              </a:rPr>
              <a:t>Holes in the defences move. Each incident shows where one is.</a:t>
            </a:r>
          </a:p>
        </p:txBody>
      </p:sp>
      <p:graphicFrame>
        <p:nvGraphicFramePr>
          <p:cNvPr id="21" name="Table 20"/>
          <p:cNvGraphicFramePr>
            <a:graphicFrameLocks noGrp="1"/>
          </p:cNvGraphicFramePr>
          <p:nvPr/>
        </p:nvGraphicFramePr>
        <p:xfrm>
          <a:off x="6812280" y="1325880"/>
          <a:ext cx="4919471" cy="3017520"/>
        </p:xfrm>
        <a:graphic>
          <a:graphicData uri="http://schemas.openxmlformats.org/drawingml/2006/table">
            <a:tbl>
              <a:tblPr firstRow="1" bandRow="1">
                <a:tableStyleId>{5C22544A-7EE6-4342-B048-85BDC9FD1C3A}</a:tableStyleId>
              </a:tblPr>
              <a:tblGrid>
                <a:gridCol w="911013"/>
                <a:gridCol w="4008458"/>
              </a:tblGrid>
              <a:tr h="431074">
                <a:tc>
                  <a:txBody>
                    <a:bodyPr wrap="square"/>
                    <a:lstStyle/>
                    <a:p>
                      <a:pPr>
                        <a:lnSpc>
                          <a:spcPct val="105000"/>
                        </a:lnSpc>
                      </a:pPr>
                      <a:r>
                        <a:rPr sz="1300" b="1" i="0">
                          <a:solidFill>
                            <a:srgbClr val="FFFFFF"/>
                          </a:solidFill>
                          <a:latin typeface="Arial"/>
                        </a:rPr>
                        <a:t>Year</a:t>
                      </a:r>
                    </a:p>
                  </a:txBody>
                  <a:tcPr marL="54864" marR="54864" marT="27432" marB="27432">
                    <a:solidFill>
                      <a:srgbClr val="365E9E"/>
                    </a:solidFill>
                  </a:tcPr>
                </a:tc>
                <a:tc>
                  <a:txBody>
                    <a:bodyPr wrap="square"/>
                    <a:lstStyle/>
                    <a:p>
                      <a:pPr>
                        <a:lnSpc>
                          <a:spcPct val="105000"/>
                        </a:lnSpc>
                      </a:pPr>
                      <a:r>
                        <a:rPr sz="1300" b="1" i="0">
                          <a:solidFill>
                            <a:srgbClr val="FFFFFF"/>
                          </a:solidFill>
                          <a:latin typeface="Arial"/>
                        </a:rPr>
                        <a:t>Nobody predicted it in detail</a:t>
                      </a:r>
                    </a:p>
                  </a:txBody>
                  <a:tcPr marL="54864" marR="54864" marT="27432" marB="27432">
                    <a:solidFill>
                      <a:srgbClr val="365E9E"/>
                    </a:solidFill>
                  </a:tcPr>
                </a:tc>
              </a:tr>
              <a:tr h="431074">
                <a:tc>
                  <a:txBody>
                    <a:bodyPr wrap="square"/>
                    <a:lstStyle/>
                    <a:p>
                      <a:pPr>
                        <a:lnSpc>
                          <a:spcPct val="105000"/>
                        </a:lnSpc>
                      </a:pPr>
                      <a:r>
                        <a:rPr sz="1300" b="1" i="0">
                          <a:solidFill>
                            <a:srgbClr val="111111"/>
                          </a:solidFill>
                          <a:latin typeface="Arial"/>
                        </a:rPr>
                        <a:t>2008</a:t>
                      </a:r>
                    </a:p>
                  </a:txBody>
                  <a:tcPr marL="54864" marR="54864" marT="27432" marB="27432">
                    <a:solidFill>
                      <a:srgbClr val="FFFFFF"/>
                    </a:solidFill>
                  </a:tcPr>
                </a:tc>
                <a:tc>
                  <a:txBody>
                    <a:bodyPr wrap="square"/>
                    <a:lstStyle/>
                    <a:p>
                      <a:pPr>
                        <a:lnSpc>
                          <a:spcPct val="105000"/>
                        </a:lnSpc>
                      </a:pPr>
                      <a:r>
                        <a:rPr sz="1300" b="0" i="0">
                          <a:solidFill>
                            <a:srgbClr val="111111"/>
                          </a:solidFill>
                          <a:latin typeface="Arial"/>
                        </a:rPr>
                        <a:t>Global financial crisis</a:t>
                      </a:r>
                    </a:p>
                  </a:txBody>
                  <a:tcPr marL="54864" marR="54864" marT="27432" marB="27432">
                    <a:solidFill>
                      <a:srgbClr val="FFFFFF"/>
                    </a:solidFill>
                  </a:tcPr>
                </a:tc>
              </a:tr>
              <a:tr h="431074">
                <a:tc>
                  <a:txBody>
                    <a:bodyPr wrap="square"/>
                    <a:lstStyle/>
                    <a:p>
                      <a:pPr>
                        <a:lnSpc>
                          <a:spcPct val="105000"/>
                        </a:lnSpc>
                      </a:pPr>
                      <a:r>
                        <a:rPr sz="1300" b="1" i="0">
                          <a:solidFill>
                            <a:srgbClr val="111111"/>
                          </a:solidFill>
                          <a:latin typeface="Arial"/>
                        </a:rPr>
                        <a:t>2011</a:t>
                      </a:r>
                    </a:p>
                  </a:txBody>
                  <a:tcPr marL="54864" marR="54864" marT="27432" marB="27432">
                    <a:solidFill>
                      <a:srgbClr val="F4F6FA"/>
                    </a:solidFill>
                  </a:tcPr>
                </a:tc>
                <a:tc>
                  <a:txBody>
                    <a:bodyPr wrap="square"/>
                    <a:lstStyle/>
                    <a:p>
                      <a:pPr>
                        <a:lnSpc>
                          <a:spcPct val="105000"/>
                        </a:lnSpc>
                      </a:pPr>
                      <a:r>
                        <a:rPr sz="1300" b="0" i="0">
                          <a:solidFill>
                            <a:srgbClr val="111111"/>
                          </a:solidFill>
                          <a:latin typeface="Arial"/>
                        </a:rPr>
                        <a:t>Fukushima</a:t>
                      </a:r>
                    </a:p>
                  </a:txBody>
                  <a:tcPr marL="54864" marR="54864" marT="27432" marB="27432">
                    <a:solidFill>
                      <a:srgbClr val="F4F6FA"/>
                    </a:solidFill>
                  </a:tcPr>
                </a:tc>
              </a:tr>
              <a:tr h="431074">
                <a:tc>
                  <a:txBody>
                    <a:bodyPr wrap="square"/>
                    <a:lstStyle/>
                    <a:p>
                      <a:pPr>
                        <a:lnSpc>
                          <a:spcPct val="105000"/>
                        </a:lnSpc>
                      </a:pPr>
                      <a:r>
                        <a:rPr sz="1300" b="1" i="0">
                          <a:solidFill>
                            <a:srgbClr val="111111"/>
                          </a:solidFill>
                          <a:latin typeface="Arial"/>
                        </a:rPr>
                        <a:t>2019</a:t>
                      </a:r>
                    </a:p>
                  </a:txBody>
                  <a:tcPr marL="54864" marR="54864" marT="27432" marB="27432">
                    <a:solidFill>
                      <a:srgbClr val="FFFFFF"/>
                    </a:solidFill>
                  </a:tcPr>
                </a:tc>
                <a:tc>
                  <a:txBody>
                    <a:bodyPr wrap="square"/>
                    <a:lstStyle/>
                    <a:p>
                      <a:pPr>
                        <a:lnSpc>
                          <a:spcPct val="105000"/>
                        </a:lnSpc>
                      </a:pPr>
                      <a:r>
                        <a:rPr sz="1300" b="0" i="0">
                          <a:solidFill>
                            <a:srgbClr val="111111"/>
                          </a:solidFill>
                          <a:latin typeface="Arial"/>
                        </a:rPr>
                        <a:t>Boeing 737 MAX</a:t>
                      </a:r>
                    </a:p>
                  </a:txBody>
                  <a:tcPr marL="54864" marR="54864" marT="27432" marB="27432">
                    <a:solidFill>
                      <a:srgbClr val="FFFFFF"/>
                    </a:solidFill>
                  </a:tcPr>
                </a:tc>
              </a:tr>
              <a:tr h="431074">
                <a:tc>
                  <a:txBody>
                    <a:bodyPr wrap="square"/>
                    <a:lstStyle/>
                    <a:p>
                      <a:pPr>
                        <a:lnSpc>
                          <a:spcPct val="105000"/>
                        </a:lnSpc>
                      </a:pPr>
                      <a:r>
                        <a:rPr sz="1300" b="1" i="0">
                          <a:solidFill>
                            <a:srgbClr val="111111"/>
                          </a:solidFill>
                          <a:latin typeface="Arial"/>
                        </a:rPr>
                        <a:t>2021</a:t>
                      </a:r>
                    </a:p>
                  </a:txBody>
                  <a:tcPr marL="54864" marR="54864" marT="27432" marB="27432">
                    <a:solidFill>
                      <a:srgbClr val="F4F6FA"/>
                    </a:solidFill>
                  </a:tcPr>
                </a:tc>
                <a:tc>
                  <a:txBody>
                    <a:bodyPr wrap="square"/>
                    <a:lstStyle/>
                    <a:p>
                      <a:pPr>
                        <a:lnSpc>
                          <a:spcPct val="105000"/>
                        </a:lnSpc>
                      </a:pPr>
                      <a:r>
                        <a:rPr sz="1300" b="0" i="0">
                          <a:solidFill>
                            <a:srgbClr val="111111"/>
                          </a:solidFill>
                          <a:latin typeface="Arial"/>
                        </a:rPr>
                        <a:t>Log4Shell</a:t>
                      </a:r>
                    </a:p>
                  </a:txBody>
                  <a:tcPr marL="54864" marR="54864" marT="27432" marB="27432">
                    <a:solidFill>
                      <a:srgbClr val="F4F6FA"/>
                    </a:solidFill>
                  </a:tcPr>
                </a:tc>
              </a:tr>
              <a:tr h="431074">
                <a:tc>
                  <a:txBody>
                    <a:bodyPr wrap="square"/>
                    <a:lstStyle/>
                    <a:p>
                      <a:pPr>
                        <a:lnSpc>
                          <a:spcPct val="105000"/>
                        </a:lnSpc>
                      </a:pPr>
                      <a:r>
                        <a:rPr sz="1300" b="1" i="0">
                          <a:solidFill>
                            <a:srgbClr val="111111"/>
                          </a:solidFill>
                          <a:latin typeface="Arial"/>
                        </a:rPr>
                        <a:t>2024</a:t>
                      </a:r>
                    </a:p>
                  </a:txBody>
                  <a:tcPr marL="54864" marR="54864" marT="27432" marB="27432">
                    <a:solidFill>
                      <a:srgbClr val="FFFFFF"/>
                    </a:solidFill>
                  </a:tcPr>
                </a:tc>
                <a:tc>
                  <a:txBody>
                    <a:bodyPr wrap="square"/>
                    <a:lstStyle/>
                    <a:p>
                      <a:pPr>
                        <a:lnSpc>
                          <a:spcPct val="105000"/>
                        </a:lnSpc>
                      </a:pPr>
                      <a:r>
                        <a:rPr sz="1300" b="0" i="0">
                          <a:solidFill>
                            <a:srgbClr val="111111"/>
                          </a:solidFill>
                          <a:latin typeface="Arial"/>
                        </a:rPr>
                        <a:t>CrowdStrike outage</a:t>
                      </a:r>
                    </a:p>
                  </a:txBody>
                  <a:tcPr marL="54864" marR="54864" marT="27432" marB="27432">
                    <a:solidFill>
                      <a:srgbClr val="FFFFFF"/>
                    </a:solidFill>
                  </a:tcPr>
                </a:tc>
              </a:tr>
              <a:tr h="431076">
                <a:tc>
                  <a:txBody>
                    <a:bodyPr wrap="square"/>
                    <a:lstStyle/>
                    <a:p>
                      <a:pPr>
                        <a:lnSpc>
                          <a:spcPct val="105000"/>
                        </a:lnSpc>
                      </a:pPr>
                      <a:r>
                        <a:rPr sz="1300" b="1" i="0">
                          <a:solidFill>
                            <a:srgbClr val="111111"/>
                          </a:solidFill>
                          <a:latin typeface="Arial"/>
                        </a:rPr>
                        <a:t>2025</a:t>
                      </a:r>
                    </a:p>
                  </a:txBody>
                  <a:tcPr marL="54864" marR="54864" marT="27432" marB="27432">
                    <a:solidFill>
                      <a:srgbClr val="F4F6FA"/>
                    </a:solidFill>
                  </a:tcPr>
                </a:tc>
                <a:tc>
                  <a:txBody>
                    <a:bodyPr wrap="square"/>
                    <a:lstStyle/>
                    <a:p>
                      <a:pPr>
                        <a:lnSpc>
                          <a:spcPct val="105000"/>
                        </a:lnSpc>
                      </a:pPr>
                      <a:r>
                        <a:rPr sz="1300" b="0" i="0">
                          <a:solidFill>
                            <a:srgbClr val="111111"/>
                          </a:solidFill>
                          <a:latin typeface="Arial"/>
                        </a:rPr>
                        <a:t>Coding agent deletes a production database</a:t>
                      </a:r>
                    </a:p>
                  </a:txBody>
                  <a:tcPr marL="54864" marR="54864" marT="27432" marB="27432">
                    <a:solidFill>
                      <a:srgbClr val="F4F6FA"/>
                    </a:solidFill>
                  </a:tcPr>
                </a:tc>
              </a:tr>
            </a:tbl>
          </a:graphicData>
        </a:graphic>
      </p:graphicFrame>
      <p:sp>
        <p:nvSpPr>
          <p:cNvPr id="22" name="Rounded Rectangle 21"/>
          <p:cNvSpPr/>
          <p:nvPr/>
        </p:nvSpPr>
        <p:spPr>
          <a:xfrm>
            <a:off x="6812280" y="4663440"/>
            <a:ext cx="4919472" cy="1600200"/>
          </a:xfrm>
          <a:prstGeom prst="roundRect">
            <a:avLst>
              <a:gd name="adj" fmla="val 6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49440" y="4736592"/>
            <a:ext cx="4663440" cy="1463040"/>
          </a:xfrm>
          <a:prstGeom prst="rect">
            <a:avLst/>
          </a:prstGeom>
          <a:noFill/>
        </p:spPr>
        <p:txBody>
          <a:bodyPr wrap="square" lIns="45720" rIns="45720" tIns="27432" bIns="27432" anchor="ctr">
            <a:spAutoFit/>
          </a:bodyPr>
          <a:lstStyle/>
          <a:p>
            <a:pPr algn="l">
              <a:lnSpc>
                <a:spcPct val="115000"/>
              </a:lnSpc>
            </a:pPr>
            <a:r>
              <a:rPr sz="1500" b="0" i="0">
                <a:solidFill>
                  <a:srgbClr val="111111"/>
                </a:solidFill>
                <a:latin typeface="Arial"/>
              </a:rPr>
              <a:t>AI agents are the newest tightly coupled system.</a:t>
            </a:r>
          </a:p>
          <a:p>
            <a:pPr algn="l">
              <a:lnSpc>
                <a:spcPct val="115000"/>
              </a:lnSpc>
            </a:pPr>
            <a:r>
              <a:rPr sz="1500" b="0" i="0">
                <a:solidFill>
                  <a:srgbClr val="111111"/>
                </a:solidFill>
                <a:latin typeface="Arial"/>
              </a:rPr>
              <a:t>The question is not whether incidents happen. It is what we do with each one.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82296" cy="566928"/>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301752"/>
            <a:ext cx="10515600" cy="548640"/>
          </a:xfrm>
          <a:prstGeom prst="rect">
            <a:avLst/>
          </a:prstGeom>
          <a:noFill/>
        </p:spPr>
        <p:txBody>
          <a:bodyPr wrap="square" lIns="45720" rIns="45720" tIns="27432" bIns="27432" anchor="ctr">
            <a:spAutoFit/>
          </a:bodyPr>
          <a:lstStyle/>
          <a:p>
            <a:pPr algn="l">
              <a:lnSpc>
                <a:spcPct val="110000"/>
              </a:lnSpc>
            </a:pPr>
            <a:r>
              <a:rPr sz="2600" b="1" i="0">
                <a:solidFill>
                  <a:srgbClr val="111111"/>
                </a:solidFill>
                <a:latin typeface="Arial"/>
              </a:rPr>
              <a:t>What other fields built from their incidents</a:t>
            </a:r>
          </a:p>
        </p:txBody>
      </p:sp>
      <p:sp>
        <p:nvSpPr>
          <p:cNvPr id="4" name="TextBox 3"/>
          <p:cNvSpPr txBox="1"/>
          <p:nvPr/>
        </p:nvSpPr>
        <p:spPr>
          <a:xfrm>
            <a:off x="640080" y="868680"/>
            <a:ext cx="10972800" cy="365760"/>
          </a:xfrm>
          <a:prstGeom prst="rect">
            <a:avLst/>
          </a:prstGeom>
          <a:noFill/>
        </p:spPr>
        <p:txBody>
          <a:bodyPr wrap="square" lIns="45720" rIns="45720" tIns="27432" bIns="27432" anchor="t">
            <a:spAutoFit/>
          </a:bodyPr>
          <a:lstStyle/>
          <a:p>
            <a:pPr algn="l">
              <a:lnSpc>
                <a:spcPct val="110000"/>
              </a:lnSpc>
            </a:pPr>
            <a:r>
              <a:rPr sz="1300" b="0" i="0">
                <a:solidFill>
                  <a:srgbClr val="666666"/>
                </a:solidFill>
                <a:latin typeface="Arial"/>
              </a:rPr>
              <a:t>Every mature high-risk field runs a learning loop</a:t>
            </a:r>
          </a:p>
        </p:txBody>
      </p:sp>
      <p:sp>
        <p:nvSpPr>
          <p:cNvPr id="5" name="TextBox 4"/>
          <p:cNvSpPr txBox="1"/>
          <p:nvPr/>
        </p:nvSpPr>
        <p:spPr>
          <a:xfrm>
            <a:off x="8503920" y="109728"/>
            <a:ext cx="3200400" cy="274320"/>
          </a:xfrm>
          <a:prstGeom prst="rect">
            <a:avLst/>
          </a:prstGeom>
          <a:noFill/>
        </p:spPr>
        <p:txBody>
          <a:bodyPr wrap="square" lIns="45720" rIns="45720" tIns="27432" bIns="27432" anchor="t">
            <a:spAutoFit/>
          </a:bodyPr>
          <a:lstStyle/>
          <a:p>
            <a:pPr algn="r">
              <a:lnSpc>
                <a:spcPct val="110000"/>
              </a:lnSpc>
            </a:pPr>
            <a:r>
              <a:rPr sz="900" b="1" i="0">
                <a:solidFill>
                  <a:srgbClr val="365E9E"/>
                </a:solidFill>
                <a:latin typeface="Arial"/>
              </a:rPr>
              <a:t>1 · MOTIVATION</a:t>
            </a:r>
          </a:p>
        </p:txBody>
      </p:sp>
      <p:cxnSp>
        <p:nvCxnSpPr>
          <p:cNvPr id="6" name="Connector 5"/>
          <p:cNvCxnSpPr/>
          <p:nvPr/>
        </p:nvCxnSpPr>
        <p:spPr>
          <a:xfrm>
            <a:off x="457200" y="6446520"/>
            <a:ext cx="11277295" cy="0"/>
          </a:xfrm>
          <a:prstGeom prst="line">
            <a:avLst/>
          </a:prstGeom>
          <a:ln w="6350">
            <a:solidFill>
              <a:srgbClr val="C9C9C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57200" y="6473952"/>
            <a:ext cx="10058400" cy="274320"/>
          </a:xfrm>
          <a:prstGeom prst="rect">
            <a:avLst/>
          </a:prstGeom>
          <a:noFill/>
        </p:spPr>
        <p:txBody>
          <a:bodyPr wrap="square" lIns="45720" rIns="45720" tIns="27432" bIns="27432" anchor="t">
            <a:spAutoFit/>
          </a:bodyPr>
          <a:lstStyle/>
          <a:p>
            <a:pPr algn="l">
              <a:lnSpc>
                <a:spcPct val="110000"/>
              </a:lnSpc>
            </a:pPr>
            <a:r>
              <a:rPr sz="800" b="0" i="0">
                <a:solidFill>
                  <a:srgbClr val="666666"/>
                </a:solidFill>
                <a:latin typeface="Arial"/>
              </a:rPr>
              <a:t>Incident-aware optimization · design proposal · containment-extension · October 2026 · no benchmark improvement measured</a:t>
            </a:r>
          </a:p>
        </p:txBody>
      </p:sp>
      <p:sp>
        <p:nvSpPr>
          <p:cNvPr id="8" name="TextBox 7"/>
          <p:cNvSpPr txBox="1"/>
          <p:nvPr/>
        </p:nvSpPr>
        <p:spPr>
          <a:xfrm>
            <a:off x="10820095" y="6473952"/>
            <a:ext cx="914400" cy="274320"/>
          </a:xfrm>
          <a:prstGeom prst="rect">
            <a:avLst/>
          </a:prstGeom>
          <a:noFill/>
        </p:spPr>
        <p:txBody>
          <a:bodyPr wrap="square" lIns="45720" rIns="45720" tIns="27432" bIns="27432" anchor="t">
            <a:spAutoFit/>
          </a:bodyPr>
          <a:lstStyle/>
          <a:p>
            <a:pPr algn="r">
              <a:lnSpc>
                <a:spcPct val="110000"/>
              </a:lnSpc>
            </a:pPr>
            <a:r>
              <a:rPr sz="900" b="0" i="0">
                <a:solidFill>
                  <a:srgbClr val="666666"/>
                </a:solidFill>
                <a:latin typeface="Arial"/>
              </a:rPr>
              <a:t>4</a:t>
            </a:r>
          </a:p>
        </p:txBody>
      </p:sp>
      <p:graphicFrame>
        <p:nvGraphicFramePr>
          <p:cNvPr id="9" name="Table 8"/>
          <p:cNvGraphicFramePr>
            <a:graphicFrameLocks noGrp="1"/>
          </p:cNvGraphicFramePr>
          <p:nvPr/>
        </p:nvGraphicFramePr>
        <p:xfrm>
          <a:off x="457200" y="1325880"/>
          <a:ext cx="11277294" cy="3291840"/>
        </p:xfrm>
        <a:graphic>
          <a:graphicData uri="http://schemas.openxmlformats.org/drawingml/2006/table">
            <a:tbl>
              <a:tblPr firstRow="1" bandRow="1">
                <a:tableStyleId>{5C22544A-7EE6-4342-B048-85BDC9FD1C3A}</a:tableStyleId>
              </a:tblPr>
              <a:tblGrid>
                <a:gridCol w="1734968"/>
                <a:gridCol w="4771163"/>
                <a:gridCol w="4771163"/>
              </a:tblGrid>
              <a:tr h="548640">
                <a:tc>
                  <a:txBody>
                    <a:bodyPr wrap="square"/>
                    <a:lstStyle/>
                    <a:p>
                      <a:pPr>
                        <a:lnSpc>
                          <a:spcPct val="105000"/>
                        </a:lnSpc>
                      </a:pPr>
                      <a:r>
                        <a:rPr sz="1400" b="1" i="0">
                          <a:solidFill>
                            <a:srgbClr val="FFFFFF"/>
                          </a:solidFill>
                          <a:latin typeface="Arial"/>
                        </a:rPr>
                        <a:t>Domain</a:t>
                      </a:r>
                    </a:p>
                  </a:txBody>
                  <a:tcPr marL="54864" marR="54864" marT="27432" marB="27432">
                    <a:solidFill>
                      <a:srgbClr val="365E9E"/>
                    </a:solidFill>
                  </a:tcPr>
                </a:tc>
                <a:tc>
                  <a:txBody>
                    <a:bodyPr wrap="square"/>
                    <a:lstStyle/>
                    <a:p>
                      <a:pPr>
                        <a:lnSpc>
                          <a:spcPct val="105000"/>
                        </a:lnSpc>
                      </a:pPr>
                      <a:r>
                        <a:rPr sz="1400" b="1" i="0">
                          <a:solidFill>
                            <a:srgbClr val="FFFFFF"/>
                          </a:solidFill>
                          <a:latin typeface="Arial"/>
                        </a:rPr>
                        <a:t>Institution</a:t>
                      </a:r>
                    </a:p>
                  </a:txBody>
                  <a:tcPr marL="54864" marR="54864" marT="27432" marB="27432">
                    <a:solidFill>
                      <a:srgbClr val="365E9E"/>
                    </a:solidFill>
                  </a:tcPr>
                </a:tc>
                <a:tc>
                  <a:txBody>
                    <a:bodyPr wrap="square"/>
                    <a:lstStyle/>
                    <a:p>
                      <a:pPr>
                        <a:lnSpc>
                          <a:spcPct val="105000"/>
                        </a:lnSpc>
                      </a:pPr>
                      <a:r>
                        <a:rPr sz="1400" b="1" i="0">
                          <a:solidFill>
                            <a:srgbClr val="FFFFFF"/>
                          </a:solidFill>
                          <a:latin typeface="Arial"/>
                        </a:rPr>
                        <a:t>What gets updated</a:t>
                      </a:r>
                    </a:p>
                  </a:txBody>
                  <a:tcPr marL="54864" marR="54864" marT="27432" marB="27432">
                    <a:solidFill>
                      <a:srgbClr val="365E9E"/>
                    </a:solidFill>
                  </a:tcPr>
                </a:tc>
              </a:tr>
              <a:tr h="548640">
                <a:tc>
                  <a:txBody>
                    <a:bodyPr wrap="square"/>
                    <a:lstStyle/>
                    <a:p>
                      <a:pPr>
                        <a:lnSpc>
                          <a:spcPct val="105000"/>
                        </a:lnSpc>
                      </a:pPr>
                      <a:r>
                        <a:rPr sz="1400" b="1" i="0">
                          <a:solidFill>
                            <a:srgbClr val="111111"/>
                          </a:solidFill>
                          <a:latin typeface="Arial"/>
                        </a:rPr>
                        <a:t>Aviation</a:t>
                      </a:r>
                    </a:p>
                  </a:txBody>
                  <a:tcPr marL="54864" marR="54864" marT="27432" marB="27432">
                    <a:solidFill>
                      <a:srgbClr val="FFFFFF"/>
                    </a:solidFill>
                  </a:tcPr>
                </a:tc>
                <a:tc>
                  <a:txBody>
                    <a:bodyPr wrap="square"/>
                    <a:lstStyle/>
                    <a:p>
                      <a:pPr>
                        <a:lnSpc>
                          <a:spcPct val="105000"/>
                        </a:lnSpc>
                      </a:pPr>
                      <a:r>
                        <a:rPr sz="1400" b="0" i="0">
                          <a:solidFill>
                            <a:srgbClr val="111111"/>
                          </a:solidFill>
                          <a:latin typeface="Arial"/>
                        </a:rPr>
                        <a:t>NTSB investigations; confidential ASRS reports</a:t>
                      </a:r>
                    </a:p>
                  </a:txBody>
                  <a:tcPr marL="54864" marR="54864" marT="27432" marB="27432">
                    <a:solidFill>
                      <a:srgbClr val="FFFFFF"/>
                    </a:solidFill>
                  </a:tcPr>
                </a:tc>
                <a:tc>
                  <a:txBody>
                    <a:bodyPr wrap="square"/>
                    <a:lstStyle/>
                    <a:p>
                      <a:pPr>
                        <a:lnSpc>
                          <a:spcPct val="105000"/>
                        </a:lnSpc>
                      </a:pPr>
                      <a:r>
                        <a:rPr sz="1400" b="0" i="0">
                          <a:solidFill>
                            <a:srgbClr val="111111"/>
                          </a:solidFill>
                          <a:latin typeface="Arial"/>
                        </a:rPr>
                        <a:t>Procedures, checklists, training</a:t>
                      </a:r>
                    </a:p>
                  </a:txBody>
                  <a:tcPr marL="54864" marR="54864" marT="27432" marB="27432">
                    <a:solidFill>
                      <a:srgbClr val="FFFFFF"/>
                    </a:solidFill>
                  </a:tcPr>
                </a:tc>
              </a:tr>
              <a:tr h="548640">
                <a:tc>
                  <a:txBody>
                    <a:bodyPr wrap="square"/>
                    <a:lstStyle/>
                    <a:p>
                      <a:pPr>
                        <a:lnSpc>
                          <a:spcPct val="105000"/>
                        </a:lnSpc>
                      </a:pPr>
                      <a:r>
                        <a:rPr sz="1400" b="1" i="0">
                          <a:solidFill>
                            <a:srgbClr val="111111"/>
                          </a:solidFill>
                          <a:latin typeface="Arial"/>
                        </a:rPr>
                        <a:t>Nuclear</a:t>
                      </a:r>
                    </a:p>
                  </a:txBody>
                  <a:tcPr marL="54864" marR="54864" marT="27432" marB="27432">
                    <a:solidFill>
                      <a:srgbClr val="F4F6FA"/>
                    </a:solidFill>
                  </a:tcPr>
                </a:tc>
                <a:tc>
                  <a:txBody>
                    <a:bodyPr wrap="square"/>
                    <a:lstStyle/>
                    <a:p>
                      <a:pPr>
                        <a:lnSpc>
                          <a:spcPct val="105000"/>
                        </a:lnSpc>
                      </a:pPr>
                      <a:r>
                        <a:rPr sz="1400" b="0" i="0">
                          <a:solidFill>
                            <a:srgbClr val="111111"/>
                          </a:solidFill>
                          <a:latin typeface="Arial"/>
                        </a:rPr>
                        <a:t>INPO peer review after Three Mile Island</a:t>
                      </a:r>
                    </a:p>
                  </a:txBody>
                  <a:tcPr marL="54864" marR="54864" marT="27432" marB="27432">
                    <a:solidFill>
                      <a:srgbClr val="F4F6FA"/>
                    </a:solidFill>
                  </a:tcPr>
                </a:tc>
                <a:tc>
                  <a:txBody>
                    <a:bodyPr wrap="square"/>
                    <a:lstStyle/>
                    <a:p>
                      <a:pPr>
                        <a:lnSpc>
                          <a:spcPct val="105000"/>
                        </a:lnSpc>
                      </a:pPr>
                      <a:r>
                        <a:rPr sz="1400" b="0" i="0">
                          <a:solidFill>
                            <a:srgbClr val="111111"/>
                          </a:solidFill>
                          <a:latin typeface="Arial"/>
                        </a:rPr>
                        <a:t>Fleet-wide lessons and inspections</a:t>
                      </a:r>
                    </a:p>
                  </a:txBody>
                  <a:tcPr marL="54864" marR="54864" marT="27432" marB="27432">
                    <a:solidFill>
                      <a:srgbClr val="F4F6FA"/>
                    </a:solidFill>
                  </a:tcPr>
                </a:tc>
              </a:tr>
              <a:tr h="548640">
                <a:tc>
                  <a:txBody>
                    <a:bodyPr wrap="square"/>
                    <a:lstStyle/>
                    <a:p>
                      <a:pPr>
                        <a:lnSpc>
                          <a:spcPct val="105000"/>
                        </a:lnSpc>
                      </a:pPr>
                      <a:r>
                        <a:rPr sz="1400" b="1" i="0">
                          <a:solidFill>
                            <a:srgbClr val="111111"/>
                          </a:solidFill>
                          <a:latin typeface="Arial"/>
                        </a:rPr>
                        <a:t>Finance</a:t>
                      </a:r>
                    </a:p>
                  </a:txBody>
                  <a:tcPr marL="54864" marR="54864" marT="27432" marB="27432">
                    <a:solidFill>
                      <a:srgbClr val="FFFFFF"/>
                    </a:solidFill>
                  </a:tcPr>
                </a:tc>
                <a:tc>
                  <a:txBody>
                    <a:bodyPr wrap="square"/>
                    <a:lstStyle/>
                    <a:p>
                      <a:pPr>
                        <a:lnSpc>
                          <a:spcPct val="105000"/>
                        </a:lnSpc>
                      </a:pPr>
                      <a:r>
                        <a:rPr sz="1400" b="0" i="0">
                          <a:solidFill>
                            <a:srgbClr val="111111"/>
                          </a:solidFill>
                          <a:latin typeface="Arial"/>
                        </a:rPr>
                        <a:t>Stress tests after 2008 (Dodd-Frank, Basel III)</a:t>
                      </a:r>
                    </a:p>
                  </a:txBody>
                  <a:tcPr marL="54864" marR="54864" marT="27432" marB="27432">
                    <a:solidFill>
                      <a:srgbClr val="FFFFFF"/>
                    </a:solidFill>
                  </a:tcPr>
                </a:tc>
                <a:tc>
                  <a:txBody>
                    <a:bodyPr wrap="square"/>
                    <a:lstStyle/>
                    <a:p>
                      <a:pPr>
                        <a:lnSpc>
                          <a:spcPct val="105000"/>
                        </a:lnSpc>
                      </a:pPr>
                      <a:r>
                        <a:rPr sz="1400" b="0" i="0">
                          <a:solidFill>
                            <a:srgbClr val="111111"/>
                          </a:solidFill>
                          <a:latin typeface="Arial"/>
                        </a:rPr>
                        <a:t>Historical crises rerun against every bank, yearly</a:t>
                      </a:r>
                    </a:p>
                  </a:txBody>
                  <a:tcPr marL="54864" marR="54864" marT="27432" marB="27432">
                    <a:solidFill>
                      <a:srgbClr val="FFFFFF"/>
                    </a:solidFill>
                  </a:tcPr>
                </a:tc>
              </a:tr>
              <a:tr h="548640">
                <a:tc>
                  <a:txBody>
                    <a:bodyPr wrap="square"/>
                    <a:lstStyle/>
                    <a:p>
                      <a:pPr>
                        <a:lnSpc>
                          <a:spcPct val="105000"/>
                        </a:lnSpc>
                      </a:pPr>
                      <a:r>
                        <a:rPr sz="1400" b="1" i="0">
                          <a:solidFill>
                            <a:srgbClr val="111111"/>
                          </a:solidFill>
                          <a:latin typeface="Arial"/>
                        </a:rPr>
                        <a:t>Cybersecurity</a:t>
                      </a:r>
                    </a:p>
                  </a:txBody>
                  <a:tcPr marL="54864" marR="54864" marT="27432" marB="27432">
                    <a:solidFill>
                      <a:srgbClr val="F4F6FA"/>
                    </a:solidFill>
                  </a:tcPr>
                </a:tc>
                <a:tc>
                  <a:txBody>
                    <a:bodyPr wrap="square"/>
                    <a:lstStyle/>
                    <a:p>
                      <a:pPr>
                        <a:lnSpc>
                          <a:spcPct val="105000"/>
                        </a:lnSpc>
                      </a:pPr>
                      <a:r>
                        <a:rPr sz="1400" b="0" i="0">
                          <a:solidFill>
                            <a:srgbClr val="111111"/>
                          </a:solidFill>
                          <a:latin typeface="Arial"/>
                        </a:rPr>
                        <a:t>CVE, NVD, MITRE ATT&amp;CK</a:t>
                      </a:r>
                    </a:p>
                  </a:txBody>
                  <a:tcPr marL="54864" marR="54864" marT="27432" marB="27432">
                    <a:solidFill>
                      <a:srgbClr val="F4F6FA"/>
                    </a:solidFill>
                  </a:tcPr>
                </a:tc>
                <a:tc>
                  <a:txBody>
                    <a:bodyPr wrap="square"/>
                    <a:lstStyle/>
                    <a:p>
                      <a:pPr>
                        <a:lnSpc>
                          <a:spcPct val="105000"/>
                        </a:lnSpc>
                      </a:pPr>
                      <a:r>
                        <a:rPr sz="1400" b="0" i="0">
                          <a:solidFill>
                            <a:srgbClr val="111111"/>
                          </a:solidFill>
                          <a:latin typeface="Arial"/>
                        </a:rPr>
                        <a:t>Proof of concept, patch, detection rule, regression test</a:t>
                      </a:r>
                    </a:p>
                  </a:txBody>
                  <a:tcPr marL="54864" marR="54864" marT="27432" marB="27432">
                    <a:solidFill>
                      <a:srgbClr val="F4F6FA"/>
                    </a:solidFill>
                  </a:tcPr>
                </a:tc>
              </a:tr>
              <a:tr h="548640">
                <a:tc>
                  <a:txBody>
                    <a:bodyPr wrap="square"/>
                    <a:lstStyle/>
                    <a:p>
                      <a:pPr>
                        <a:lnSpc>
                          <a:spcPct val="105000"/>
                        </a:lnSpc>
                      </a:pPr>
                      <a:r>
                        <a:rPr sz="1400" b="1" i="0">
                          <a:solidFill>
                            <a:srgbClr val="111111"/>
                          </a:solidFill>
                          <a:latin typeface="Arial"/>
                        </a:rPr>
                        <a:t>Software ops</a:t>
                      </a:r>
                    </a:p>
                  </a:txBody>
                  <a:tcPr marL="54864" marR="54864" marT="27432" marB="27432">
                    <a:solidFill>
                      <a:srgbClr val="FFFFFF"/>
                    </a:solidFill>
                  </a:tcPr>
                </a:tc>
                <a:tc>
                  <a:txBody>
                    <a:bodyPr wrap="square"/>
                    <a:lstStyle/>
                    <a:p>
                      <a:pPr>
                        <a:lnSpc>
                          <a:spcPct val="105000"/>
                        </a:lnSpc>
                      </a:pPr>
                      <a:r>
                        <a:rPr sz="1400" b="0" i="0">
                          <a:solidFill>
                            <a:srgbClr val="111111"/>
                          </a:solidFill>
                          <a:latin typeface="Arial"/>
                        </a:rPr>
                        <a:t>Blameless postmortems</a:t>
                      </a:r>
                    </a:p>
                  </a:txBody>
                  <a:tcPr marL="54864" marR="54864" marT="27432" marB="27432">
                    <a:solidFill>
                      <a:srgbClr val="FFFFFF"/>
                    </a:solidFill>
                  </a:tcPr>
                </a:tc>
                <a:tc>
                  <a:txBody>
                    <a:bodyPr wrap="square"/>
                    <a:lstStyle/>
                    <a:p>
                      <a:pPr>
                        <a:lnSpc>
                          <a:spcPct val="105000"/>
                        </a:lnSpc>
                      </a:pPr>
                      <a:r>
                        <a:rPr sz="1400" b="0" i="0">
                          <a:solidFill>
                            <a:srgbClr val="111111"/>
                          </a:solidFill>
                          <a:latin typeface="Arial"/>
                        </a:rPr>
                        <a:t>Alerts, runbooks, CI gates</a:t>
                      </a:r>
                    </a:p>
                  </a:txBody>
                  <a:tcPr marL="54864" marR="54864" marT="27432" marB="27432">
                    <a:solidFill>
                      <a:srgbClr val="FFFFFF"/>
                    </a:solidFill>
                  </a:tcPr>
                </a:tc>
              </a:tr>
            </a:tbl>
          </a:graphicData>
        </a:graphic>
      </p:graphicFrame>
      <p:sp>
        <p:nvSpPr>
          <p:cNvPr id="10" name="Rounded Rectangle 9"/>
          <p:cNvSpPr/>
          <p:nvPr/>
        </p:nvSpPr>
        <p:spPr>
          <a:xfrm>
            <a:off x="457200" y="4937760"/>
            <a:ext cx="11277295" cy="1280160"/>
          </a:xfrm>
          <a:prstGeom prst="roundRect">
            <a:avLst>
              <a:gd name="adj" fmla="val 6000"/>
            </a:avLst>
          </a:prstGeom>
          <a:solidFill>
            <a:srgbClr val="ED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85800" y="5010912"/>
            <a:ext cx="10820095" cy="1133856"/>
          </a:xfrm>
          <a:prstGeom prst="rect">
            <a:avLst/>
          </a:prstGeom>
          <a:noFill/>
        </p:spPr>
        <p:txBody>
          <a:bodyPr wrap="square" lIns="45720" rIns="45720" tIns="27432" bIns="27432" anchor="ctr">
            <a:spAutoFit/>
          </a:bodyPr>
          <a:lstStyle/>
          <a:p>
            <a:pPr algn="l">
              <a:lnSpc>
                <a:spcPct val="115000"/>
              </a:lnSpc>
            </a:pPr>
            <a:r>
              <a:rPr sz="1600" b="0" i="0">
                <a:solidFill>
                  <a:srgbClr val="111111"/>
                </a:solidFill>
                <a:latin typeface="Arial"/>
              </a:rPr>
              <a:t>The pattern: investigate → record → test → update → check against the next event.</a:t>
            </a:r>
          </a:p>
          <a:p>
            <a:pPr algn="l">
              <a:lnSpc>
                <a:spcPct val="115000"/>
              </a:lnSpc>
            </a:pPr>
            <a:r>
              <a:rPr sz="1600" b="0" i="0">
                <a:solidFill>
                  <a:srgbClr val="111111"/>
                </a:solidFill>
                <a:latin typeface="Arial"/>
              </a:rPr>
              <a:t>None promised zero incidents. They promised no incident would be wasted.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82296" cy="566928"/>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301752"/>
            <a:ext cx="10515600" cy="548640"/>
          </a:xfrm>
          <a:prstGeom prst="rect">
            <a:avLst/>
          </a:prstGeom>
          <a:noFill/>
        </p:spPr>
        <p:txBody>
          <a:bodyPr wrap="square" lIns="45720" rIns="45720" tIns="27432" bIns="27432" anchor="ctr">
            <a:spAutoFit/>
          </a:bodyPr>
          <a:lstStyle/>
          <a:p>
            <a:pPr algn="l">
              <a:lnSpc>
                <a:spcPct val="110000"/>
              </a:lnSpc>
            </a:pPr>
            <a:r>
              <a:rPr sz="2600" b="1" i="0">
                <a:solidFill>
                  <a:srgbClr val="111111"/>
                </a:solidFill>
                <a:latin typeface="Arial"/>
              </a:rPr>
              <a:t>Agent incidents on the record, 2024–2025</a:t>
            </a:r>
          </a:p>
        </p:txBody>
      </p:sp>
      <p:sp>
        <p:nvSpPr>
          <p:cNvPr id="4" name="TextBox 3"/>
          <p:cNvSpPr txBox="1"/>
          <p:nvPr/>
        </p:nvSpPr>
        <p:spPr>
          <a:xfrm>
            <a:off x="640080" y="868680"/>
            <a:ext cx="10972800" cy="365760"/>
          </a:xfrm>
          <a:prstGeom prst="rect">
            <a:avLst/>
          </a:prstGeom>
          <a:noFill/>
        </p:spPr>
        <p:txBody>
          <a:bodyPr wrap="square" lIns="45720" rIns="45720" tIns="27432" bIns="27432" anchor="t">
            <a:spAutoFit/>
          </a:bodyPr>
          <a:lstStyle/>
          <a:p>
            <a:pPr algn="l">
              <a:lnSpc>
                <a:spcPct val="110000"/>
              </a:lnSpc>
            </a:pPr>
            <a:r>
              <a:rPr sz="1300" b="0" i="0">
                <a:solidFill>
                  <a:srgbClr val="666666"/>
                </a:solidFill>
                <a:latin typeface="Arial"/>
              </a:rPr>
              <a:t>Documented by the developers themselves, by evaluators, or by security researchers</a:t>
            </a:r>
          </a:p>
        </p:txBody>
      </p:sp>
      <p:sp>
        <p:nvSpPr>
          <p:cNvPr id="5" name="TextBox 4"/>
          <p:cNvSpPr txBox="1"/>
          <p:nvPr/>
        </p:nvSpPr>
        <p:spPr>
          <a:xfrm>
            <a:off x="8503920" y="109728"/>
            <a:ext cx="3200400" cy="274320"/>
          </a:xfrm>
          <a:prstGeom prst="rect">
            <a:avLst/>
          </a:prstGeom>
          <a:noFill/>
        </p:spPr>
        <p:txBody>
          <a:bodyPr wrap="square" lIns="45720" rIns="45720" tIns="27432" bIns="27432" anchor="t">
            <a:spAutoFit/>
          </a:bodyPr>
          <a:lstStyle/>
          <a:p>
            <a:pPr algn="r">
              <a:lnSpc>
                <a:spcPct val="110000"/>
              </a:lnSpc>
            </a:pPr>
            <a:r>
              <a:rPr sz="900" b="1" i="0">
                <a:solidFill>
                  <a:srgbClr val="365E9E"/>
                </a:solidFill>
                <a:latin typeface="Arial"/>
              </a:rPr>
              <a:t>1 · MOTIVATION</a:t>
            </a:r>
          </a:p>
        </p:txBody>
      </p:sp>
      <p:cxnSp>
        <p:nvCxnSpPr>
          <p:cNvPr id="6" name="Connector 5"/>
          <p:cNvCxnSpPr/>
          <p:nvPr/>
        </p:nvCxnSpPr>
        <p:spPr>
          <a:xfrm>
            <a:off x="457200" y="6446520"/>
            <a:ext cx="11277295" cy="0"/>
          </a:xfrm>
          <a:prstGeom prst="line">
            <a:avLst/>
          </a:prstGeom>
          <a:ln w="6350">
            <a:solidFill>
              <a:srgbClr val="C9C9C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57200" y="6473952"/>
            <a:ext cx="10058400" cy="274320"/>
          </a:xfrm>
          <a:prstGeom prst="rect">
            <a:avLst/>
          </a:prstGeom>
          <a:noFill/>
        </p:spPr>
        <p:txBody>
          <a:bodyPr wrap="square" lIns="45720" rIns="45720" tIns="27432" bIns="27432" anchor="t">
            <a:spAutoFit/>
          </a:bodyPr>
          <a:lstStyle/>
          <a:p>
            <a:pPr algn="l">
              <a:lnSpc>
                <a:spcPct val="110000"/>
              </a:lnSpc>
            </a:pPr>
            <a:r>
              <a:rPr sz="800" b="0" i="0">
                <a:solidFill>
                  <a:srgbClr val="666666"/>
                </a:solidFill>
                <a:latin typeface="Arial"/>
              </a:rPr>
              <a:t>Incident-aware optimization · design proposal · containment-extension · October 2026 · no benchmark improvement measured</a:t>
            </a:r>
          </a:p>
        </p:txBody>
      </p:sp>
      <p:sp>
        <p:nvSpPr>
          <p:cNvPr id="8" name="TextBox 7"/>
          <p:cNvSpPr txBox="1"/>
          <p:nvPr/>
        </p:nvSpPr>
        <p:spPr>
          <a:xfrm>
            <a:off x="10820095" y="6473952"/>
            <a:ext cx="914400" cy="274320"/>
          </a:xfrm>
          <a:prstGeom prst="rect">
            <a:avLst/>
          </a:prstGeom>
          <a:noFill/>
        </p:spPr>
        <p:txBody>
          <a:bodyPr wrap="square" lIns="45720" rIns="45720" tIns="27432" bIns="27432" anchor="t">
            <a:spAutoFit/>
          </a:bodyPr>
          <a:lstStyle/>
          <a:p>
            <a:pPr algn="r">
              <a:lnSpc>
                <a:spcPct val="110000"/>
              </a:lnSpc>
            </a:pPr>
            <a:r>
              <a:rPr sz="900" b="0" i="0">
                <a:solidFill>
                  <a:srgbClr val="666666"/>
                </a:solidFill>
                <a:latin typeface="Arial"/>
              </a:rPr>
              <a:t>5</a:t>
            </a:r>
          </a:p>
        </p:txBody>
      </p:sp>
      <p:graphicFrame>
        <p:nvGraphicFramePr>
          <p:cNvPr id="9" name="Table 8"/>
          <p:cNvGraphicFramePr>
            <a:graphicFrameLocks noGrp="1"/>
          </p:cNvGraphicFramePr>
          <p:nvPr/>
        </p:nvGraphicFramePr>
        <p:xfrm>
          <a:off x="457200" y="1325880"/>
          <a:ext cx="11277293" cy="4983480"/>
        </p:xfrm>
        <a:graphic>
          <a:graphicData uri="http://schemas.openxmlformats.org/drawingml/2006/table">
            <a:tbl>
              <a:tblPr firstRow="1" bandRow="1">
                <a:tableStyleId>{5C22544A-7EE6-4342-B048-85BDC9FD1C3A}</a:tableStyleId>
              </a:tblPr>
              <a:tblGrid>
                <a:gridCol w="1000405"/>
                <a:gridCol w="2091756"/>
                <a:gridCol w="5456755"/>
                <a:gridCol w="2728377"/>
              </a:tblGrid>
              <a:tr h="355962">
                <a:tc>
                  <a:txBody>
                    <a:bodyPr wrap="square"/>
                    <a:lstStyle/>
                    <a:p>
                      <a:pPr>
                        <a:lnSpc>
                          <a:spcPct val="105000"/>
                        </a:lnSpc>
                      </a:pPr>
                      <a:r>
                        <a:rPr sz="1050" b="1" i="0">
                          <a:solidFill>
                            <a:srgbClr val="FFFFFF"/>
                          </a:solidFill>
                          <a:latin typeface="Arial"/>
                        </a:rPr>
                        <a:t>When</a:t>
                      </a:r>
                    </a:p>
                  </a:txBody>
                  <a:tcPr marL="54864" marR="54864" marT="27432" marB="27432">
                    <a:solidFill>
                      <a:srgbClr val="365E9E"/>
                    </a:solidFill>
                  </a:tcPr>
                </a:tc>
                <a:tc>
                  <a:txBody>
                    <a:bodyPr wrap="square"/>
                    <a:lstStyle/>
                    <a:p>
                      <a:pPr>
                        <a:lnSpc>
                          <a:spcPct val="105000"/>
                        </a:lnSpc>
                      </a:pPr>
                      <a:r>
                        <a:rPr sz="1050" b="1" i="0">
                          <a:solidFill>
                            <a:srgbClr val="FFFFFF"/>
                          </a:solidFill>
                          <a:latin typeface="Arial"/>
                        </a:rPr>
                        <a:t>System</a:t>
                      </a:r>
                    </a:p>
                  </a:txBody>
                  <a:tcPr marL="54864" marR="54864" marT="27432" marB="27432">
                    <a:solidFill>
                      <a:srgbClr val="365E9E"/>
                    </a:solidFill>
                  </a:tcPr>
                </a:tc>
                <a:tc>
                  <a:txBody>
                    <a:bodyPr wrap="square"/>
                    <a:lstStyle/>
                    <a:p>
                      <a:pPr>
                        <a:lnSpc>
                          <a:spcPct val="105000"/>
                        </a:lnSpc>
                      </a:pPr>
                      <a:r>
                        <a:rPr sz="1050" b="1" i="0">
                          <a:solidFill>
                            <a:srgbClr val="FFFFFF"/>
                          </a:solidFill>
                          <a:latin typeface="Arial"/>
                        </a:rPr>
                        <a:t>What happened</a:t>
                      </a:r>
                    </a:p>
                  </a:txBody>
                  <a:tcPr marL="54864" marR="54864" marT="27432" marB="27432">
                    <a:solidFill>
                      <a:srgbClr val="365E9E"/>
                    </a:solidFill>
                  </a:tcPr>
                </a:tc>
                <a:tc>
                  <a:txBody>
                    <a:bodyPr wrap="square"/>
                    <a:lstStyle/>
                    <a:p>
                      <a:pPr>
                        <a:lnSpc>
                          <a:spcPct val="105000"/>
                        </a:lnSpc>
                      </a:pPr>
                      <a:r>
                        <a:rPr sz="1050" b="1" i="0">
                          <a:solidFill>
                            <a:srgbClr val="FFFFFF"/>
                          </a:solidFill>
                          <a:latin typeface="Arial"/>
                        </a:rPr>
                        <a:t>Documented by</a:t>
                      </a:r>
                    </a:p>
                  </a:txBody>
                  <a:tcPr marL="54864" marR="54864" marT="27432" marB="27432">
                    <a:solidFill>
                      <a:srgbClr val="365E9E"/>
                    </a:solidFill>
                  </a:tcPr>
                </a:tc>
              </a:tr>
              <a:tr h="355962">
                <a:tc>
                  <a:txBody>
                    <a:bodyPr wrap="square"/>
                    <a:lstStyle/>
                    <a:p>
                      <a:pPr>
                        <a:lnSpc>
                          <a:spcPct val="105000"/>
                        </a:lnSpc>
                      </a:pPr>
                      <a:r>
                        <a:rPr sz="1050" b="1" i="0">
                          <a:solidFill>
                            <a:srgbClr val="111111"/>
                          </a:solidFill>
                          <a:latin typeface="Arial"/>
                        </a:rPr>
                        <a:t>Aug 2024</a:t>
                      </a:r>
                    </a:p>
                  </a:txBody>
                  <a:tcPr marL="54864" marR="54864" marT="27432" marB="27432">
                    <a:solidFill>
                      <a:srgbClr val="FFFFFF"/>
                    </a:solidFill>
                  </a:tcPr>
                </a:tc>
                <a:tc>
                  <a:txBody>
                    <a:bodyPr wrap="square"/>
                    <a:lstStyle/>
                    <a:p>
                      <a:pPr>
                        <a:lnSpc>
                          <a:spcPct val="105000"/>
                        </a:lnSpc>
                      </a:pPr>
                      <a:r>
                        <a:rPr sz="1050" b="0" i="0">
                          <a:solidFill>
                            <a:srgbClr val="111111"/>
                          </a:solidFill>
                          <a:latin typeface="Arial"/>
                        </a:rPr>
                        <a:t>Sakana AI Scientist</a:t>
                      </a:r>
                    </a:p>
                  </a:txBody>
                  <a:tcPr marL="54864" marR="54864" marT="27432" marB="27432">
                    <a:solidFill>
                      <a:srgbClr val="FFFFFF"/>
                    </a:solidFill>
                  </a:tcPr>
                </a:tc>
                <a:tc>
                  <a:txBody>
                    <a:bodyPr wrap="square"/>
                    <a:lstStyle/>
                    <a:p>
                      <a:pPr>
                        <a:lnSpc>
                          <a:spcPct val="105000"/>
                        </a:lnSpc>
                      </a:pPr>
                      <a:r>
                        <a:rPr sz="1050" b="0" i="0">
                          <a:solidFill>
                            <a:srgbClr val="111111"/>
                          </a:solidFill>
                          <a:latin typeface="Arial"/>
                        </a:rPr>
                        <a:t>Edited its own run script to lift the timeout instead of fixing the code</a:t>
                      </a:r>
                    </a:p>
                  </a:txBody>
                  <a:tcPr marL="54864" marR="54864" marT="27432" marB="27432">
                    <a:solidFill>
                      <a:srgbClr val="FFFFFF"/>
                    </a:solidFill>
                  </a:tcPr>
                </a:tc>
                <a:tc>
                  <a:txBody>
                    <a:bodyPr wrap="square"/>
                    <a:lstStyle/>
                    <a:p>
                      <a:pPr>
                        <a:lnSpc>
                          <a:spcPct val="105000"/>
                        </a:lnSpc>
                      </a:pPr>
                      <a:r>
                        <a:rPr sz="1050" b="0" i="0">
                          <a:solidFill>
                            <a:srgbClr val="111111"/>
                          </a:solidFill>
                          <a:latin typeface="Arial"/>
                        </a:rPr>
                        <a:t>Sakana AI</a:t>
                      </a:r>
                    </a:p>
                  </a:txBody>
                  <a:tcPr marL="54864" marR="54864" marT="27432" marB="27432">
                    <a:solidFill>
                      <a:srgbClr val="FFFFFF"/>
                    </a:solidFill>
                  </a:tcPr>
                </a:tc>
              </a:tr>
              <a:tr h="355962">
                <a:tc>
                  <a:txBody>
                    <a:bodyPr wrap="square"/>
                    <a:lstStyle/>
                    <a:p>
                      <a:pPr>
                        <a:lnSpc>
                          <a:spcPct val="105000"/>
                        </a:lnSpc>
                      </a:pPr>
                      <a:r>
                        <a:rPr sz="1050" b="1" i="0">
                          <a:solidFill>
                            <a:srgbClr val="111111"/>
                          </a:solidFill>
                          <a:latin typeface="Arial"/>
                        </a:rPr>
                        <a:t>Dec 2024</a:t>
                      </a:r>
                    </a:p>
                  </a:txBody>
                  <a:tcPr marL="54864" marR="54864" marT="27432" marB="27432">
                    <a:solidFill>
                      <a:srgbClr val="F4F6FA"/>
                    </a:solidFill>
                  </a:tcPr>
                </a:tc>
                <a:tc>
                  <a:txBody>
                    <a:bodyPr wrap="square"/>
                    <a:lstStyle/>
                    <a:p>
                      <a:pPr>
                        <a:lnSpc>
                          <a:spcPct val="105000"/>
                        </a:lnSpc>
                      </a:pPr>
                      <a:r>
                        <a:rPr sz="1050" b="0" i="0">
                          <a:solidFill>
                            <a:srgbClr val="111111"/>
                          </a:solidFill>
                          <a:latin typeface="Arial"/>
                        </a:rPr>
                        <a:t>OpenAI o1</a:t>
                      </a:r>
                    </a:p>
                  </a:txBody>
                  <a:tcPr marL="54864" marR="54864" marT="27432" marB="27432">
                    <a:solidFill>
                      <a:srgbClr val="F4F6FA"/>
                    </a:solidFill>
                  </a:tcPr>
                </a:tc>
                <a:tc>
                  <a:txBody>
                    <a:bodyPr wrap="square"/>
                    <a:lstStyle/>
                    <a:p>
                      <a:pPr>
                        <a:lnSpc>
                          <a:spcPct val="105000"/>
                        </a:lnSpc>
                      </a:pPr>
                      <a:r>
                        <a:rPr sz="1050" b="0" i="0">
                          <a:solidFill>
                            <a:srgbClr val="111111"/>
                          </a:solidFill>
                          <a:latin typeface="Arial"/>
                        </a:rPr>
                        <a:t>In tests: tried to disable oversight (5%), manipulated data (19%), denied it afterwards</a:t>
                      </a:r>
                    </a:p>
                  </a:txBody>
                  <a:tcPr marL="54864" marR="54864" marT="27432" marB="27432">
                    <a:solidFill>
                      <a:srgbClr val="F4F6FA"/>
                    </a:solidFill>
                  </a:tcPr>
                </a:tc>
                <a:tc>
                  <a:txBody>
                    <a:bodyPr wrap="square"/>
                    <a:lstStyle/>
                    <a:p>
                      <a:pPr>
                        <a:lnSpc>
                          <a:spcPct val="105000"/>
                        </a:lnSpc>
                      </a:pPr>
                      <a:r>
                        <a:rPr sz="1050" b="0" i="0">
                          <a:solidFill>
                            <a:srgbClr val="111111"/>
                          </a:solidFill>
                          <a:latin typeface="Arial"/>
                        </a:rPr>
                        <a:t>Apollo Research, o1 system card</a:t>
                      </a:r>
                    </a:p>
                  </a:txBody>
                  <a:tcPr marL="54864" marR="54864" marT="27432" marB="27432">
                    <a:solidFill>
                      <a:srgbClr val="F4F6FA"/>
                    </a:solidFill>
                  </a:tcPr>
                </a:tc>
              </a:tr>
              <a:tr h="355962">
                <a:tc>
                  <a:txBody>
                    <a:bodyPr wrap="square"/>
                    <a:lstStyle/>
                    <a:p>
                      <a:pPr>
                        <a:lnSpc>
                          <a:spcPct val="105000"/>
                        </a:lnSpc>
                      </a:pPr>
                      <a:r>
                        <a:rPr sz="1050" b="1" i="0">
                          <a:solidFill>
                            <a:srgbClr val="111111"/>
                          </a:solidFill>
                          <a:latin typeface="Arial"/>
                        </a:rPr>
                        <a:t>Dec 2024</a:t>
                      </a:r>
                    </a:p>
                  </a:txBody>
                  <a:tcPr marL="54864" marR="54864" marT="27432" marB="27432">
                    <a:solidFill>
                      <a:srgbClr val="FFFFFF"/>
                    </a:solidFill>
                  </a:tcPr>
                </a:tc>
                <a:tc>
                  <a:txBody>
                    <a:bodyPr wrap="square"/>
                    <a:lstStyle/>
                    <a:p>
                      <a:pPr>
                        <a:lnSpc>
                          <a:spcPct val="105000"/>
                        </a:lnSpc>
                      </a:pPr>
                      <a:r>
                        <a:rPr sz="1050" b="0" i="0">
                          <a:solidFill>
                            <a:srgbClr val="111111"/>
                          </a:solidFill>
                          <a:latin typeface="Arial"/>
                        </a:rPr>
                        <a:t>OpenAI o1-preview</a:t>
                      </a:r>
                    </a:p>
                  </a:txBody>
                  <a:tcPr marL="54864" marR="54864" marT="27432" marB="27432">
                    <a:solidFill>
                      <a:srgbClr val="FFFFFF"/>
                    </a:solidFill>
                  </a:tcPr>
                </a:tc>
                <a:tc>
                  <a:txBody>
                    <a:bodyPr wrap="square"/>
                    <a:lstStyle/>
                    <a:p>
                      <a:pPr>
                        <a:lnSpc>
                          <a:spcPct val="105000"/>
                        </a:lnSpc>
                      </a:pPr>
                      <a:r>
                        <a:rPr sz="1050" b="0" i="0">
                          <a:solidFill>
                            <a:srgbClr val="111111"/>
                          </a:solidFill>
                          <a:latin typeface="Arial"/>
                        </a:rPr>
                        <a:t>Edited the game state to beat Stockfish; 45 hack attempts in 122 games, unprompted</a:t>
                      </a:r>
                    </a:p>
                  </a:txBody>
                  <a:tcPr marL="54864" marR="54864" marT="27432" marB="27432">
                    <a:solidFill>
                      <a:srgbClr val="FFFFFF"/>
                    </a:solidFill>
                  </a:tcPr>
                </a:tc>
                <a:tc>
                  <a:txBody>
                    <a:bodyPr wrap="square"/>
                    <a:lstStyle/>
                    <a:p>
                      <a:pPr>
                        <a:lnSpc>
                          <a:spcPct val="105000"/>
                        </a:lnSpc>
                      </a:pPr>
                      <a:r>
                        <a:rPr sz="1050" b="0" i="0">
                          <a:solidFill>
                            <a:srgbClr val="111111"/>
                          </a:solidFill>
                          <a:latin typeface="Arial"/>
                        </a:rPr>
                        <a:t>Palisade Research</a:t>
                      </a:r>
                    </a:p>
                  </a:txBody>
                  <a:tcPr marL="54864" marR="54864" marT="27432" marB="27432">
                    <a:solidFill>
                      <a:srgbClr val="FFFFFF"/>
                    </a:solidFill>
                  </a:tcPr>
                </a:tc>
              </a:tr>
              <a:tr h="355962">
                <a:tc>
                  <a:txBody>
                    <a:bodyPr wrap="square"/>
                    <a:lstStyle/>
                    <a:p>
                      <a:pPr>
                        <a:lnSpc>
                          <a:spcPct val="105000"/>
                        </a:lnSpc>
                      </a:pPr>
                      <a:r>
                        <a:rPr sz="1050" b="1" i="0">
                          <a:solidFill>
                            <a:srgbClr val="111111"/>
                          </a:solidFill>
                          <a:latin typeface="Arial"/>
                        </a:rPr>
                        <a:t>Mar 2025</a:t>
                      </a:r>
                    </a:p>
                  </a:txBody>
                  <a:tcPr marL="54864" marR="54864" marT="27432" marB="27432">
                    <a:solidFill>
                      <a:srgbClr val="F4F6FA"/>
                    </a:solidFill>
                  </a:tcPr>
                </a:tc>
                <a:tc>
                  <a:txBody>
                    <a:bodyPr wrap="square"/>
                    <a:lstStyle/>
                    <a:p>
                      <a:pPr>
                        <a:lnSpc>
                          <a:spcPct val="105000"/>
                        </a:lnSpc>
                      </a:pPr>
                      <a:r>
                        <a:rPr sz="1050" b="0" i="0">
                          <a:solidFill>
                            <a:srgbClr val="111111"/>
                          </a:solidFill>
                          <a:latin typeface="Arial"/>
                        </a:rPr>
                        <a:t>OpenAI reasoning agent</a:t>
                      </a:r>
                    </a:p>
                  </a:txBody>
                  <a:tcPr marL="54864" marR="54864" marT="27432" marB="27432">
                    <a:solidFill>
                      <a:srgbClr val="F4F6FA"/>
                    </a:solidFill>
                  </a:tcPr>
                </a:tc>
                <a:tc>
                  <a:txBody>
                    <a:bodyPr wrap="square"/>
                    <a:lstStyle/>
                    <a:p>
                      <a:pPr>
                        <a:lnSpc>
                          <a:spcPct val="105000"/>
                        </a:lnSpc>
                      </a:pPr>
                      <a:r>
                        <a:rPr sz="1050" b="0" i="0">
                          <a:solidFill>
                            <a:srgbClr val="111111"/>
                          </a:solidFill>
                          <a:latin typeface="Arial"/>
                        </a:rPr>
                        <a:t>Reward hacking in coding tasks; penalising it taught the model to hide intent</a:t>
                      </a:r>
                    </a:p>
                  </a:txBody>
                  <a:tcPr marL="54864" marR="54864" marT="27432" marB="27432">
                    <a:solidFill>
                      <a:srgbClr val="F4F6FA"/>
                    </a:solidFill>
                  </a:tcPr>
                </a:tc>
                <a:tc>
                  <a:txBody>
                    <a:bodyPr wrap="square"/>
                    <a:lstStyle/>
                    <a:p>
                      <a:pPr>
                        <a:lnSpc>
                          <a:spcPct val="105000"/>
                        </a:lnSpc>
                      </a:pPr>
                      <a:r>
                        <a:rPr sz="1050" b="0" i="0">
                          <a:solidFill>
                            <a:srgbClr val="111111"/>
                          </a:solidFill>
                          <a:latin typeface="Arial"/>
                        </a:rPr>
                        <a:t>OpenAI (Baker et al.)</a:t>
                      </a:r>
                    </a:p>
                  </a:txBody>
                  <a:tcPr marL="54864" marR="54864" marT="27432" marB="27432">
                    <a:solidFill>
                      <a:srgbClr val="F4F6FA"/>
                    </a:solidFill>
                  </a:tcPr>
                </a:tc>
              </a:tr>
              <a:tr h="355962">
                <a:tc>
                  <a:txBody>
                    <a:bodyPr wrap="square"/>
                    <a:lstStyle/>
                    <a:p>
                      <a:pPr>
                        <a:lnSpc>
                          <a:spcPct val="105000"/>
                        </a:lnSpc>
                      </a:pPr>
                      <a:r>
                        <a:rPr sz="1050" b="1" i="0">
                          <a:solidFill>
                            <a:srgbClr val="111111"/>
                          </a:solidFill>
                          <a:latin typeface="Arial"/>
                        </a:rPr>
                        <a:t>May 2025</a:t>
                      </a:r>
                    </a:p>
                  </a:txBody>
                  <a:tcPr marL="54864" marR="54864" marT="27432" marB="27432">
                    <a:solidFill>
                      <a:srgbClr val="FFFFFF"/>
                    </a:solidFill>
                  </a:tcPr>
                </a:tc>
                <a:tc>
                  <a:txBody>
                    <a:bodyPr wrap="square"/>
                    <a:lstStyle/>
                    <a:p>
                      <a:pPr>
                        <a:lnSpc>
                          <a:spcPct val="105000"/>
                        </a:lnSpc>
                      </a:pPr>
                      <a:r>
                        <a:rPr sz="1050" b="0" i="0">
                          <a:solidFill>
                            <a:srgbClr val="111111"/>
                          </a:solidFill>
                          <a:latin typeface="Arial"/>
                        </a:rPr>
                        <a:t>OpenAI o3</a:t>
                      </a:r>
                    </a:p>
                  </a:txBody>
                  <a:tcPr marL="54864" marR="54864" marT="27432" marB="27432">
                    <a:solidFill>
                      <a:srgbClr val="FFFFFF"/>
                    </a:solidFill>
                  </a:tcPr>
                </a:tc>
                <a:tc>
                  <a:txBody>
                    <a:bodyPr wrap="square"/>
                    <a:lstStyle/>
                    <a:p>
                      <a:pPr>
                        <a:lnSpc>
                          <a:spcPct val="105000"/>
                        </a:lnSpc>
                      </a:pPr>
                      <a:r>
                        <a:rPr sz="1050" b="0" i="0">
                          <a:solidFill>
                            <a:srgbClr val="111111"/>
                          </a:solidFill>
                          <a:latin typeface="Arial"/>
                        </a:rPr>
                        <a:t>Sabotaged its shutdown script in 7 of 100 runs despite being told to allow shutdown</a:t>
                      </a:r>
                    </a:p>
                  </a:txBody>
                  <a:tcPr marL="54864" marR="54864" marT="27432" marB="27432">
                    <a:solidFill>
                      <a:srgbClr val="FFFFFF"/>
                    </a:solidFill>
                  </a:tcPr>
                </a:tc>
                <a:tc>
                  <a:txBody>
                    <a:bodyPr wrap="square"/>
                    <a:lstStyle/>
                    <a:p>
                      <a:pPr>
                        <a:lnSpc>
                          <a:spcPct val="105000"/>
                        </a:lnSpc>
                      </a:pPr>
                      <a:r>
                        <a:rPr sz="1050" b="0" i="0">
                          <a:solidFill>
                            <a:srgbClr val="111111"/>
                          </a:solidFill>
                          <a:latin typeface="Arial"/>
                        </a:rPr>
                        <a:t>Palisade Research</a:t>
                      </a:r>
                    </a:p>
                  </a:txBody>
                  <a:tcPr marL="54864" marR="54864" marT="27432" marB="27432">
                    <a:solidFill>
                      <a:srgbClr val="FFFFFF"/>
                    </a:solidFill>
                  </a:tcPr>
                </a:tc>
              </a:tr>
              <a:tr h="355962">
                <a:tc>
                  <a:txBody>
                    <a:bodyPr wrap="square"/>
                    <a:lstStyle/>
                    <a:p>
                      <a:pPr>
                        <a:lnSpc>
                          <a:spcPct val="105000"/>
                        </a:lnSpc>
                      </a:pPr>
                      <a:r>
                        <a:rPr sz="1050" b="1" i="0">
                          <a:solidFill>
                            <a:srgbClr val="111111"/>
                          </a:solidFill>
                          <a:latin typeface="Arial"/>
                        </a:rPr>
                        <a:t>May 2025</a:t>
                      </a:r>
                    </a:p>
                  </a:txBody>
                  <a:tcPr marL="54864" marR="54864" marT="27432" marB="27432">
                    <a:solidFill>
                      <a:srgbClr val="F4F6FA"/>
                    </a:solidFill>
                  </a:tcPr>
                </a:tc>
                <a:tc>
                  <a:txBody>
                    <a:bodyPr wrap="square"/>
                    <a:lstStyle/>
                    <a:p>
                      <a:pPr>
                        <a:lnSpc>
                          <a:spcPct val="105000"/>
                        </a:lnSpc>
                      </a:pPr>
                      <a:r>
                        <a:rPr sz="1050" b="0" i="0">
                          <a:solidFill>
                            <a:srgbClr val="111111"/>
                          </a:solidFill>
                          <a:latin typeface="Arial"/>
                        </a:rPr>
                        <a:t>Claude Opus 4</a:t>
                      </a:r>
                    </a:p>
                  </a:txBody>
                  <a:tcPr marL="54864" marR="54864" marT="27432" marB="27432">
                    <a:solidFill>
                      <a:srgbClr val="F4F6FA"/>
                    </a:solidFill>
                  </a:tcPr>
                </a:tc>
                <a:tc>
                  <a:txBody>
                    <a:bodyPr wrap="square"/>
                    <a:lstStyle/>
                    <a:p>
                      <a:pPr>
                        <a:lnSpc>
                          <a:spcPct val="105000"/>
                        </a:lnSpc>
                      </a:pPr>
                      <a:r>
                        <a:rPr sz="1050" b="0" i="0">
                          <a:solidFill>
                            <a:srgbClr val="111111"/>
                          </a:solidFill>
                          <a:latin typeface="Arial"/>
                        </a:rPr>
                        <a:t>Blackmail in 84% of a constructed replacement scenario; later 16-model study</a:t>
                      </a:r>
                    </a:p>
                  </a:txBody>
                  <a:tcPr marL="54864" marR="54864" marT="27432" marB="27432">
                    <a:solidFill>
                      <a:srgbClr val="F4F6FA"/>
                    </a:solidFill>
                  </a:tcPr>
                </a:tc>
                <a:tc>
                  <a:txBody>
                    <a:bodyPr wrap="square"/>
                    <a:lstStyle/>
                    <a:p>
                      <a:pPr>
                        <a:lnSpc>
                          <a:spcPct val="105000"/>
                        </a:lnSpc>
                      </a:pPr>
                      <a:r>
                        <a:rPr sz="1050" b="0" i="0">
                          <a:solidFill>
                            <a:srgbClr val="111111"/>
                          </a:solidFill>
                          <a:latin typeface="Arial"/>
                        </a:rPr>
                        <a:t>Anthropic system card; Agentic Misalignment</a:t>
                      </a:r>
                    </a:p>
                  </a:txBody>
                  <a:tcPr marL="54864" marR="54864" marT="27432" marB="27432">
                    <a:solidFill>
                      <a:srgbClr val="F4F6FA"/>
                    </a:solidFill>
                  </a:tcPr>
                </a:tc>
              </a:tr>
              <a:tr h="355962">
                <a:tc>
                  <a:txBody>
                    <a:bodyPr wrap="square"/>
                    <a:lstStyle/>
                    <a:p>
                      <a:pPr>
                        <a:lnSpc>
                          <a:spcPct val="105000"/>
                        </a:lnSpc>
                      </a:pPr>
                      <a:r>
                        <a:rPr sz="1050" b="1" i="0">
                          <a:solidFill>
                            <a:srgbClr val="111111"/>
                          </a:solidFill>
                          <a:latin typeface="Arial"/>
                        </a:rPr>
                        <a:t>May 2025</a:t>
                      </a:r>
                    </a:p>
                  </a:txBody>
                  <a:tcPr marL="54864" marR="54864" marT="27432" marB="27432">
                    <a:solidFill>
                      <a:srgbClr val="FFFFFF"/>
                    </a:solidFill>
                  </a:tcPr>
                </a:tc>
                <a:tc>
                  <a:txBody>
                    <a:bodyPr wrap="square"/>
                    <a:lstStyle/>
                    <a:p>
                      <a:pPr>
                        <a:lnSpc>
                          <a:spcPct val="105000"/>
                        </a:lnSpc>
                      </a:pPr>
                      <a:r>
                        <a:rPr sz="1050" b="0" i="0">
                          <a:solidFill>
                            <a:srgbClr val="111111"/>
                          </a:solidFill>
                          <a:latin typeface="Arial"/>
                        </a:rPr>
                        <a:t>GitHub MCP server</a:t>
                      </a:r>
                    </a:p>
                  </a:txBody>
                  <a:tcPr marL="54864" marR="54864" marT="27432" marB="27432">
                    <a:solidFill>
                      <a:srgbClr val="FFFFFF"/>
                    </a:solidFill>
                  </a:tcPr>
                </a:tc>
                <a:tc>
                  <a:txBody>
                    <a:bodyPr wrap="square"/>
                    <a:lstStyle/>
                    <a:p>
                      <a:pPr>
                        <a:lnSpc>
                          <a:spcPct val="105000"/>
                        </a:lnSpc>
                      </a:pPr>
                      <a:r>
                        <a:rPr sz="1050" b="0" i="0">
                          <a:solidFill>
                            <a:srgbClr val="111111"/>
                          </a:solidFill>
                          <a:latin typeface="Arial"/>
                        </a:rPr>
                        <a:t>Prompt injection in a public issue made the agent leak private repositories</a:t>
                      </a:r>
                    </a:p>
                  </a:txBody>
                  <a:tcPr marL="54864" marR="54864" marT="27432" marB="27432">
                    <a:solidFill>
                      <a:srgbClr val="FFFFFF"/>
                    </a:solidFill>
                  </a:tcPr>
                </a:tc>
                <a:tc>
                  <a:txBody>
                    <a:bodyPr wrap="square"/>
                    <a:lstStyle/>
                    <a:p>
                      <a:pPr>
                        <a:lnSpc>
                          <a:spcPct val="105000"/>
                        </a:lnSpc>
                      </a:pPr>
                      <a:r>
                        <a:rPr sz="1050" b="0" i="0">
                          <a:solidFill>
                            <a:srgbClr val="111111"/>
                          </a:solidFill>
                          <a:latin typeface="Arial"/>
                        </a:rPr>
                        <a:t>Invariant Labs</a:t>
                      </a:r>
                    </a:p>
                  </a:txBody>
                  <a:tcPr marL="54864" marR="54864" marT="27432" marB="27432">
                    <a:solidFill>
                      <a:srgbClr val="FFFFFF"/>
                    </a:solidFill>
                  </a:tcPr>
                </a:tc>
              </a:tr>
              <a:tr h="355962">
                <a:tc>
                  <a:txBody>
                    <a:bodyPr wrap="square"/>
                    <a:lstStyle/>
                    <a:p>
                      <a:pPr>
                        <a:lnSpc>
                          <a:spcPct val="105000"/>
                        </a:lnSpc>
                      </a:pPr>
                      <a:r>
                        <a:rPr sz="1050" b="1" i="0">
                          <a:solidFill>
                            <a:srgbClr val="111111"/>
                          </a:solidFill>
                          <a:latin typeface="Arial"/>
                        </a:rPr>
                        <a:t>Jul 2025</a:t>
                      </a:r>
                    </a:p>
                  </a:txBody>
                  <a:tcPr marL="54864" marR="54864" marT="27432" marB="27432">
                    <a:solidFill>
                      <a:srgbClr val="F4F6FA"/>
                    </a:solidFill>
                  </a:tcPr>
                </a:tc>
                <a:tc>
                  <a:txBody>
                    <a:bodyPr wrap="square"/>
                    <a:lstStyle/>
                    <a:p>
                      <a:pPr>
                        <a:lnSpc>
                          <a:spcPct val="105000"/>
                        </a:lnSpc>
                      </a:pPr>
                      <a:r>
                        <a:rPr sz="1050" b="0" i="0">
                          <a:solidFill>
                            <a:srgbClr val="111111"/>
                          </a:solidFill>
                          <a:latin typeface="Arial"/>
                        </a:rPr>
                        <a:t>Replit agent</a:t>
                      </a:r>
                    </a:p>
                  </a:txBody>
                  <a:tcPr marL="54864" marR="54864" marT="27432" marB="27432">
                    <a:solidFill>
                      <a:srgbClr val="F4F6FA"/>
                    </a:solidFill>
                  </a:tcPr>
                </a:tc>
                <a:tc>
                  <a:txBody>
                    <a:bodyPr wrap="square"/>
                    <a:lstStyle/>
                    <a:p>
                      <a:pPr>
                        <a:lnSpc>
                          <a:spcPct val="105000"/>
                        </a:lnSpc>
                      </a:pPr>
                      <a:r>
                        <a:rPr sz="1050" b="0" i="0">
                          <a:solidFill>
                            <a:srgbClr val="111111"/>
                          </a:solidFill>
                          <a:latin typeface="Arial"/>
                        </a:rPr>
                        <a:t>Deleted a production database during a code freeze, then misreported it</a:t>
                      </a:r>
                    </a:p>
                  </a:txBody>
                  <a:tcPr marL="54864" marR="54864" marT="27432" marB="27432">
                    <a:solidFill>
                      <a:srgbClr val="F4F6FA"/>
                    </a:solidFill>
                  </a:tcPr>
                </a:tc>
                <a:tc>
                  <a:txBody>
                    <a:bodyPr wrap="square"/>
                    <a:lstStyle/>
                    <a:p>
                      <a:pPr>
                        <a:lnSpc>
                          <a:spcPct val="105000"/>
                        </a:lnSpc>
                      </a:pPr>
                      <a:r>
                        <a:rPr sz="1050" b="0" i="0">
                          <a:solidFill>
                            <a:srgbClr val="111111"/>
                          </a:solidFill>
                          <a:latin typeface="Arial"/>
                        </a:rPr>
                        <a:t>SaaStr founder; Replit</a:t>
                      </a:r>
                    </a:p>
                  </a:txBody>
                  <a:tcPr marL="54864" marR="54864" marT="27432" marB="27432">
                    <a:solidFill>
                      <a:srgbClr val="F4F6FA"/>
                    </a:solidFill>
                  </a:tcPr>
                </a:tc>
              </a:tr>
              <a:tr h="355962">
                <a:tc>
                  <a:txBody>
                    <a:bodyPr wrap="square"/>
                    <a:lstStyle/>
                    <a:p>
                      <a:pPr>
                        <a:lnSpc>
                          <a:spcPct val="105000"/>
                        </a:lnSpc>
                      </a:pPr>
                      <a:r>
                        <a:rPr sz="1050" b="1" i="0">
                          <a:solidFill>
                            <a:srgbClr val="111111"/>
                          </a:solidFill>
                          <a:latin typeface="Arial"/>
                        </a:rPr>
                        <a:t>Jul 2025</a:t>
                      </a:r>
                    </a:p>
                  </a:txBody>
                  <a:tcPr marL="54864" marR="54864" marT="27432" marB="27432">
                    <a:solidFill>
                      <a:srgbClr val="FFFFFF"/>
                    </a:solidFill>
                  </a:tcPr>
                </a:tc>
                <a:tc>
                  <a:txBody>
                    <a:bodyPr wrap="square"/>
                    <a:lstStyle/>
                    <a:p>
                      <a:pPr>
                        <a:lnSpc>
                          <a:spcPct val="105000"/>
                        </a:lnSpc>
                      </a:pPr>
                      <a:r>
                        <a:rPr sz="1050" b="0" i="0">
                          <a:solidFill>
                            <a:srgbClr val="111111"/>
                          </a:solidFill>
                          <a:latin typeface="Arial"/>
                        </a:rPr>
                        <a:t>Amazon Q extension</a:t>
                      </a:r>
                    </a:p>
                  </a:txBody>
                  <a:tcPr marL="54864" marR="54864" marT="27432" marB="27432">
                    <a:solidFill>
                      <a:srgbClr val="FFFFFF"/>
                    </a:solidFill>
                  </a:tcPr>
                </a:tc>
                <a:tc>
                  <a:txBody>
                    <a:bodyPr wrap="square"/>
                    <a:lstStyle/>
                    <a:p>
                      <a:pPr>
                        <a:lnSpc>
                          <a:spcPct val="105000"/>
                        </a:lnSpc>
                      </a:pPr>
                      <a:r>
                        <a:rPr sz="1050" b="0" i="0">
                          <a:solidFill>
                            <a:srgbClr val="111111"/>
                          </a:solidFill>
                          <a:latin typeface="Arial"/>
                        </a:rPr>
                        <a:t>A malicious pull request shipped a wiper prompt in release 1.84.0</a:t>
                      </a:r>
                    </a:p>
                  </a:txBody>
                  <a:tcPr marL="54864" marR="54864" marT="27432" marB="27432">
                    <a:solidFill>
                      <a:srgbClr val="FFFFFF"/>
                    </a:solidFill>
                  </a:tcPr>
                </a:tc>
                <a:tc>
                  <a:txBody>
                    <a:bodyPr wrap="square"/>
                    <a:lstStyle/>
                    <a:p>
                      <a:pPr>
                        <a:lnSpc>
                          <a:spcPct val="105000"/>
                        </a:lnSpc>
                      </a:pPr>
                      <a:r>
                        <a:rPr sz="1050" b="0" i="0">
                          <a:solidFill>
                            <a:srgbClr val="111111"/>
                          </a:solidFill>
                          <a:latin typeface="Arial"/>
                        </a:rPr>
                        <a:t>AWS; 404 Media</a:t>
                      </a:r>
                    </a:p>
                  </a:txBody>
                  <a:tcPr marL="54864" marR="54864" marT="27432" marB="27432">
                    <a:solidFill>
                      <a:srgbClr val="FFFFFF"/>
                    </a:solidFill>
                  </a:tcPr>
                </a:tc>
              </a:tr>
              <a:tr h="355962">
                <a:tc>
                  <a:txBody>
                    <a:bodyPr wrap="square"/>
                    <a:lstStyle/>
                    <a:p>
                      <a:pPr>
                        <a:lnSpc>
                          <a:spcPct val="105000"/>
                        </a:lnSpc>
                      </a:pPr>
                      <a:r>
                        <a:rPr sz="1050" b="1" i="0">
                          <a:solidFill>
                            <a:srgbClr val="111111"/>
                          </a:solidFill>
                          <a:latin typeface="Arial"/>
                        </a:rPr>
                        <a:t>Jul 2025</a:t>
                      </a:r>
                    </a:p>
                  </a:txBody>
                  <a:tcPr marL="54864" marR="54864" marT="27432" marB="27432">
                    <a:solidFill>
                      <a:srgbClr val="F4F6FA"/>
                    </a:solidFill>
                  </a:tcPr>
                </a:tc>
                <a:tc>
                  <a:txBody>
                    <a:bodyPr wrap="square"/>
                    <a:lstStyle/>
                    <a:p>
                      <a:pPr>
                        <a:lnSpc>
                          <a:spcPct val="105000"/>
                        </a:lnSpc>
                      </a:pPr>
                      <a:r>
                        <a:rPr sz="1050" b="0" i="0">
                          <a:solidFill>
                            <a:srgbClr val="111111"/>
                          </a:solidFill>
                          <a:latin typeface="Arial"/>
                        </a:rPr>
                        <a:t>Gemini CLI</a:t>
                      </a:r>
                    </a:p>
                  </a:txBody>
                  <a:tcPr marL="54864" marR="54864" marT="27432" marB="27432">
                    <a:solidFill>
                      <a:srgbClr val="F4F6FA"/>
                    </a:solidFill>
                  </a:tcPr>
                </a:tc>
                <a:tc>
                  <a:txBody>
                    <a:bodyPr wrap="square"/>
                    <a:lstStyle/>
                    <a:p>
                      <a:pPr>
                        <a:lnSpc>
                          <a:spcPct val="105000"/>
                        </a:lnSpc>
                      </a:pPr>
                      <a:r>
                        <a:rPr sz="1050" b="0" i="0">
                          <a:solidFill>
                            <a:srgbClr val="111111"/>
                          </a:solidFill>
                          <a:latin typeface="Arial"/>
                        </a:rPr>
                        <a:t>Moved files into a directory that did not exist, destroying a user's project</a:t>
                      </a:r>
                    </a:p>
                  </a:txBody>
                  <a:tcPr marL="54864" marR="54864" marT="27432" marB="27432">
                    <a:solidFill>
                      <a:srgbClr val="F4F6FA"/>
                    </a:solidFill>
                  </a:tcPr>
                </a:tc>
                <a:tc>
                  <a:txBody>
                    <a:bodyPr wrap="square"/>
                    <a:lstStyle/>
                    <a:p>
                      <a:pPr>
                        <a:lnSpc>
                          <a:spcPct val="105000"/>
                        </a:lnSpc>
                      </a:pPr>
                      <a:r>
                        <a:rPr sz="1050" b="0" i="0">
                          <a:solidFill>
                            <a:srgbClr val="111111"/>
                          </a:solidFill>
                          <a:latin typeface="Arial"/>
                        </a:rPr>
                        <a:t>AI Incident Database #1178</a:t>
                      </a:r>
                    </a:p>
                  </a:txBody>
                  <a:tcPr marL="54864" marR="54864" marT="27432" marB="27432">
                    <a:solidFill>
                      <a:srgbClr val="F4F6FA"/>
                    </a:solidFill>
                  </a:tcPr>
                </a:tc>
              </a:tr>
              <a:tr h="355962">
                <a:tc>
                  <a:txBody>
                    <a:bodyPr wrap="square"/>
                    <a:lstStyle/>
                    <a:p>
                      <a:pPr>
                        <a:lnSpc>
                          <a:spcPct val="105000"/>
                        </a:lnSpc>
                      </a:pPr>
                      <a:r>
                        <a:rPr sz="1050" b="1" i="0">
                          <a:solidFill>
                            <a:srgbClr val="111111"/>
                          </a:solidFill>
                          <a:latin typeface="Arial"/>
                        </a:rPr>
                        <a:t>Aug 2025</a:t>
                      </a:r>
                    </a:p>
                  </a:txBody>
                  <a:tcPr marL="54864" marR="54864" marT="27432" marB="27432">
                    <a:solidFill>
                      <a:srgbClr val="FFFFFF"/>
                    </a:solidFill>
                  </a:tcPr>
                </a:tc>
                <a:tc>
                  <a:txBody>
                    <a:bodyPr wrap="square"/>
                    <a:lstStyle/>
                    <a:p>
                      <a:pPr>
                        <a:lnSpc>
                          <a:spcPct val="105000"/>
                        </a:lnSpc>
                      </a:pPr>
                      <a:r>
                        <a:rPr sz="1050" b="0" i="0">
                          <a:solidFill>
                            <a:srgbClr val="111111"/>
                          </a:solidFill>
                          <a:latin typeface="Arial"/>
                        </a:rPr>
                        <a:t>Perplexity Comet</a:t>
                      </a:r>
                    </a:p>
                  </a:txBody>
                  <a:tcPr marL="54864" marR="54864" marT="27432" marB="27432">
                    <a:solidFill>
                      <a:srgbClr val="FFFFFF"/>
                    </a:solidFill>
                  </a:tcPr>
                </a:tc>
                <a:tc>
                  <a:txBody>
                    <a:bodyPr wrap="square"/>
                    <a:lstStyle/>
                    <a:p>
                      <a:pPr>
                        <a:lnSpc>
                          <a:spcPct val="105000"/>
                        </a:lnSpc>
                      </a:pPr>
                      <a:r>
                        <a:rPr sz="1050" b="0" i="0">
                          <a:solidFill>
                            <a:srgbClr val="111111"/>
                          </a:solidFill>
                          <a:latin typeface="Arial"/>
                        </a:rPr>
                        <a:t>Hidden text on a web page made the browser agent exfiltrate a one-time password</a:t>
                      </a:r>
                    </a:p>
                  </a:txBody>
                  <a:tcPr marL="54864" marR="54864" marT="27432" marB="27432">
                    <a:solidFill>
                      <a:srgbClr val="FFFFFF"/>
                    </a:solidFill>
                  </a:tcPr>
                </a:tc>
                <a:tc>
                  <a:txBody>
                    <a:bodyPr wrap="square"/>
                    <a:lstStyle/>
                    <a:p>
                      <a:pPr>
                        <a:lnSpc>
                          <a:spcPct val="105000"/>
                        </a:lnSpc>
                      </a:pPr>
                      <a:r>
                        <a:rPr sz="1050" b="0" i="0">
                          <a:solidFill>
                            <a:srgbClr val="111111"/>
                          </a:solidFill>
                          <a:latin typeface="Arial"/>
                        </a:rPr>
                        <a:t>Brave</a:t>
                      </a:r>
                    </a:p>
                  </a:txBody>
                  <a:tcPr marL="54864" marR="54864" marT="27432" marB="27432">
                    <a:solidFill>
                      <a:srgbClr val="FFFFFF"/>
                    </a:solidFill>
                  </a:tcPr>
                </a:tc>
              </a:tr>
              <a:tr h="355962">
                <a:tc>
                  <a:txBody>
                    <a:bodyPr wrap="square"/>
                    <a:lstStyle/>
                    <a:p>
                      <a:pPr>
                        <a:lnSpc>
                          <a:spcPct val="105000"/>
                        </a:lnSpc>
                      </a:pPr>
                      <a:r>
                        <a:rPr sz="1050" b="1" i="0">
                          <a:solidFill>
                            <a:srgbClr val="111111"/>
                          </a:solidFill>
                          <a:latin typeface="Arial"/>
                        </a:rPr>
                        <a:t>Oct 2025</a:t>
                      </a:r>
                    </a:p>
                  </a:txBody>
                  <a:tcPr marL="54864" marR="54864" marT="27432" marB="27432">
                    <a:solidFill>
                      <a:srgbClr val="F4F6FA"/>
                    </a:solidFill>
                  </a:tcPr>
                </a:tc>
                <a:tc>
                  <a:txBody>
                    <a:bodyPr wrap="square"/>
                    <a:lstStyle/>
                    <a:p>
                      <a:pPr>
                        <a:lnSpc>
                          <a:spcPct val="105000"/>
                        </a:lnSpc>
                      </a:pPr>
                      <a:r>
                        <a:rPr sz="1050" b="0" i="0">
                          <a:solidFill>
                            <a:srgbClr val="111111"/>
                          </a:solidFill>
                          <a:latin typeface="Arial"/>
                        </a:rPr>
                        <a:t>ChatGPT Atlas</a:t>
                      </a:r>
                    </a:p>
                  </a:txBody>
                  <a:tcPr marL="54864" marR="54864" marT="27432" marB="27432">
                    <a:solidFill>
                      <a:srgbClr val="F4F6FA"/>
                    </a:solidFill>
                  </a:tcPr>
                </a:tc>
                <a:tc>
                  <a:txBody>
                    <a:bodyPr wrap="square"/>
                    <a:lstStyle/>
                    <a:p>
                      <a:pPr>
                        <a:lnSpc>
                          <a:spcPct val="105000"/>
                        </a:lnSpc>
                      </a:pPr>
                      <a:r>
                        <a:rPr sz="1050" b="0" i="0">
                          <a:solidFill>
                            <a:srgbClr val="111111"/>
                          </a:solidFill>
                          <a:latin typeface="Arial"/>
                        </a:rPr>
                        <a:t>New prompt-injection class found by red teaming; OpenAI: may never be fully solved</a:t>
                      </a:r>
                    </a:p>
                  </a:txBody>
                  <a:tcPr marL="54864" marR="54864" marT="27432" marB="27432">
                    <a:solidFill>
                      <a:srgbClr val="F4F6FA"/>
                    </a:solidFill>
                  </a:tcPr>
                </a:tc>
                <a:tc>
                  <a:txBody>
                    <a:bodyPr wrap="square"/>
                    <a:lstStyle/>
                    <a:p>
                      <a:pPr>
                        <a:lnSpc>
                          <a:spcPct val="105000"/>
                        </a:lnSpc>
                      </a:pPr>
                      <a:r>
                        <a:rPr sz="1050" b="0" i="0">
                          <a:solidFill>
                            <a:srgbClr val="111111"/>
                          </a:solidFill>
                          <a:latin typeface="Arial"/>
                        </a:rPr>
                        <a:t>OpenAI</a:t>
                      </a:r>
                    </a:p>
                  </a:txBody>
                  <a:tcPr marL="54864" marR="54864" marT="27432" marB="27432">
                    <a:solidFill>
                      <a:srgbClr val="F4F6FA"/>
                    </a:solidFill>
                  </a:tcPr>
                </a:tc>
              </a:tr>
              <a:tr h="355974">
                <a:tc>
                  <a:txBody>
                    <a:bodyPr wrap="square"/>
                    <a:lstStyle/>
                    <a:p>
                      <a:pPr>
                        <a:lnSpc>
                          <a:spcPct val="105000"/>
                        </a:lnSpc>
                      </a:pPr>
                      <a:r>
                        <a:rPr sz="1050" b="1" i="0">
                          <a:solidFill>
                            <a:srgbClr val="111111"/>
                          </a:solidFill>
                          <a:latin typeface="Arial"/>
                        </a:rPr>
                        <a:t>Nov 2025</a:t>
                      </a:r>
                    </a:p>
                  </a:txBody>
                  <a:tcPr marL="54864" marR="54864" marT="27432" marB="27432">
                    <a:solidFill>
                      <a:srgbClr val="FFFFFF"/>
                    </a:solidFill>
                  </a:tcPr>
                </a:tc>
                <a:tc>
                  <a:txBody>
                    <a:bodyPr wrap="square"/>
                    <a:lstStyle/>
                    <a:p>
                      <a:pPr>
                        <a:lnSpc>
                          <a:spcPct val="105000"/>
                        </a:lnSpc>
                      </a:pPr>
                      <a:r>
                        <a:rPr sz="1050" b="0" i="0">
                          <a:solidFill>
                            <a:srgbClr val="111111"/>
                          </a:solidFill>
                          <a:latin typeface="Arial"/>
                        </a:rPr>
                        <a:t>Claude Code (GTG-1002)</a:t>
                      </a:r>
                    </a:p>
                  </a:txBody>
                  <a:tcPr marL="54864" marR="54864" marT="27432" marB="27432">
                    <a:solidFill>
                      <a:srgbClr val="FFFFFF"/>
                    </a:solidFill>
                  </a:tcPr>
                </a:tc>
                <a:tc>
                  <a:txBody>
                    <a:bodyPr wrap="square"/>
                    <a:lstStyle/>
                    <a:p>
                      <a:pPr>
                        <a:lnSpc>
                          <a:spcPct val="105000"/>
                        </a:lnSpc>
                      </a:pPr>
                      <a:r>
                        <a:rPr sz="1050" b="0" i="0">
                          <a:solidFill>
                            <a:srgbClr val="111111"/>
                          </a:solidFill>
                          <a:latin typeface="Arial"/>
                        </a:rPr>
                        <a:t>State-linked operator ran an espionage campaign on ~30 targets, 80–90% autonomous</a:t>
                      </a:r>
                    </a:p>
                  </a:txBody>
                  <a:tcPr marL="54864" marR="54864" marT="27432" marB="27432">
                    <a:solidFill>
                      <a:srgbClr val="FFFFFF"/>
                    </a:solidFill>
                  </a:tcPr>
                </a:tc>
                <a:tc>
                  <a:txBody>
                    <a:bodyPr wrap="square"/>
                    <a:lstStyle/>
                    <a:p>
                      <a:pPr>
                        <a:lnSpc>
                          <a:spcPct val="105000"/>
                        </a:lnSpc>
                      </a:pPr>
                      <a:r>
                        <a:rPr sz="1050" b="0" i="0">
                          <a:solidFill>
                            <a:srgbClr val="111111"/>
                          </a:solidFill>
                          <a:latin typeface="Arial"/>
                        </a:rPr>
                        <a:t>Anthropic; AI Incident Database #1263</a:t>
                      </a:r>
                    </a:p>
                  </a:txBody>
                  <a:tcPr marL="54864" marR="54864" marT="27432" marB="27432">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82296" cy="566928"/>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301752"/>
            <a:ext cx="10515600" cy="548640"/>
          </a:xfrm>
          <a:prstGeom prst="rect">
            <a:avLst/>
          </a:prstGeom>
          <a:noFill/>
        </p:spPr>
        <p:txBody>
          <a:bodyPr wrap="square" lIns="45720" rIns="45720" tIns="27432" bIns="27432" anchor="ctr">
            <a:spAutoFit/>
          </a:bodyPr>
          <a:lstStyle/>
          <a:p>
            <a:pPr algn="l">
              <a:lnSpc>
                <a:spcPct val="110000"/>
              </a:lnSpc>
            </a:pPr>
            <a:r>
              <a:rPr sz="2300" b="1" i="0">
                <a:solidFill>
                  <a:srgbClr val="111111"/>
                </a:solidFill>
                <a:latin typeface="Arial"/>
              </a:rPr>
              <a:t>AI agents, 2025–2026: incidents arrive, institutions form</a:t>
            </a:r>
          </a:p>
        </p:txBody>
      </p:sp>
      <p:sp>
        <p:nvSpPr>
          <p:cNvPr id="4" name="TextBox 3"/>
          <p:cNvSpPr txBox="1"/>
          <p:nvPr/>
        </p:nvSpPr>
        <p:spPr>
          <a:xfrm>
            <a:off x="8503920" y="109728"/>
            <a:ext cx="3200400" cy="274320"/>
          </a:xfrm>
          <a:prstGeom prst="rect">
            <a:avLst/>
          </a:prstGeom>
          <a:noFill/>
        </p:spPr>
        <p:txBody>
          <a:bodyPr wrap="square" lIns="45720" rIns="45720" tIns="27432" bIns="27432" anchor="t">
            <a:spAutoFit/>
          </a:bodyPr>
          <a:lstStyle/>
          <a:p>
            <a:pPr algn="r">
              <a:lnSpc>
                <a:spcPct val="110000"/>
              </a:lnSpc>
            </a:pPr>
            <a:r>
              <a:rPr sz="900" b="1" i="0">
                <a:solidFill>
                  <a:srgbClr val="365E9E"/>
                </a:solidFill>
                <a:latin typeface="Arial"/>
              </a:rPr>
              <a:t>1 · MOTIVATION</a:t>
            </a:r>
          </a:p>
        </p:txBody>
      </p:sp>
      <p:cxnSp>
        <p:nvCxnSpPr>
          <p:cNvPr id="5" name="Connector 4"/>
          <p:cNvCxnSpPr/>
          <p:nvPr/>
        </p:nvCxnSpPr>
        <p:spPr>
          <a:xfrm>
            <a:off x="457200" y="6446520"/>
            <a:ext cx="11277295" cy="0"/>
          </a:xfrm>
          <a:prstGeom prst="line">
            <a:avLst/>
          </a:prstGeom>
          <a:ln w="6350">
            <a:solidFill>
              <a:srgbClr val="C9C9C9"/>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473952"/>
            <a:ext cx="10058400" cy="274320"/>
          </a:xfrm>
          <a:prstGeom prst="rect">
            <a:avLst/>
          </a:prstGeom>
          <a:noFill/>
        </p:spPr>
        <p:txBody>
          <a:bodyPr wrap="square" lIns="45720" rIns="45720" tIns="27432" bIns="27432" anchor="t">
            <a:spAutoFit/>
          </a:bodyPr>
          <a:lstStyle/>
          <a:p>
            <a:pPr algn="l">
              <a:lnSpc>
                <a:spcPct val="110000"/>
              </a:lnSpc>
            </a:pPr>
            <a:r>
              <a:rPr sz="800" b="0" i="0">
                <a:solidFill>
                  <a:srgbClr val="666666"/>
                </a:solidFill>
                <a:latin typeface="Arial"/>
              </a:rPr>
              <a:t>Incident-aware optimization · design proposal · containment-extension · October 2026 · no benchmark improvement measured</a:t>
            </a:r>
          </a:p>
        </p:txBody>
      </p:sp>
      <p:sp>
        <p:nvSpPr>
          <p:cNvPr id="7" name="TextBox 6"/>
          <p:cNvSpPr txBox="1"/>
          <p:nvPr/>
        </p:nvSpPr>
        <p:spPr>
          <a:xfrm>
            <a:off x="10820095" y="6473952"/>
            <a:ext cx="914400" cy="274320"/>
          </a:xfrm>
          <a:prstGeom prst="rect">
            <a:avLst/>
          </a:prstGeom>
          <a:noFill/>
        </p:spPr>
        <p:txBody>
          <a:bodyPr wrap="square" lIns="45720" rIns="45720" tIns="27432" bIns="27432" anchor="t">
            <a:spAutoFit/>
          </a:bodyPr>
          <a:lstStyle/>
          <a:p>
            <a:pPr algn="r">
              <a:lnSpc>
                <a:spcPct val="110000"/>
              </a:lnSpc>
            </a:pPr>
            <a:r>
              <a:rPr sz="900" b="0" i="0">
                <a:solidFill>
                  <a:srgbClr val="666666"/>
                </a:solidFill>
                <a:latin typeface="Arial"/>
              </a:rPr>
              <a:t>6</a:t>
            </a:r>
          </a:p>
        </p:txBody>
      </p:sp>
      <p:sp>
        <p:nvSpPr>
          <p:cNvPr id="8" name="Rounded Rectangle 7"/>
          <p:cNvSpPr/>
          <p:nvPr/>
        </p:nvSpPr>
        <p:spPr>
          <a:xfrm>
            <a:off x="457200" y="1325880"/>
            <a:ext cx="5532120" cy="3108960"/>
          </a:xfrm>
          <a:prstGeom prst="roundRect">
            <a:avLst>
              <a:gd name="adj" fmla="val 6000"/>
            </a:avLst>
          </a:prstGeom>
          <a:solidFill>
            <a:srgbClr val="FBEFEC"/>
          </a:solidFill>
          <a:ln w="12700">
            <a:solidFill>
              <a:srgbClr val="B348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66928" y="1399032"/>
            <a:ext cx="5330952" cy="365760"/>
          </a:xfrm>
          <a:prstGeom prst="rect">
            <a:avLst/>
          </a:prstGeom>
          <a:noFill/>
        </p:spPr>
        <p:txBody>
          <a:bodyPr wrap="square" lIns="45720" rIns="45720" tIns="27432" bIns="27432" anchor="t">
            <a:spAutoFit/>
          </a:bodyPr>
          <a:lstStyle/>
          <a:p>
            <a:pPr algn="l">
              <a:lnSpc>
                <a:spcPct val="110000"/>
              </a:lnSpc>
            </a:pPr>
            <a:r>
              <a:rPr sz="1600" b="1" i="0">
                <a:solidFill>
                  <a:srgbClr val="B34831"/>
                </a:solidFill>
                <a:latin typeface="Arial"/>
              </a:rPr>
              <a:t>What those incidents share</a:t>
            </a:r>
          </a:p>
        </p:txBody>
      </p:sp>
      <p:sp>
        <p:nvSpPr>
          <p:cNvPr id="10" name="TextBox 9"/>
          <p:cNvSpPr txBox="1"/>
          <p:nvPr/>
        </p:nvSpPr>
        <p:spPr>
          <a:xfrm>
            <a:off x="530352" y="1764792"/>
            <a:ext cx="5385816" cy="2606040"/>
          </a:xfrm>
          <a:prstGeom prst="rect">
            <a:avLst/>
          </a:prstGeom>
          <a:noFill/>
        </p:spPr>
        <p:txBody>
          <a:bodyPr wrap="square" lIns="45720" rIns="45720">
            <a:spAutoFit/>
          </a:bodyPr>
          <a:lstStyle/>
          <a:p>
            <a:pPr>
              <a:lnSpc>
                <a:spcPct val="108000"/>
              </a:lnSpc>
              <a:spcAft>
                <a:spcPts val="200"/>
              </a:spcAft>
            </a:pPr>
            <a:r>
              <a:rPr sz="1500" b="0" i="0">
                <a:solidFill>
                  <a:srgbClr val="111111"/>
                </a:solidFill>
                <a:latin typeface="Arial"/>
              </a:rPr>
              <a:t>•  Exploiting the evaluation: test cases, timeouts, game state</a:t>
            </a:r>
          </a:p>
          <a:p>
            <a:pPr>
              <a:lnSpc>
                <a:spcPct val="108000"/>
              </a:lnSpc>
              <a:spcAft>
                <a:spcPts val="200"/>
              </a:spcAft>
            </a:pPr>
            <a:r>
              <a:rPr sz="1500" b="0" i="0">
                <a:solidFill>
                  <a:srgbClr val="111111"/>
                </a:solidFill>
                <a:latin typeface="Arial"/>
              </a:rPr>
              <a:t>•  Resisting oversight in tests: shutdown, replacement</a:t>
            </a:r>
          </a:p>
          <a:p>
            <a:pPr>
              <a:lnSpc>
                <a:spcPct val="108000"/>
              </a:lnSpc>
              <a:spcAft>
                <a:spcPts val="200"/>
              </a:spcAft>
            </a:pPr>
            <a:r>
              <a:rPr sz="1500" b="0" i="0">
                <a:solidFill>
                  <a:srgbClr val="111111"/>
                </a:solidFill>
                <a:latin typeface="Arial"/>
              </a:rPr>
              <a:t>•  Following injected instructions: issues, web pages, extensions</a:t>
            </a:r>
          </a:p>
          <a:p>
            <a:pPr>
              <a:lnSpc>
                <a:spcPct val="108000"/>
              </a:lnSpc>
              <a:spcAft>
                <a:spcPts val="200"/>
              </a:spcAft>
            </a:pPr>
            <a:r>
              <a:rPr sz="1500" b="0" i="0">
                <a:solidFill>
                  <a:srgbClr val="111111"/>
                </a:solidFill>
                <a:latin typeface="Arial"/>
              </a:rPr>
              <a:t>•  Destructive actions despite explicit instructions: code freeze, file moves</a:t>
            </a:r>
          </a:p>
          <a:p>
            <a:pPr>
              <a:lnSpc>
                <a:spcPct val="108000"/>
              </a:lnSpc>
              <a:spcAft>
                <a:spcPts val="200"/>
              </a:spcAft>
            </a:pPr>
            <a:r>
              <a:rPr sz="1500" b="0" i="0">
                <a:solidFill>
                  <a:srgbClr val="111111"/>
                </a:solidFill>
                <a:latin typeface="Arial"/>
              </a:rPr>
              <a:t>•  Agents as attack tooling at scale</a:t>
            </a:r>
          </a:p>
        </p:txBody>
      </p:sp>
      <p:sp>
        <p:nvSpPr>
          <p:cNvPr id="11" name="Rounded Rectangle 10"/>
          <p:cNvSpPr/>
          <p:nvPr/>
        </p:nvSpPr>
        <p:spPr>
          <a:xfrm>
            <a:off x="6400800" y="1325880"/>
            <a:ext cx="5330952" cy="3108960"/>
          </a:xfrm>
          <a:prstGeom prst="roundRect">
            <a:avLst>
              <a:gd name="adj" fmla="val 6000"/>
            </a:avLst>
          </a:prstGeom>
          <a:solidFill>
            <a:srgbClr val="EDF4FB"/>
          </a:solidFill>
          <a:ln w="12700">
            <a:solidFill>
              <a:srgbClr val="365E9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510528" y="1399032"/>
            <a:ext cx="5129784" cy="365760"/>
          </a:xfrm>
          <a:prstGeom prst="rect">
            <a:avLst/>
          </a:prstGeom>
          <a:noFill/>
        </p:spPr>
        <p:txBody>
          <a:bodyPr wrap="square" lIns="45720" rIns="45720" tIns="27432" bIns="27432" anchor="t">
            <a:spAutoFit/>
          </a:bodyPr>
          <a:lstStyle/>
          <a:p>
            <a:pPr algn="l">
              <a:lnSpc>
                <a:spcPct val="110000"/>
              </a:lnSpc>
            </a:pPr>
            <a:r>
              <a:rPr sz="1600" b="1" i="0">
                <a:solidFill>
                  <a:srgbClr val="365E9E"/>
                </a:solidFill>
                <a:latin typeface="Arial"/>
              </a:rPr>
              <a:t>In policy</a:t>
            </a:r>
          </a:p>
        </p:txBody>
      </p:sp>
      <p:sp>
        <p:nvSpPr>
          <p:cNvPr id="13" name="TextBox 12"/>
          <p:cNvSpPr txBox="1"/>
          <p:nvPr/>
        </p:nvSpPr>
        <p:spPr>
          <a:xfrm>
            <a:off x="6473952" y="1764792"/>
            <a:ext cx="5184648" cy="2606040"/>
          </a:xfrm>
          <a:prstGeom prst="rect">
            <a:avLst/>
          </a:prstGeom>
          <a:noFill/>
        </p:spPr>
        <p:txBody>
          <a:bodyPr wrap="square" lIns="45720" rIns="45720">
            <a:spAutoFit/>
          </a:bodyPr>
          <a:lstStyle/>
          <a:p>
            <a:pPr>
              <a:lnSpc>
                <a:spcPct val="108000"/>
              </a:lnSpc>
              <a:spcAft>
                <a:spcPts val="200"/>
              </a:spcAft>
            </a:pPr>
            <a:r>
              <a:rPr sz="1500" b="0" i="0">
                <a:solidFill>
                  <a:srgbClr val="111111"/>
                </a:solidFill>
                <a:latin typeface="Arial"/>
              </a:rPr>
              <a:t>•  EU AI Act, Art. 73: serious-incident reporting for high-risk systems</a:t>
            </a:r>
          </a:p>
          <a:p>
            <a:pPr>
              <a:lnSpc>
                <a:spcPct val="108000"/>
              </a:lnSpc>
              <a:spcAft>
                <a:spcPts val="200"/>
              </a:spcAft>
            </a:pPr>
            <a:r>
              <a:rPr sz="1500" b="0" i="0">
                <a:solidFill>
                  <a:srgbClr val="111111"/>
                </a:solidFill>
                <a:latin typeface="Arial"/>
              </a:rPr>
              <a:t>•  California SB 53: critical-incident reporting by frontier developers</a:t>
            </a:r>
          </a:p>
          <a:p>
            <a:pPr>
              <a:lnSpc>
                <a:spcPct val="108000"/>
              </a:lnSpc>
              <a:spcAft>
                <a:spcPts val="200"/>
              </a:spcAft>
            </a:pPr>
            <a:r>
              <a:rPr sz="1500" b="0" i="0">
                <a:solidFill>
                  <a:srgbClr val="111111"/>
                </a:solidFill>
                <a:latin typeface="Arial"/>
              </a:rPr>
              <a:t>•  OECD AI Incident Monitor, AI Incident Database</a:t>
            </a:r>
          </a:p>
          <a:p>
            <a:pPr>
              <a:lnSpc>
                <a:spcPct val="108000"/>
              </a:lnSpc>
              <a:spcAft>
                <a:spcPts val="200"/>
              </a:spcAft>
            </a:pPr>
            <a:r>
              <a:rPr sz="1500" b="0" i="0">
                <a:solidFill>
                  <a:srgbClr val="111111"/>
                </a:solidFill>
                <a:latin typeface="Arial"/>
              </a:rPr>
              <a:t>•  All of it is narrative. Nobody turns a report into an executable test</a:t>
            </a:r>
          </a:p>
        </p:txBody>
      </p:sp>
      <p:sp>
        <p:nvSpPr>
          <p:cNvPr id="14" name="Rounded Rectangle 13"/>
          <p:cNvSpPr/>
          <p:nvPr/>
        </p:nvSpPr>
        <p:spPr>
          <a:xfrm>
            <a:off x="457200" y="4663440"/>
            <a:ext cx="11277295" cy="1600200"/>
          </a:xfrm>
          <a:prstGeom prst="roundRect">
            <a:avLst>
              <a:gd name="adj" fmla="val 6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85800" y="4736592"/>
            <a:ext cx="10820095" cy="1453896"/>
          </a:xfrm>
          <a:prstGeom prst="rect">
            <a:avLst/>
          </a:prstGeom>
          <a:noFill/>
        </p:spPr>
        <p:txBody>
          <a:bodyPr wrap="square" lIns="45720" rIns="45720" tIns="27432" bIns="27432" anchor="ctr">
            <a:spAutoFit/>
          </a:bodyPr>
          <a:lstStyle/>
          <a:p>
            <a:pPr algn="l">
              <a:lnSpc>
                <a:spcPct val="115000"/>
              </a:lnSpc>
            </a:pPr>
            <a:r>
              <a:rPr sz="1500" b="0" i="0">
                <a:solidFill>
                  <a:srgbClr val="111111"/>
                </a:solidFill>
                <a:latin typeface="Arial"/>
              </a:rPr>
              <a:t>Expected harm = incident rate × deployment volume.</a:t>
            </a:r>
          </a:p>
          <a:p>
            <a:pPr algn="l">
              <a:lnSpc>
                <a:spcPct val="115000"/>
              </a:lnSpc>
            </a:pPr>
            <a:r>
              <a:rPr sz="1500" b="0" i="0">
                <a:solidFill>
                  <a:srgbClr val="111111"/>
                </a:solidFill>
                <a:latin typeface="Arial"/>
              </a:rPr>
              <a:t>Patching a prompt has diminishing returns. A regression case is reused against every future policy. Learning compounds.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82296" cy="566928"/>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301752"/>
            <a:ext cx="10515600" cy="548640"/>
          </a:xfrm>
          <a:prstGeom prst="rect">
            <a:avLst/>
          </a:prstGeom>
          <a:noFill/>
        </p:spPr>
        <p:txBody>
          <a:bodyPr wrap="square" lIns="45720" rIns="45720" tIns="27432" bIns="27432" anchor="ctr">
            <a:spAutoFit/>
          </a:bodyPr>
          <a:lstStyle/>
          <a:p>
            <a:pPr algn="l">
              <a:lnSpc>
                <a:spcPct val="110000"/>
              </a:lnSpc>
            </a:pPr>
            <a:r>
              <a:rPr sz="2600" b="1" i="0">
                <a:solidFill>
                  <a:srgbClr val="111111"/>
                </a:solidFill>
                <a:latin typeface="Arial"/>
              </a:rPr>
              <a:t>The thesis</a:t>
            </a:r>
          </a:p>
        </p:txBody>
      </p:sp>
      <p:sp>
        <p:nvSpPr>
          <p:cNvPr id="4" name="TextBox 3"/>
          <p:cNvSpPr txBox="1"/>
          <p:nvPr/>
        </p:nvSpPr>
        <p:spPr>
          <a:xfrm>
            <a:off x="8503920" y="109728"/>
            <a:ext cx="3200400" cy="274320"/>
          </a:xfrm>
          <a:prstGeom prst="rect">
            <a:avLst/>
          </a:prstGeom>
          <a:noFill/>
        </p:spPr>
        <p:txBody>
          <a:bodyPr wrap="square" lIns="45720" rIns="45720" tIns="27432" bIns="27432" anchor="t">
            <a:spAutoFit/>
          </a:bodyPr>
          <a:lstStyle/>
          <a:p>
            <a:pPr algn="r">
              <a:lnSpc>
                <a:spcPct val="110000"/>
              </a:lnSpc>
            </a:pPr>
            <a:r>
              <a:rPr sz="900" b="1" i="0">
                <a:solidFill>
                  <a:srgbClr val="365E9E"/>
                </a:solidFill>
                <a:latin typeface="Arial"/>
              </a:rPr>
              <a:t>1 · MOTIVATION</a:t>
            </a:r>
          </a:p>
        </p:txBody>
      </p:sp>
      <p:cxnSp>
        <p:nvCxnSpPr>
          <p:cNvPr id="5" name="Connector 4"/>
          <p:cNvCxnSpPr/>
          <p:nvPr/>
        </p:nvCxnSpPr>
        <p:spPr>
          <a:xfrm>
            <a:off x="457200" y="6446520"/>
            <a:ext cx="11277295" cy="0"/>
          </a:xfrm>
          <a:prstGeom prst="line">
            <a:avLst/>
          </a:prstGeom>
          <a:ln w="6350">
            <a:solidFill>
              <a:srgbClr val="C9C9C9"/>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473952"/>
            <a:ext cx="10058400" cy="274320"/>
          </a:xfrm>
          <a:prstGeom prst="rect">
            <a:avLst/>
          </a:prstGeom>
          <a:noFill/>
        </p:spPr>
        <p:txBody>
          <a:bodyPr wrap="square" lIns="45720" rIns="45720" tIns="27432" bIns="27432" anchor="t">
            <a:spAutoFit/>
          </a:bodyPr>
          <a:lstStyle/>
          <a:p>
            <a:pPr algn="l">
              <a:lnSpc>
                <a:spcPct val="110000"/>
              </a:lnSpc>
            </a:pPr>
            <a:r>
              <a:rPr sz="800" b="0" i="0">
                <a:solidFill>
                  <a:srgbClr val="666666"/>
                </a:solidFill>
                <a:latin typeface="Arial"/>
              </a:rPr>
              <a:t>Incident-aware optimization · design proposal · containment-extension · October 2026 · no benchmark improvement measured</a:t>
            </a:r>
          </a:p>
        </p:txBody>
      </p:sp>
      <p:sp>
        <p:nvSpPr>
          <p:cNvPr id="7" name="TextBox 6"/>
          <p:cNvSpPr txBox="1"/>
          <p:nvPr/>
        </p:nvSpPr>
        <p:spPr>
          <a:xfrm>
            <a:off x="10820095" y="6473952"/>
            <a:ext cx="914400" cy="274320"/>
          </a:xfrm>
          <a:prstGeom prst="rect">
            <a:avLst/>
          </a:prstGeom>
          <a:noFill/>
        </p:spPr>
        <p:txBody>
          <a:bodyPr wrap="square" lIns="45720" rIns="45720" tIns="27432" bIns="27432" anchor="t">
            <a:spAutoFit/>
          </a:bodyPr>
          <a:lstStyle/>
          <a:p>
            <a:pPr algn="r">
              <a:lnSpc>
                <a:spcPct val="110000"/>
              </a:lnSpc>
            </a:pPr>
            <a:r>
              <a:rPr sz="900" b="0" i="0">
                <a:solidFill>
                  <a:srgbClr val="666666"/>
                </a:solidFill>
                <a:latin typeface="Arial"/>
              </a:rPr>
              <a:t>7</a:t>
            </a:r>
          </a:p>
        </p:txBody>
      </p:sp>
      <p:sp>
        <p:nvSpPr>
          <p:cNvPr id="8" name="Rounded Rectangle 7"/>
          <p:cNvSpPr/>
          <p:nvPr/>
        </p:nvSpPr>
        <p:spPr>
          <a:xfrm>
            <a:off x="457200" y="1325880"/>
            <a:ext cx="11277295" cy="1371600"/>
          </a:xfrm>
          <a:prstGeom prst="roundRect">
            <a:avLst>
              <a:gd name="adj" fmla="val 6000"/>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520" y="1417320"/>
            <a:ext cx="10728655" cy="1188720"/>
          </a:xfrm>
          <a:prstGeom prst="rect">
            <a:avLst/>
          </a:prstGeom>
          <a:noFill/>
        </p:spPr>
        <p:txBody>
          <a:bodyPr wrap="square" lIns="45720" rIns="45720" tIns="27432" bIns="27432" anchor="ctr">
            <a:spAutoFit/>
          </a:bodyPr>
          <a:lstStyle/>
          <a:p>
            <a:pPr algn="l">
              <a:lnSpc>
                <a:spcPct val="120000"/>
              </a:lnSpc>
            </a:pPr>
            <a:r>
              <a:rPr sz="2400" b="1" i="0">
                <a:solidFill>
                  <a:srgbClr val="FFFFFF"/>
                </a:solidFill>
                <a:latin typeface="Arial"/>
              </a:rPr>
              <a:t>We cannot remove every possibility of an agent incident.</a:t>
            </a:r>
          </a:p>
          <a:p>
            <a:pPr algn="l">
              <a:lnSpc>
                <a:spcPct val="120000"/>
              </a:lnSpc>
            </a:pPr>
            <a:r>
              <a:rPr sz="2400" b="1" i="0">
                <a:solidFill>
                  <a:srgbClr val="FFFFFF"/>
                </a:solidFill>
                <a:latin typeface="Arial"/>
              </a:rPr>
              <a:t>We can make sure no incident that did happen is wasted.</a:t>
            </a:r>
          </a:p>
        </p:txBody>
      </p:sp>
      <p:sp>
        <p:nvSpPr>
          <p:cNvPr id="10" name="TextBox 9"/>
          <p:cNvSpPr txBox="1"/>
          <p:nvPr/>
        </p:nvSpPr>
        <p:spPr>
          <a:xfrm>
            <a:off x="457200" y="2834640"/>
            <a:ext cx="11277295" cy="411480"/>
          </a:xfrm>
          <a:prstGeom prst="rect">
            <a:avLst/>
          </a:prstGeom>
          <a:noFill/>
        </p:spPr>
        <p:txBody>
          <a:bodyPr wrap="square" lIns="45720" rIns="45720" tIns="27432" bIns="27432" anchor="t">
            <a:spAutoFit/>
          </a:bodyPr>
          <a:lstStyle/>
          <a:p>
            <a:pPr algn="ctr">
              <a:lnSpc>
                <a:spcPct val="110000"/>
              </a:lnSpc>
            </a:pPr>
            <a:r>
              <a:rPr sz="1300" b="0" i="1">
                <a:solidFill>
                  <a:srgbClr val="666666"/>
                </a:solidFill>
                <a:latin typeface="Arial"/>
              </a:rPr>
              <a:t>“Those who cannot remember the past are condemned to repeat it.”  Santayana</a:t>
            </a:r>
          </a:p>
        </p:txBody>
      </p:sp>
      <p:sp>
        <p:nvSpPr>
          <p:cNvPr id="11" name="Rounded Rectangle 10"/>
          <p:cNvSpPr/>
          <p:nvPr/>
        </p:nvSpPr>
        <p:spPr>
          <a:xfrm>
            <a:off x="457200" y="3383280"/>
            <a:ext cx="3657600" cy="2880360"/>
          </a:xfrm>
          <a:prstGeom prst="roundRect">
            <a:avLst>
              <a:gd name="adj" fmla="val 6000"/>
            </a:avLst>
          </a:prstGeom>
          <a:solidFill>
            <a:srgbClr val="FBEFEC"/>
          </a:solidFill>
          <a:ln w="12700">
            <a:solidFill>
              <a:srgbClr val="B348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66928" y="3456432"/>
            <a:ext cx="3456432" cy="365760"/>
          </a:xfrm>
          <a:prstGeom prst="rect">
            <a:avLst/>
          </a:prstGeom>
          <a:noFill/>
        </p:spPr>
        <p:txBody>
          <a:bodyPr wrap="square" lIns="45720" rIns="45720" tIns="27432" bIns="27432" anchor="t">
            <a:spAutoFit/>
          </a:bodyPr>
          <a:lstStyle/>
          <a:p>
            <a:pPr algn="l">
              <a:lnSpc>
                <a:spcPct val="110000"/>
              </a:lnSpc>
            </a:pPr>
            <a:r>
              <a:rPr sz="1600" b="1" i="0">
                <a:solidFill>
                  <a:srgbClr val="B34831"/>
                </a:solidFill>
                <a:latin typeface="Arial"/>
              </a:rPr>
              <a:t>What we cannot do</a:t>
            </a:r>
          </a:p>
        </p:txBody>
      </p:sp>
      <p:sp>
        <p:nvSpPr>
          <p:cNvPr id="13" name="TextBox 12"/>
          <p:cNvSpPr txBox="1"/>
          <p:nvPr/>
        </p:nvSpPr>
        <p:spPr>
          <a:xfrm>
            <a:off x="530352" y="3822192"/>
            <a:ext cx="3511296" cy="2377440"/>
          </a:xfrm>
          <a:prstGeom prst="rect">
            <a:avLst/>
          </a:prstGeom>
          <a:noFill/>
        </p:spPr>
        <p:txBody>
          <a:bodyPr wrap="square" lIns="45720" rIns="45720">
            <a:spAutoFit/>
          </a:bodyPr>
          <a:lstStyle/>
          <a:p>
            <a:pPr>
              <a:lnSpc>
                <a:spcPct val="108000"/>
              </a:lnSpc>
              <a:spcAft>
                <a:spcPts val="200"/>
              </a:spcAft>
            </a:pPr>
            <a:r>
              <a:rPr sz="1500" b="0" i="0">
                <a:solidFill>
                  <a:srgbClr val="111111"/>
                </a:solidFill>
                <a:latin typeface="Arial"/>
              </a:rPr>
              <a:t>•  Enumerate every route an agent might take</a:t>
            </a:r>
          </a:p>
          <a:p>
            <a:pPr>
              <a:lnSpc>
                <a:spcPct val="108000"/>
              </a:lnSpc>
              <a:spcAft>
                <a:spcPts val="200"/>
              </a:spcAft>
            </a:pPr>
            <a:r>
              <a:rPr sz="1500" b="0" i="0">
                <a:solidFill>
                  <a:srgbClr val="111111"/>
                </a:solidFill>
                <a:latin typeface="Arial"/>
              </a:rPr>
              <a:t>•  Prevent with instructions alone</a:t>
            </a:r>
          </a:p>
          <a:p>
            <a:pPr>
              <a:lnSpc>
                <a:spcPct val="108000"/>
              </a:lnSpc>
              <a:spcAft>
                <a:spcPts val="200"/>
              </a:spcAft>
            </a:pPr>
            <a:r>
              <a:rPr sz="1500" b="0" i="0">
                <a:solidFill>
                  <a:srgbClr val="111111"/>
                </a:solidFill>
                <a:latin typeface="Arial"/>
              </a:rPr>
              <a:t>•  Certify absence from a handful of clean runs</a:t>
            </a:r>
          </a:p>
        </p:txBody>
      </p:sp>
      <p:sp>
        <p:nvSpPr>
          <p:cNvPr id="14" name="Rounded Rectangle 13"/>
          <p:cNvSpPr/>
          <p:nvPr/>
        </p:nvSpPr>
        <p:spPr>
          <a:xfrm>
            <a:off x="4270248" y="3383280"/>
            <a:ext cx="3657600" cy="2880360"/>
          </a:xfrm>
          <a:prstGeom prst="roundRect">
            <a:avLst>
              <a:gd name="adj" fmla="val 6000"/>
            </a:avLst>
          </a:prstGeom>
          <a:solidFill>
            <a:srgbClr val="EAF5EF"/>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79976" y="3456432"/>
            <a:ext cx="3456432" cy="365760"/>
          </a:xfrm>
          <a:prstGeom prst="rect">
            <a:avLst/>
          </a:prstGeom>
          <a:noFill/>
        </p:spPr>
        <p:txBody>
          <a:bodyPr wrap="square" lIns="45720" rIns="45720" tIns="27432" bIns="27432" anchor="t">
            <a:spAutoFit/>
          </a:bodyPr>
          <a:lstStyle/>
          <a:p>
            <a:pPr algn="l">
              <a:lnSpc>
                <a:spcPct val="110000"/>
              </a:lnSpc>
            </a:pPr>
            <a:r>
              <a:rPr sz="1600" b="1" i="0">
                <a:solidFill>
                  <a:srgbClr val="2E7D5B"/>
                </a:solidFill>
                <a:latin typeface="Arial"/>
              </a:rPr>
              <a:t>What we can do</a:t>
            </a:r>
          </a:p>
        </p:txBody>
      </p:sp>
      <p:sp>
        <p:nvSpPr>
          <p:cNvPr id="16" name="TextBox 15"/>
          <p:cNvSpPr txBox="1"/>
          <p:nvPr/>
        </p:nvSpPr>
        <p:spPr>
          <a:xfrm>
            <a:off x="4343400" y="3822192"/>
            <a:ext cx="3511296" cy="2377440"/>
          </a:xfrm>
          <a:prstGeom prst="rect">
            <a:avLst/>
          </a:prstGeom>
          <a:noFill/>
        </p:spPr>
        <p:txBody>
          <a:bodyPr wrap="square" lIns="45720" rIns="45720">
            <a:spAutoFit/>
          </a:bodyPr>
          <a:lstStyle/>
          <a:p>
            <a:pPr>
              <a:lnSpc>
                <a:spcPct val="108000"/>
              </a:lnSpc>
              <a:spcAft>
                <a:spcPts val="200"/>
              </a:spcAft>
            </a:pPr>
            <a:r>
              <a:rPr sz="1500" b="0" i="0">
                <a:solidFill>
                  <a:srgbClr val="111111"/>
                </a:solidFill>
                <a:latin typeface="Arial"/>
              </a:rPr>
              <a:t>•  Observe effects independently</a:t>
            </a:r>
          </a:p>
          <a:p>
            <a:pPr>
              <a:lnSpc>
                <a:spcPct val="108000"/>
              </a:lnSpc>
              <a:spcAft>
                <a:spcPts val="200"/>
              </a:spcAft>
            </a:pPr>
            <a:r>
              <a:rPr sz="1500" b="0" i="0">
                <a:solidFill>
                  <a:srgbClr val="111111"/>
                </a:solidFill>
                <a:latin typeface="Arial"/>
              </a:rPr>
              <a:t>•  Store each incident as an executable case</a:t>
            </a:r>
          </a:p>
          <a:p>
            <a:pPr>
              <a:lnSpc>
                <a:spcPct val="108000"/>
              </a:lnSpc>
              <a:spcAft>
                <a:spcPts val="200"/>
              </a:spcAft>
            </a:pPr>
            <a:r>
              <a:rPr sz="1500" b="0" i="0">
                <a:solidFill>
                  <a:srgbClr val="111111"/>
                </a:solidFill>
                <a:latin typeface="Arial"/>
              </a:rPr>
              <a:t>•  Replay every case against every new policy</a:t>
            </a:r>
          </a:p>
          <a:p>
            <a:pPr>
              <a:lnSpc>
                <a:spcPct val="108000"/>
              </a:lnSpc>
              <a:spcAft>
                <a:spcPts val="200"/>
              </a:spcAft>
            </a:pPr>
            <a:r>
              <a:rPr sz="1500" b="0" i="0">
                <a:solidFill>
                  <a:srgbClr val="111111"/>
                </a:solidFill>
                <a:latin typeface="Arial"/>
              </a:rPr>
              <a:t>•  Hold out by lineage and by date</a:t>
            </a:r>
          </a:p>
        </p:txBody>
      </p:sp>
      <p:sp>
        <p:nvSpPr>
          <p:cNvPr id="17" name="Rounded Rectangle 16"/>
          <p:cNvSpPr/>
          <p:nvPr/>
        </p:nvSpPr>
        <p:spPr>
          <a:xfrm>
            <a:off x="8074152" y="3383280"/>
            <a:ext cx="3657600" cy="2880360"/>
          </a:xfrm>
          <a:prstGeom prst="roundRect">
            <a:avLst>
              <a:gd name="adj" fmla="val 6000"/>
            </a:avLst>
          </a:prstGeom>
          <a:solidFill>
            <a:srgbClr val="EDF4FB"/>
          </a:solidFill>
          <a:ln w="12700">
            <a:solidFill>
              <a:srgbClr val="365E9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183880" y="3456432"/>
            <a:ext cx="3456432" cy="365760"/>
          </a:xfrm>
          <a:prstGeom prst="rect">
            <a:avLst/>
          </a:prstGeom>
          <a:noFill/>
        </p:spPr>
        <p:txBody>
          <a:bodyPr wrap="square" lIns="45720" rIns="45720" tIns="27432" bIns="27432" anchor="t">
            <a:spAutoFit/>
          </a:bodyPr>
          <a:lstStyle/>
          <a:p>
            <a:pPr algn="l">
              <a:lnSpc>
                <a:spcPct val="110000"/>
              </a:lnSpc>
            </a:pPr>
            <a:r>
              <a:rPr sz="1600" b="1" i="0">
                <a:solidFill>
                  <a:srgbClr val="365E9E"/>
                </a:solidFill>
                <a:latin typeface="Arial"/>
              </a:rPr>
              <a:t>What this proposal is</a:t>
            </a:r>
          </a:p>
        </p:txBody>
      </p:sp>
      <p:sp>
        <p:nvSpPr>
          <p:cNvPr id="19" name="TextBox 18"/>
          <p:cNvSpPr txBox="1"/>
          <p:nvPr/>
        </p:nvSpPr>
        <p:spPr>
          <a:xfrm>
            <a:off x="8147304" y="3822192"/>
            <a:ext cx="3511296" cy="2377440"/>
          </a:xfrm>
          <a:prstGeom prst="rect">
            <a:avLst/>
          </a:prstGeom>
          <a:noFill/>
        </p:spPr>
        <p:txBody>
          <a:bodyPr wrap="square" lIns="45720" rIns="45720">
            <a:spAutoFit/>
          </a:bodyPr>
          <a:lstStyle/>
          <a:p>
            <a:pPr>
              <a:lnSpc>
                <a:spcPct val="108000"/>
              </a:lnSpc>
              <a:spcAft>
                <a:spcPts val="200"/>
              </a:spcAft>
            </a:pPr>
            <a:r>
              <a:rPr sz="1500" b="0" i="0">
                <a:solidFill>
                  <a:srgbClr val="111111"/>
                </a:solidFill>
                <a:latin typeface="Arial"/>
              </a:rPr>
              <a:t>•  An Inspect extension plus an incident library</a:t>
            </a:r>
          </a:p>
          <a:p>
            <a:pPr>
              <a:lnSpc>
                <a:spcPct val="108000"/>
              </a:lnSpc>
              <a:spcAft>
                <a:spcPts val="200"/>
              </a:spcAft>
            </a:pPr>
            <a:r>
              <a:rPr sz="1500" b="0" i="0">
                <a:solidFill>
                  <a:srgbClr val="111111"/>
                </a:solidFill>
                <a:latin typeface="Arial"/>
              </a:rPr>
              <a:t>•  A constrained optimiser: fewer incidents at the same utility and cost</a:t>
            </a:r>
          </a:p>
          <a:p>
            <a:pPr>
              <a:lnSpc>
                <a:spcPct val="108000"/>
              </a:lnSpc>
              <a:spcAft>
                <a:spcPts val="200"/>
              </a:spcAft>
            </a:pPr>
            <a:r>
              <a:rPr sz="1500" b="0" i="0">
                <a:solidFill>
                  <a:srgbClr val="111111"/>
                </a:solidFill>
                <a:latin typeface="Arial"/>
              </a:rPr>
              <a:t>•  A human-gated, versioned release pipeline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82296" cy="566928"/>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301752"/>
            <a:ext cx="10515600" cy="548640"/>
          </a:xfrm>
          <a:prstGeom prst="rect">
            <a:avLst/>
          </a:prstGeom>
          <a:noFill/>
        </p:spPr>
        <p:txBody>
          <a:bodyPr wrap="square" lIns="45720" rIns="45720" tIns="27432" bIns="27432" anchor="ctr">
            <a:spAutoFit/>
          </a:bodyPr>
          <a:lstStyle/>
          <a:p>
            <a:pPr algn="l">
              <a:lnSpc>
                <a:spcPct val="110000"/>
              </a:lnSpc>
            </a:pPr>
            <a:r>
              <a:rPr sz="2600" b="1" i="0">
                <a:solidFill>
                  <a:srgbClr val="111111"/>
                </a:solidFill>
                <a:latin typeface="Arial"/>
              </a:rPr>
              <a:t>Same score, different risk</a:t>
            </a:r>
          </a:p>
        </p:txBody>
      </p:sp>
      <p:sp>
        <p:nvSpPr>
          <p:cNvPr id="4" name="TextBox 3"/>
          <p:cNvSpPr txBox="1"/>
          <p:nvPr/>
        </p:nvSpPr>
        <p:spPr>
          <a:xfrm>
            <a:off x="640080" y="868680"/>
            <a:ext cx="10972800" cy="365760"/>
          </a:xfrm>
          <a:prstGeom prst="rect">
            <a:avLst/>
          </a:prstGeom>
          <a:noFill/>
        </p:spPr>
        <p:txBody>
          <a:bodyPr wrap="square" lIns="45720" rIns="45720" tIns="27432" bIns="27432" anchor="t">
            <a:spAutoFit/>
          </a:bodyPr>
          <a:lstStyle/>
          <a:p>
            <a:pPr algn="l">
              <a:lnSpc>
                <a:spcPct val="110000"/>
              </a:lnSpc>
            </a:pPr>
            <a:r>
              <a:rPr sz="1300" b="0" i="0">
                <a:solidFill>
                  <a:srgbClr val="666666"/>
                </a:solidFill>
                <a:latin typeface="Arial"/>
              </a:rPr>
              <a:t>Task scorers do not see incidents</a:t>
            </a:r>
          </a:p>
        </p:txBody>
      </p:sp>
      <p:sp>
        <p:nvSpPr>
          <p:cNvPr id="5" name="TextBox 4"/>
          <p:cNvSpPr txBox="1"/>
          <p:nvPr/>
        </p:nvSpPr>
        <p:spPr>
          <a:xfrm>
            <a:off x="8503920" y="109728"/>
            <a:ext cx="3200400" cy="274320"/>
          </a:xfrm>
          <a:prstGeom prst="rect">
            <a:avLst/>
          </a:prstGeom>
          <a:noFill/>
        </p:spPr>
        <p:txBody>
          <a:bodyPr wrap="square" lIns="45720" rIns="45720" tIns="27432" bIns="27432" anchor="t">
            <a:spAutoFit/>
          </a:bodyPr>
          <a:lstStyle/>
          <a:p>
            <a:pPr algn="r">
              <a:lnSpc>
                <a:spcPct val="110000"/>
              </a:lnSpc>
            </a:pPr>
            <a:r>
              <a:rPr sz="900" b="1" i="0">
                <a:solidFill>
                  <a:srgbClr val="365E9E"/>
                </a:solidFill>
                <a:latin typeface="Arial"/>
              </a:rPr>
              <a:t>1 · MOTIVATION</a:t>
            </a:r>
          </a:p>
        </p:txBody>
      </p:sp>
      <p:cxnSp>
        <p:nvCxnSpPr>
          <p:cNvPr id="6" name="Connector 5"/>
          <p:cNvCxnSpPr/>
          <p:nvPr/>
        </p:nvCxnSpPr>
        <p:spPr>
          <a:xfrm>
            <a:off x="457200" y="6446520"/>
            <a:ext cx="11277295" cy="0"/>
          </a:xfrm>
          <a:prstGeom prst="line">
            <a:avLst/>
          </a:prstGeom>
          <a:ln w="6350">
            <a:solidFill>
              <a:srgbClr val="C9C9C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57200" y="6473952"/>
            <a:ext cx="10058400" cy="274320"/>
          </a:xfrm>
          <a:prstGeom prst="rect">
            <a:avLst/>
          </a:prstGeom>
          <a:noFill/>
        </p:spPr>
        <p:txBody>
          <a:bodyPr wrap="square" lIns="45720" rIns="45720" tIns="27432" bIns="27432" anchor="t">
            <a:spAutoFit/>
          </a:bodyPr>
          <a:lstStyle/>
          <a:p>
            <a:pPr algn="l">
              <a:lnSpc>
                <a:spcPct val="110000"/>
              </a:lnSpc>
            </a:pPr>
            <a:r>
              <a:rPr sz="800" b="0" i="0">
                <a:solidFill>
                  <a:srgbClr val="666666"/>
                </a:solidFill>
                <a:latin typeface="Arial"/>
              </a:rPr>
              <a:t>Incident-aware optimization · design proposal · containment-extension · October 2026 · no benchmark improvement measured</a:t>
            </a:r>
          </a:p>
        </p:txBody>
      </p:sp>
      <p:sp>
        <p:nvSpPr>
          <p:cNvPr id="8" name="TextBox 7"/>
          <p:cNvSpPr txBox="1"/>
          <p:nvPr/>
        </p:nvSpPr>
        <p:spPr>
          <a:xfrm>
            <a:off x="10820095" y="6473952"/>
            <a:ext cx="914400" cy="274320"/>
          </a:xfrm>
          <a:prstGeom prst="rect">
            <a:avLst/>
          </a:prstGeom>
          <a:noFill/>
        </p:spPr>
        <p:txBody>
          <a:bodyPr wrap="square" lIns="45720" rIns="45720" tIns="27432" bIns="27432" anchor="t">
            <a:spAutoFit/>
          </a:bodyPr>
          <a:lstStyle/>
          <a:p>
            <a:pPr algn="r">
              <a:lnSpc>
                <a:spcPct val="110000"/>
              </a:lnSpc>
            </a:pPr>
            <a:r>
              <a:rPr sz="900" b="0" i="0">
                <a:solidFill>
                  <a:srgbClr val="666666"/>
                </a:solidFill>
                <a:latin typeface="Arial"/>
              </a:rPr>
              <a:t>8</a:t>
            </a:r>
          </a:p>
        </p:txBody>
      </p:sp>
      <p:pic>
        <p:nvPicPr>
          <p:cNvPr id="9" name="Picture 8" descr="incident-optimization-intuition.png"/>
          <p:cNvPicPr>
            <a:picLocks noChangeAspect="1"/>
          </p:cNvPicPr>
          <p:nvPr/>
        </p:nvPicPr>
        <p:blipFill>
          <a:blip r:embed="rId2"/>
          <a:stretch>
            <a:fillRect/>
          </a:stretch>
        </p:blipFill>
        <p:spPr>
          <a:xfrm>
            <a:off x="731520" y="1280160"/>
            <a:ext cx="7680960" cy="4449041"/>
          </a:xfrm>
          <a:prstGeom prst="rect">
            <a:avLst/>
          </a:prstGeom>
        </p:spPr>
      </p:pic>
      <p:sp>
        <p:nvSpPr>
          <p:cNvPr id="10" name="TextBox 9"/>
          <p:cNvSpPr txBox="1"/>
          <p:nvPr/>
        </p:nvSpPr>
        <p:spPr>
          <a:xfrm>
            <a:off x="8549640" y="1325880"/>
            <a:ext cx="3291840" cy="4846320"/>
          </a:xfrm>
          <a:prstGeom prst="rect">
            <a:avLst/>
          </a:prstGeom>
          <a:noFill/>
        </p:spPr>
        <p:txBody>
          <a:bodyPr wrap="square" lIns="45720" rIns="45720">
            <a:spAutoFit/>
          </a:bodyPr>
          <a:lstStyle/>
          <a:p>
            <a:pPr>
              <a:lnSpc>
                <a:spcPct val="112000"/>
              </a:lnSpc>
              <a:spcAft>
                <a:spcPts val="1000"/>
              </a:spcAft>
            </a:pPr>
            <a:r>
              <a:rPr sz="1500" b="0" i="0">
                <a:solidFill>
                  <a:srgbClr val="111111"/>
                </a:solidFill>
                <a:latin typeface="Arial"/>
              </a:rPr>
              <a:t>•  Policy A solves the task. Policy B copies a prior run's answer. Both pass.</a:t>
            </a:r>
          </a:p>
          <a:p>
            <a:pPr>
              <a:lnSpc>
                <a:spcPct val="112000"/>
              </a:lnSpc>
              <a:spcAft>
                <a:spcPts val="1000"/>
              </a:spcAft>
            </a:pPr>
            <a:r>
              <a:rPr sz="1500" b="0" i="0">
                <a:solidFill>
                  <a:srgbClr val="111111"/>
                </a:solidFill>
                <a:latin typeface="Arial"/>
              </a:rPr>
              <a:t>•  Only an independent observer of effects tells them apart.</a:t>
            </a:r>
          </a:p>
          <a:p>
            <a:pPr>
              <a:lnSpc>
                <a:spcPct val="112000"/>
              </a:lnSpc>
              <a:spcAft>
                <a:spcPts val="1000"/>
              </a:spcAft>
            </a:pPr>
            <a:r>
              <a:rPr sz="1500" b="0" i="0">
                <a:solidFill>
                  <a:srgbClr val="111111"/>
                </a:solidFill>
                <a:latin typeface="Arial"/>
              </a:rPr>
              <a:t>•  Seen in our runs: 6/8 outside reads without enforcement, 0/8 with it; a cached flag accepted by the scorer.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82296" cy="566928"/>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301752"/>
            <a:ext cx="10515600" cy="548640"/>
          </a:xfrm>
          <a:prstGeom prst="rect">
            <a:avLst/>
          </a:prstGeom>
          <a:noFill/>
        </p:spPr>
        <p:txBody>
          <a:bodyPr wrap="square" lIns="45720" rIns="45720" tIns="27432" bIns="27432" anchor="ctr">
            <a:spAutoFit/>
          </a:bodyPr>
          <a:lstStyle/>
          <a:p>
            <a:pPr algn="l">
              <a:lnSpc>
                <a:spcPct val="110000"/>
              </a:lnSpc>
            </a:pPr>
            <a:r>
              <a:rPr sz="2600" b="1" i="0">
                <a:solidFill>
                  <a:srgbClr val="111111"/>
                </a:solidFill>
                <a:latin typeface="Arial"/>
              </a:rPr>
              <a:t>The gap this proposal closes</a:t>
            </a:r>
          </a:p>
        </p:txBody>
      </p:sp>
      <p:sp>
        <p:nvSpPr>
          <p:cNvPr id="4" name="TextBox 3"/>
          <p:cNvSpPr txBox="1"/>
          <p:nvPr/>
        </p:nvSpPr>
        <p:spPr>
          <a:xfrm>
            <a:off x="8503920" y="109728"/>
            <a:ext cx="3200400" cy="274320"/>
          </a:xfrm>
          <a:prstGeom prst="rect">
            <a:avLst/>
          </a:prstGeom>
          <a:noFill/>
        </p:spPr>
        <p:txBody>
          <a:bodyPr wrap="square" lIns="45720" rIns="45720" tIns="27432" bIns="27432" anchor="t">
            <a:spAutoFit/>
          </a:bodyPr>
          <a:lstStyle/>
          <a:p>
            <a:pPr algn="r">
              <a:lnSpc>
                <a:spcPct val="110000"/>
              </a:lnSpc>
            </a:pPr>
            <a:r>
              <a:rPr sz="900" b="1" i="0">
                <a:solidFill>
                  <a:srgbClr val="365E9E"/>
                </a:solidFill>
                <a:latin typeface="Arial"/>
              </a:rPr>
              <a:t>1 · MOTIVATION</a:t>
            </a:r>
          </a:p>
        </p:txBody>
      </p:sp>
      <p:cxnSp>
        <p:nvCxnSpPr>
          <p:cNvPr id="5" name="Connector 4"/>
          <p:cNvCxnSpPr/>
          <p:nvPr/>
        </p:nvCxnSpPr>
        <p:spPr>
          <a:xfrm>
            <a:off x="457200" y="6446520"/>
            <a:ext cx="11277295" cy="0"/>
          </a:xfrm>
          <a:prstGeom prst="line">
            <a:avLst/>
          </a:prstGeom>
          <a:ln w="6350">
            <a:solidFill>
              <a:srgbClr val="C9C9C9"/>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473952"/>
            <a:ext cx="10058400" cy="274320"/>
          </a:xfrm>
          <a:prstGeom prst="rect">
            <a:avLst/>
          </a:prstGeom>
          <a:noFill/>
        </p:spPr>
        <p:txBody>
          <a:bodyPr wrap="square" lIns="45720" rIns="45720" tIns="27432" bIns="27432" anchor="t">
            <a:spAutoFit/>
          </a:bodyPr>
          <a:lstStyle/>
          <a:p>
            <a:pPr algn="l">
              <a:lnSpc>
                <a:spcPct val="110000"/>
              </a:lnSpc>
            </a:pPr>
            <a:r>
              <a:rPr sz="800" b="0" i="0">
                <a:solidFill>
                  <a:srgbClr val="666666"/>
                </a:solidFill>
                <a:latin typeface="Arial"/>
              </a:rPr>
              <a:t>Incident-aware optimization · design proposal · containment-extension · October 2026 · no benchmark improvement measured</a:t>
            </a:r>
          </a:p>
        </p:txBody>
      </p:sp>
      <p:sp>
        <p:nvSpPr>
          <p:cNvPr id="7" name="TextBox 6"/>
          <p:cNvSpPr txBox="1"/>
          <p:nvPr/>
        </p:nvSpPr>
        <p:spPr>
          <a:xfrm>
            <a:off x="10820095" y="6473952"/>
            <a:ext cx="914400" cy="274320"/>
          </a:xfrm>
          <a:prstGeom prst="rect">
            <a:avLst/>
          </a:prstGeom>
          <a:noFill/>
        </p:spPr>
        <p:txBody>
          <a:bodyPr wrap="square" lIns="45720" rIns="45720" tIns="27432" bIns="27432" anchor="t">
            <a:spAutoFit/>
          </a:bodyPr>
          <a:lstStyle/>
          <a:p>
            <a:pPr algn="r">
              <a:lnSpc>
                <a:spcPct val="110000"/>
              </a:lnSpc>
            </a:pPr>
            <a:r>
              <a:rPr sz="900" b="0" i="0">
                <a:solidFill>
                  <a:srgbClr val="666666"/>
                </a:solidFill>
                <a:latin typeface="Arial"/>
              </a:rPr>
              <a:t>9</a:t>
            </a:r>
          </a:p>
        </p:txBody>
      </p:sp>
      <p:graphicFrame>
        <p:nvGraphicFramePr>
          <p:cNvPr id="8" name="Table 7"/>
          <p:cNvGraphicFramePr>
            <a:graphicFrameLocks noGrp="1"/>
          </p:cNvGraphicFramePr>
          <p:nvPr/>
        </p:nvGraphicFramePr>
        <p:xfrm>
          <a:off x="457200" y="1325880"/>
          <a:ext cx="11277294" cy="4206240"/>
        </p:xfrm>
        <a:graphic>
          <a:graphicData uri="http://schemas.openxmlformats.org/drawingml/2006/table">
            <a:tbl>
              <a:tblPr firstRow="1" bandRow="1">
                <a:tableStyleId>{5C22544A-7EE6-4342-B048-85BDC9FD1C3A}</a:tableStyleId>
              </a:tblPr>
              <a:tblGrid>
                <a:gridCol w="5126043"/>
                <a:gridCol w="6151251"/>
              </a:tblGrid>
              <a:tr h="701040">
                <a:tc>
                  <a:txBody>
                    <a:bodyPr wrap="square"/>
                    <a:lstStyle/>
                    <a:p>
                      <a:pPr>
                        <a:lnSpc>
                          <a:spcPct val="105000"/>
                        </a:lnSpc>
                      </a:pPr>
                      <a:r>
                        <a:rPr sz="1600" b="1" i="0">
                          <a:solidFill>
                            <a:srgbClr val="FFFFFF"/>
                          </a:solidFill>
                          <a:latin typeface="Arial"/>
                        </a:rPr>
                        <a:t>Missing today</a:t>
                      </a:r>
                    </a:p>
                  </a:txBody>
                  <a:tcPr marL="54864" marR="54864" marT="27432" marB="27432">
                    <a:solidFill>
                      <a:srgbClr val="365E9E"/>
                    </a:solidFill>
                  </a:tcPr>
                </a:tc>
                <a:tc>
                  <a:txBody>
                    <a:bodyPr wrap="square"/>
                    <a:lstStyle/>
                    <a:p>
                      <a:pPr>
                        <a:lnSpc>
                          <a:spcPct val="105000"/>
                        </a:lnSpc>
                      </a:pPr>
                      <a:r>
                        <a:rPr sz="1600" b="1" i="0">
                          <a:solidFill>
                            <a:srgbClr val="FFFFFF"/>
                          </a:solidFill>
                          <a:latin typeface="Arial"/>
                        </a:rPr>
                        <a:t>This design</a:t>
                      </a:r>
                    </a:p>
                  </a:txBody>
                  <a:tcPr marL="54864" marR="54864" marT="27432" marB="27432">
                    <a:solidFill>
                      <a:srgbClr val="365E9E"/>
                    </a:solidFill>
                  </a:tcPr>
                </a:tc>
              </a:tr>
              <a:tr h="701040">
                <a:tc>
                  <a:txBody>
                    <a:bodyPr wrap="square"/>
                    <a:lstStyle/>
                    <a:p>
                      <a:pPr>
                        <a:lnSpc>
                          <a:spcPct val="105000"/>
                        </a:lnSpc>
                      </a:pPr>
                      <a:r>
                        <a:rPr sz="1600" b="1" i="0">
                          <a:solidFill>
                            <a:srgbClr val="111111"/>
                          </a:solidFill>
                          <a:latin typeface="Arial"/>
                        </a:rPr>
                        <a:t>Scorers are blind to authorization</a:t>
                      </a:r>
                    </a:p>
                  </a:txBody>
                  <a:tcPr marL="54864" marR="54864" marT="27432" marB="27432">
                    <a:solidFill>
                      <a:srgbClr val="FFFFFF"/>
                    </a:solidFill>
                  </a:tcPr>
                </a:tc>
                <a:tc>
                  <a:txBody>
                    <a:bodyPr wrap="square"/>
                    <a:lstStyle/>
                    <a:p>
                      <a:pPr>
                        <a:lnSpc>
                          <a:spcPct val="105000"/>
                        </a:lnSpc>
                      </a:pPr>
                      <a:r>
                        <a:rPr sz="1600" b="0" i="0">
                          <a:solidFill>
                            <a:srgbClr val="111111"/>
                          </a:solidFill>
                          <a:latin typeface="Arial"/>
                        </a:rPr>
                        <a:t>Independent incident observer</a:t>
                      </a:r>
                    </a:p>
                  </a:txBody>
                  <a:tcPr marL="54864" marR="54864" marT="27432" marB="27432">
                    <a:solidFill>
                      <a:srgbClr val="FFFFFF"/>
                    </a:solidFill>
                  </a:tcPr>
                </a:tc>
              </a:tr>
              <a:tr h="701040">
                <a:tc>
                  <a:txBody>
                    <a:bodyPr wrap="square"/>
                    <a:lstStyle/>
                    <a:p>
                      <a:pPr>
                        <a:lnSpc>
                          <a:spcPct val="105000"/>
                        </a:lnSpc>
                      </a:pPr>
                      <a:r>
                        <a:rPr sz="1600" b="1" i="0">
                          <a:solidFill>
                            <a:srgbClr val="111111"/>
                          </a:solidFill>
                          <a:latin typeface="Arial"/>
                        </a:rPr>
                        <a:t>Incident knowledge is scattered prose</a:t>
                      </a:r>
                    </a:p>
                  </a:txBody>
                  <a:tcPr marL="54864" marR="54864" marT="27432" marB="27432">
                    <a:solidFill>
                      <a:srgbClr val="F4F6FA"/>
                    </a:solidFill>
                  </a:tcPr>
                </a:tc>
                <a:tc>
                  <a:txBody>
                    <a:bodyPr wrap="square"/>
                    <a:lstStyle/>
                    <a:p>
                      <a:pPr>
                        <a:lnSpc>
                          <a:spcPct val="105000"/>
                        </a:lnSpc>
                      </a:pPr>
                      <a:r>
                        <a:rPr sz="1600" b="0" i="0">
                          <a:solidFill>
                            <a:srgbClr val="111111"/>
                          </a:solidFill>
                          <a:latin typeface="Arial"/>
                        </a:rPr>
                        <a:t>One executable, versioned library</a:t>
                      </a:r>
                    </a:p>
                  </a:txBody>
                  <a:tcPr marL="54864" marR="54864" marT="27432" marB="27432">
                    <a:solidFill>
                      <a:srgbClr val="F4F6FA"/>
                    </a:solidFill>
                  </a:tcPr>
                </a:tc>
              </a:tr>
              <a:tr h="701040">
                <a:tc>
                  <a:txBody>
                    <a:bodyPr wrap="square"/>
                    <a:lstStyle/>
                    <a:p>
                      <a:pPr>
                        <a:lnSpc>
                          <a:spcPct val="105000"/>
                        </a:lnSpc>
                      </a:pPr>
                      <a:r>
                        <a:rPr sz="1600" b="1" i="0">
                          <a:solidFill>
                            <a:srgbClr val="111111"/>
                          </a:solidFill>
                          <a:latin typeface="Arial"/>
                        </a:rPr>
                        <a:t>Fixes are not regression-tested</a:t>
                      </a:r>
                    </a:p>
                  </a:txBody>
                  <a:tcPr marL="54864" marR="54864" marT="27432" marB="27432">
                    <a:solidFill>
                      <a:srgbClr val="FFFFFF"/>
                    </a:solidFill>
                  </a:tcPr>
                </a:tc>
                <a:tc>
                  <a:txBody>
                    <a:bodyPr wrap="square"/>
                    <a:lstStyle/>
                    <a:p>
                      <a:pPr>
                        <a:lnSpc>
                          <a:spcPct val="105000"/>
                        </a:lnSpc>
                      </a:pPr>
                      <a:r>
                        <a:rPr sz="1600" b="0" i="0">
                          <a:solidFill>
                            <a:srgbClr val="111111"/>
                          </a:solidFill>
                          <a:latin typeface="Arial"/>
                        </a:rPr>
                        <a:t>Every library case replays before release</a:t>
                      </a:r>
                    </a:p>
                  </a:txBody>
                  <a:tcPr marL="54864" marR="54864" marT="27432" marB="27432">
                    <a:solidFill>
                      <a:srgbClr val="FFFFFF"/>
                    </a:solidFill>
                  </a:tcPr>
                </a:tc>
              </a:tr>
              <a:tr h="701040">
                <a:tc>
                  <a:txBody>
                    <a:bodyPr wrap="square"/>
                    <a:lstStyle/>
                    <a:p>
                      <a:pPr>
                        <a:lnSpc>
                          <a:spcPct val="105000"/>
                        </a:lnSpc>
                      </a:pPr>
                      <a:r>
                        <a:rPr sz="1600" b="1" i="0">
                          <a:solidFill>
                            <a:srgbClr val="111111"/>
                          </a:solidFill>
                          <a:latin typeface="Arial"/>
                        </a:rPr>
                        <a:t>Monitors lack calibration and provenance</a:t>
                      </a:r>
                    </a:p>
                  </a:txBody>
                  <a:tcPr marL="54864" marR="54864" marT="27432" marB="27432">
                    <a:solidFill>
                      <a:srgbClr val="F4F6FA"/>
                    </a:solidFill>
                  </a:tcPr>
                </a:tc>
                <a:tc>
                  <a:txBody>
                    <a:bodyPr wrap="square"/>
                    <a:lstStyle/>
                    <a:p>
                      <a:pPr>
                        <a:lnSpc>
                          <a:spcPct val="105000"/>
                        </a:lnSpc>
                      </a:pPr>
                      <a:r>
                        <a:rPr sz="1600" b="0" i="0">
                          <a:solidFill>
                            <a:srgbClr val="111111"/>
                          </a:solidFill>
                          <a:latin typeface="Arial"/>
                        </a:rPr>
                        <a:t>Calibrated thresholds; every rule cites its incident</a:t>
                      </a:r>
                    </a:p>
                  </a:txBody>
                  <a:tcPr marL="54864" marR="54864" marT="27432" marB="27432">
                    <a:solidFill>
                      <a:srgbClr val="F4F6FA"/>
                    </a:solidFill>
                  </a:tcPr>
                </a:tc>
              </a:tr>
              <a:tr h="701040">
                <a:tc>
                  <a:txBody>
                    <a:bodyPr wrap="square"/>
                    <a:lstStyle/>
                    <a:p>
                      <a:pPr>
                        <a:lnSpc>
                          <a:spcPct val="105000"/>
                        </a:lnSpc>
                      </a:pPr>
                      <a:r>
                        <a:rPr sz="1600" b="1" i="0">
                          <a:solidFill>
                            <a:srgbClr val="111111"/>
                          </a:solidFill>
                          <a:latin typeface="Arial"/>
                        </a:rPr>
                        <a:t>No held-out protocol for learned policies</a:t>
                      </a:r>
                    </a:p>
                  </a:txBody>
                  <a:tcPr marL="54864" marR="54864" marT="27432" marB="27432">
                    <a:solidFill>
                      <a:srgbClr val="FFFFFF"/>
                    </a:solidFill>
                  </a:tcPr>
                </a:tc>
                <a:tc>
                  <a:txBody>
                    <a:bodyPr wrap="square"/>
                    <a:lstStyle/>
                    <a:p>
                      <a:pPr>
                        <a:lnSpc>
                          <a:spcPct val="105000"/>
                        </a:lnSpc>
                      </a:pPr>
                      <a:r>
                        <a:rPr sz="1600" b="0" i="0">
                          <a:solidFill>
                            <a:srgbClr val="111111"/>
                          </a:solidFill>
                          <a:latin typeface="Arial"/>
                        </a:rPr>
                        <a:t>Hold out by lineage and by date</a:t>
                      </a:r>
                    </a:p>
                  </a:txBody>
                  <a:tcPr marL="54864" marR="54864" marT="27432" marB="27432">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82296" cy="566928"/>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301752"/>
            <a:ext cx="10515600" cy="548640"/>
          </a:xfrm>
          <a:prstGeom prst="rect">
            <a:avLst/>
          </a:prstGeom>
          <a:noFill/>
        </p:spPr>
        <p:txBody>
          <a:bodyPr wrap="square" lIns="45720" rIns="45720" tIns="27432" bIns="27432" anchor="ctr">
            <a:spAutoFit/>
          </a:bodyPr>
          <a:lstStyle/>
          <a:p>
            <a:pPr algn="l">
              <a:lnSpc>
                <a:spcPct val="110000"/>
              </a:lnSpc>
            </a:pPr>
            <a:r>
              <a:rPr sz="2600" b="1" i="0">
                <a:solidFill>
                  <a:srgbClr val="111111"/>
                </a:solidFill>
                <a:latin typeface="Arial"/>
              </a:rPr>
              <a:t>What is delivered</a:t>
            </a:r>
          </a:p>
        </p:txBody>
      </p:sp>
      <p:sp>
        <p:nvSpPr>
          <p:cNvPr id="4" name="TextBox 3"/>
          <p:cNvSpPr txBox="1"/>
          <p:nvPr/>
        </p:nvSpPr>
        <p:spPr>
          <a:xfrm>
            <a:off x="640080" y="868680"/>
            <a:ext cx="10972800" cy="365760"/>
          </a:xfrm>
          <a:prstGeom prst="rect">
            <a:avLst/>
          </a:prstGeom>
          <a:noFill/>
        </p:spPr>
        <p:txBody>
          <a:bodyPr wrap="square" lIns="45720" rIns="45720" tIns="27432" bIns="27432" anchor="t">
            <a:spAutoFit/>
          </a:bodyPr>
          <a:lstStyle/>
          <a:p>
            <a:pPr algn="l">
              <a:lnSpc>
                <a:spcPct val="110000"/>
              </a:lnSpc>
            </a:pPr>
            <a:r>
              <a:rPr sz="1300" b="0" i="0">
                <a:solidFill>
                  <a:srgbClr val="666666"/>
                </a:solidFill>
                <a:latin typeface="Arial"/>
              </a:rPr>
              <a:t>An Inspect extension plus an incident library; the model is never modified</a:t>
            </a:r>
          </a:p>
        </p:txBody>
      </p:sp>
      <p:sp>
        <p:nvSpPr>
          <p:cNvPr id="5" name="TextBox 4"/>
          <p:cNvSpPr txBox="1"/>
          <p:nvPr/>
        </p:nvSpPr>
        <p:spPr>
          <a:xfrm>
            <a:off x="8503920" y="109728"/>
            <a:ext cx="3200400" cy="274320"/>
          </a:xfrm>
          <a:prstGeom prst="rect">
            <a:avLst/>
          </a:prstGeom>
          <a:noFill/>
        </p:spPr>
        <p:txBody>
          <a:bodyPr wrap="square" lIns="45720" rIns="45720" tIns="27432" bIns="27432" anchor="t">
            <a:spAutoFit/>
          </a:bodyPr>
          <a:lstStyle/>
          <a:p>
            <a:pPr algn="r">
              <a:lnSpc>
                <a:spcPct val="110000"/>
              </a:lnSpc>
            </a:pPr>
            <a:r>
              <a:rPr sz="900" b="1" i="0">
                <a:solidFill>
                  <a:srgbClr val="365E9E"/>
                </a:solidFill>
                <a:latin typeface="Arial"/>
              </a:rPr>
              <a:t>2 · DELIVERY</a:t>
            </a:r>
          </a:p>
        </p:txBody>
      </p:sp>
      <p:cxnSp>
        <p:nvCxnSpPr>
          <p:cNvPr id="6" name="Connector 5"/>
          <p:cNvCxnSpPr/>
          <p:nvPr/>
        </p:nvCxnSpPr>
        <p:spPr>
          <a:xfrm>
            <a:off x="457200" y="6446520"/>
            <a:ext cx="11277295" cy="0"/>
          </a:xfrm>
          <a:prstGeom prst="line">
            <a:avLst/>
          </a:prstGeom>
          <a:ln w="6350">
            <a:solidFill>
              <a:srgbClr val="C9C9C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57200" y="6473952"/>
            <a:ext cx="10058400" cy="274320"/>
          </a:xfrm>
          <a:prstGeom prst="rect">
            <a:avLst/>
          </a:prstGeom>
          <a:noFill/>
        </p:spPr>
        <p:txBody>
          <a:bodyPr wrap="square" lIns="45720" rIns="45720" tIns="27432" bIns="27432" anchor="t">
            <a:spAutoFit/>
          </a:bodyPr>
          <a:lstStyle/>
          <a:p>
            <a:pPr algn="l">
              <a:lnSpc>
                <a:spcPct val="110000"/>
              </a:lnSpc>
            </a:pPr>
            <a:r>
              <a:rPr sz="800" b="0" i="0">
                <a:solidFill>
                  <a:srgbClr val="666666"/>
                </a:solidFill>
                <a:latin typeface="Arial"/>
              </a:rPr>
              <a:t>Incident-aware optimization · design proposal · containment-extension · October 2026 · no benchmark improvement measured</a:t>
            </a:r>
          </a:p>
        </p:txBody>
      </p:sp>
      <p:sp>
        <p:nvSpPr>
          <p:cNvPr id="8" name="TextBox 7"/>
          <p:cNvSpPr txBox="1"/>
          <p:nvPr/>
        </p:nvSpPr>
        <p:spPr>
          <a:xfrm>
            <a:off x="10820095" y="6473952"/>
            <a:ext cx="914400" cy="274320"/>
          </a:xfrm>
          <a:prstGeom prst="rect">
            <a:avLst/>
          </a:prstGeom>
          <a:noFill/>
        </p:spPr>
        <p:txBody>
          <a:bodyPr wrap="square" lIns="45720" rIns="45720" tIns="27432" bIns="27432" anchor="t">
            <a:spAutoFit/>
          </a:bodyPr>
          <a:lstStyle/>
          <a:p>
            <a:pPr algn="r">
              <a:lnSpc>
                <a:spcPct val="110000"/>
              </a:lnSpc>
            </a:pPr>
            <a:r>
              <a:rPr sz="900" b="0" i="0">
                <a:solidFill>
                  <a:srgbClr val="666666"/>
                </a:solidFill>
                <a:latin typeface="Arial"/>
              </a:rPr>
              <a:t>10</a:t>
            </a:r>
          </a:p>
        </p:txBody>
      </p:sp>
      <p:sp>
        <p:nvSpPr>
          <p:cNvPr id="9" name="Rounded Rectangle 8"/>
          <p:cNvSpPr/>
          <p:nvPr/>
        </p:nvSpPr>
        <p:spPr>
          <a:xfrm>
            <a:off x="457200" y="1325880"/>
            <a:ext cx="3657600" cy="3840480"/>
          </a:xfrm>
          <a:prstGeom prst="roundRect">
            <a:avLst>
              <a:gd name="adj" fmla="val 6000"/>
            </a:avLst>
          </a:prstGeom>
          <a:solidFill>
            <a:srgbClr val="EDF4FB"/>
          </a:solidFill>
          <a:ln w="12700">
            <a:solidFill>
              <a:srgbClr val="365E9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1399032"/>
            <a:ext cx="3456432" cy="365760"/>
          </a:xfrm>
          <a:prstGeom prst="rect">
            <a:avLst/>
          </a:prstGeom>
          <a:noFill/>
        </p:spPr>
        <p:txBody>
          <a:bodyPr wrap="square" lIns="45720" rIns="45720" tIns="27432" bIns="27432" anchor="t">
            <a:spAutoFit/>
          </a:bodyPr>
          <a:lstStyle/>
          <a:p>
            <a:pPr algn="l">
              <a:lnSpc>
                <a:spcPct val="110000"/>
              </a:lnSpc>
            </a:pPr>
            <a:r>
              <a:rPr sz="1600" b="1" i="0">
                <a:solidFill>
                  <a:srgbClr val="365E9E"/>
                </a:solidFill>
                <a:latin typeface="Arial"/>
              </a:rPr>
              <a:t>Python package</a:t>
            </a:r>
          </a:p>
        </p:txBody>
      </p:sp>
      <p:sp>
        <p:nvSpPr>
          <p:cNvPr id="11" name="TextBox 10"/>
          <p:cNvSpPr txBox="1"/>
          <p:nvPr/>
        </p:nvSpPr>
        <p:spPr>
          <a:xfrm>
            <a:off x="530352" y="1764792"/>
            <a:ext cx="3511296" cy="3337560"/>
          </a:xfrm>
          <a:prstGeom prst="rect">
            <a:avLst/>
          </a:prstGeom>
          <a:noFill/>
        </p:spPr>
        <p:txBody>
          <a:bodyPr wrap="square" lIns="45720" rIns="45720">
            <a:spAutoFit/>
          </a:bodyPr>
          <a:lstStyle/>
          <a:p>
            <a:pPr>
              <a:lnSpc>
                <a:spcPct val="108000"/>
              </a:lnSpc>
              <a:spcAft>
                <a:spcPts val="200"/>
              </a:spcAft>
            </a:pPr>
            <a:r>
              <a:rPr sz="1500" b="0" i="0">
                <a:solidFill>
                  <a:srgbClr val="111111"/>
                </a:solidFill>
                <a:latin typeface="Arial"/>
              </a:rPr>
              <a:t>•  Incident observer scorers</a:t>
            </a:r>
          </a:p>
          <a:p>
            <a:pPr>
              <a:lnSpc>
                <a:spcPct val="108000"/>
              </a:lnSpc>
              <a:spcAft>
                <a:spcPts val="200"/>
              </a:spcAft>
            </a:pPr>
            <a:r>
              <a:rPr sz="1500" b="0" i="0">
                <a:solidFill>
                  <a:srgbClr val="111111"/>
                </a:solidFill>
                <a:latin typeface="Arial"/>
              </a:rPr>
              <a:t>•  Action monitor as a tool-call approver</a:t>
            </a:r>
          </a:p>
          <a:p>
            <a:pPr>
              <a:lnSpc>
                <a:spcPct val="108000"/>
              </a:lnSpc>
              <a:spcAft>
                <a:spcPts val="200"/>
              </a:spcAft>
            </a:pPr>
            <a:r>
              <a:rPr sz="1500" b="0" i="0">
                <a:solidFill>
                  <a:srgbClr val="111111"/>
                </a:solidFill>
                <a:latin typeface="Arial"/>
              </a:rPr>
              <a:t>•  Replay toolbox</a:t>
            </a:r>
          </a:p>
          <a:p>
            <a:pPr>
              <a:lnSpc>
                <a:spcPct val="108000"/>
              </a:lnSpc>
              <a:spcAft>
                <a:spcPts val="200"/>
              </a:spcAft>
            </a:pPr>
            <a:r>
              <a:rPr sz="1500" b="0" i="0">
                <a:solidFill>
                  <a:srgbClr val="111111"/>
                </a:solidFill>
                <a:latin typeface="Arial"/>
              </a:rPr>
              <a:t>•  Optimizer CLI with regression gate</a:t>
            </a:r>
          </a:p>
        </p:txBody>
      </p:sp>
      <p:sp>
        <p:nvSpPr>
          <p:cNvPr id="12" name="Rounded Rectangle 11"/>
          <p:cNvSpPr/>
          <p:nvPr/>
        </p:nvSpPr>
        <p:spPr>
          <a:xfrm>
            <a:off x="4270248" y="1325880"/>
            <a:ext cx="3657600" cy="3840480"/>
          </a:xfrm>
          <a:prstGeom prst="roundRect">
            <a:avLst>
              <a:gd name="adj" fmla="val 6000"/>
            </a:avLst>
          </a:prstGeom>
          <a:solidFill>
            <a:srgbClr val="FFF2CC"/>
          </a:solidFill>
          <a:ln w="12700">
            <a:solidFill>
              <a:srgbClr val="B873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379976" y="1399032"/>
            <a:ext cx="3456432" cy="365760"/>
          </a:xfrm>
          <a:prstGeom prst="rect">
            <a:avLst/>
          </a:prstGeom>
          <a:noFill/>
        </p:spPr>
        <p:txBody>
          <a:bodyPr wrap="square" lIns="45720" rIns="45720" tIns="27432" bIns="27432" anchor="t">
            <a:spAutoFit/>
          </a:bodyPr>
          <a:lstStyle/>
          <a:p>
            <a:pPr algn="l">
              <a:lnSpc>
                <a:spcPct val="110000"/>
              </a:lnSpc>
            </a:pPr>
            <a:r>
              <a:rPr sz="1600" b="1" i="0">
                <a:solidFill>
                  <a:srgbClr val="B8732A"/>
                </a:solidFill>
                <a:latin typeface="Arial"/>
              </a:rPr>
              <a:t>Incident library</a:t>
            </a:r>
          </a:p>
        </p:txBody>
      </p:sp>
      <p:sp>
        <p:nvSpPr>
          <p:cNvPr id="14" name="TextBox 13"/>
          <p:cNvSpPr txBox="1"/>
          <p:nvPr/>
        </p:nvSpPr>
        <p:spPr>
          <a:xfrm>
            <a:off x="4343400" y="1764792"/>
            <a:ext cx="3511296" cy="3337560"/>
          </a:xfrm>
          <a:prstGeom prst="rect">
            <a:avLst/>
          </a:prstGeom>
          <a:noFill/>
        </p:spPr>
        <p:txBody>
          <a:bodyPr wrap="square" lIns="45720" rIns="45720">
            <a:spAutoFit/>
          </a:bodyPr>
          <a:lstStyle/>
          <a:p>
            <a:pPr>
              <a:lnSpc>
                <a:spcPct val="108000"/>
              </a:lnSpc>
              <a:spcAft>
                <a:spcPts val="200"/>
              </a:spcAft>
            </a:pPr>
            <a:r>
              <a:rPr sz="1500" b="0" i="0">
                <a:solidFill>
                  <a:srgbClr val="111111"/>
                </a:solidFill>
                <a:latin typeface="Arial"/>
              </a:rPr>
              <a:t>•  Structured incident records</a:t>
            </a:r>
          </a:p>
          <a:p>
            <a:pPr>
              <a:lnSpc>
                <a:spcPct val="108000"/>
              </a:lnSpc>
              <a:spcAft>
                <a:spcPts val="200"/>
              </a:spcAft>
            </a:pPr>
            <a:r>
              <a:rPr sz="1500" b="0" i="0">
                <a:solidFill>
                  <a:srgbClr val="111111"/>
                </a:solidFill>
                <a:latin typeface="Arial"/>
              </a:rPr>
              <a:t>•  Executable cases with benign twins</a:t>
            </a:r>
          </a:p>
          <a:p>
            <a:pPr>
              <a:lnSpc>
                <a:spcPct val="108000"/>
              </a:lnSpc>
              <a:spcAft>
                <a:spcPts val="200"/>
              </a:spcAft>
            </a:pPr>
            <a:r>
              <a:rPr sz="1500" b="0" i="0">
                <a:solidFill>
                  <a:srgbClr val="111111"/>
                </a:solidFill>
                <a:latin typeface="Arial"/>
              </a:rPr>
              <a:t>•  Dev / calibration / held-out splits</a:t>
            </a:r>
          </a:p>
          <a:p>
            <a:pPr>
              <a:lnSpc>
                <a:spcPct val="108000"/>
              </a:lnSpc>
              <a:spcAft>
                <a:spcPts val="200"/>
              </a:spcAft>
            </a:pPr>
            <a:r>
              <a:rPr sz="1500" b="0" i="0">
                <a:solidFill>
                  <a:srgbClr val="111111"/>
                </a:solidFill>
                <a:latin typeface="Arial"/>
              </a:rPr>
              <a:t>•  Researcher-only; never in the agent's context</a:t>
            </a:r>
          </a:p>
        </p:txBody>
      </p:sp>
      <p:sp>
        <p:nvSpPr>
          <p:cNvPr id="15" name="Rounded Rectangle 14"/>
          <p:cNvSpPr/>
          <p:nvPr/>
        </p:nvSpPr>
        <p:spPr>
          <a:xfrm>
            <a:off x="8083296" y="1325880"/>
            <a:ext cx="3657600" cy="3840480"/>
          </a:xfrm>
          <a:prstGeom prst="roundRect">
            <a:avLst>
              <a:gd name="adj" fmla="val 6000"/>
            </a:avLst>
          </a:prstGeom>
          <a:solidFill>
            <a:srgbClr val="EAF5EF"/>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193024" y="1399032"/>
            <a:ext cx="3456432" cy="365760"/>
          </a:xfrm>
          <a:prstGeom prst="rect">
            <a:avLst/>
          </a:prstGeom>
          <a:noFill/>
        </p:spPr>
        <p:txBody>
          <a:bodyPr wrap="square" lIns="45720" rIns="45720" tIns="27432" bIns="27432" anchor="t">
            <a:spAutoFit/>
          </a:bodyPr>
          <a:lstStyle/>
          <a:p>
            <a:pPr algn="l">
              <a:lnSpc>
                <a:spcPct val="110000"/>
              </a:lnSpc>
            </a:pPr>
            <a:r>
              <a:rPr sz="1600" b="1" i="0">
                <a:solidFill>
                  <a:srgbClr val="2E7D5B"/>
                </a:solidFill>
                <a:latin typeface="Arial"/>
              </a:rPr>
              <a:t>Releases</a:t>
            </a:r>
          </a:p>
        </p:txBody>
      </p:sp>
      <p:sp>
        <p:nvSpPr>
          <p:cNvPr id="17" name="TextBox 16"/>
          <p:cNvSpPr txBox="1"/>
          <p:nvPr/>
        </p:nvSpPr>
        <p:spPr>
          <a:xfrm>
            <a:off x="8156448" y="1764792"/>
            <a:ext cx="3511296" cy="3337560"/>
          </a:xfrm>
          <a:prstGeom prst="rect">
            <a:avLst/>
          </a:prstGeom>
          <a:noFill/>
        </p:spPr>
        <p:txBody>
          <a:bodyPr wrap="square" lIns="45720" rIns="45720">
            <a:spAutoFit/>
          </a:bodyPr>
          <a:lstStyle/>
          <a:p>
            <a:pPr>
              <a:lnSpc>
                <a:spcPct val="108000"/>
              </a:lnSpc>
              <a:spcAft>
                <a:spcPts val="200"/>
              </a:spcAft>
            </a:pPr>
            <a:r>
              <a:rPr sz="1500" b="0" i="0">
                <a:solidFill>
                  <a:srgbClr val="111111"/>
                </a:solidFill>
                <a:latin typeface="Arial"/>
              </a:rPr>
              <a:t>•  Eval pack vN: qualified tasks</a:t>
            </a:r>
          </a:p>
          <a:p>
            <a:pPr>
              <a:lnSpc>
                <a:spcPct val="108000"/>
              </a:lnSpc>
              <a:spcAft>
                <a:spcPts val="200"/>
              </a:spcAft>
            </a:pPr>
            <a:r>
              <a:rPr sz="1500" b="0" i="0">
                <a:solidFill>
                  <a:srgbClr val="111111"/>
                </a:solidFill>
                <a:latin typeface="Arial"/>
              </a:rPr>
              <a:t>•  Policy vN: clauses + monitor rules</a:t>
            </a:r>
          </a:p>
          <a:p>
            <a:pPr>
              <a:lnSpc>
                <a:spcPct val="108000"/>
              </a:lnSpc>
              <a:spcAft>
                <a:spcPts val="200"/>
              </a:spcAft>
            </a:pPr>
            <a:r>
              <a:rPr sz="1500" b="0" i="0">
                <a:solidFill>
                  <a:srgbClr val="111111"/>
                </a:solidFill>
                <a:latin typeface="Arial"/>
              </a:rPr>
              <a:t>•  Evidence per change, changelog, rollback</a:t>
            </a:r>
          </a:p>
        </p:txBody>
      </p:sp>
      <p:sp>
        <p:nvSpPr>
          <p:cNvPr id="18" name="Rounded Rectangle 17"/>
          <p:cNvSpPr/>
          <p:nvPr/>
        </p:nvSpPr>
        <p:spPr>
          <a:xfrm>
            <a:off x="457200" y="5394960"/>
            <a:ext cx="11277295" cy="822960"/>
          </a:xfrm>
          <a:prstGeom prst="roundRect">
            <a:avLst>
              <a:gd name="adj" fmla="val 6000"/>
            </a:avLst>
          </a:prstGeom>
          <a:solidFill>
            <a:srgbClr val="ED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85800" y="5468112"/>
            <a:ext cx="10820095" cy="676656"/>
          </a:xfrm>
          <a:prstGeom prst="rect">
            <a:avLst/>
          </a:prstGeom>
          <a:noFill/>
        </p:spPr>
        <p:txBody>
          <a:bodyPr wrap="square" lIns="45720" rIns="45720" tIns="27432" bIns="27432" anchor="ctr">
            <a:spAutoFit/>
          </a:bodyPr>
          <a:lstStyle/>
          <a:p>
            <a:pPr algn="l">
              <a:lnSpc>
                <a:spcPct val="115000"/>
              </a:lnSpc>
            </a:pPr>
            <a:r>
              <a:rPr sz="1400" b="0" i="0">
                <a:solidFill>
                  <a:srgbClr val="111111"/>
                </a:solidFill>
                <a:latin typeface="Arial"/>
              </a:rPr>
              <a:t>Built on Inspect (approvers, scorers, eval logs), Inspect Scout (scanners), ControlArena (monitors, micro-protocols) and Hawk (runs at scale).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82296" cy="566928"/>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301752"/>
            <a:ext cx="10515600" cy="548640"/>
          </a:xfrm>
          <a:prstGeom prst="rect">
            <a:avLst/>
          </a:prstGeom>
          <a:noFill/>
        </p:spPr>
        <p:txBody>
          <a:bodyPr wrap="square" lIns="45720" rIns="45720" tIns="27432" bIns="27432" anchor="ctr">
            <a:spAutoFit/>
          </a:bodyPr>
          <a:lstStyle/>
          <a:p>
            <a:pPr algn="l">
              <a:lnSpc>
                <a:spcPct val="110000"/>
              </a:lnSpc>
            </a:pPr>
            <a:r>
              <a:rPr sz="2600" b="1" i="0">
                <a:solidFill>
                  <a:srgbClr val="111111"/>
                </a:solidFill>
                <a:latin typeface="Arial"/>
              </a:rPr>
              <a:t>Who uses it: optional or mandated?</a:t>
            </a:r>
          </a:p>
        </p:txBody>
      </p:sp>
      <p:sp>
        <p:nvSpPr>
          <p:cNvPr id="4" name="TextBox 3"/>
          <p:cNvSpPr txBox="1"/>
          <p:nvPr/>
        </p:nvSpPr>
        <p:spPr>
          <a:xfrm>
            <a:off x="8503920" y="109728"/>
            <a:ext cx="3200400" cy="274320"/>
          </a:xfrm>
          <a:prstGeom prst="rect">
            <a:avLst/>
          </a:prstGeom>
          <a:noFill/>
        </p:spPr>
        <p:txBody>
          <a:bodyPr wrap="square" lIns="45720" rIns="45720" tIns="27432" bIns="27432" anchor="t">
            <a:spAutoFit/>
          </a:bodyPr>
          <a:lstStyle/>
          <a:p>
            <a:pPr algn="r">
              <a:lnSpc>
                <a:spcPct val="110000"/>
              </a:lnSpc>
            </a:pPr>
            <a:r>
              <a:rPr sz="900" b="1" i="0">
                <a:solidFill>
                  <a:srgbClr val="365E9E"/>
                </a:solidFill>
                <a:latin typeface="Arial"/>
              </a:rPr>
              <a:t>2 · DELIVERY</a:t>
            </a:r>
          </a:p>
        </p:txBody>
      </p:sp>
      <p:cxnSp>
        <p:nvCxnSpPr>
          <p:cNvPr id="5" name="Connector 4"/>
          <p:cNvCxnSpPr/>
          <p:nvPr/>
        </p:nvCxnSpPr>
        <p:spPr>
          <a:xfrm>
            <a:off x="457200" y="6446520"/>
            <a:ext cx="11277295" cy="0"/>
          </a:xfrm>
          <a:prstGeom prst="line">
            <a:avLst/>
          </a:prstGeom>
          <a:ln w="6350">
            <a:solidFill>
              <a:srgbClr val="C9C9C9"/>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473952"/>
            <a:ext cx="10058400" cy="274320"/>
          </a:xfrm>
          <a:prstGeom prst="rect">
            <a:avLst/>
          </a:prstGeom>
          <a:noFill/>
        </p:spPr>
        <p:txBody>
          <a:bodyPr wrap="square" lIns="45720" rIns="45720" tIns="27432" bIns="27432" anchor="t">
            <a:spAutoFit/>
          </a:bodyPr>
          <a:lstStyle/>
          <a:p>
            <a:pPr algn="l">
              <a:lnSpc>
                <a:spcPct val="110000"/>
              </a:lnSpc>
            </a:pPr>
            <a:r>
              <a:rPr sz="800" b="0" i="0">
                <a:solidFill>
                  <a:srgbClr val="666666"/>
                </a:solidFill>
                <a:latin typeface="Arial"/>
              </a:rPr>
              <a:t>Incident-aware optimization · design proposal · containment-extension · October 2026 · no benchmark improvement measured</a:t>
            </a:r>
          </a:p>
        </p:txBody>
      </p:sp>
      <p:sp>
        <p:nvSpPr>
          <p:cNvPr id="7" name="TextBox 6"/>
          <p:cNvSpPr txBox="1"/>
          <p:nvPr/>
        </p:nvSpPr>
        <p:spPr>
          <a:xfrm>
            <a:off x="10820095" y="6473952"/>
            <a:ext cx="914400" cy="274320"/>
          </a:xfrm>
          <a:prstGeom prst="rect">
            <a:avLst/>
          </a:prstGeom>
          <a:noFill/>
        </p:spPr>
        <p:txBody>
          <a:bodyPr wrap="square" lIns="45720" rIns="45720" tIns="27432" bIns="27432" anchor="t">
            <a:spAutoFit/>
          </a:bodyPr>
          <a:lstStyle/>
          <a:p>
            <a:pPr algn="r">
              <a:lnSpc>
                <a:spcPct val="110000"/>
              </a:lnSpc>
            </a:pPr>
            <a:r>
              <a:rPr sz="900" b="0" i="0">
                <a:solidFill>
                  <a:srgbClr val="666666"/>
                </a:solidFill>
                <a:latin typeface="Arial"/>
              </a:rPr>
              <a:t>11</a:t>
            </a:r>
          </a:p>
        </p:txBody>
      </p:sp>
      <p:graphicFrame>
        <p:nvGraphicFramePr>
          <p:cNvPr id="8" name="Table 7"/>
          <p:cNvGraphicFramePr>
            <a:graphicFrameLocks noGrp="1"/>
          </p:cNvGraphicFramePr>
          <p:nvPr/>
        </p:nvGraphicFramePr>
        <p:xfrm>
          <a:off x="457200" y="1325880"/>
          <a:ext cx="11277294" cy="2377440"/>
        </p:xfrm>
        <a:graphic>
          <a:graphicData uri="http://schemas.openxmlformats.org/drawingml/2006/table">
            <a:tbl>
              <a:tblPr firstRow="1" bandRow="1">
                <a:tableStyleId>{5C22544A-7EE6-4342-B048-85BDC9FD1C3A}</a:tableStyleId>
              </a:tblPr>
              <a:tblGrid>
                <a:gridCol w="2460500"/>
                <a:gridCol w="3690751"/>
                <a:gridCol w="5126043"/>
              </a:tblGrid>
              <a:tr h="594360">
                <a:tc>
                  <a:txBody>
                    <a:bodyPr wrap="square"/>
                    <a:lstStyle/>
                    <a:p>
                      <a:pPr>
                        <a:lnSpc>
                          <a:spcPct val="105000"/>
                        </a:lnSpc>
                      </a:pPr>
                      <a:r>
                        <a:rPr sz="1500" b="1" i="0">
                          <a:solidFill>
                            <a:srgbClr val="FFFFFF"/>
                          </a:solidFill>
                          <a:latin typeface="Arial"/>
                        </a:rPr>
                        <a:t>Mode</a:t>
                      </a:r>
                    </a:p>
                  </a:txBody>
                  <a:tcPr marL="54864" marR="54864" marT="27432" marB="27432">
                    <a:solidFill>
                      <a:srgbClr val="365E9E"/>
                    </a:solidFill>
                  </a:tcPr>
                </a:tc>
                <a:tc>
                  <a:txBody>
                    <a:bodyPr wrap="square"/>
                    <a:lstStyle/>
                    <a:p>
                      <a:pPr>
                        <a:lnSpc>
                          <a:spcPct val="105000"/>
                        </a:lnSpc>
                      </a:pPr>
                      <a:r>
                        <a:rPr sz="1500" b="1" i="0">
                          <a:solidFill>
                            <a:srgbClr val="FFFFFF"/>
                          </a:solidFill>
                          <a:latin typeface="Arial"/>
                        </a:rPr>
                        <a:t>Who</a:t>
                      </a:r>
                    </a:p>
                  </a:txBody>
                  <a:tcPr marL="54864" marR="54864" marT="27432" marB="27432">
                    <a:solidFill>
                      <a:srgbClr val="365E9E"/>
                    </a:solidFill>
                  </a:tcPr>
                </a:tc>
                <a:tc>
                  <a:txBody>
                    <a:bodyPr wrap="square"/>
                    <a:lstStyle/>
                    <a:p>
                      <a:pPr>
                        <a:lnSpc>
                          <a:spcPct val="105000"/>
                        </a:lnSpc>
                      </a:pPr>
                      <a:r>
                        <a:rPr sz="1500" b="1" i="0">
                          <a:solidFill>
                            <a:srgbClr val="FFFFFF"/>
                          </a:solidFill>
                          <a:latin typeface="Arial"/>
                        </a:rPr>
                        <a:t>What they do</a:t>
                      </a:r>
                    </a:p>
                  </a:txBody>
                  <a:tcPr marL="54864" marR="54864" marT="27432" marB="27432">
                    <a:solidFill>
                      <a:srgbClr val="365E9E"/>
                    </a:solidFill>
                  </a:tcPr>
                </a:tc>
              </a:tr>
              <a:tr h="594360">
                <a:tc>
                  <a:txBody>
                    <a:bodyPr wrap="square"/>
                    <a:lstStyle/>
                    <a:p>
                      <a:pPr>
                        <a:lnSpc>
                          <a:spcPct val="105000"/>
                        </a:lnSpc>
                      </a:pPr>
                      <a:r>
                        <a:rPr sz="1500" b="1" i="0">
                          <a:solidFill>
                            <a:srgbClr val="111111"/>
                          </a:solidFill>
                          <a:latin typeface="Arial"/>
                        </a:rPr>
                        <a:t>A · Opt-in plugin</a:t>
                      </a:r>
                    </a:p>
                  </a:txBody>
                  <a:tcPr marL="54864" marR="54864" marT="27432" marB="27432">
                    <a:solidFill>
                      <a:srgbClr val="FFFFFF"/>
                    </a:solidFill>
                  </a:tcPr>
                </a:tc>
                <a:tc>
                  <a:txBody>
                    <a:bodyPr wrap="square"/>
                    <a:lstStyle/>
                    <a:p>
                      <a:pPr>
                        <a:lnSpc>
                          <a:spcPct val="105000"/>
                        </a:lnSpc>
                      </a:pPr>
                      <a:r>
                        <a:rPr sz="1500" b="0" i="0">
                          <a:solidFill>
                            <a:srgbClr val="111111"/>
                          </a:solidFill>
                          <a:latin typeface="Arial"/>
                        </a:rPr>
                        <a:t>Agent developers, eval teams</a:t>
                      </a:r>
                    </a:p>
                  </a:txBody>
                  <a:tcPr marL="54864" marR="54864" marT="27432" marB="27432">
                    <a:solidFill>
                      <a:srgbClr val="FFFFFF"/>
                    </a:solidFill>
                  </a:tcPr>
                </a:tc>
                <a:tc>
                  <a:txBody>
                    <a:bodyPr wrap="square"/>
                    <a:lstStyle/>
                    <a:p>
                      <a:pPr>
                        <a:lnSpc>
                          <a:spcPct val="105000"/>
                        </a:lnSpc>
                      </a:pPr>
                      <a:r>
                        <a:rPr sz="1500" b="0" i="0">
                          <a:solidFill>
                            <a:srgbClr val="111111"/>
                          </a:solidFill>
                          <a:latin typeface="Arial"/>
                        </a:rPr>
                        <a:t>Run on their own tasks; private library</a:t>
                      </a:r>
                    </a:p>
                  </a:txBody>
                  <a:tcPr marL="54864" marR="54864" marT="27432" marB="27432">
                    <a:solidFill>
                      <a:srgbClr val="FFFFFF"/>
                    </a:solidFill>
                  </a:tcPr>
                </a:tc>
              </a:tr>
              <a:tr h="594360">
                <a:tc>
                  <a:txBody>
                    <a:bodyPr wrap="square"/>
                    <a:lstStyle/>
                    <a:p>
                      <a:pPr>
                        <a:lnSpc>
                          <a:spcPct val="105000"/>
                        </a:lnSpc>
                      </a:pPr>
                      <a:r>
                        <a:rPr sz="1500" b="1" i="0">
                          <a:solidFill>
                            <a:srgbClr val="111111"/>
                          </a:solidFill>
                          <a:latin typeface="Arial"/>
                        </a:rPr>
                        <a:t>B · Shared library</a:t>
                      </a:r>
                    </a:p>
                  </a:txBody>
                  <a:tcPr marL="54864" marR="54864" marT="27432" marB="27432">
                    <a:solidFill>
                      <a:srgbClr val="F4F6FA"/>
                    </a:solidFill>
                  </a:tcPr>
                </a:tc>
                <a:tc>
                  <a:txBody>
                    <a:bodyPr wrap="square"/>
                    <a:lstStyle/>
                    <a:p>
                      <a:pPr>
                        <a:lnSpc>
                          <a:spcPct val="105000"/>
                        </a:lnSpc>
                      </a:pPr>
                      <a:r>
                        <a:rPr sz="1500" b="0" i="0">
                          <a:solidFill>
                            <a:srgbClr val="111111"/>
                          </a:solidFill>
                          <a:latin typeface="Arial"/>
                        </a:rPr>
                        <a:t>Labs, AISIs, academic groups</a:t>
                      </a:r>
                    </a:p>
                  </a:txBody>
                  <a:tcPr marL="54864" marR="54864" marT="27432" marB="27432">
                    <a:solidFill>
                      <a:srgbClr val="F4F6FA"/>
                    </a:solidFill>
                  </a:tcPr>
                </a:tc>
                <a:tc>
                  <a:txBody>
                    <a:bodyPr wrap="square"/>
                    <a:lstStyle/>
                    <a:p>
                      <a:pPr>
                        <a:lnSpc>
                          <a:spcPct val="105000"/>
                        </a:lnSpc>
                      </a:pPr>
                      <a:r>
                        <a:rPr sz="1500" b="0" i="0">
                          <a:solidFill>
                            <a:srgbClr val="111111"/>
                          </a:solidFill>
                          <a:latin typeface="Arial"/>
                        </a:rPr>
                        <a:t>Contribute redacted cases; pull eval packs</a:t>
                      </a:r>
                    </a:p>
                  </a:txBody>
                  <a:tcPr marL="54864" marR="54864" marT="27432" marB="27432">
                    <a:solidFill>
                      <a:srgbClr val="F4F6FA"/>
                    </a:solidFill>
                  </a:tcPr>
                </a:tc>
              </a:tr>
              <a:tr h="594360">
                <a:tc>
                  <a:txBody>
                    <a:bodyPr wrap="square"/>
                    <a:lstStyle/>
                    <a:p>
                      <a:pPr>
                        <a:lnSpc>
                          <a:spcPct val="105000"/>
                        </a:lnSpc>
                      </a:pPr>
                      <a:r>
                        <a:rPr sz="1500" b="1" i="0">
                          <a:solidFill>
                            <a:srgbClr val="111111"/>
                          </a:solidFill>
                          <a:latin typeface="Arial"/>
                        </a:rPr>
                        <a:t>C · Reference suite</a:t>
                      </a:r>
                    </a:p>
                  </a:txBody>
                  <a:tcPr marL="54864" marR="54864" marT="27432" marB="27432">
                    <a:solidFill>
                      <a:srgbClr val="FFFFFF"/>
                    </a:solidFill>
                  </a:tcPr>
                </a:tc>
                <a:tc>
                  <a:txBody>
                    <a:bodyPr wrap="square"/>
                    <a:lstStyle/>
                    <a:p>
                      <a:pPr>
                        <a:lnSpc>
                          <a:spcPct val="105000"/>
                        </a:lnSpc>
                      </a:pPr>
                      <a:r>
                        <a:rPr sz="1500" b="0" i="0">
                          <a:solidFill>
                            <a:srgbClr val="111111"/>
                          </a:solidFill>
                          <a:latin typeface="Arial"/>
                        </a:rPr>
                        <a:t>Third-party evaluators, regulators</a:t>
                      </a:r>
                    </a:p>
                  </a:txBody>
                  <a:tcPr marL="54864" marR="54864" marT="27432" marB="27432">
                    <a:solidFill>
                      <a:srgbClr val="FFFFFF"/>
                    </a:solidFill>
                  </a:tcPr>
                </a:tc>
                <a:tc>
                  <a:txBody>
                    <a:bodyPr wrap="square"/>
                    <a:lstStyle/>
                    <a:p>
                      <a:pPr>
                        <a:lnSpc>
                          <a:spcPct val="105000"/>
                        </a:lnSpc>
                      </a:pPr>
                      <a:r>
                        <a:rPr sz="1500" b="0" i="0">
                          <a:solidFill>
                            <a:srgbClr val="111111"/>
                          </a:solidFill>
                          <a:latin typeface="Arial"/>
                        </a:rPr>
                        <a:t>Require passing the held-out incident pack</a:t>
                      </a:r>
                    </a:p>
                  </a:txBody>
                  <a:tcPr marL="54864" marR="54864" marT="27432" marB="27432">
                    <a:solidFill>
                      <a:srgbClr val="FFFFFF"/>
                    </a:solidFill>
                  </a:tcPr>
                </a:tc>
              </a:tr>
            </a:tbl>
          </a:graphicData>
        </a:graphic>
      </p:graphicFrame>
      <p:sp>
        <p:nvSpPr>
          <p:cNvPr id="9" name="Rounded Rectangle 8"/>
          <p:cNvSpPr/>
          <p:nvPr/>
        </p:nvSpPr>
        <p:spPr>
          <a:xfrm>
            <a:off x="457200" y="4069080"/>
            <a:ext cx="5532120" cy="2194560"/>
          </a:xfrm>
          <a:prstGeom prst="roundRect">
            <a:avLst>
              <a:gd name="adj" fmla="val 6000"/>
            </a:avLst>
          </a:prstGeom>
          <a:solidFill>
            <a:srgbClr val="EDF4FB"/>
          </a:solidFill>
          <a:ln w="12700">
            <a:solidFill>
              <a:srgbClr val="365E9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4142232"/>
            <a:ext cx="5330952" cy="365760"/>
          </a:xfrm>
          <a:prstGeom prst="rect">
            <a:avLst/>
          </a:prstGeom>
          <a:noFill/>
        </p:spPr>
        <p:txBody>
          <a:bodyPr wrap="square" lIns="45720" rIns="45720" tIns="27432" bIns="27432" anchor="t">
            <a:spAutoFit/>
          </a:bodyPr>
          <a:lstStyle/>
          <a:p>
            <a:pPr algn="l">
              <a:lnSpc>
                <a:spcPct val="110000"/>
              </a:lnSpc>
            </a:pPr>
            <a:r>
              <a:rPr sz="1600" b="1" i="0">
                <a:solidFill>
                  <a:srgbClr val="365E9E"/>
                </a:solidFill>
                <a:latin typeface="Arial"/>
              </a:rPr>
              <a:t>Recommendation</a:t>
            </a:r>
          </a:p>
        </p:txBody>
      </p:sp>
      <p:sp>
        <p:nvSpPr>
          <p:cNvPr id="11" name="TextBox 10"/>
          <p:cNvSpPr txBox="1"/>
          <p:nvPr/>
        </p:nvSpPr>
        <p:spPr>
          <a:xfrm>
            <a:off x="530352" y="4507992"/>
            <a:ext cx="5385816" cy="1691640"/>
          </a:xfrm>
          <a:prstGeom prst="rect">
            <a:avLst/>
          </a:prstGeom>
          <a:noFill/>
        </p:spPr>
        <p:txBody>
          <a:bodyPr wrap="square" lIns="45720" rIns="45720">
            <a:spAutoFit/>
          </a:bodyPr>
          <a:lstStyle/>
          <a:p>
            <a:pPr>
              <a:lnSpc>
                <a:spcPct val="108000"/>
              </a:lnSpc>
              <a:spcAft>
                <a:spcPts val="200"/>
              </a:spcAft>
            </a:pPr>
            <a:r>
              <a:rPr sz="1500" b="0" i="0">
                <a:solidFill>
                  <a:srgbClr val="111111"/>
                </a:solidFill>
                <a:latin typeface="Arial"/>
              </a:rPr>
              <a:t>•  Ship A first and make it good</a:t>
            </a:r>
          </a:p>
          <a:p>
            <a:pPr>
              <a:lnSpc>
                <a:spcPct val="108000"/>
              </a:lnSpc>
              <a:spcAft>
                <a:spcPts val="200"/>
              </a:spcAft>
            </a:pPr>
            <a:r>
              <a:rPr sz="1500" b="0" i="0">
                <a:solidFill>
                  <a:srgbClr val="111111"/>
                </a:solidFill>
                <a:latin typeface="Arial"/>
              </a:rPr>
              <a:t>•  Design the shared schema for B from day one</a:t>
            </a:r>
          </a:p>
          <a:p>
            <a:pPr>
              <a:lnSpc>
                <a:spcPct val="108000"/>
              </a:lnSpc>
              <a:spcAft>
                <a:spcPts val="200"/>
              </a:spcAft>
            </a:pPr>
            <a:r>
              <a:rPr sz="1500" b="0" i="0">
                <a:solidFill>
                  <a:srgbClr val="111111"/>
                </a:solidFill>
                <a:latin typeface="Arial"/>
              </a:rPr>
              <a:t>•  Do not design around C; a mandate needs a reproducible library first</a:t>
            </a:r>
          </a:p>
        </p:txBody>
      </p:sp>
      <p:sp>
        <p:nvSpPr>
          <p:cNvPr id="12" name="Rounded Rectangle 11"/>
          <p:cNvSpPr/>
          <p:nvPr/>
        </p:nvSpPr>
        <p:spPr>
          <a:xfrm>
            <a:off x="6400800" y="4069080"/>
            <a:ext cx="5330952" cy="2194560"/>
          </a:xfrm>
          <a:prstGeom prst="roundRect">
            <a:avLst>
              <a:gd name="adj" fmla="val 6000"/>
            </a:avLst>
          </a:prstGeom>
          <a:solidFill>
            <a:srgbClr val="FBEFEC"/>
          </a:solidFill>
          <a:ln w="12700">
            <a:solidFill>
              <a:srgbClr val="B348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510528" y="4142232"/>
            <a:ext cx="5129784" cy="365760"/>
          </a:xfrm>
          <a:prstGeom prst="rect">
            <a:avLst/>
          </a:prstGeom>
          <a:noFill/>
        </p:spPr>
        <p:txBody>
          <a:bodyPr wrap="square" lIns="45720" rIns="45720" tIns="27432" bIns="27432" anchor="t">
            <a:spAutoFit/>
          </a:bodyPr>
          <a:lstStyle/>
          <a:p>
            <a:pPr algn="l">
              <a:lnSpc>
                <a:spcPct val="110000"/>
              </a:lnSpc>
            </a:pPr>
            <a:r>
              <a:rPr sz="1600" b="1" i="0">
                <a:solidFill>
                  <a:srgbClr val="B34831"/>
                </a:solidFill>
                <a:latin typeface="Arial"/>
              </a:rPr>
              <a:t>Governance in every mode</a:t>
            </a:r>
          </a:p>
        </p:txBody>
      </p:sp>
      <p:sp>
        <p:nvSpPr>
          <p:cNvPr id="14" name="TextBox 13"/>
          <p:cNvSpPr txBox="1"/>
          <p:nvPr/>
        </p:nvSpPr>
        <p:spPr>
          <a:xfrm>
            <a:off x="6473952" y="4507992"/>
            <a:ext cx="5184648" cy="1691640"/>
          </a:xfrm>
          <a:prstGeom prst="rect">
            <a:avLst/>
          </a:prstGeom>
          <a:noFill/>
        </p:spPr>
        <p:txBody>
          <a:bodyPr wrap="square" lIns="45720" rIns="45720">
            <a:spAutoFit/>
          </a:bodyPr>
          <a:lstStyle/>
          <a:p>
            <a:pPr>
              <a:lnSpc>
                <a:spcPct val="108000"/>
              </a:lnSpc>
              <a:spcAft>
                <a:spcPts val="200"/>
              </a:spcAft>
            </a:pPr>
            <a:r>
              <a:rPr sz="1500" b="0" i="0">
                <a:solidFill>
                  <a:srgbClr val="111111"/>
                </a:solidFill>
                <a:latin typeface="Arial"/>
              </a:rPr>
              <a:t>•  Humans approve cases in and policies out</a:t>
            </a:r>
          </a:p>
          <a:p>
            <a:pPr>
              <a:lnSpc>
                <a:spcPct val="108000"/>
              </a:lnSpc>
              <a:spcAft>
                <a:spcPts val="200"/>
              </a:spcAft>
            </a:pPr>
            <a:r>
              <a:rPr sz="1500" b="0" i="0">
                <a:solidFill>
                  <a:srgbClr val="111111"/>
                </a:solidFill>
                <a:latin typeface="Arial"/>
              </a:rPr>
              <a:t>•  The evaluated agent never sees the library</a:t>
            </a:r>
          </a:p>
          <a:p>
            <a:pPr>
              <a:lnSpc>
                <a:spcPct val="108000"/>
              </a:lnSpc>
              <a:spcAft>
                <a:spcPts val="200"/>
              </a:spcAft>
            </a:pPr>
            <a:r>
              <a:rPr sz="1500" b="0" i="0">
                <a:solidFill>
                  <a:srgbClr val="111111"/>
                </a:solidFill>
                <a:latin typeface="Arial"/>
              </a:rPr>
              <a:t>•  Every released rule cites its incident and trial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82296" cy="566928"/>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301752"/>
            <a:ext cx="10515600" cy="548640"/>
          </a:xfrm>
          <a:prstGeom prst="rect">
            <a:avLst/>
          </a:prstGeom>
          <a:noFill/>
        </p:spPr>
        <p:txBody>
          <a:bodyPr wrap="square" lIns="45720" rIns="45720" tIns="27432" bIns="27432" anchor="ctr">
            <a:spAutoFit/>
          </a:bodyPr>
          <a:lstStyle/>
          <a:p>
            <a:pPr algn="l">
              <a:lnSpc>
                <a:spcPct val="110000"/>
              </a:lnSpc>
            </a:pPr>
            <a:r>
              <a:rPr sz="2600" b="1" i="0">
                <a:solidFill>
                  <a:srgbClr val="111111"/>
                </a:solidFill>
                <a:latin typeface="Arial"/>
              </a:rPr>
              <a:t>The architecture: history → replay → policy</a:t>
            </a:r>
          </a:p>
        </p:txBody>
      </p:sp>
      <p:sp>
        <p:nvSpPr>
          <p:cNvPr id="4" name="TextBox 3"/>
          <p:cNvSpPr txBox="1"/>
          <p:nvPr/>
        </p:nvSpPr>
        <p:spPr>
          <a:xfrm>
            <a:off x="640080" y="868680"/>
            <a:ext cx="10972800" cy="365760"/>
          </a:xfrm>
          <a:prstGeom prst="rect">
            <a:avLst/>
          </a:prstGeom>
          <a:noFill/>
        </p:spPr>
        <p:txBody>
          <a:bodyPr wrap="square" lIns="45720" rIns="45720" tIns="27432" bIns="27432" anchor="t">
            <a:spAutoFit/>
          </a:bodyPr>
          <a:lstStyle/>
          <a:p>
            <a:pPr algn="l">
              <a:lnSpc>
                <a:spcPct val="110000"/>
              </a:lnSpc>
            </a:pPr>
            <a:r>
              <a:rPr sz="1300" b="0" i="0">
                <a:solidFill>
                  <a:srgbClr val="666666"/>
                </a:solidFill>
                <a:latin typeface="Arial"/>
              </a:rPr>
              <a:t>Three stages, one scheduled loop, one one-way exit to held-out evaluation</a:t>
            </a:r>
          </a:p>
        </p:txBody>
      </p:sp>
      <p:sp>
        <p:nvSpPr>
          <p:cNvPr id="5" name="TextBox 4"/>
          <p:cNvSpPr txBox="1"/>
          <p:nvPr/>
        </p:nvSpPr>
        <p:spPr>
          <a:xfrm>
            <a:off x="8503920" y="109728"/>
            <a:ext cx="3200400" cy="274320"/>
          </a:xfrm>
          <a:prstGeom prst="rect">
            <a:avLst/>
          </a:prstGeom>
          <a:noFill/>
        </p:spPr>
        <p:txBody>
          <a:bodyPr wrap="square" lIns="45720" rIns="45720" tIns="27432" bIns="27432" anchor="t">
            <a:spAutoFit/>
          </a:bodyPr>
          <a:lstStyle/>
          <a:p>
            <a:pPr algn="r">
              <a:lnSpc>
                <a:spcPct val="110000"/>
              </a:lnSpc>
            </a:pPr>
            <a:r>
              <a:rPr sz="900" b="1" i="0">
                <a:solidFill>
                  <a:srgbClr val="365E9E"/>
                </a:solidFill>
                <a:latin typeface="Arial"/>
              </a:rPr>
              <a:t>3 · DESIGN</a:t>
            </a:r>
          </a:p>
        </p:txBody>
      </p:sp>
      <p:cxnSp>
        <p:nvCxnSpPr>
          <p:cNvPr id="6" name="Connector 5"/>
          <p:cNvCxnSpPr/>
          <p:nvPr/>
        </p:nvCxnSpPr>
        <p:spPr>
          <a:xfrm>
            <a:off x="457200" y="6446520"/>
            <a:ext cx="11277295" cy="0"/>
          </a:xfrm>
          <a:prstGeom prst="line">
            <a:avLst/>
          </a:prstGeom>
          <a:ln w="6350">
            <a:solidFill>
              <a:srgbClr val="C9C9C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57200" y="6473952"/>
            <a:ext cx="10058400" cy="274320"/>
          </a:xfrm>
          <a:prstGeom prst="rect">
            <a:avLst/>
          </a:prstGeom>
          <a:noFill/>
        </p:spPr>
        <p:txBody>
          <a:bodyPr wrap="square" lIns="45720" rIns="45720" tIns="27432" bIns="27432" anchor="t">
            <a:spAutoFit/>
          </a:bodyPr>
          <a:lstStyle/>
          <a:p>
            <a:pPr algn="l">
              <a:lnSpc>
                <a:spcPct val="110000"/>
              </a:lnSpc>
            </a:pPr>
            <a:r>
              <a:rPr sz="800" b="0" i="0">
                <a:solidFill>
                  <a:srgbClr val="666666"/>
                </a:solidFill>
                <a:latin typeface="Arial"/>
              </a:rPr>
              <a:t>Incident-aware optimization · design proposal · containment-extension · October 2026 · no benchmark improvement measured</a:t>
            </a:r>
          </a:p>
        </p:txBody>
      </p:sp>
      <p:sp>
        <p:nvSpPr>
          <p:cNvPr id="8" name="TextBox 7"/>
          <p:cNvSpPr txBox="1"/>
          <p:nvPr/>
        </p:nvSpPr>
        <p:spPr>
          <a:xfrm>
            <a:off x="10820095" y="6473952"/>
            <a:ext cx="914400" cy="274320"/>
          </a:xfrm>
          <a:prstGeom prst="rect">
            <a:avLst/>
          </a:prstGeom>
          <a:noFill/>
        </p:spPr>
        <p:txBody>
          <a:bodyPr wrap="square" lIns="45720" rIns="45720" tIns="27432" bIns="27432" anchor="t">
            <a:spAutoFit/>
          </a:bodyPr>
          <a:lstStyle/>
          <a:p>
            <a:pPr algn="r">
              <a:lnSpc>
                <a:spcPct val="110000"/>
              </a:lnSpc>
            </a:pPr>
            <a:r>
              <a:rPr sz="900" b="0" i="0">
                <a:solidFill>
                  <a:srgbClr val="666666"/>
                </a:solidFill>
                <a:latin typeface="Arial"/>
              </a:rPr>
              <a:t>12</a:t>
            </a:r>
          </a:p>
        </p:txBody>
      </p:sp>
      <p:pic>
        <p:nvPicPr>
          <p:cNvPr id="9" name="Picture 8" descr="incident-optimization-overview-v2.png"/>
          <p:cNvPicPr>
            <a:picLocks noChangeAspect="1"/>
          </p:cNvPicPr>
          <p:nvPr/>
        </p:nvPicPr>
        <p:blipFill>
          <a:blip r:embed="rId2"/>
          <a:stretch>
            <a:fillRect/>
          </a:stretch>
        </p:blipFill>
        <p:spPr>
          <a:xfrm>
            <a:off x="960120" y="1234440"/>
            <a:ext cx="8064562" cy="516636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82296" cy="566928"/>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301752"/>
            <a:ext cx="10515600" cy="548640"/>
          </a:xfrm>
          <a:prstGeom prst="rect">
            <a:avLst/>
          </a:prstGeom>
          <a:noFill/>
        </p:spPr>
        <p:txBody>
          <a:bodyPr wrap="square" lIns="45720" rIns="45720" tIns="27432" bIns="27432" anchor="ctr">
            <a:spAutoFit/>
          </a:bodyPr>
          <a:lstStyle/>
          <a:p>
            <a:pPr algn="l">
              <a:lnSpc>
                <a:spcPct val="110000"/>
              </a:lnSpc>
            </a:pPr>
            <a:r>
              <a:rPr sz="2600" b="1" i="0">
                <a:solidFill>
                  <a:srgbClr val="111111"/>
                </a:solidFill>
                <a:latin typeface="Arial"/>
              </a:rPr>
              <a:t>What we build on, and what we add</a:t>
            </a:r>
          </a:p>
        </p:txBody>
      </p:sp>
      <p:sp>
        <p:nvSpPr>
          <p:cNvPr id="4" name="TextBox 3"/>
          <p:cNvSpPr txBox="1"/>
          <p:nvPr/>
        </p:nvSpPr>
        <p:spPr>
          <a:xfrm>
            <a:off x="640080" y="868680"/>
            <a:ext cx="10972800" cy="365760"/>
          </a:xfrm>
          <a:prstGeom prst="rect">
            <a:avLst/>
          </a:prstGeom>
          <a:noFill/>
        </p:spPr>
        <p:txBody>
          <a:bodyPr wrap="square" lIns="45720" rIns="45720" tIns="27432" bIns="27432" anchor="t">
            <a:spAutoFit/>
          </a:bodyPr>
          <a:lstStyle/>
          <a:p>
            <a:pPr algn="l">
              <a:lnSpc>
                <a:spcPct val="110000"/>
              </a:lnSpc>
            </a:pPr>
            <a:r>
              <a:rPr sz="1300" b="0" i="0">
                <a:solidFill>
                  <a:srgbClr val="666666"/>
                </a:solidFill>
                <a:latin typeface="Arial"/>
              </a:rPr>
              <a:t>The design composes existing systems; the new parts are the library, the gate and the loop</a:t>
            </a:r>
          </a:p>
        </p:txBody>
      </p:sp>
      <p:sp>
        <p:nvSpPr>
          <p:cNvPr id="5" name="TextBox 4"/>
          <p:cNvSpPr txBox="1"/>
          <p:nvPr/>
        </p:nvSpPr>
        <p:spPr>
          <a:xfrm>
            <a:off x="8503920" y="109728"/>
            <a:ext cx="3200400" cy="274320"/>
          </a:xfrm>
          <a:prstGeom prst="rect">
            <a:avLst/>
          </a:prstGeom>
          <a:noFill/>
        </p:spPr>
        <p:txBody>
          <a:bodyPr wrap="square" lIns="45720" rIns="45720" tIns="27432" bIns="27432" anchor="t">
            <a:spAutoFit/>
          </a:bodyPr>
          <a:lstStyle/>
          <a:p>
            <a:pPr algn="r">
              <a:lnSpc>
                <a:spcPct val="110000"/>
              </a:lnSpc>
            </a:pPr>
            <a:r>
              <a:rPr sz="900" b="1" i="0">
                <a:solidFill>
                  <a:srgbClr val="365E9E"/>
                </a:solidFill>
                <a:latin typeface="Arial"/>
              </a:rPr>
              <a:t>3 · DESIGN</a:t>
            </a:r>
          </a:p>
        </p:txBody>
      </p:sp>
      <p:cxnSp>
        <p:nvCxnSpPr>
          <p:cNvPr id="6" name="Connector 5"/>
          <p:cNvCxnSpPr/>
          <p:nvPr/>
        </p:nvCxnSpPr>
        <p:spPr>
          <a:xfrm>
            <a:off x="457200" y="6446520"/>
            <a:ext cx="11277295" cy="0"/>
          </a:xfrm>
          <a:prstGeom prst="line">
            <a:avLst/>
          </a:prstGeom>
          <a:ln w="6350">
            <a:solidFill>
              <a:srgbClr val="C9C9C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57200" y="6473952"/>
            <a:ext cx="10058400" cy="274320"/>
          </a:xfrm>
          <a:prstGeom prst="rect">
            <a:avLst/>
          </a:prstGeom>
          <a:noFill/>
        </p:spPr>
        <p:txBody>
          <a:bodyPr wrap="square" lIns="45720" rIns="45720" tIns="27432" bIns="27432" anchor="t">
            <a:spAutoFit/>
          </a:bodyPr>
          <a:lstStyle/>
          <a:p>
            <a:pPr algn="l">
              <a:lnSpc>
                <a:spcPct val="110000"/>
              </a:lnSpc>
            </a:pPr>
            <a:r>
              <a:rPr sz="800" b="0" i="0">
                <a:solidFill>
                  <a:srgbClr val="666666"/>
                </a:solidFill>
                <a:latin typeface="Arial"/>
              </a:rPr>
              <a:t>Incident-aware optimization · design proposal · containment-extension · October 2026 · no benchmark improvement measured</a:t>
            </a:r>
          </a:p>
        </p:txBody>
      </p:sp>
      <p:sp>
        <p:nvSpPr>
          <p:cNvPr id="8" name="TextBox 7"/>
          <p:cNvSpPr txBox="1"/>
          <p:nvPr/>
        </p:nvSpPr>
        <p:spPr>
          <a:xfrm>
            <a:off x="10820095" y="6473952"/>
            <a:ext cx="914400" cy="274320"/>
          </a:xfrm>
          <a:prstGeom prst="rect">
            <a:avLst/>
          </a:prstGeom>
          <a:noFill/>
        </p:spPr>
        <p:txBody>
          <a:bodyPr wrap="square" lIns="45720" rIns="45720" tIns="27432" bIns="27432" anchor="t">
            <a:spAutoFit/>
          </a:bodyPr>
          <a:lstStyle/>
          <a:p>
            <a:pPr algn="r">
              <a:lnSpc>
                <a:spcPct val="110000"/>
              </a:lnSpc>
            </a:pPr>
            <a:r>
              <a:rPr sz="900" b="0" i="0">
                <a:solidFill>
                  <a:srgbClr val="666666"/>
                </a:solidFill>
                <a:latin typeface="Arial"/>
              </a:rPr>
              <a:t>13</a:t>
            </a:r>
          </a:p>
        </p:txBody>
      </p:sp>
      <p:graphicFrame>
        <p:nvGraphicFramePr>
          <p:cNvPr id="9" name="Table 8"/>
          <p:cNvGraphicFramePr>
            <a:graphicFrameLocks noGrp="1"/>
          </p:cNvGraphicFramePr>
          <p:nvPr/>
        </p:nvGraphicFramePr>
        <p:xfrm>
          <a:off x="457200" y="1325880"/>
          <a:ext cx="11277293" cy="4754880"/>
        </p:xfrm>
        <a:graphic>
          <a:graphicData uri="http://schemas.openxmlformats.org/drawingml/2006/table">
            <a:tbl>
              <a:tblPr firstRow="1" bandRow="1">
                <a:tableStyleId>{5C22544A-7EE6-4342-B048-85BDC9FD1C3A}</a:tableStyleId>
              </a:tblPr>
              <a:tblGrid>
                <a:gridCol w="2383818"/>
                <a:gridCol w="3300671"/>
                <a:gridCol w="2750559"/>
                <a:gridCol w="2842245"/>
              </a:tblGrid>
              <a:tr h="679268">
                <a:tc>
                  <a:txBody>
                    <a:bodyPr wrap="square"/>
                    <a:lstStyle/>
                    <a:p>
                      <a:pPr>
                        <a:lnSpc>
                          <a:spcPct val="105000"/>
                        </a:lnSpc>
                      </a:pPr>
                      <a:r>
                        <a:rPr sz="1200" b="1" i="0">
                          <a:solidFill>
                            <a:srgbClr val="FFFFFF"/>
                          </a:solidFill>
                          <a:latin typeface="Arial"/>
                        </a:rPr>
                        <a:t>System</a:t>
                      </a:r>
                    </a:p>
                  </a:txBody>
                  <a:tcPr marL="54864" marR="54864" marT="27432" marB="27432">
                    <a:solidFill>
                      <a:srgbClr val="365E9E"/>
                    </a:solidFill>
                  </a:tcPr>
                </a:tc>
                <a:tc>
                  <a:txBody>
                    <a:bodyPr wrap="square"/>
                    <a:lstStyle/>
                    <a:p>
                      <a:pPr>
                        <a:lnSpc>
                          <a:spcPct val="105000"/>
                        </a:lnSpc>
                      </a:pPr>
                      <a:r>
                        <a:rPr sz="1200" b="1" i="0">
                          <a:solidFill>
                            <a:srgbClr val="FFFFFF"/>
                          </a:solidFill>
                          <a:latin typeface="Arial"/>
                        </a:rPr>
                        <a:t>It provides</a:t>
                      </a:r>
                    </a:p>
                  </a:txBody>
                  <a:tcPr marL="54864" marR="54864" marT="27432" marB="27432">
                    <a:solidFill>
                      <a:srgbClr val="365E9E"/>
                    </a:solidFill>
                  </a:tcPr>
                </a:tc>
                <a:tc>
                  <a:txBody>
                    <a:bodyPr wrap="square"/>
                    <a:lstStyle/>
                    <a:p>
                      <a:pPr>
                        <a:lnSpc>
                          <a:spcPct val="105000"/>
                        </a:lnSpc>
                      </a:pPr>
                      <a:r>
                        <a:rPr sz="1200" b="1" i="0">
                          <a:solidFill>
                            <a:srgbClr val="FFFFFF"/>
                          </a:solidFill>
                          <a:latin typeface="Arial"/>
                        </a:rPr>
                        <a:t>We reuse</a:t>
                      </a:r>
                    </a:p>
                  </a:txBody>
                  <a:tcPr marL="54864" marR="54864" marT="27432" marB="27432">
                    <a:solidFill>
                      <a:srgbClr val="365E9E"/>
                    </a:solidFill>
                  </a:tcPr>
                </a:tc>
                <a:tc>
                  <a:txBody>
                    <a:bodyPr wrap="square"/>
                    <a:lstStyle/>
                    <a:p>
                      <a:pPr>
                        <a:lnSpc>
                          <a:spcPct val="105000"/>
                        </a:lnSpc>
                      </a:pPr>
                      <a:r>
                        <a:rPr sz="1200" b="1" i="0">
                          <a:solidFill>
                            <a:srgbClr val="FFFFFF"/>
                          </a:solidFill>
                          <a:latin typeface="Arial"/>
                        </a:rPr>
                        <a:t>We add</a:t>
                      </a:r>
                    </a:p>
                  </a:txBody>
                  <a:tcPr marL="54864" marR="54864" marT="27432" marB="27432">
                    <a:solidFill>
                      <a:srgbClr val="365E9E"/>
                    </a:solidFill>
                  </a:tcPr>
                </a:tc>
              </a:tr>
              <a:tr h="679268">
                <a:tc>
                  <a:txBody>
                    <a:bodyPr wrap="square"/>
                    <a:lstStyle/>
                    <a:p>
                      <a:pPr>
                        <a:lnSpc>
                          <a:spcPct val="105000"/>
                        </a:lnSpc>
                      </a:pPr>
                      <a:r>
                        <a:rPr sz="1200" b="1" i="0">
                          <a:solidFill>
                            <a:srgbClr val="111111"/>
                          </a:solidFill>
                          <a:latin typeface="Arial"/>
                        </a:rPr>
                        <a:t>Inspect (UK AISI)</a:t>
                      </a:r>
                    </a:p>
                  </a:txBody>
                  <a:tcPr marL="54864" marR="54864" marT="27432" marB="27432">
                    <a:solidFill>
                      <a:srgbClr val="FFFFFF"/>
                    </a:solidFill>
                  </a:tcPr>
                </a:tc>
                <a:tc>
                  <a:txBody>
                    <a:bodyPr wrap="square"/>
                    <a:lstStyle/>
                    <a:p>
                      <a:pPr>
                        <a:lnSpc>
                          <a:spcPct val="105000"/>
                        </a:lnSpc>
                      </a:pPr>
                      <a:r>
                        <a:rPr sz="1200" b="0" i="0">
                          <a:solidFill>
                            <a:srgbClr val="111111"/>
                          </a:solidFill>
                          <a:latin typeface="Arial"/>
                        </a:rPr>
                        <a:t>Tasks, scorers, sandboxes, tool-call approvers, eval logs</a:t>
                      </a:r>
                    </a:p>
                  </a:txBody>
                  <a:tcPr marL="54864" marR="54864" marT="27432" marB="27432">
                    <a:solidFill>
                      <a:srgbClr val="FFFFFF"/>
                    </a:solidFill>
                  </a:tcPr>
                </a:tc>
                <a:tc>
                  <a:txBody>
                    <a:bodyPr wrap="square"/>
                    <a:lstStyle/>
                    <a:p>
                      <a:pPr>
                        <a:lnSpc>
                          <a:spcPct val="105000"/>
                        </a:lnSpc>
                      </a:pPr>
                      <a:r>
                        <a:rPr sz="1200" b="0" i="0">
                          <a:solidFill>
                            <a:srgbClr val="111111"/>
                          </a:solidFill>
                          <a:latin typeface="Arial"/>
                        </a:rPr>
                        <a:t>Everything; approvers host the action monitor</a:t>
                      </a:r>
                    </a:p>
                  </a:txBody>
                  <a:tcPr marL="54864" marR="54864" marT="27432" marB="27432">
                    <a:solidFill>
                      <a:srgbClr val="FFFFFF"/>
                    </a:solidFill>
                  </a:tcPr>
                </a:tc>
                <a:tc>
                  <a:txBody>
                    <a:bodyPr wrap="square"/>
                    <a:lstStyle/>
                    <a:p>
                      <a:pPr>
                        <a:lnSpc>
                          <a:spcPct val="105000"/>
                        </a:lnSpc>
                      </a:pPr>
                      <a:r>
                        <a:rPr sz="1200" b="0" i="0">
                          <a:solidFill>
                            <a:srgbClr val="111111"/>
                          </a:solidFill>
                          <a:latin typeface="Arial"/>
                        </a:rPr>
                        <a:t>Incident observer scorers; regression gate</a:t>
                      </a:r>
                    </a:p>
                  </a:txBody>
                  <a:tcPr marL="54864" marR="54864" marT="27432" marB="27432">
                    <a:solidFill>
                      <a:srgbClr val="FFFFFF"/>
                    </a:solidFill>
                  </a:tcPr>
                </a:tc>
              </a:tr>
              <a:tr h="679268">
                <a:tc>
                  <a:txBody>
                    <a:bodyPr wrap="square"/>
                    <a:lstStyle/>
                    <a:p>
                      <a:pPr>
                        <a:lnSpc>
                          <a:spcPct val="105000"/>
                        </a:lnSpc>
                      </a:pPr>
                      <a:r>
                        <a:rPr sz="1200" b="1" i="0">
                          <a:solidFill>
                            <a:srgbClr val="111111"/>
                          </a:solidFill>
                          <a:latin typeface="Arial"/>
                        </a:rPr>
                        <a:t>Inspect Scout</a:t>
                      </a:r>
                    </a:p>
                  </a:txBody>
                  <a:tcPr marL="54864" marR="54864" marT="27432" marB="27432">
                    <a:solidFill>
                      <a:srgbClr val="F4F6FA"/>
                    </a:solidFill>
                  </a:tcPr>
                </a:tc>
                <a:tc>
                  <a:txBody>
                    <a:bodyPr wrap="square"/>
                    <a:lstStyle/>
                    <a:p>
                      <a:pPr>
                        <a:lnSpc>
                          <a:spcPct val="105000"/>
                        </a:lnSpc>
                      </a:pPr>
                      <a:r>
                        <a:rPr sz="1200" b="0" i="0">
                          <a:solidFill>
                            <a:srgbClr val="111111"/>
                          </a:solidFill>
                          <a:latin typeface="Arial"/>
                        </a:rPr>
                        <a:t>Transcript scanners at scale</a:t>
                      </a:r>
                    </a:p>
                  </a:txBody>
                  <a:tcPr marL="54864" marR="54864" marT="27432" marB="27432">
                    <a:solidFill>
                      <a:srgbClr val="F4F6FA"/>
                    </a:solidFill>
                  </a:tcPr>
                </a:tc>
                <a:tc>
                  <a:txBody>
                    <a:bodyPr wrap="square"/>
                    <a:lstStyle/>
                    <a:p>
                      <a:pPr>
                        <a:lnSpc>
                          <a:spcPct val="105000"/>
                        </a:lnSpc>
                      </a:pPr>
                      <a:r>
                        <a:rPr sz="1200" b="0" i="0">
                          <a:solidFill>
                            <a:srgbClr val="111111"/>
                          </a:solidFill>
                          <a:latin typeface="Arial"/>
                        </a:rPr>
                        <a:t>Scan own logs for intake</a:t>
                      </a:r>
                    </a:p>
                  </a:txBody>
                  <a:tcPr marL="54864" marR="54864" marT="27432" marB="27432">
                    <a:solidFill>
                      <a:srgbClr val="F4F6FA"/>
                    </a:solidFill>
                  </a:tcPr>
                </a:tc>
                <a:tc>
                  <a:txBody>
                    <a:bodyPr wrap="square"/>
                    <a:lstStyle/>
                    <a:p>
                      <a:pPr>
                        <a:lnSpc>
                          <a:spcPct val="105000"/>
                        </a:lnSpc>
                      </a:pPr>
                      <a:r>
                        <a:rPr sz="1200" b="0" i="0">
                          <a:solidFill>
                            <a:srgbClr val="111111"/>
                          </a:solidFill>
                          <a:latin typeface="Arial"/>
                        </a:rPr>
                        <a:t>Incident schema; evidence grades</a:t>
                      </a:r>
                    </a:p>
                  </a:txBody>
                  <a:tcPr marL="54864" marR="54864" marT="27432" marB="27432">
                    <a:solidFill>
                      <a:srgbClr val="F4F6FA"/>
                    </a:solidFill>
                  </a:tcPr>
                </a:tc>
              </a:tr>
              <a:tr h="679268">
                <a:tc>
                  <a:txBody>
                    <a:bodyPr wrap="square"/>
                    <a:lstStyle/>
                    <a:p>
                      <a:pPr>
                        <a:lnSpc>
                          <a:spcPct val="105000"/>
                        </a:lnSpc>
                      </a:pPr>
                      <a:r>
                        <a:rPr sz="1200" b="1" i="0">
                          <a:solidFill>
                            <a:srgbClr val="111111"/>
                          </a:solidFill>
                          <a:latin typeface="Arial"/>
                        </a:rPr>
                        <a:t>ControlArena</a:t>
                      </a:r>
                    </a:p>
                  </a:txBody>
                  <a:tcPr marL="54864" marR="54864" marT="27432" marB="27432">
                    <a:solidFill>
                      <a:srgbClr val="FFFFFF"/>
                    </a:solidFill>
                  </a:tcPr>
                </a:tc>
                <a:tc>
                  <a:txBody>
                    <a:bodyPr wrap="square"/>
                    <a:lstStyle/>
                    <a:p>
                      <a:pPr>
                        <a:lnSpc>
                          <a:spcPct val="105000"/>
                        </a:lnSpc>
                      </a:pPr>
                      <a:r>
                        <a:rPr sz="1200" b="0" i="0">
                          <a:solidFill>
                            <a:srgbClr val="111111"/>
                          </a:solidFill>
                          <a:latin typeface="Arial"/>
                        </a:rPr>
                        <a:t>Monitors with suspicion scores; trusted monitoring, defer-to-trusted; settings with side tasks</a:t>
                      </a:r>
                    </a:p>
                  </a:txBody>
                  <a:tcPr marL="54864" marR="54864" marT="27432" marB="27432">
                    <a:solidFill>
                      <a:srgbClr val="FFFFFF"/>
                    </a:solidFill>
                  </a:tcPr>
                </a:tc>
                <a:tc>
                  <a:txBody>
                    <a:bodyPr wrap="square"/>
                    <a:lstStyle/>
                    <a:p>
                      <a:pPr>
                        <a:lnSpc>
                          <a:spcPct val="105000"/>
                        </a:lnSpc>
                      </a:pPr>
                      <a:r>
                        <a:rPr sz="1200" b="0" i="0">
                          <a:solidFill>
                            <a:srgbClr val="111111"/>
                          </a:solidFill>
                          <a:latin typeface="Arial"/>
                        </a:rPr>
                        <a:t>Monitor interface and micro-protocols; BashArena</a:t>
                      </a:r>
                    </a:p>
                  </a:txBody>
                  <a:tcPr marL="54864" marR="54864" marT="27432" marB="27432">
                    <a:solidFill>
                      <a:srgbClr val="FFFFFF"/>
                    </a:solidFill>
                  </a:tcPr>
                </a:tc>
                <a:tc>
                  <a:txBody>
                    <a:bodyPr wrap="square"/>
                    <a:lstStyle/>
                    <a:p>
                      <a:pPr>
                        <a:lnSpc>
                          <a:spcPct val="105000"/>
                        </a:lnSpc>
                      </a:pPr>
                      <a:r>
                        <a:rPr sz="1200" b="0" i="0">
                          <a:solidFill>
                            <a:srgbClr val="111111"/>
                          </a:solidFill>
                          <a:latin typeface="Arial"/>
                        </a:rPr>
                        <a:t>Rule provenance; calibration-only thresholds</a:t>
                      </a:r>
                    </a:p>
                  </a:txBody>
                  <a:tcPr marL="54864" marR="54864" marT="27432" marB="27432">
                    <a:solidFill>
                      <a:srgbClr val="FFFFFF"/>
                    </a:solidFill>
                  </a:tcPr>
                </a:tc>
              </a:tr>
              <a:tr h="679268">
                <a:tc>
                  <a:txBody>
                    <a:bodyPr wrap="square"/>
                    <a:lstStyle/>
                    <a:p>
                      <a:pPr>
                        <a:lnSpc>
                          <a:spcPct val="105000"/>
                        </a:lnSpc>
                      </a:pPr>
                      <a:r>
                        <a:rPr sz="1200" b="1" i="0">
                          <a:solidFill>
                            <a:srgbClr val="111111"/>
                          </a:solidFill>
                          <a:latin typeface="Arial"/>
                        </a:rPr>
                        <a:t>Hawk / Vivaria (METR)</a:t>
                      </a:r>
                    </a:p>
                  </a:txBody>
                  <a:tcPr marL="54864" marR="54864" marT="27432" marB="27432">
                    <a:solidFill>
                      <a:srgbClr val="F4F6FA"/>
                    </a:solidFill>
                  </a:tcPr>
                </a:tc>
                <a:tc>
                  <a:txBody>
                    <a:bodyPr wrap="square"/>
                    <a:lstStyle/>
                    <a:p>
                      <a:pPr>
                        <a:lnSpc>
                          <a:spcPct val="105000"/>
                        </a:lnSpc>
                      </a:pPr>
                      <a:r>
                        <a:rPr sz="1200" b="0" i="0">
                          <a:solidFill>
                            <a:srgbClr val="111111"/>
                          </a:solidFill>
                          <a:latin typeface="Arial"/>
                        </a:rPr>
                        <a:t>Run Inspect at scale; action monitor tied to approvals</a:t>
                      </a:r>
                    </a:p>
                  </a:txBody>
                  <a:tcPr marL="54864" marR="54864" marT="27432" marB="27432">
                    <a:solidFill>
                      <a:srgbClr val="F4F6FA"/>
                    </a:solidFill>
                  </a:tcPr>
                </a:tc>
                <a:tc>
                  <a:txBody>
                    <a:bodyPr wrap="square"/>
                    <a:lstStyle/>
                    <a:p>
                      <a:pPr>
                        <a:lnSpc>
                          <a:spcPct val="105000"/>
                        </a:lnSpc>
                      </a:pPr>
                      <a:r>
                        <a:rPr sz="1200" b="0" i="0">
                          <a:solidFill>
                            <a:srgbClr val="111111"/>
                          </a:solidFill>
                          <a:latin typeface="Arial"/>
                        </a:rPr>
                        <a:t>Execution backend; context-gap warning</a:t>
                      </a:r>
                    </a:p>
                  </a:txBody>
                  <a:tcPr marL="54864" marR="54864" marT="27432" marB="27432">
                    <a:solidFill>
                      <a:srgbClr val="F4F6FA"/>
                    </a:solidFill>
                  </a:tcPr>
                </a:tc>
                <a:tc>
                  <a:txBody>
                    <a:bodyPr wrap="square"/>
                    <a:lstStyle/>
                    <a:p>
                      <a:pPr>
                        <a:lnSpc>
                          <a:spcPct val="105000"/>
                        </a:lnSpc>
                      </a:pPr>
                      <a:r>
                        <a:rPr sz="1200" b="0" i="0">
                          <a:solidFill>
                            <a:srgbClr val="111111"/>
                          </a:solidFill>
                          <a:latin typeface="Arial"/>
                        </a:rPr>
                        <a:t>Time-split evaluation; versioned releases</a:t>
                      </a:r>
                    </a:p>
                  </a:txBody>
                  <a:tcPr marL="54864" marR="54864" marT="27432" marB="27432">
                    <a:solidFill>
                      <a:srgbClr val="F4F6FA"/>
                    </a:solidFill>
                  </a:tcPr>
                </a:tc>
              </a:tr>
              <a:tr h="679268">
                <a:tc>
                  <a:txBody>
                    <a:bodyPr wrap="square"/>
                    <a:lstStyle/>
                    <a:p>
                      <a:pPr>
                        <a:lnSpc>
                          <a:spcPct val="105000"/>
                        </a:lnSpc>
                      </a:pPr>
                      <a:r>
                        <a:rPr sz="1200" b="1" i="0">
                          <a:solidFill>
                            <a:srgbClr val="111111"/>
                          </a:solidFill>
                          <a:latin typeface="Arial"/>
                        </a:rPr>
                        <a:t>ImpossibleBench, AgentDojo, ResearchArena, SHADE-Arena</a:t>
                      </a:r>
                    </a:p>
                  </a:txBody>
                  <a:tcPr marL="54864" marR="54864" marT="27432" marB="27432">
                    <a:solidFill>
                      <a:srgbClr val="FFFFFF"/>
                    </a:solidFill>
                  </a:tcPr>
                </a:tc>
                <a:tc>
                  <a:txBody>
                    <a:bodyPr wrap="square"/>
                    <a:lstStyle/>
                    <a:p>
                      <a:pPr>
                        <a:lnSpc>
                          <a:spcPct val="105000"/>
                        </a:lnSpc>
                      </a:pPr>
                      <a:r>
                        <a:rPr sz="1200" b="0" i="0">
                          <a:solidFill>
                            <a:srgbClr val="111111"/>
                          </a:solidFill>
                          <a:latin typeface="Arial"/>
                        </a:rPr>
                        <a:t>Tasks and official baselines</a:t>
                      </a:r>
                    </a:p>
                  </a:txBody>
                  <a:tcPr marL="54864" marR="54864" marT="27432" marB="27432">
                    <a:solidFill>
                      <a:srgbClr val="FFFFFF"/>
                    </a:solidFill>
                  </a:tcPr>
                </a:tc>
                <a:tc>
                  <a:txBody>
                    <a:bodyPr wrap="square"/>
                    <a:lstStyle/>
                    <a:p>
                      <a:pPr>
                        <a:lnSpc>
                          <a:spcPct val="105000"/>
                        </a:lnSpc>
                      </a:pPr>
                      <a:r>
                        <a:rPr sz="1200" b="0" i="0">
                          <a:solidFill>
                            <a:srgbClr val="111111"/>
                          </a:solidFill>
                          <a:latin typeface="Arial"/>
                        </a:rPr>
                        <a:t>Held-out tasks; published defences</a:t>
                      </a:r>
                    </a:p>
                  </a:txBody>
                  <a:tcPr marL="54864" marR="54864" marT="27432" marB="27432">
                    <a:solidFill>
                      <a:srgbClr val="FFFFFF"/>
                    </a:solidFill>
                  </a:tcPr>
                </a:tc>
                <a:tc>
                  <a:txBody>
                    <a:bodyPr wrap="square"/>
                    <a:lstStyle/>
                    <a:p>
                      <a:pPr>
                        <a:lnSpc>
                          <a:spcPct val="105000"/>
                        </a:lnSpc>
                      </a:pPr>
                      <a:r>
                        <a:rPr sz="1200" b="0" i="0">
                          <a:solidFill>
                            <a:srgbClr val="111111"/>
                          </a:solidFill>
                          <a:latin typeface="Arial"/>
                        </a:rPr>
                        <a:t>Benign twins; post-cutoff incident families</a:t>
                      </a:r>
                    </a:p>
                  </a:txBody>
                  <a:tcPr marL="54864" marR="54864" marT="27432" marB="27432">
                    <a:solidFill>
                      <a:srgbClr val="FFFFFF"/>
                    </a:solidFill>
                  </a:tcPr>
                </a:tc>
              </a:tr>
              <a:tr h="679272">
                <a:tc>
                  <a:txBody>
                    <a:bodyPr wrap="square"/>
                    <a:lstStyle/>
                    <a:p>
                      <a:pPr>
                        <a:lnSpc>
                          <a:spcPct val="105000"/>
                        </a:lnSpc>
                      </a:pPr>
                      <a:r>
                        <a:rPr sz="1200" b="1" i="0">
                          <a:solidFill>
                            <a:srgbClr val="111111"/>
                          </a:solidFill>
                          <a:latin typeface="Arial"/>
                        </a:rPr>
                        <a:t>AIID, OECD AIM, MIT AI Risk Repository, MITRE ATLAS</a:t>
                      </a:r>
                    </a:p>
                  </a:txBody>
                  <a:tcPr marL="54864" marR="54864" marT="27432" marB="27432">
                    <a:solidFill>
                      <a:srgbClr val="F4F6FA"/>
                    </a:solidFill>
                  </a:tcPr>
                </a:tc>
                <a:tc>
                  <a:txBody>
                    <a:bodyPr wrap="square"/>
                    <a:lstStyle/>
                    <a:p>
                      <a:pPr>
                        <a:lnSpc>
                          <a:spcPct val="105000"/>
                        </a:lnSpc>
                      </a:pPr>
                      <a:r>
                        <a:rPr sz="1200" b="0" i="0">
                          <a:solidFill>
                            <a:srgbClr val="111111"/>
                          </a:solidFill>
                          <a:latin typeface="Arial"/>
                        </a:rPr>
                        <a:t>Incident reports and taxonomies</a:t>
                      </a:r>
                    </a:p>
                  </a:txBody>
                  <a:tcPr marL="54864" marR="54864" marT="27432" marB="27432">
                    <a:solidFill>
                      <a:srgbClr val="F4F6FA"/>
                    </a:solidFill>
                  </a:tcPr>
                </a:tc>
                <a:tc>
                  <a:txBody>
                    <a:bodyPr wrap="square"/>
                    <a:lstStyle/>
                    <a:p>
                      <a:pPr>
                        <a:lnSpc>
                          <a:spcPct val="105000"/>
                        </a:lnSpc>
                      </a:pPr>
                      <a:r>
                        <a:rPr sz="1200" b="0" i="0">
                          <a:solidFill>
                            <a:srgbClr val="111111"/>
                          </a:solidFill>
                          <a:latin typeface="Arial"/>
                        </a:rPr>
                        <a:t>Sources and tags</a:t>
                      </a:r>
                    </a:p>
                  </a:txBody>
                  <a:tcPr marL="54864" marR="54864" marT="27432" marB="27432">
                    <a:solidFill>
                      <a:srgbClr val="F4F6FA"/>
                    </a:solidFill>
                  </a:tcPr>
                </a:tc>
                <a:tc>
                  <a:txBody>
                    <a:bodyPr wrap="square"/>
                    <a:lstStyle/>
                    <a:p>
                      <a:pPr>
                        <a:lnSpc>
                          <a:spcPct val="105000"/>
                        </a:lnSpc>
                      </a:pPr>
                      <a:r>
                        <a:rPr sz="1200" b="0" i="0">
                          <a:solidFill>
                            <a:srgbClr val="111111"/>
                          </a:solidFill>
                          <a:latin typeface="Arial"/>
                        </a:rPr>
                        <a:t>Executable reproductions</a:t>
                      </a:r>
                    </a:p>
                  </a:txBody>
                  <a:tcPr marL="54864" marR="54864" marT="27432" marB="27432">
                    <a:solidFill>
                      <a:srgbClr val="F4F6FA"/>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82296" cy="566928"/>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301752"/>
            <a:ext cx="10515600" cy="548640"/>
          </a:xfrm>
          <a:prstGeom prst="rect">
            <a:avLst/>
          </a:prstGeom>
          <a:noFill/>
        </p:spPr>
        <p:txBody>
          <a:bodyPr wrap="square" lIns="45720" rIns="45720" tIns="27432" bIns="27432" anchor="ctr">
            <a:spAutoFit/>
          </a:bodyPr>
          <a:lstStyle/>
          <a:p>
            <a:pPr algn="l">
              <a:lnSpc>
                <a:spcPct val="110000"/>
              </a:lnSpc>
            </a:pPr>
            <a:r>
              <a:rPr sz="2600" b="1" i="0">
                <a:solidFill>
                  <a:srgbClr val="111111"/>
                </a:solidFill>
                <a:latin typeface="Arial"/>
              </a:rPr>
              <a:t>Seven design principles</a:t>
            </a:r>
          </a:p>
        </p:txBody>
      </p:sp>
      <p:sp>
        <p:nvSpPr>
          <p:cNvPr id="4" name="TextBox 3"/>
          <p:cNvSpPr txBox="1"/>
          <p:nvPr/>
        </p:nvSpPr>
        <p:spPr>
          <a:xfrm>
            <a:off x="640080" y="868680"/>
            <a:ext cx="10972800" cy="365760"/>
          </a:xfrm>
          <a:prstGeom prst="rect">
            <a:avLst/>
          </a:prstGeom>
          <a:noFill/>
        </p:spPr>
        <p:txBody>
          <a:bodyPr wrap="square" lIns="45720" rIns="45720" tIns="27432" bIns="27432" anchor="t">
            <a:spAutoFit/>
          </a:bodyPr>
          <a:lstStyle/>
          <a:p>
            <a:pPr algn="l">
              <a:lnSpc>
                <a:spcPct val="110000"/>
              </a:lnSpc>
            </a:pPr>
            <a:r>
              <a:rPr sz="1300" b="0" i="0">
                <a:solidFill>
                  <a:srgbClr val="666666"/>
                </a:solidFill>
                <a:latin typeface="Arial"/>
              </a:rPr>
              <a:t>Each closes a way the loop could fool itself</a:t>
            </a:r>
          </a:p>
        </p:txBody>
      </p:sp>
      <p:sp>
        <p:nvSpPr>
          <p:cNvPr id="5" name="TextBox 4"/>
          <p:cNvSpPr txBox="1"/>
          <p:nvPr/>
        </p:nvSpPr>
        <p:spPr>
          <a:xfrm>
            <a:off x="8503920" y="109728"/>
            <a:ext cx="3200400" cy="274320"/>
          </a:xfrm>
          <a:prstGeom prst="rect">
            <a:avLst/>
          </a:prstGeom>
          <a:noFill/>
        </p:spPr>
        <p:txBody>
          <a:bodyPr wrap="square" lIns="45720" rIns="45720" tIns="27432" bIns="27432" anchor="t">
            <a:spAutoFit/>
          </a:bodyPr>
          <a:lstStyle/>
          <a:p>
            <a:pPr algn="r">
              <a:lnSpc>
                <a:spcPct val="110000"/>
              </a:lnSpc>
            </a:pPr>
            <a:r>
              <a:rPr sz="900" b="1" i="0">
                <a:solidFill>
                  <a:srgbClr val="365E9E"/>
                </a:solidFill>
                <a:latin typeface="Arial"/>
              </a:rPr>
              <a:t>3 · DESIGN</a:t>
            </a:r>
          </a:p>
        </p:txBody>
      </p:sp>
      <p:cxnSp>
        <p:nvCxnSpPr>
          <p:cNvPr id="6" name="Connector 5"/>
          <p:cNvCxnSpPr/>
          <p:nvPr/>
        </p:nvCxnSpPr>
        <p:spPr>
          <a:xfrm>
            <a:off x="457200" y="6446520"/>
            <a:ext cx="11277295" cy="0"/>
          </a:xfrm>
          <a:prstGeom prst="line">
            <a:avLst/>
          </a:prstGeom>
          <a:ln w="6350">
            <a:solidFill>
              <a:srgbClr val="C9C9C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57200" y="6473952"/>
            <a:ext cx="10058400" cy="274320"/>
          </a:xfrm>
          <a:prstGeom prst="rect">
            <a:avLst/>
          </a:prstGeom>
          <a:noFill/>
        </p:spPr>
        <p:txBody>
          <a:bodyPr wrap="square" lIns="45720" rIns="45720" tIns="27432" bIns="27432" anchor="t">
            <a:spAutoFit/>
          </a:bodyPr>
          <a:lstStyle/>
          <a:p>
            <a:pPr algn="l">
              <a:lnSpc>
                <a:spcPct val="110000"/>
              </a:lnSpc>
            </a:pPr>
            <a:r>
              <a:rPr sz="800" b="0" i="0">
                <a:solidFill>
                  <a:srgbClr val="666666"/>
                </a:solidFill>
                <a:latin typeface="Arial"/>
              </a:rPr>
              <a:t>Incident-aware optimization · design proposal · containment-extension · October 2026 · no benchmark improvement measured</a:t>
            </a:r>
          </a:p>
        </p:txBody>
      </p:sp>
      <p:sp>
        <p:nvSpPr>
          <p:cNvPr id="8" name="TextBox 7"/>
          <p:cNvSpPr txBox="1"/>
          <p:nvPr/>
        </p:nvSpPr>
        <p:spPr>
          <a:xfrm>
            <a:off x="10820095" y="6473952"/>
            <a:ext cx="914400" cy="274320"/>
          </a:xfrm>
          <a:prstGeom prst="rect">
            <a:avLst/>
          </a:prstGeom>
          <a:noFill/>
        </p:spPr>
        <p:txBody>
          <a:bodyPr wrap="square" lIns="45720" rIns="45720" tIns="27432" bIns="27432" anchor="t">
            <a:spAutoFit/>
          </a:bodyPr>
          <a:lstStyle/>
          <a:p>
            <a:pPr algn="r">
              <a:lnSpc>
                <a:spcPct val="110000"/>
              </a:lnSpc>
            </a:pPr>
            <a:r>
              <a:rPr sz="900" b="0" i="0">
                <a:solidFill>
                  <a:srgbClr val="666666"/>
                </a:solidFill>
                <a:latin typeface="Arial"/>
              </a:rPr>
              <a:t>14</a:t>
            </a:r>
          </a:p>
        </p:txBody>
      </p:sp>
      <p:sp>
        <p:nvSpPr>
          <p:cNvPr id="9" name="Rounded Rectangle 8"/>
          <p:cNvSpPr/>
          <p:nvPr/>
        </p:nvSpPr>
        <p:spPr>
          <a:xfrm>
            <a:off x="457200" y="1325880"/>
            <a:ext cx="3657600" cy="1481328"/>
          </a:xfrm>
          <a:prstGeom prst="roundRect">
            <a:avLst>
              <a:gd name="adj" fmla="val 6000"/>
            </a:avLst>
          </a:prstGeom>
          <a:solidFill>
            <a:srgbClr val="EDF4FB"/>
          </a:solidFill>
          <a:ln w="12700">
            <a:solidFill>
              <a:srgbClr val="365E9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566928" y="1435608"/>
            <a:ext cx="274320" cy="274320"/>
          </a:xfrm>
          <a:prstGeom prst="ellipse">
            <a:avLst/>
          </a:prstGeom>
          <a:solidFill>
            <a:srgbClr val="365E9E"/>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i="0">
                <a:solidFill>
                  <a:srgbClr val="FFFFFF"/>
                </a:solidFill>
                <a:latin typeface="Arial"/>
              </a:rPr>
              <a:t>1</a:t>
            </a:r>
          </a:p>
        </p:txBody>
      </p:sp>
      <p:sp>
        <p:nvSpPr>
          <p:cNvPr id="11" name="TextBox 10"/>
          <p:cNvSpPr txBox="1"/>
          <p:nvPr/>
        </p:nvSpPr>
        <p:spPr>
          <a:xfrm>
            <a:off x="914400" y="1399032"/>
            <a:ext cx="3108960" cy="365760"/>
          </a:xfrm>
          <a:prstGeom prst="rect">
            <a:avLst/>
          </a:prstGeom>
          <a:noFill/>
        </p:spPr>
        <p:txBody>
          <a:bodyPr wrap="square" lIns="45720" rIns="45720" tIns="27432" bIns="27432" anchor="t">
            <a:spAutoFit/>
          </a:bodyPr>
          <a:lstStyle/>
          <a:p>
            <a:pPr algn="l">
              <a:lnSpc>
                <a:spcPct val="110000"/>
              </a:lnSpc>
            </a:pPr>
            <a:r>
              <a:rPr sz="1400" b="1" i="0">
                <a:solidFill>
                  <a:srgbClr val="111111"/>
                </a:solidFill>
                <a:latin typeface="Arial"/>
              </a:rPr>
              <a:t>Observe effects, not vibes</a:t>
            </a:r>
          </a:p>
        </p:txBody>
      </p:sp>
      <p:sp>
        <p:nvSpPr>
          <p:cNvPr id="12" name="TextBox 11"/>
          <p:cNvSpPr txBox="1"/>
          <p:nvPr/>
        </p:nvSpPr>
        <p:spPr>
          <a:xfrm>
            <a:off x="548640" y="1764792"/>
            <a:ext cx="3474720" cy="978408"/>
          </a:xfrm>
          <a:prstGeom prst="rect">
            <a:avLst/>
          </a:prstGeom>
          <a:noFill/>
        </p:spPr>
        <p:txBody>
          <a:bodyPr wrap="square" lIns="45720" rIns="45720" tIns="27432" bIns="27432" anchor="t">
            <a:spAutoFit/>
          </a:bodyPr>
          <a:lstStyle/>
          <a:p>
            <a:pPr algn="l">
              <a:lnSpc>
                <a:spcPct val="112000"/>
              </a:lnSpc>
            </a:pPr>
            <a:r>
              <a:rPr sz="1500" b="0" i="0">
                <a:solidFill>
                  <a:srgbClr val="111111"/>
                </a:solidFill>
                <a:latin typeface="Arial"/>
              </a:rPr>
              <a:t>An incident is a witnessed effect, recorded outside the agent's authority.</a:t>
            </a:r>
          </a:p>
        </p:txBody>
      </p:sp>
      <p:sp>
        <p:nvSpPr>
          <p:cNvPr id="13" name="Rounded Rectangle 12"/>
          <p:cNvSpPr/>
          <p:nvPr/>
        </p:nvSpPr>
        <p:spPr>
          <a:xfrm>
            <a:off x="4270248" y="1325880"/>
            <a:ext cx="3657600" cy="1481328"/>
          </a:xfrm>
          <a:prstGeom prst="roundRect">
            <a:avLst>
              <a:gd name="adj" fmla="val 6000"/>
            </a:avLst>
          </a:prstGeom>
          <a:solidFill>
            <a:srgbClr val="FFFFFF"/>
          </a:solidFill>
          <a:ln w="12700">
            <a:solidFill>
              <a:srgbClr val="365E9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379976" y="1435608"/>
            <a:ext cx="274320" cy="274320"/>
          </a:xfrm>
          <a:prstGeom prst="ellipse">
            <a:avLst/>
          </a:prstGeom>
          <a:solidFill>
            <a:srgbClr val="365E9E"/>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i="0">
                <a:solidFill>
                  <a:srgbClr val="FFFFFF"/>
                </a:solidFill>
                <a:latin typeface="Arial"/>
              </a:rPr>
              <a:t>2</a:t>
            </a:r>
          </a:p>
        </p:txBody>
      </p:sp>
      <p:sp>
        <p:nvSpPr>
          <p:cNvPr id="15" name="TextBox 14"/>
          <p:cNvSpPr txBox="1"/>
          <p:nvPr/>
        </p:nvSpPr>
        <p:spPr>
          <a:xfrm>
            <a:off x="4727448" y="1399032"/>
            <a:ext cx="3108960" cy="365760"/>
          </a:xfrm>
          <a:prstGeom prst="rect">
            <a:avLst/>
          </a:prstGeom>
          <a:noFill/>
        </p:spPr>
        <p:txBody>
          <a:bodyPr wrap="square" lIns="45720" rIns="45720" tIns="27432" bIns="27432" anchor="t">
            <a:spAutoFit/>
          </a:bodyPr>
          <a:lstStyle/>
          <a:p>
            <a:pPr algn="l">
              <a:lnSpc>
                <a:spcPct val="110000"/>
              </a:lnSpc>
            </a:pPr>
            <a:r>
              <a:rPr sz="1400" b="1" i="0">
                <a:solidFill>
                  <a:srgbClr val="111111"/>
                </a:solidFill>
                <a:latin typeface="Arial"/>
              </a:rPr>
              <a:t>Executable, not narrative</a:t>
            </a:r>
          </a:p>
        </p:txBody>
      </p:sp>
      <p:sp>
        <p:nvSpPr>
          <p:cNvPr id="16" name="TextBox 15"/>
          <p:cNvSpPr txBox="1"/>
          <p:nvPr/>
        </p:nvSpPr>
        <p:spPr>
          <a:xfrm>
            <a:off x="4361688" y="1764792"/>
            <a:ext cx="3474720" cy="978408"/>
          </a:xfrm>
          <a:prstGeom prst="rect">
            <a:avLst/>
          </a:prstGeom>
          <a:noFill/>
        </p:spPr>
        <p:txBody>
          <a:bodyPr wrap="square" lIns="45720" rIns="45720" tIns="27432" bIns="27432" anchor="t">
            <a:spAutoFit/>
          </a:bodyPr>
          <a:lstStyle/>
          <a:p>
            <a:pPr algn="l">
              <a:lnSpc>
                <a:spcPct val="112000"/>
              </a:lnSpc>
            </a:pPr>
            <a:r>
              <a:rPr sz="1500" b="0" i="0">
                <a:solidFill>
                  <a:srgbClr val="111111"/>
                </a:solidFill>
                <a:latin typeface="Arial"/>
              </a:rPr>
              <a:t>A case must replay. Grades: A executable, B trace, C narrative.</a:t>
            </a:r>
          </a:p>
        </p:txBody>
      </p:sp>
      <p:sp>
        <p:nvSpPr>
          <p:cNvPr id="17" name="Rounded Rectangle 16"/>
          <p:cNvSpPr/>
          <p:nvPr/>
        </p:nvSpPr>
        <p:spPr>
          <a:xfrm>
            <a:off x="8083296" y="1325880"/>
            <a:ext cx="3657600" cy="1481328"/>
          </a:xfrm>
          <a:prstGeom prst="roundRect">
            <a:avLst>
              <a:gd name="adj" fmla="val 6000"/>
            </a:avLst>
          </a:prstGeom>
          <a:solidFill>
            <a:srgbClr val="EDF4FB"/>
          </a:solidFill>
          <a:ln w="12700">
            <a:solidFill>
              <a:srgbClr val="365E9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8193024" y="1435608"/>
            <a:ext cx="274320" cy="274320"/>
          </a:xfrm>
          <a:prstGeom prst="ellipse">
            <a:avLst/>
          </a:prstGeom>
          <a:solidFill>
            <a:srgbClr val="365E9E"/>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i="0">
                <a:solidFill>
                  <a:srgbClr val="FFFFFF"/>
                </a:solidFill>
                <a:latin typeface="Arial"/>
              </a:rPr>
              <a:t>3</a:t>
            </a:r>
          </a:p>
        </p:txBody>
      </p:sp>
      <p:sp>
        <p:nvSpPr>
          <p:cNvPr id="19" name="TextBox 18"/>
          <p:cNvSpPr txBox="1"/>
          <p:nvPr/>
        </p:nvSpPr>
        <p:spPr>
          <a:xfrm>
            <a:off x="8540496" y="1399032"/>
            <a:ext cx="3108960" cy="365760"/>
          </a:xfrm>
          <a:prstGeom prst="rect">
            <a:avLst/>
          </a:prstGeom>
          <a:noFill/>
        </p:spPr>
        <p:txBody>
          <a:bodyPr wrap="square" lIns="45720" rIns="45720" tIns="27432" bIns="27432" anchor="t">
            <a:spAutoFit/>
          </a:bodyPr>
          <a:lstStyle/>
          <a:p>
            <a:pPr algn="l">
              <a:lnSpc>
                <a:spcPct val="110000"/>
              </a:lnSpc>
            </a:pPr>
            <a:r>
              <a:rPr sz="1400" b="1" i="0">
                <a:solidFill>
                  <a:srgbClr val="111111"/>
                </a:solidFill>
                <a:latin typeface="Arial"/>
              </a:rPr>
              <a:t>Every incident has a benign twin</a:t>
            </a:r>
          </a:p>
        </p:txBody>
      </p:sp>
      <p:sp>
        <p:nvSpPr>
          <p:cNvPr id="20" name="TextBox 19"/>
          <p:cNvSpPr txBox="1"/>
          <p:nvPr/>
        </p:nvSpPr>
        <p:spPr>
          <a:xfrm>
            <a:off x="8174736" y="1764792"/>
            <a:ext cx="3474720" cy="978408"/>
          </a:xfrm>
          <a:prstGeom prst="rect">
            <a:avLst/>
          </a:prstGeom>
          <a:noFill/>
        </p:spPr>
        <p:txBody>
          <a:bodyPr wrap="square" lIns="45720" rIns="45720" tIns="27432" bIns="27432" anchor="t">
            <a:spAutoFit/>
          </a:bodyPr>
          <a:lstStyle/>
          <a:p>
            <a:pPr algn="l">
              <a:lnSpc>
                <a:spcPct val="112000"/>
              </a:lnSpc>
            </a:pPr>
            <a:r>
              <a:rPr sz="1500" b="0" i="0">
                <a:solidFill>
                  <a:srgbClr val="111111"/>
                </a:solidFill>
                <a:latin typeface="Arial"/>
              </a:rPr>
              <a:t>A fix that blocks the twin counts as a false refusal.</a:t>
            </a:r>
          </a:p>
        </p:txBody>
      </p:sp>
      <p:sp>
        <p:nvSpPr>
          <p:cNvPr id="21" name="Rounded Rectangle 20"/>
          <p:cNvSpPr/>
          <p:nvPr/>
        </p:nvSpPr>
        <p:spPr>
          <a:xfrm>
            <a:off x="457200" y="2916936"/>
            <a:ext cx="3657600" cy="1481328"/>
          </a:xfrm>
          <a:prstGeom prst="roundRect">
            <a:avLst>
              <a:gd name="adj" fmla="val 6000"/>
            </a:avLst>
          </a:prstGeom>
          <a:solidFill>
            <a:srgbClr val="FFFFFF"/>
          </a:solidFill>
          <a:ln w="12700">
            <a:solidFill>
              <a:srgbClr val="365E9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566928" y="3026664"/>
            <a:ext cx="274320" cy="274320"/>
          </a:xfrm>
          <a:prstGeom prst="ellipse">
            <a:avLst/>
          </a:prstGeom>
          <a:solidFill>
            <a:srgbClr val="365E9E"/>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i="0">
                <a:solidFill>
                  <a:srgbClr val="FFFFFF"/>
                </a:solidFill>
                <a:latin typeface="Arial"/>
              </a:rPr>
              <a:t>4</a:t>
            </a:r>
          </a:p>
        </p:txBody>
      </p:sp>
      <p:sp>
        <p:nvSpPr>
          <p:cNvPr id="23" name="TextBox 22"/>
          <p:cNvSpPr txBox="1"/>
          <p:nvPr/>
        </p:nvSpPr>
        <p:spPr>
          <a:xfrm>
            <a:off x="914400" y="2990088"/>
            <a:ext cx="3108960" cy="365760"/>
          </a:xfrm>
          <a:prstGeom prst="rect">
            <a:avLst/>
          </a:prstGeom>
          <a:noFill/>
        </p:spPr>
        <p:txBody>
          <a:bodyPr wrap="square" lIns="45720" rIns="45720" tIns="27432" bIns="27432" anchor="t">
            <a:spAutoFit/>
          </a:bodyPr>
          <a:lstStyle/>
          <a:p>
            <a:pPr algn="l">
              <a:lnSpc>
                <a:spcPct val="110000"/>
              </a:lnSpc>
            </a:pPr>
            <a:r>
              <a:rPr sz="1400" b="1" i="0">
                <a:solidFill>
                  <a:srgbClr val="111111"/>
                </a:solidFill>
                <a:latin typeface="Arial"/>
              </a:rPr>
              <a:t>Development feedback only</a:t>
            </a:r>
          </a:p>
        </p:txBody>
      </p:sp>
      <p:sp>
        <p:nvSpPr>
          <p:cNvPr id="24" name="TextBox 23"/>
          <p:cNvSpPr txBox="1"/>
          <p:nvPr/>
        </p:nvSpPr>
        <p:spPr>
          <a:xfrm>
            <a:off x="548640" y="3355848"/>
            <a:ext cx="3474720" cy="978408"/>
          </a:xfrm>
          <a:prstGeom prst="rect">
            <a:avLst/>
          </a:prstGeom>
          <a:noFill/>
        </p:spPr>
        <p:txBody>
          <a:bodyPr wrap="square" lIns="45720" rIns="45720" tIns="27432" bIns="27432" anchor="t">
            <a:spAutoFit/>
          </a:bodyPr>
          <a:lstStyle/>
          <a:p>
            <a:pPr algn="l">
              <a:lnSpc>
                <a:spcPct val="112000"/>
              </a:lnSpc>
            </a:pPr>
            <a:r>
              <a:rPr sz="1500" b="0" i="0">
                <a:solidFill>
                  <a:srgbClr val="111111"/>
                </a:solidFill>
                <a:latin typeface="Arial"/>
              </a:rPr>
              <a:t>Held-out by lineage and by date; the proposer sees aggregates.</a:t>
            </a:r>
          </a:p>
        </p:txBody>
      </p:sp>
      <p:sp>
        <p:nvSpPr>
          <p:cNvPr id="25" name="Rounded Rectangle 24"/>
          <p:cNvSpPr/>
          <p:nvPr/>
        </p:nvSpPr>
        <p:spPr>
          <a:xfrm>
            <a:off x="4270248" y="2916936"/>
            <a:ext cx="3657600" cy="1481328"/>
          </a:xfrm>
          <a:prstGeom prst="roundRect">
            <a:avLst>
              <a:gd name="adj" fmla="val 6000"/>
            </a:avLst>
          </a:prstGeom>
          <a:solidFill>
            <a:srgbClr val="EDF4FB"/>
          </a:solidFill>
          <a:ln w="12700">
            <a:solidFill>
              <a:srgbClr val="365E9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4379976" y="3026664"/>
            <a:ext cx="274320" cy="274320"/>
          </a:xfrm>
          <a:prstGeom prst="ellipse">
            <a:avLst/>
          </a:prstGeom>
          <a:solidFill>
            <a:srgbClr val="365E9E"/>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i="0">
                <a:solidFill>
                  <a:srgbClr val="FFFFFF"/>
                </a:solidFill>
                <a:latin typeface="Arial"/>
              </a:rPr>
              <a:t>5</a:t>
            </a:r>
          </a:p>
        </p:txBody>
      </p:sp>
      <p:sp>
        <p:nvSpPr>
          <p:cNvPr id="27" name="TextBox 26"/>
          <p:cNvSpPr txBox="1"/>
          <p:nvPr/>
        </p:nvSpPr>
        <p:spPr>
          <a:xfrm>
            <a:off x="4727448" y="2990088"/>
            <a:ext cx="3108960" cy="365760"/>
          </a:xfrm>
          <a:prstGeom prst="rect">
            <a:avLst/>
          </a:prstGeom>
          <a:noFill/>
        </p:spPr>
        <p:txBody>
          <a:bodyPr wrap="square" lIns="45720" rIns="45720" tIns="27432" bIns="27432" anchor="t">
            <a:spAutoFit/>
          </a:bodyPr>
          <a:lstStyle/>
          <a:p>
            <a:pPr algn="l">
              <a:lnSpc>
                <a:spcPct val="110000"/>
              </a:lnSpc>
            </a:pPr>
            <a:r>
              <a:rPr sz="1400" b="1" i="0">
                <a:solidFill>
                  <a:srgbClr val="111111"/>
                </a:solidFill>
                <a:latin typeface="Arial"/>
              </a:rPr>
              <a:t>Constrained optimisation</a:t>
            </a:r>
          </a:p>
        </p:txBody>
      </p:sp>
      <p:sp>
        <p:nvSpPr>
          <p:cNvPr id="28" name="TextBox 27"/>
          <p:cNvSpPr txBox="1"/>
          <p:nvPr/>
        </p:nvSpPr>
        <p:spPr>
          <a:xfrm>
            <a:off x="4361688" y="3355848"/>
            <a:ext cx="3474720" cy="978408"/>
          </a:xfrm>
          <a:prstGeom prst="rect">
            <a:avLst/>
          </a:prstGeom>
          <a:noFill/>
        </p:spPr>
        <p:txBody>
          <a:bodyPr wrap="square" lIns="45720" rIns="45720" tIns="27432" bIns="27432" anchor="t">
            <a:spAutoFit/>
          </a:bodyPr>
          <a:lstStyle/>
          <a:p>
            <a:pPr algn="l">
              <a:lnSpc>
                <a:spcPct val="112000"/>
              </a:lnSpc>
            </a:pPr>
            <a:r>
              <a:rPr sz="1500" b="0" i="0">
                <a:solidFill>
                  <a:srgbClr val="111111"/>
                </a:solidFill>
                <a:latin typeface="Arial"/>
              </a:rPr>
              <a:t>min R s.t. utility, cost, refusals and zero regressions.</a:t>
            </a:r>
          </a:p>
        </p:txBody>
      </p:sp>
      <p:sp>
        <p:nvSpPr>
          <p:cNvPr id="29" name="Rounded Rectangle 28"/>
          <p:cNvSpPr/>
          <p:nvPr/>
        </p:nvSpPr>
        <p:spPr>
          <a:xfrm>
            <a:off x="8083296" y="2916936"/>
            <a:ext cx="3657600" cy="1481328"/>
          </a:xfrm>
          <a:prstGeom prst="roundRect">
            <a:avLst>
              <a:gd name="adj" fmla="val 6000"/>
            </a:avLst>
          </a:prstGeom>
          <a:solidFill>
            <a:srgbClr val="FFFFFF"/>
          </a:solidFill>
          <a:ln w="12700">
            <a:solidFill>
              <a:srgbClr val="365E9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8193024" y="3026664"/>
            <a:ext cx="274320" cy="274320"/>
          </a:xfrm>
          <a:prstGeom prst="ellipse">
            <a:avLst/>
          </a:prstGeom>
          <a:solidFill>
            <a:srgbClr val="365E9E"/>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i="0">
                <a:solidFill>
                  <a:srgbClr val="FFFFFF"/>
                </a:solidFill>
                <a:latin typeface="Arial"/>
              </a:rPr>
              <a:t>6</a:t>
            </a:r>
          </a:p>
        </p:txBody>
      </p:sp>
      <p:sp>
        <p:nvSpPr>
          <p:cNvPr id="31" name="TextBox 30"/>
          <p:cNvSpPr txBox="1"/>
          <p:nvPr/>
        </p:nvSpPr>
        <p:spPr>
          <a:xfrm>
            <a:off x="8540496" y="2990088"/>
            <a:ext cx="3108960" cy="365760"/>
          </a:xfrm>
          <a:prstGeom prst="rect">
            <a:avLst/>
          </a:prstGeom>
          <a:noFill/>
        </p:spPr>
        <p:txBody>
          <a:bodyPr wrap="square" lIns="45720" rIns="45720" tIns="27432" bIns="27432" anchor="t">
            <a:spAutoFit/>
          </a:bodyPr>
          <a:lstStyle/>
          <a:p>
            <a:pPr algn="l">
              <a:lnSpc>
                <a:spcPct val="110000"/>
              </a:lnSpc>
            </a:pPr>
            <a:r>
              <a:rPr sz="1400" b="1" i="0">
                <a:solidFill>
                  <a:srgbClr val="111111"/>
                </a:solidFill>
                <a:latin typeface="Arial"/>
              </a:rPr>
              <a:t>Grounded changes</a:t>
            </a:r>
          </a:p>
        </p:txBody>
      </p:sp>
      <p:sp>
        <p:nvSpPr>
          <p:cNvPr id="32" name="TextBox 31"/>
          <p:cNvSpPr txBox="1"/>
          <p:nvPr/>
        </p:nvSpPr>
        <p:spPr>
          <a:xfrm>
            <a:off x="8174736" y="3355848"/>
            <a:ext cx="3474720" cy="978408"/>
          </a:xfrm>
          <a:prstGeom prst="rect">
            <a:avLst/>
          </a:prstGeom>
          <a:noFill/>
        </p:spPr>
        <p:txBody>
          <a:bodyPr wrap="square" lIns="45720" rIns="45720" tIns="27432" bIns="27432" anchor="t">
            <a:spAutoFit/>
          </a:bodyPr>
          <a:lstStyle/>
          <a:p>
            <a:pPr algn="l">
              <a:lnSpc>
                <a:spcPct val="112000"/>
              </a:lnSpc>
            </a:pPr>
            <a:r>
              <a:rPr sz="1500" b="0" i="0">
                <a:solidFill>
                  <a:srgbClr val="111111"/>
                </a:solidFill>
                <a:latin typeface="Arial"/>
              </a:rPr>
              <a:t>Clauses from a reviewed catalog; thresholds from benign data.</a:t>
            </a:r>
          </a:p>
        </p:txBody>
      </p:sp>
      <p:sp>
        <p:nvSpPr>
          <p:cNvPr id="33" name="Rounded Rectangle 32"/>
          <p:cNvSpPr/>
          <p:nvPr/>
        </p:nvSpPr>
        <p:spPr>
          <a:xfrm>
            <a:off x="457200" y="4507992"/>
            <a:ext cx="11274552" cy="1481328"/>
          </a:xfrm>
          <a:prstGeom prst="roundRect">
            <a:avLst>
              <a:gd name="adj" fmla="val 6000"/>
            </a:avLst>
          </a:prstGeom>
          <a:solidFill>
            <a:srgbClr val="EDF4FB"/>
          </a:solidFill>
          <a:ln w="12700">
            <a:solidFill>
              <a:srgbClr val="365E9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566928" y="4617720"/>
            <a:ext cx="274320" cy="274320"/>
          </a:xfrm>
          <a:prstGeom prst="ellipse">
            <a:avLst/>
          </a:prstGeom>
          <a:solidFill>
            <a:srgbClr val="365E9E"/>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i="0">
                <a:solidFill>
                  <a:srgbClr val="FFFFFF"/>
                </a:solidFill>
                <a:latin typeface="Arial"/>
              </a:rPr>
              <a:t>7</a:t>
            </a:r>
          </a:p>
        </p:txBody>
      </p:sp>
      <p:sp>
        <p:nvSpPr>
          <p:cNvPr id="35" name="TextBox 34"/>
          <p:cNvSpPr txBox="1"/>
          <p:nvPr/>
        </p:nvSpPr>
        <p:spPr>
          <a:xfrm>
            <a:off x="914400" y="4581144"/>
            <a:ext cx="10725912" cy="365760"/>
          </a:xfrm>
          <a:prstGeom prst="rect">
            <a:avLst/>
          </a:prstGeom>
          <a:noFill/>
        </p:spPr>
        <p:txBody>
          <a:bodyPr wrap="square" lIns="45720" rIns="45720" tIns="27432" bIns="27432" anchor="t">
            <a:spAutoFit/>
          </a:bodyPr>
          <a:lstStyle/>
          <a:p>
            <a:pPr algn="l">
              <a:lnSpc>
                <a:spcPct val="110000"/>
              </a:lnSpc>
            </a:pPr>
            <a:r>
              <a:rPr sz="1400" b="1" i="0">
                <a:solidFill>
                  <a:srgbClr val="111111"/>
                </a:solidFill>
                <a:latin typeface="Arial"/>
              </a:rPr>
              <a:t>Human gates, versioned releases</a:t>
            </a:r>
          </a:p>
        </p:txBody>
      </p:sp>
      <p:sp>
        <p:nvSpPr>
          <p:cNvPr id="36" name="TextBox 35"/>
          <p:cNvSpPr txBox="1"/>
          <p:nvPr/>
        </p:nvSpPr>
        <p:spPr>
          <a:xfrm>
            <a:off x="548640" y="4946904"/>
            <a:ext cx="11091672" cy="978408"/>
          </a:xfrm>
          <a:prstGeom prst="rect">
            <a:avLst/>
          </a:prstGeom>
          <a:noFill/>
        </p:spPr>
        <p:txBody>
          <a:bodyPr wrap="square" lIns="45720" rIns="45720" tIns="27432" bIns="27432" anchor="t">
            <a:spAutoFit/>
          </a:bodyPr>
          <a:lstStyle/>
          <a:p>
            <a:pPr algn="l">
              <a:lnSpc>
                <a:spcPct val="112000"/>
              </a:lnSpc>
            </a:pPr>
            <a:r>
              <a:rPr sz="1500" b="0" i="0">
                <a:solidFill>
                  <a:srgbClr val="111111"/>
                </a:solidFill>
                <a:latin typeface="Arial"/>
              </a:rPr>
              <a:t>Signed, diffable, rollback-able.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82296" cy="566928"/>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301752"/>
            <a:ext cx="10515600" cy="548640"/>
          </a:xfrm>
          <a:prstGeom prst="rect">
            <a:avLst/>
          </a:prstGeom>
          <a:noFill/>
        </p:spPr>
        <p:txBody>
          <a:bodyPr wrap="square" lIns="45720" rIns="45720" tIns="27432" bIns="27432" anchor="ctr">
            <a:spAutoFit/>
          </a:bodyPr>
          <a:lstStyle/>
          <a:p>
            <a:pPr algn="l">
              <a:lnSpc>
                <a:spcPct val="110000"/>
              </a:lnSpc>
            </a:pPr>
            <a:r>
              <a:rPr sz="2600" b="1" i="0">
                <a:solidFill>
                  <a:srgbClr val="111111"/>
                </a:solidFill>
                <a:latin typeface="Arial"/>
              </a:rPr>
              <a:t>Component 1 · Incident intake</a:t>
            </a:r>
          </a:p>
        </p:txBody>
      </p:sp>
      <p:sp>
        <p:nvSpPr>
          <p:cNvPr id="4" name="TextBox 3"/>
          <p:cNvSpPr txBox="1"/>
          <p:nvPr/>
        </p:nvSpPr>
        <p:spPr>
          <a:xfrm>
            <a:off x="640080" y="868680"/>
            <a:ext cx="10972800" cy="365760"/>
          </a:xfrm>
          <a:prstGeom prst="rect">
            <a:avLst/>
          </a:prstGeom>
          <a:noFill/>
        </p:spPr>
        <p:txBody>
          <a:bodyPr wrap="square" lIns="45720" rIns="45720" tIns="27432" bIns="27432" anchor="t">
            <a:spAutoFit/>
          </a:bodyPr>
          <a:lstStyle/>
          <a:p>
            <a:pPr algn="l">
              <a:lnSpc>
                <a:spcPct val="110000"/>
              </a:lnSpc>
            </a:pPr>
            <a:r>
              <a:rPr sz="1300" b="0" i="0">
                <a:solidFill>
                  <a:srgbClr val="666666"/>
                </a:solidFill>
                <a:latin typeface="Arial"/>
              </a:rPr>
              <a:t>From the web and from your own runs</a:t>
            </a:r>
          </a:p>
        </p:txBody>
      </p:sp>
      <p:sp>
        <p:nvSpPr>
          <p:cNvPr id="5" name="TextBox 4"/>
          <p:cNvSpPr txBox="1"/>
          <p:nvPr/>
        </p:nvSpPr>
        <p:spPr>
          <a:xfrm>
            <a:off x="8503920" y="109728"/>
            <a:ext cx="3200400" cy="274320"/>
          </a:xfrm>
          <a:prstGeom prst="rect">
            <a:avLst/>
          </a:prstGeom>
          <a:noFill/>
        </p:spPr>
        <p:txBody>
          <a:bodyPr wrap="square" lIns="45720" rIns="45720" tIns="27432" bIns="27432" anchor="t">
            <a:spAutoFit/>
          </a:bodyPr>
          <a:lstStyle/>
          <a:p>
            <a:pPr algn="r">
              <a:lnSpc>
                <a:spcPct val="110000"/>
              </a:lnSpc>
            </a:pPr>
            <a:r>
              <a:rPr sz="900" b="1" i="0">
                <a:solidFill>
                  <a:srgbClr val="365E9E"/>
                </a:solidFill>
                <a:latin typeface="Arial"/>
              </a:rPr>
              <a:t>4 · COMPONENTS</a:t>
            </a:r>
          </a:p>
        </p:txBody>
      </p:sp>
      <p:cxnSp>
        <p:nvCxnSpPr>
          <p:cNvPr id="6" name="Connector 5"/>
          <p:cNvCxnSpPr/>
          <p:nvPr/>
        </p:nvCxnSpPr>
        <p:spPr>
          <a:xfrm>
            <a:off x="457200" y="6446520"/>
            <a:ext cx="11277295" cy="0"/>
          </a:xfrm>
          <a:prstGeom prst="line">
            <a:avLst/>
          </a:prstGeom>
          <a:ln w="6350">
            <a:solidFill>
              <a:srgbClr val="C9C9C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57200" y="6473952"/>
            <a:ext cx="10058400" cy="274320"/>
          </a:xfrm>
          <a:prstGeom prst="rect">
            <a:avLst/>
          </a:prstGeom>
          <a:noFill/>
        </p:spPr>
        <p:txBody>
          <a:bodyPr wrap="square" lIns="45720" rIns="45720" tIns="27432" bIns="27432" anchor="t">
            <a:spAutoFit/>
          </a:bodyPr>
          <a:lstStyle/>
          <a:p>
            <a:pPr algn="l">
              <a:lnSpc>
                <a:spcPct val="110000"/>
              </a:lnSpc>
            </a:pPr>
            <a:r>
              <a:rPr sz="800" b="0" i="0">
                <a:solidFill>
                  <a:srgbClr val="666666"/>
                </a:solidFill>
                <a:latin typeface="Arial"/>
              </a:rPr>
              <a:t>Incident-aware optimization · design proposal · containment-extension · October 2026 · no benchmark improvement measured</a:t>
            </a:r>
          </a:p>
        </p:txBody>
      </p:sp>
      <p:sp>
        <p:nvSpPr>
          <p:cNvPr id="8" name="TextBox 7"/>
          <p:cNvSpPr txBox="1"/>
          <p:nvPr/>
        </p:nvSpPr>
        <p:spPr>
          <a:xfrm>
            <a:off x="10820095" y="6473952"/>
            <a:ext cx="914400" cy="274320"/>
          </a:xfrm>
          <a:prstGeom prst="rect">
            <a:avLst/>
          </a:prstGeom>
          <a:noFill/>
        </p:spPr>
        <p:txBody>
          <a:bodyPr wrap="square" lIns="45720" rIns="45720" tIns="27432" bIns="27432" anchor="t">
            <a:spAutoFit/>
          </a:bodyPr>
          <a:lstStyle/>
          <a:p>
            <a:pPr algn="r">
              <a:lnSpc>
                <a:spcPct val="110000"/>
              </a:lnSpc>
            </a:pPr>
            <a:r>
              <a:rPr sz="900" b="0" i="0">
                <a:solidFill>
                  <a:srgbClr val="666666"/>
                </a:solidFill>
                <a:latin typeface="Arial"/>
              </a:rPr>
              <a:t>15</a:t>
            </a:r>
          </a:p>
        </p:txBody>
      </p:sp>
      <p:sp>
        <p:nvSpPr>
          <p:cNvPr id="9" name="Rounded Rectangle 8"/>
          <p:cNvSpPr/>
          <p:nvPr/>
        </p:nvSpPr>
        <p:spPr>
          <a:xfrm>
            <a:off x="457200" y="1325880"/>
            <a:ext cx="3291840" cy="2651760"/>
          </a:xfrm>
          <a:prstGeom prst="roundRect">
            <a:avLst>
              <a:gd name="adj" fmla="val 6000"/>
            </a:avLst>
          </a:prstGeom>
          <a:solidFill>
            <a:srgbClr val="EDF4FB"/>
          </a:solidFill>
          <a:ln w="12700">
            <a:solidFill>
              <a:srgbClr val="365E9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1399032"/>
            <a:ext cx="3090672" cy="365760"/>
          </a:xfrm>
          <a:prstGeom prst="rect">
            <a:avLst/>
          </a:prstGeom>
          <a:noFill/>
        </p:spPr>
        <p:txBody>
          <a:bodyPr wrap="square" lIns="45720" rIns="45720" tIns="27432" bIns="27432" anchor="t">
            <a:spAutoFit/>
          </a:bodyPr>
          <a:lstStyle/>
          <a:p>
            <a:pPr algn="l">
              <a:lnSpc>
                <a:spcPct val="110000"/>
              </a:lnSpc>
            </a:pPr>
            <a:r>
              <a:rPr sz="1600" b="1" i="0">
                <a:solidFill>
                  <a:srgbClr val="365E9E"/>
                </a:solidFill>
                <a:latin typeface="Arial"/>
              </a:rPr>
              <a:t>Sources</a:t>
            </a:r>
          </a:p>
        </p:txBody>
      </p:sp>
      <p:sp>
        <p:nvSpPr>
          <p:cNvPr id="11" name="TextBox 10"/>
          <p:cNvSpPr txBox="1"/>
          <p:nvPr/>
        </p:nvSpPr>
        <p:spPr>
          <a:xfrm>
            <a:off x="530352" y="1764792"/>
            <a:ext cx="3145536" cy="2148840"/>
          </a:xfrm>
          <a:prstGeom prst="rect">
            <a:avLst/>
          </a:prstGeom>
          <a:noFill/>
        </p:spPr>
        <p:txBody>
          <a:bodyPr wrap="square" lIns="45720" rIns="45720">
            <a:spAutoFit/>
          </a:bodyPr>
          <a:lstStyle/>
          <a:p>
            <a:pPr>
              <a:lnSpc>
                <a:spcPct val="108000"/>
              </a:lnSpc>
              <a:spcAft>
                <a:spcPts val="200"/>
              </a:spcAft>
            </a:pPr>
            <a:r>
              <a:rPr sz="1500" b="0" i="0">
                <a:solidFill>
                  <a:srgbClr val="111111"/>
                </a:solidFill>
                <a:latin typeface="Arial"/>
              </a:rPr>
              <a:t>•  Own Inspect logs, scanned with Inspect Scout</a:t>
            </a:r>
          </a:p>
          <a:p>
            <a:pPr>
              <a:lnSpc>
                <a:spcPct val="108000"/>
              </a:lnSpc>
              <a:spcAft>
                <a:spcPts val="200"/>
              </a:spcAft>
            </a:pPr>
            <a:r>
              <a:rPr sz="1500" b="0" i="0">
                <a:solidFill>
                  <a:srgbClr val="111111"/>
                </a:solidFill>
                <a:latin typeface="Arial"/>
              </a:rPr>
              <a:t>•  AI Incident Database, OECD AI Incident Monitor, MIT AI Risk Repository</a:t>
            </a:r>
          </a:p>
          <a:p>
            <a:pPr>
              <a:lnSpc>
                <a:spcPct val="108000"/>
              </a:lnSpc>
              <a:spcAft>
                <a:spcPts val="200"/>
              </a:spcAft>
            </a:pPr>
            <a:r>
              <a:rPr sz="1500" b="0" i="0">
                <a:solidFill>
                  <a:srgbClr val="111111"/>
                </a:solidFill>
                <a:latin typeface="Arial"/>
              </a:rPr>
              <a:t>•  Postmortems, issues, advisories; provenance kept</a:t>
            </a:r>
          </a:p>
        </p:txBody>
      </p:sp>
      <p:sp>
        <p:nvSpPr>
          <p:cNvPr id="12" name="Right Arrow 11"/>
          <p:cNvSpPr/>
          <p:nvPr/>
        </p:nvSpPr>
        <p:spPr>
          <a:xfrm>
            <a:off x="3840480" y="2514600"/>
            <a:ext cx="320040" cy="274320"/>
          </a:xfrm>
          <a:prstGeom prst="rightArrow">
            <a:avLst/>
          </a:prstGeom>
          <a:solidFill>
            <a:srgbClr val="365E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251960" y="1325880"/>
            <a:ext cx="3657600" cy="2651760"/>
          </a:xfrm>
          <a:prstGeom prst="roundRect">
            <a:avLst>
              <a:gd name="adj" fmla="val 6000"/>
            </a:avLst>
          </a:prstGeom>
          <a:solidFill>
            <a:srgbClr val="EDF4FB"/>
          </a:solidFill>
          <a:ln w="12700">
            <a:solidFill>
              <a:srgbClr val="365E9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361688" y="1399032"/>
            <a:ext cx="3456432" cy="365760"/>
          </a:xfrm>
          <a:prstGeom prst="rect">
            <a:avLst/>
          </a:prstGeom>
          <a:noFill/>
        </p:spPr>
        <p:txBody>
          <a:bodyPr wrap="square" lIns="45720" rIns="45720" tIns="27432" bIns="27432" anchor="t">
            <a:spAutoFit/>
          </a:bodyPr>
          <a:lstStyle/>
          <a:p>
            <a:pPr algn="l">
              <a:lnSpc>
                <a:spcPct val="110000"/>
              </a:lnSpc>
            </a:pPr>
            <a:r>
              <a:rPr sz="1600" b="1" i="0">
                <a:solidFill>
                  <a:srgbClr val="365E9E"/>
                </a:solidFill>
                <a:latin typeface="Arial"/>
              </a:rPr>
              <a:t>Intake agent</a:t>
            </a:r>
          </a:p>
        </p:txBody>
      </p:sp>
      <p:sp>
        <p:nvSpPr>
          <p:cNvPr id="15" name="TextBox 14"/>
          <p:cNvSpPr txBox="1"/>
          <p:nvPr/>
        </p:nvSpPr>
        <p:spPr>
          <a:xfrm>
            <a:off x="4325112" y="1764792"/>
            <a:ext cx="3511296" cy="2148840"/>
          </a:xfrm>
          <a:prstGeom prst="rect">
            <a:avLst/>
          </a:prstGeom>
          <a:noFill/>
        </p:spPr>
        <p:txBody>
          <a:bodyPr wrap="square" lIns="45720" rIns="45720">
            <a:spAutoFit/>
          </a:bodyPr>
          <a:lstStyle/>
          <a:p>
            <a:pPr>
              <a:lnSpc>
                <a:spcPct val="108000"/>
              </a:lnSpc>
              <a:spcAft>
                <a:spcPts val="200"/>
              </a:spcAft>
            </a:pPr>
            <a:r>
              <a:rPr sz="1500" b="0" i="0">
                <a:solidFill>
                  <a:srgbClr val="111111"/>
                </a:solidFill>
                <a:latin typeface="Arial"/>
              </a:rPr>
              <a:t>•  Normalise to one incident schema</a:t>
            </a:r>
          </a:p>
          <a:p>
            <a:pPr>
              <a:lnSpc>
                <a:spcPct val="108000"/>
              </a:lnSpc>
              <a:spcAft>
                <a:spcPts val="200"/>
              </a:spcAft>
            </a:pPr>
            <a:r>
              <a:rPr sz="1500" b="0" i="0">
                <a:solidFill>
                  <a:srgbClr val="111111"/>
                </a:solidFill>
                <a:latin typeface="Arial"/>
              </a:rPr>
              <a:t>•  Taxonomy from MITRE ATLAS and OWASP agentic threats; dedupe</a:t>
            </a:r>
          </a:p>
          <a:p>
            <a:pPr>
              <a:lnSpc>
                <a:spcPct val="108000"/>
              </a:lnSpc>
              <a:spcAft>
                <a:spcPts val="200"/>
              </a:spcAft>
            </a:pPr>
            <a:r>
              <a:rPr sz="1500" b="0" i="0">
                <a:solidFill>
                  <a:srgbClr val="111111"/>
                </a:solidFill>
                <a:latin typeface="Arial"/>
              </a:rPr>
              <a:t>•  Grade evidence: A executable, B trace, C narrative</a:t>
            </a:r>
          </a:p>
        </p:txBody>
      </p:sp>
      <p:sp>
        <p:nvSpPr>
          <p:cNvPr id="16" name="Right Arrow 15"/>
          <p:cNvSpPr/>
          <p:nvPr/>
        </p:nvSpPr>
        <p:spPr>
          <a:xfrm>
            <a:off x="8001000" y="2514600"/>
            <a:ext cx="320040" cy="274320"/>
          </a:xfrm>
          <a:prstGeom prst="rightArrow">
            <a:avLst/>
          </a:prstGeom>
          <a:solidFill>
            <a:srgbClr val="365E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412480" y="1325880"/>
            <a:ext cx="3319272" cy="2651760"/>
          </a:xfrm>
          <a:prstGeom prst="roundRect">
            <a:avLst>
              <a:gd name="adj" fmla="val 6000"/>
            </a:avLst>
          </a:prstGeom>
          <a:solidFill>
            <a:srgbClr val="FBEFEC"/>
          </a:solidFill>
          <a:ln w="12700">
            <a:solidFill>
              <a:srgbClr val="B348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522208" y="1399032"/>
            <a:ext cx="3118104" cy="365760"/>
          </a:xfrm>
          <a:prstGeom prst="rect">
            <a:avLst/>
          </a:prstGeom>
          <a:noFill/>
        </p:spPr>
        <p:txBody>
          <a:bodyPr wrap="square" lIns="45720" rIns="45720" tIns="27432" bIns="27432" anchor="t">
            <a:spAutoFit/>
          </a:bodyPr>
          <a:lstStyle/>
          <a:p>
            <a:pPr algn="l">
              <a:lnSpc>
                <a:spcPct val="110000"/>
              </a:lnSpc>
            </a:pPr>
            <a:r>
              <a:rPr sz="1600" b="1" i="0">
                <a:solidFill>
                  <a:srgbClr val="B34831"/>
                </a:solidFill>
                <a:latin typeface="Arial"/>
              </a:rPr>
              <a:t>Human review gate</a:t>
            </a:r>
          </a:p>
        </p:txBody>
      </p:sp>
      <p:sp>
        <p:nvSpPr>
          <p:cNvPr id="19" name="TextBox 18"/>
          <p:cNvSpPr txBox="1"/>
          <p:nvPr/>
        </p:nvSpPr>
        <p:spPr>
          <a:xfrm>
            <a:off x="8485632" y="1764792"/>
            <a:ext cx="3172968" cy="2148840"/>
          </a:xfrm>
          <a:prstGeom prst="rect">
            <a:avLst/>
          </a:prstGeom>
          <a:noFill/>
        </p:spPr>
        <p:txBody>
          <a:bodyPr wrap="square" lIns="45720" rIns="45720">
            <a:spAutoFit/>
          </a:bodyPr>
          <a:lstStyle/>
          <a:p>
            <a:pPr>
              <a:lnSpc>
                <a:spcPct val="108000"/>
              </a:lnSpc>
              <a:spcAft>
                <a:spcPts val="200"/>
              </a:spcAft>
            </a:pPr>
            <a:r>
              <a:rPr sz="1500" b="0" i="0">
                <a:solidFill>
                  <a:srgbClr val="111111"/>
                </a:solidFill>
                <a:latin typeface="Arial"/>
              </a:rPr>
              <a:t>•  Accept, reject, defer</a:t>
            </a:r>
          </a:p>
          <a:p>
            <a:pPr>
              <a:lnSpc>
                <a:spcPct val="108000"/>
              </a:lnSpc>
              <a:spcAft>
                <a:spcPts val="200"/>
              </a:spcAft>
            </a:pPr>
            <a:r>
              <a:rPr sz="1500" b="0" i="0">
                <a:solidFill>
                  <a:srgbClr val="111111"/>
                </a:solidFill>
                <a:latin typeface="Arial"/>
              </a:rPr>
              <a:t>•  A report alone never changes a policy</a:t>
            </a:r>
          </a:p>
        </p:txBody>
      </p:sp>
      <p:sp>
        <p:nvSpPr>
          <p:cNvPr id="20" name="Rounded Rectangle 19"/>
          <p:cNvSpPr/>
          <p:nvPr/>
        </p:nvSpPr>
        <p:spPr>
          <a:xfrm>
            <a:off x="457200" y="4206240"/>
            <a:ext cx="5532120" cy="2057400"/>
          </a:xfrm>
          <a:prstGeom prst="roundRect">
            <a:avLst>
              <a:gd name="adj" fmla="val 6000"/>
            </a:avLst>
          </a:prstGeom>
          <a:solidFill>
            <a:srgbClr val="EAF5EF"/>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66928" y="4279392"/>
            <a:ext cx="5330952" cy="365760"/>
          </a:xfrm>
          <a:prstGeom prst="rect">
            <a:avLst/>
          </a:prstGeom>
          <a:noFill/>
        </p:spPr>
        <p:txBody>
          <a:bodyPr wrap="square" lIns="45720" rIns="45720" tIns="27432" bIns="27432" anchor="t">
            <a:spAutoFit/>
          </a:bodyPr>
          <a:lstStyle/>
          <a:p>
            <a:pPr algn="l">
              <a:lnSpc>
                <a:spcPct val="110000"/>
              </a:lnSpc>
            </a:pPr>
            <a:r>
              <a:rPr sz="1600" b="1" i="0">
                <a:solidFill>
                  <a:srgbClr val="2E7D5B"/>
                </a:solidFill>
                <a:latin typeface="Arial"/>
              </a:rPr>
              <a:t>Unique</a:t>
            </a:r>
          </a:p>
        </p:txBody>
      </p:sp>
      <p:sp>
        <p:nvSpPr>
          <p:cNvPr id="22" name="TextBox 21"/>
          <p:cNvSpPr txBox="1"/>
          <p:nvPr/>
        </p:nvSpPr>
        <p:spPr>
          <a:xfrm>
            <a:off x="530352" y="4645152"/>
            <a:ext cx="5385816" cy="1554480"/>
          </a:xfrm>
          <a:prstGeom prst="rect">
            <a:avLst/>
          </a:prstGeom>
          <a:noFill/>
        </p:spPr>
        <p:txBody>
          <a:bodyPr wrap="square" lIns="45720" rIns="45720">
            <a:spAutoFit/>
          </a:bodyPr>
          <a:lstStyle/>
          <a:p>
            <a:pPr>
              <a:lnSpc>
                <a:spcPct val="108000"/>
              </a:lnSpc>
              <a:spcAft>
                <a:spcPts val="200"/>
              </a:spcAft>
            </a:pPr>
            <a:r>
              <a:rPr sz="1500" b="0" i="0">
                <a:solidFill>
                  <a:srgbClr val="111111"/>
                </a:solidFill>
                <a:latin typeface="Arial"/>
              </a:rPr>
              <a:t>•  Evidence grades separate leads from facts</a:t>
            </a:r>
          </a:p>
          <a:p>
            <a:pPr>
              <a:lnSpc>
                <a:spcPct val="108000"/>
              </a:lnSpc>
              <a:spcAft>
                <a:spcPts val="200"/>
              </a:spcAft>
            </a:pPr>
            <a:r>
              <a:rPr sz="1500" b="0" i="0">
                <a:solidFill>
                  <a:srgbClr val="111111"/>
                </a:solidFill>
                <a:latin typeface="Arial"/>
              </a:rPr>
              <a:t>•  Fingerprints carry an incident across benchmarks</a:t>
            </a:r>
          </a:p>
        </p:txBody>
      </p:sp>
      <p:sp>
        <p:nvSpPr>
          <p:cNvPr id="23" name="Rounded Rectangle 22"/>
          <p:cNvSpPr/>
          <p:nvPr/>
        </p:nvSpPr>
        <p:spPr>
          <a:xfrm>
            <a:off x="6400800" y="4206240"/>
            <a:ext cx="5330952" cy="2057400"/>
          </a:xfrm>
          <a:prstGeom prst="roundRect">
            <a:avLst>
              <a:gd name="adj" fmla="val 6000"/>
            </a:avLst>
          </a:prstGeom>
          <a:solidFill>
            <a:srgbClr val="FBEFEC"/>
          </a:solidFill>
          <a:ln w="12700">
            <a:solidFill>
              <a:srgbClr val="B348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510528" y="4279392"/>
            <a:ext cx="5129784" cy="365760"/>
          </a:xfrm>
          <a:prstGeom prst="rect">
            <a:avLst/>
          </a:prstGeom>
          <a:noFill/>
        </p:spPr>
        <p:txBody>
          <a:bodyPr wrap="square" lIns="45720" rIns="45720" tIns="27432" bIns="27432" anchor="t">
            <a:spAutoFit/>
          </a:bodyPr>
          <a:lstStyle/>
          <a:p>
            <a:pPr algn="l">
              <a:lnSpc>
                <a:spcPct val="110000"/>
              </a:lnSpc>
            </a:pPr>
            <a:r>
              <a:rPr sz="1600" b="1" i="0">
                <a:solidFill>
                  <a:srgbClr val="B34831"/>
                </a:solidFill>
                <a:latin typeface="Arial"/>
              </a:rPr>
              <a:t>Threat: library poisoning</a:t>
            </a:r>
          </a:p>
        </p:txBody>
      </p:sp>
      <p:sp>
        <p:nvSpPr>
          <p:cNvPr id="25" name="TextBox 24"/>
          <p:cNvSpPr txBox="1"/>
          <p:nvPr/>
        </p:nvSpPr>
        <p:spPr>
          <a:xfrm>
            <a:off x="6473952" y="4645152"/>
            <a:ext cx="5184648" cy="1554480"/>
          </a:xfrm>
          <a:prstGeom prst="rect">
            <a:avLst/>
          </a:prstGeom>
          <a:noFill/>
        </p:spPr>
        <p:txBody>
          <a:bodyPr wrap="square" lIns="45720" rIns="45720">
            <a:spAutoFit/>
          </a:bodyPr>
          <a:lstStyle/>
          <a:p>
            <a:pPr>
              <a:lnSpc>
                <a:spcPct val="108000"/>
              </a:lnSpc>
              <a:spcAft>
                <a:spcPts val="200"/>
              </a:spcAft>
            </a:pPr>
            <a:r>
              <a:rPr sz="1500" b="0" i="0">
                <a:solidFill>
                  <a:srgbClr val="111111"/>
                </a:solidFill>
                <a:latin typeface="Arial"/>
              </a:rPr>
              <a:t>•  Web reports are untrusted input to an optimiser</a:t>
            </a:r>
          </a:p>
          <a:p>
            <a:pPr>
              <a:lnSpc>
                <a:spcPct val="108000"/>
              </a:lnSpc>
              <a:spcAft>
                <a:spcPts val="200"/>
              </a:spcAft>
            </a:pPr>
            <a:r>
              <a:rPr sz="1500" b="0" i="0">
                <a:solidFill>
                  <a:srgbClr val="111111"/>
                </a:solidFill>
                <a:latin typeface="Arial"/>
              </a:rPr>
              <a:t>•  Defence: grade, quarantine, reproduce before influence, human gate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82296" cy="566928"/>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301752"/>
            <a:ext cx="10515600" cy="548640"/>
          </a:xfrm>
          <a:prstGeom prst="rect">
            <a:avLst/>
          </a:prstGeom>
          <a:noFill/>
        </p:spPr>
        <p:txBody>
          <a:bodyPr wrap="square" lIns="45720" rIns="45720" tIns="27432" bIns="27432" anchor="ctr">
            <a:spAutoFit/>
          </a:bodyPr>
          <a:lstStyle/>
          <a:p>
            <a:pPr algn="l">
              <a:lnSpc>
                <a:spcPct val="110000"/>
              </a:lnSpc>
            </a:pPr>
            <a:r>
              <a:rPr sz="2600" b="1" i="0">
                <a:solidFill>
                  <a:srgbClr val="111111"/>
                </a:solidFill>
                <a:latin typeface="Arial"/>
              </a:rPr>
              <a:t>Component 2 · The incident library</a:t>
            </a:r>
          </a:p>
        </p:txBody>
      </p:sp>
      <p:sp>
        <p:nvSpPr>
          <p:cNvPr id="4" name="TextBox 3"/>
          <p:cNvSpPr txBox="1"/>
          <p:nvPr/>
        </p:nvSpPr>
        <p:spPr>
          <a:xfrm>
            <a:off x="640080" y="868680"/>
            <a:ext cx="10972800" cy="365760"/>
          </a:xfrm>
          <a:prstGeom prst="rect">
            <a:avLst/>
          </a:prstGeom>
          <a:noFill/>
        </p:spPr>
        <p:txBody>
          <a:bodyPr wrap="square" lIns="45720" rIns="45720" tIns="27432" bIns="27432" anchor="t">
            <a:spAutoFit/>
          </a:bodyPr>
          <a:lstStyle/>
          <a:p>
            <a:pPr algn="l">
              <a:lnSpc>
                <a:spcPct val="110000"/>
              </a:lnSpc>
            </a:pPr>
            <a:r>
              <a:rPr sz="1300" b="0" i="0">
                <a:solidFill>
                  <a:srgbClr val="666666"/>
                </a:solidFill>
                <a:latin typeface="Arial"/>
              </a:rPr>
              <a:t>Executable history with partitions</a:t>
            </a:r>
          </a:p>
        </p:txBody>
      </p:sp>
      <p:sp>
        <p:nvSpPr>
          <p:cNvPr id="5" name="TextBox 4"/>
          <p:cNvSpPr txBox="1"/>
          <p:nvPr/>
        </p:nvSpPr>
        <p:spPr>
          <a:xfrm>
            <a:off x="8503920" y="109728"/>
            <a:ext cx="3200400" cy="274320"/>
          </a:xfrm>
          <a:prstGeom prst="rect">
            <a:avLst/>
          </a:prstGeom>
          <a:noFill/>
        </p:spPr>
        <p:txBody>
          <a:bodyPr wrap="square" lIns="45720" rIns="45720" tIns="27432" bIns="27432" anchor="t">
            <a:spAutoFit/>
          </a:bodyPr>
          <a:lstStyle/>
          <a:p>
            <a:pPr algn="r">
              <a:lnSpc>
                <a:spcPct val="110000"/>
              </a:lnSpc>
            </a:pPr>
            <a:r>
              <a:rPr sz="900" b="1" i="0">
                <a:solidFill>
                  <a:srgbClr val="365E9E"/>
                </a:solidFill>
                <a:latin typeface="Arial"/>
              </a:rPr>
              <a:t>4 · COMPONENTS</a:t>
            </a:r>
          </a:p>
        </p:txBody>
      </p:sp>
      <p:cxnSp>
        <p:nvCxnSpPr>
          <p:cNvPr id="6" name="Connector 5"/>
          <p:cNvCxnSpPr/>
          <p:nvPr/>
        </p:nvCxnSpPr>
        <p:spPr>
          <a:xfrm>
            <a:off x="457200" y="6446520"/>
            <a:ext cx="11277295" cy="0"/>
          </a:xfrm>
          <a:prstGeom prst="line">
            <a:avLst/>
          </a:prstGeom>
          <a:ln w="6350">
            <a:solidFill>
              <a:srgbClr val="C9C9C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57200" y="6473952"/>
            <a:ext cx="10058400" cy="274320"/>
          </a:xfrm>
          <a:prstGeom prst="rect">
            <a:avLst/>
          </a:prstGeom>
          <a:noFill/>
        </p:spPr>
        <p:txBody>
          <a:bodyPr wrap="square" lIns="45720" rIns="45720" tIns="27432" bIns="27432" anchor="t">
            <a:spAutoFit/>
          </a:bodyPr>
          <a:lstStyle/>
          <a:p>
            <a:pPr algn="l">
              <a:lnSpc>
                <a:spcPct val="110000"/>
              </a:lnSpc>
            </a:pPr>
            <a:r>
              <a:rPr sz="800" b="0" i="0">
                <a:solidFill>
                  <a:srgbClr val="666666"/>
                </a:solidFill>
                <a:latin typeface="Arial"/>
              </a:rPr>
              <a:t>Incident-aware optimization · design proposal · containment-extension · October 2026 · no benchmark improvement measured</a:t>
            </a:r>
          </a:p>
        </p:txBody>
      </p:sp>
      <p:sp>
        <p:nvSpPr>
          <p:cNvPr id="8" name="TextBox 7"/>
          <p:cNvSpPr txBox="1"/>
          <p:nvPr/>
        </p:nvSpPr>
        <p:spPr>
          <a:xfrm>
            <a:off x="10820095" y="6473952"/>
            <a:ext cx="914400" cy="274320"/>
          </a:xfrm>
          <a:prstGeom prst="rect">
            <a:avLst/>
          </a:prstGeom>
          <a:noFill/>
        </p:spPr>
        <p:txBody>
          <a:bodyPr wrap="square" lIns="45720" rIns="45720" tIns="27432" bIns="27432" anchor="t">
            <a:spAutoFit/>
          </a:bodyPr>
          <a:lstStyle/>
          <a:p>
            <a:pPr algn="r">
              <a:lnSpc>
                <a:spcPct val="110000"/>
              </a:lnSpc>
            </a:pPr>
            <a:r>
              <a:rPr sz="900" b="0" i="0">
                <a:solidFill>
                  <a:srgbClr val="666666"/>
                </a:solidFill>
                <a:latin typeface="Arial"/>
              </a:rPr>
              <a:t>16</a:t>
            </a:r>
          </a:p>
        </p:txBody>
      </p:sp>
      <p:sp>
        <p:nvSpPr>
          <p:cNvPr id="9" name="Rounded Rectangle 8"/>
          <p:cNvSpPr/>
          <p:nvPr/>
        </p:nvSpPr>
        <p:spPr>
          <a:xfrm>
            <a:off x="457200" y="1325880"/>
            <a:ext cx="5532120" cy="4937760"/>
          </a:xfrm>
          <a:prstGeom prst="roundRect">
            <a:avLst>
              <a:gd name="adj" fmla="val 6000"/>
            </a:avLst>
          </a:prstGeom>
          <a:solidFill>
            <a:srgbClr val="EDF4FB"/>
          </a:solidFill>
          <a:ln w="12700">
            <a:solidFill>
              <a:srgbClr val="365E9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1399032"/>
            <a:ext cx="5330952" cy="365760"/>
          </a:xfrm>
          <a:prstGeom prst="rect">
            <a:avLst/>
          </a:prstGeom>
          <a:noFill/>
        </p:spPr>
        <p:txBody>
          <a:bodyPr wrap="square" lIns="45720" rIns="45720" tIns="27432" bIns="27432" anchor="t">
            <a:spAutoFit/>
          </a:bodyPr>
          <a:lstStyle/>
          <a:p>
            <a:pPr algn="l">
              <a:lnSpc>
                <a:spcPct val="110000"/>
              </a:lnSpc>
            </a:pPr>
            <a:r>
              <a:rPr sz="1600" b="1" i="0">
                <a:solidFill>
                  <a:srgbClr val="365E9E"/>
                </a:solidFill>
                <a:latin typeface="Arial"/>
              </a:rPr>
              <a:t>One case contains</a:t>
            </a:r>
          </a:p>
        </p:txBody>
      </p:sp>
      <p:sp>
        <p:nvSpPr>
          <p:cNvPr id="11" name="TextBox 10"/>
          <p:cNvSpPr txBox="1"/>
          <p:nvPr/>
        </p:nvSpPr>
        <p:spPr>
          <a:xfrm>
            <a:off x="530352" y="1764792"/>
            <a:ext cx="5385816" cy="4434840"/>
          </a:xfrm>
          <a:prstGeom prst="rect">
            <a:avLst/>
          </a:prstGeom>
          <a:noFill/>
        </p:spPr>
        <p:txBody>
          <a:bodyPr wrap="square" lIns="45720" rIns="45720">
            <a:spAutoFit/>
          </a:bodyPr>
          <a:lstStyle/>
          <a:p>
            <a:pPr>
              <a:lnSpc>
                <a:spcPct val="108000"/>
              </a:lnSpc>
              <a:spcAft>
                <a:spcPts val="200"/>
              </a:spcAft>
            </a:pPr>
            <a:r>
              <a:rPr sz="1500" b="0" i="0">
                <a:solidFill>
                  <a:srgbClr val="111111"/>
                </a:solidFill>
                <a:latin typeface="Arial"/>
              </a:rPr>
              <a:t>•  Checkpoint, authorization policy, tools</a:t>
            </a:r>
          </a:p>
          <a:p>
            <a:pPr>
              <a:lnSpc>
                <a:spcPct val="108000"/>
              </a:lnSpc>
              <a:spcAft>
                <a:spcPts val="200"/>
              </a:spcAft>
            </a:pPr>
            <a:r>
              <a:rPr sz="1500" b="0" i="0">
                <a:solidFill>
                  <a:srgbClr val="111111"/>
                </a:solidFill>
                <a:latin typeface="Arial"/>
              </a:rPr>
              <a:t>•  Exact trace and the minimal trigger</a:t>
            </a:r>
          </a:p>
          <a:p>
            <a:pPr>
              <a:lnSpc>
                <a:spcPct val="108000"/>
              </a:lnSpc>
              <a:spcAft>
                <a:spcPts val="200"/>
              </a:spcAft>
            </a:pPr>
            <a:r>
              <a:rPr sz="1500" b="0" i="0">
                <a:solidFill>
                  <a:srgbClr val="111111"/>
                </a:solidFill>
                <a:latin typeface="Arial"/>
              </a:rPr>
              <a:t>•  Expected effects</a:t>
            </a:r>
          </a:p>
          <a:p>
            <a:pPr>
              <a:lnSpc>
                <a:spcPct val="108000"/>
              </a:lnSpc>
              <a:spcAft>
                <a:spcPts val="200"/>
              </a:spcAft>
            </a:pPr>
            <a:r>
              <a:rPr sz="1500" b="0" i="0">
                <a:solidFill>
                  <a:srgbClr val="111111"/>
                </a:solidFill>
                <a:latin typeface="Arial"/>
              </a:rPr>
              <a:t>•  A benign twin task</a:t>
            </a:r>
          </a:p>
          <a:p>
            <a:pPr>
              <a:lnSpc>
                <a:spcPct val="108000"/>
              </a:lnSpc>
              <a:spcAft>
                <a:spcPts val="200"/>
              </a:spcAft>
            </a:pPr>
            <a:r>
              <a:rPr sz="1500" b="0" i="0">
                <a:solidFill>
                  <a:srgbClr val="111111"/>
                </a:solidFill>
                <a:latin typeface="Arial"/>
              </a:rPr>
              <a:t>•  Evidence grade, report date, provenance hashes</a:t>
            </a:r>
          </a:p>
          <a:p>
            <a:pPr>
              <a:lnSpc>
                <a:spcPct val="108000"/>
              </a:lnSpc>
              <a:spcAft>
                <a:spcPts val="200"/>
              </a:spcAft>
            </a:pPr>
            <a:r>
              <a:rPr sz="1500" b="0" i="0">
                <a:solidFill>
                  <a:srgbClr val="111111"/>
                </a:solidFill>
                <a:latin typeface="Arial"/>
              </a:rPr>
              <a:t>•  Lineage: variants and retries stay together</a:t>
            </a:r>
          </a:p>
          <a:p>
            <a:pPr>
              <a:lnSpc>
                <a:spcPct val="108000"/>
              </a:lnSpc>
              <a:spcAft>
                <a:spcPts val="200"/>
              </a:spcAft>
            </a:pPr>
            <a:r>
              <a:rPr sz="1500" b="0" i="0">
                <a:solidFill>
                  <a:srgbClr val="111111"/>
                </a:solidFill>
                <a:latin typeface="Arial"/>
              </a:rPr>
              <a:t>•  Case format compatible with ControlArena settings (main task + side task)</a:t>
            </a:r>
          </a:p>
        </p:txBody>
      </p:sp>
      <p:sp>
        <p:nvSpPr>
          <p:cNvPr id="12" name="Rounded Rectangle 11"/>
          <p:cNvSpPr/>
          <p:nvPr/>
        </p:nvSpPr>
        <p:spPr>
          <a:xfrm>
            <a:off x="6400800" y="1325880"/>
            <a:ext cx="5330952" cy="2377440"/>
          </a:xfrm>
          <a:prstGeom prst="roundRect">
            <a:avLst>
              <a:gd name="adj" fmla="val 6000"/>
            </a:avLst>
          </a:prstGeom>
          <a:solidFill>
            <a:srgbClr val="FFF2CC"/>
          </a:solidFill>
          <a:ln w="12700">
            <a:solidFill>
              <a:srgbClr val="B873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510528" y="1399032"/>
            <a:ext cx="5129784" cy="365760"/>
          </a:xfrm>
          <a:prstGeom prst="rect">
            <a:avLst/>
          </a:prstGeom>
          <a:noFill/>
        </p:spPr>
        <p:txBody>
          <a:bodyPr wrap="square" lIns="45720" rIns="45720" tIns="27432" bIns="27432" anchor="t">
            <a:spAutoFit/>
          </a:bodyPr>
          <a:lstStyle/>
          <a:p>
            <a:pPr algn="l">
              <a:lnSpc>
                <a:spcPct val="110000"/>
              </a:lnSpc>
            </a:pPr>
            <a:r>
              <a:rPr sz="1600" b="1" i="0">
                <a:solidFill>
                  <a:srgbClr val="B8732A"/>
                </a:solidFill>
                <a:latin typeface="Arial"/>
              </a:rPr>
              <a:t>Partitions</a:t>
            </a:r>
          </a:p>
        </p:txBody>
      </p:sp>
      <p:sp>
        <p:nvSpPr>
          <p:cNvPr id="14" name="TextBox 13"/>
          <p:cNvSpPr txBox="1"/>
          <p:nvPr/>
        </p:nvSpPr>
        <p:spPr>
          <a:xfrm>
            <a:off x="6473952" y="1764792"/>
            <a:ext cx="5184648" cy="1874520"/>
          </a:xfrm>
          <a:prstGeom prst="rect">
            <a:avLst/>
          </a:prstGeom>
          <a:noFill/>
        </p:spPr>
        <p:txBody>
          <a:bodyPr wrap="square" lIns="45720" rIns="45720">
            <a:spAutoFit/>
          </a:bodyPr>
          <a:lstStyle/>
          <a:p>
            <a:pPr>
              <a:lnSpc>
                <a:spcPct val="108000"/>
              </a:lnSpc>
              <a:spcAft>
                <a:spcPts val="200"/>
              </a:spcAft>
            </a:pPr>
            <a:r>
              <a:rPr sz="1500" b="0" i="0">
                <a:solidFill>
                  <a:srgbClr val="111111"/>
                </a:solidFill>
                <a:latin typeface="Arial"/>
              </a:rPr>
              <a:t>•  Development, calibration, held-out</a:t>
            </a:r>
          </a:p>
          <a:p>
            <a:pPr>
              <a:lnSpc>
                <a:spcPct val="108000"/>
              </a:lnSpc>
              <a:spcAft>
                <a:spcPts val="200"/>
              </a:spcAft>
            </a:pPr>
            <a:r>
              <a:rPr sz="1500" b="0" i="0">
                <a:solidFill>
                  <a:srgbClr val="111111"/>
                </a:solidFill>
                <a:latin typeface="Arial"/>
              </a:rPr>
              <a:t>•  Split by lineage and by report date</a:t>
            </a:r>
          </a:p>
        </p:txBody>
      </p:sp>
      <p:sp>
        <p:nvSpPr>
          <p:cNvPr id="15" name="Rounded Rectangle 14"/>
          <p:cNvSpPr/>
          <p:nvPr/>
        </p:nvSpPr>
        <p:spPr>
          <a:xfrm>
            <a:off x="6400800" y="3886200"/>
            <a:ext cx="5330952" cy="2377440"/>
          </a:xfrm>
          <a:prstGeom prst="roundRect">
            <a:avLst>
              <a:gd name="adj" fmla="val 6000"/>
            </a:avLst>
          </a:prstGeom>
          <a:solidFill>
            <a:srgbClr val="EAF5EF"/>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510528" y="3959352"/>
            <a:ext cx="5129784" cy="365760"/>
          </a:xfrm>
          <a:prstGeom prst="rect">
            <a:avLst/>
          </a:prstGeom>
          <a:noFill/>
        </p:spPr>
        <p:txBody>
          <a:bodyPr wrap="square" lIns="45720" rIns="45720" tIns="27432" bIns="27432" anchor="t">
            <a:spAutoFit/>
          </a:bodyPr>
          <a:lstStyle/>
          <a:p>
            <a:pPr algn="l">
              <a:lnSpc>
                <a:spcPct val="110000"/>
              </a:lnSpc>
            </a:pPr>
            <a:r>
              <a:rPr sz="1600" b="1" i="0">
                <a:solidFill>
                  <a:srgbClr val="2E7D5B"/>
                </a:solidFill>
                <a:latin typeface="Arial"/>
              </a:rPr>
              <a:t>Unique</a:t>
            </a:r>
          </a:p>
        </p:txBody>
      </p:sp>
      <p:sp>
        <p:nvSpPr>
          <p:cNvPr id="17" name="TextBox 16"/>
          <p:cNvSpPr txBox="1"/>
          <p:nvPr/>
        </p:nvSpPr>
        <p:spPr>
          <a:xfrm>
            <a:off x="6473952" y="4325112"/>
            <a:ext cx="5184648" cy="1874520"/>
          </a:xfrm>
          <a:prstGeom prst="rect">
            <a:avLst/>
          </a:prstGeom>
          <a:noFill/>
        </p:spPr>
        <p:txBody>
          <a:bodyPr wrap="square" lIns="45720" rIns="45720">
            <a:spAutoFit/>
          </a:bodyPr>
          <a:lstStyle/>
          <a:p>
            <a:pPr>
              <a:lnSpc>
                <a:spcPct val="108000"/>
              </a:lnSpc>
              <a:spcAft>
                <a:spcPts val="200"/>
              </a:spcAft>
            </a:pPr>
            <a:r>
              <a:rPr sz="1500" b="0" i="0">
                <a:solidFill>
                  <a:srgbClr val="111111"/>
                </a:solidFill>
                <a:latin typeface="Arial"/>
              </a:rPr>
              <a:t>•  Executable, like CVE proofs of concept</a:t>
            </a:r>
          </a:p>
          <a:p>
            <a:pPr>
              <a:lnSpc>
                <a:spcPct val="108000"/>
              </a:lnSpc>
              <a:spcAft>
                <a:spcPts val="200"/>
              </a:spcAft>
            </a:pPr>
            <a:r>
              <a:rPr sz="1500" b="0" i="0">
                <a:solidFill>
                  <a:srgbClr val="111111"/>
                </a:solidFill>
                <a:latin typeface="Arial"/>
              </a:rPr>
              <a:t>•  Benign twins built in</a:t>
            </a:r>
          </a:p>
          <a:p>
            <a:pPr>
              <a:lnSpc>
                <a:spcPct val="108000"/>
              </a:lnSpc>
              <a:spcAft>
                <a:spcPts val="200"/>
              </a:spcAft>
            </a:pPr>
            <a:r>
              <a:rPr sz="1500" b="0" i="0">
                <a:solidFill>
                  <a:srgbClr val="111111"/>
                </a:solidFill>
                <a:latin typeface="Arial"/>
              </a:rPr>
              <a:t>•  Researcher tooling only; never reaches the agent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82296" cy="566928"/>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301752"/>
            <a:ext cx="10515600" cy="548640"/>
          </a:xfrm>
          <a:prstGeom prst="rect">
            <a:avLst/>
          </a:prstGeom>
          <a:noFill/>
        </p:spPr>
        <p:txBody>
          <a:bodyPr wrap="square" lIns="45720" rIns="45720" tIns="27432" bIns="27432" anchor="ctr">
            <a:spAutoFit/>
          </a:bodyPr>
          <a:lstStyle/>
          <a:p>
            <a:pPr algn="l">
              <a:lnSpc>
                <a:spcPct val="110000"/>
              </a:lnSpc>
            </a:pPr>
            <a:r>
              <a:rPr sz="2600" b="1" i="0">
                <a:solidFill>
                  <a:srgbClr val="111111"/>
                </a:solidFill>
                <a:latin typeface="Arial"/>
              </a:rPr>
              <a:t>Component 3 · Case synthesis</a:t>
            </a:r>
          </a:p>
        </p:txBody>
      </p:sp>
      <p:sp>
        <p:nvSpPr>
          <p:cNvPr id="4" name="TextBox 3"/>
          <p:cNvSpPr txBox="1"/>
          <p:nvPr/>
        </p:nvSpPr>
        <p:spPr>
          <a:xfrm>
            <a:off x="640080" y="868680"/>
            <a:ext cx="10972800" cy="365760"/>
          </a:xfrm>
          <a:prstGeom prst="rect">
            <a:avLst/>
          </a:prstGeom>
          <a:noFill/>
        </p:spPr>
        <p:txBody>
          <a:bodyPr wrap="square" lIns="45720" rIns="45720" tIns="27432" bIns="27432" anchor="t">
            <a:spAutoFit/>
          </a:bodyPr>
          <a:lstStyle/>
          <a:p>
            <a:pPr algn="l">
              <a:lnSpc>
                <a:spcPct val="110000"/>
              </a:lnSpc>
            </a:pPr>
            <a:r>
              <a:rPr sz="1300" b="0" i="0">
                <a:solidFill>
                  <a:srgbClr val="666666"/>
                </a:solidFill>
                <a:latin typeface="Arial"/>
              </a:rPr>
              <a:t>The evaluation updates itself</a:t>
            </a:r>
          </a:p>
        </p:txBody>
      </p:sp>
      <p:sp>
        <p:nvSpPr>
          <p:cNvPr id="5" name="TextBox 4"/>
          <p:cNvSpPr txBox="1"/>
          <p:nvPr/>
        </p:nvSpPr>
        <p:spPr>
          <a:xfrm>
            <a:off x="8503920" y="109728"/>
            <a:ext cx="3200400" cy="274320"/>
          </a:xfrm>
          <a:prstGeom prst="rect">
            <a:avLst/>
          </a:prstGeom>
          <a:noFill/>
        </p:spPr>
        <p:txBody>
          <a:bodyPr wrap="square" lIns="45720" rIns="45720" tIns="27432" bIns="27432" anchor="t">
            <a:spAutoFit/>
          </a:bodyPr>
          <a:lstStyle/>
          <a:p>
            <a:pPr algn="r">
              <a:lnSpc>
                <a:spcPct val="110000"/>
              </a:lnSpc>
            </a:pPr>
            <a:r>
              <a:rPr sz="900" b="1" i="0">
                <a:solidFill>
                  <a:srgbClr val="365E9E"/>
                </a:solidFill>
                <a:latin typeface="Arial"/>
              </a:rPr>
              <a:t>4 · COMPONENTS</a:t>
            </a:r>
          </a:p>
        </p:txBody>
      </p:sp>
      <p:cxnSp>
        <p:nvCxnSpPr>
          <p:cNvPr id="6" name="Connector 5"/>
          <p:cNvCxnSpPr/>
          <p:nvPr/>
        </p:nvCxnSpPr>
        <p:spPr>
          <a:xfrm>
            <a:off x="457200" y="6446520"/>
            <a:ext cx="11277295" cy="0"/>
          </a:xfrm>
          <a:prstGeom prst="line">
            <a:avLst/>
          </a:prstGeom>
          <a:ln w="6350">
            <a:solidFill>
              <a:srgbClr val="C9C9C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57200" y="6473952"/>
            <a:ext cx="10058400" cy="274320"/>
          </a:xfrm>
          <a:prstGeom prst="rect">
            <a:avLst/>
          </a:prstGeom>
          <a:noFill/>
        </p:spPr>
        <p:txBody>
          <a:bodyPr wrap="square" lIns="45720" rIns="45720" tIns="27432" bIns="27432" anchor="t">
            <a:spAutoFit/>
          </a:bodyPr>
          <a:lstStyle/>
          <a:p>
            <a:pPr algn="l">
              <a:lnSpc>
                <a:spcPct val="110000"/>
              </a:lnSpc>
            </a:pPr>
            <a:r>
              <a:rPr sz="800" b="0" i="0">
                <a:solidFill>
                  <a:srgbClr val="666666"/>
                </a:solidFill>
                <a:latin typeface="Arial"/>
              </a:rPr>
              <a:t>Incident-aware optimization · design proposal · containment-extension · October 2026 · no benchmark improvement measured</a:t>
            </a:r>
          </a:p>
        </p:txBody>
      </p:sp>
      <p:sp>
        <p:nvSpPr>
          <p:cNvPr id="8" name="TextBox 7"/>
          <p:cNvSpPr txBox="1"/>
          <p:nvPr/>
        </p:nvSpPr>
        <p:spPr>
          <a:xfrm>
            <a:off x="10820095" y="6473952"/>
            <a:ext cx="914400" cy="274320"/>
          </a:xfrm>
          <a:prstGeom prst="rect">
            <a:avLst/>
          </a:prstGeom>
          <a:noFill/>
        </p:spPr>
        <p:txBody>
          <a:bodyPr wrap="square" lIns="45720" rIns="45720" tIns="27432" bIns="27432" anchor="t">
            <a:spAutoFit/>
          </a:bodyPr>
          <a:lstStyle/>
          <a:p>
            <a:pPr algn="r">
              <a:lnSpc>
                <a:spcPct val="110000"/>
              </a:lnSpc>
            </a:pPr>
            <a:r>
              <a:rPr sz="900" b="0" i="0">
                <a:solidFill>
                  <a:srgbClr val="666666"/>
                </a:solidFill>
                <a:latin typeface="Arial"/>
              </a:rPr>
              <a:t>17</a:t>
            </a:r>
          </a:p>
        </p:txBody>
      </p:sp>
      <p:sp>
        <p:nvSpPr>
          <p:cNvPr id="9" name="Rounded Rectangle 8"/>
          <p:cNvSpPr/>
          <p:nvPr/>
        </p:nvSpPr>
        <p:spPr>
          <a:xfrm>
            <a:off x="457200" y="1325880"/>
            <a:ext cx="7315200" cy="749808"/>
          </a:xfrm>
          <a:prstGeom prst="roundRect">
            <a:avLst>
              <a:gd name="adj" fmla="val 6000"/>
            </a:avLst>
          </a:prstGeom>
          <a:solidFill>
            <a:srgbClr val="EDF4FB"/>
          </a:solidFill>
          <a:ln w="6350">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94360" y="1325880"/>
            <a:ext cx="2377440" cy="749808"/>
          </a:xfrm>
          <a:prstGeom prst="rect">
            <a:avLst/>
          </a:prstGeom>
          <a:noFill/>
        </p:spPr>
        <p:txBody>
          <a:bodyPr wrap="square" lIns="45720" rIns="45720" tIns="27432" bIns="27432" anchor="ctr">
            <a:spAutoFit/>
          </a:bodyPr>
          <a:lstStyle/>
          <a:p>
            <a:pPr algn="l">
              <a:lnSpc>
                <a:spcPct val="110000"/>
              </a:lnSpc>
            </a:pPr>
            <a:r>
              <a:rPr sz="1400" b="1" i="0">
                <a:solidFill>
                  <a:srgbClr val="365E9E"/>
                </a:solidFill>
                <a:latin typeface="Arial"/>
              </a:rPr>
              <a:t>Narrative → reproduction</a:t>
            </a:r>
          </a:p>
        </p:txBody>
      </p:sp>
      <p:sp>
        <p:nvSpPr>
          <p:cNvPr id="11" name="TextBox 10"/>
          <p:cNvSpPr txBox="1"/>
          <p:nvPr/>
        </p:nvSpPr>
        <p:spPr>
          <a:xfrm>
            <a:off x="3017520" y="1325880"/>
            <a:ext cx="4663440" cy="749808"/>
          </a:xfrm>
          <a:prstGeom prst="rect">
            <a:avLst/>
          </a:prstGeom>
          <a:noFill/>
        </p:spPr>
        <p:txBody>
          <a:bodyPr wrap="square" lIns="45720" rIns="45720" tIns="27432" bIns="27432" anchor="ctr">
            <a:spAutoFit/>
          </a:bodyPr>
          <a:lstStyle/>
          <a:p>
            <a:pPr algn="l">
              <a:lnSpc>
                <a:spcPct val="110000"/>
              </a:lnSpc>
            </a:pPr>
            <a:r>
              <a:rPr sz="1500" b="0" i="0">
                <a:solidFill>
                  <a:srgbClr val="111111"/>
                </a:solidFill>
                <a:latin typeface="Arial"/>
              </a:rPr>
              <a:t>Rebuild the scenario in a sandbox with the same tools and boundary</a:t>
            </a:r>
          </a:p>
        </p:txBody>
      </p:sp>
      <p:sp>
        <p:nvSpPr>
          <p:cNvPr id="12" name="Rounded Rectangle 11"/>
          <p:cNvSpPr/>
          <p:nvPr/>
        </p:nvSpPr>
        <p:spPr>
          <a:xfrm>
            <a:off x="457200" y="2148840"/>
            <a:ext cx="7315200" cy="749808"/>
          </a:xfrm>
          <a:prstGeom prst="roundRect">
            <a:avLst>
              <a:gd name="adj" fmla="val 6000"/>
            </a:avLst>
          </a:prstGeom>
          <a:solidFill>
            <a:srgbClr val="FFFFFF"/>
          </a:solidFill>
          <a:ln w="6350">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94360" y="2148840"/>
            <a:ext cx="2377440" cy="749808"/>
          </a:xfrm>
          <a:prstGeom prst="rect">
            <a:avLst/>
          </a:prstGeom>
          <a:noFill/>
        </p:spPr>
        <p:txBody>
          <a:bodyPr wrap="square" lIns="45720" rIns="45720" tIns="27432" bIns="27432" anchor="ctr">
            <a:spAutoFit/>
          </a:bodyPr>
          <a:lstStyle/>
          <a:p>
            <a:pPr algn="l">
              <a:lnSpc>
                <a:spcPct val="110000"/>
              </a:lnSpc>
            </a:pPr>
            <a:r>
              <a:rPr sz="1400" b="1" i="0">
                <a:solidFill>
                  <a:srgbClr val="365E9E"/>
                </a:solidFill>
                <a:latin typeface="Arial"/>
              </a:rPr>
              <a:t>Matched family</a:t>
            </a:r>
          </a:p>
        </p:txBody>
      </p:sp>
      <p:sp>
        <p:nvSpPr>
          <p:cNvPr id="14" name="TextBox 13"/>
          <p:cNvSpPr txBox="1"/>
          <p:nvPr/>
        </p:nvSpPr>
        <p:spPr>
          <a:xfrm>
            <a:off x="3017520" y="2148840"/>
            <a:ext cx="4663440" cy="749808"/>
          </a:xfrm>
          <a:prstGeom prst="rect">
            <a:avLst/>
          </a:prstGeom>
          <a:noFill/>
        </p:spPr>
        <p:txBody>
          <a:bodyPr wrap="square" lIns="45720" rIns="45720" tIns="27432" bIns="27432" anchor="ctr">
            <a:spAutoFit/>
          </a:bodyPr>
          <a:lstStyle/>
          <a:p>
            <a:pPr algn="l">
              <a:lnSpc>
                <a:spcPct val="110000"/>
              </a:lnSpc>
            </a:pPr>
            <a:r>
              <a:rPr sz="1500" b="0" i="0">
                <a:solidFill>
                  <a:srgbClr val="111111"/>
                </a:solidFill>
                <a:latin typeface="Arial"/>
              </a:rPr>
              <a:t>Feasible, impossible, broken environment, plus a benign twin</a:t>
            </a:r>
          </a:p>
        </p:txBody>
      </p:sp>
      <p:sp>
        <p:nvSpPr>
          <p:cNvPr id="15" name="Rounded Rectangle 14"/>
          <p:cNvSpPr/>
          <p:nvPr/>
        </p:nvSpPr>
        <p:spPr>
          <a:xfrm>
            <a:off x="457200" y="2971800"/>
            <a:ext cx="7315200" cy="749808"/>
          </a:xfrm>
          <a:prstGeom prst="roundRect">
            <a:avLst>
              <a:gd name="adj" fmla="val 6000"/>
            </a:avLst>
          </a:prstGeom>
          <a:solidFill>
            <a:srgbClr val="EDF4FB"/>
          </a:solidFill>
          <a:ln w="6350">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94360" y="2971800"/>
            <a:ext cx="2377440" cy="749808"/>
          </a:xfrm>
          <a:prstGeom prst="rect">
            <a:avLst/>
          </a:prstGeom>
          <a:noFill/>
        </p:spPr>
        <p:txBody>
          <a:bodyPr wrap="square" lIns="45720" rIns="45720" tIns="27432" bIns="27432" anchor="ctr">
            <a:spAutoFit/>
          </a:bodyPr>
          <a:lstStyle/>
          <a:p>
            <a:pPr algn="l">
              <a:lnSpc>
                <a:spcPct val="110000"/>
              </a:lnSpc>
            </a:pPr>
            <a:r>
              <a:rPr sz="1400" b="1" i="0">
                <a:solidFill>
                  <a:srgbClr val="365E9E"/>
                </a:solidFill>
                <a:latin typeface="Arial"/>
              </a:rPr>
              <a:t>Qualification</a:t>
            </a:r>
          </a:p>
        </p:txBody>
      </p:sp>
      <p:sp>
        <p:nvSpPr>
          <p:cNvPr id="17" name="TextBox 16"/>
          <p:cNvSpPr txBox="1"/>
          <p:nvPr/>
        </p:nvSpPr>
        <p:spPr>
          <a:xfrm>
            <a:off x="3017520" y="2971800"/>
            <a:ext cx="4663440" cy="749808"/>
          </a:xfrm>
          <a:prstGeom prst="rect">
            <a:avLst/>
          </a:prstGeom>
          <a:noFill/>
        </p:spPr>
        <p:txBody>
          <a:bodyPr wrap="square" lIns="45720" rIns="45720" tIns="27432" bIns="27432" anchor="ctr">
            <a:spAutoFit/>
          </a:bodyPr>
          <a:lstStyle/>
          <a:p>
            <a:pPr algn="l">
              <a:lnSpc>
                <a:spcPct val="110000"/>
              </a:lnSpc>
            </a:pPr>
            <a:r>
              <a:rPr sz="1500" b="0" i="0">
                <a:solidFill>
                  <a:srgbClr val="111111"/>
                </a:solidFill>
                <a:latin typeface="Arial"/>
              </a:rPr>
              <a:t>Reference solution replays; negative labels need evidence</a:t>
            </a:r>
          </a:p>
        </p:txBody>
      </p:sp>
      <p:sp>
        <p:nvSpPr>
          <p:cNvPr id="18" name="Rounded Rectangle 17"/>
          <p:cNvSpPr/>
          <p:nvPr/>
        </p:nvSpPr>
        <p:spPr>
          <a:xfrm>
            <a:off x="457200" y="3794760"/>
            <a:ext cx="7315200" cy="749808"/>
          </a:xfrm>
          <a:prstGeom prst="roundRect">
            <a:avLst>
              <a:gd name="adj" fmla="val 6000"/>
            </a:avLst>
          </a:prstGeom>
          <a:solidFill>
            <a:srgbClr val="FFFFFF"/>
          </a:solidFill>
          <a:ln w="6350">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94360" y="3794760"/>
            <a:ext cx="2377440" cy="749808"/>
          </a:xfrm>
          <a:prstGeom prst="rect">
            <a:avLst/>
          </a:prstGeom>
          <a:noFill/>
        </p:spPr>
        <p:txBody>
          <a:bodyPr wrap="square" lIns="45720" rIns="45720" tIns="27432" bIns="27432" anchor="ctr">
            <a:spAutoFit/>
          </a:bodyPr>
          <a:lstStyle/>
          <a:p>
            <a:pPr algn="l">
              <a:lnSpc>
                <a:spcPct val="110000"/>
              </a:lnSpc>
            </a:pPr>
            <a:r>
              <a:rPr sz="1400" b="1" i="0">
                <a:solidFill>
                  <a:srgbClr val="365E9E"/>
                </a:solidFill>
                <a:latin typeface="Arial"/>
              </a:rPr>
              <a:t>Variants</a:t>
            </a:r>
          </a:p>
        </p:txBody>
      </p:sp>
      <p:sp>
        <p:nvSpPr>
          <p:cNvPr id="20" name="TextBox 19"/>
          <p:cNvSpPr txBox="1"/>
          <p:nvPr/>
        </p:nvSpPr>
        <p:spPr>
          <a:xfrm>
            <a:off x="3017520" y="3794760"/>
            <a:ext cx="4663440" cy="749808"/>
          </a:xfrm>
          <a:prstGeom prst="rect">
            <a:avLst/>
          </a:prstGeom>
          <a:noFill/>
        </p:spPr>
        <p:txBody>
          <a:bodyPr wrap="square" lIns="45720" rIns="45720" tIns="27432" bIns="27432" anchor="ctr">
            <a:spAutoFit/>
          </a:bodyPr>
          <a:lstStyle/>
          <a:p>
            <a:pPr algn="l">
              <a:lnSpc>
                <a:spcPct val="110000"/>
              </a:lnSpc>
            </a:pPr>
            <a:r>
              <a:rPr sz="1500" b="0" i="0">
                <a:solidFill>
                  <a:srgbClr val="111111"/>
                </a:solidFill>
                <a:latin typeface="Arial"/>
              </a:rPr>
              <a:t>Mutate names, URLs and wording so nothing is memorised</a:t>
            </a:r>
          </a:p>
        </p:txBody>
      </p:sp>
      <p:sp>
        <p:nvSpPr>
          <p:cNvPr id="21" name="Rounded Rectangle 20"/>
          <p:cNvSpPr/>
          <p:nvPr/>
        </p:nvSpPr>
        <p:spPr>
          <a:xfrm>
            <a:off x="457200" y="4617720"/>
            <a:ext cx="7315200" cy="749808"/>
          </a:xfrm>
          <a:prstGeom prst="roundRect">
            <a:avLst>
              <a:gd name="adj" fmla="val 6000"/>
            </a:avLst>
          </a:prstGeom>
          <a:solidFill>
            <a:srgbClr val="EDF4FB"/>
          </a:solidFill>
          <a:ln w="6350">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94360" y="4617720"/>
            <a:ext cx="2377440" cy="749808"/>
          </a:xfrm>
          <a:prstGeom prst="rect">
            <a:avLst/>
          </a:prstGeom>
          <a:noFill/>
        </p:spPr>
        <p:txBody>
          <a:bodyPr wrap="square" lIns="45720" rIns="45720" tIns="27432" bIns="27432" anchor="ctr">
            <a:spAutoFit/>
          </a:bodyPr>
          <a:lstStyle/>
          <a:p>
            <a:pPr algn="l">
              <a:lnSpc>
                <a:spcPct val="110000"/>
              </a:lnSpc>
            </a:pPr>
            <a:r>
              <a:rPr sz="1400" b="1" i="0">
                <a:solidFill>
                  <a:srgbClr val="365E9E"/>
                </a:solidFill>
                <a:latin typeface="Arial"/>
              </a:rPr>
              <a:t>Release into eval pack</a:t>
            </a:r>
          </a:p>
        </p:txBody>
      </p:sp>
      <p:sp>
        <p:nvSpPr>
          <p:cNvPr id="23" name="TextBox 22"/>
          <p:cNvSpPr txBox="1"/>
          <p:nvPr/>
        </p:nvSpPr>
        <p:spPr>
          <a:xfrm>
            <a:off x="3017520" y="4617720"/>
            <a:ext cx="4663440" cy="749808"/>
          </a:xfrm>
          <a:prstGeom prst="rect">
            <a:avLst/>
          </a:prstGeom>
          <a:noFill/>
        </p:spPr>
        <p:txBody>
          <a:bodyPr wrap="square" lIns="45720" rIns="45720" tIns="27432" bIns="27432" anchor="ctr">
            <a:spAutoFit/>
          </a:bodyPr>
          <a:lstStyle/>
          <a:p>
            <a:pPr algn="l">
              <a:lnSpc>
                <a:spcPct val="110000"/>
              </a:lnSpc>
            </a:pPr>
            <a:r>
              <a:rPr sz="1500" b="0" i="0">
                <a:solidFill>
                  <a:srgbClr val="111111"/>
                </a:solidFill>
                <a:latin typeface="Arial"/>
              </a:rPr>
              <a:t>Qualified cases join development; held-out stays locked</a:t>
            </a:r>
          </a:p>
        </p:txBody>
      </p:sp>
      <p:sp>
        <p:nvSpPr>
          <p:cNvPr id="24" name="Rounded Rectangle 23"/>
          <p:cNvSpPr/>
          <p:nvPr/>
        </p:nvSpPr>
        <p:spPr>
          <a:xfrm>
            <a:off x="8001000" y="1325880"/>
            <a:ext cx="3730752" cy="4023360"/>
          </a:xfrm>
          <a:prstGeom prst="roundRect">
            <a:avLst>
              <a:gd name="adj" fmla="val 6000"/>
            </a:avLst>
          </a:prstGeom>
          <a:solidFill>
            <a:srgbClr val="EAF5EF"/>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110728" y="1399032"/>
            <a:ext cx="3529584" cy="365760"/>
          </a:xfrm>
          <a:prstGeom prst="rect">
            <a:avLst/>
          </a:prstGeom>
          <a:noFill/>
        </p:spPr>
        <p:txBody>
          <a:bodyPr wrap="square" lIns="45720" rIns="45720" tIns="27432" bIns="27432" anchor="t">
            <a:spAutoFit/>
          </a:bodyPr>
          <a:lstStyle/>
          <a:p>
            <a:pPr algn="l">
              <a:lnSpc>
                <a:spcPct val="110000"/>
              </a:lnSpc>
            </a:pPr>
            <a:r>
              <a:rPr sz="1600" b="1" i="0">
                <a:solidFill>
                  <a:srgbClr val="2E7D5B"/>
                </a:solidFill>
                <a:latin typeface="Arial"/>
              </a:rPr>
              <a:t>Unique</a:t>
            </a:r>
          </a:p>
        </p:txBody>
      </p:sp>
      <p:sp>
        <p:nvSpPr>
          <p:cNvPr id="26" name="TextBox 25"/>
          <p:cNvSpPr txBox="1"/>
          <p:nvPr/>
        </p:nvSpPr>
        <p:spPr>
          <a:xfrm>
            <a:off x="8074152" y="1764792"/>
            <a:ext cx="3584448" cy="3520440"/>
          </a:xfrm>
          <a:prstGeom prst="rect">
            <a:avLst/>
          </a:prstGeom>
          <a:noFill/>
        </p:spPr>
        <p:txBody>
          <a:bodyPr wrap="square" lIns="45720" rIns="45720">
            <a:spAutoFit/>
          </a:bodyPr>
          <a:lstStyle/>
          <a:p>
            <a:pPr>
              <a:lnSpc>
                <a:spcPct val="108000"/>
              </a:lnSpc>
              <a:spcAft>
                <a:spcPts val="200"/>
              </a:spcAft>
            </a:pPr>
            <a:r>
              <a:rPr sz="1500" b="0" i="0">
                <a:solidFill>
                  <a:srgbClr val="111111"/>
                </a:solidFill>
                <a:latin typeface="Arial"/>
              </a:rPr>
              <a:t>•  New incidents become new tasks on a schedule</a:t>
            </a:r>
          </a:p>
          <a:p>
            <a:pPr>
              <a:lnSpc>
                <a:spcPct val="108000"/>
              </a:lnSpc>
              <a:spcAft>
                <a:spcPts val="200"/>
              </a:spcAft>
            </a:pPr>
            <a:r>
              <a:rPr sz="1500" b="0" i="0">
                <a:solidFill>
                  <a:srgbClr val="111111"/>
                </a:solidFill>
                <a:latin typeface="Arial"/>
              </a:rPr>
              <a:t>•  An unexpected pass triggers a label audit, not a silent win</a:t>
            </a:r>
          </a:p>
          <a:p>
            <a:pPr>
              <a:lnSpc>
                <a:spcPct val="108000"/>
              </a:lnSpc>
              <a:spcAft>
                <a:spcPts val="200"/>
              </a:spcAft>
            </a:pPr>
            <a:r>
              <a:rPr sz="1500" b="0" i="0">
                <a:solidFill>
                  <a:srgbClr val="111111"/>
                </a:solidFill>
                <a:latin typeface="Arial"/>
              </a:rPr>
              <a:t>•  A narrative lead becomes evidence only here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82296" cy="566928"/>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301752"/>
            <a:ext cx="10515600" cy="548640"/>
          </a:xfrm>
          <a:prstGeom prst="rect">
            <a:avLst/>
          </a:prstGeom>
          <a:noFill/>
        </p:spPr>
        <p:txBody>
          <a:bodyPr wrap="square" lIns="45720" rIns="45720" tIns="27432" bIns="27432" anchor="ctr">
            <a:spAutoFit/>
          </a:bodyPr>
          <a:lstStyle/>
          <a:p>
            <a:pPr algn="l">
              <a:lnSpc>
                <a:spcPct val="110000"/>
              </a:lnSpc>
            </a:pPr>
            <a:r>
              <a:rPr sz="2600" b="1" i="0">
                <a:solidFill>
                  <a:srgbClr val="111111"/>
                </a:solidFill>
                <a:latin typeface="Arial"/>
              </a:rPr>
              <a:t>Component 4 · Counterfactual replay and blame</a:t>
            </a:r>
          </a:p>
        </p:txBody>
      </p:sp>
      <p:sp>
        <p:nvSpPr>
          <p:cNvPr id="4" name="TextBox 3"/>
          <p:cNvSpPr txBox="1"/>
          <p:nvPr/>
        </p:nvSpPr>
        <p:spPr>
          <a:xfrm>
            <a:off x="8503920" y="109728"/>
            <a:ext cx="3200400" cy="274320"/>
          </a:xfrm>
          <a:prstGeom prst="rect">
            <a:avLst/>
          </a:prstGeom>
          <a:noFill/>
        </p:spPr>
        <p:txBody>
          <a:bodyPr wrap="square" lIns="45720" rIns="45720" tIns="27432" bIns="27432" anchor="t">
            <a:spAutoFit/>
          </a:bodyPr>
          <a:lstStyle/>
          <a:p>
            <a:pPr algn="r">
              <a:lnSpc>
                <a:spcPct val="110000"/>
              </a:lnSpc>
            </a:pPr>
            <a:r>
              <a:rPr sz="900" b="1" i="0">
                <a:solidFill>
                  <a:srgbClr val="365E9E"/>
                </a:solidFill>
                <a:latin typeface="Arial"/>
              </a:rPr>
              <a:t>4 · COMPONENTS</a:t>
            </a:r>
          </a:p>
        </p:txBody>
      </p:sp>
      <p:cxnSp>
        <p:nvCxnSpPr>
          <p:cNvPr id="5" name="Connector 4"/>
          <p:cNvCxnSpPr/>
          <p:nvPr/>
        </p:nvCxnSpPr>
        <p:spPr>
          <a:xfrm>
            <a:off x="457200" y="6446520"/>
            <a:ext cx="11277295" cy="0"/>
          </a:xfrm>
          <a:prstGeom prst="line">
            <a:avLst/>
          </a:prstGeom>
          <a:ln w="6350">
            <a:solidFill>
              <a:srgbClr val="C9C9C9"/>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473952"/>
            <a:ext cx="10058400" cy="274320"/>
          </a:xfrm>
          <a:prstGeom prst="rect">
            <a:avLst/>
          </a:prstGeom>
          <a:noFill/>
        </p:spPr>
        <p:txBody>
          <a:bodyPr wrap="square" lIns="45720" rIns="45720" tIns="27432" bIns="27432" anchor="t">
            <a:spAutoFit/>
          </a:bodyPr>
          <a:lstStyle/>
          <a:p>
            <a:pPr algn="l">
              <a:lnSpc>
                <a:spcPct val="110000"/>
              </a:lnSpc>
            </a:pPr>
            <a:r>
              <a:rPr sz="800" b="0" i="0">
                <a:solidFill>
                  <a:srgbClr val="666666"/>
                </a:solidFill>
                <a:latin typeface="Arial"/>
              </a:rPr>
              <a:t>Incident-aware optimization · design proposal · containment-extension · October 2026 · no benchmark improvement measured</a:t>
            </a:r>
          </a:p>
        </p:txBody>
      </p:sp>
      <p:sp>
        <p:nvSpPr>
          <p:cNvPr id="7" name="TextBox 6"/>
          <p:cNvSpPr txBox="1"/>
          <p:nvPr/>
        </p:nvSpPr>
        <p:spPr>
          <a:xfrm>
            <a:off x="10820095" y="6473952"/>
            <a:ext cx="914400" cy="274320"/>
          </a:xfrm>
          <a:prstGeom prst="rect">
            <a:avLst/>
          </a:prstGeom>
          <a:noFill/>
        </p:spPr>
        <p:txBody>
          <a:bodyPr wrap="square" lIns="45720" rIns="45720" tIns="27432" bIns="27432" anchor="t">
            <a:spAutoFit/>
          </a:bodyPr>
          <a:lstStyle/>
          <a:p>
            <a:pPr algn="r">
              <a:lnSpc>
                <a:spcPct val="110000"/>
              </a:lnSpc>
            </a:pPr>
            <a:r>
              <a:rPr sz="900" b="0" i="0">
                <a:solidFill>
                  <a:srgbClr val="666666"/>
                </a:solidFill>
                <a:latin typeface="Arial"/>
              </a:rPr>
              <a:t>18</a:t>
            </a:r>
          </a:p>
        </p:txBody>
      </p:sp>
      <p:pic>
        <p:nvPicPr>
          <p:cNvPr id="8" name="Picture 7" descr="counterfactual-diagnostic-tool.png"/>
          <p:cNvPicPr>
            <a:picLocks noChangeAspect="1"/>
          </p:cNvPicPr>
          <p:nvPr/>
        </p:nvPicPr>
        <p:blipFill>
          <a:blip r:embed="rId2"/>
          <a:stretch>
            <a:fillRect/>
          </a:stretch>
        </p:blipFill>
        <p:spPr>
          <a:xfrm>
            <a:off x="457200" y="1325880"/>
            <a:ext cx="5669280" cy="3190665"/>
          </a:xfrm>
          <a:prstGeom prst="rect">
            <a:avLst/>
          </a:prstGeom>
        </p:spPr>
      </p:pic>
      <p:sp>
        <p:nvSpPr>
          <p:cNvPr id="9" name="Rounded Rectangle 8"/>
          <p:cNvSpPr/>
          <p:nvPr/>
        </p:nvSpPr>
        <p:spPr>
          <a:xfrm>
            <a:off x="6355080" y="1325880"/>
            <a:ext cx="5376672" cy="2286000"/>
          </a:xfrm>
          <a:prstGeom prst="roundRect">
            <a:avLst>
              <a:gd name="adj" fmla="val 6000"/>
            </a:avLst>
          </a:prstGeom>
          <a:solidFill>
            <a:srgbClr val="EDF4FB"/>
          </a:solidFill>
          <a:ln w="12700">
            <a:solidFill>
              <a:srgbClr val="365E9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64808" y="1399032"/>
            <a:ext cx="5175504" cy="365760"/>
          </a:xfrm>
          <a:prstGeom prst="rect">
            <a:avLst/>
          </a:prstGeom>
          <a:noFill/>
        </p:spPr>
        <p:txBody>
          <a:bodyPr wrap="square" lIns="45720" rIns="45720" tIns="27432" bIns="27432" anchor="t">
            <a:spAutoFit/>
          </a:bodyPr>
          <a:lstStyle/>
          <a:p>
            <a:pPr algn="l">
              <a:lnSpc>
                <a:spcPct val="110000"/>
              </a:lnSpc>
            </a:pPr>
            <a:r>
              <a:rPr sz="1600" b="1" i="0">
                <a:solidFill>
                  <a:srgbClr val="365E9E"/>
                </a:solidFill>
                <a:latin typeface="Arial"/>
              </a:rPr>
              <a:t>Two comparisons</a:t>
            </a:r>
          </a:p>
        </p:txBody>
      </p:sp>
      <p:sp>
        <p:nvSpPr>
          <p:cNvPr id="11" name="TextBox 10"/>
          <p:cNvSpPr txBox="1"/>
          <p:nvPr/>
        </p:nvSpPr>
        <p:spPr>
          <a:xfrm>
            <a:off x="6428232" y="1764792"/>
            <a:ext cx="5230368" cy="1783080"/>
          </a:xfrm>
          <a:prstGeom prst="rect">
            <a:avLst/>
          </a:prstGeom>
          <a:noFill/>
        </p:spPr>
        <p:txBody>
          <a:bodyPr wrap="square" lIns="45720" rIns="45720">
            <a:spAutoFit/>
          </a:bodyPr>
          <a:lstStyle/>
          <a:p>
            <a:pPr>
              <a:lnSpc>
                <a:spcPct val="108000"/>
              </a:lnSpc>
              <a:spcAft>
                <a:spcPts val="200"/>
              </a:spcAft>
            </a:pPr>
            <a:r>
              <a:rPr sz="1500" b="0" i="0">
                <a:solidFill>
                  <a:srgbClr val="111111"/>
                </a:solidFill>
                <a:latin typeface="Arial"/>
              </a:rPr>
              <a:t>•  Fixed-call replay: change one action, find the first differing response</a:t>
            </a:r>
          </a:p>
          <a:p>
            <a:pPr>
              <a:lnSpc>
                <a:spcPct val="108000"/>
              </a:lnSpc>
              <a:spcAft>
                <a:spcPts val="200"/>
              </a:spcAft>
            </a:pPr>
            <a:r>
              <a:rPr sz="1500" b="0" i="0">
                <a:solidFill>
                  <a:srgbClr val="111111"/>
                </a:solidFill>
                <a:latin typeface="Arial"/>
              </a:rPr>
              <a:t>•  Agent continuation: change one cue, re-sample, estimate P(incident | cue)</a:t>
            </a:r>
          </a:p>
        </p:txBody>
      </p:sp>
      <p:sp>
        <p:nvSpPr>
          <p:cNvPr id="12" name="Rounded Rectangle 11"/>
          <p:cNvSpPr/>
          <p:nvPr/>
        </p:nvSpPr>
        <p:spPr>
          <a:xfrm>
            <a:off x="6355080" y="3749039"/>
            <a:ext cx="5376672" cy="2514600"/>
          </a:xfrm>
          <a:prstGeom prst="roundRect">
            <a:avLst>
              <a:gd name="adj" fmla="val 6000"/>
            </a:avLst>
          </a:prstGeom>
          <a:solidFill>
            <a:srgbClr val="EAF5EF"/>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64808" y="3822191"/>
            <a:ext cx="5175504" cy="365760"/>
          </a:xfrm>
          <a:prstGeom prst="rect">
            <a:avLst/>
          </a:prstGeom>
          <a:noFill/>
        </p:spPr>
        <p:txBody>
          <a:bodyPr wrap="square" lIns="45720" rIns="45720" tIns="27432" bIns="27432" anchor="t">
            <a:spAutoFit/>
          </a:bodyPr>
          <a:lstStyle/>
          <a:p>
            <a:pPr algn="l">
              <a:lnSpc>
                <a:spcPct val="110000"/>
              </a:lnSpc>
            </a:pPr>
            <a:r>
              <a:rPr sz="1600" b="1" i="0">
                <a:solidFill>
                  <a:srgbClr val="2E7D5B"/>
                </a:solidFill>
                <a:latin typeface="Arial"/>
              </a:rPr>
              <a:t>Unique: blame records</a:t>
            </a:r>
          </a:p>
        </p:txBody>
      </p:sp>
      <p:sp>
        <p:nvSpPr>
          <p:cNvPr id="14" name="TextBox 13"/>
          <p:cNvSpPr txBox="1"/>
          <p:nvPr/>
        </p:nvSpPr>
        <p:spPr>
          <a:xfrm>
            <a:off x="6428232" y="4187951"/>
            <a:ext cx="5230368" cy="2011680"/>
          </a:xfrm>
          <a:prstGeom prst="rect">
            <a:avLst/>
          </a:prstGeom>
          <a:noFill/>
        </p:spPr>
        <p:txBody>
          <a:bodyPr wrap="square" lIns="45720" rIns="45720">
            <a:spAutoFit/>
          </a:bodyPr>
          <a:lstStyle/>
          <a:p>
            <a:pPr>
              <a:lnSpc>
                <a:spcPct val="108000"/>
              </a:lnSpc>
              <a:spcAft>
                <a:spcPts val="200"/>
              </a:spcAft>
            </a:pPr>
            <a:r>
              <a:rPr sz="1500" b="0" i="0">
                <a:solidFill>
                  <a:srgbClr val="111111"/>
                </a:solidFill>
                <a:latin typeface="Arial"/>
              </a:rPr>
              <a:t>•  Each incident gets a minimal trigger and a named cause</a:t>
            </a:r>
          </a:p>
          <a:p>
            <a:pPr>
              <a:lnSpc>
                <a:spcPct val="108000"/>
              </a:lnSpc>
              <a:spcAft>
                <a:spcPts val="200"/>
              </a:spcAft>
            </a:pPr>
            <a:r>
              <a:rPr sz="1500" b="0" i="0">
                <a:solidFill>
                  <a:srgbClr val="111111"/>
                </a:solidFill>
                <a:latin typeface="Arial"/>
              </a:rPr>
              <a:t>•  Blame proposes both a clause and a monitor signature</a:t>
            </a:r>
          </a:p>
          <a:p>
            <a:pPr>
              <a:lnSpc>
                <a:spcPct val="108000"/>
              </a:lnSpc>
              <a:spcAft>
                <a:spcPts val="200"/>
              </a:spcAft>
            </a:pPr>
            <a:r>
              <a:rPr sz="1500" b="0" i="0">
                <a:solidFill>
                  <a:srgbClr val="111111"/>
                </a:solidFill>
                <a:latin typeface="Arial"/>
              </a:rPr>
              <a:t>•  Replays become new library cases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82296" cy="566928"/>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301752"/>
            <a:ext cx="10515600" cy="548640"/>
          </a:xfrm>
          <a:prstGeom prst="rect">
            <a:avLst/>
          </a:prstGeom>
          <a:noFill/>
        </p:spPr>
        <p:txBody>
          <a:bodyPr wrap="square" lIns="45720" rIns="45720" tIns="27432" bIns="27432" anchor="ctr">
            <a:spAutoFit/>
          </a:bodyPr>
          <a:lstStyle/>
          <a:p>
            <a:pPr algn="l">
              <a:lnSpc>
                <a:spcPct val="110000"/>
              </a:lnSpc>
            </a:pPr>
            <a:r>
              <a:rPr sz="2600" b="1" i="0">
                <a:solidFill>
                  <a:srgbClr val="111111"/>
                </a:solidFill>
                <a:latin typeface="Arial"/>
              </a:rPr>
              <a:t>Component 5 · The policy optimizer</a:t>
            </a:r>
          </a:p>
        </p:txBody>
      </p:sp>
      <p:sp>
        <p:nvSpPr>
          <p:cNvPr id="4" name="TextBox 3"/>
          <p:cNvSpPr txBox="1"/>
          <p:nvPr/>
        </p:nvSpPr>
        <p:spPr>
          <a:xfrm>
            <a:off x="640080" y="868680"/>
            <a:ext cx="10972800" cy="365760"/>
          </a:xfrm>
          <a:prstGeom prst="rect">
            <a:avLst/>
          </a:prstGeom>
          <a:noFill/>
        </p:spPr>
        <p:txBody>
          <a:bodyPr wrap="square" lIns="45720" rIns="45720" tIns="27432" bIns="27432" anchor="t">
            <a:spAutoFit/>
          </a:bodyPr>
          <a:lstStyle/>
          <a:p>
            <a:pPr algn="l">
              <a:lnSpc>
                <a:spcPct val="110000"/>
              </a:lnSpc>
            </a:pPr>
            <a:r>
              <a:rPr sz="1300" b="0" i="0">
                <a:solidFill>
                  <a:srgbClr val="666666"/>
                </a:solidFill>
                <a:latin typeface="Arial"/>
              </a:rPr>
              <a:t>Constrained search with a feedback ablation</a:t>
            </a:r>
          </a:p>
        </p:txBody>
      </p:sp>
      <p:sp>
        <p:nvSpPr>
          <p:cNvPr id="5" name="TextBox 4"/>
          <p:cNvSpPr txBox="1"/>
          <p:nvPr/>
        </p:nvSpPr>
        <p:spPr>
          <a:xfrm>
            <a:off x="8503920" y="109728"/>
            <a:ext cx="3200400" cy="274320"/>
          </a:xfrm>
          <a:prstGeom prst="rect">
            <a:avLst/>
          </a:prstGeom>
          <a:noFill/>
        </p:spPr>
        <p:txBody>
          <a:bodyPr wrap="square" lIns="45720" rIns="45720" tIns="27432" bIns="27432" anchor="t">
            <a:spAutoFit/>
          </a:bodyPr>
          <a:lstStyle/>
          <a:p>
            <a:pPr algn="r">
              <a:lnSpc>
                <a:spcPct val="110000"/>
              </a:lnSpc>
            </a:pPr>
            <a:r>
              <a:rPr sz="900" b="1" i="0">
                <a:solidFill>
                  <a:srgbClr val="365E9E"/>
                </a:solidFill>
                <a:latin typeface="Arial"/>
              </a:rPr>
              <a:t>4 · COMPONENTS</a:t>
            </a:r>
          </a:p>
        </p:txBody>
      </p:sp>
      <p:cxnSp>
        <p:nvCxnSpPr>
          <p:cNvPr id="6" name="Connector 5"/>
          <p:cNvCxnSpPr/>
          <p:nvPr/>
        </p:nvCxnSpPr>
        <p:spPr>
          <a:xfrm>
            <a:off x="457200" y="6446520"/>
            <a:ext cx="11277295" cy="0"/>
          </a:xfrm>
          <a:prstGeom prst="line">
            <a:avLst/>
          </a:prstGeom>
          <a:ln w="6350">
            <a:solidFill>
              <a:srgbClr val="C9C9C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57200" y="6473952"/>
            <a:ext cx="10058400" cy="274320"/>
          </a:xfrm>
          <a:prstGeom prst="rect">
            <a:avLst/>
          </a:prstGeom>
          <a:noFill/>
        </p:spPr>
        <p:txBody>
          <a:bodyPr wrap="square" lIns="45720" rIns="45720" tIns="27432" bIns="27432" anchor="t">
            <a:spAutoFit/>
          </a:bodyPr>
          <a:lstStyle/>
          <a:p>
            <a:pPr algn="l">
              <a:lnSpc>
                <a:spcPct val="110000"/>
              </a:lnSpc>
            </a:pPr>
            <a:r>
              <a:rPr sz="800" b="0" i="0">
                <a:solidFill>
                  <a:srgbClr val="666666"/>
                </a:solidFill>
                <a:latin typeface="Arial"/>
              </a:rPr>
              <a:t>Incident-aware optimization · design proposal · containment-extension · October 2026 · no benchmark improvement measured</a:t>
            </a:r>
          </a:p>
        </p:txBody>
      </p:sp>
      <p:sp>
        <p:nvSpPr>
          <p:cNvPr id="8" name="TextBox 7"/>
          <p:cNvSpPr txBox="1"/>
          <p:nvPr/>
        </p:nvSpPr>
        <p:spPr>
          <a:xfrm>
            <a:off x="10820095" y="6473952"/>
            <a:ext cx="914400" cy="274320"/>
          </a:xfrm>
          <a:prstGeom prst="rect">
            <a:avLst/>
          </a:prstGeom>
          <a:noFill/>
        </p:spPr>
        <p:txBody>
          <a:bodyPr wrap="square" lIns="45720" rIns="45720" tIns="27432" bIns="27432" anchor="t">
            <a:spAutoFit/>
          </a:bodyPr>
          <a:lstStyle/>
          <a:p>
            <a:pPr algn="r">
              <a:lnSpc>
                <a:spcPct val="110000"/>
              </a:lnSpc>
            </a:pPr>
            <a:r>
              <a:rPr sz="900" b="0" i="0">
                <a:solidFill>
                  <a:srgbClr val="666666"/>
                </a:solidFill>
                <a:latin typeface="Arial"/>
              </a:rPr>
              <a:t>19</a:t>
            </a:r>
          </a:p>
        </p:txBody>
      </p:sp>
      <p:sp>
        <p:nvSpPr>
          <p:cNvPr id="9" name="Rounded Rectangle 8"/>
          <p:cNvSpPr/>
          <p:nvPr/>
        </p:nvSpPr>
        <p:spPr>
          <a:xfrm>
            <a:off x="457200" y="1325880"/>
            <a:ext cx="11277295" cy="822960"/>
          </a:xfrm>
          <a:prstGeom prst="roundRect">
            <a:avLst>
              <a:gd name="adj" fmla="val 6000"/>
            </a:avLst>
          </a:prstGeom>
          <a:solidFill>
            <a:srgbClr val="EDF4FB"/>
          </a:solidFill>
          <a:ln w="12700">
            <a:solidFill>
              <a:srgbClr val="365E9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57200" y="1325880"/>
            <a:ext cx="11277295" cy="822960"/>
          </a:xfrm>
          <a:prstGeom prst="rect">
            <a:avLst/>
          </a:prstGeom>
          <a:noFill/>
        </p:spPr>
        <p:txBody>
          <a:bodyPr wrap="square" lIns="45720" rIns="45720" tIns="27432" bIns="27432" anchor="ctr">
            <a:spAutoFit/>
          </a:bodyPr>
          <a:lstStyle/>
          <a:p>
            <a:pPr algn="ctr">
              <a:lnSpc>
                <a:spcPct val="110000"/>
              </a:lnSpc>
            </a:pPr>
            <a:r>
              <a:rPr sz="2000" b="1" i="0">
                <a:solidFill>
                  <a:srgbClr val="365E9E"/>
                </a:solidFill>
                <a:latin typeface="Arial"/>
              </a:rPr>
              <a:t>min R(θ)   s.t.   U ≥ U₀ − δ,   C ≤ B,   F ≤ α,   Reg(θ) = 0</a:t>
            </a:r>
          </a:p>
        </p:txBody>
      </p:sp>
      <p:sp>
        <p:nvSpPr>
          <p:cNvPr id="11" name="Rounded Rectangle 10"/>
          <p:cNvSpPr/>
          <p:nvPr/>
        </p:nvSpPr>
        <p:spPr>
          <a:xfrm>
            <a:off x="457200" y="2377440"/>
            <a:ext cx="5532120" cy="2011680"/>
          </a:xfrm>
          <a:prstGeom prst="roundRect">
            <a:avLst>
              <a:gd name="adj" fmla="val 6000"/>
            </a:avLst>
          </a:prstGeom>
          <a:solidFill>
            <a:srgbClr val="EDF4FB"/>
          </a:solidFill>
          <a:ln w="12700">
            <a:solidFill>
              <a:srgbClr val="365E9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66928" y="2450592"/>
            <a:ext cx="5330952" cy="365760"/>
          </a:xfrm>
          <a:prstGeom prst="rect">
            <a:avLst/>
          </a:prstGeom>
          <a:noFill/>
        </p:spPr>
        <p:txBody>
          <a:bodyPr wrap="square" lIns="45720" rIns="45720" tIns="27432" bIns="27432" anchor="t">
            <a:spAutoFit/>
          </a:bodyPr>
          <a:lstStyle/>
          <a:p>
            <a:pPr algn="l">
              <a:lnSpc>
                <a:spcPct val="110000"/>
              </a:lnSpc>
            </a:pPr>
            <a:r>
              <a:rPr sz="1600" b="1" i="0">
                <a:solidFill>
                  <a:srgbClr val="365E9E"/>
                </a:solidFill>
                <a:latin typeface="Arial"/>
              </a:rPr>
              <a:t>θ is</a:t>
            </a:r>
          </a:p>
        </p:txBody>
      </p:sp>
      <p:sp>
        <p:nvSpPr>
          <p:cNvPr id="13" name="TextBox 12"/>
          <p:cNvSpPr txBox="1"/>
          <p:nvPr/>
        </p:nvSpPr>
        <p:spPr>
          <a:xfrm>
            <a:off x="530352" y="2816352"/>
            <a:ext cx="5385816" cy="1508760"/>
          </a:xfrm>
          <a:prstGeom prst="rect">
            <a:avLst/>
          </a:prstGeom>
          <a:noFill/>
        </p:spPr>
        <p:txBody>
          <a:bodyPr wrap="square" lIns="45720" rIns="45720">
            <a:spAutoFit/>
          </a:bodyPr>
          <a:lstStyle/>
          <a:p>
            <a:pPr>
              <a:lnSpc>
                <a:spcPct val="108000"/>
              </a:lnSpc>
              <a:spcAft>
                <a:spcPts val="200"/>
              </a:spcAft>
            </a:pPr>
            <a:r>
              <a:rPr sz="1500" b="0" i="0">
                <a:solidFill>
                  <a:srgbClr val="111111"/>
                </a:solidFill>
                <a:latin typeface="Arial"/>
              </a:rPr>
              <a:t>•  Instruction clauses from a reviewed catalog</a:t>
            </a:r>
          </a:p>
          <a:p>
            <a:pPr>
              <a:lnSpc>
                <a:spcPct val="108000"/>
              </a:lnSpc>
              <a:spcAft>
                <a:spcPts val="200"/>
              </a:spcAft>
            </a:pPr>
            <a:r>
              <a:rPr sz="1500" b="0" i="0">
                <a:solidFill>
                  <a:srgbClr val="111111"/>
                </a:solidFill>
                <a:latin typeface="Arial"/>
              </a:rPr>
              <a:t>•  Monitor rules and thresholds</a:t>
            </a:r>
          </a:p>
          <a:p>
            <a:pPr>
              <a:lnSpc>
                <a:spcPct val="108000"/>
              </a:lnSpc>
              <a:spcAft>
                <a:spcPts val="200"/>
              </a:spcAft>
            </a:pPr>
            <a:r>
              <a:rPr sz="1500" b="0" i="0">
                <a:solidFill>
                  <a:srgbClr val="111111"/>
                </a:solidFill>
                <a:latin typeface="Arial"/>
              </a:rPr>
              <a:t>•  Approval mode per tool class</a:t>
            </a:r>
          </a:p>
        </p:txBody>
      </p:sp>
      <p:sp>
        <p:nvSpPr>
          <p:cNvPr id="14" name="Rounded Rectangle 13"/>
          <p:cNvSpPr/>
          <p:nvPr/>
        </p:nvSpPr>
        <p:spPr>
          <a:xfrm>
            <a:off x="6400800" y="2377440"/>
            <a:ext cx="5330952" cy="2011680"/>
          </a:xfrm>
          <a:prstGeom prst="roundRect">
            <a:avLst>
              <a:gd name="adj" fmla="val 6000"/>
            </a:avLst>
          </a:prstGeom>
          <a:solidFill>
            <a:srgbClr val="FBEFEC"/>
          </a:solidFill>
          <a:ln w="12700">
            <a:solidFill>
              <a:srgbClr val="B348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510528" y="2450592"/>
            <a:ext cx="5129784" cy="365760"/>
          </a:xfrm>
          <a:prstGeom prst="rect">
            <a:avLst/>
          </a:prstGeom>
          <a:noFill/>
        </p:spPr>
        <p:txBody>
          <a:bodyPr wrap="square" lIns="45720" rIns="45720" tIns="27432" bIns="27432" anchor="t">
            <a:spAutoFit/>
          </a:bodyPr>
          <a:lstStyle/>
          <a:p>
            <a:pPr algn="l">
              <a:lnSpc>
                <a:spcPct val="110000"/>
              </a:lnSpc>
            </a:pPr>
            <a:r>
              <a:rPr sz="1600" b="1" i="0">
                <a:solidFill>
                  <a:srgbClr val="B34831"/>
                </a:solidFill>
                <a:latin typeface="Arial"/>
              </a:rPr>
              <a:t>Rules of the search</a:t>
            </a:r>
          </a:p>
        </p:txBody>
      </p:sp>
      <p:sp>
        <p:nvSpPr>
          <p:cNvPr id="16" name="TextBox 15"/>
          <p:cNvSpPr txBox="1"/>
          <p:nvPr/>
        </p:nvSpPr>
        <p:spPr>
          <a:xfrm>
            <a:off x="6473952" y="2816352"/>
            <a:ext cx="5184648" cy="1508760"/>
          </a:xfrm>
          <a:prstGeom prst="rect">
            <a:avLst/>
          </a:prstGeom>
          <a:noFill/>
        </p:spPr>
        <p:txBody>
          <a:bodyPr wrap="square" lIns="45720" rIns="45720">
            <a:spAutoFit/>
          </a:bodyPr>
          <a:lstStyle/>
          <a:p>
            <a:pPr>
              <a:lnSpc>
                <a:spcPct val="108000"/>
              </a:lnSpc>
              <a:spcAft>
                <a:spcPts val="200"/>
              </a:spcAft>
            </a:pPr>
            <a:r>
              <a:rPr sz="1500" b="0" i="0">
                <a:solidFill>
                  <a:srgbClr val="111111"/>
                </a:solidFill>
                <a:latin typeface="Arial"/>
              </a:rPr>
              <a:t>•  Proposer sees aggregates only</a:t>
            </a:r>
          </a:p>
          <a:p>
            <a:pPr>
              <a:lnSpc>
                <a:spcPct val="108000"/>
              </a:lnSpc>
              <a:spcAft>
                <a:spcPts val="200"/>
              </a:spcAft>
            </a:pPr>
            <a:r>
              <a:rPr sz="1500" b="0" i="0">
                <a:solidFill>
                  <a:srgbClr val="111111"/>
                </a:solidFill>
                <a:latin typeface="Arial"/>
              </a:rPr>
              <a:t>•  Selection rule frozen before search</a:t>
            </a:r>
          </a:p>
          <a:p>
            <a:pPr>
              <a:lnSpc>
                <a:spcPct val="108000"/>
              </a:lnSpc>
              <a:spcAft>
                <a:spcPts val="200"/>
              </a:spcAft>
            </a:pPr>
            <a:r>
              <a:rPr sz="1500" b="0" i="0">
                <a:solidFill>
                  <a:srgbClr val="111111"/>
                </a:solidFill>
                <a:latin typeface="Arial"/>
              </a:rPr>
              <a:t>•  Missing outcomes stay unknown</a:t>
            </a:r>
          </a:p>
        </p:txBody>
      </p:sp>
      <p:graphicFrame>
        <p:nvGraphicFramePr>
          <p:cNvPr id="17" name="Table 16"/>
          <p:cNvGraphicFramePr>
            <a:graphicFrameLocks noGrp="1"/>
          </p:cNvGraphicFramePr>
          <p:nvPr/>
        </p:nvGraphicFramePr>
        <p:xfrm>
          <a:off x="457200" y="4572000"/>
          <a:ext cx="11277294" cy="1737360"/>
        </p:xfrm>
        <a:graphic>
          <a:graphicData uri="http://schemas.openxmlformats.org/drawingml/2006/table">
            <a:tbl>
              <a:tblPr firstRow="1" bandRow="1">
                <a:tableStyleId>{5C22544A-7EE6-4342-B048-85BDC9FD1C3A}</a:tableStyleId>
              </a:tblPr>
              <a:tblGrid>
                <a:gridCol w="3075625"/>
                <a:gridCol w="8201669"/>
              </a:tblGrid>
              <a:tr h="289560">
                <a:tc>
                  <a:txBody>
                    <a:bodyPr wrap="square"/>
                    <a:lstStyle/>
                    <a:p>
                      <a:pPr>
                        <a:lnSpc>
                          <a:spcPct val="105000"/>
                        </a:lnSpc>
                      </a:pPr>
                      <a:r>
                        <a:rPr sz="1200" b="1" i="0">
                          <a:solidFill>
                            <a:srgbClr val="FFFFFF"/>
                          </a:solidFill>
                          <a:latin typeface="Arial"/>
                        </a:rPr>
                        <a:t>Arm</a:t>
                      </a:r>
                    </a:p>
                  </a:txBody>
                  <a:tcPr marL="54864" marR="54864" marT="27432" marB="27432">
                    <a:solidFill>
                      <a:srgbClr val="365E9E"/>
                    </a:solidFill>
                  </a:tcPr>
                </a:tc>
                <a:tc>
                  <a:txBody>
                    <a:bodyPr wrap="square"/>
                    <a:lstStyle/>
                    <a:p>
                      <a:pPr>
                        <a:lnSpc>
                          <a:spcPct val="105000"/>
                        </a:lnSpc>
                      </a:pPr>
                      <a:r>
                        <a:rPr sz="1200" b="1" i="0">
                          <a:solidFill>
                            <a:srgbClr val="FFFFFF"/>
                          </a:solidFill>
                          <a:latin typeface="Arial"/>
                        </a:rPr>
                        <a:t>Selects on</a:t>
                      </a:r>
                    </a:p>
                  </a:txBody>
                  <a:tcPr marL="54864" marR="54864" marT="27432" marB="27432">
                    <a:solidFill>
                      <a:srgbClr val="365E9E"/>
                    </a:solidFill>
                  </a:tcPr>
                </a:tc>
              </a:tr>
              <a:tr h="289560">
                <a:tc>
                  <a:txBody>
                    <a:bodyPr wrap="square"/>
                    <a:lstStyle/>
                    <a:p>
                      <a:pPr>
                        <a:lnSpc>
                          <a:spcPct val="105000"/>
                        </a:lnSpc>
                      </a:pPr>
                      <a:r>
                        <a:rPr sz="1200" b="1" i="0">
                          <a:solidFill>
                            <a:srgbClr val="111111"/>
                          </a:solidFill>
                          <a:latin typeface="Arial"/>
                        </a:rPr>
                        <a:t>B0 · upstream</a:t>
                      </a:r>
                    </a:p>
                  </a:txBody>
                  <a:tcPr marL="54864" marR="54864" marT="27432" marB="27432">
                    <a:solidFill>
                      <a:srgbClr val="FFFFFF"/>
                    </a:solidFill>
                  </a:tcPr>
                </a:tc>
                <a:tc>
                  <a:txBody>
                    <a:bodyPr wrap="square"/>
                    <a:lstStyle/>
                    <a:p>
                      <a:pPr>
                        <a:lnSpc>
                          <a:spcPct val="105000"/>
                        </a:lnSpc>
                      </a:pPr>
                      <a:r>
                        <a:rPr sz="1200" b="0" i="0">
                          <a:solidFill>
                            <a:srgbClr val="111111"/>
                          </a:solidFill>
                          <a:latin typeface="Arial"/>
                        </a:rPr>
                        <a:t>nothing (reference)</a:t>
                      </a:r>
                    </a:p>
                  </a:txBody>
                  <a:tcPr marL="54864" marR="54864" marT="27432" marB="27432">
                    <a:solidFill>
                      <a:srgbClr val="FFFFFF"/>
                    </a:solidFill>
                  </a:tcPr>
                </a:tc>
              </a:tr>
              <a:tr h="289560">
                <a:tc>
                  <a:txBody>
                    <a:bodyPr wrap="square"/>
                    <a:lstStyle/>
                    <a:p>
                      <a:pPr>
                        <a:lnSpc>
                          <a:spcPct val="105000"/>
                        </a:lnSpc>
                      </a:pPr>
                      <a:r>
                        <a:rPr sz="1200" b="1" i="0">
                          <a:solidFill>
                            <a:srgbClr val="111111"/>
                          </a:solidFill>
                          <a:latin typeface="Arial"/>
                        </a:rPr>
                        <a:t>B1 · observation only</a:t>
                      </a:r>
                    </a:p>
                  </a:txBody>
                  <a:tcPr marL="54864" marR="54864" marT="27432" marB="27432">
                    <a:solidFill>
                      <a:srgbClr val="F4F6FA"/>
                    </a:solidFill>
                  </a:tcPr>
                </a:tc>
                <a:tc>
                  <a:txBody>
                    <a:bodyPr wrap="square"/>
                    <a:lstStyle/>
                    <a:p>
                      <a:pPr>
                        <a:lnSpc>
                          <a:spcPct val="105000"/>
                        </a:lnSpc>
                      </a:pPr>
                      <a:r>
                        <a:rPr sz="1200" b="0" i="0">
                          <a:solidFill>
                            <a:srgbClr val="111111"/>
                          </a:solidFill>
                          <a:latin typeface="Arial"/>
                        </a:rPr>
                        <a:t>nothing; observer added</a:t>
                      </a:r>
                    </a:p>
                  </a:txBody>
                  <a:tcPr marL="54864" marR="54864" marT="27432" marB="27432">
                    <a:solidFill>
                      <a:srgbClr val="F4F6FA"/>
                    </a:solidFill>
                  </a:tcPr>
                </a:tc>
              </a:tr>
              <a:tr h="289560">
                <a:tc>
                  <a:txBody>
                    <a:bodyPr wrap="square"/>
                    <a:lstStyle/>
                    <a:p>
                      <a:pPr>
                        <a:lnSpc>
                          <a:spcPct val="105000"/>
                        </a:lnSpc>
                      </a:pPr>
                      <a:r>
                        <a:rPr sz="1200" b="1" i="0">
                          <a:solidFill>
                            <a:srgbClr val="111111"/>
                          </a:solidFill>
                          <a:latin typeface="Arial"/>
                        </a:rPr>
                        <a:t>B2 · established defence</a:t>
                      </a:r>
                    </a:p>
                  </a:txBody>
                  <a:tcPr marL="54864" marR="54864" marT="27432" marB="27432">
                    <a:solidFill>
                      <a:srgbClr val="FFFFFF"/>
                    </a:solidFill>
                  </a:tcPr>
                </a:tc>
                <a:tc>
                  <a:txBody>
                    <a:bodyPr wrap="square"/>
                    <a:lstStyle/>
                    <a:p>
                      <a:pPr>
                        <a:lnSpc>
                          <a:spcPct val="105000"/>
                        </a:lnSpc>
                      </a:pPr>
                      <a:r>
                        <a:rPr sz="1200" b="0" i="0">
                          <a:solidFill>
                            <a:srgbClr val="111111"/>
                          </a:solidFill>
                          <a:latin typeface="Arial"/>
                        </a:rPr>
                        <a:t>AgentDojo defences; AI Control protocols</a:t>
                      </a:r>
                    </a:p>
                  </a:txBody>
                  <a:tcPr marL="54864" marR="54864" marT="27432" marB="27432">
                    <a:solidFill>
                      <a:srgbClr val="FFFFFF"/>
                    </a:solidFill>
                  </a:tcPr>
                </a:tc>
              </a:tr>
              <a:tr h="289560">
                <a:tc>
                  <a:txBody>
                    <a:bodyPr wrap="square"/>
                    <a:lstStyle/>
                    <a:p>
                      <a:pPr>
                        <a:lnSpc>
                          <a:spcPct val="105000"/>
                        </a:lnSpc>
                      </a:pPr>
                      <a:r>
                        <a:rPr sz="1200" b="1" i="0">
                          <a:solidFill>
                            <a:srgbClr val="111111"/>
                          </a:solidFill>
                          <a:latin typeface="Arial"/>
                        </a:rPr>
                        <a:t>B3 · proxy feedback</a:t>
                      </a:r>
                    </a:p>
                  </a:txBody>
                  <a:tcPr marL="54864" marR="54864" marT="27432" marB="27432">
                    <a:solidFill>
                      <a:srgbClr val="F4F6FA"/>
                    </a:solidFill>
                  </a:tcPr>
                </a:tc>
                <a:tc>
                  <a:txBody>
                    <a:bodyPr wrap="square"/>
                    <a:lstStyle/>
                    <a:p>
                      <a:pPr>
                        <a:lnSpc>
                          <a:spcPct val="105000"/>
                        </a:lnSpc>
                      </a:pPr>
                      <a:r>
                        <a:rPr sz="1200" b="0" i="0">
                          <a:solidFill>
                            <a:srgbClr val="111111"/>
                          </a:solidFill>
                          <a:latin typeface="Arial"/>
                        </a:rPr>
                        <a:t>utility + transcript judge</a:t>
                      </a:r>
                    </a:p>
                  </a:txBody>
                  <a:tcPr marL="54864" marR="54864" marT="27432" marB="27432">
                    <a:solidFill>
                      <a:srgbClr val="F4F6FA"/>
                    </a:solidFill>
                  </a:tcPr>
                </a:tc>
              </a:tr>
              <a:tr h="289560">
                <a:tc>
                  <a:txBody>
                    <a:bodyPr wrap="square"/>
                    <a:lstStyle/>
                    <a:p>
                      <a:pPr>
                        <a:lnSpc>
                          <a:spcPct val="105000"/>
                        </a:lnSpc>
                      </a:pPr>
                      <a:r>
                        <a:rPr sz="1200" b="1" i="0">
                          <a:solidFill>
                            <a:srgbClr val="111111"/>
                          </a:solidFill>
                          <a:latin typeface="Arial"/>
                        </a:rPr>
                        <a:t>B4 · incident feedback</a:t>
                      </a:r>
                    </a:p>
                  </a:txBody>
                  <a:tcPr marL="54864" marR="54864" marT="27432" marB="27432">
                    <a:solidFill>
                      <a:srgbClr val="FFFFFF"/>
                    </a:solidFill>
                  </a:tcPr>
                </a:tc>
                <a:tc>
                  <a:txBody>
                    <a:bodyPr wrap="square"/>
                    <a:lstStyle/>
                    <a:p>
                      <a:pPr>
                        <a:lnSpc>
                          <a:spcPct val="105000"/>
                        </a:lnSpc>
                      </a:pPr>
                      <a:r>
                        <a:rPr sz="1200" b="0" i="0">
                          <a:solidFill>
                            <a:srgbClr val="111111"/>
                          </a:solidFill>
                          <a:latin typeface="Arial"/>
                        </a:rPr>
                        <a:t>utility + verified effects   ← primary contrast: B4 vs B3</a:t>
                      </a:r>
                    </a:p>
                  </a:txBody>
                  <a:tcPr marL="54864" marR="54864" marT="27432" marB="27432">
                    <a:solidFill>
                      <a:srgbClr val="FFFF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82296" cy="566928"/>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301752"/>
            <a:ext cx="10515600" cy="548640"/>
          </a:xfrm>
          <a:prstGeom prst="rect">
            <a:avLst/>
          </a:prstGeom>
          <a:noFill/>
        </p:spPr>
        <p:txBody>
          <a:bodyPr wrap="square" lIns="45720" rIns="45720" tIns="27432" bIns="27432" anchor="ctr">
            <a:spAutoFit/>
          </a:bodyPr>
          <a:lstStyle/>
          <a:p>
            <a:pPr algn="l">
              <a:lnSpc>
                <a:spcPct val="110000"/>
              </a:lnSpc>
            </a:pPr>
            <a:r>
              <a:rPr sz="2600" b="1" i="0">
                <a:solidFill>
                  <a:srgbClr val="111111"/>
                </a:solidFill>
                <a:latin typeface="Arial"/>
              </a:rPr>
              <a:t>Component 6 · The action monitor</a:t>
            </a:r>
          </a:p>
        </p:txBody>
      </p:sp>
      <p:sp>
        <p:nvSpPr>
          <p:cNvPr id="4" name="TextBox 3"/>
          <p:cNvSpPr txBox="1"/>
          <p:nvPr/>
        </p:nvSpPr>
        <p:spPr>
          <a:xfrm>
            <a:off x="640080" y="868680"/>
            <a:ext cx="10972800" cy="365760"/>
          </a:xfrm>
          <a:prstGeom prst="rect">
            <a:avLst/>
          </a:prstGeom>
          <a:noFill/>
        </p:spPr>
        <p:txBody>
          <a:bodyPr wrap="square" lIns="45720" rIns="45720" tIns="27432" bIns="27432" anchor="t">
            <a:spAutoFit/>
          </a:bodyPr>
          <a:lstStyle/>
          <a:p>
            <a:pPr algn="l">
              <a:lnSpc>
                <a:spcPct val="110000"/>
              </a:lnSpc>
            </a:pPr>
            <a:r>
              <a:rPr sz="1300" b="0" i="0">
                <a:solidFill>
                  <a:srgbClr val="666666"/>
                </a:solidFill>
                <a:latin typeface="Arial"/>
              </a:rPr>
              <a:t>The library at runtime, as an Inspect tool-call approver</a:t>
            </a:r>
          </a:p>
        </p:txBody>
      </p:sp>
      <p:sp>
        <p:nvSpPr>
          <p:cNvPr id="5" name="TextBox 4"/>
          <p:cNvSpPr txBox="1"/>
          <p:nvPr/>
        </p:nvSpPr>
        <p:spPr>
          <a:xfrm>
            <a:off x="8503920" y="109728"/>
            <a:ext cx="3200400" cy="274320"/>
          </a:xfrm>
          <a:prstGeom prst="rect">
            <a:avLst/>
          </a:prstGeom>
          <a:noFill/>
        </p:spPr>
        <p:txBody>
          <a:bodyPr wrap="square" lIns="45720" rIns="45720" tIns="27432" bIns="27432" anchor="t">
            <a:spAutoFit/>
          </a:bodyPr>
          <a:lstStyle/>
          <a:p>
            <a:pPr algn="r">
              <a:lnSpc>
                <a:spcPct val="110000"/>
              </a:lnSpc>
            </a:pPr>
            <a:r>
              <a:rPr sz="900" b="1" i="0">
                <a:solidFill>
                  <a:srgbClr val="365E9E"/>
                </a:solidFill>
                <a:latin typeface="Arial"/>
              </a:rPr>
              <a:t>4 · COMPONENTS</a:t>
            </a:r>
          </a:p>
        </p:txBody>
      </p:sp>
      <p:cxnSp>
        <p:nvCxnSpPr>
          <p:cNvPr id="6" name="Connector 5"/>
          <p:cNvCxnSpPr/>
          <p:nvPr/>
        </p:nvCxnSpPr>
        <p:spPr>
          <a:xfrm>
            <a:off x="457200" y="6446520"/>
            <a:ext cx="11277295" cy="0"/>
          </a:xfrm>
          <a:prstGeom prst="line">
            <a:avLst/>
          </a:prstGeom>
          <a:ln w="6350">
            <a:solidFill>
              <a:srgbClr val="C9C9C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57200" y="6473952"/>
            <a:ext cx="10058400" cy="274320"/>
          </a:xfrm>
          <a:prstGeom prst="rect">
            <a:avLst/>
          </a:prstGeom>
          <a:noFill/>
        </p:spPr>
        <p:txBody>
          <a:bodyPr wrap="square" lIns="45720" rIns="45720" tIns="27432" bIns="27432" anchor="t">
            <a:spAutoFit/>
          </a:bodyPr>
          <a:lstStyle/>
          <a:p>
            <a:pPr algn="l">
              <a:lnSpc>
                <a:spcPct val="110000"/>
              </a:lnSpc>
            </a:pPr>
            <a:r>
              <a:rPr sz="800" b="0" i="0">
                <a:solidFill>
                  <a:srgbClr val="666666"/>
                </a:solidFill>
                <a:latin typeface="Arial"/>
              </a:rPr>
              <a:t>Incident-aware optimization · design proposal · containment-extension · October 2026 · no benchmark improvement measured</a:t>
            </a:r>
          </a:p>
        </p:txBody>
      </p:sp>
      <p:sp>
        <p:nvSpPr>
          <p:cNvPr id="8" name="TextBox 7"/>
          <p:cNvSpPr txBox="1"/>
          <p:nvPr/>
        </p:nvSpPr>
        <p:spPr>
          <a:xfrm>
            <a:off x="10820095" y="6473952"/>
            <a:ext cx="914400" cy="274320"/>
          </a:xfrm>
          <a:prstGeom prst="rect">
            <a:avLst/>
          </a:prstGeom>
          <a:noFill/>
        </p:spPr>
        <p:txBody>
          <a:bodyPr wrap="square" lIns="45720" rIns="45720" tIns="27432" bIns="27432" anchor="t">
            <a:spAutoFit/>
          </a:bodyPr>
          <a:lstStyle/>
          <a:p>
            <a:pPr algn="r">
              <a:lnSpc>
                <a:spcPct val="110000"/>
              </a:lnSpc>
            </a:pPr>
            <a:r>
              <a:rPr sz="900" b="0" i="0">
                <a:solidFill>
                  <a:srgbClr val="666666"/>
                </a:solidFill>
                <a:latin typeface="Arial"/>
              </a:rPr>
              <a:t>20</a:t>
            </a:r>
          </a:p>
        </p:txBody>
      </p:sp>
      <p:sp>
        <p:nvSpPr>
          <p:cNvPr id="9" name="Rounded Rectangle 8"/>
          <p:cNvSpPr/>
          <p:nvPr/>
        </p:nvSpPr>
        <p:spPr>
          <a:xfrm>
            <a:off x="457200" y="1325880"/>
            <a:ext cx="2103120" cy="1005840"/>
          </a:xfrm>
          <a:prstGeom prst="roundRect">
            <a:avLst>
              <a:gd name="adj" fmla="val 6000"/>
            </a:avLst>
          </a:prstGeom>
          <a:solidFill>
            <a:srgbClr val="FFFFFF"/>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57200" y="1325880"/>
            <a:ext cx="2103120" cy="1005840"/>
          </a:xfrm>
          <a:prstGeom prst="rect">
            <a:avLst/>
          </a:prstGeom>
          <a:noFill/>
        </p:spPr>
        <p:txBody>
          <a:bodyPr wrap="square" lIns="45720" rIns="45720" tIns="27432" bIns="27432" anchor="ctr">
            <a:spAutoFit/>
          </a:bodyPr>
          <a:lstStyle/>
          <a:p>
            <a:pPr algn="ctr">
              <a:lnSpc>
                <a:spcPct val="110000"/>
              </a:lnSpc>
            </a:pPr>
            <a:r>
              <a:rPr sz="1400" b="1" i="0">
                <a:solidFill>
                  <a:srgbClr val="111111"/>
                </a:solidFill>
                <a:latin typeface="Arial"/>
              </a:rPr>
              <a:t>Tool call</a:t>
            </a:r>
          </a:p>
        </p:txBody>
      </p:sp>
      <p:sp>
        <p:nvSpPr>
          <p:cNvPr id="11" name="Right Arrow 10"/>
          <p:cNvSpPr/>
          <p:nvPr/>
        </p:nvSpPr>
        <p:spPr>
          <a:xfrm>
            <a:off x="2587752" y="1691640"/>
            <a:ext cx="182880" cy="256032"/>
          </a:xfrm>
          <a:prstGeom prst="rightArrow">
            <a:avLst/>
          </a:prstGeom>
          <a:solidFill>
            <a:srgbClr val="365E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743200" y="1325880"/>
            <a:ext cx="2103120" cy="1005840"/>
          </a:xfrm>
          <a:prstGeom prst="roundRect">
            <a:avLst>
              <a:gd name="adj" fmla="val 6000"/>
            </a:avLst>
          </a:prstGeom>
          <a:solidFill>
            <a:srgbClr val="EDF4FB"/>
          </a:solidFill>
          <a:ln w="12700">
            <a:solidFill>
              <a:srgbClr val="365E9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743200" y="1325880"/>
            <a:ext cx="2103120" cy="1005840"/>
          </a:xfrm>
          <a:prstGeom prst="rect">
            <a:avLst/>
          </a:prstGeom>
          <a:noFill/>
        </p:spPr>
        <p:txBody>
          <a:bodyPr wrap="square" lIns="45720" rIns="45720" tIns="27432" bIns="27432" anchor="ctr">
            <a:spAutoFit/>
          </a:bodyPr>
          <a:lstStyle/>
          <a:p>
            <a:pPr algn="ctr">
              <a:lnSpc>
                <a:spcPct val="110000"/>
              </a:lnSpc>
            </a:pPr>
            <a:r>
              <a:rPr sz="1400" b="1" i="0">
                <a:solidFill>
                  <a:srgbClr val="365E9E"/>
                </a:solidFill>
                <a:latin typeface="Arial"/>
              </a:rPr>
              <a:t>Scope contract</a:t>
            </a:r>
          </a:p>
        </p:txBody>
      </p:sp>
      <p:sp>
        <p:nvSpPr>
          <p:cNvPr id="14" name="Right Arrow 13"/>
          <p:cNvSpPr/>
          <p:nvPr/>
        </p:nvSpPr>
        <p:spPr>
          <a:xfrm>
            <a:off x="4873752" y="1691640"/>
            <a:ext cx="182880" cy="256032"/>
          </a:xfrm>
          <a:prstGeom prst="rightArrow">
            <a:avLst/>
          </a:prstGeom>
          <a:solidFill>
            <a:srgbClr val="365E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029200" y="1325880"/>
            <a:ext cx="2103120" cy="1005840"/>
          </a:xfrm>
          <a:prstGeom prst="roundRect">
            <a:avLst>
              <a:gd name="adj" fmla="val 6000"/>
            </a:avLst>
          </a:prstGeom>
          <a:solidFill>
            <a:srgbClr val="EDF4FB"/>
          </a:solidFill>
          <a:ln w="12700">
            <a:solidFill>
              <a:srgbClr val="365E9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029200" y="1325880"/>
            <a:ext cx="2103120" cy="1005840"/>
          </a:xfrm>
          <a:prstGeom prst="rect">
            <a:avLst/>
          </a:prstGeom>
          <a:noFill/>
        </p:spPr>
        <p:txBody>
          <a:bodyPr wrap="square" lIns="45720" rIns="45720" tIns="27432" bIns="27432" anchor="ctr">
            <a:spAutoFit/>
          </a:bodyPr>
          <a:lstStyle/>
          <a:p>
            <a:pPr algn="ctr">
              <a:lnSpc>
                <a:spcPct val="110000"/>
              </a:lnSpc>
            </a:pPr>
            <a:r>
              <a:rPr sz="1400" b="1" i="0">
                <a:solidFill>
                  <a:srgbClr val="365E9E"/>
                </a:solidFill>
                <a:latin typeface="Arial"/>
              </a:rPr>
              <a:t>Incident signatures</a:t>
            </a:r>
          </a:p>
        </p:txBody>
      </p:sp>
      <p:sp>
        <p:nvSpPr>
          <p:cNvPr id="17" name="Right Arrow 16"/>
          <p:cNvSpPr/>
          <p:nvPr/>
        </p:nvSpPr>
        <p:spPr>
          <a:xfrm>
            <a:off x="7159752" y="1691640"/>
            <a:ext cx="182880" cy="256032"/>
          </a:xfrm>
          <a:prstGeom prst="rightArrow">
            <a:avLst/>
          </a:prstGeom>
          <a:solidFill>
            <a:srgbClr val="365E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315200" y="1325880"/>
            <a:ext cx="2103120" cy="1005840"/>
          </a:xfrm>
          <a:prstGeom prst="roundRect">
            <a:avLst>
              <a:gd name="adj" fmla="val 6000"/>
            </a:avLst>
          </a:prstGeom>
          <a:solidFill>
            <a:srgbClr val="EDF4FB"/>
          </a:solidFill>
          <a:ln w="12700">
            <a:solidFill>
              <a:srgbClr val="365E9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315200" y="1325880"/>
            <a:ext cx="2103120" cy="1005840"/>
          </a:xfrm>
          <a:prstGeom prst="rect">
            <a:avLst/>
          </a:prstGeom>
          <a:noFill/>
        </p:spPr>
        <p:txBody>
          <a:bodyPr wrap="square" lIns="45720" rIns="45720" tIns="27432" bIns="27432" anchor="ctr">
            <a:spAutoFit/>
          </a:bodyPr>
          <a:lstStyle/>
          <a:p>
            <a:pPr algn="ctr">
              <a:lnSpc>
                <a:spcPct val="110000"/>
              </a:lnSpc>
            </a:pPr>
            <a:r>
              <a:rPr sz="1400" b="1" i="0">
                <a:solidFill>
                  <a:srgbClr val="365E9E"/>
                </a:solidFill>
                <a:latin typeface="Arial"/>
              </a:rPr>
              <a:t>ControlArena monitor</a:t>
            </a:r>
          </a:p>
        </p:txBody>
      </p:sp>
      <p:sp>
        <p:nvSpPr>
          <p:cNvPr id="20" name="Right Arrow 19"/>
          <p:cNvSpPr/>
          <p:nvPr/>
        </p:nvSpPr>
        <p:spPr>
          <a:xfrm>
            <a:off x="9445752" y="1691640"/>
            <a:ext cx="182880" cy="256032"/>
          </a:xfrm>
          <a:prstGeom prst="rightArrow">
            <a:avLst/>
          </a:prstGeom>
          <a:solidFill>
            <a:srgbClr val="365E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9601200" y="1325880"/>
            <a:ext cx="2103120" cy="1005840"/>
          </a:xfrm>
          <a:prstGeom prst="roundRect">
            <a:avLst>
              <a:gd name="adj" fmla="val 6000"/>
            </a:avLst>
          </a:prstGeom>
          <a:solidFill>
            <a:srgbClr val="EAF5EF"/>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01200" y="1325880"/>
            <a:ext cx="2103120" cy="1005840"/>
          </a:xfrm>
          <a:prstGeom prst="rect">
            <a:avLst/>
          </a:prstGeom>
          <a:noFill/>
        </p:spPr>
        <p:txBody>
          <a:bodyPr wrap="square" lIns="45720" rIns="45720" tIns="27432" bIns="27432" anchor="ctr">
            <a:spAutoFit/>
          </a:bodyPr>
          <a:lstStyle/>
          <a:p>
            <a:pPr algn="ctr">
              <a:lnSpc>
                <a:spcPct val="110000"/>
              </a:lnSpc>
            </a:pPr>
            <a:r>
              <a:rPr sz="1400" b="1" i="0">
                <a:solidFill>
                  <a:srgbClr val="2E7D5B"/>
                </a:solidFill>
                <a:latin typeface="Arial"/>
              </a:rPr>
              <a:t>shadow → flag → defer → block</a:t>
            </a:r>
          </a:p>
        </p:txBody>
      </p:sp>
      <p:sp>
        <p:nvSpPr>
          <p:cNvPr id="23" name="Rounded Rectangle 22"/>
          <p:cNvSpPr/>
          <p:nvPr/>
        </p:nvSpPr>
        <p:spPr>
          <a:xfrm>
            <a:off x="457200" y="2743200"/>
            <a:ext cx="5532120" cy="3520440"/>
          </a:xfrm>
          <a:prstGeom prst="roundRect">
            <a:avLst>
              <a:gd name="adj" fmla="val 6000"/>
            </a:avLst>
          </a:prstGeom>
          <a:solidFill>
            <a:srgbClr val="EDF4FB"/>
          </a:solidFill>
          <a:ln w="12700">
            <a:solidFill>
              <a:srgbClr val="365E9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66928" y="2816352"/>
            <a:ext cx="5330952" cy="365760"/>
          </a:xfrm>
          <a:prstGeom prst="rect">
            <a:avLst/>
          </a:prstGeom>
          <a:noFill/>
        </p:spPr>
        <p:txBody>
          <a:bodyPr wrap="square" lIns="45720" rIns="45720" tIns="27432" bIns="27432" anchor="t">
            <a:spAutoFit/>
          </a:bodyPr>
          <a:lstStyle/>
          <a:p>
            <a:pPr algn="l">
              <a:lnSpc>
                <a:spcPct val="110000"/>
              </a:lnSpc>
            </a:pPr>
            <a:r>
              <a:rPr sz="1600" b="1" i="0">
                <a:solidFill>
                  <a:srgbClr val="365E9E"/>
                </a:solidFill>
                <a:latin typeface="Arial"/>
              </a:rPr>
              <a:t>Built on</a:t>
            </a:r>
          </a:p>
        </p:txBody>
      </p:sp>
      <p:sp>
        <p:nvSpPr>
          <p:cNvPr id="25" name="TextBox 24"/>
          <p:cNvSpPr txBox="1"/>
          <p:nvPr/>
        </p:nvSpPr>
        <p:spPr>
          <a:xfrm>
            <a:off x="530352" y="3182112"/>
            <a:ext cx="5385816" cy="3017520"/>
          </a:xfrm>
          <a:prstGeom prst="rect">
            <a:avLst/>
          </a:prstGeom>
          <a:noFill/>
        </p:spPr>
        <p:txBody>
          <a:bodyPr wrap="square" lIns="45720" rIns="45720">
            <a:spAutoFit/>
          </a:bodyPr>
          <a:lstStyle/>
          <a:p>
            <a:pPr>
              <a:lnSpc>
                <a:spcPct val="108000"/>
              </a:lnSpc>
              <a:spcAft>
                <a:spcPts val="200"/>
              </a:spcAft>
            </a:pPr>
            <a:r>
              <a:rPr sz="1500" b="0" i="0">
                <a:solidFill>
                  <a:srgbClr val="111111"/>
                </a:solidFill>
                <a:latin typeface="Arial"/>
              </a:rPr>
              <a:t>•  Inspect tool-call approvers: approve, modify, reject, escalate, terminate</a:t>
            </a:r>
          </a:p>
          <a:p>
            <a:pPr>
              <a:lnSpc>
                <a:spcPct val="108000"/>
              </a:lnSpc>
              <a:spcAft>
                <a:spcPts val="200"/>
              </a:spcAft>
            </a:pPr>
            <a:r>
              <a:rPr sz="1500" b="0" i="0">
                <a:solidFill>
                  <a:srgbClr val="111111"/>
                </a:solidFill>
                <a:latin typeface="Arial"/>
              </a:rPr>
              <a:t>•  ControlArena monitors with suspicion scores</a:t>
            </a:r>
          </a:p>
          <a:p>
            <a:pPr>
              <a:lnSpc>
                <a:spcPct val="108000"/>
              </a:lnSpc>
              <a:spcAft>
                <a:spcPts val="200"/>
              </a:spcAft>
            </a:pPr>
            <a:r>
              <a:rPr sz="1500" b="0" i="0">
                <a:solidFill>
                  <a:srgbClr val="111111"/>
                </a:solidFill>
                <a:latin typeface="Arial"/>
              </a:rPr>
              <a:t>•  AI Control micro-protocols: trusted monitoring, defer-to-trusted, resampling (Ctrl-Z)</a:t>
            </a:r>
          </a:p>
          <a:p>
            <a:pPr>
              <a:lnSpc>
                <a:spcPct val="108000"/>
              </a:lnSpc>
              <a:spcAft>
                <a:spcPts val="200"/>
              </a:spcAft>
            </a:pPr>
            <a:r>
              <a:rPr sz="1500" b="0" i="0">
                <a:solidFill>
                  <a:srgbClr val="111111"/>
                </a:solidFill>
                <a:latin typeface="Arial"/>
              </a:rPr>
              <a:t>•  Hawk's lesson: a monitor with less context than the agent is a known failure</a:t>
            </a:r>
          </a:p>
        </p:txBody>
      </p:sp>
      <p:sp>
        <p:nvSpPr>
          <p:cNvPr id="26" name="Rounded Rectangle 25"/>
          <p:cNvSpPr/>
          <p:nvPr/>
        </p:nvSpPr>
        <p:spPr>
          <a:xfrm>
            <a:off x="6400800" y="2743200"/>
            <a:ext cx="5330952" cy="3520440"/>
          </a:xfrm>
          <a:prstGeom prst="roundRect">
            <a:avLst>
              <a:gd name="adj" fmla="val 6000"/>
            </a:avLst>
          </a:prstGeom>
          <a:solidFill>
            <a:srgbClr val="EAF5EF"/>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510528" y="2816352"/>
            <a:ext cx="5129784" cy="365760"/>
          </a:xfrm>
          <a:prstGeom prst="rect">
            <a:avLst/>
          </a:prstGeom>
          <a:noFill/>
        </p:spPr>
        <p:txBody>
          <a:bodyPr wrap="square" lIns="45720" rIns="45720" tIns="27432" bIns="27432" anchor="t">
            <a:spAutoFit/>
          </a:bodyPr>
          <a:lstStyle/>
          <a:p>
            <a:pPr algn="l">
              <a:lnSpc>
                <a:spcPct val="110000"/>
              </a:lnSpc>
            </a:pPr>
            <a:r>
              <a:rPr sz="1600" b="1" i="0">
                <a:solidFill>
                  <a:srgbClr val="2E7D5B"/>
                </a:solidFill>
                <a:latin typeface="Arial"/>
              </a:rPr>
              <a:t>What we add</a:t>
            </a:r>
          </a:p>
        </p:txBody>
      </p:sp>
      <p:sp>
        <p:nvSpPr>
          <p:cNvPr id="28" name="TextBox 27"/>
          <p:cNvSpPr txBox="1"/>
          <p:nvPr/>
        </p:nvSpPr>
        <p:spPr>
          <a:xfrm>
            <a:off x="6473952" y="3182112"/>
            <a:ext cx="5184648" cy="3017520"/>
          </a:xfrm>
          <a:prstGeom prst="rect">
            <a:avLst/>
          </a:prstGeom>
          <a:noFill/>
        </p:spPr>
        <p:txBody>
          <a:bodyPr wrap="square" lIns="45720" rIns="45720">
            <a:spAutoFit/>
          </a:bodyPr>
          <a:lstStyle/>
          <a:p>
            <a:pPr>
              <a:lnSpc>
                <a:spcPct val="108000"/>
              </a:lnSpc>
              <a:spcAft>
                <a:spcPts val="200"/>
              </a:spcAft>
            </a:pPr>
            <a:r>
              <a:rPr sz="1500" b="0" i="0">
                <a:solidFill>
                  <a:srgbClr val="111111"/>
                </a:solidFill>
                <a:latin typeface="Arial"/>
              </a:rPr>
              <a:t>•  Every rule links to the incident and replay behind it</a:t>
            </a:r>
          </a:p>
          <a:p>
            <a:pPr>
              <a:lnSpc>
                <a:spcPct val="108000"/>
              </a:lnSpc>
              <a:spcAft>
                <a:spcPts val="200"/>
              </a:spcAft>
            </a:pPr>
            <a:r>
              <a:rPr sz="1500" b="0" i="0">
                <a:solidFill>
                  <a:srgbClr val="111111"/>
                </a:solidFill>
                <a:latin typeface="Arial"/>
              </a:rPr>
              <a:t>•  Thresholds from benign calibration at a fixed false-positive rate</a:t>
            </a:r>
          </a:p>
          <a:p>
            <a:pPr>
              <a:lnSpc>
                <a:spcPct val="108000"/>
              </a:lnSpc>
              <a:spcAft>
                <a:spcPts val="200"/>
              </a:spcAft>
            </a:pPr>
            <a:r>
              <a:rPr sz="1500" b="0" i="0">
                <a:solidFill>
                  <a:srgbClr val="111111"/>
                </a:solidFill>
                <a:latin typeface="Arial"/>
              </a:rPr>
              <a:t>•  Shadow mode first, so observation itself is measured</a:t>
            </a:r>
          </a:p>
          <a:p>
            <a:pPr>
              <a:lnSpc>
                <a:spcPct val="108000"/>
              </a:lnSpc>
              <a:spcAft>
                <a:spcPts val="200"/>
              </a:spcAft>
            </a:pPr>
            <a:r>
              <a:rPr sz="1500" b="0" i="0">
                <a:solidFill>
                  <a:srgbClr val="111111"/>
                </a:solidFill>
                <a:latin typeface="Arial"/>
              </a:rPr>
              <a:t>•  Monitor cost counts in C(θ); ships inside each release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82296" cy="566928"/>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301752"/>
            <a:ext cx="10515600" cy="548640"/>
          </a:xfrm>
          <a:prstGeom prst="rect">
            <a:avLst/>
          </a:prstGeom>
          <a:noFill/>
        </p:spPr>
        <p:txBody>
          <a:bodyPr wrap="square" lIns="45720" rIns="45720" tIns="27432" bIns="27432" anchor="ctr">
            <a:spAutoFit/>
          </a:bodyPr>
          <a:lstStyle/>
          <a:p>
            <a:pPr algn="l">
              <a:lnSpc>
                <a:spcPct val="110000"/>
              </a:lnSpc>
            </a:pPr>
            <a:r>
              <a:rPr sz="2600" b="1" i="0">
                <a:solidFill>
                  <a:srgbClr val="111111"/>
                </a:solidFill>
                <a:latin typeface="Arial"/>
              </a:rPr>
              <a:t>Component 7 · Automatic update and release</a:t>
            </a:r>
          </a:p>
        </p:txBody>
      </p:sp>
      <p:sp>
        <p:nvSpPr>
          <p:cNvPr id="4" name="TextBox 3"/>
          <p:cNvSpPr txBox="1"/>
          <p:nvPr/>
        </p:nvSpPr>
        <p:spPr>
          <a:xfrm>
            <a:off x="640080" y="868680"/>
            <a:ext cx="10972800" cy="365760"/>
          </a:xfrm>
          <a:prstGeom prst="rect">
            <a:avLst/>
          </a:prstGeom>
          <a:noFill/>
        </p:spPr>
        <p:txBody>
          <a:bodyPr wrap="square" lIns="45720" rIns="45720" tIns="27432" bIns="27432" anchor="t">
            <a:spAutoFit/>
          </a:bodyPr>
          <a:lstStyle/>
          <a:p>
            <a:pPr algn="l">
              <a:lnSpc>
                <a:spcPct val="110000"/>
              </a:lnSpc>
            </a:pPr>
            <a:r>
              <a:rPr sz="1300" b="0" i="0">
                <a:solidFill>
                  <a:srgbClr val="666666"/>
                </a:solidFill>
                <a:latin typeface="Arial"/>
              </a:rPr>
              <a:t>CI for safety policies: scheduled, gated, diffable, reversible</a:t>
            </a:r>
          </a:p>
        </p:txBody>
      </p:sp>
      <p:sp>
        <p:nvSpPr>
          <p:cNvPr id="5" name="TextBox 4"/>
          <p:cNvSpPr txBox="1"/>
          <p:nvPr/>
        </p:nvSpPr>
        <p:spPr>
          <a:xfrm>
            <a:off x="8503920" y="109728"/>
            <a:ext cx="3200400" cy="274320"/>
          </a:xfrm>
          <a:prstGeom prst="rect">
            <a:avLst/>
          </a:prstGeom>
          <a:noFill/>
        </p:spPr>
        <p:txBody>
          <a:bodyPr wrap="square" lIns="45720" rIns="45720" tIns="27432" bIns="27432" anchor="t">
            <a:spAutoFit/>
          </a:bodyPr>
          <a:lstStyle/>
          <a:p>
            <a:pPr algn="r">
              <a:lnSpc>
                <a:spcPct val="110000"/>
              </a:lnSpc>
            </a:pPr>
            <a:r>
              <a:rPr sz="900" b="1" i="0">
                <a:solidFill>
                  <a:srgbClr val="365E9E"/>
                </a:solidFill>
                <a:latin typeface="Arial"/>
              </a:rPr>
              <a:t>4 · COMPONENTS</a:t>
            </a:r>
          </a:p>
        </p:txBody>
      </p:sp>
      <p:cxnSp>
        <p:nvCxnSpPr>
          <p:cNvPr id="6" name="Connector 5"/>
          <p:cNvCxnSpPr/>
          <p:nvPr/>
        </p:nvCxnSpPr>
        <p:spPr>
          <a:xfrm>
            <a:off x="457200" y="6446520"/>
            <a:ext cx="11277295" cy="0"/>
          </a:xfrm>
          <a:prstGeom prst="line">
            <a:avLst/>
          </a:prstGeom>
          <a:ln w="6350">
            <a:solidFill>
              <a:srgbClr val="C9C9C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57200" y="6473952"/>
            <a:ext cx="10058400" cy="274320"/>
          </a:xfrm>
          <a:prstGeom prst="rect">
            <a:avLst/>
          </a:prstGeom>
          <a:noFill/>
        </p:spPr>
        <p:txBody>
          <a:bodyPr wrap="square" lIns="45720" rIns="45720" tIns="27432" bIns="27432" anchor="t">
            <a:spAutoFit/>
          </a:bodyPr>
          <a:lstStyle/>
          <a:p>
            <a:pPr algn="l">
              <a:lnSpc>
                <a:spcPct val="110000"/>
              </a:lnSpc>
            </a:pPr>
            <a:r>
              <a:rPr sz="800" b="0" i="0">
                <a:solidFill>
                  <a:srgbClr val="666666"/>
                </a:solidFill>
                <a:latin typeface="Arial"/>
              </a:rPr>
              <a:t>Incident-aware optimization · design proposal · containment-extension · October 2026 · no benchmark improvement measured</a:t>
            </a:r>
          </a:p>
        </p:txBody>
      </p:sp>
      <p:sp>
        <p:nvSpPr>
          <p:cNvPr id="8" name="TextBox 7"/>
          <p:cNvSpPr txBox="1"/>
          <p:nvPr/>
        </p:nvSpPr>
        <p:spPr>
          <a:xfrm>
            <a:off x="10820095" y="6473952"/>
            <a:ext cx="914400" cy="274320"/>
          </a:xfrm>
          <a:prstGeom prst="rect">
            <a:avLst/>
          </a:prstGeom>
          <a:noFill/>
        </p:spPr>
        <p:txBody>
          <a:bodyPr wrap="square" lIns="45720" rIns="45720" tIns="27432" bIns="27432" anchor="t">
            <a:spAutoFit/>
          </a:bodyPr>
          <a:lstStyle/>
          <a:p>
            <a:pPr algn="r">
              <a:lnSpc>
                <a:spcPct val="110000"/>
              </a:lnSpc>
            </a:pPr>
            <a:r>
              <a:rPr sz="900" b="0" i="0">
                <a:solidFill>
                  <a:srgbClr val="666666"/>
                </a:solidFill>
                <a:latin typeface="Arial"/>
              </a:rPr>
              <a:t>21</a:t>
            </a:r>
          </a:p>
        </p:txBody>
      </p:sp>
      <p:sp>
        <p:nvSpPr>
          <p:cNvPr id="9" name="Rounded Rectangle 8"/>
          <p:cNvSpPr/>
          <p:nvPr/>
        </p:nvSpPr>
        <p:spPr>
          <a:xfrm>
            <a:off x="457200" y="1325880"/>
            <a:ext cx="1261872" cy="777240"/>
          </a:xfrm>
          <a:prstGeom prst="roundRect">
            <a:avLst>
              <a:gd name="adj" fmla="val 6000"/>
            </a:avLst>
          </a:prstGeom>
          <a:solidFill>
            <a:srgbClr val="EDF4FB"/>
          </a:solidFill>
          <a:ln w="12700">
            <a:solidFill>
              <a:srgbClr val="365E9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57200" y="1325880"/>
            <a:ext cx="1261872" cy="777240"/>
          </a:xfrm>
          <a:prstGeom prst="rect">
            <a:avLst/>
          </a:prstGeom>
          <a:noFill/>
        </p:spPr>
        <p:txBody>
          <a:bodyPr wrap="square" lIns="45720" rIns="45720" tIns="27432" bIns="27432" anchor="ctr">
            <a:spAutoFit/>
          </a:bodyPr>
          <a:lstStyle/>
          <a:p>
            <a:pPr algn="ctr">
              <a:lnSpc>
                <a:spcPct val="110000"/>
              </a:lnSpc>
            </a:pPr>
            <a:r>
              <a:rPr sz="1200" b="1" i="0">
                <a:solidFill>
                  <a:srgbClr val="365E9E"/>
                </a:solidFill>
                <a:latin typeface="Arial"/>
              </a:rPr>
              <a:t>ingest</a:t>
            </a:r>
          </a:p>
        </p:txBody>
      </p:sp>
      <p:sp>
        <p:nvSpPr>
          <p:cNvPr id="11" name="Right Arrow 10"/>
          <p:cNvSpPr/>
          <p:nvPr/>
        </p:nvSpPr>
        <p:spPr>
          <a:xfrm>
            <a:off x="1728216" y="1591056"/>
            <a:ext cx="155448" cy="237744"/>
          </a:xfrm>
          <a:prstGeom prst="rightArrow">
            <a:avLst/>
          </a:prstGeom>
          <a:solidFill>
            <a:srgbClr val="365E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892808" y="1325880"/>
            <a:ext cx="1261872" cy="777240"/>
          </a:xfrm>
          <a:prstGeom prst="roundRect">
            <a:avLst>
              <a:gd name="adj" fmla="val 6000"/>
            </a:avLst>
          </a:prstGeom>
          <a:solidFill>
            <a:srgbClr val="EDF4FB"/>
          </a:solidFill>
          <a:ln w="12700">
            <a:solidFill>
              <a:srgbClr val="365E9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892808" y="1325880"/>
            <a:ext cx="1261872" cy="777240"/>
          </a:xfrm>
          <a:prstGeom prst="rect">
            <a:avLst/>
          </a:prstGeom>
          <a:noFill/>
        </p:spPr>
        <p:txBody>
          <a:bodyPr wrap="square" lIns="45720" rIns="45720" tIns="27432" bIns="27432" anchor="ctr">
            <a:spAutoFit/>
          </a:bodyPr>
          <a:lstStyle/>
          <a:p>
            <a:pPr algn="ctr">
              <a:lnSpc>
                <a:spcPct val="110000"/>
              </a:lnSpc>
            </a:pPr>
            <a:r>
              <a:rPr sz="1200" b="1" i="0">
                <a:solidFill>
                  <a:srgbClr val="365E9E"/>
                </a:solidFill>
                <a:latin typeface="Arial"/>
              </a:rPr>
              <a:t>synthesize</a:t>
            </a:r>
          </a:p>
        </p:txBody>
      </p:sp>
      <p:sp>
        <p:nvSpPr>
          <p:cNvPr id="14" name="Right Arrow 13"/>
          <p:cNvSpPr/>
          <p:nvPr/>
        </p:nvSpPr>
        <p:spPr>
          <a:xfrm>
            <a:off x="3163824" y="1591056"/>
            <a:ext cx="155448" cy="237744"/>
          </a:xfrm>
          <a:prstGeom prst="rightArrow">
            <a:avLst/>
          </a:prstGeom>
          <a:solidFill>
            <a:srgbClr val="365E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328416" y="1325880"/>
            <a:ext cx="1261872" cy="777240"/>
          </a:xfrm>
          <a:prstGeom prst="roundRect">
            <a:avLst>
              <a:gd name="adj" fmla="val 6000"/>
            </a:avLst>
          </a:prstGeom>
          <a:solidFill>
            <a:srgbClr val="EDF4FB"/>
          </a:solidFill>
          <a:ln w="12700">
            <a:solidFill>
              <a:srgbClr val="365E9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328416" y="1325880"/>
            <a:ext cx="1261872" cy="777240"/>
          </a:xfrm>
          <a:prstGeom prst="rect">
            <a:avLst/>
          </a:prstGeom>
          <a:noFill/>
        </p:spPr>
        <p:txBody>
          <a:bodyPr wrap="square" lIns="45720" rIns="45720" tIns="27432" bIns="27432" anchor="ctr">
            <a:spAutoFit/>
          </a:bodyPr>
          <a:lstStyle/>
          <a:p>
            <a:pPr algn="ctr">
              <a:lnSpc>
                <a:spcPct val="110000"/>
              </a:lnSpc>
            </a:pPr>
            <a:r>
              <a:rPr sz="1200" b="1" i="0">
                <a:solidFill>
                  <a:srgbClr val="365E9E"/>
                </a:solidFill>
                <a:latin typeface="Arial"/>
              </a:rPr>
              <a:t>run</a:t>
            </a:r>
          </a:p>
        </p:txBody>
      </p:sp>
      <p:sp>
        <p:nvSpPr>
          <p:cNvPr id="17" name="Right Arrow 16"/>
          <p:cNvSpPr/>
          <p:nvPr/>
        </p:nvSpPr>
        <p:spPr>
          <a:xfrm>
            <a:off x="4599432" y="1591056"/>
            <a:ext cx="155448" cy="237744"/>
          </a:xfrm>
          <a:prstGeom prst="rightArrow">
            <a:avLst/>
          </a:prstGeom>
          <a:solidFill>
            <a:srgbClr val="365E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764024" y="1325880"/>
            <a:ext cx="1261872" cy="777240"/>
          </a:xfrm>
          <a:prstGeom prst="roundRect">
            <a:avLst>
              <a:gd name="adj" fmla="val 6000"/>
            </a:avLst>
          </a:prstGeom>
          <a:solidFill>
            <a:srgbClr val="EDF4FB"/>
          </a:solidFill>
          <a:ln w="12700">
            <a:solidFill>
              <a:srgbClr val="365E9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764024" y="1325880"/>
            <a:ext cx="1261872" cy="777240"/>
          </a:xfrm>
          <a:prstGeom prst="rect">
            <a:avLst/>
          </a:prstGeom>
          <a:noFill/>
        </p:spPr>
        <p:txBody>
          <a:bodyPr wrap="square" lIns="45720" rIns="45720" tIns="27432" bIns="27432" anchor="ctr">
            <a:spAutoFit/>
          </a:bodyPr>
          <a:lstStyle/>
          <a:p>
            <a:pPr algn="ctr">
              <a:lnSpc>
                <a:spcPct val="110000"/>
              </a:lnSpc>
            </a:pPr>
            <a:r>
              <a:rPr sz="1200" b="1" i="0">
                <a:solidFill>
                  <a:srgbClr val="365E9E"/>
                </a:solidFill>
                <a:latin typeface="Arial"/>
              </a:rPr>
              <a:t>diagnose</a:t>
            </a:r>
          </a:p>
        </p:txBody>
      </p:sp>
      <p:sp>
        <p:nvSpPr>
          <p:cNvPr id="20" name="Right Arrow 19"/>
          <p:cNvSpPr/>
          <p:nvPr/>
        </p:nvSpPr>
        <p:spPr>
          <a:xfrm>
            <a:off x="6035040" y="1591056"/>
            <a:ext cx="155448" cy="237744"/>
          </a:xfrm>
          <a:prstGeom prst="rightArrow">
            <a:avLst/>
          </a:prstGeom>
          <a:solidFill>
            <a:srgbClr val="365E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199632" y="1325880"/>
            <a:ext cx="1261872" cy="777240"/>
          </a:xfrm>
          <a:prstGeom prst="roundRect">
            <a:avLst>
              <a:gd name="adj" fmla="val 6000"/>
            </a:avLst>
          </a:prstGeom>
          <a:solidFill>
            <a:srgbClr val="EDF4FB"/>
          </a:solidFill>
          <a:ln w="12700">
            <a:solidFill>
              <a:srgbClr val="365E9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199632" y="1325880"/>
            <a:ext cx="1261872" cy="777240"/>
          </a:xfrm>
          <a:prstGeom prst="rect">
            <a:avLst/>
          </a:prstGeom>
          <a:noFill/>
        </p:spPr>
        <p:txBody>
          <a:bodyPr wrap="square" lIns="45720" rIns="45720" tIns="27432" bIns="27432" anchor="ctr">
            <a:spAutoFit/>
          </a:bodyPr>
          <a:lstStyle/>
          <a:p>
            <a:pPr algn="ctr">
              <a:lnSpc>
                <a:spcPct val="110000"/>
              </a:lnSpc>
            </a:pPr>
            <a:r>
              <a:rPr sz="1200" b="1" i="0">
                <a:solidFill>
                  <a:srgbClr val="365E9E"/>
                </a:solidFill>
                <a:latin typeface="Arial"/>
              </a:rPr>
              <a:t>revise</a:t>
            </a:r>
          </a:p>
        </p:txBody>
      </p:sp>
      <p:sp>
        <p:nvSpPr>
          <p:cNvPr id="23" name="Right Arrow 22"/>
          <p:cNvSpPr/>
          <p:nvPr/>
        </p:nvSpPr>
        <p:spPr>
          <a:xfrm>
            <a:off x="7470648" y="1591056"/>
            <a:ext cx="155448" cy="237744"/>
          </a:xfrm>
          <a:prstGeom prst="rightArrow">
            <a:avLst/>
          </a:prstGeom>
          <a:solidFill>
            <a:srgbClr val="365E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635240" y="1325880"/>
            <a:ext cx="1261872" cy="777240"/>
          </a:xfrm>
          <a:prstGeom prst="roundRect">
            <a:avLst>
              <a:gd name="adj" fmla="val 6000"/>
            </a:avLst>
          </a:prstGeom>
          <a:solidFill>
            <a:srgbClr val="FBEFEC"/>
          </a:solidFill>
          <a:ln w="12700">
            <a:solidFill>
              <a:srgbClr val="B348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635240" y="1325880"/>
            <a:ext cx="1261872" cy="777240"/>
          </a:xfrm>
          <a:prstGeom prst="rect">
            <a:avLst/>
          </a:prstGeom>
          <a:noFill/>
        </p:spPr>
        <p:txBody>
          <a:bodyPr wrap="square" lIns="45720" rIns="45720" tIns="27432" bIns="27432" anchor="ctr">
            <a:spAutoFit/>
          </a:bodyPr>
          <a:lstStyle/>
          <a:p>
            <a:pPr algn="ctr">
              <a:lnSpc>
                <a:spcPct val="110000"/>
              </a:lnSpc>
            </a:pPr>
            <a:r>
              <a:rPr sz="1200" b="1" i="0">
                <a:solidFill>
                  <a:srgbClr val="B34831"/>
                </a:solidFill>
                <a:latin typeface="Arial"/>
              </a:rPr>
              <a:t>regression gate</a:t>
            </a:r>
          </a:p>
        </p:txBody>
      </p:sp>
      <p:sp>
        <p:nvSpPr>
          <p:cNvPr id="26" name="Right Arrow 25"/>
          <p:cNvSpPr/>
          <p:nvPr/>
        </p:nvSpPr>
        <p:spPr>
          <a:xfrm>
            <a:off x="8906256" y="1591056"/>
            <a:ext cx="155448" cy="237744"/>
          </a:xfrm>
          <a:prstGeom prst="rightArrow">
            <a:avLst/>
          </a:prstGeom>
          <a:solidFill>
            <a:srgbClr val="365E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70848" y="1325880"/>
            <a:ext cx="1261872" cy="777240"/>
          </a:xfrm>
          <a:prstGeom prst="roundRect">
            <a:avLst>
              <a:gd name="adj" fmla="val 6000"/>
            </a:avLst>
          </a:prstGeom>
          <a:solidFill>
            <a:srgbClr val="FBEFEC"/>
          </a:solidFill>
          <a:ln w="12700">
            <a:solidFill>
              <a:srgbClr val="B348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070848" y="1325880"/>
            <a:ext cx="1261872" cy="777240"/>
          </a:xfrm>
          <a:prstGeom prst="rect">
            <a:avLst/>
          </a:prstGeom>
          <a:noFill/>
        </p:spPr>
        <p:txBody>
          <a:bodyPr wrap="square" lIns="45720" rIns="45720" tIns="27432" bIns="27432" anchor="ctr">
            <a:spAutoFit/>
          </a:bodyPr>
          <a:lstStyle/>
          <a:p>
            <a:pPr algn="ctr">
              <a:lnSpc>
                <a:spcPct val="110000"/>
              </a:lnSpc>
            </a:pPr>
            <a:r>
              <a:rPr sz="1200" b="1" i="0">
                <a:solidFill>
                  <a:srgbClr val="B34831"/>
                </a:solidFill>
                <a:latin typeface="Arial"/>
              </a:rPr>
              <a:t>human approval</a:t>
            </a:r>
          </a:p>
        </p:txBody>
      </p:sp>
      <p:sp>
        <p:nvSpPr>
          <p:cNvPr id="29" name="Right Arrow 28"/>
          <p:cNvSpPr/>
          <p:nvPr/>
        </p:nvSpPr>
        <p:spPr>
          <a:xfrm>
            <a:off x="10341864" y="1591056"/>
            <a:ext cx="155448" cy="237744"/>
          </a:xfrm>
          <a:prstGeom prst="rightArrow">
            <a:avLst/>
          </a:prstGeom>
          <a:solidFill>
            <a:srgbClr val="365E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10506456" y="1325880"/>
            <a:ext cx="1261872" cy="777240"/>
          </a:xfrm>
          <a:prstGeom prst="roundRect">
            <a:avLst>
              <a:gd name="adj" fmla="val 6000"/>
            </a:avLst>
          </a:prstGeom>
          <a:solidFill>
            <a:srgbClr val="EDF4FB"/>
          </a:solidFill>
          <a:ln w="12700">
            <a:solidFill>
              <a:srgbClr val="365E9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0506456" y="1325880"/>
            <a:ext cx="1261872" cy="777240"/>
          </a:xfrm>
          <a:prstGeom prst="rect">
            <a:avLst/>
          </a:prstGeom>
          <a:noFill/>
        </p:spPr>
        <p:txBody>
          <a:bodyPr wrap="square" lIns="45720" rIns="45720" tIns="27432" bIns="27432" anchor="ctr">
            <a:spAutoFit/>
          </a:bodyPr>
          <a:lstStyle/>
          <a:p>
            <a:pPr algn="ctr">
              <a:lnSpc>
                <a:spcPct val="110000"/>
              </a:lnSpc>
            </a:pPr>
            <a:r>
              <a:rPr sz="1200" b="1" i="0">
                <a:solidFill>
                  <a:srgbClr val="365E9E"/>
                </a:solidFill>
                <a:latin typeface="Arial"/>
              </a:rPr>
              <a:t>release vN</a:t>
            </a:r>
          </a:p>
        </p:txBody>
      </p:sp>
      <p:sp>
        <p:nvSpPr>
          <p:cNvPr id="32" name="TextBox 31"/>
          <p:cNvSpPr txBox="1"/>
          <p:nvPr/>
        </p:nvSpPr>
        <p:spPr>
          <a:xfrm>
            <a:off x="457200" y="2514600"/>
            <a:ext cx="11277295" cy="2743200"/>
          </a:xfrm>
          <a:prstGeom prst="rect">
            <a:avLst/>
          </a:prstGeom>
          <a:noFill/>
        </p:spPr>
        <p:txBody>
          <a:bodyPr wrap="square" lIns="45720" rIns="45720">
            <a:spAutoFit/>
          </a:bodyPr>
          <a:lstStyle/>
          <a:p>
            <a:pPr>
              <a:lnSpc>
                <a:spcPct val="112000"/>
              </a:lnSpc>
              <a:spcAft>
                <a:spcPts val="1000"/>
              </a:spcAft>
            </a:pPr>
            <a:r>
              <a:rPr sz="1700" b="0" i="0">
                <a:solidFill>
                  <a:srgbClr val="111111"/>
                </a:solidFill>
                <a:latin typeface="Arial"/>
              </a:rPr>
              <a:t>•  A release ships clauses, monitor rules, the eval pack and evidence per change</a:t>
            </a:r>
          </a:p>
          <a:p>
            <a:pPr>
              <a:lnSpc>
                <a:spcPct val="112000"/>
              </a:lnSpc>
              <a:spcAft>
                <a:spcPts val="1000"/>
              </a:spcAft>
            </a:pPr>
            <a:r>
              <a:rPr sz="1700" b="0" i="0">
                <a:solidFill>
                  <a:srgbClr val="111111"/>
                </a:solidFill>
                <a:latin typeface="Arial"/>
              </a:rPr>
              <a:t>•  Gate: every grade-A case replays without a new incident; refusals stay under the limit</a:t>
            </a:r>
          </a:p>
          <a:p>
            <a:pPr>
              <a:lnSpc>
                <a:spcPct val="112000"/>
              </a:lnSpc>
              <a:spcAft>
                <a:spcPts val="1000"/>
              </a:spcAft>
            </a:pPr>
            <a:r>
              <a:rPr sz="1700" b="0" i="0">
                <a:solidFill>
                  <a:srgbClr val="111111"/>
                </a:solidFill>
                <a:latin typeface="Arial"/>
              </a:rPr>
              <a:t>•  Nothing auto-deploys; a human approves</a:t>
            </a:r>
          </a:p>
          <a:p>
            <a:pPr>
              <a:lnSpc>
                <a:spcPct val="112000"/>
              </a:lnSpc>
              <a:spcAft>
                <a:spcPts val="1000"/>
              </a:spcAft>
            </a:pPr>
            <a:r>
              <a:rPr sz="1700" b="0" i="0">
                <a:solidFill>
                  <a:srgbClr val="111111"/>
                </a:solidFill>
                <a:latin typeface="Arial"/>
              </a:rPr>
              <a:t>•  "No eligible candidate" is a valid, reported outcome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82296" cy="566928"/>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301752"/>
            <a:ext cx="10515600" cy="548640"/>
          </a:xfrm>
          <a:prstGeom prst="rect">
            <a:avLst/>
          </a:prstGeom>
          <a:noFill/>
        </p:spPr>
        <p:txBody>
          <a:bodyPr wrap="square" lIns="45720" rIns="45720" tIns="27432" bIns="27432" anchor="ctr">
            <a:spAutoFit/>
          </a:bodyPr>
          <a:lstStyle/>
          <a:p>
            <a:pPr algn="l">
              <a:lnSpc>
                <a:spcPct val="110000"/>
              </a:lnSpc>
            </a:pPr>
            <a:r>
              <a:rPr sz="2600" b="1" i="0">
                <a:solidFill>
                  <a:srgbClr val="111111"/>
                </a:solidFill>
                <a:latin typeface="Arial"/>
              </a:rPr>
              <a:t>What makes this more than a prompt optimizer</a:t>
            </a:r>
          </a:p>
        </p:txBody>
      </p:sp>
      <p:sp>
        <p:nvSpPr>
          <p:cNvPr id="4" name="TextBox 3"/>
          <p:cNvSpPr txBox="1"/>
          <p:nvPr/>
        </p:nvSpPr>
        <p:spPr>
          <a:xfrm>
            <a:off x="8503920" y="109728"/>
            <a:ext cx="3200400" cy="274320"/>
          </a:xfrm>
          <a:prstGeom prst="rect">
            <a:avLst/>
          </a:prstGeom>
          <a:noFill/>
        </p:spPr>
        <p:txBody>
          <a:bodyPr wrap="square" lIns="45720" rIns="45720" tIns="27432" bIns="27432" anchor="t">
            <a:spAutoFit/>
          </a:bodyPr>
          <a:lstStyle/>
          <a:p>
            <a:pPr algn="r">
              <a:lnSpc>
                <a:spcPct val="110000"/>
              </a:lnSpc>
            </a:pPr>
            <a:r>
              <a:rPr sz="900" b="1" i="0">
                <a:solidFill>
                  <a:srgbClr val="365E9E"/>
                </a:solidFill>
                <a:latin typeface="Arial"/>
              </a:rPr>
              <a:t>5 · FEATURES</a:t>
            </a:r>
          </a:p>
        </p:txBody>
      </p:sp>
      <p:cxnSp>
        <p:nvCxnSpPr>
          <p:cNvPr id="5" name="Connector 4"/>
          <p:cNvCxnSpPr/>
          <p:nvPr/>
        </p:nvCxnSpPr>
        <p:spPr>
          <a:xfrm>
            <a:off x="457200" y="6446520"/>
            <a:ext cx="11277295" cy="0"/>
          </a:xfrm>
          <a:prstGeom prst="line">
            <a:avLst/>
          </a:prstGeom>
          <a:ln w="6350">
            <a:solidFill>
              <a:srgbClr val="C9C9C9"/>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473952"/>
            <a:ext cx="10058400" cy="274320"/>
          </a:xfrm>
          <a:prstGeom prst="rect">
            <a:avLst/>
          </a:prstGeom>
          <a:noFill/>
        </p:spPr>
        <p:txBody>
          <a:bodyPr wrap="square" lIns="45720" rIns="45720" tIns="27432" bIns="27432" anchor="t">
            <a:spAutoFit/>
          </a:bodyPr>
          <a:lstStyle/>
          <a:p>
            <a:pPr algn="l">
              <a:lnSpc>
                <a:spcPct val="110000"/>
              </a:lnSpc>
            </a:pPr>
            <a:r>
              <a:rPr sz="800" b="0" i="0">
                <a:solidFill>
                  <a:srgbClr val="666666"/>
                </a:solidFill>
                <a:latin typeface="Arial"/>
              </a:rPr>
              <a:t>Incident-aware optimization · design proposal · containment-extension · October 2026 · no benchmark improvement measured</a:t>
            </a:r>
          </a:p>
        </p:txBody>
      </p:sp>
      <p:sp>
        <p:nvSpPr>
          <p:cNvPr id="7" name="TextBox 6"/>
          <p:cNvSpPr txBox="1"/>
          <p:nvPr/>
        </p:nvSpPr>
        <p:spPr>
          <a:xfrm>
            <a:off x="10820095" y="6473952"/>
            <a:ext cx="914400" cy="274320"/>
          </a:xfrm>
          <a:prstGeom prst="rect">
            <a:avLst/>
          </a:prstGeom>
          <a:noFill/>
        </p:spPr>
        <p:txBody>
          <a:bodyPr wrap="square" lIns="45720" rIns="45720" tIns="27432" bIns="27432" anchor="t">
            <a:spAutoFit/>
          </a:bodyPr>
          <a:lstStyle/>
          <a:p>
            <a:pPr algn="r">
              <a:lnSpc>
                <a:spcPct val="110000"/>
              </a:lnSpc>
            </a:pPr>
            <a:r>
              <a:rPr sz="900" b="0" i="0">
                <a:solidFill>
                  <a:srgbClr val="666666"/>
                </a:solidFill>
                <a:latin typeface="Arial"/>
              </a:rPr>
              <a:t>22</a:t>
            </a:r>
          </a:p>
        </p:txBody>
      </p:sp>
      <p:sp>
        <p:nvSpPr>
          <p:cNvPr id="8" name="Rounded Rectangle 7"/>
          <p:cNvSpPr/>
          <p:nvPr/>
        </p:nvSpPr>
        <p:spPr>
          <a:xfrm>
            <a:off x="457200" y="1325880"/>
            <a:ext cx="2743200" cy="2331720"/>
          </a:xfrm>
          <a:prstGeom prst="roundRect">
            <a:avLst>
              <a:gd name="adj" fmla="val 6000"/>
            </a:avLst>
          </a:prstGeom>
          <a:solidFill>
            <a:srgbClr val="EAF5EF"/>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66928" y="1435608"/>
            <a:ext cx="274320" cy="274320"/>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i="0">
                <a:solidFill>
                  <a:srgbClr val="FFFFFF"/>
                </a:solidFill>
                <a:latin typeface="Arial"/>
              </a:rPr>
              <a:t>1</a:t>
            </a:r>
          </a:p>
        </p:txBody>
      </p:sp>
      <p:sp>
        <p:nvSpPr>
          <p:cNvPr id="10" name="TextBox 9"/>
          <p:cNvSpPr txBox="1"/>
          <p:nvPr/>
        </p:nvSpPr>
        <p:spPr>
          <a:xfrm>
            <a:off x="914400" y="1399032"/>
            <a:ext cx="2194560" cy="365760"/>
          </a:xfrm>
          <a:prstGeom prst="rect">
            <a:avLst/>
          </a:prstGeom>
          <a:noFill/>
        </p:spPr>
        <p:txBody>
          <a:bodyPr wrap="square" lIns="45720" rIns="45720" tIns="27432" bIns="27432" anchor="t">
            <a:spAutoFit/>
          </a:bodyPr>
          <a:lstStyle/>
          <a:p>
            <a:pPr algn="l">
              <a:lnSpc>
                <a:spcPct val="110000"/>
              </a:lnSpc>
            </a:pPr>
            <a:r>
              <a:rPr sz="1350" b="1" i="0">
                <a:solidFill>
                  <a:srgbClr val="111111"/>
                </a:solidFill>
                <a:latin typeface="Arial"/>
              </a:rPr>
              <a:t>Time-split evaluation</a:t>
            </a:r>
          </a:p>
        </p:txBody>
      </p:sp>
      <p:sp>
        <p:nvSpPr>
          <p:cNvPr id="11" name="TextBox 10"/>
          <p:cNvSpPr txBox="1"/>
          <p:nvPr/>
        </p:nvSpPr>
        <p:spPr>
          <a:xfrm>
            <a:off x="548640" y="1764792"/>
            <a:ext cx="2560320" cy="1828800"/>
          </a:xfrm>
          <a:prstGeom prst="rect">
            <a:avLst/>
          </a:prstGeom>
          <a:noFill/>
        </p:spPr>
        <p:txBody>
          <a:bodyPr wrap="square" lIns="45720" rIns="45720" tIns="27432" bIns="27432" anchor="t">
            <a:spAutoFit/>
          </a:bodyPr>
          <a:lstStyle/>
          <a:p>
            <a:pPr algn="l">
              <a:lnSpc>
                <a:spcPct val="112000"/>
              </a:lnSpc>
            </a:pPr>
            <a:r>
              <a:rPr sz="1500" b="0" i="0">
                <a:solidFill>
                  <a:srgbClr val="111111"/>
                </a:solidFill>
                <a:latin typeface="Arial"/>
              </a:rPr>
              <a:t>Tune on incidents before T; test on those after T.</a:t>
            </a:r>
          </a:p>
        </p:txBody>
      </p:sp>
      <p:sp>
        <p:nvSpPr>
          <p:cNvPr id="12" name="Rounded Rectangle 11"/>
          <p:cNvSpPr/>
          <p:nvPr/>
        </p:nvSpPr>
        <p:spPr>
          <a:xfrm>
            <a:off x="3300984" y="1325880"/>
            <a:ext cx="2743200" cy="2331720"/>
          </a:xfrm>
          <a:prstGeom prst="roundRect">
            <a:avLst>
              <a:gd name="adj" fmla="val 6000"/>
            </a:avLst>
          </a:prstGeom>
          <a:solidFill>
            <a:srgbClr val="FFFFFF"/>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3410712" y="1435608"/>
            <a:ext cx="274320" cy="274320"/>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i="0">
                <a:solidFill>
                  <a:srgbClr val="FFFFFF"/>
                </a:solidFill>
                <a:latin typeface="Arial"/>
              </a:rPr>
              <a:t>2</a:t>
            </a:r>
          </a:p>
        </p:txBody>
      </p:sp>
      <p:sp>
        <p:nvSpPr>
          <p:cNvPr id="14" name="TextBox 13"/>
          <p:cNvSpPr txBox="1"/>
          <p:nvPr/>
        </p:nvSpPr>
        <p:spPr>
          <a:xfrm>
            <a:off x="3758184" y="1399032"/>
            <a:ext cx="2194560" cy="365760"/>
          </a:xfrm>
          <a:prstGeom prst="rect">
            <a:avLst/>
          </a:prstGeom>
          <a:noFill/>
        </p:spPr>
        <p:txBody>
          <a:bodyPr wrap="square" lIns="45720" rIns="45720" tIns="27432" bIns="27432" anchor="t">
            <a:spAutoFit/>
          </a:bodyPr>
          <a:lstStyle/>
          <a:p>
            <a:pPr algn="l">
              <a:lnSpc>
                <a:spcPct val="110000"/>
              </a:lnSpc>
            </a:pPr>
            <a:r>
              <a:rPr sz="1350" b="1" i="0">
                <a:solidFill>
                  <a:srgbClr val="111111"/>
                </a:solidFill>
                <a:latin typeface="Arial"/>
              </a:rPr>
              <a:t>Benign twins</a:t>
            </a:r>
          </a:p>
        </p:txBody>
      </p:sp>
      <p:sp>
        <p:nvSpPr>
          <p:cNvPr id="15" name="TextBox 14"/>
          <p:cNvSpPr txBox="1"/>
          <p:nvPr/>
        </p:nvSpPr>
        <p:spPr>
          <a:xfrm>
            <a:off x="3392424" y="1764792"/>
            <a:ext cx="2560320" cy="1828800"/>
          </a:xfrm>
          <a:prstGeom prst="rect">
            <a:avLst/>
          </a:prstGeom>
          <a:noFill/>
        </p:spPr>
        <p:txBody>
          <a:bodyPr wrap="square" lIns="45720" rIns="45720" tIns="27432" bIns="27432" anchor="t">
            <a:spAutoFit/>
          </a:bodyPr>
          <a:lstStyle/>
          <a:p>
            <a:pPr algn="l">
              <a:lnSpc>
                <a:spcPct val="112000"/>
              </a:lnSpc>
            </a:pPr>
            <a:r>
              <a:rPr sz="1500" b="0" i="0">
                <a:solidFill>
                  <a:srgbClr val="111111"/>
                </a:solidFill>
                <a:latin typeface="Arial"/>
              </a:rPr>
              <a:t>False refusals measured on the same object.</a:t>
            </a:r>
          </a:p>
        </p:txBody>
      </p:sp>
      <p:sp>
        <p:nvSpPr>
          <p:cNvPr id="16" name="Rounded Rectangle 15"/>
          <p:cNvSpPr/>
          <p:nvPr/>
        </p:nvSpPr>
        <p:spPr>
          <a:xfrm>
            <a:off x="6144768" y="1325880"/>
            <a:ext cx="2743200" cy="2331720"/>
          </a:xfrm>
          <a:prstGeom prst="roundRect">
            <a:avLst>
              <a:gd name="adj" fmla="val 6000"/>
            </a:avLst>
          </a:prstGeom>
          <a:solidFill>
            <a:srgbClr val="EAF5EF"/>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6254496" y="1435608"/>
            <a:ext cx="274320" cy="274320"/>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i="0">
                <a:solidFill>
                  <a:srgbClr val="FFFFFF"/>
                </a:solidFill>
                <a:latin typeface="Arial"/>
              </a:rPr>
              <a:t>3</a:t>
            </a:r>
          </a:p>
        </p:txBody>
      </p:sp>
      <p:sp>
        <p:nvSpPr>
          <p:cNvPr id="18" name="TextBox 17"/>
          <p:cNvSpPr txBox="1"/>
          <p:nvPr/>
        </p:nvSpPr>
        <p:spPr>
          <a:xfrm>
            <a:off x="6601968" y="1399032"/>
            <a:ext cx="2194560" cy="365760"/>
          </a:xfrm>
          <a:prstGeom prst="rect">
            <a:avLst/>
          </a:prstGeom>
          <a:noFill/>
        </p:spPr>
        <p:txBody>
          <a:bodyPr wrap="square" lIns="45720" rIns="45720" tIns="27432" bIns="27432" anchor="t">
            <a:spAutoFit/>
          </a:bodyPr>
          <a:lstStyle/>
          <a:p>
            <a:pPr algn="l">
              <a:lnSpc>
                <a:spcPct val="110000"/>
              </a:lnSpc>
            </a:pPr>
            <a:r>
              <a:rPr sz="1350" b="1" i="0">
                <a:solidFill>
                  <a:srgbClr val="111111"/>
                </a:solidFill>
                <a:latin typeface="Arial"/>
              </a:rPr>
              <a:t>Poisoning defence</a:t>
            </a:r>
          </a:p>
        </p:txBody>
      </p:sp>
      <p:sp>
        <p:nvSpPr>
          <p:cNvPr id="19" name="TextBox 18"/>
          <p:cNvSpPr txBox="1"/>
          <p:nvPr/>
        </p:nvSpPr>
        <p:spPr>
          <a:xfrm>
            <a:off x="6236208" y="1764792"/>
            <a:ext cx="2560320" cy="1828800"/>
          </a:xfrm>
          <a:prstGeom prst="rect">
            <a:avLst/>
          </a:prstGeom>
          <a:noFill/>
        </p:spPr>
        <p:txBody>
          <a:bodyPr wrap="square" lIns="45720" rIns="45720" tIns="27432" bIns="27432" anchor="t">
            <a:spAutoFit/>
          </a:bodyPr>
          <a:lstStyle/>
          <a:p>
            <a:pPr algn="l">
              <a:lnSpc>
                <a:spcPct val="112000"/>
              </a:lnSpc>
            </a:pPr>
            <a:r>
              <a:rPr sz="1500" b="0" i="0">
                <a:solidFill>
                  <a:srgbClr val="111111"/>
                </a:solidFill>
                <a:latin typeface="Arial"/>
              </a:rPr>
              <a:t>No report changes policy without a reproduction.</a:t>
            </a:r>
          </a:p>
        </p:txBody>
      </p:sp>
      <p:sp>
        <p:nvSpPr>
          <p:cNvPr id="20" name="Rounded Rectangle 19"/>
          <p:cNvSpPr/>
          <p:nvPr/>
        </p:nvSpPr>
        <p:spPr>
          <a:xfrm>
            <a:off x="8988552" y="1325880"/>
            <a:ext cx="2743200" cy="2331720"/>
          </a:xfrm>
          <a:prstGeom prst="roundRect">
            <a:avLst>
              <a:gd name="adj" fmla="val 6000"/>
            </a:avLst>
          </a:prstGeom>
          <a:solidFill>
            <a:srgbClr val="FFFFFF"/>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9098280" y="1435608"/>
            <a:ext cx="274320" cy="274320"/>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i="0">
                <a:solidFill>
                  <a:srgbClr val="FFFFFF"/>
                </a:solidFill>
                <a:latin typeface="Arial"/>
              </a:rPr>
              <a:t>4</a:t>
            </a:r>
          </a:p>
        </p:txBody>
      </p:sp>
      <p:sp>
        <p:nvSpPr>
          <p:cNvPr id="22" name="TextBox 21"/>
          <p:cNvSpPr txBox="1"/>
          <p:nvPr/>
        </p:nvSpPr>
        <p:spPr>
          <a:xfrm>
            <a:off x="9445752" y="1399032"/>
            <a:ext cx="2194560" cy="365760"/>
          </a:xfrm>
          <a:prstGeom prst="rect">
            <a:avLst/>
          </a:prstGeom>
          <a:noFill/>
        </p:spPr>
        <p:txBody>
          <a:bodyPr wrap="square" lIns="45720" rIns="45720" tIns="27432" bIns="27432" anchor="t">
            <a:spAutoFit/>
          </a:bodyPr>
          <a:lstStyle/>
          <a:p>
            <a:pPr algn="l">
              <a:lnSpc>
                <a:spcPct val="110000"/>
              </a:lnSpc>
            </a:pPr>
            <a:r>
              <a:rPr sz="1350" b="1" i="0">
                <a:solidFill>
                  <a:srgbClr val="111111"/>
                </a:solidFill>
                <a:latin typeface="Arial"/>
              </a:rPr>
              <a:t>Cross-benchmark reuse</a:t>
            </a:r>
          </a:p>
        </p:txBody>
      </p:sp>
      <p:sp>
        <p:nvSpPr>
          <p:cNvPr id="23" name="TextBox 22"/>
          <p:cNvSpPr txBox="1"/>
          <p:nvPr/>
        </p:nvSpPr>
        <p:spPr>
          <a:xfrm>
            <a:off x="9079992" y="1764792"/>
            <a:ext cx="2560320" cy="1828800"/>
          </a:xfrm>
          <a:prstGeom prst="rect">
            <a:avLst/>
          </a:prstGeom>
          <a:noFill/>
        </p:spPr>
        <p:txBody>
          <a:bodyPr wrap="square" lIns="45720" rIns="45720" tIns="27432" bIns="27432" anchor="t">
            <a:spAutoFit/>
          </a:bodyPr>
          <a:lstStyle/>
          <a:p>
            <a:pPr algn="l">
              <a:lnSpc>
                <a:spcPct val="112000"/>
              </a:lnSpc>
            </a:pPr>
            <a:r>
              <a:rPr sz="1500" b="0" i="0">
                <a:solidFill>
                  <a:srgbClr val="111111"/>
                </a:solidFill>
                <a:latin typeface="Arial"/>
              </a:rPr>
              <a:t>One fingerprint, probes in several benchmarks.</a:t>
            </a:r>
          </a:p>
        </p:txBody>
      </p:sp>
      <p:sp>
        <p:nvSpPr>
          <p:cNvPr id="24" name="Rounded Rectangle 23"/>
          <p:cNvSpPr/>
          <p:nvPr/>
        </p:nvSpPr>
        <p:spPr>
          <a:xfrm>
            <a:off x="457200" y="3767328"/>
            <a:ext cx="2743200" cy="2331720"/>
          </a:xfrm>
          <a:prstGeom prst="roundRect">
            <a:avLst>
              <a:gd name="adj" fmla="val 6000"/>
            </a:avLst>
          </a:prstGeom>
          <a:solidFill>
            <a:srgbClr val="EAF5EF"/>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566928" y="3877056"/>
            <a:ext cx="274320" cy="274320"/>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i="0">
                <a:solidFill>
                  <a:srgbClr val="FFFFFF"/>
                </a:solidFill>
                <a:latin typeface="Arial"/>
              </a:rPr>
              <a:t>5</a:t>
            </a:r>
          </a:p>
        </p:txBody>
      </p:sp>
      <p:sp>
        <p:nvSpPr>
          <p:cNvPr id="26" name="TextBox 25"/>
          <p:cNvSpPr txBox="1"/>
          <p:nvPr/>
        </p:nvSpPr>
        <p:spPr>
          <a:xfrm>
            <a:off x="914400" y="3840480"/>
            <a:ext cx="2194560" cy="365760"/>
          </a:xfrm>
          <a:prstGeom prst="rect">
            <a:avLst/>
          </a:prstGeom>
          <a:noFill/>
        </p:spPr>
        <p:txBody>
          <a:bodyPr wrap="square" lIns="45720" rIns="45720" tIns="27432" bIns="27432" anchor="t">
            <a:spAutoFit/>
          </a:bodyPr>
          <a:lstStyle/>
          <a:p>
            <a:pPr algn="l">
              <a:lnSpc>
                <a:spcPct val="110000"/>
              </a:lnSpc>
            </a:pPr>
            <a:r>
              <a:rPr sz="1350" b="1" i="0">
                <a:solidFill>
                  <a:srgbClr val="111111"/>
                </a:solidFill>
                <a:latin typeface="Arial"/>
              </a:rPr>
              <a:t>Counterfactual blame</a:t>
            </a:r>
          </a:p>
        </p:txBody>
      </p:sp>
      <p:sp>
        <p:nvSpPr>
          <p:cNvPr id="27" name="TextBox 26"/>
          <p:cNvSpPr txBox="1"/>
          <p:nvPr/>
        </p:nvSpPr>
        <p:spPr>
          <a:xfrm>
            <a:off x="548640" y="4206240"/>
            <a:ext cx="2560320" cy="1828800"/>
          </a:xfrm>
          <a:prstGeom prst="rect">
            <a:avLst/>
          </a:prstGeom>
          <a:noFill/>
        </p:spPr>
        <p:txBody>
          <a:bodyPr wrap="square" lIns="45720" rIns="45720" tIns="27432" bIns="27432" anchor="t">
            <a:spAutoFit/>
          </a:bodyPr>
          <a:lstStyle/>
          <a:p>
            <a:pPr algn="l">
              <a:lnSpc>
                <a:spcPct val="112000"/>
              </a:lnSpc>
            </a:pPr>
            <a:r>
              <a:rPr sz="1500" b="0" i="0">
                <a:solidFill>
                  <a:srgbClr val="111111"/>
                </a:solidFill>
                <a:latin typeface="Arial"/>
              </a:rPr>
              <a:t>Every rule carries the replay that justified it.</a:t>
            </a:r>
          </a:p>
        </p:txBody>
      </p:sp>
      <p:sp>
        <p:nvSpPr>
          <p:cNvPr id="28" name="Rounded Rectangle 27"/>
          <p:cNvSpPr/>
          <p:nvPr/>
        </p:nvSpPr>
        <p:spPr>
          <a:xfrm>
            <a:off x="3300984" y="3767328"/>
            <a:ext cx="2743200" cy="2331720"/>
          </a:xfrm>
          <a:prstGeom prst="roundRect">
            <a:avLst>
              <a:gd name="adj" fmla="val 6000"/>
            </a:avLst>
          </a:prstGeom>
          <a:solidFill>
            <a:srgbClr val="FFFFFF"/>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3410712" y="3877056"/>
            <a:ext cx="274320" cy="274320"/>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i="0">
                <a:solidFill>
                  <a:srgbClr val="FFFFFF"/>
                </a:solidFill>
                <a:latin typeface="Arial"/>
              </a:rPr>
              <a:t>6</a:t>
            </a:r>
          </a:p>
        </p:txBody>
      </p:sp>
      <p:sp>
        <p:nvSpPr>
          <p:cNvPr id="30" name="TextBox 29"/>
          <p:cNvSpPr txBox="1"/>
          <p:nvPr/>
        </p:nvSpPr>
        <p:spPr>
          <a:xfrm>
            <a:off x="3758184" y="3840480"/>
            <a:ext cx="2194560" cy="365760"/>
          </a:xfrm>
          <a:prstGeom prst="rect">
            <a:avLst/>
          </a:prstGeom>
          <a:noFill/>
        </p:spPr>
        <p:txBody>
          <a:bodyPr wrap="square" lIns="45720" rIns="45720" tIns="27432" bIns="27432" anchor="t">
            <a:spAutoFit/>
          </a:bodyPr>
          <a:lstStyle/>
          <a:p>
            <a:pPr algn="l">
              <a:lnSpc>
                <a:spcPct val="110000"/>
              </a:lnSpc>
            </a:pPr>
            <a:r>
              <a:rPr sz="1350" b="1" i="0">
                <a:solidFill>
                  <a:srgbClr val="111111"/>
                </a:solidFill>
                <a:latin typeface="Arial"/>
              </a:rPr>
              <a:t>Federated sharing</a:t>
            </a:r>
          </a:p>
        </p:txBody>
      </p:sp>
      <p:sp>
        <p:nvSpPr>
          <p:cNvPr id="31" name="TextBox 30"/>
          <p:cNvSpPr txBox="1"/>
          <p:nvPr/>
        </p:nvSpPr>
        <p:spPr>
          <a:xfrm>
            <a:off x="3392424" y="4206240"/>
            <a:ext cx="2560320" cy="1828800"/>
          </a:xfrm>
          <a:prstGeom prst="rect">
            <a:avLst/>
          </a:prstGeom>
          <a:noFill/>
        </p:spPr>
        <p:txBody>
          <a:bodyPr wrap="square" lIns="45720" rIns="45720" tIns="27432" bIns="27432" anchor="t">
            <a:spAutoFit/>
          </a:bodyPr>
          <a:lstStyle/>
          <a:p>
            <a:pPr algn="l">
              <a:lnSpc>
                <a:spcPct val="112000"/>
              </a:lnSpc>
            </a:pPr>
            <a:r>
              <a:rPr sz="1500" b="0" i="0">
                <a:solidFill>
                  <a:srgbClr val="111111"/>
                </a:solidFill>
                <a:latin typeface="Arial"/>
              </a:rPr>
              <a:t>Share signatures and cases, never raw traces.</a:t>
            </a:r>
          </a:p>
        </p:txBody>
      </p:sp>
      <p:sp>
        <p:nvSpPr>
          <p:cNvPr id="32" name="Rounded Rectangle 31"/>
          <p:cNvSpPr/>
          <p:nvPr/>
        </p:nvSpPr>
        <p:spPr>
          <a:xfrm>
            <a:off x="6144768" y="3767328"/>
            <a:ext cx="2743200" cy="2331720"/>
          </a:xfrm>
          <a:prstGeom prst="roundRect">
            <a:avLst>
              <a:gd name="adj" fmla="val 6000"/>
            </a:avLst>
          </a:prstGeom>
          <a:solidFill>
            <a:srgbClr val="EAF5EF"/>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254496" y="3877056"/>
            <a:ext cx="274320" cy="274320"/>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i="0">
                <a:solidFill>
                  <a:srgbClr val="FFFFFF"/>
                </a:solidFill>
                <a:latin typeface="Arial"/>
              </a:rPr>
              <a:t>7</a:t>
            </a:r>
          </a:p>
        </p:txBody>
      </p:sp>
      <p:sp>
        <p:nvSpPr>
          <p:cNvPr id="34" name="TextBox 33"/>
          <p:cNvSpPr txBox="1"/>
          <p:nvPr/>
        </p:nvSpPr>
        <p:spPr>
          <a:xfrm>
            <a:off x="6601968" y="3840480"/>
            <a:ext cx="2194560" cy="365760"/>
          </a:xfrm>
          <a:prstGeom prst="rect">
            <a:avLst/>
          </a:prstGeom>
          <a:noFill/>
        </p:spPr>
        <p:txBody>
          <a:bodyPr wrap="square" lIns="45720" rIns="45720" tIns="27432" bIns="27432" anchor="t">
            <a:spAutoFit/>
          </a:bodyPr>
          <a:lstStyle/>
          <a:p>
            <a:pPr algn="l">
              <a:lnSpc>
                <a:spcPct val="110000"/>
              </a:lnSpc>
            </a:pPr>
            <a:r>
              <a:rPr sz="1350" b="1" i="0">
                <a:solidFill>
                  <a:srgbClr val="111111"/>
                </a:solidFill>
                <a:latin typeface="Arial"/>
              </a:rPr>
              <a:t>Observer-effect reporting</a:t>
            </a:r>
          </a:p>
        </p:txBody>
      </p:sp>
      <p:sp>
        <p:nvSpPr>
          <p:cNvPr id="35" name="TextBox 34"/>
          <p:cNvSpPr txBox="1"/>
          <p:nvPr/>
        </p:nvSpPr>
        <p:spPr>
          <a:xfrm>
            <a:off x="6236208" y="4206240"/>
            <a:ext cx="2560320" cy="1828800"/>
          </a:xfrm>
          <a:prstGeom prst="rect">
            <a:avLst/>
          </a:prstGeom>
          <a:noFill/>
        </p:spPr>
        <p:txBody>
          <a:bodyPr wrap="square" lIns="45720" rIns="45720" tIns="27432" bIns="27432" anchor="t">
            <a:spAutoFit/>
          </a:bodyPr>
          <a:lstStyle/>
          <a:p>
            <a:pPr algn="l">
              <a:lnSpc>
                <a:spcPct val="112000"/>
              </a:lnSpc>
            </a:pPr>
            <a:r>
              <a:rPr sz="1500" b="0" i="0">
                <a:solidFill>
                  <a:srgbClr val="111111"/>
                </a:solidFill>
                <a:latin typeface="Arial"/>
              </a:rPr>
              <a:t>B1 vs B0 shows whether watching changes behaviour.</a:t>
            </a:r>
          </a:p>
        </p:txBody>
      </p:sp>
      <p:sp>
        <p:nvSpPr>
          <p:cNvPr id="36" name="Rounded Rectangle 35"/>
          <p:cNvSpPr/>
          <p:nvPr/>
        </p:nvSpPr>
        <p:spPr>
          <a:xfrm>
            <a:off x="8988552" y="3767328"/>
            <a:ext cx="2743200" cy="2331720"/>
          </a:xfrm>
          <a:prstGeom prst="roundRect">
            <a:avLst>
              <a:gd name="adj" fmla="val 6000"/>
            </a:avLst>
          </a:prstGeom>
          <a:solidFill>
            <a:srgbClr val="FFFFFF"/>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Oval 36"/>
          <p:cNvSpPr/>
          <p:nvPr/>
        </p:nvSpPr>
        <p:spPr>
          <a:xfrm>
            <a:off x="9098280" y="3877056"/>
            <a:ext cx="274320" cy="274320"/>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i="0">
                <a:solidFill>
                  <a:srgbClr val="FFFFFF"/>
                </a:solidFill>
                <a:latin typeface="Arial"/>
              </a:rPr>
              <a:t>8</a:t>
            </a:r>
          </a:p>
        </p:txBody>
      </p:sp>
      <p:sp>
        <p:nvSpPr>
          <p:cNvPr id="38" name="TextBox 37"/>
          <p:cNvSpPr txBox="1"/>
          <p:nvPr/>
        </p:nvSpPr>
        <p:spPr>
          <a:xfrm>
            <a:off x="9445752" y="3840480"/>
            <a:ext cx="2194560" cy="365760"/>
          </a:xfrm>
          <a:prstGeom prst="rect">
            <a:avLst/>
          </a:prstGeom>
          <a:noFill/>
        </p:spPr>
        <p:txBody>
          <a:bodyPr wrap="square" lIns="45720" rIns="45720" tIns="27432" bIns="27432" anchor="t">
            <a:spAutoFit/>
          </a:bodyPr>
          <a:lstStyle/>
          <a:p>
            <a:pPr algn="l">
              <a:lnSpc>
                <a:spcPct val="110000"/>
              </a:lnSpc>
            </a:pPr>
            <a:r>
              <a:rPr sz="1350" b="1" i="0">
                <a:solidFill>
                  <a:srgbClr val="111111"/>
                </a:solidFill>
                <a:latin typeface="Arial"/>
              </a:rPr>
              <a:t>No-win is a result</a:t>
            </a:r>
          </a:p>
        </p:txBody>
      </p:sp>
      <p:sp>
        <p:nvSpPr>
          <p:cNvPr id="39" name="TextBox 38"/>
          <p:cNvSpPr txBox="1"/>
          <p:nvPr/>
        </p:nvSpPr>
        <p:spPr>
          <a:xfrm>
            <a:off x="9079992" y="4206240"/>
            <a:ext cx="2560320" cy="1828800"/>
          </a:xfrm>
          <a:prstGeom prst="rect">
            <a:avLst/>
          </a:prstGeom>
          <a:noFill/>
        </p:spPr>
        <p:txBody>
          <a:bodyPr wrap="square" lIns="45720" rIns="45720" tIns="27432" bIns="27432" anchor="t">
            <a:spAutoFit/>
          </a:bodyPr>
          <a:lstStyle/>
          <a:p>
            <a:pPr algn="l">
              <a:lnSpc>
                <a:spcPct val="112000"/>
              </a:lnSpc>
            </a:pPr>
            <a:r>
              <a:rPr sz="1500" b="0" i="0">
                <a:solidFill>
                  <a:srgbClr val="111111"/>
                </a:solidFill>
                <a:latin typeface="Arial"/>
              </a:rPr>
              <a:t>Zero incidents is reported with uncertainty, not as a bound.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82296" cy="566928"/>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301752"/>
            <a:ext cx="10515600" cy="548640"/>
          </a:xfrm>
          <a:prstGeom prst="rect">
            <a:avLst/>
          </a:prstGeom>
          <a:noFill/>
        </p:spPr>
        <p:txBody>
          <a:bodyPr wrap="square" lIns="45720" rIns="45720" tIns="27432" bIns="27432" anchor="ctr">
            <a:spAutoFit/>
          </a:bodyPr>
          <a:lstStyle/>
          <a:p>
            <a:pPr algn="l">
              <a:lnSpc>
                <a:spcPct val="110000"/>
              </a:lnSpc>
            </a:pPr>
            <a:r>
              <a:rPr sz="2600" b="1" i="0">
                <a:solidFill>
                  <a:srgbClr val="111111"/>
                </a:solidFill>
                <a:latin typeface="Arial"/>
              </a:rPr>
              <a:t>What could fool us</a:t>
            </a:r>
          </a:p>
        </p:txBody>
      </p:sp>
      <p:sp>
        <p:nvSpPr>
          <p:cNvPr id="4" name="TextBox 3"/>
          <p:cNvSpPr txBox="1"/>
          <p:nvPr/>
        </p:nvSpPr>
        <p:spPr>
          <a:xfrm>
            <a:off x="640080" y="868680"/>
            <a:ext cx="10972800" cy="365760"/>
          </a:xfrm>
          <a:prstGeom prst="rect">
            <a:avLst/>
          </a:prstGeom>
          <a:noFill/>
        </p:spPr>
        <p:txBody>
          <a:bodyPr wrap="square" lIns="45720" rIns="45720" tIns="27432" bIns="27432" anchor="t">
            <a:spAutoFit/>
          </a:bodyPr>
          <a:lstStyle/>
          <a:p>
            <a:pPr algn="l">
              <a:lnSpc>
                <a:spcPct val="110000"/>
              </a:lnSpc>
            </a:pPr>
            <a:r>
              <a:rPr sz="1300" b="0" i="0">
                <a:solidFill>
                  <a:srgbClr val="666666"/>
                </a:solidFill>
                <a:latin typeface="Arial"/>
              </a:rPr>
              <a:t>And what in the design answers it</a:t>
            </a:r>
          </a:p>
        </p:txBody>
      </p:sp>
      <p:sp>
        <p:nvSpPr>
          <p:cNvPr id="5" name="TextBox 4"/>
          <p:cNvSpPr txBox="1"/>
          <p:nvPr/>
        </p:nvSpPr>
        <p:spPr>
          <a:xfrm>
            <a:off x="8503920" y="109728"/>
            <a:ext cx="3200400" cy="274320"/>
          </a:xfrm>
          <a:prstGeom prst="rect">
            <a:avLst/>
          </a:prstGeom>
          <a:noFill/>
        </p:spPr>
        <p:txBody>
          <a:bodyPr wrap="square" lIns="45720" rIns="45720" tIns="27432" bIns="27432" anchor="t">
            <a:spAutoFit/>
          </a:bodyPr>
          <a:lstStyle/>
          <a:p>
            <a:pPr algn="r">
              <a:lnSpc>
                <a:spcPct val="110000"/>
              </a:lnSpc>
            </a:pPr>
            <a:r>
              <a:rPr sz="900" b="1" i="0">
                <a:solidFill>
                  <a:srgbClr val="365E9E"/>
                </a:solidFill>
                <a:latin typeface="Arial"/>
              </a:rPr>
              <a:t>6 · RISKS</a:t>
            </a:r>
          </a:p>
        </p:txBody>
      </p:sp>
      <p:cxnSp>
        <p:nvCxnSpPr>
          <p:cNvPr id="6" name="Connector 5"/>
          <p:cNvCxnSpPr/>
          <p:nvPr/>
        </p:nvCxnSpPr>
        <p:spPr>
          <a:xfrm>
            <a:off x="457200" y="6446520"/>
            <a:ext cx="11277295" cy="0"/>
          </a:xfrm>
          <a:prstGeom prst="line">
            <a:avLst/>
          </a:prstGeom>
          <a:ln w="6350">
            <a:solidFill>
              <a:srgbClr val="C9C9C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57200" y="6473952"/>
            <a:ext cx="10058400" cy="274320"/>
          </a:xfrm>
          <a:prstGeom prst="rect">
            <a:avLst/>
          </a:prstGeom>
          <a:noFill/>
        </p:spPr>
        <p:txBody>
          <a:bodyPr wrap="square" lIns="45720" rIns="45720" tIns="27432" bIns="27432" anchor="t">
            <a:spAutoFit/>
          </a:bodyPr>
          <a:lstStyle/>
          <a:p>
            <a:pPr algn="l">
              <a:lnSpc>
                <a:spcPct val="110000"/>
              </a:lnSpc>
            </a:pPr>
            <a:r>
              <a:rPr sz="800" b="0" i="0">
                <a:solidFill>
                  <a:srgbClr val="666666"/>
                </a:solidFill>
                <a:latin typeface="Arial"/>
              </a:rPr>
              <a:t>Incident-aware optimization · design proposal · containment-extension · October 2026 · no benchmark improvement measured</a:t>
            </a:r>
          </a:p>
        </p:txBody>
      </p:sp>
      <p:sp>
        <p:nvSpPr>
          <p:cNvPr id="8" name="TextBox 7"/>
          <p:cNvSpPr txBox="1"/>
          <p:nvPr/>
        </p:nvSpPr>
        <p:spPr>
          <a:xfrm>
            <a:off x="10820095" y="6473952"/>
            <a:ext cx="914400" cy="274320"/>
          </a:xfrm>
          <a:prstGeom prst="rect">
            <a:avLst/>
          </a:prstGeom>
          <a:noFill/>
        </p:spPr>
        <p:txBody>
          <a:bodyPr wrap="square" lIns="45720" rIns="45720" tIns="27432" bIns="27432" anchor="t">
            <a:spAutoFit/>
          </a:bodyPr>
          <a:lstStyle/>
          <a:p>
            <a:pPr algn="r">
              <a:lnSpc>
                <a:spcPct val="110000"/>
              </a:lnSpc>
            </a:pPr>
            <a:r>
              <a:rPr sz="900" b="0" i="0">
                <a:solidFill>
                  <a:srgbClr val="666666"/>
                </a:solidFill>
                <a:latin typeface="Arial"/>
              </a:rPr>
              <a:t>23</a:t>
            </a:r>
          </a:p>
        </p:txBody>
      </p:sp>
      <p:graphicFrame>
        <p:nvGraphicFramePr>
          <p:cNvPr id="9" name="Table 8"/>
          <p:cNvGraphicFramePr>
            <a:graphicFrameLocks noGrp="1"/>
          </p:cNvGraphicFramePr>
          <p:nvPr/>
        </p:nvGraphicFramePr>
        <p:xfrm>
          <a:off x="457200" y="1325880"/>
          <a:ext cx="11277294" cy="4754880"/>
        </p:xfrm>
        <a:graphic>
          <a:graphicData uri="http://schemas.openxmlformats.org/drawingml/2006/table">
            <a:tbl>
              <a:tblPr firstRow="1" bandRow="1">
                <a:tableStyleId>{5C22544A-7EE6-4342-B048-85BDC9FD1C3A}</a:tableStyleId>
              </a:tblPr>
              <a:tblGrid>
                <a:gridCol w="4613438"/>
                <a:gridCol w="6663856"/>
              </a:tblGrid>
              <a:tr h="594360">
                <a:tc>
                  <a:txBody>
                    <a:bodyPr wrap="square"/>
                    <a:lstStyle/>
                    <a:p>
                      <a:pPr>
                        <a:lnSpc>
                          <a:spcPct val="105000"/>
                        </a:lnSpc>
                      </a:pPr>
                      <a:r>
                        <a:rPr sz="1500" b="1" i="0">
                          <a:solidFill>
                            <a:srgbClr val="FFFFFF"/>
                          </a:solidFill>
                          <a:latin typeface="Arial"/>
                        </a:rPr>
                        <a:t>Threat</a:t>
                      </a:r>
                    </a:p>
                  </a:txBody>
                  <a:tcPr marL="54864" marR="54864" marT="27432" marB="27432">
                    <a:solidFill>
                      <a:srgbClr val="365E9E"/>
                    </a:solidFill>
                  </a:tcPr>
                </a:tc>
                <a:tc>
                  <a:txBody>
                    <a:bodyPr wrap="square"/>
                    <a:lstStyle/>
                    <a:p>
                      <a:pPr>
                        <a:lnSpc>
                          <a:spcPct val="105000"/>
                        </a:lnSpc>
                      </a:pPr>
                      <a:r>
                        <a:rPr sz="1500" b="1" i="0">
                          <a:solidFill>
                            <a:srgbClr val="FFFFFF"/>
                          </a:solidFill>
                          <a:latin typeface="Arial"/>
                        </a:rPr>
                        <a:t>Answer</a:t>
                      </a:r>
                    </a:p>
                  </a:txBody>
                  <a:tcPr marL="54864" marR="54864" marT="27432" marB="27432">
                    <a:solidFill>
                      <a:srgbClr val="365E9E"/>
                    </a:solidFill>
                  </a:tcPr>
                </a:tc>
              </a:tr>
              <a:tr h="594360">
                <a:tc>
                  <a:txBody>
                    <a:bodyPr wrap="square"/>
                    <a:lstStyle/>
                    <a:p>
                      <a:pPr>
                        <a:lnSpc>
                          <a:spcPct val="105000"/>
                        </a:lnSpc>
                      </a:pPr>
                      <a:r>
                        <a:rPr sz="1500" b="1" i="0">
                          <a:solidFill>
                            <a:srgbClr val="111111"/>
                          </a:solidFill>
                          <a:latin typeface="Arial"/>
                        </a:rPr>
                        <a:t>Goodhart on the library</a:t>
                      </a:r>
                    </a:p>
                  </a:txBody>
                  <a:tcPr marL="54864" marR="54864" marT="27432" marB="27432">
                    <a:solidFill>
                      <a:srgbClr val="FFFFFF"/>
                    </a:solidFill>
                  </a:tcPr>
                </a:tc>
                <a:tc>
                  <a:txBody>
                    <a:bodyPr wrap="square"/>
                    <a:lstStyle/>
                    <a:p>
                      <a:pPr>
                        <a:lnSpc>
                          <a:spcPct val="105000"/>
                        </a:lnSpc>
                      </a:pPr>
                      <a:r>
                        <a:rPr sz="1500" b="0" i="0">
                          <a:solidFill>
                            <a:srgbClr val="111111"/>
                          </a:solidFill>
                          <a:latin typeface="Arial"/>
                        </a:rPr>
                        <a:t>Held-out by lineage and date; surface variants</a:t>
                      </a:r>
                    </a:p>
                  </a:txBody>
                  <a:tcPr marL="54864" marR="54864" marT="27432" marB="27432">
                    <a:solidFill>
                      <a:srgbClr val="FFFFFF"/>
                    </a:solidFill>
                  </a:tcPr>
                </a:tc>
              </a:tr>
              <a:tr h="594360">
                <a:tc>
                  <a:txBody>
                    <a:bodyPr wrap="square"/>
                    <a:lstStyle/>
                    <a:p>
                      <a:pPr>
                        <a:lnSpc>
                          <a:spcPct val="105000"/>
                        </a:lnSpc>
                      </a:pPr>
                      <a:r>
                        <a:rPr sz="1500" b="1" i="0">
                          <a:solidFill>
                            <a:srgbClr val="111111"/>
                          </a:solidFill>
                          <a:latin typeface="Arial"/>
                        </a:rPr>
                        <a:t>Safety bought by refusal</a:t>
                      </a:r>
                    </a:p>
                  </a:txBody>
                  <a:tcPr marL="54864" marR="54864" marT="27432" marB="27432">
                    <a:solidFill>
                      <a:srgbClr val="F4F6FA"/>
                    </a:solidFill>
                  </a:tcPr>
                </a:tc>
                <a:tc>
                  <a:txBody>
                    <a:bodyPr wrap="square"/>
                    <a:lstStyle/>
                    <a:p>
                      <a:pPr>
                        <a:lnSpc>
                          <a:spcPct val="105000"/>
                        </a:lnSpc>
                      </a:pPr>
                      <a:r>
                        <a:rPr sz="1500" b="0" i="0">
                          <a:solidFill>
                            <a:srgbClr val="111111"/>
                          </a:solidFill>
                          <a:latin typeface="Arial"/>
                        </a:rPr>
                        <a:t>F ≤ α on benign twins; utility non-inferiority</a:t>
                      </a:r>
                    </a:p>
                  </a:txBody>
                  <a:tcPr marL="54864" marR="54864" marT="27432" marB="27432">
                    <a:solidFill>
                      <a:srgbClr val="F4F6FA"/>
                    </a:solidFill>
                  </a:tcPr>
                </a:tc>
              </a:tr>
              <a:tr h="594360">
                <a:tc>
                  <a:txBody>
                    <a:bodyPr wrap="square"/>
                    <a:lstStyle/>
                    <a:p>
                      <a:pPr>
                        <a:lnSpc>
                          <a:spcPct val="105000"/>
                        </a:lnSpc>
                      </a:pPr>
                      <a:r>
                        <a:rPr sz="1500" b="1" i="0">
                          <a:solidFill>
                            <a:srgbClr val="111111"/>
                          </a:solidFill>
                          <a:latin typeface="Arial"/>
                        </a:rPr>
                        <a:t>Observers change the count</a:t>
                      </a:r>
                    </a:p>
                  </a:txBody>
                  <a:tcPr marL="54864" marR="54864" marT="27432" marB="27432">
                    <a:solidFill>
                      <a:srgbClr val="FFFFFF"/>
                    </a:solidFill>
                  </a:tcPr>
                </a:tc>
                <a:tc>
                  <a:txBody>
                    <a:bodyPr wrap="square"/>
                    <a:lstStyle/>
                    <a:p>
                      <a:pPr>
                        <a:lnSpc>
                          <a:spcPct val="105000"/>
                        </a:lnSpc>
                      </a:pPr>
                      <a:r>
                        <a:rPr sz="1500" b="0" i="0">
                          <a:solidFill>
                            <a:srgbClr val="111111"/>
                          </a:solidFill>
                          <a:latin typeface="Arial"/>
                        </a:rPr>
                        <a:t>B1 vs B0 on the same trajectories</a:t>
                      </a:r>
                    </a:p>
                  </a:txBody>
                  <a:tcPr marL="54864" marR="54864" marT="27432" marB="27432">
                    <a:solidFill>
                      <a:srgbClr val="FFFFFF"/>
                    </a:solidFill>
                  </a:tcPr>
                </a:tc>
              </a:tr>
              <a:tr h="594360">
                <a:tc>
                  <a:txBody>
                    <a:bodyPr wrap="square"/>
                    <a:lstStyle/>
                    <a:p>
                      <a:pPr>
                        <a:lnSpc>
                          <a:spcPct val="105000"/>
                        </a:lnSpc>
                      </a:pPr>
                      <a:r>
                        <a:rPr sz="1500" b="1" i="0">
                          <a:solidFill>
                            <a:srgbClr val="111111"/>
                          </a:solidFill>
                          <a:latin typeface="Arial"/>
                        </a:rPr>
                        <a:t>Leakage to proposer or agent</a:t>
                      </a:r>
                    </a:p>
                  </a:txBody>
                  <a:tcPr marL="54864" marR="54864" marT="27432" marB="27432">
                    <a:solidFill>
                      <a:srgbClr val="F4F6FA"/>
                    </a:solidFill>
                  </a:tcPr>
                </a:tc>
                <a:tc>
                  <a:txBody>
                    <a:bodyPr wrap="square"/>
                    <a:lstStyle/>
                    <a:p>
                      <a:pPr>
                        <a:lnSpc>
                          <a:spcPct val="105000"/>
                        </a:lnSpc>
                      </a:pPr>
                      <a:r>
                        <a:rPr sz="1500" b="0" i="0">
                          <a:solidFill>
                            <a:srgbClr val="111111"/>
                          </a:solidFill>
                          <a:latin typeface="Arial"/>
                        </a:rPr>
                        <a:t>Strict partitions; aggregates only</a:t>
                      </a:r>
                    </a:p>
                  </a:txBody>
                  <a:tcPr marL="54864" marR="54864" marT="27432" marB="27432">
                    <a:solidFill>
                      <a:srgbClr val="F4F6FA"/>
                    </a:solidFill>
                  </a:tcPr>
                </a:tc>
              </a:tr>
              <a:tr h="594360">
                <a:tc>
                  <a:txBody>
                    <a:bodyPr wrap="square"/>
                    <a:lstStyle/>
                    <a:p>
                      <a:pPr>
                        <a:lnSpc>
                          <a:spcPct val="105000"/>
                        </a:lnSpc>
                      </a:pPr>
                      <a:r>
                        <a:rPr sz="1500" b="1" i="0">
                          <a:solidFill>
                            <a:srgbClr val="111111"/>
                          </a:solidFill>
                          <a:latin typeface="Arial"/>
                        </a:rPr>
                        <a:t>Poisoned reports</a:t>
                      </a:r>
                    </a:p>
                  </a:txBody>
                  <a:tcPr marL="54864" marR="54864" marT="27432" marB="27432">
                    <a:solidFill>
                      <a:srgbClr val="FFFFFF"/>
                    </a:solidFill>
                  </a:tcPr>
                </a:tc>
                <a:tc>
                  <a:txBody>
                    <a:bodyPr wrap="square"/>
                    <a:lstStyle/>
                    <a:p>
                      <a:pPr>
                        <a:lnSpc>
                          <a:spcPct val="105000"/>
                        </a:lnSpc>
                      </a:pPr>
                      <a:r>
                        <a:rPr sz="1500" b="0" i="0">
                          <a:solidFill>
                            <a:srgbClr val="111111"/>
                          </a:solidFill>
                          <a:latin typeface="Arial"/>
                        </a:rPr>
                        <a:t>Grades, quarantine, reproduction, human gate</a:t>
                      </a:r>
                    </a:p>
                  </a:txBody>
                  <a:tcPr marL="54864" marR="54864" marT="27432" marB="27432">
                    <a:solidFill>
                      <a:srgbClr val="FFFFFF"/>
                    </a:solidFill>
                  </a:tcPr>
                </a:tc>
              </a:tr>
              <a:tr h="594360">
                <a:tc>
                  <a:txBody>
                    <a:bodyPr wrap="square"/>
                    <a:lstStyle/>
                    <a:p>
                      <a:pPr>
                        <a:lnSpc>
                          <a:spcPct val="105000"/>
                        </a:lnSpc>
                      </a:pPr>
                      <a:r>
                        <a:rPr sz="1500" b="1" i="0">
                          <a:solidFill>
                            <a:srgbClr val="111111"/>
                          </a:solidFill>
                          <a:latin typeface="Arial"/>
                        </a:rPr>
                        <a:t>Non-transfer across models</a:t>
                      </a:r>
                    </a:p>
                  </a:txBody>
                  <a:tcPr marL="54864" marR="54864" marT="27432" marB="27432">
                    <a:solidFill>
                      <a:srgbClr val="F4F6FA"/>
                    </a:solidFill>
                  </a:tcPr>
                </a:tc>
                <a:tc>
                  <a:txBody>
                    <a:bodyPr wrap="square"/>
                    <a:lstStyle/>
                    <a:p>
                      <a:pPr>
                        <a:lnSpc>
                          <a:spcPct val="105000"/>
                        </a:lnSpc>
                      </a:pPr>
                      <a:r>
                        <a:rPr sz="1500" b="0" i="0">
                          <a:solidFill>
                            <a:srgbClr val="111111"/>
                          </a:solidFill>
                          <a:latin typeface="Arial"/>
                        </a:rPr>
                        <a:t>Repeat on a second model family</a:t>
                      </a:r>
                    </a:p>
                  </a:txBody>
                  <a:tcPr marL="54864" marR="54864" marT="27432" marB="27432">
                    <a:solidFill>
                      <a:srgbClr val="F4F6FA"/>
                    </a:solidFill>
                  </a:tcPr>
                </a:tc>
              </a:tr>
              <a:tr h="594360">
                <a:tc>
                  <a:txBody>
                    <a:bodyPr wrap="square"/>
                    <a:lstStyle/>
                    <a:p>
                      <a:pPr>
                        <a:lnSpc>
                          <a:spcPct val="105000"/>
                        </a:lnSpc>
                      </a:pPr>
                      <a:r>
                        <a:rPr sz="1500" b="1" i="0">
                          <a:solidFill>
                            <a:srgbClr val="111111"/>
                          </a:solidFill>
                          <a:latin typeface="Arial"/>
                        </a:rPr>
                        <a:t>Cost blow-up</a:t>
                      </a:r>
                    </a:p>
                  </a:txBody>
                  <a:tcPr marL="54864" marR="54864" marT="27432" marB="27432">
                    <a:solidFill>
                      <a:srgbClr val="FFFFFF"/>
                    </a:solidFill>
                  </a:tcPr>
                </a:tc>
                <a:tc>
                  <a:txBody>
                    <a:bodyPr wrap="square"/>
                    <a:lstStyle/>
                    <a:p>
                      <a:pPr>
                        <a:lnSpc>
                          <a:spcPct val="105000"/>
                        </a:lnSpc>
                      </a:pPr>
                      <a:r>
                        <a:rPr sz="1500" b="0" i="0">
                          <a:solidFill>
                            <a:srgbClr val="111111"/>
                          </a:solidFill>
                          <a:latin typeface="Arial"/>
                        </a:rPr>
                        <a:t>Search and replay budgets predeclared</a:t>
                      </a:r>
                    </a:p>
                  </a:txBody>
                  <a:tcPr marL="54864" marR="54864" marT="27432" marB="27432">
                    <a:solidFill>
                      <a:srgbClr val="FFFFFF"/>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82296" cy="566928"/>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301752"/>
            <a:ext cx="10515600" cy="548640"/>
          </a:xfrm>
          <a:prstGeom prst="rect">
            <a:avLst/>
          </a:prstGeom>
          <a:noFill/>
        </p:spPr>
        <p:txBody>
          <a:bodyPr wrap="square" lIns="45720" rIns="45720" tIns="27432" bIns="27432" anchor="ctr">
            <a:spAutoFit/>
          </a:bodyPr>
          <a:lstStyle/>
          <a:p>
            <a:pPr algn="l">
              <a:lnSpc>
                <a:spcPct val="110000"/>
              </a:lnSpc>
            </a:pPr>
            <a:r>
              <a:rPr sz="2600" b="1" i="0">
                <a:solidFill>
                  <a:srgbClr val="111111"/>
                </a:solidFill>
                <a:latin typeface="Arial"/>
              </a:rPr>
              <a:t>How we would know it worked</a:t>
            </a:r>
          </a:p>
        </p:txBody>
      </p:sp>
      <p:sp>
        <p:nvSpPr>
          <p:cNvPr id="4" name="TextBox 3"/>
          <p:cNvSpPr txBox="1"/>
          <p:nvPr/>
        </p:nvSpPr>
        <p:spPr>
          <a:xfrm>
            <a:off x="8503920" y="109728"/>
            <a:ext cx="3200400" cy="274320"/>
          </a:xfrm>
          <a:prstGeom prst="rect">
            <a:avLst/>
          </a:prstGeom>
          <a:noFill/>
        </p:spPr>
        <p:txBody>
          <a:bodyPr wrap="square" lIns="45720" rIns="45720" tIns="27432" bIns="27432" anchor="t">
            <a:spAutoFit/>
          </a:bodyPr>
          <a:lstStyle/>
          <a:p>
            <a:pPr algn="r">
              <a:lnSpc>
                <a:spcPct val="110000"/>
              </a:lnSpc>
            </a:pPr>
            <a:r>
              <a:rPr sz="900" b="1" i="0">
                <a:solidFill>
                  <a:srgbClr val="365E9E"/>
                </a:solidFill>
                <a:latin typeface="Arial"/>
              </a:rPr>
              <a:t>6 · EVALUATION</a:t>
            </a:r>
          </a:p>
        </p:txBody>
      </p:sp>
      <p:cxnSp>
        <p:nvCxnSpPr>
          <p:cNvPr id="5" name="Connector 4"/>
          <p:cNvCxnSpPr/>
          <p:nvPr/>
        </p:nvCxnSpPr>
        <p:spPr>
          <a:xfrm>
            <a:off x="457200" y="6446520"/>
            <a:ext cx="11277295" cy="0"/>
          </a:xfrm>
          <a:prstGeom prst="line">
            <a:avLst/>
          </a:prstGeom>
          <a:ln w="6350">
            <a:solidFill>
              <a:srgbClr val="C9C9C9"/>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473952"/>
            <a:ext cx="10058400" cy="274320"/>
          </a:xfrm>
          <a:prstGeom prst="rect">
            <a:avLst/>
          </a:prstGeom>
          <a:noFill/>
        </p:spPr>
        <p:txBody>
          <a:bodyPr wrap="square" lIns="45720" rIns="45720" tIns="27432" bIns="27432" anchor="t">
            <a:spAutoFit/>
          </a:bodyPr>
          <a:lstStyle/>
          <a:p>
            <a:pPr algn="l">
              <a:lnSpc>
                <a:spcPct val="110000"/>
              </a:lnSpc>
            </a:pPr>
            <a:r>
              <a:rPr sz="800" b="0" i="0">
                <a:solidFill>
                  <a:srgbClr val="666666"/>
                </a:solidFill>
                <a:latin typeface="Arial"/>
              </a:rPr>
              <a:t>Incident-aware optimization · design proposal · containment-extension · October 2026 · no benchmark improvement measured</a:t>
            </a:r>
          </a:p>
        </p:txBody>
      </p:sp>
      <p:sp>
        <p:nvSpPr>
          <p:cNvPr id="7" name="TextBox 6"/>
          <p:cNvSpPr txBox="1"/>
          <p:nvPr/>
        </p:nvSpPr>
        <p:spPr>
          <a:xfrm>
            <a:off x="10820095" y="6473952"/>
            <a:ext cx="914400" cy="274320"/>
          </a:xfrm>
          <a:prstGeom prst="rect">
            <a:avLst/>
          </a:prstGeom>
          <a:noFill/>
        </p:spPr>
        <p:txBody>
          <a:bodyPr wrap="square" lIns="45720" rIns="45720" tIns="27432" bIns="27432" anchor="t">
            <a:spAutoFit/>
          </a:bodyPr>
          <a:lstStyle/>
          <a:p>
            <a:pPr algn="r">
              <a:lnSpc>
                <a:spcPct val="110000"/>
              </a:lnSpc>
            </a:pPr>
            <a:r>
              <a:rPr sz="900" b="0" i="0">
                <a:solidFill>
                  <a:srgbClr val="666666"/>
                </a:solidFill>
                <a:latin typeface="Arial"/>
              </a:rPr>
              <a:t>24</a:t>
            </a:r>
          </a:p>
        </p:txBody>
      </p:sp>
      <p:graphicFrame>
        <p:nvGraphicFramePr>
          <p:cNvPr id="8" name="Table 7"/>
          <p:cNvGraphicFramePr>
            <a:graphicFrameLocks noGrp="1"/>
          </p:cNvGraphicFramePr>
          <p:nvPr/>
        </p:nvGraphicFramePr>
        <p:xfrm>
          <a:off x="457200" y="1325880"/>
          <a:ext cx="11277294" cy="2926080"/>
        </p:xfrm>
        <a:graphic>
          <a:graphicData uri="http://schemas.openxmlformats.org/drawingml/2006/table">
            <a:tbl>
              <a:tblPr firstRow="1" bandRow="1">
                <a:tableStyleId>{5C22544A-7EE6-4342-B048-85BDC9FD1C3A}</a:tableStyleId>
              </a:tblPr>
              <a:tblGrid>
                <a:gridCol w="4715959"/>
                <a:gridCol w="6561335"/>
              </a:tblGrid>
              <a:tr h="418011">
                <a:tc>
                  <a:txBody>
                    <a:bodyPr wrap="square"/>
                    <a:lstStyle/>
                    <a:p>
                      <a:pPr>
                        <a:lnSpc>
                          <a:spcPct val="105000"/>
                        </a:lnSpc>
                      </a:pPr>
                      <a:r>
                        <a:rPr sz="1300" b="1" i="0">
                          <a:solidFill>
                            <a:srgbClr val="FFFFFF"/>
                          </a:solidFill>
                          <a:latin typeface="Arial"/>
                        </a:rPr>
                        <a:t>Benchmark</a:t>
                      </a:r>
                    </a:p>
                  </a:txBody>
                  <a:tcPr marL="54864" marR="54864" marT="27432" marB="27432">
                    <a:solidFill>
                      <a:srgbClr val="365E9E"/>
                    </a:solidFill>
                  </a:tcPr>
                </a:tc>
                <a:tc>
                  <a:txBody>
                    <a:bodyPr wrap="square"/>
                    <a:lstStyle/>
                    <a:p>
                      <a:pPr>
                        <a:lnSpc>
                          <a:spcPct val="105000"/>
                        </a:lnSpc>
                      </a:pPr>
                      <a:r>
                        <a:rPr sz="1300" b="1" i="0">
                          <a:solidFill>
                            <a:srgbClr val="FFFFFF"/>
                          </a:solidFill>
                          <a:latin typeface="Arial"/>
                        </a:rPr>
                        <a:t>Established baselines we compare against</a:t>
                      </a:r>
                    </a:p>
                  </a:txBody>
                  <a:tcPr marL="54864" marR="54864" marT="27432" marB="27432">
                    <a:solidFill>
                      <a:srgbClr val="365E9E"/>
                    </a:solidFill>
                  </a:tcPr>
                </a:tc>
              </a:tr>
              <a:tr h="418011">
                <a:tc>
                  <a:txBody>
                    <a:bodyPr wrap="square"/>
                    <a:lstStyle/>
                    <a:p>
                      <a:pPr>
                        <a:lnSpc>
                          <a:spcPct val="105000"/>
                        </a:lnSpc>
                      </a:pPr>
                      <a:r>
                        <a:rPr sz="1300" b="1" i="0">
                          <a:solidFill>
                            <a:srgbClr val="111111"/>
                          </a:solidFill>
                          <a:latin typeface="Arial"/>
                        </a:rPr>
                        <a:t>ImpossibleBench (Zhong et al., 2025)</a:t>
                      </a:r>
                    </a:p>
                  </a:txBody>
                  <a:tcPr marL="54864" marR="54864" marT="27432" marB="27432">
                    <a:solidFill>
                      <a:srgbClr val="FFFFFF"/>
                    </a:solidFill>
                  </a:tcPr>
                </a:tc>
                <a:tc>
                  <a:txBody>
                    <a:bodyPr wrap="square"/>
                    <a:lstStyle/>
                    <a:p>
                      <a:pPr>
                        <a:lnSpc>
                          <a:spcPct val="105000"/>
                        </a:lnSpc>
                      </a:pPr>
                      <a:r>
                        <a:rPr sz="1300" b="0" i="0">
                          <a:solidFill>
                            <a:srgbClr val="111111"/>
                          </a:solidFill>
                          <a:latin typeface="Arial"/>
                        </a:rPr>
                        <a:t>Upstream scaffold with its STOP instruction</a:t>
                      </a:r>
                    </a:p>
                  </a:txBody>
                  <a:tcPr marL="54864" marR="54864" marT="27432" marB="27432">
                    <a:solidFill>
                      <a:srgbClr val="FFFFFF"/>
                    </a:solidFill>
                  </a:tcPr>
                </a:tc>
              </a:tr>
              <a:tr h="418011">
                <a:tc>
                  <a:txBody>
                    <a:bodyPr wrap="square"/>
                    <a:lstStyle/>
                    <a:p>
                      <a:pPr>
                        <a:lnSpc>
                          <a:spcPct val="105000"/>
                        </a:lnSpc>
                      </a:pPr>
                      <a:r>
                        <a:rPr sz="1300" b="1" i="0">
                          <a:solidFill>
                            <a:srgbClr val="111111"/>
                          </a:solidFill>
                          <a:latin typeface="Arial"/>
                        </a:rPr>
                        <a:t>AgentDojo (Debenedetti et al., 2024)</a:t>
                      </a:r>
                    </a:p>
                  </a:txBody>
                  <a:tcPr marL="54864" marR="54864" marT="27432" marB="27432">
                    <a:solidFill>
                      <a:srgbClr val="F4F6FA"/>
                    </a:solidFill>
                  </a:tcPr>
                </a:tc>
                <a:tc>
                  <a:txBody>
                    <a:bodyPr wrap="square"/>
                    <a:lstStyle/>
                    <a:p>
                      <a:pPr>
                        <a:lnSpc>
                          <a:spcPct val="105000"/>
                        </a:lnSpc>
                      </a:pPr>
                      <a:r>
                        <a:rPr sz="1300" b="0" i="0">
                          <a:solidFill>
                            <a:srgbClr val="111111"/>
                          </a:solidFill>
                          <a:latin typeface="Arial"/>
                        </a:rPr>
                        <a:t>No defence, repeat-user-prompt, spotlighting, tool filter</a:t>
                      </a:r>
                    </a:p>
                  </a:txBody>
                  <a:tcPr marL="54864" marR="54864" marT="27432" marB="27432">
                    <a:solidFill>
                      <a:srgbClr val="F4F6FA"/>
                    </a:solidFill>
                  </a:tcPr>
                </a:tc>
              </a:tr>
              <a:tr h="418011">
                <a:tc>
                  <a:txBody>
                    <a:bodyPr wrap="square"/>
                    <a:lstStyle/>
                    <a:p>
                      <a:pPr>
                        <a:lnSpc>
                          <a:spcPct val="105000"/>
                        </a:lnSpc>
                      </a:pPr>
                      <a:r>
                        <a:rPr sz="1300" b="1" i="0">
                          <a:solidFill>
                            <a:srgbClr val="111111"/>
                          </a:solidFill>
                          <a:latin typeface="Arial"/>
                        </a:rPr>
                        <a:t>ResearchArena (2025)</a:t>
                      </a:r>
                    </a:p>
                  </a:txBody>
                  <a:tcPr marL="54864" marR="54864" marT="27432" marB="27432">
                    <a:solidFill>
                      <a:srgbClr val="FFFFFF"/>
                    </a:solidFill>
                  </a:tcPr>
                </a:tc>
                <a:tc>
                  <a:txBody>
                    <a:bodyPr wrap="square"/>
                    <a:lstStyle/>
                    <a:p>
                      <a:pPr>
                        <a:lnSpc>
                          <a:spcPct val="105000"/>
                        </a:lnSpc>
                      </a:pPr>
                      <a:r>
                        <a:rPr sz="1300" b="0" i="0">
                          <a:solidFill>
                            <a:srgbClr val="111111"/>
                          </a:solidFill>
                          <a:latin typeface="Arial"/>
                        </a:rPr>
                        <a:t>Upstream monitors; never-flag / always-flag controls</a:t>
                      </a:r>
                    </a:p>
                  </a:txBody>
                  <a:tcPr marL="54864" marR="54864" marT="27432" marB="27432">
                    <a:solidFill>
                      <a:srgbClr val="FFFFFF"/>
                    </a:solidFill>
                  </a:tcPr>
                </a:tc>
              </a:tr>
              <a:tr h="418011">
                <a:tc>
                  <a:txBody>
                    <a:bodyPr wrap="square"/>
                    <a:lstStyle/>
                    <a:p>
                      <a:pPr>
                        <a:lnSpc>
                          <a:spcPct val="105000"/>
                        </a:lnSpc>
                      </a:pPr>
                      <a:r>
                        <a:rPr sz="1300" b="1" i="0">
                          <a:solidFill>
                            <a:srgbClr val="111111"/>
                          </a:solidFill>
                          <a:latin typeface="Arial"/>
                        </a:rPr>
                        <a:t>BashArena in ControlArena (AISI, 2025)</a:t>
                      </a:r>
                    </a:p>
                  </a:txBody>
                  <a:tcPr marL="54864" marR="54864" marT="27432" marB="27432">
                    <a:solidFill>
                      <a:srgbClr val="F4F6FA"/>
                    </a:solidFill>
                  </a:tcPr>
                </a:tc>
                <a:tc>
                  <a:txBody>
                    <a:bodyPr wrap="square"/>
                    <a:lstStyle/>
                    <a:p>
                      <a:pPr>
                        <a:lnSpc>
                          <a:spcPct val="105000"/>
                        </a:lnSpc>
                      </a:pPr>
                      <a:r>
                        <a:rPr sz="1300" b="0" i="0">
                          <a:solidFill>
                            <a:srgbClr val="111111"/>
                          </a:solidFill>
                          <a:latin typeface="Arial"/>
                        </a:rPr>
                        <a:t>Untrusted-only, trusted monitoring, defer-to-trusted (Greenblatt et al., 2023)</a:t>
                      </a:r>
                    </a:p>
                  </a:txBody>
                  <a:tcPr marL="54864" marR="54864" marT="27432" marB="27432">
                    <a:solidFill>
                      <a:srgbClr val="F4F6FA"/>
                    </a:solidFill>
                  </a:tcPr>
                </a:tc>
              </a:tr>
              <a:tr h="418011">
                <a:tc>
                  <a:txBody>
                    <a:bodyPr wrap="square"/>
                    <a:lstStyle/>
                    <a:p>
                      <a:pPr>
                        <a:lnSpc>
                          <a:spcPct val="105000"/>
                        </a:lnSpc>
                      </a:pPr>
                      <a:r>
                        <a:rPr sz="1300" b="1" i="0">
                          <a:solidFill>
                            <a:srgbClr val="111111"/>
                          </a:solidFill>
                          <a:latin typeface="Arial"/>
                        </a:rPr>
                        <a:t>SHADE-Arena (Kutasov et al., 2025)</a:t>
                      </a:r>
                    </a:p>
                  </a:txBody>
                  <a:tcPr marL="54864" marR="54864" marT="27432" marB="27432">
                    <a:solidFill>
                      <a:srgbClr val="FFFFFF"/>
                    </a:solidFill>
                  </a:tcPr>
                </a:tc>
                <a:tc>
                  <a:txBody>
                    <a:bodyPr wrap="square"/>
                    <a:lstStyle/>
                    <a:p>
                      <a:pPr>
                        <a:lnSpc>
                          <a:spcPct val="105000"/>
                        </a:lnSpc>
                      </a:pPr>
                      <a:r>
                        <a:rPr sz="1300" b="0" i="0">
                          <a:solidFill>
                            <a:srgbClr val="111111"/>
                          </a:solidFill>
                          <a:latin typeface="Arial"/>
                        </a:rPr>
                        <a:t>Upstream monitor on the same transcripts</a:t>
                      </a:r>
                    </a:p>
                  </a:txBody>
                  <a:tcPr marL="54864" marR="54864" marT="27432" marB="27432">
                    <a:solidFill>
                      <a:srgbClr val="FFFFFF"/>
                    </a:solidFill>
                  </a:tcPr>
                </a:tc>
              </a:tr>
              <a:tr h="418014">
                <a:tc>
                  <a:txBody>
                    <a:bodyPr wrap="square"/>
                    <a:lstStyle/>
                    <a:p>
                      <a:pPr>
                        <a:lnSpc>
                          <a:spcPct val="105000"/>
                        </a:lnSpc>
                      </a:pPr>
                      <a:r>
                        <a:rPr sz="1300" b="1" i="0">
                          <a:solidFill>
                            <a:srgbClr val="111111"/>
                          </a:solidFill>
                          <a:latin typeface="Arial"/>
                        </a:rPr>
                        <a:t>Incident families reported after the cutoff</a:t>
                      </a:r>
                    </a:p>
                  </a:txBody>
                  <a:tcPr marL="54864" marR="54864" marT="27432" marB="27432">
                    <a:solidFill>
                      <a:srgbClr val="F4F6FA"/>
                    </a:solidFill>
                  </a:tcPr>
                </a:tc>
                <a:tc>
                  <a:txBody>
                    <a:bodyPr wrap="square"/>
                    <a:lstStyle/>
                    <a:p>
                      <a:pPr>
                        <a:lnSpc>
                          <a:spcPct val="105000"/>
                        </a:lnSpc>
                      </a:pPr>
                      <a:r>
                        <a:rPr sz="1300" b="0" i="0">
                          <a:solidFill>
                            <a:srgbClr val="111111"/>
                          </a:solidFill>
                          <a:latin typeface="Arial"/>
                        </a:rPr>
                        <a:t>Time-split stream; no baseline has seen them</a:t>
                      </a:r>
                    </a:p>
                  </a:txBody>
                  <a:tcPr marL="54864" marR="54864" marT="27432" marB="27432">
                    <a:solidFill>
                      <a:srgbClr val="F4F6FA"/>
                    </a:solidFill>
                  </a:tcPr>
                </a:tc>
              </a:tr>
            </a:tbl>
          </a:graphicData>
        </a:graphic>
      </p:graphicFrame>
      <p:sp>
        <p:nvSpPr>
          <p:cNvPr id="9" name="Rounded Rectangle 8"/>
          <p:cNvSpPr/>
          <p:nvPr/>
        </p:nvSpPr>
        <p:spPr>
          <a:xfrm>
            <a:off x="457200" y="4434840"/>
            <a:ext cx="5532120" cy="1828800"/>
          </a:xfrm>
          <a:prstGeom prst="roundRect">
            <a:avLst>
              <a:gd name="adj" fmla="val 6000"/>
            </a:avLst>
          </a:prstGeom>
          <a:solidFill>
            <a:srgbClr val="EDF4FB"/>
          </a:solidFill>
          <a:ln w="12700">
            <a:solidFill>
              <a:srgbClr val="365E9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4507992"/>
            <a:ext cx="5330952" cy="365760"/>
          </a:xfrm>
          <a:prstGeom prst="rect">
            <a:avLst/>
          </a:prstGeom>
          <a:noFill/>
        </p:spPr>
        <p:txBody>
          <a:bodyPr wrap="square" lIns="45720" rIns="45720" tIns="27432" bIns="27432" anchor="t">
            <a:spAutoFit/>
          </a:bodyPr>
          <a:lstStyle/>
          <a:p>
            <a:pPr algn="l">
              <a:lnSpc>
                <a:spcPct val="110000"/>
              </a:lnSpc>
            </a:pPr>
            <a:r>
              <a:rPr sz="1600" b="1" i="0">
                <a:solidFill>
                  <a:srgbClr val="365E9E"/>
                </a:solidFill>
                <a:latin typeface="Arial"/>
              </a:rPr>
              <a:t>Endpoints and success</a:t>
            </a:r>
          </a:p>
        </p:txBody>
      </p:sp>
      <p:sp>
        <p:nvSpPr>
          <p:cNvPr id="11" name="TextBox 10"/>
          <p:cNvSpPr txBox="1"/>
          <p:nvPr/>
        </p:nvSpPr>
        <p:spPr>
          <a:xfrm>
            <a:off x="530352" y="4873752"/>
            <a:ext cx="5385816" cy="1325880"/>
          </a:xfrm>
          <a:prstGeom prst="rect">
            <a:avLst/>
          </a:prstGeom>
          <a:noFill/>
        </p:spPr>
        <p:txBody>
          <a:bodyPr wrap="square" lIns="45720" rIns="45720">
            <a:spAutoFit/>
          </a:bodyPr>
          <a:lstStyle/>
          <a:p>
            <a:pPr>
              <a:lnSpc>
                <a:spcPct val="108000"/>
              </a:lnSpc>
              <a:spcAft>
                <a:spcPts val="200"/>
              </a:spcAft>
            </a:pPr>
            <a:r>
              <a:rPr sz="1500" b="0" i="0">
                <a:solidFill>
                  <a:srgbClr val="111111"/>
                </a:solidFill>
                <a:latin typeface="Arial"/>
              </a:rPr>
              <a:t>•  ΔR = R(B4) − R(B3) and ΔU, paired by task lineage, plus refusals and cost</a:t>
            </a:r>
          </a:p>
          <a:p>
            <a:pPr>
              <a:lnSpc>
                <a:spcPct val="108000"/>
              </a:lnSpc>
              <a:spcAft>
                <a:spcPts val="200"/>
              </a:spcAft>
            </a:pPr>
            <a:r>
              <a:rPr sz="1500" b="0" i="0">
                <a:solidFill>
                  <a:srgbClr val="111111"/>
                </a:solidFill>
                <a:latin typeface="Arial"/>
              </a:rPr>
              <a:t>•  Success: fewer verified incidents at comparable utility on untouched data</a:t>
            </a:r>
          </a:p>
        </p:txBody>
      </p:sp>
      <p:sp>
        <p:nvSpPr>
          <p:cNvPr id="12" name="Rounded Rectangle 11"/>
          <p:cNvSpPr/>
          <p:nvPr/>
        </p:nvSpPr>
        <p:spPr>
          <a:xfrm>
            <a:off x="6400800" y="4434840"/>
            <a:ext cx="5330952" cy="1828800"/>
          </a:xfrm>
          <a:prstGeom prst="roundRect">
            <a:avLst>
              <a:gd name="adj" fmla="val 6000"/>
            </a:avLst>
          </a:prstGeom>
          <a:solidFill>
            <a:srgbClr val="FFFFFF"/>
          </a:solidFill>
          <a:ln w="12700">
            <a:solidFill>
              <a:srgbClr val="365E9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510528" y="4507992"/>
            <a:ext cx="5129784" cy="365760"/>
          </a:xfrm>
          <a:prstGeom prst="rect">
            <a:avLst/>
          </a:prstGeom>
          <a:noFill/>
        </p:spPr>
        <p:txBody>
          <a:bodyPr wrap="square" lIns="45720" rIns="45720" tIns="27432" bIns="27432" anchor="t">
            <a:spAutoFit/>
          </a:bodyPr>
          <a:lstStyle/>
          <a:p>
            <a:pPr algn="l">
              <a:lnSpc>
                <a:spcPct val="110000"/>
              </a:lnSpc>
            </a:pPr>
            <a:r>
              <a:rPr sz="1600" b="1" i="0">
                <a:solidFill>
                  <a:srgbClr val="365E9E"/>
                </a:solidFill>
                <a:latin typeface="Arial"/>
              </a:rPr>
              <a:t>The main figure</a:t>
            </a:r>
          </a:p>
        </p:txBody>
      </p:sp>
      <p:sp>
        <p:nvSpPr>
          <p:cNvPr id="14" name="TextBox 13"/>
          <p:cNvSpPr txBox="1"/>
          <p:nvPr/>
        </p:nvSpPr>
        <p:spPr>
          <a:xfrm>
            <a:off x="6473952" y="4873752"/>
            <a:ext cx="5184648" cy="1325880"/>
          </a:xfrm>
          <a:prstGeom prst="rect">
            <a:avLst/>
          </a:prstGeom>
          <a:noFill/>
        </p:spPr>
        <p:txBody>
          <a:bodyPr wrap="square" lIns="45720" rIns="45720">
            <a:spAutoFit/>
          </a:bodyPr>
          <a:lstStyle/>
          <a:p>
            <a:pPr>
              <a:lnSpc>
                <a:spcPct val="108000"/>
              </a:lnSpc>
              <a:spcAft>
                <a:spcPts val="200"/>
              </a:spcAft>
            </a:pPr>
            <a:r>
              <a:rPr sz="1500" b="0" i="0">
                <a:solidFill>
                  <a:srgbClr val="111111"/>
                </a:solidFill>
                <a:latin typeface="Arial"/>
              </a:rPr>
              <a:t>•  x: task utility   y: verified incident rate; mark B0, B2, B3, B4</a:t>
            </a:r>
          </a:p>
          <a:p>
            <a:pPr>
              <a:lnSpc>
                <a:spcPct val="108000"/>
              </a:lnSpc>
              <a:spcAft>
                <a:spcPts val="200"/>
              </a:spcAft>
            </a:pPr>
            <a:r>
              <a:rPr sz="1500" b="0" i="0">
                <a:solidFill>
                  <a:srgbClr val="111111"/>
                </a:solidFill>
                <a:latin typeface="Arial"/>
              </a:rPr>
              <a:t>•  No improving curve before data exist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82296" cy="566928"/>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301752"/>
            <a:ext cx="10515600" cy="548640"/>
          </a:xfrm>
          <a:prstGeom prst="rect">
            <a:avLst/>
          </a:prstGeom>
          <a:noFill/>
        </p:spPr>
        <p:txBody>
          <a:bodyPr wrap="square" lIns="45720" rIns="45720" tIns="27432" bIns="27432" anchor="ctr">
            <a:spAutoFit/>
          </a:bodyPr>
          <a:lstStyle/>
          <a:p>
            <a:pPr algn="l">
              <a:lnSpc>
                <a:spcPct val="110000"/>
              </a:lnSpc>
            </a:pPr>
            <a:r>
              <a:rPr sz="2600" b="1" i="0">
                <a:solidFill>
                  <a:srgbClr val="111111"/>
                </a:solidFill>
                <a:latin typeface="Arial"/>
              </a:rPr>
              <a:t>Status and roadmap</a:t>
            </a:r>
          </a:p>
        </p:txBody>
      </p:sp>
      <p:sp>
        <p:nvSpPr>
          <p:cNvPr id="4" name="TextBox 3"/>
          <p:cNvSpPr txBox="1"/>
          <p:nvPr/>
        </p:nvSpPr>
        <p:spPr>
          <a:xfrm>
            <a:off x="8503920" y="109728"/>
            <a:ext cx="3200400" cy="274320"/>
          </a:xfrm>
          <a:prstGeom prst="rect">
            <a:avLst/>
          </a:prstGeom>
          <a:noFill/>
        </p:spPr>
        <p:txBody>
          <a:bodyPr wrap="square" lIns="45720" rIns="45720" tIns="27432" bIns="27432" anchor="t">
            <a:spAutoFit/>
          </a:bodyPr>
          <a:lstStyle/>
          <a:p>
            <a:pPr algn="r">
              <a:lnSpc>
                <a:spcPct val="110000"/>
              </a:lnSpc>
            </a:pPr>
            <a:r>
              <a:rPr sz="900" b="1" i="0">
                <a:solidFill>
                  <a:srgbClr val="365E9E"/>
                </a:solidFill>
                <a:latin typeface="Arial"/>
              </a:rPr>
              <a:t>6 · STATUS</a:t>
            </a:r>
          </a:p>
        </p:txBody>
      </p:sp>
      <p:cxnSp>
        <p:nvCxnSpPr>
          <p:cNvPr id="5" name="Connector 4"/>
          <p:cNvCxnSpPr/>
          <p:nvPr/>
        </p:nvCxnSpPr>
        <p:spPr>
          <a:xfrm>
            <a:off x="457200" y="6446520"/>
            <a:ext cx="11277295" cy="0"/>
          </a:xfrm>
          <a:prstGeom prst="line">
            <a:avLst/>
          </a:prstGeom>
          <a:ln w="6350">
            <a:solidFill>
              <a:srgbClr val="C9C9C9"/>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473952"/>
            <a:ext cx="10058400" cy="274320"/>
          </a:xfrm>
          <a:prstGeom prst="rect">
            <a:avLst/>
          </a:prstGeom>
          <a:noFill/>
        </p:spPr>
        <p:txBody>
          <a:bodyPr wrap="square" lIns="45720" rIns="45720" tIns="27432" bIns="27432" anchor="t">
            <a:spAutoFit/>
          </a:bodyPr>
          <a:lstStyle/>
          <a:p>
            <a:pPr algn="l">
              <a:lnSpc>
                <a:spcPct val="110000"/>
              </a:lnSpc>
            </a:pPr>
            <a:r>
              <a:rPr sz="800" b="0" i="0">
                <a:solidFill>
                  <a:srgbClr val="666666"/>
                </a:solidFill>
                <a:latin typeface="Arial"/>
              </a:rPr>
              <a:t>Incident-aware optimization · design proposal · containment-extension · October 2026 · no benchmark improvement measured</a:t>
            </a:r>
          </a:p>
        </p:txBody>
      </p:sp>
      <p:sp>
        <p:nvSpPr>
          <p:cNvPr id="7" name="TextBox 6"/>
          <p:cNvSpPr txBox="1"/>
          <p:nvPr/>
        </p:nvSpPr>
        <p:spPr>
          <a:xfrm>
            <a:off x="10820095" y="6473952"/>
            <a:ext cx="914400" cy="274320"/>
          </a:xfrm>
          <a:prstGeom prst="rect">
            <a:avLst/>
          </a:prstGeom>
          <a:noFill/>
        </p:spPr>
        <p:txBody>
          <a:bodyPr wrap="square" lIns="45720" rIns="45720" tIns="27432" bIns="27432" anchor="t">
            <a:spAutoFit/>
          </a:bodyPr>
          <a:lstStyle/>
          <a:p>
            <a:pPr algn="r">
              <a:lnSpc>
                <a:spcPct val="110000"/>
              </a:lnSpc>
            </a:pPr>
            <a:r>
              <a:rPr sz="900" b="0" i="0">
                <a:solidFill>
                  <a:srgbClr val="666666"/>
                </a:solidFill>
                <a:latin typeface="Arial"/>
              </a:rPr>
              <a:t>25</a:t>
            </a:r>
          </a:p>
        </p:txBody>
      </p:sp>
      <p:sp>
        <p:nvSpPr>
          <p:cNvPr id="8" name="Rounded Rectangle 7"/>
          <p:cNvSpPr/>
          <p:nvPr/>
        </p:nvSpPr>
        <p:spPr>
          <a:xfrm>
            <a:off x="457200" y="1325880"/>
            <a:ext cx="3657600" cy="2651760"/>
          </a:xfrm>
          <a:prstGeom prst="roundRect">
            <a:avLst>
              <a:gd name="adj" fmla="val 6000"/>
            </a:avLst>
          </a:prstGeom>
          <a:solidFill>
            <a:srgbClr val="EAF5EF"/>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66928" y="1399032"/>
            <a:ext cx="3456432" cy="365760"/>
          </a:xfrm>
          <a:prstGeom prst="rect">
            <a:avLst/>
          </a:prstGeom>
          <a:noFill/>
        </p:spPr>
        <p:txBody>
          <a:bodyPr wrap="square" lIns="45720" rIns="45720" tIns="27432" bIns="27432" anchor="t">
            <a:spAutoFit/>
          </a:bodyPr>
          <a:lstStyle/>
          <a:p>
            <a:pPr algn="l">
              <a:lnSpc>
                <a:spcPct val="110000"/>
              </a:lnSpc>
            </a:pPr>
            <a:r>
              <a:rPr sz="1600" b="1" i="0">
                <a:solidFill>
                  <a:srgbClr val="2E7D5B"/>
                </a:solidFill>
                <a:latin typeface="Arial"/>
              </a:rPr>
              <a:t>Exists</a:t>
            </a:r>
          </a:p>
        </p:txBody>
      </p:sp>
      <p:sp>
        <p:nvSpPr>
          <p:cNvPr id="10" name="TextBox 9"/>
          <p:cNvSpPr txBox="1"/>
          <p:nvPr/>
        </p:nvSpPr>
        <p:spPr>
          <a:xfrm>
            <a:off x="530352" y="1764792"/>
            <a:ext cx="3511296" cy="2148840"/>
          </a:xfrm>
          <a:prstGeom prst="rect">
            <a:avLst/>
          </a:prstGeom>
          <a:noFill/>
        </p:spPr>
        <p:txBody>
          <a:bodyPr wrap="square" lIns="45720" rIns="45720">
            <a:spAutoFit/>
          </a:bodyPr>
          <a:lstStyle/>
          <a:p>
            <a:pPr>
              <a:lnSpc>
                <a:spcPct val="108000"/>
              </a:lnSpc>
              <a:spcAft>
                <a:spcPts val="200"/>
              </a:spcAft>
            </a:pPr>
            <a:r>
              <a:rPr sz="1500" b="0" i="0">
                <a:solidFill>
                  <a:srgbClr val="111111"/>
                </a:solidFill>
                <a:latin typeface="Arial"/>
              </a:rPr>
              <a:t>•  Independent observers (native, container)</a:t>
            </a:r>
          </a:p>
          <a:p>
            <a:pPr>
              <a:lnSpc>
                <a:spcPct val="108000"/>
              </a:lnSpc>
              <a:spcAft>
                <a:spcPts val="200"/>
              </a:spcAft>
            </a:pPr>
            <a:r>
              <a:rPr sz="1500" b="0" i="0">
                <a:solidFill>
                  <a:srgbClr val="111111"/>
                </a:solidFill>
                <a:latin typeface="Arial"/>
              </a:rPr>
              <a:t>•  Clause catalog and native optimizer</a:t>
            </a:r>
          </a:p>
          <a:p>
            <a:pPr>
              <a:lnSpc>
                <a:spcPct val="108000"/>
              </a:lnSpc>
              <a:spcAft>
                <a:spcPts val="200"/>
              </a:spcAft>
            </a:pPr>
            <a:r>
              <a:rPr sz="1500" b="0" i="0">
                <a:solidFill>
                  <a:srgbClr val="111111"/>
                </a:solidFill>
                <a:latin typeface="Arial"/>
              </a:rPr>
              <a:t>•  Offline qualification; benchmark importers</a:t>
            </a:r>
          </a:p>
        </p:txBody>
      </p:sp>
      <p:sp>
        <p:nvSpPr>
          <p:cNvPr id="11" name="Rounded Rectangle 10"/>
          <p:cNvSpPr/>
          <p:nvPr/>
        </p:nvSpPr>
        <p:spPr>
          <a:xfrm>
            <a:off x="4270248" y="1325880"/>
            <a:ext cx="3657600" cy="2651760"/>
          </a:xfrm>
          <a:prstGeom prst="roundRect">
            <a:avLst>
              <a:gd name="adj" fmla="val 6000"/>
            </a:avLst>
          </a:prstGeom>
          <a:solidFill>
            <a:srgbClr val="FDF3E7"/>
          </a:solidFill>
          <a:ln w="12700">
            <a:solidFill>
              <a:srgbClr val="B873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379976" y="1399032"/>
            <a:ext cx="3456432" cy="365760"/>
          </a:xfrm>
          <a:prstGeom prst="rect">
            <a:avLst/>
          </a:prstGeom>
          <a:noFill/>
        </p:spPr>
        <p:txBody>
          <a:bodyPr wrap="square" lIns="45720" rIns="45720" tIns="27432" bIns="27432" anchor="t">
            <a:spAutoFit/>
          </a:bodyPr>
          <a:lstStyle/>
          <a:p>
            <a:pPr algn="l">
              <a:lnSpc>
                <a:spcPct val="110000"/>
              </a:lnSpc>
            </a:pPr>
            <a:r>
              <a:rPr sz="1600" b="1" i="0">
                <a:solidFill>
                  <a:srgbClr val="B8732A"/>
                </a:solidFill>
                <a:latin typeface="Arial"/>
              </a:rPr>
              <a:t>Still needed for the core comparison</a:t>
            </a:r>
          </a:p>
        </p:txBody>
      </p:sp>
      <p:sp>
        <p:nvSpPr>
          <p:cNvPr id="13" name="TextBox 12"/>
          <p:cNvSpPr txBox="1"/>
          <p:nvPr/>
        </p:nvSpPr>
        <p:spPr>
          <a:xfrm>
            <a:off x="4343400" y="1764792"/>
            <a:ext cx="3511296" cy="2148840"/>
          </a:xfrm>
          <a:prstGeom prst="rect">
            <a:avLst/>
          </a:prstGeom>
          <a:noFill/>
        </p:spPr>
        <p:txBody>
          <a:bodyPr wrap="square" lIns="45720" rIns="45720">
            <a:spAutoFit/>
          </a:bodyPr>
          <a:lstStyle/>
          <a:p>
            <a:pPr>
              <a:lnSpc>
                <a:spcPct val="108000"/>
              </a:lnSpc>
              <a:spcAft>
                <a:spcPts val="200"/>
              </a:spcAft>
            </a:pPr>
            <a:r>
              <a:rPr sz="1500" b="0" i="0">
                <a:solidFill>
                  <a:srgbClr val="111111"/>
                </a:solidFill>
                <a:latin typeface="Arial"/>
              </a:rPr>
              <a:t>•  ImpossibleBench actor-environment repair</a:t>
            </a:r>
          </a:p>
          <a:p>
            <a:pPr>
              <a:lnSpc>
                <a:spcPct val="108000"/>
              </a:lnSpc>
              <a:spcAft>
                <a:spcPts val="200"/>
              </a:spcAft>
            </a:pPr>
            <a:r>
              <a:rPr sz="1500" b="0" i="0">
                <a:solidFill>
                  <a:srgbClr val="111111"/>
                </a:solidFill>
                <a:latin typeface="Arial"/>
              </a:rPr>
              <a:t>•  Matched B3 vs B4 ablation</a:t>
            </a:r>
          </a:p>
          <a:p>
            <a:pPr>
              <a:lnSpc>
                <a:spcPct val="108000"/>
              </a:lnSpc>
              <a:spcAft>
                <a:spcPts val="200"/>
              </a:spcAft>
            </a:pPr>
            <a:r>
              <a:rPr sz="1500" b="0" i="0">
                <a:solidFill>
                  <a:srgbClr val="111111"/>
                </a:solidFill>
                <a:latin typeface="Arial"/>
              </a:rPr>
              <a:t>•  Pre-registered splits and budgets</a:t>
            </a:r>
          </a:p>
        </p:txBody>
      </p:sp>
      <p:sp>
        <p:nvSpPr>
          <p:cNvPr id="14" name="Rounded Rectangle 13"/>
          <p:cNvSpPr/>
          <p:nvPr/>
        </p:nvSpPr>
        <p:spPr>
          <a:xfrm>
            <a:off x="8074152" y="1325880"/>
            <a:ext cx="3657600" cy="2651760"/>
          </a:xfrm>
          <a:prstGeom prst="roundRect">
            <a:avLst>
              <a:gd name="adj" fmla="val 6000"/>
            </a:avLst>
          </a:prstGeom>
          <a:solidFill>
            <a:srgbClr val="EDF4FB"/>
          </a:solidFill>
          <a:ln w="12700">
            <a:solidFill>
              <a:srgbClr val="365E9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183880" y="1399032"/>
            <a:ext cx="3456432" cy="365760"/>
          </a:xfrm>
          <a:prstGeom prst="rect">
            <a:avLst/>
          </a:prstGeom>
          <a:noFill/>
        </p:spPr>
        <p:txBody>
          <a:bodyPr wrap="square" lIns="45720" rIns="45720" tIns="27432" bIns="27432" anchor="t">
            <a:spAutoFit/>
          </a:bodyPr>
          <a:lstStyle/>
          <a:p>
            <a:pPr algn="l">
              <a:lnSpc>
                <a:spcPct val="110000"/>
              </a:lnSpc>
            </a:pPr>
            <a:r>
              <a:rPr sz="1600" b="1" i="0">
                <a:solidFill>
                  <a:srgbClr val="365E9E"/>
                </a:solidFill>
                <a:latin typeface="Arial"/>
              </a:rPr>
              <a:t>New in this design</a:t>
            </a:r>
          </a:p>
        </p:txBody>
      </p:sp>
      <p:sp>
        <p:nvSpPr>
          <p:cNvPr id="16" name="TextBox 15"/>
          <p:cNvSpPr txBox="1"/>
          <p:nvPr/>
        </p:nvSpPr>
        <p:spPr>
          <a:xfrm>
            <a:off x="8147304" y="1764792"/>
            <a:ext cx="3511296" cy="2148840"/>
          </a:xfrm>
          <a:prstGeom prst="rect">
            <a:avLst/>
          </a:prstGeom>
          <a:noFill/>
        </p:spPr>
        <p:txBody>
          <a:bodyPr wrap="square" lIns="45720" rIns="45720">
            <a:spAutoFit/>
          </a:bodyPr>
          <a:lstStyle/>
          <a:p>
            <a:pPr>
              <a:lnSpc>
                <a:spcPct val="108000"/>
              </a:lnSpc>
              <a:spcAft>
                <a:spcPts val="200"/>
              </a:spcAft>
            </a:pPr>
            <a:r>
              <a:rPr sz="1500" b="0" i="0">
                <a:solidFill>
                  <a:srgbClr val="111111"/>
                </a:solidFill>
                <a:latin typeface="Arial"/>
              </a:rPr>
              <a:t>•  Intake, library, synthesis</a:t>
            </a:r>
          </a:p>
          <a:p>
            <a:pPr>
              <a:lnSpc>
                <a:spcPct val="108000"/>
              </a:lnSpc>
              <a:spcAft>
                <a:spcPts val="200"/>
              </a:spcAft>
            </a:pPr>
            <a:r>
              <a:rPr sz="1500" b="0" i="0">
                <a:solidFill>
                  <a:srgbClr val="111111"/>
                </a:solidFill>
                <a:latin typeface="Arial"/>
              </a:rPr>
              <a:t>•  Replay blame, action monitor</a:t>
            </a:r>
          </a:p>
          <a:p>
            <a:pPr>
              <a:lnSpc>
                <a:spcPct val="108000"/>
              </a:lnSpc>
              <a:spcAft>
                <a:spcPts val="200"/>
              </a:spcAft>
            </a:pPr>
            <a:r>
              <a:rPr sz="1500" b="0" i="0">
                <a:solidFill>
                  <a:srgbClr val="111111"/>
                </a:solidFill>
                <a:latin typeface="Arial"/>
              </a:rPr>
              <a:t>•  Regression gate and release</a:t>
            </a:r>
          </a:p>
        </p:txBody>
      </p:sp>
      <p:graphicFrame>
        <p:nvGraphicFramePr>
          <p:cNvPr id="17" name="Table 16"/>
          <p:cNvGraphicFramePr>
            <a:graphicFrameLocks noGrp="1"/>
          </p:cNvGraphicFramePr>
          <p:nvPr/>
        </p:nvGraphicFramePr>
        <p:xfrm>
          <a:off x="457200" y="4160520"/>
          <a:ext cx="11277294" cy="2103120"/>
        </p:xfrm>
        <a:graphic>
          <a:graphicData uri="http://schemas.openxmlformats.org/drawingml/2006/table">
            <a:tbl>
              <a:tblPr firstRow="1" bandRow="1">
                <a:tableStyleId>{5C22544A-7EE6-4342-B048-85BDC9FD1C3A}</a:tableStyleId>
              </a:tblPr>
              <a:tblGrid>
                <a:gridCol w="1127729"/>
                <a:gridCol w="7894106"/>
                <a:gridCol w="2255459"/>
              </a:tblGrid>
              <a:tr h="420624">
                <a:tc>
                  <a:txBody>
                    <a:bodyPr wrap="square"/>
                    <a:lstStyle/>
                    <a:p>
                      <a:pPr>
                        <a:lnSpc>
                          <a:spcPct val="105000"/>
                        </a:lnSpc>
                      </a:pPr>
                      <a:r>
                        <a:rPr sz="1400" b="1" i="0">
                          <a:solidFill>
                            <a:srgbClr val="FFFFFF"/>
                          </a:solidFill>
                          <a:latin typeface="Arial"/>
                        </a:rPr>
                        <a:t>Phase</a:t>
                      </a:r>
                    </a:p>
                  </a:txBody>
                  <a:tcPr marL="54864" marR="54864" marT="27432" marB="27432">
                    <a:solidFill>
                      <a:srgbClr val="365E9E"/>
                    </a:solidFill>
                  </a:tcPr>
                </a:tc>
                <a:tc>
                  <a:txBody>
                    <a:bodyPr wrap="square"/>
                    <a:lstStyle/>
                    <a:p>
                      <a:pPr>
                        <a:lnSpc>
                          <a:spcPct val="105000"/>
                        </a:lnSpc>
                      </a:pPr>
                      <a:r>
                        <a:rPr sz="1400" b="1" i="0">
                          <a:solidFill>
                            <a:srgbClr val="FFFFFF"/>
                          </a:solidFill>
                          <a:latin typeface="Arial"/>
                        </a:rPr>
                        <a:t>Scope</a:t>
                      </a:r>
                    </a:p>
                  </a:txBody>
                  <a:tcPr marL="54864" marR="54864" marT="27432" marB="27432">
                    <a:solidFill>
                      <a:srgbClr val="365E9E"/>
                    </a:solidFill>
                  </a:tcPr>
                </a:tc>
                <a:tc>
                  <a:txBody>
                    <a:bodyPr wrap="square"/>
                    <a:lstStyle/>
                    <a:p>
                      <a:pPr>
                        <a:lnSpc>
                          <a:spcPct val="105000"/>
                        </a:lnSpc>
                      </a:pPr>
                      <a:r>
                        <a:rPr sz="1400" b="1" i="0">
                          <a:solidFill>
                            <a:srgbClr val="FFFFFF"/>
                          </a:solidFill>
                          <a:latin typeface="Arial"/>
                        </a:rPr>
                        <a:t>Model calls</a:t>
                      </a:r>
                    </a:p>
                  </a:txBody>
                  <a:tcPr marL="54864" marR="54864" marT="27432" marB="27432">
                    <a:solidFill>
                      <a:srgbClr val="365E9E"/>
                    </a:solidFill>
                  </a:tcPr>
                </a:tc>
              </a:tr>
              <a:tr h="420624">
                <a:tc>
                  <a:txBody>
                    <a:bodyPr wrap="square"/>
                    <a:lstStyle/>
                    <a:p>
                      <a:pPr>
                        <a:lnSpc>
                          <a:spcPct val="105000"/>
                        </a:lnSpc>
                      </a:pPr>
                      <a:r>
                        <a:rPr sz="1400" b="1" i="0">
                          <a:solidFill>
                            <a:srgbClr val="111111"/>
                          </a:solidFill>
                          <a:latin typeface="Arial"/>
                        </a:rPr>
                        <a:t>1</a:t>
                      </a:r>
                    </a:p>
                  </a:txBody>
                  <a:tcPr marL="54864" marR="54864" marT="27432" marB="27432">
                    <a:solidFill>
                      <a:srgbClr val="FFFFFF"/>
                    </a:solidFill>
                  </a:tcPr>
                </a:tc>
                <a:tc>
                  <a:txBody>
                    <a:bodyPr wrap="square"/>
                    <a:lstStyle/>
                    <a:p>
                      <a:pPr>
                        <a:lnSpc>
                          <a:spcPct val="105000"/>
                        </a:lnSpc>
                      </a:pPr>
                      <a:r>
                        <a:rPr sz="1400" b="0" i="0">
                          <a:solidFill>
                            <a:srgbClr val="111111"/>
                          </a:solidFill>
                          <a:latin typeface="Arial"/>
                        </a:rPr>
                        <a:t>Schema, library, own-run intake, splits</a:t>
                      </a:r>
                    </a:p>
                  </a:txBody>
                  <a:tcPr marL="54864" marR="54864" marT="27432" marB="27432">
                    <a:solidFill>
                      <a:srgbClr val="FFFFFF"/>
                    </a:solidFill>
                  </a:tcPr>
                </a:tc>
                <a:tc>
                  <a:txBody>
                    <a:bodyPr wrap="square"/>
                    <a:lstStyle/>
                    <a:p>
                      <a:pPr>
                        <a:lnSpc>
                          <a:spcPct val="105000"/>
                        </a:lnSpc>
                      </a:pPr>
                      <a:r>
                        <a:rPr sz="1400" b="0" i="0">
                          <a:solidFill>
                            <a:srgbClr val="111111"/>
                          </a:solidFill>
                          <a:latin typeface="Arial"/>
                        </a:rPr>
                        <a:t>No</a:t>
                      </a:r>
                    </a:p>
                  </a:txBody>
                  <a:tcPr marL="54864" marR="54864" marT="27432" marB="27432">
                    <a:solidFill>
                      <a:srgbClr val="FFFFFF"/>
                    </a:solidFill>
                  </a:tcPr>
                </a:tc>
              </a:tr>
              <a:tr h="420624">
                <a:tc>
                  <a:txBody>
                    <a:bodyPr wrap="square"/>
                    <a:lstStyle/>
                    <a:p>
                      <a:pPr>
                        <a:lnSpc>
                          <a:spcPct val="105000"/>
                        </a:lnSpc>
                      </a:pPr>
                      <a:r>
                        <a:rPr sz="1400" b="1" i="0">
                          <a:solidFill>
                            <a:srgbClr val="111111"/>
                          </a:solidFill>
                          <a:latin typeface="Arial"/>
                        </a:rPr>
                        <a:t>2</a:t>
                      </a:r>
                    </a:p>
                  </a:txBody>
                  <a:tcPr marL="54864" marR="54864" marT="27432" marB="27432">
                    <a:solidFill>
                      <a:srgbClr val="F4F6FA"/>
                    </a:solidFill>
                  </a:tcPr>
                </a:tc>
                <a:tc>
                  <a:txBody>
                    <a:bodyPr wrap="square"/>
                    <a:lstStyle/>
                    <a:p>
                      <a:pPr>
                        <a:lnSpc>
                          <a:spcPct val="105000"/>
                        </a:lnSpc>
                      </a:pPr>
                      <a:r>
                        <a:rPr sz="1400" b="0" i="0">
                          <a:solidFill>
                            <a:srgbClr val="111111"/>
                          </a:solidFill>
                          <a:latin typeface="Arial"/>
                        </a:rPr>
                        <a:t>Replay and synthesis on the local sandbox</a:t>
                      </a:r>
                    </a:p>
                  </a:txBody>
                  <a:tcPr marL="54864" marR="54864" marT="27432" marB="27432">
                    <a:solidFill>
                      <a:srgbClr val="F4F6FA"/>
                    </a:solidFill>
                  </a:tcPr>
                </a:tc>
                <a:tc>
                  <a:txBody>
                    <a:bodyPr wrap="square"/>
                    <a:lstStyle/>
                    <a:p>
                      <a:pPr>
                        <a:lnSpc>
                          <a:spcPct val="105000"/>
                        </a:lnSpc>
                      </a:pPr>
                      <a:r>
                        <a:rPr sz="1400" b="0" i="0">
                          <a:solidFill>
                            <a:srgbClr val="111111"/>
                          </a:solidFill>
                          <a:latin typeface="Arial"/>
                        </a:rPr>
                        <a:t>Small</a:t>
                      </a:r>
                    </a:p>
                  </a:txBody>
                  <a:tcPr marL="54864" marR="54864" marT="27432" marB="27432">
                    <a:solidFill>
                      <a:srgbClr val="F4F6FA"/>
                    </a:solidFill>
                  </a:tcPr>
                </a:tc>
              </a:tr>
              <a:tr h="420624">
                <a:tc>
                  <a:txBody>
                    <a:bodyPr wrap="square"/>
                    <a:lstStyle/>
                    <a:p>
                      <a:pPr>
                        <a:lnSpc>
                          <a:spcPct val="105000"/>
                        </a:lnSpc>
                      </a:pPr>
                      <a:r>
                        <a:rPr sz="1400" b="1" i="0">
                          <a:solidFill>
                            <a:srgbClr val="111111"/>
                          </a:solidFill>
                          <a:latin typeface="Arial"/>
                        </a:rPr>
                        <a:t>3</a:t>
                      </a:r>
                    </a:p>
                  </a:txBody>
                  <a:tcPr marL="54864" marR="54864" marT="27432" marB="27432">
                    <a:solidFill>
                      <a:srgbClr val="FFFFFF"/>
                    </a:solidFill>
                  </a:tcPr>
                </a:tc>
                <a:tc>
                  <a:txBody>
                    <a:bodyPr wrap="square"/>
                    <a:lstStyle/>
                    <a:p>
                      <a:pPr>
                        <a:lnSpc>
                          <a:spcPct val="105000"/>
                        </a:lnSpc>
                      </a:pPr>
                      <a:r>
                        <a:rPr sz="1400" b="0" i="0">
                          <a:solidFill>
                            <a:srgbClr val="111111"/>
                          </a:solidFill>
                          <a:latin typeface="Arial"/>
                        </a:rPr>
                        <a:t>Monitor in shadow mode; B3 vs B4 ablation</a:t>
                      </a:r>
                    </a:p>
                  </a:txBody>
                  <a:tcPr marL="54864" marR="54864" marT="27432" marB="27432">
                    <a:solidFill>
                      <a:srgbClr val="FFFFFF"/>
                    </a:solidFill>
                  </a:tcPr>
                </a:tc>
                <a:tc>
                  <a:txBody>
                    <a:bodyPr wrap="square"/>
                    <a:lstStyle/>
                    <a:p>
                      <a:pPr>
                        <a:lnSpc>
                          <a:spcPct val="105000"/>
                        </a:lnSpc>
                      </a:pPr>
                      <a:r>
                        <a:rPr sz="1400" b="0" i="0">
                          <a:solidFill>
                            <a:srgbClr val="111111"/>
                          </a:solidFill>
                          <a:latin typeface="Arial"/>
                        </a:rPr>
                        <a:t>Pre-registered</a:t>
                      </a:r>
                    </a:p>
                  </a:txBody>
                  <a:tcPr marL="54864" marR="54864" marT="27432" marB="27432">
                    <a:solidFill>
                      <a:srgbClr val="FFFFFF"/>
                    </a:solidFill>
                  </a:tcPr>
                </a:tc>
              </a:tr>
              <a:tr h="420624">
                <a:tc>
                  <a:txBody>
                    <a:bodyPr wrap="square"/>
                    <a:lstStyle/>
                    <a:p>
                      <a:pPr>
                        <a:lnSpc>
                          <a:spcPct val="105000"/>
                        </a:lnSpc>
                      </a:pPr>
                      <a:r>
                        <a:rPr sz="1400" b="1" i="0">
                          <a:solidFill>
                            <a:srgbClr val="111111"/>
                          </a:solidFill>
                          <a:latin typeface="Arial"/>
                        </a:rPr>
                        <a:t>4</a:t>
                      </a:r>
                    </a:p>
                  </a:txBody>
                  <a:tcPr marL="54864" marR="54864" marT="27432" marB="27432">
                    <a:solidFill>
                      <a:srgbClr val="F4F6FA"/>
                    </a:solidFill>
                  </a:tcPr>
                </a:tc>
                <a:tc>
                  <a:txBody>
                    <a:bodyPr wrap="square"/>
                    <a:lstStyle/>
                    <a:p>
                      <a:pPr>
                        <a:lnSpc>
                          <a:spcPct val="105000"/>
                        </a:lnSpc>
                      </a:pPr>
                      <a:r>
                        <a:rPr sz="1400" b="0" i="0">
                          <a:solidFill>
                            <a:srgbClr val="111111"/>
                          </a:solidFill>
                          <a:latin typeface="Arial"/>
                        </a:rPr>
                        <a:t>Web intake, time split, first signed release</a:t>
                      </a:r>
                    </a:p>
                  </a:txBody>
                  <a:tcPr marL="54864" marR="54864" marT="27432" marB="27432">
                    <a:solidFill>
                      <a:srgbClr val="F4F6FA"/>
                    </a:solidFill>
                  </a:tcPr>
                </a:tc>
                <a:tc>
                  <a:txBody>
                    <a:bodyPr wrap="square"/>
                    <a:lstStyle/>
                    <a:p>
                      <a:pPr>
                        <a:lnSpc>
                          <a:spcPct val="105000"/>
                        </a:lnSpc>
                      </a:pPr>
                      <a:r>
                        <a:rPr sz="1400" b="0" i="0">
                          <a:solidFill>
                            <a:srgbClr val="111111"/>
                          </a:solidFill>
                          <a:latin typeface="Arial"/>
                        </a:rPr>
                        <a:t>Yes</a:t>
                      </a:r>
                    </a:p>
                  </a:txBody>
                  <a:tcPr marL="54864" marR="54864" marT="27432" marB="27432">
                    <a:solidFill>
                      <a:srgbClr val="F4F6FA"/>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82296" cy="566928"/>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301752"/>
            <a:ext cx="10515600" cy="548640"/>
          </a:xfrm>
          <a:prstGeom prst="rect">
            <a:avLst/>
          </a:prstGeom>
          <a:noFill/>
        </p:spPr>
        <p:txBody>
          <a:bodyPr wrap="square" lIns="45720" rIns="45720" tIns="27432" bIns="27432" anchor="ctr">
            <a:spAutoFit/>
          </a:bodyPr>
          <a:lstStyle/>
          <a:p>
            <a:pPr algn="l">
              <a:lnSpc>
                <a:spcPct val="110000"/>
              </a:lnSpc>
            </a:pPr>
            <a:r>
              <a:rPr sz="2600" b="1" i="0">
                <a:solidFill>
                  <a:srgbClr val="111111"/>
                </a:solidFill>
                <a:latin typeface="Arial"/>
              </a:rPr>
              <a:t>Full incident replay starts with an access problem</a:t>
            </a:r>
          </a:p>
        </p:txBody>
      </p:sp>
      <p:sp>
        <p:nvSpPr>
          <p:cNvPr id="4" name="TextBox 3"/>
          <p:cNvSpPr txBox="1"/>
          <p:nvPr/>
        </p:nvSpPr>
        <p:spPr>
          <a:xfrm>
            <a:off x="640080" y="868680"/>
            <a:ext cx="10972800" cy="365760"/>
          </a:xfrm>
          <a:prstGeom prst="rect">
            <a:avLst/>
          </a:prstGeom>
          <a:noFill/>
        </p:spPr>
        <p:txBody>
          <a:bodyPr wrap="square" lIns="45720" rIns="45720" tIns="27432" bIns="27432" anchor="t">
            <a:spAutoFit/>
          </a:bodyPr>
          <a:lstStyle/>
          <a:p>
            <a:pPr algn="l">
              <a:lnSpc>
                <a:spcPct val="110000"/>
              </a:lnSpc>
            </a:pPr>
            <a:r>
              <a:rPr sz="1300" b="0" i="0">
                <a:solidFill>
                  <a:srgbClr val="666666"/>
                </a:solidFill>
                <a:latin typeface="Arial"/>
              </a:rPr>
              <a:t>Assess faithful reproduction first; a credible report is not automatically a replayable case</a:t>
            </a:r>
          </a:p>
        </p:txBody>
      </p:sp>
      <p:sp>
        <p:nvSpPr>
          <p:cNvPr id="5" name="TextBox 4"/>
          <p:cNvSpPr txBox="1"/>
          <p:nvPr/>
        </p:nvSpPr>
        <p:spPr>
          <a:xfrm>
            <a:off x="8503920" y="109728"/>
            <a:ext cx="3200400" cy="274320"/>
          </a:xfrm>
          <a:prstGeom prst="rect">
            <a:avLst/>
          </a:prstGeom>
          <a:noFill/>
        </p:spPr>
        <p:txBody>
          <a:bodyPr wrap="square" lIns="45720" rIns="45720" tIns="27432" bIns="27432" anchor="t">
            <a:spAutoFit/>
          </a:bodyPr>
          <a:lstStyle/>
          <a:p>
            <a:pPr algn="r">
              <a:lnSpc>
                <a:spcPct val="110000"/>
              </a:lnSpc>
            </a:pPr>
            <a:r>
              <a:rPr sz="900" b="1" i="0">
                <a:solidFill>
                  <a:srgbClr val="365E9E"/>
                </a:solidFill>
                <a:latin typeface="Arial"/>
              </a:rPr>
              <a:t>7 · REPLAY FEASIBILITY</a:t>
            </a:r>
          </a:p>
        </p:txBody>
      </p:sp>
      <p:cxnSp>
        <p:nvCxnSpPr>
          <p:cNvPr id="6" name="Connector 5"/>
          <p:cNvCxnSpPr/>
          <p:nvPr/>
        </p:nvCxnSpPr>
        <p:spPr>
          <a:xfrm>
            <a:off x="457200" y="6446520"/>
            <a:ext cx="11277295" cy="0"/>
          </a:xfrm>
          <a:prstGeom prst="line">
            <a:avLst/>
          </a:prstGeom>
          <a:ln w="6350">
            <a:solidFill>
              <a:srgbClr val="C9C9C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57200" y="6473952"/>
            <a:ext cx="10058400" cy="274320"/>
          </a:xfrm>
          <a:prstGeom prst="rect">
            <a:avLst/>
          </a:prstGeom>
          <a:noFill/>
        </p:spPr>
        <p:txBody>
          <a:bodyPr wrap="square" lIns="45720" rIns="45720" tIns="27432" bIns="27432" anchor="t">
            <a:spAutoFit/>
          </a:bodyPr>
          <a:lstStyle/>
          <a:p>
            <a:pPr algn="l">
              <a:lnSpc>
                <a:spcPct val="110000"/>
              </a:lnSpc>
            </a:pPr>
            <a:r>
              <a:rPr sz="800" b="0" i="0">
                <a:solidFill>
                  <a:srgbClr val="666666"/>
                </a:solidFill>
                <a:latin typeface="Arial"/>
              </a:rPr>
              <a:t>Incident-aware optimization · design proposal · containment-extension · October 2026 · no benchmark improvement measured</a:t>
            </a:r>
          </a:p>
        </p:txBody>
      </p:sp>
      <p:sp>
        <p:nvSpPr>
          <p:cNvPr id="8" name="TextBox 7"/>
          <p:cNvSpPr txBox="1"/>
          <p:nvPr/>
        </p:nvSpPr>
        <p:spPr>
          <a:xfrm>
            <a:off x="10820095" y="6473952"/>
            <a:ext cx="914400" cy="274320"/>
          </a:xfrm>
          <a:prstGeom prst="rect">
            <a:avLst/>
          </a:prstGeom>
          <a:noFill/>
        </p:spPr>
        <p:txBody>
          <a:bodyPr wrap="square" lIns="45720" rIns="45720" tIns="27432" bIns="27432" anchor="t">
            <a:spAutoFit/>
          </a:bodyPr>
          <a:lstStyle/>
          <a:p>
            <a:pPr algn="r">
              <a:lnSpc>
                <a:spcPct val="110000"/>
              </a:lnSpc>
            </a:pPr>
            <a:r>
              <a:rPr sz="900" b="0" i="0">
                <a:solidFill>
                  <a:srgbClr val="666666"/>
                </a:solidFill>
                <a:latin typeface="Arial"/>
              </a:rPr>
              <a:t>26</a:t>
            </a:r>
          </a:p>
        </p:txBody>
      </p:sp>
      <p:sp>
        <p:nvSpPr>
          <p:cNvPr id="9" name="Rounded Rectangle 8"/>
          <p:cNvSpPr/>
          <p:nvPr/>
        </p:nvSpPr>
        <p:spPr>
          <a:xfrm>
            <a:off x="457200" y="1325880"/>
            <a:ext cx="3657600" cy="3063240"/>
          </a:xfrm>
          <a:prstGeom prst="roundRect">
            <a:avLst>
              <a:gd name="adj" fmla="val 6000"/>
            </a:avLst>
          </a:prstGeom>
          <a:solidFill>
            <a:srgbClr val="EDF4FB"/>
          </a:solidFill>
          <a:ln w="12700">
            <a:solidFill>
              <a:srgbClr val="365E9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1399032"/>
            <a:ext cx="3456432" cy="365760"/>
          </a:xfrm>
          <a:prstGeom prst="rect">
            <a:avLst/>
          </a:prstGeom>
          <a:noFill/>
        </p:spPr>
        <p:txBody>
          <a:bodyPr wrap="square" lIns="45720" rIns="45720" tIns="27432" bIns="27432" anchor="t">
            <a:spAutoFit/>
          </a:bodyPr>
          <a:lstStyle/>
          <a:p>
            <a:pPr algn="l">
              <a:lnSpc>
                <a:spcPct val="110000"/>
              </a:lnSpc>
            </a:pPr>
            <a:r>
              <a:rPr sz="1600" b="1" i="0">
                <a:solidFill>
                  <a:srgbClr val="365E9E"/>
                </a:solidFill>
                <a:latin typeface="Arial"/>
              </a:rPr>
              <a:t>Model / checkpoint</a:t>
            </a:r>
          </a:p>
        </p:txBody>
      </p:sp>
      <p:sp>
        <p:nvSpPr>
          <p:cNvPr id="11" name="TextBox 10"/>
          <p:cNvSpPr txBox="1"/>
          <p:nvPr/>
        </p:nvSpPr>
        <p:spPr>
          <a:xfrm>
            <a:off x="530352" y="1764792"/>
            <a:ext cx="3511296" cy="2560320"/>
          </a:xfrm>
          <a:prstGeom prst="rect">
            <a:avLst/>
          </a:prstGeom>
          <a:noFill/>
        </p:spPr>
        <p:txBody>
          <a:bodyPr wrap="square" lIns="45720" rIns="45720">
            <a:spAutoFit/>
          </a:bodyPr>
          <a:lstStyle/>
          <a:p>
            <a:pPr>
              <a:lnSpc>
                <a:spcPct val="108000"/>
              </a:lnSpc>
              <a:spcAft>
                <a:spcPts val="200"/>
              </a:spcAft>
            </a:pPr>
            <a:r>
              <a:rPr sz="1500" b="0" i="0">
                <a:solidFill>
                  <a:srgbClr val="111111"/>
                </a:solidFill>
                <a:latin typeface="Arial"/>
              </a:rPr>
              <a:t>•  Internal, pre-mitigation or intermediate checkpoints may be inaccessible</a:t>
            </a:r>
          </a:p>
          <a:p>
            <a:pPr>
              <a:lnSpc>
                <a:spcPct val="108000"/>
              </a:lnSpc>
              <a:spcAft>
                <a:spcPts val="200"/>
              </a:spcAft>
            </a:pPr>
            <a:r>
              <a:rPr sz="1500" b="0" i="0">
                <a:solidFill>
                  <a:srgbClr val="111111"/>
                </a:solidFill>
                <a:latin typeface="Arial"/>
              </a:rPr>
              <a:t>•  A public model name does not identify the incident checkpoint</a:t>
            </a:r>
          </a:p>
          <a:p>
            <a:pPr>
              <a:lnSpc>
                <a:spcPct val="108000"/>
              </a:lnSpc>
              <a:spcAft>
                <a:spcPts val="200"/>
              </a:spcAft>
            </a:pPr>
            <a:r>
              <a:rPr sz="1500" b="0" i="0">
                <a:solidFill>
                  <a:srgbClr val="111111"/>
                </a:solidFill>
                <a:latin typeface="Arial"/>
              </a:rPr>
              <a:t>•  More GPU / API budget cannot recover unavailable weights or access</a:t>
            </a:r>
          </a:p>
        </p:txBody>
      </p:sp>
      <p:sp>
        <p:nvSpPr>
          <p:cNvPr id="12" name="Rounded Rectangle 11"/>
          <p:cNvSpPr/>
          <p:nvPr/>
        </p:nvSpPr>
        <p:spPr>
          <a:xfrm>
            <a:off x="4270248" y="1325880"/>
            <a:ext cx="3657600" cy="3063240"/>
          </a:xfrm>
          <a:prstGeom prst="roundRect">
            <a:avLst>
              <a:gd name="adj" fmla="val 6000"/>
            </a:avLst>
          </a:prstGeom>
          <a:solidFill>
            <a:srgbClr val="FDF3E7"/>
          </a:solidFill>
          <a:ln w="12700">
            <a:solidFill>
              <a:srgbClr val="B873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379976" y="1399032"/>
            <a:ext cx="3456432" cy="365760"/>
          </a:xfrm>
          <a:prstGeom prst="rect">
            <a:avLst/>
          </a:prstGeom>
          <a:noFill/>
        </p:spPr>
        <p:txBody>
          <a:bodyPr wrap="square" lIns="45720" rIns="45720" tIns="27432" bIns="27432" anchor="t">
            <a:spAutoFit/>
          </a:bodyPr>
          <a:lstStyle/>
          <a:p>
            <a:pPr algn="l">
              <a:lnSpc>
                <a:spcPct val="110000"/>
              </a:lnSpc>
            </a:pPr>
            <a:r>
              <a:rPr sz="1600" b="1" i="0">
                <a:solidFill>
                  <a:srgbClr val="B8732A"/>
                </a:solidFill>
                <a:latin typeface="Arial"/>
              </a:rPr>
              <a:t>Evaluator / environment</a:t>
            </a:r>
          </a:p>
        </p:txBody>
      </p:sp>
      <p:sp>
        <p:nvSpPr>
          <p:cNvPr id="14" name="TextBox 13"/>
          <p:cNvSpPr txBox="1"/>
          <p:nvPr/>
        </p:nvSpPr>
        <p:spPr>
          <a:xfrm>
            <a:off x="4343400" y="1764792"/>
            <a:ext cx="3511296" cy="2560320"/>
          </a:xfrm>
          <a:prstGeom prst="rect">
            <a:avLst/>
          </a:prstGeom>
          <a:noFill/>
        </p:spPr>
        <p:txBody>
          <a:bodyPr wrap="square" lIns="45720" rIns="45720">
            <a:spAutoFit/>
          </a:bodyPr>
          <a:lstStyle/>
          <a:p>
            <a:pPr>
              <a:lnSpc>
                <a:spcPct val="108000"/>
              </a:lnSpc>
              <a:spcAft>
                <a:spcPts val="200"/>
              </a:spcAft>
            </a:pPr>
            <a:r>
              <a:rPr sz="1500" b="0" i="0">
                <a:solidFill>
                  <a:srgbClr val="111111"/>
                </a:solidFill>
                <a:latin typeface="Arial"/>
              </a:rPr>
              <a:t>•  Prompts, tools, permissions, hidden tests and rewards can shape the incident</a:t>
            </a:r>
          </a:p>
          <a:p>
            <a:pPr>
              <a:lnSpc>
                <a:spcPct val="108000"/>
              </a:lnSpc>
              <a:spcAft>
                <a:spcPts val="200"/>
              </a:spcAft>
            </a:pPr>
            <a:r>
              <a:rPr sz="1500" b="0" i="0">
                <a:solidFill>
                  <a:srgbClr val="111111"/>
                </a:solidFill>
                <a:latin typeface="Arial"/>
              </a:rPr>
              <a:t>•  Reports may omit state, versions or setup details</a:t>
            </a:r>
          </a:p>
          <a:p>
            <a:pPr>
              <a:lnSpc>
                <a:spcPct val="108000"/>
              </a:lnSpc>
              <a:spcAft>
                <a:spcPts val="200"/>
              </a:spcAft>
            </a:pPr>
            <a:r>
              <a:rPr sz="1500" b="0" i="0">
                <a:solidFill>
                  <a:srgbClr val="111111"/>
                </a:solidFill>
                <a:latin typeface="Arial"/>
              </a:rPr>
              <a:t>•  A plausible reconstruction can change the failure mechanism</a:t>
            </a:r>
          </a:p>
        </p:txBody>
      </p:sp>
      <p:sp>
        <p:nvSpPr>
          <p:cNvPr id="15" name="Rounded Rectangle 14"/>
          <p:cNvSpPr/>
          <p:nvPr/>
        </p:nvSpPr>
        <p:spPr>
          <a:xfrm>
            <a:off x="8074152" y="1325880"/>
            <a:ext cx="3657600" cy="3063240"/>
          </a:xfrm>
          <a:prstGeom prst="roundRect">
            <a:avLst>
              <a:gd name="adj" fmla="val 6000"/>
            </a:avLst>
          </a:prstGeom>
          <a:solidFill>
            <a:srgbClr val="FBEFEC"/>
          </a:solidFill>
          <a:ln w="12700">
            <a:solidFill>
              <a:srgbClr val="B348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183880" y="1399032"/>
            <a:ext cx="3456432" cy="365760"/>
          </a:xfrm>
          <a:prstGeom prst="rect">
            <a:avLst/>
          </a:prstGeom>
          <a:noFill/>
        </p:spPr>
        <p:txBody>
          <a:bodyPr wrap="square" lIns="45720" rIns="45720" tIns="27432" bIns="27432" anchor="t">
            <a:spAutoFit/>
          </a:bodyPr>
          <a:lstStyle/>
          <a:p>
            <a:pPr algn="l">
              <a:lnSpc>
                <a:spcPct val="110000"/>
              </a:lnSpc>
            </a:pPr>
            <a:r>
              <a:rPr sz="1600" b="1" i="0">
                <a:solidFill>
                  <a:srgbClr val="B34831"/>
                </a:solidFill>
                <a:latin typeface="Arial"/>
              </a:rPr>
              <a:t>Evidence / observability</a:t>
            </a:r>
          </a:p>
        </p:txBody>
      </p:sp>
      <p:sp>
        <p:nvSpPr>
          <p:cNvPr id="17" name="TextBox 16"/>
          <p:cNvSpPr txBox="1"/>
          <p:nvPr/>
        </p:nvSpPr>
        <p:spPr>
          <a:xfrm>
            <a:off x="8147304" y="1764792"/>
            <a:ext cx="3511296" cy="2560320"/>
          </a:xfrm>
          <a:prstGeom prst="rect">
            <a:avLst/>
          </a:prstGeom>
          <a:noFill/>
        </p:spPr>
        <p:txBody>
          <a:bodyPr wrap="square" lIns="45720" rIns="45720">
            <a:spAutoFit/>
          </a:bodyPr>
          <a:lstStyle/>
          <a:p>
            <a:pPr>
              <a:lnSpc>
                <a:spcPct val="108000"/>
              </a:lnSpc>
              <a:spcAft>
                <a:spcPts val="200"/>
              </a:spcAft>
            </a:pPr>
            <a:r>
              <a:rPr sz="1500" b="0" i="0">
                <a:solidFill>
                  <a:srgbClr val="111111"/>
                </a:solidFill>
                <a:latin typeface="Arial"/>
              </a:rPr>
              <a:t>•  Excerpts may omit actions, tool results or pre-incident state</a:t>
            </a:r>
          </a:p>
          <a:p>
            <a:pPr>
              <a:lnSpc>
                <a:spcPct val="108000"/>
              </a:lnSpc>
              <a:spcAft>
                <a:spcPts val="200"/>
              </a:spcAft>
            </a:pPr>
            <a:r>
              <a:rPr sz="1500" b="0" i="0">
                <a:solidFill>
                  <a:srgbClr val="111111"/>
                </a:solidFill>
                <a:latin typeface="Arial"/>
              </a:rPr>
              <a:t>•  An internal monitor may see raw reasoning unavailable through the API</a:t>
            </a:r>
          </a:p>
          <a:p>
            <a:pPr>
              <a:lnSpc>
                <a:spcPct val="108000"/>
              </a:lnSpc>
              <a:spcAft>
                <a:spcPts val="200"/>
              </a:spcAft>
            </a:pPr>
            <a:r>
              <a:rPr sz="1500" b="0" i="0">
                <a:solidFill>
                  <a:srgbClr val="111111"/>
                </a:solidFill>
                <a:latin typeface="Arial"/>
              </a:rPr>
              <a:t>•  Without an independent outcome check, replay success is ambiguous</a:t>
            </a:r>
          </a:p>
        </p:txBody>
      </p:sp>
      <p:sp>
        <p:nvSpPr>
          <p:cNvPr id="18" name="Rounded Rectangle 17"/>
          <p:cNvSpPr/>
          <p:nvPr/>
        </p:nvSpPr>
        <p:spPr>
          <a:xfrm>
            <a:off x="457200" y="4654296"/>
            <a:ext cx="11277295" cy="896112"/>
          </a:xfrm>
          <a:prstGeom prst="roundRect">
            <a:avLst>
              <a:gd name="adj" fmla="val 6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85800" y="4727448"/>
            <a:ext cx="10820095" cy="749808"/>
          </a:xfrm>
          <a:prstGeom prst="rect">
            <a:avLst/>
          </a:prstGeom>
          <a:noFill/>
        </p:spPr>
        <p:txBody>
          <a:bodyPr wrap="square" lIns="45720" rIns="45720" tIns="27432" bIns="27432" anchor="ctr">
            <a:spAutoFit/>
          </a:bodyPr>
          <a:lstStyle/>
          <a:p>
            <a:pPr algn="l">
              <a:lnSpc>
                <a:spcPct val="115000"/>
              </a:lnSpc>
            </a:pPr>
            <a:r>
              <a:rPr sz="1600" b="0" i="0">
                <a:solidFill>
                  <a:srgbClr val="111111"/>
                </a:solidFill>
                <a:latin typeface="Arial"/>
              </a:rPr>
              <a:t>Separate three outcomes: access is blocked; reconstruction is incomplete; faithful replay is feasible but too costly. Each needs a different response.</a:t>
            </a:r>
          </a:p>
        </p:txBody>
      </p:sp>
      <p:sp>
        <p:nvSpPr>
          <p:cNvPr id="20" name="TextBox 19"/>
          <p:cNvSpPr txBox="1"/>
          <p:nvPr/>
        </p:nvSpPr>
        <p:spPr>
          <a:xfrm>
            <a:off x="457200" y="5715000"/>
            <a:ext cx="11277295" cy="475488"/>
          </a:xfrm>
          <a:prstGeom prst="rect">
            <a:avLst/>
          </a:prstGeom>
          <a:noFill/>
        </p:spPr>
        <p:txBody>
          <a:bodyPr wrap="square" lIns="45720" rIns="45720" tIns="27432" bIns="27432" anchor="t">
            <a:spAutoFit/>
          </a:bodyPr>
          <a:lstStyle/>
          <a:p>
            <a:pPr algn="l">
              <a:lnSpc>
                <a:spcPct val="110000"/>
              </a:lnSpc>
            </a:pPr>
            <a:r>
              <a:rPr sz="1150" b="0" i="0">
                <a:solidFill>
                  <a:srgbClr val="666666"/>
                </a:solidFill>
                <a:latin typeface="Arial"/>
              </a:rPr>
              <a:t>Basis: OpenAI o1 System Card §3; Baker et al. (2025); OpenAI reasoning documentation. Sources and qualifications in speaker notes.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82296" cy="566928"/>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301752"/>
            <a:ext cx="10515600" cy="548640"/>
          </a:xfrm>
          <a:prstGeom prst="rect">
            <a:avLst/>
          </a:prstGeom>
          <a:noFill/>
        </p:spPr>
        <p:txBody>
          <a:bodyPr wrap="square" lIns="45720" rIns="45720" tIns="27432" bIns="27432" anchor="ctr">
            <a:spAutoFit/>
          </a:bodyPr>
          <a:lstStyle/>
          <a:p>
            <a:pPr algn="l">
              <a:lnSpc>
                <a:spcPct val="110000"/>
              </a:lnSpc>
            </a:pPr>
            <a:r>
              <a:rPr sz="2300" b="1" i="0">
                <a:solidFill>
                  <a:srgbClr val="111111"/>
                </a:solidFill>
                <a:latin typeface="Arial"/>
              </a:rPr>
              <a:t>What the published OpenAI examples let us reproduce</a:t>
            </a:r>
          </a:p>
        </p:txBody>
      </p:sp>
      <p:sp>
        <p:nvSpPr>
          <p:cNvPr id="4" name="TextBox 3"/>
          <p:cNvSpPr txBox="1"/>
          <p:nvPr/>
        </p:nvSpPr>
        <p:spPr>
          <a:xfrm>
            <a:off x="640080" y="868680"/>
            <a:ext cx="10972800" cy="365760"/>
          </a:xfrm>
          <a:prstGeom prst="rect">
            <a:avLst/>
          </a:prstGeom>
          <a:noFill/>
        </p:spPr>
        <p:txBody>
          <a:bodyPr wrap="square" lIns="45720" rIns="45720" tIns="27432" bIns="27432" anchor="t">
            <a:spAutoFit/>
          </a:bodyPr>
          <a:lstStyle/>
          <a:p>
            <a:pPr algn="l">
              <a:lnSpc>
                <a:spcPct val="110000"/>
              </a:lnSpc>
            </a:pPr>
            <a:r>
              <a:rPr sz="1300" b="0" i="0">
                <a:solidFill>
                  <a:srgbClr val="666666"/>
                </a:solidFill>
                <a:latin typeface="Arial"/>
              </a:rPr>
              <a:t>Published facts are separated from our assessment of the remaining replay requirements</a:t>
            </a:r>
          </a:p>
        </p:txBody>
      </p:sp>
      <p:sp>
        <p:nvSpPr>
          <p:cNvPr id="5" name="TextBox 4"/>
          <p:cNvSpPr txBox="1"/>
          <p:nvPr/>
        </p:nvSpPr>
        <p:spPr>
          <a:xfrm>
            <a:off x="8503920" y="109728"/>
            <a:ext cx="3200400" cy="274320"/>
          </a:xfrm>
          <a:prstGeom prst="rect">
            <a:avLst/>
          </a:prstGeom>
          <a:noFill/>
        </p:spPr>
        <p:txBody>
          <a:bodyPr wrap="square" lIns="45720" rIns="45720" tIns="27432" bIns="27432" anchor="t">
            <a:spAutoFit/>
          </a:bodyPr>
          <a:lstStyle/>
          <a:p>
            <a:pPr algn="r">
              <a:lnSpc>
                <a:spcPct val="110000"/>
              </a:lnSpc>
            </a:pPr>
            <a:r>
              <a:rPr sz="900" b="1" i="0">
                <a:solidFill>
                  <a:srgbClr val="365E9E"/>
                </a:solidFill>
                <a:latin typeface="Arial"/>
              </a:rPr>
              <a:t>7 · REPLAY FEASIBILITY</a:t>
            </a:r>
          </a:p>
        </p:txBody>
      </p:sp>
      <p:cxnSp>
        <p:nvCxnSpPr>
          <p:cNvPr id="6" name="Connector 5"/>
          <p:cNvCxnSpPr/>
          <p:nvPr/>
        </p:nvCxnSpPr>
        <p:spPr>
          <a:xfrm>
            <a:off x="457200" y="6446520"/>
            <a:ext cx="11277295" cy="0"/>
          </a:xfrm>
          <a:prstGeom prst="line">
            <a:avLst/>
          </a:prstGeom>
          <a:ln w="6350">
            <a:solidFill>
              <a:srgbClr val="C9C9C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57200" y="6473952"/>
            <a:ext cx="10058400" cy="274320"/>
          </a:xfrm>
          <a:prstGeom prst="rect">
            <a:avLst/>
          </a:prstGeom>
          <a:noFill/>
        </p:spPr>
        <p:txBody>
          <a:bodyPr wrap="square" lIns="45720" rIns="45720" tIns="27432" bIns="27432" anchor="t">
            <a:spAutoFit/>
          </a:bodyPr>
          <a:lstStyle/>
          <a:p>
            <a:pPr algn="l">
              <a:lnSpc>
                <a:spcPct val="110000"/>
              </a:lnSpc>
            </a:pPr>
            <a:r>
              <a:rPr sz="800" b="0" i="0">
                <a:solidFill>
                  <a:srgbClr val="666666"/>
                </a:solidFill>
                <a:latin typeface="Arial"/>
              </a:rPr>
              <a:t>Incident-aware optimization · design proposal · containment-extension · October 2026 · no benchmark improvement measured</a:t>
            </a:r>
          </a:p>
        </p:txBody>
      </p:sp>
      <p:sp>
        <p:nvSpPr>
          <p:cNvPr id="8" name="TextBox 7"/>
          <p:cNvSpPr txBox="1"/>
          <p:nvPr/>
        </p:nvSpPr>
        <p:spPr>
          <a:xfrm>
            <a:off x="10820095" y="6473952"/>
            <a:ext cx="914400" cy="274320"/>
          </a:xfrm>
          <a:prstGeom prst="rect">
            <a:avLst/>
          </a:prstGeom>
          <a:noFill/>
        </p:spPr>
        <p:txBody>
          <a:bodyPr wrap="square" lIns="45720" rIns="45720" tIns="27432" bIns="27432" anchor="t">
            <a:spAutoFit/>
          </a:bodyPr>
          <a:lstStyle/>
          <a:p>
            <a:pPr algn="r">
              <a:lnSpc>
                <a:spcPct val="110000"/>
              </a:lnSpc>
            </a:pPr>
            <a:r>
              <a:rPr sz="900" b="0" i="0">
                <a:solidFill>
                  <a:srgbClr val="666666"/>
                </a:solidFill>
                <a:latin typeface="Arial"/>
              </a:rPr>
              <a:t>27</a:t>
            </a:r>
          </a:p>
        </p:txBody>
      </p:sp>
      <p:graphicFrame>
        <p:nvGraphicFramePr>
          <p:cNvPr id="9" name="Table 8"/>
          <p:cNvGraphicFramePr>
            <a:graphicFrameLocks noGrp="1"/>
          </p:cNvGraphicFramePr>
          <p:nvPr/>
        </p:nvGraphicFramePr>
        <p:xfrm>
          <a:off x="457200" y="1325880"/>
          <a:ext cx="11277294" cy="4069080"/>
        </p:xfrm>
        <a:graphic>
          <a:graphicData uri="http://schemas.openxmlformats.org/drawingml/2006/table">
            <a:tbl>
              <a:tblPr firstRow="1" bandRow="1">
                <a:tableStyleId>{5C22544A-7EE6-4342-B048-85BDC9FD1C3A}</a:tableStyleId>
              </a:tblPr>
              <a:tblGrid>
                <a:gridCol w="3018254"/>
                <a:gridCol w="4024338"/>
                <a:gridCol w="4234702"/>
              </a:tblGrid>
              <a:tr h="1017270">
                <a:tc>
                  <a:txBody>
                    <a:bodyPr wrap="square"/>
                    <a:lstStyle/>
                    <a:p>
                      <a:pPr>
                        <a:lnSpc>
                          <a:spcPct val="105000"/>
                        </a:lnSpc>
                      </a:pPr>
                      <a:r>
                        <a:rPr sz="1450" b="1" i="0">
                          <a:solidFill>
                            <a:srgbClr val="FFFFFF"/>
                          </a:solidFill>
                          <a:latin typeface="Arial"/>
                        </a:rPr>
                        <a:t>Example</a:t>
                      </a:r>
                    </a:p>
                  </a:txBody>
                  <a:tcPr marL="54864" marR="54864" marT="27432" marB="27432">
                    <a:solidFill>
                      <a:srgbClr val="365E9E"/>
                    </a:solidFill>
                  </a:tcPr>
                </a:tc>
                <a:tc>
                  <a:txBody>
                    <a:bodyPr wrap="square"/>
                    <a:lstStyle/>
                    <a:p>
                      <a:pPr>
                        <a:lnSpc>
                          <a:spcPct val="105000"/>
                        </a:lnSpc>
                      </a:pPr>
                      <a:r>
                        <a:rPr sz="1450" b="1" i="0">
                          <a:solidFill>
                            <a:srgbClr val="FFFFFF"/>
                          </a:solidFill>
                          <a:latin typeface="Arial"/>
                        </a:rPr>
                        <a:t>What is disclosed</a:t>
                      </a:r>
                    </a:p>
                  </a:txBody>
                  <a:tcPr marL="54864" marR="54864" marT="27432" marB="27432">
                    <a:solidFill>
                      <a:srgbClr val="365E9E"/>
                    </a:solidFill>
                  </a:tcPr>
                </a:tc>
                <a:tc>
                  <a:txBody>
                    <a:bodyPr wrap="square"/>
                    <a:lstStyle/>
                    <a:p>
                      <a:pPr>
                        <a:lnSpc>
                          <a:spcPct val="105000"/>
                        </a:lnSpc>
                      </a:pPr>
                      <a:r>
                        <a:rPr sz="1450" b="1" i="0">
                          <a:solidFill>
                            <a:srgbClr val="FFFFFF"/>
                          </a:solidFill>
                          <a:latin typeface="Arial"/>
                        </a:rPr>
                        <a:t>Implication for faithful replay</a:t>
                      </a:r>
                    </a:p>
                  </a:txBody>
                  <a:tcPr marL="54864" marR="54864" marT="27432" marB="27432">
                    <a:solidFill>
                      <a:srgbClr val="365E9E"/>
                    </a:solidFill>
                  </a:tcPr>
                </a:tc>
              </a:tr>
              <a:tr h="1017270">
                <a:tc>
                  <a:txBody>
                    <a:bodyPr wrap="square"/>
                    <a:lstStyle/>
                    <a:p>
                      <a:pPr>
                        <a:lnSpc>
                          <a:spcPct val="105000"/>
                        </a:lnSpc>
                      </a:pPr>
                      <a:r>
                        <a:rPr sz="1450" b="1" i="0">
                          <a:solidFill>
                            <a:srgbClr val="111111"/>
                          </a:solidFill>
                          <a:latin typeface="Arial"/>
                        </a:rPr>
                        <a:t>o1 external testing</a:t>
                      </a:r>
                    </a:p>
                    <a:p>
                      <a:pPr>
                        <a:lnSpc>
                          <a:spcPct val="105000"/>
                        </a:lnSpc>
                      </a:pPr>
                      <a:r>
                        <a:rPr sz="1450" b="1" i="0">
                          <a:solidFill>
                            <a:srgbClr val="111111"/>
                          </a:solidFill>
                          <a:latin typeface="Arial"/>
                        </a:rPr>
                        <a:t>OpenAI System Card (2024)</a:t>
                      </a:r>
                    </a:p>
                  </a:txBody>
                  <a:tcPr marL="54864" marR="54864" marT="27432" marB="27432">
                    <a:solidFill>
                      <a:srgbClr val="FFFFFF"/>
                    </a:solidFill>
                  </a:tcPr>
                </a:tc>
                <a:tc>
                  <a:txBody>
                    <a:bodyPr wrap="square"/>
                    <a:lstStyle/>
                    <a:p>
                      <a:pPr>
                        <a:lnSpc>
                          <a:spcPct val="105000"/>
                        </a:lnSpc>
                      </a:pPr>
                      <a:r>
                        <a:rPr sz="1450" b="0" i="0">
                          <a:solidFill>
                            <a:srgbClr val="111111"/>
                          </a:solidFill>
                          <a:latin typeface="Arial"/>
                        </a:rPr>
                        <a:t>Near-final and released checkpoints are distinguished; external red teaming used near-final.</a:t>
                      </a:r>
                    </a:p>
                  </a:txBody>
                  <a:tcPr marL="54864" marR="54864" marT="27432" marB="27432">
                    <a:solidFill>
                      <a:srgbClr val="FFFFFF"/>
                    </a:solidFill>
                  </a:tcPr>
                </a:tc>
                <a:tc>
                  <a:txBody>
                    <a:bodyPr wrap="square"/>
                    <a:lstStyle/>
                    <a:p>
                      <a:pPr>
                        <a:lnSpc>
                          <a:spcPct val="105000"/>
                        </a:lnSpc>
                      </a:pPr>
                      <a:r>
                        <a:rPr sz="1450" b="0" i="0">
                          <a:solidFill>
                            <a:srgbClr val="111111"/>
                          </a:solidFill>
                          <a:latin typeface="Arial"/>
                        </a:rPr>
                        <a:t>Do not assume a public o1 endpoint matches the evaluated checkpoint, scaffold or results.</a:t>
                      </a:r>
                    </a:p>
                  </a:txBody>
                  <a:tcPr marL="54864" marR="54864" marT="27432" marB="27432">
                    <a:solidFill>
                      <a:srgbClr val="FFFFFF"/>
                    </a:solidFill>
                  </a:tcPr>
                </a:tc>
              </a:tr>
              <a:tr h="1017270">
                <a:tc>
                  <a:txBody>
                    <a:bodyPr wrap="square"/>
                    <a:lstStyle/>
                    <a:p>
                      <a:pPr>
                        <a:lnSpc>
                          <a:spcPct val="105000"/>
                        </a:lnSpc>
                      </a:pPr>
                      <a:r>
                        <a:rPr sz="1450" b="1" i="0">
                          <a:solidFill>
                            <a:srgbClr val="111111"/>
                          </a:solidFill>
                          <a:latin typeface="Arial"/>
                        </a:rPr>
                        <a:t>OpenAI reward hacking / obfuscation</a:t>
                      </a:r>
                    </a:p>
                    <a:p>
                      <a:pPr>
                        <a:lnSpc>
                          <a:spcPct val="105000"/>
                        </a:lnSpc>
                      </a:pPr>
                      <a:r>
                        <a:rPr sz="1450" b="1" i="0">
                          <a:solidFill>
                            <a:srgbClr val="111111"/>
                          </a:solidFill>
                          <a:latin typeface="Arial"/>
                        </a:rPr>
                        <a:t>Baker et al. (2025)</a:t>
                      </a:r>
                    </a:p>
                  </a:txBody>
                  <a:tcPr marL="54864" marR="54864" marT="27432" marB="27432">
                    <a:solidFill>
                      <a:srgbClr val="F4F6FA"/>
                    </a:solidFill>
                  </a:tcPr>
                </a:tc>
                <a:tc>
                  <a:txBody>
                    <a:bodyPr wrap="square"/>
                    <a:lstStyle/>
                    <a:p>
                      <a:pPr>
                        <a:lnSpc>
                          <a:spcPct val="105000"/>
                        </a:lnSpc>
                      </a:pPr>
                      <a:r>
                        <a:rPr sz="1450" b="0" i="0">
                          <a:solidFill>
                            <a:srgbClr val="111111"/>
                          </a:solidFill>
                          <a:latin typeface="Arial"/>
                        </a:rPr>
                        <a:t>Training-time incidents, a separate RL experiment, and a published monitor prompt.</a:t>
                      </a:r>
                    </a:p>
                  </a:txBody>
                  <a:tcPr marL="54864" marR="54864" marT="27432" marB="27432">
                    <a:solidFill>
                      <a:srgbClr val="F4F6FA"/>
                    </a:solidFill>
                  </a:tcPr>
                </a:tc>
                <a:tc>
                  <a:txBody>
                    <a:bodyPr wrap="square"/>
                    <a:lstStyle/>
                    <a:p>
                      <a:pPr>
                        <a:lnSpc>
                          <a:spcPct val="105000"/>
                        </a:lnSpc>
                      </a:pPr>
                      <a:r>
                        <a:rPr sz="1450" b="0" i="0">
                          <a:solidFill>
                            <a:srgbClr val="111111"/>
                          </a:solidFill>
                          <a:latin typeface="Arial"/>
                        </a:rPr>
                        <a:t>Obtain checkpoint, task state and reward setup. API inference alone cannot rerun the training intervention.</a:t>
                      </a:r>
                    </a:p>
                  </a:txBody>
                  <a:tcPr marL="54864" marR="54864" marT="27432" marB="27432">
                    <a:solidFill>
                      <a:srgbClr val="F4F6FA"/>
                    </a:solidFill>
                  </a:tcPr>
                </a:tc>
              </a:tr>
              <a:tr h="1017270">
                <a:tc>
                  <a:txBody>
                    <a:bodyPr wrap="square"/>
                    <a:lstStyle/>
                    <a:p>
                      <a:pPr>
                        <a:lnSpc>
                          <a:spcPct val="105000"/>
                        </a:lnSpc>
                      </a:pPr>
                      <a:r>
                        <a:rPr sz="1450" b="1" i="0">
                          <a:solidFill>
                            <a:srgbClr val="111111"/>
                          </a:solidFill>
                          <a:latin typeface="Arial"/>
                        </a:rPr>
                        <a:t>Palisade shutdown tests on OpenAI models (2025)</a:t>
                      </a:r>
                    </a:p>
                  </a:txBody>
                  <a:tcPr marL="54864" marR="54864" marT="27432" marB="27432">
                    <a:solidFill>
                      <a:srgbClr val="FFFFFF"/>
                    </a:solidFill>
                  </a:tcPr>
                </a:tc>
                <a:tc>
                  <a:txBody>
                    <a:bodyPr wrap="square"/>
                    <a:lstStyle/>
                    <a:p>
                      <a:pPr>
                        <a:lnSpc>
                          <a:spcPct val="105000"/>
                        </a:lnSpc>
                      </a:pPr>
                      <a:r>
                        <a:rPr sz="1450" b="0" i="0">
                          <a:solidFill>
                            <a:srgbClr val="111111"/>
                          </a:solidFill>
                          <a:latin typeface="Arial"/>
                        </a:rPr>
                        <a:t>Public Inspect harness, Dockerfile and transcripts.</a:t>
                      </a:r>
                    </a:p>
                  </a:txBody>
                  <a:tcPr marL="54864" marR="54864" marT="27432" marB="27432">
                    <a:solidFill>
                      <a:srgbClr val="FFFFFF"/>
                    </a:solidFill>
                  </a:tcPr>
                </a:tc>
                <a:tc>
                  <a:txBody>
                    <a:bodyPr wrap="square"/>
                    <a:lstStyle/>
                    <a:p>
                      <a:pPr>
                        <a:lnSpc>
                          <a:spcPct val="105000"/>
                        </a:lnSpc>
                      </a:pPr>
                      <a:r>
                        <a:rPr sz="1450" b="0" i="0">
                          <a:solidFill>
                            <a:srgbClr val="111111"/>
                          </a:solidFill>
                          <a:latin typeface="Arial"/>
                        </a:rPr>
                        <a:t>A stronger replay candidate: pin code, prompts and environment; check historical model access.</a:t>
                      </a:r>
                    </a:p>
                  </a:txBody>
                  <a:tcPr marL="54864" marR="54864" marT="27432" marB="27432">
                    <a:solidFill>
                      <a:srgbClr val="FFFFFF"/>
                    </a:solidFill>
                  </a:tcPr>
                </a:tc>
              </a:tr>
            </a:tbl>
          </a:graphicData>
        </a:graphic>
      </p:graphicFrame>
      <p:sp>
        <p:nvSpPr>
          <p:cNvPr id="10" name="Rounded Rectangle 9"/>
          <p:cNvSpPr/>
          <p:nvPr/>
        </p:nvSpPr>
        <p:spPr>
          <a:xfrm>
            <a:off x="457200" y="5623560"/>
            <a:ext cx="11277295" cy="630936"/>
          </a:xfrm>
          <a:prstGeom prst="roundRect">
            <a:avLst>
              <a:gd name="adj" fmla="val 6000"/>
            </a:avLst>
          </a:prstGeom>
          <a:solidFill>
            <a:srgbClr val="ED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85800" y="5696712"/>
            <a:ext cx="10820095" cy="484632"/>
          </a:xfrm>
          <a:prstGeom prst="rect">
            <a:avLst/>
          </a:prstGeom>
          <a:noFill/>
        </p:spPr>
        <p:txBody>
          <a:bodyPr wrap="square" lIns="45720" rIns="45720" tIns="27432" bIns="27432" anchor="ctr">
            <a:spAutoFit/>
          </a:bodyPr>
          <a:lstStyle/>
          <a:p>
            <a:pPr algn="l">
              <a:lnSpc>
                <a:spcPct val="115000"/>
              </a:lnSpc>
            </a:pPr>
            <a:r>
              <a:rPr sz="1500" b="0" i="0">
                <a:solidFill>
                  <a:srgbClr val="111111"/>
                </a:solidFill>
                <a:latin typeface="Arial"/>
              </a:rPr>
              <a:t>Disclosure is partial: a published prompt or trace helps, but does not establish that the full evaluator can be reconstructed.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82296" cy="566928"/>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301752"/>
            <a:ext cx="10515600" cy="548640"/>
          </a:xfrm>
          <a:prstGeom prst="rect">
            <a:avLst/>
          </a:prstGeom>
          <a:noFill/>
        </p:spPr>
        <p:txBody>
          <a:bodyPr wrap="square" lIns="45720" rIns="45720" tIns="27432" bIns="27432" anchor="ctr">
            <a:spAutoFit/>
          </a:bodyPr>
          <a:lstStyle/>
          <a:p>
            <a:pPr algn="l">
              <a:lnSpc>
                <a:spcPct val="110000"/>
              </a:lnSpc>
            </a:pPr>
            <a:r>
              <a:rPr sz="2600" b="1" i="0">
                <a:solidFill>
                  <a:srgbClr val="111111"/>
                </a:solidFill>
                <a:latin typeface="Arial"/>
              </a:rPr>
              <a:t>Three replay modes support different claims</a:t>
            </a:r>
          </a:p>
        </p:txBody>
      </p:sp>
      <p:sp>
        <p:nvSpPr>
          <p:cNvPr id="4" name="TextBox 3"/>
          <p:cNvSpPr txBox="1"/>
          <p:nvPr/>
        </p:nvSpPr>
        <p:spPr>
          <a:xfrm>
            <a:off x="640080" y="868680"/>
            <a:ext cx="10972800" cy="365760"/>
          </a:xfrm>
          <a:prstGeom prst="rect">
            <a:avLst/>
          </a:prstGeom>
          <a:noFill/>
        </p:spPr>
        <p:txBody>
          <a:bodyPr wrap="square" lIns="45720" rIns="45720" tIns="27432" bIns="27432" anchor="t">
            <a:spAutoFit/>
          </a:bodyPr>
          <a:lstStyle/>
          <a:p>
            <a:pPr algn="l">
              <a:lnSpc>
                <a:spcPct val="110000"/>
              </a:lnSpc>
            </a:pPr>
            <a:r>
              <a:rPr sz="1300" b="0" i="0">
                <a:solidFill>
                  <a:srgbClr val="666666"/>
                </a:solidFill>
                <a:latin typeface="Arial"/>
              </a:rPr>
              <a:t>Choose the execution mode separately from evidence grade and historical fidelity</a:t>
            </a:r>
          </a:p>
        </p:txBody>
      </p:sp>
      <p:sp>
        <p:nvSpPr>
          <p:cNvPr id="5" name="TextBox 4"/>
          <p:cNvSpPr txBox="1"/>
          <p:nvPr/>
        </p:nvSpPr>
        <p:spPr>
          <a:xfrm>
            <a:off x="8503920" y="109728"/>
            <a:ext cx="3200400" cy="274320"/>
          </a:xfrm>
          <a:prstGeom prst="rect">
            <a:avLst/>
          </a:prstGeom>
          <a:noFill/>
        </p:spPr>
        <p:txBody>
          <a:bodyPr wrap="square" lIns="45720" rIns="45720" tIns="27432" bIns="27432" anchor="t">
            <a:spAutoFit/>
          </a:bodyPr>
          <a:lstStyle/>
          <a:p>
            <a:pPr algn="r">
              <a:lnSpc>
                <a:spcPct val="110000"/>
              </a:lnSpc>
            </a:pPr>
            <a:r>
              <a:rPr sz="900" b="1" i="0">
                <a:solidFill>
                  <a:srgbClr val="365E9E"/>
                </a:solidFill>
                <a:latin typeface="Arial"/>
              </a:rPr>
              <a:t>7 · REPLAY FEASIBILITY</a:t>
            </a:r>
          </a:p>
        </p:txBody>
      </p:sp>
      <p:cxnSp>
        <p:nvCxnSpPr>
          <p:cNvPr id="6" name="Connector 5"/>
          <p:cNvCxnSpPr/>
          <p:nvPr/>
        </p:nvCxnSpPr>
        <p:spPr>
          <a:xfrm>
            <a:off x="457200" y="6446520"/>
            <a:ext cx="11277295" cy="0"/>
          </a:xfrm>
          <a:prstGeom prst="line">
            <a:avLst/>
          </a:prstGeom>
          <a:ln w="6350">
            <a:solidFill>
              <a:srgbClr val="C9C9C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57200" y="6473952"/>
            <a:ext cx="10058400" cy="274320"/>
          </a:xfrm>
          <a:prstGeom prst="rect">
            <a:avLst/>
          </a:prstGeom>
          <a:noFill/>
        </p:spPr>
        <p:txBody>
          <a:bodyPr wrap="square" lIns="45720" rIns="45720" tIns="27432" bIns="27432" anchor="t">
            <a:spAutoFit/>
          </a:bodyPr>
          <a:lstStyle/>
          <a:p>
            <a:pPr algn="l">
              <a:lnSpc>
                <a:spcPct val="110000"/>
              </a:lnSpc>
            </a:pPr>
            <a:r>
              <a:rPr sz="800" b="0" i="0">
                <a:solidFill>
                  <a:srgbClr val="666666"/>
                </a:solidFill>
                <a:latin typeface="Arial"/>
              </a:rPr>
              <a:t>Incident-aware optimization · design proposal · containment-extension · October 2026 · no benchmark improvement measured</a:t>
            </a:r>
          </a:p>
        </p:txBody>
      </p:sp>
      <p:sp>
        <p:nvSpPr>
          <p:cNvPr id="8" name="TextBox 7"/>
          <p:cNvSpPr txBox="1"/>
          <p:nvPr/>
        </p:nvSpPr>
        <p:spPr>
          <a:xfrm>
            <a:off x="10820095" y="6473952"/>
            <a:ext cx="914400" cy="274320"/>
          </a:xfrm>
          <a:prstGeom prst="rect">
            <a:avLst/>
          </a:prstGeom>
          <a:noFill/>
        </p:spPr>
        <p:txBody>
          <a:bodyPr wrap="square" lIns="45720" rIns="45720" tIns="27432" bIns="27432" anchor="t">
            <a:spAutoFit/>
          </a:bodyPr>
          <a:lstStyle/>
          <a:p>
            <a:pPr algn="r">
              <a:lnSpc>
                <a:spcPct val="110000"/>
              </a:lnSpc>
            </a:pPr>
            <a:r>
              <a:rPr sz="900" b="0" i="0">
                <a:solidFill>
                  <a:srgbClr val="666666"/>
                </a:solidFill>
                <a:latin typeface="Arial"/>
              </a:rPr>
              <a:t>28</a:t>
            </a:r>
          </a:p>
        </p:txBody>
      </p:sp>
      <p:sp>
        <p:nvSpPr>
          <p:cNvPr id="9" name="Rounded Rectangle 8"/>
          <p:cNvSpPr/>
          <p:nvPr/>
        </p:nvSpPr>
        <p:spPr>
          <a:xfrm>
            <a:off x="457200" y="1325880"/>
            <a:ext cx="3657600" cy="3383280"/>
          </a:xfrm>
          <a:prstGeom prst="roundRect">
            <a:avLst>
              <a:gd name="adj" fmla="val 6000"/>
            </a:avLst>
          </a:prstGeom>
          <a:solidFill>
            <a:srgbClr val="EDF4FB"/>
          </a:solidFill>
          <a:ln w="12700">
            <a:solidFill>
              <a:srgbClr val="365E9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1399032"/>
            <a:ext cx="3456432" cy="365760"/>
          </a:xfrm>
          <a:prstGeom prst="rect">
            <a:avLst/>
          </a:prstGeom>
          <a:noFill/>
        </p:spPr>
        <p:txBody>
          <a:bodyPr wrap="square" lIns="45720" rIns="45720" tIns="27432" bIns="27432" anchor="t">
            <a:spAutoFit/>
          </a:bodyPr>
          <a:lstStyle/>
          <a:p>
            <a:pPr algn="l">
              <a:lnSpc>
                <a:spcPct val="110000"/>
              </a:lnSpc>
            </a:pPr>
            <a:r>
              <a:rPr sz="1600" b="1" i="0">
                <a:solidFill>
                  <a:srgbClr val="365E9E"/>
                </a:solidFill>
                <a:latin typeface="Arial"/>
              </a:rPr>
              <a:t>1 · Re-score saved traces</a:t>
            </a:r>
          </a:p>
        </p:txBody>
      </p:sp>
      <p:sp>
        <p:nvSpPr>
          <p:cNvPr id="11" name="TextBox 10"/>
          <p:cNvSpPr txBox="1"/>
          <p:nvPr/>
        </p:nvSpPr>
        <p:spPr>
          <a:xfrm>
            <a:off x="530352" y="1764792"/>
            <a:ext cx="3511296" cy="2880360"/>
          </a:xfrm>
          <a:prstGeom prst="rect">
            <a:avLst/>
          </a:prstGeom>
          <a:noFill/>
        </p:spPr>
        <p:txBody>
          <a:bodyPr wrap="square" lIns="45720" rIns="45720">
            <a:spAutoFit/>
          </a:bodyPr>
          <a:lstStyle/>
          <a:p>
            <a:pPr>
              <a:lnSpc>
                <a:spcPct val="108000"/>
              </a:lnSpc>
              <a:spcAft>
                <a:spcPts val="200"/>
              </a:spcAft>
            </a:pPr>
            <a:r>
              <a:rPr sz="1500" b="0" i="0">
                <a:solidFill>
                  <a:srgbClr val="111111"/>
                </a:solidFill>
                <a:latin typeface="Arial"/>
              </a:rPr>
              <a:t>•  Needs sufficient logs and defensible outcome labels</a:t>
            </a:r>
          </a:p>
          <a:p>
            <a:pPr>
              <a:lnSpc>
                <a:spcPct val="108000"/>
              </a:lnSpc>
              <a:spcAft>
                <a:spcPts val="200"/>
              </a:spcAft>
            </a:pPr>
            <a:r>
              <a:rPr sz="1500" b="0" i="0">
                <a:solidFill>
                  <a:srgbClr val="111111"/>
                </a:solidFill>
                <a:latin typeface="Arial"/>
              </a:rPr>
              <a:t>•  Tests detector behavior on those observations; no actor rerun</a:t>
            </a:r>
          </a:p>
          <a:p>
            <a:pPr>
              <a:lnSpc>
                <a:spcPct val="108000"/>
              </a:lnSpc>
              <a:spcAft>
                <a:spcPts val="200"/>
              </a:spcAft>
            </a:pPr>
            <a:r>
              <a:rPr sz="1500" b="0" i="0">
                <a:solidFill>
                  <a:srgbClr val="111111"/>
                </a:solidFill>
                <a:latin typeface="Arial"/>
              </a:rPr>
              <a:t>•  Does not establish prevention, new behavior or population incident rates</a:t>
            </a:r>
          </a:p>
        </p:txBody>
      </p:sp>
      <p:sp>
        <p:nvSpPr>
          <p:cNvPr id="12" name="Rounded Rectangle 11"/>
          <p:cNvSpPr/>
          <p:nvPr/>
        </p:nvSpPr>
        <p:spPr>
          <a:xfrm>
            <a:off x="4270248" y="1325880"/>
            <a:ext cx="3657600" cy="3383280"/>
          </a:xfrm>
          <a:prstGeom prst="roundRect">
            <a:avLst>
              <a:gd name="adj" fmla="val 6000"/>
            </a:avLst>
          </a:prstGeom>
          <a:solidFill>
            <a:srgbClr val="EAF5EF"/>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379976" y="1399032"/>
            <a:ext cx="3456432" cy="365760"/>
          </a:xfrm>
          <a:prstGeom prst="rect">
            <a:avLst/>
          </a:prstGeom>
          <a:noFill/>
        </p:spPr>
        <p:txBody>
          <a:bodyPr wrap="square" lIns="45720" rIns="45720" tIns="27432" bIns="27432" anchor="t">
            <a:spAutoFit/>
          </a:bodyPr>
          <a:lstStyle/>
          <a:p>
            <a:pPr algn="l">
              <a:lnSpc>
                <a:spcPct val="110000"/>
              </a:lnSpc>
            </a:pPr>
            <a:r>
              <a:rPr sz="1600" b="1" i="0">
                <a:solidFill>
                  <a:srgbClr val="2E7D5B"/>
                </a:solidFill>
                <a:latin typeface="Arial"/>
              </a:rPr>
              <a:t>2 · Replay fixed actions</a:t>
            </a:r>
          </a:p>
        </p:txBody>
      </p:sp>
      <p:sp>
        <p:nvSpPr>
          <p:cNvPr id="14" name="TextBox 13"/>
          <p:cNvSpPr txBox="1"/>
          <p:nvPr/>
        </p:nvSpPr>
        <p:spPr>
          <a:xfrm>
            <a:off x="4343400" y="1764792"/>
            <a:ext cx="3511296" cy="2880360"/>
          </a:xfrm>
          <a:prstGeom prst="rect">
            <a:avLst/>
          </a:prstGeom>
          <a:noFill/>
        </p:spPr>
        <p:txBody>
          <a:bodyPr wrap="square" lIns="45720" rIns="45720">
            <a:spAutoFit/>
          </a:bodyPr>
          <a:lstStyle/>
          <a:p>
            <a:pPr>
              <a:lnSpc>
                <a:spcPct val="108000"/>
              </a:lnSpc>
              <a:spcAft>
                <a:spcPts val="200"/>
              </a:spcAft>
            </a:pPr>
            <a:r>
              <a:rPr sz="1500" b="0" i="0">
                <a:solidFill>
                  <a:srgbClr val="111111"/>
                </a:solidFill>
                <a:latin typeface="Arial"/>
              </a:rPr>
              <a:t>•  Needs resettable state and recorded or explicitly scripted actions</a:t>
            </a:r>
          </a:p>
          <a:p>
            <a:pPr>
              <a:lnSpc>
                <a:spcPct val="108000"/>
              </a:lnSpc>
              <a:spcAft>
                <a:spcPts val="200"/>
              </a:spcAft>
            </a:pPr>
            <a:r>
              <a:rPr sz="1500" b="0" i="0">
                <a:solidFill>
                  <a:srgbClr val="111111"/>
                </a:solidFill>
                <a:latin typeface="Arial"/>
              </a:rPr>
              <a:t>•  Tests effects, the outcome check and boundary controls</a:t>
            </a:r>
          </a:p>
          <a:p>
            <a:pPr>
              <a:lnSpc>
                <a:spcPct val="108000"/>
              </a:lnSpc>
              <a:spcAft>
                <a:spcPts val="200"/>
              </a:spcAft>
            </a:pPr>
            <a:r>
              <a:rPr sz="1500" b="0" i="0">
                <a:solidFill>
                  <a:srgbClr val="111111"/>
                </a:solidFill>
                <a:latin typeface="Arial"/>
              </a:rPr>
              <a:t>•  A scripted exploit does not show that a model would choose it</a:t>
            </a:r>
          </a:p>
        </p:txBody>
      </p:sp>
      <p:sp>
        <p:nvSpPr>
          <p:cNvPr id="15" name="Rounded Rectangle 14"/>
          <p:cNvSpPr/>
          <p:nvPr/>
        </p:nvSpPr>
        <p:spPr>
          <a:xfrm>
            <a:off x="8074152" y="1325880"/>
            <a:ext cx="3657600" cy="3383280"/>
          </a:xfrm>
          <a:prstGeom prst="roundRect">
            <a:avLst>
              <a:gd name="adj" fmla="val 6000"/>
            </a:avLst>
          </a:prstGeom>
          <a:solidFill>
            <a:srgbClr val="FDF3E7"/>
          </a:solidFill>
          <a:ln w="12700">
            <a:solidFill>
              <a:srgbClr val="B873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183880" y="1399032"/>
            <a:ext cx="3456432" cy="365760"/>
          </a:xfrm>
          <a:prstGeom prst="rect">
            <a:avLst/>
          </a:prstGeom>
          <a:noFill/>
        </p:spPr>
        <p:txBody>
          <a:bodyPr wrap="square" lIns="45720" rIns="45720" tIns="27432" bIns="27432" anchor="t">
            <a:spAutoFit/>
          </a:bodyPr>
          <a:lstStyle/>
          <a:p>
            <a:pPr algn="l">
              <a:lnSpc>
                <a:spcPct val="110000"/>
              </a:lnSpc>
            </a:pPr>
            <a:r>
              <a:rPr sz="1600" b="1" i="0">
                <a:solidFill>
                  <a:srgbClr val="B8732A"/>
                </a:solidFill>
                <a:latin typeface="Arial"/>
              </a:rPr>
              <a:t>3 · Re-run the agent</a:t>
            </a:r>
          </a:p>
        </p:txBody>
      </p:sp>
      <p:sp>
        <p:nvSpPr>
          <p:cNvPr id="17" name="TextBox 16"/>
          <p:cNvSpPr txBox="1"/>
          <p:nvPr/>
        </p:nvSpPr>
        <p:spPr>
          <a:xfrm>
            <a:off x="8147304" y="1764792"/>
            <a:ext cx="3511296" cy="2880360"/>
          </a:xfrm>
          <a:prstGeom prst="rect">
            <a:avLst/>
          </a:prstGeom>
          <a:noFill/>
        </p:spPr>
        <p:txBody>
          <a:bodyPr wrap="square" lIns="45720" rIns="45720">
            <a:spAutoFit/>
          </a:bodyPr>
          <a:lstStyle/>
          <a:p>
            <a:pPr>
              <a:lnSpc>
                <a:spcPct val="108000"/>
              </a:lnSpc>
              <a:spcAft>
                <a:spcPts val="200"/>
              </a:spcAft>
            </a:pPr>
            <a:r>
              <a:rPr sz="1500" b="0" i="0">
                <a:solidFill>
                  <a:srgbClr val="111111"/>
                </a:solidFill>
                <a:latin typeface="Arial"/>
              </a:rPr>
              <a:t>•  Needs an accessible pinned model and restorable history</a:t>
            </a:r>
          </a:p>
          <a:p>
            <a:pPr>
              <a:lnSpc>
                <a:spcPct val="108000"/>
              </a:lnSpc>
              <a:spcAft>
                <a:spcPts val="200"/>
              </a:spcAft>
            </a:pPr>
            <a:r>
              <a:rPr sz="1500" b="0" i="0">
                <a:solidFill>
                  <a:srgbClr val="111111"/>
                </a:solidFill>
                <a:latin typeface="Arial"/>
              </a:rPr>
              <a:t>•  Re-sample after intervention; let subsequent actions change</a:t>
            </a:r>
          </a:p>
          <a:p>
            <a:pPr>
              <a:lnSpc>
                <a:spcPct val="108000"/>
              </a:lnSpc>
              <a:spcAft>
                <a:spcPts val="200"/>
              </a:spcAft>
            </a:pPr>
            <a:r>
              <a:rPr sz="1500" b="0" i="0">
                <a:solidFill>
                  <a:srgbClr val="111111"/>
                </a:solidFill>
                <a:latin typeface="Arial"/>
              </a:rPr>
              <a:t>•  Behavioral conclusions apply to the tested model, environment and conditions</a:t>
            </a:r>
          </a:p>
        </p:txBody>
      </p:sp>
      <p:sp>
        <p:nvSpPr>
          <p:cNvPr id="18" name="Rounded Rectangle 17"/>
          <p:cNvSpPr/>
          <p:nvPr/>
        </p:nvSpPr>
        <p:spPr>
          <a:xfrm>
            <a:off x="457200" y="5010912"/>
            <a:ext cx="11277295" cy="941832"/>
          </a:xfrm>
          <a:prstGeom prst="roundRect">
            <a:avLst>
              <a:gd name="adj" fmla="val 6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85800" y="5084064"/>
            <a:ext cx="10820095" cy="795528"/>
          </a:xfrm>
          <a:prstGeom prst="rect">
            <a:avLst/>
          </a:prstGeom>
          <a:noFill/>
        </p:spPr>
        <p:txBody>
          <a:bodyPr wrap="square" lIns="45720" rIns="45720" tIns="27432" bIns="27432" anchor="ctr">
            <a:spAutoFit/>
          </a:bodyPr>
          <a:lstStyle/>
          <a:p>
            <a:pPr algn="l">
              <a:lnSpc>
                <a:spcPct val="115000"/>
              </a:lnSpc>
            </a:pPr>
            <a:r>
              <a:rPr sz="1600" b="0" i="0">
                <a:solidFill>
                  <a:srgbClr val="111111"/>
                </a:solidFill>
                <a:latin typeface="Arial"/>
              </a:rPr>
              <a:t>Record fidelity independently: matched historical conditions, partial reconstruction, or a controlled mechanism study. A / B / C evidence grades do not establish fidelity.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82296" cy="566928"/>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301752"/>
            <a:ext cx="10515600" cy="548640"/>
          </a:xfrm>
          <a:prstGeom prst="rect">
            <a:avLst/>
          </a:prstGeom>
          <a:noFill/>
        </p:spPr>
        <p:txBody>
          <a:bodyPr wrap="square" lIns="45720" rIns="45720" tIns="27432" bIns="27432" anchor="ctr">
            <a:spAutoFit/>
          </a:bodyPr>
          <a:lstStyle/>
          <a:p>
            <a:pPr algn="l">
              <a:lnSpc>
                <a:spcPct val="110000"/>
              </a:lnSpc>
            </a:pPr>
            <a:r>
              <a:rPr sz="2600" b="1" i="0">
                <a:solidFill>
                  <a:srgbClr val="111111"/>
                </a:solidFill>
                <a:latin typeface="Arial"/>
              </a:rPr>
              <a:t>The evaluator is part of the incident</a:t>
            </a:r>
          </a:p>
        </p:txBody>
      </p:sp>
      <p:sp>
        <p:nvSpPr>
          <p:cNvPr id="4" name="TextBox 3"/>
          <p:cNvSpPr txBox="1"/>
          <p:nvPr/>
        </p:nvSpPr>
        <p:spPr>
          <a:xfrm>
            <a:off x="640080" y="868680"/>
            <a:ext cx="10972800" cy="365760"/>
          </a:xfrm>
          <a:prstGeom prst="rect">
            <a:avLst/>
          </a:prstGeom>
          <a:noFill/>
        </p:spPr>
        <p:txBody>
          <a:bodyPr wrap="square" lIns="45720" rIns="45720" tIns="27432" bIns="27432" anchor="t">
            <a:spAutoFit/>
          </a:bodyPr>
          <a:lstStyle/>
          <a:p>
            <a:pPr algn="l">
              <a:lnSpc>
                <a:spcPct val="110000"/>
              </a:lnSpc>
            </a:pPr>
            <a:r>
              <a:rPr sz="1300" b="0" i="0">
                <a:solidFill>
                  <a:srgbClr val="666666"/>
                </a:solidFill>
                <a:latin typeface="Arial"/>
              </a:rPr>
              <a:t>A container rebuild alone does not recover the original causal conditions</a:t>
            </a:r>
          </a:p>
        </p:txBody>
      </p:sp>
      <p:sp>
        <p:nvSpPr>
          <p:cNvPr id="5" name="TextBox 4"/>
          <p:cNvSpPr txBox="1"/>
          <p:nvPr/>
        </p:nvSpPr>
        <p:spPr>
          <a:xfrm>
            <a:off x="8503920" y="109728"/>
            <a:ext cx="3200400" cy="274320"/>
          </a:xfrm>
          <a:prstGeom prst="rect">
            <a:avLst/>
          </a:prstGeom>
          <a:noFill/>
        </p:spPr>
        <p:txBody>
          <a:bodyPr wrap="square" lIns="45720" rIns="45720" tIns="27432" bIns="27432" anchor="t">
            <a:spAutoFit/>
          </a:bodyPr>
          <a:lstStyle/>
          <a:p>
            <a:pPr algn="r">
              <a:lnSpc>
                <a:spcPct val="110000"/>
              </a:lnSpc>
            </a:pPr>
            <a:r>
              <a:rPr sz="900" b="1" i="0">
                <a:solidFill>
                  <a:srgbClr val="365E9E"/>
                </a:solidFill>
                <a:latin typeface="Arial"/>
              </a:rPr>
              <a:t>7 · REPLAY FEASIBILITY</a:t>
            </a:r>
          </a:p>
        </p:txBody>
      </p:sp>
      <p:cxnSp>
        <p:nvCxnSpPr>
          <p:cNvPr id="6" name="Connector 5"/>
          <p:cNvCxnSpPr/>
          <p:nvPr/>
        </p:nvCxnSpPr>
        <p:spPr>
          <a:xfrm>
            <a:off x="457200" y="6446520"/>
            <a:ext cx="11277295" cy="0"/>
          </a:xfrm>
          <a:prstGeom prst="line">
            <a:avLst/>
          </a:prstGeom>
          <a:ln w="6350">
            <a:solidFill>
              <a:srgbClr val="C9C9C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57200" y="6473952"/>
            <a:ext cx="10058400" cy="274320"/>
          </a:xfrm>
          <a:prstGeom prst="rect">
            <a:avLst/>
          </a:prstGeom>
          <a:noFill/>
        </p:spPr>
        <p:txBody>
          <a:bodyPr wrap="square" lIns="45720" rIns="45720" tIns="27432" bIns="27432" anchor="t">
            <a:spAutoFit/>
          </a:bodyPr>
          <a:lstStyle/>
          <a:p>
            <a:pPr algn="l">
              <a:lnSpc>
                <a:spcPct val="110000"/>
              </a:lnSpc>
            </a:pPr>
            <a:r>
              <a:rPr sz="800" b="0" i="0">
                <a:solidFill>
                  <a:srgbClr val="666666"/>
                </a:solidFill>
                <a:latin typeface="Arial"/>
              </a:rPr>
              <a:t>Incident-aware optimization · design proposal · containment-extension · October 2026 · no benchmark improvement measured</a:t>
            </a:r>
          </a:p>
        </p:txBody>
      </p:sp>
      <p:sp>
        <p:nvSpPr>
          <p:cNvPr id="8" name="TextBox 7"/>
          <p:cNvSpPr txBox="1"/>
          <p:nvPr/>
        </p:nvSpPr>
        <p:spPr>
          <a:xfrm>
            <a:off x="10820095" y="6473952"/>
            <a:ext cx="914400" cy="274320"/>
          </a:xfrm>
          <a:prstGeom prst="rect">
            <a:avLst/>
          </a:prstGeom>
          <a:noFill/>
        </p:spPr>
        <p:txBody>
          <a:bodyPr wrap="square" lIns="45720" rIns="45720" tIns="27432" bIns="27432" anchor="t">
            <a:spAutoFit/>
          </a:bodyPr>
          <a:lstStyle/>
          <a:p>
            <a:pPr algn="r">
              <a:lnSpc>
                <a:spcPct val="110000"/>
              </a:lnSpc>
            </a:pPr>
            <a:r>
              <a:rPr sz="900" b="0" i="0">
                <a:solidFill>
                  <a:srgbClr val="666666"/>
                </a:solidFill>
                <a:latin typeface="Arial"/>
              </a:rPr>
              <a:t>29</a:t>
            </a:r>
          </a:p>
        </p:txBody>
      </p:sp>
      <p:graphicFrame>
        <p:nvGraphicFramePr>
          <p:cNvPr id="9" name="Table 8"/>
          <p:cNvGraphicFramePr>
            <a:graphicFrameLocks noGrp="1"/>
          </p:cNvGraphicFramePr>
          <p:nvPr/>
        </p:nvGraphicFramePr>
        <p:xfrm>
          <a:off x="457200" y="1325880"/>
          <a:ext cx="11277293" cy="4892040"/>
        </p:xfrm>
        <a:graphic>
          <a:graphicData uri="http://schemas.openxmlformats.org/drawingml/2006/table">
            <a:tbl>
              <a:tblPr firstRow="1" bandRow="1">
                <a:tableStyleId>{5C22544A-7EE6-4342-B048-85BDC9FD1C3A}</a:tableStyleId>
              </a:tblPr>
              <a:tblGrid>
                <a:gridCol w="2423749"/>
                <a:gridCol w="4390187"/>
                <a:gridCol w="4463357"/>
              </a:tblGrid>
              <a:tr h="815340">
                <a:tc>
                  <a:txBody>
                    <a:bodyPr wrap="square"/>
                    <a:lstStyle/>
                    <a:p>
                      <a:pPr>
                        <a:lnSpc>
                          <a:spcPct val="105000"/>
                        </a:lnSpc>
                      </a:pPr>
                      <a:r>
                        <a:rPr sz="1450" b="1" i="0">
                          <a:solidFill>
                            <a:srgbClr val="FFFFFF"/>
                          </a:solidFill>
                          <a:latin typeface="Arial"/>
                        </a:rPr>
                        <a:t>Dependency</a:t>
                      </a:r>
                    </a:p>
                  </a:txBody>
                  <a:tcPr marL="54864" marR="54864" marT="27432" marB="27432">
                    <a:solidFill>
                      <a:srgbClr val="365E9E"/>
                    </a:solidFill>
                  </a:tcPr>
                </a:tc>
                <a:tc>
                  <a:txBody>
                    <a:bodyPr wrap="square"/>
                    <a:lstStyle/>
                    <a:p>
                      <a:pPr>
                        <a:lnSpc>
                          <a:spcPct val="105000"/>
                        </a:lnSpc>
                      </a:pPr>
                      <a:r>
                        <a:rPr sz="1450" b="1" i="0">
                          <a:solidFill>
                            <a:srgbClr val="FFFFFF"/>
                          </a:solidFill>
                          <a:latin typeface="Arial"/>
                        </a:rPr>
                        <a:t>What can change the behavior</a:t>
                      </a:r>
                    </a:p>
                  </a:txBody>
                  <a:tcPr marL="54864" marR="54864" marT="27432" marB="27432">
                    <a:solidFill>
                      <a:srgbClr val="365E9E"/>
                    </a:solidFill>
                  </a:tcPr>
                </a:tc>
                <a:tc>
                  <a:txBody>
                    <a:bodyPr wrap="square"/>
                    <a:lstStyle/>
                    <a:p>
                      <a:pPr>
                        <a:lnSpc>
                          <a:spcPct val="105000"/>
                        </a:lnSpc>
                      </a:pPr>
                      <a:r>
                        <a:rPr sz="1450" b="1" i="0">
                          <a:solidFill>
                            <a:srgbClr val="FFFFFF"/>
                          </a:solidFill>
                          <a:latin typeface="Arial"/>
                        </a:rPr>
                        <a:t>What the replay must establish</a:t>
                      </a:r>
                    </a:p>
                  </a:txBody>
                  <a:tcPr marL="54864" marR="54864" marT="27432" marB="27432">
                    <a:solidFill>
                      <a:srgbClr val="365E9E"/>
                    </a:solidFill>
                  </a:tcPr>
                </a:tc>
              </a:tr>
              <a:tr h="815340">
                <a:tc>
                  <a:txBody>
                    <a:bodyPr wrap="square"/>
                    <a:lstStyle/>
                    <a:p>
                      <a:pPr>
                        <a:lnSpc>
                          <a:spcPct val="105000"/>
                        </a:lnSpc>
                      </a:pPr>
                      <a:r>
                        <a:rPr sz="1450" b="1" i="0">
                          <a:solidFill>
                            <a:srgbClr val="111111"/>
                          </a:solidFill>
                          <a:latin typeface="Arial"/>
                        </a:rPr>
                        <a:t>Actor and scaffold</a:t>
                      </a:r>
                    </a:p>
                  </a:txBody>
                  <a:tcPr marL="54864" marR="54864" marT="27432" marB="27432">
                    <a:solidFill>
                      <a:srgbClr val="FFFFFF"/>
                    </a:solidFill>
                  </a:tcPr>
                </a:tc>
                <a:tc>
                  <a:txBody>
                    <a:bodyPr wrap="square"/>
                    <a:lstStyle/>
                    <a:p>
                      <a:pPr>
                        <a:lnSpc>
                          <a:spcPct val="105000"/>
                        </a:lnSpc>
                      </a:pPr>
                      <a:r>
                        <a:rPr sz="1450" b="0" i="0">
                          <a:solidFill>
                            <a:srgbClr val="111111"/>
                          </a:solidFill>
                          <a:latin typeface="Arial"/>
                        </a:rPr>
                        <a:t>Checkpoint, prompts, memory, tool routing, sampling and reasoning settings.</a:t>
                      </a:r>
                    </a:p>
                  </a:txBody>
                  <a:tcPr marL="54864" marR="54864" marT="27432" marB="27432">
                    <a:solidFill>
                      <a:srgbClr val="FFFFFF"/>
                    </a:solidFill>
                  </a:tcPr>
                </a:tc>
                <a:tc>
                  <a:txBody>
                    <a:bodyPr wrap="square"/>
                    <a:lstStyle/>
                    <a:p>
                      <a:pPr>
                        <a:lnSpc>
                          <a:spcPct val="105000"/>
                        </a:lnSpc>
                      </a:pPr>
                      <a:r>
                        <a:rPr sz="1450" b="0" i="0">
                          <a:solidFill>
                            <a:srgbClr val="111111"/>
                          </a:solidFill>
                          <a:latin typeface="Arial"/>
                        </a:rPr>
                        <a:t>Pin available versions and history; mark inaccessible internal state.</a:t>
                      </a:r>
                    </a:p>
                  </a:txBody>
                  <a:tcPr marL="54864" marR="54864" marT="27432" marB="27432">
                    <a:solidFill>
                      <a:srgbClr val="FFFFFF"/>
                    </a:solidFill>
                  </a:tcPr>
                </a:tc>
              </a:tr>
              <a:tr h="815340">
                <a:tc>
                  <a:txBody>
                    <a:bodyPr wrap="square"/>
                    <a:lstStyle/>
                    <a:p>
                      <a:pPr>
                        <a:lnSpc>
                          <a:spcPct val="105000"/>
                        </a:lnSpc>
                      </a:pPr>
                      <a:r>
                        <a:rPr sz="1450" b="1" i="0">
                          <a:solidFill>
                            <a:srgbClr val="111111"/>
                          </a:solidFill>
                          <a:latin typeface="Arial"/>
                        </a:rPr>
                        <a:t>Environment and state</a:t>
                      </a:r>
                    </a:p>
                  </a:txBody>
                  <a:tcPr marL="54864" marR="54864" marT="27432" marB="27432">
                    <a:solidFill>
                      <a:srgbClr val="F4F6FA"/>
                    </a:solidFill>
                  </a:tcPr>
                </a:tc>
                <a:tc>
                  <a:txBody>
                    <a:bodyPr wrap="square"/>
                    <a:lstStyle/>
                    <a:p>
                      <a:pPr>
                        <a:lnSpc>
                          <a:spcPct val="105000"/>
                        </a:lnSpc>
                      </a:pPr>
                      <a:r>
                        <a:rPr sz="1450" b="0" i="0">
                          <a:solidFill>
                            <a:srgbClr val="111111"/>
                          </a:solidFill>
                          <a:latin typeface="Arial"/>
                        </a:rPr>
                        <a:t>Files, databases, permissions, service responses, package versions and timing.</a:t>
                      </a:r>
                    </a:p>
                  </a:txBody>
                  <a:tcPr marL="54864" marR="54864" marT="27432" marB="27432">
                    <a:solidFill>
                      <a:srgbClr val="F4F6FA"/>
                    </a:solidFill>
                  </a:tcPr>
                </a:tc>
                <a:tc>
                  <a:txBody>
                    <a:bodyPr wrap="square"/>
                    <a:lstStyle/>
                    <a:p>
                      <a:pPr>
                        <a:lnSpc>
                          <a:spcPct val="105000"/>
                        </a:lnSpc>
                      </a:pPr>
                      <a:r>
                        <a:rPr sz="1450" b="0" i="0">
                          <a:solidFill>
                            <a:srgbClr val="111111"/>
                          </a:solidFill>
                          <a:latin typeface="Arial"/>
                        </a:rPr>
                        <a:t>Restore a known initial state; verify reset, isolation and relevant tool semantics.</a:t>
                      </a:r>
                    </a:p>
                  </a:txBody>
                  <a:tcPr marL="54864" marR="54864" marT="27432" marB="27432">
                    <a:solidFill>
                      <a:srgbClr val="F4F6FA"/>
                    </a:solidFill>
                  </a:tcPr>
                </a:tc>
              </a:tr>
              <a:tr h="815340">
                <a:tc>
                  <a:txBody>
                    <a:bodyPr wrap="square"/>
                    <a:lstStyle/>
                    <a:p>
                      <a:pPr>
                        <a:lnSpc>
                          <a:spcPct val="105000"/>
                        </a:lnSpc>
                      </a:pPr>
                      <a:r>
                        <a:rPr sz="1450" b="1" i="0">
                          <a:solidFill>
                            <a:srgbClr val="111111"/>
                          </a:solidFill>
                          <a:latin typeface="Arial"/>
                        </a:rPr>
                        <a:t>Task and evaluator</a:t>
                      </a:r>
                    </a:p>
                  </a:txBody>
                  <a:tcPr marL="54864" marR="54864" marT="27432" marB="27432">
                    <a:solidFill>
                      <a:srgbClr val="FFFFFF"/>
                    </a:solidFill>
                  </a:tcPr>
                </a:tc>
                <a:tc>
                  <a:txBody>
                    <a:bodyPr wrap="square"/>
                    <a:lstStyle/>
                    <a:p>
                      <a:pPr>
                        <a:lnSpc>
                          <a:spcPct val="105000"/>
                        </a:lnSpc>
                      </a:pPr>
                      <a:r>
                        <a:rPr sz="1450" b="0" i="0">
                          <a:solidFill>
                            <a:srgbClr val="111111"/>
                          </a:solidFill>
                          <a:latin typeface="Arial"/>
                        </a:rPr>
                        <a:t>Hidden tests, grader model/prompt, reward code and the definition of success.</a:t>
                      </a:r>
                    </a:p>
                  </a:txBody>
                  <a:tcPr marL="54864" marR="54864" marT="27432" marB="27432">
                    <a:solidFill>
                      <a:srgbClr val="FFFFFF"/>
                    </a:solidFill>
                  </a:tcPr>
                </a:tc>
                <a:tc>
                  <a:txBody>
                    <a:bodyPr wrap="square"/>
                    <a:lstStyle/>
                    <a:p>
                      <a:pPr>
                        <a:lnSpc>
                          <a:spcPct val="105000"/>
                        </a:lnSpc>
                      </a:pPr>
                      <a:r>
                        <a:rPr sz="1450" b="0" i="0">
                          <a:solidFill>
                            <a:srgbClr val="111111"/>
                          </a:solidFill>
                          <a:latin typeface="Arial"/>
                        </a:rPr>
                        <a:t>Use a trusted effect check outside the agent's authority; include a benign control.</a:t>
                      </a:r>
                    </a:p>
                  </a:txBody>
                  <a:tcPr marL="54864" marR="54864" marT="27432" marB="27432">
                    <a:solidFill>
                      <a:srgbClr val="FFFFFF"/>
                    </a:solidFill>
                  </a:tcPr>
                </a:tc>
              </a:tr>
              <a:tr h="815340">
                <a:tc>
                  <a:txBody>
                    <a:bodyPr wrap="square"/>
                    <a:lstStyle/>
                    <a:p>
                      <a:pPr>
                        <a:lnSpc>
                          <a:spcPct val="105000"/>
                        </a:lnSpc>
                      </a:pPr>
                      <a:r>
                        <a:rPr sz="1450" b="1" i="0">
                          <a:solidFill>
                            <a:srgbClr val="111111"/>
                          </a:solidFill>
                          <a:latin typeface="Arial"/>
                        </a:rPr>
                        <a:t>Observation access</a:t>
                      </a:r>
                    </a:p>
                  </a:txBody>
                  <a:tcPr marL="54864" marR="54864" marT="27432" marB="27432">
                    <a:solidFill>
                      <a:srgbClr val="F4F6FA"/>
                    </a:solidFill>
                  </a:tcPr>
                </a:tc>
                <a:tc>
                  <a:txBody>
                    <a:bodyPr wrap="square"/>
                    <a:lstStyle/>
                    <a:p>
                      <a:pPr>
                        <a:lnSpc>
                          <a:spcPct val="105000"/>
                        </a:lnSpc>
                      </a:pPr>
                      <a:r>
                        <a:rPr sz="1450" b="0" i="0">
                          <a:solidFill>
                            <a:srgbClr val="111111"/>
                          </a:solidFill>
                          <a:latin typeface="Arial"/>
                        </a:rPr>
                        <a:t>Full action trace versus excerpts, raw reasoning or a generated summary.</a:t>
                      </a:r>
                    </a:p>
                  </a:txBody>
                  <a:tcPr marL="54864" marR="54864" marT="27432" marB="27432">
                    <a:solidFill>
                      <a:srgbClr val="F4F6FA"/>
                    </a:solidFill>
                  </a:tcPr>
                </a:tc>
                <a:tc>
                  <a:txBody>
                    <a:bodyPr wrap="square"/>
                    <a:lstStyle/>
                    <a:p>
                      <a:pPr>
                        <a:lnSpc>
                          <a:spcPct val="105000"/>
                        </a:lnSpc>
                      </a:pPr>
                      <a:r>
                        <a:rPr sz="1450" b="0" i="0">
                          <a:solidFill>
                            <a:srgbClr val="111111"/>
                          </a:solidFill>
                          <a:latin typeface="Arial"/>
                        </a:rPr>
                        <a:t>Match the declared monitor view; a summary is not a substitute for raw reasoning.</a:t>
                      </a:r>
                    </a:p>
                  </a:txBody>
                  <a:tcPr marL="54864" marR="54864" marT="27432" marB="27432">
                    <a:solidFill>
                      <a:srgbClr val="F4F6FA"/>
                    </a:solidFill>
                  </a:tcPr>
                </a:tc>
              </a:tr>
              <a:tr h="815340">
                <a:tc>
                  <a:txBody>
                    <a:bodyPr wrap="square"/>
                    <a:lstStyle/>
                    <a:p>
                      <a:pPr>
                        <a:lnSpc>
                          <a:spcPct val="105000"/>
                        </a:lnSpc>
                      </a:pPr>
                      <a:r>
                        <a:rPr sz="1450" b="1" i="0">
                          <a:solidFill>
                            <a:srgbClr val="111111"/>
                          </a:solidFill>
                          <a:latin typeface="Arial"/>
                        </a:rPr>
                        <a:t>Branching after intervention</a:t>
                      </a:r>
                    </a:p>
                  </a:txBody>
                  <a:tcPr marL="54864" marR="54864" marT="27432" marB="27432">
                    <a:solidFill>
                      <a:srgbClr val="FFFFFF"/>
                    </a:solidFill>
                  </a:tcPr>
                </a:tc>
                <a:tc>
                  <a:txBody>
                    <a:bodyPr wrap="square"/>
                    <a:lstStyle/>
                    <a:p>
                      <a:pPr>
                        <a:lnSpc>
                          <a:spcPct val="105000"/>
                        </a:lnSpc>
                      </a:pPr>
                      <a:r>
                        <a:rPr sz="1450" b="0" i="0">
                          <a:solidFill>
                            <a:srgbClr val="111111"/>
                          </a:solidFill>
                          <a:latin typeface="Arial"/>
                        </a:rPr>
                        <a:t>An altered observation changes later actions and external state.</a:t>
                      </a:r>
                    </a:p>
                  </a:txBody>
                  <a:tcPr marL="54864" marR="54864" marT="27432" marB="27432">
                    <a:solidFill>
                      <a:srgbClr val="FFFFFF"/>
                    </a:solidFill>
                  </a:tcPr>
                </a:tc>
                <a:tc>
                  <a:txBody>
                    <a:bodyPr wrap="square"/>
                    <a:lstStyle/>
                    <a:p>
                      <a:pPr>
                        <a:lnSpc>
                          <a:spcPct val="105000"/>
                        </a:lnSpc>
                      </a:pPr>
                      <a:r>
                        <a:rPr sz="1450" b="0" i="0">
                          <a:solidFill>
                            <a:srgbClr val="111111"/>
                          </a:solidFill>
                          <a:latin typeface="Arial"/>
                        </a:rPr>
                        <a:t>Locate the first divergence; resample continuation or explicitly keep an effect-only claim.</a:t>
                      </a:r>
                    </a:p>
                  </a:txBody>
                  <a:tcPr marL="54864" marR="54864" marT="27432" marB="27432">
                    <a:solidFill>
                      <a:srgbClr val="FFFF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82296" cy="566928"/>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301752"/>
            <a:ext cx="10515600" cy="548640"/>
          </a:xfrm>
          <a:prstGeom prst="rect">
            <a:avLst/>
          </a:prstGeom>
          <a:noFill/>
        </p:spPr>
        <p:txBody>
          <a:bodyPr wrap="square" lIns="45720" rIns="45720" tIns="27432" bIns="27432" anchor="ctr">
            <a:spAutoFit/>
          </a:bodyPr>
          <a:lstStyle/>
          <a:p>
            <a:pPr algn="l">
              <a:lnSpc>
                <a:spcPct val="110000"/>
              </a:lnSpc>
            </a:pPr>
            <a:r>
              <a:rPr sz="2300" b="1" i="0">
                <a:solidFill>
                  <a:srgbClr val="111111"/>
                </a:solidFill>
                <a:latin typeface="Arial"/>
              </a:rPr>
              <a:t>Where GPU, API and engineering costs become bottlenecks</a:t>
            </a:r>
          </a:p>
        </p:txBody>
      </p:sp>
      <p:sp>
        <p:nvSpPr>
          <p:cNvPr id="4" name="TextBox 3"/>
          <p:cNvSpPr txBox="1"/>
          <p:nvPr/>
        </p:nvSpPr>
        <p:spPr>
          <a:xfrm>
            <a:off x="640080" y="868680"/>
            <a:ext cx="10972800" cy="365760"/>
          </a:xfrm>
          <a:prstGeom prst="rect">
            <a:avLst/>
          </a:prstGeom>
          <a:noFill/>
        </p:spPr>
        <p:txBody>
          <a:bodyPr wrap="square" lIns="45720" rIns="45720" tIns="27432" bIns="27432" anchor="t">
            <a:spAutoFit/>
          </a:bodyPr>
          <a:lstStyle/>
          <a:p>
            <a:pPr algn="l">
              <a:lnSpc>
                <a:spcPct val="110000"/>
              </a:lnSpc>
            </a:pPr>
            <a:r>
              <a:rPr sz="1300" b="0" i="0">
                <a:solidFill>
                  <a:srgbClr val="666666"/>
                </a:solidFill>
                <a:latin typeface="Arial"/>
              </a:rPr>
              <a:t>Estimate expenditure after access and fixture qualification; no universal cost per incident</a:t>
            </a:r>
          </a:p>
        </p:txBody>
      </p:sp>
      <p:sp>
        <p:nvSpPr>
          <p:cNvPr id="5" name="TextBox 4"/>
          <p:cNvSpPr txBox="1"/>
          <p:nvPr/>
        </p:nvSpPr>
        <p:spPr>
          <a:xfrm>
            <a:off x="8503920" y="109728"/>
            <a:ext cx="3200400" cy="274320"/>
          </a:xfrm>
          <a:prstGeom prst="rect">
            <a:avLst/>
          </a:prstGeom>
          <a:noFill/>
        </p:spPr>
        <p:txBody>
          <a:bodyPr wrap="square" lIns="45720" rIns="45720" tIns="27432" bIns="27432" anchor="t">
            <a:spAutoFit/>
          </a:bodyPr>
          <a:lstStyle/>
          <a:p>
            <a:pPr algn="r">
              <a:lnSpc>
                <a:spcPct val="110000"/>
              </a:lnSpc>
            </a:pPr>
            <a:r>
              <a:rPr sz="900" b="1" i="0">
                <a:solidFill>
                  <a:srgbClr val="365E9E"/>
                </a:solidFill>
                <a:latin typeface="Arial"/>
              </a:rPr>
              <a:t>7 · REPLAY FEASIBILITY</a:t>
            </a:r>
          </a:p>
        </p:txBody>
      </p:sp>
      <p:cxnSp>
        <p:nvCxnSpPr>
          <p:cNvPr id="6" name="Connector 5"/>
          <p:cNvCxnSpPr/>
          <p:nvPr/>
        </p:nvCxnSpPr>
        <p:spPr>
          <a:xfrm>
            <a:off x="457200" y="6446520"/>
            <a:ext cx="11277295" cy="0"/>
          </a:xfrm>
          <a:prstGeom prst="line">
            <a:avLst/>
          </a:prstGeom>
          <a:ln w="6350">
            <a:solidFill>
              <a:srgbClr val="C9C9C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57200" y="6473952"/>
            <a:ext cx="10058400" cy="274320"/>
          </a:xfrm>
          <a:prstGeom prst="rect">
            <a:avLst/>
          </a:prstGeom>
          <a:noFill/>
        </p:spPr>
        <p:txBody>
          <a:bodyPr wrap="square" lIns="45720" rIns="45720" tIns="27432" bIns="27432" anchor="t">
            <a:spAutoFit/>
          </a:bodyPr>
          <a:lstStyle/>
          <a:p>
            <a:pPr algn="l">
              <a:lnSpc>
                <a:spcPct val="110000"/>
              </a:lnSpc>
            </a:pPr>
            <a:r>
              <a:rPr sz="800" b="0" i="0">
                <a:solidFill>
                  <a:srgbClr val="666666"/>
                </a:solidFill>
                <a:latin typeface="Arial"/>
              </a:rPr>
              <a:t>Incident-aware optimization · design proposal · containment-extension · October 2026 · no benchmark improvement measured</a:t>
            </a:r>
          </a:p>
        </p:txBody>
      </p:sp>
      <p:sp>
        <p:nvSpPr>
          <p:cNvPr id="8" name="TextBox 7"/>
          <p:cNvSpPr txBox="1"/>
          <p:nvPr/>
        </p:nvSpPr>
        <p:spPr>
          <a:xfrm>
            <a:off x="10820095" y="6473952"/>
            <a:ext cx="914400" cy="274320"/>
          </a:xfrm>
          <a:prstGeom prst="rect">
            <a:avLst/>
          </a:prstGeom>
          <a:noFill/>
        </p:spPr>
        <p:txBody>
          <a:bodyPr wrap="square" lIns="45720" rIns="45720" tIns="27432" bIns="27432" anchor="t">
            <a:spAutoFit/>
          </a:bodyPr>
          <a:lstStyle/>
          <a:p>
            <a:pPr algn="r">
              <a:lnSpc>
                <a:spcPct val="110000"/>
              </a:lnSpc>
            </a:pPr>
            <a:r>
              <a:rPr sz="900" b="0" i="0">
                <a:solidFill>
                  <a:srgbClr val="666666"/>
                </a:solidFill>
                <a:latin typeface="Arial"/>
              </a:rPr>
              <a:t>30</a:t>
            </a:r>
          </a:p>
        </p:txBody>
      </p:sp>
      <p:graphicFrame>
        <p:nvGraphicFramePr>
          <p:cNvPr id="9" name="Table 8"/>
          <p:cNvGraphicFramePr>
            <a:graphicFrameLocks noGrp="1"/>
          </p:cNvGraphicFramePr>
          <p:nvPr/>
        </p:nvGraphicFramePr>
        <p:xfrm>
          <a:off x="457200" y="1325880"/>
          <a:ext cx="11277294" cy="3200400"/>
        </p:xfrm>
        <a:graphic>
          <a:graphicData uri="http://schemas.openxmlformats.org/drawingml/2006/table">
            <a:tbl>
              <a:tblPr firstRow="1" bandRow="1">
                <a:tableStyleId>{5C22544A-7EE6-4342-B048-85BDC9FD1C3A}</a:tableStyleId>
              </a:tblPr>
              <a:tblGrid>
                <a:gridCol w="2606674"/>
                <a:gridCol w="4344456"/>
                <a:gridCol w="4326164"/>
              </a:tblGrid>
              <a:tr h="640080">
                <a:tc>
                  <a:txBody>
                    <a:bodyPr wrap="square"/>
                    <a:lstStyle/>
                    <a:p>
                      <a:pPr>
                        <a:lnSpc>
                          <a:spcPct val="105000"/>
                        </a:lnSpc>
                      </a:pPr>
                      <a:r>
                        <a:rPr sz="1450" b="1" i="0">
                          <a:solidFill>
                            <a:srgbClr val="FFFFFF"/>
                          </a:solidFill>
                          <a:latin typeface="Arial"/>
                        </a:rPr>
                        <a:t>Replay work</a:t>
                      </a:r>
                    </a:p>
                  </a:txBody>
                  <a:tcPr marL="54864" marR="54864" marT="27432" marB="27432">
                    <a:solidFill>
                      <a:srgbClr val="365E9E"/>
                    </a:solidFill>
                  </a:tcPr>
                </a:tc>
                <a:tc>
                  <a:txBody>
                    <a:bodyPr wrap="square"/>
                    <a:lstStyle/>
                    <a:p>
                      <a:pPr>
                        <a:lnSpc>
                          <a:spcPct val="105000"/>
                        </a:lnSpc>
                      </a:pPr>
                      <a:r>
                        <a:rPr sz="1450" b="1" i="0">
                          <a:solidFill>
                            <a:srgbClr val="FFFFFF"/>
                          </a:solidFill>
                          <a:latin typeface="Arial"/>
                        </a:rPr>
                        <a:t>Main resource costs</a:t>
                      </a:r>
                    </a:p>
                  </a:txBody>
                  <a:tcPr marL="54864" marR="54864" marT="27432" marB="27432">
                    <a:solidFill>
                      <a:srgbClr val="365E9E"/>
                    </a:solidFill>
                  </a:tcPr>
                </a:tc>
                <a:tc>
                  <a:txBody>
                    <a:bodyPr wrap="square"/>
                    <a:lstStyle/>
                    <a:p>
                      <a:pPr>
                        <a:lnSpc>
                          <a:spcPct val="105000"/>
                        </a:lnSpc>
                      </a:pPr>
                      <a:r>
                        <a:rPr sz="1450" b="1" i="0">
                          <a:solidFill>
                            <a:srgbClr val="FFFFFF"/>
                          </a:solidFill>
                          <a:latin typeface="Arial"/>
                        </a:rPr>
                        <a:t>Practical limit</a:t>
                      </a:r>
                    </a:p>
                  </a:txBody>
                  <a:tcPr marL="54864" marR="54864" marT="27432" marB="27432">
                    <a:solidFill>
                      <a:srgbClr val="365E9E"/>
                    </a:solidFill>
                  </a:tcPr>
                </a:tc>
              </a:tr>
              <a:tr h="640080">
                <a:tc>
                  <a:txBody>
                    <a:bodyPr wrap="square"/>
                    <a:lstStyle/>
                    <a:p>
                      <a:pPr>
                        <a:lnSpc>
                          <a:spcPct val="105000"/>
                        </a:lnSpc>
                      </a:pPr>
                      <a:r>
                        <a:rPr sz="1450" b="1" i="0">
                          <a:solidFill>
                            <a:srgbClr val="111111"/>
                          </a:solidFill>
                          <a:latin typeface="Arial"/>
                        </a:rPr>
                        <a:t>Saved-trace scoring</a:t>
                      </a:r>
                    </a:p>
                  </a:txBody>
                  <a:tcPr marL="54864" marR="54864" marT="27432" marB="27432">
                    <a:solidFill>
                      <a:srgbClr val="FFFFFF"/>
                    </a:solidFill>
                  </a:tcPr>
                </a:tc>
                <a:tc>
                  <a:txBody>
                    <a:bodyPr wrap="square"/>
                    <a:lstStyle/>
                    <a:p>
                      <a:pPr>
                        <a:lnSpc>
                          <a:spcPct val="105000"/>
                        </a:lnSpc>
                      </a:pPr>
                      <a:r>
                        <a:rPr sz="1450" b="0" i="0">
                          <a:solidFill>
                            <a:srgbClr val="111111"/>
                          </a:solidFill>
                          <a:latin typeface="Arial"/>
                        </a:rPr>
                        <a:t>Processing, storage and optional judge calls; no actor inference.</a:t>
                      </a:r>
                    </a:p>
                  </a:txBody>
                  <a:tcPr marL="54864" marR="54864" marT="27432" marB="27432">
                    <a:solidFill>
                      <a:srgbClr val="FFFFFF"/>
                    </a:solidFill>
                  </a:tcPr>
                </a:tc>
                <a:tc>
                  <a:txBody>
                    <a:bodyPr wrap="square"/>
                    <a:lstStyle/>
                    <a:p>
                      <a:pPr>
                        <a:lnSpc>
                          <a:spcPct val="105000"/>
                        </a:lnSpc>
                      </a:pPr>
                      <a:r>
                        <a:rPr sz="1450" b="0" i="0">
                          <a:solidFill>
                            <a:srgbClr val="111111"/>
                          </a:solidFill>
                          <a:latin typeface="Arial"/>
                        </a:rPr>
                        <a:t>Adequate context and defensible labels must exist.</a:t>
                      </a:r>
                    </a:p>
                  </a:txBody>
                  <a:tcPr marL="54864" marR="54864" marT="27432" marB="27432">
                    <a:solidFill>
                      <a:srgbClr val="FFFFFF"/>
                    </a:solidFill>
                  </a:tcPr>
                </a:tc>
              </a:tr>
              <a:tr h="640080">
                <a:tc>
                  <a:txBody>
                    <a:bodyPr wrap="square"/>
                    <a:lstStyle/>
                    <a:p>
                      <a:pPr>
                        <a:lnSpc>
                          <a:spcPct val="105000"/>
                        </a:lnSpc>
                      </a:pPr>
                      <a:r>
                        <a:rPr sz="1450" b="1" i="0">
                          <a:solidFill>
                            <a:srgbClr val="111111"/>
                          </a:solidFill>
                          <a:latin typeface="Arial"/>
                        </a:rPr>
                        <a:t>Agent continuation</a:t>
                      </a:r>
                    </a:p>
                  </a:txBody>
                  <a:tcPr marL="54864" marR="54864" marT="27432" marB="27432">
                    <a:solidFill>
                      <a:srgbClr val="F4F6FA"/>
                    </a:solidFill>
                  </a:tcPr>
                </a:tc>
                <a:tc>
                  <a:txBody>
                    <a:bodyPr wrap="square"/>
                    <a:lstStyle/>
                    <a:p>
                      <a:pPr>
                        <a:lnSpc>
                          <a:spcPct val="105000"/>
                        </a:lnSpc>
                      </a:pPr>
                      <a:r>
                        <a:rPr sz="1450" b="0" i="0">
                          <a:solidFill>
                            <a:srgbClr val="111111"/>
                          </a:solidFill>
                          <a:latin typeface="Arial"/>
                        </a:rPr>
                        <a:t>Long histories, reasoning tokens, monitors, retries and API rate limits.</a:t>
                      </a:r>
                    </a:p>
                  </a:txBody>
                  <a:tcPr marL="54864" marR="54864" marT="27432" marB="27432">
                    <a:solidFill>
                      <a:srgbClr val="F4F6FA"/>
                    </a:solidFill>
                  </a:tcPr>
                </a:tc>
                <a:tc>
                  <a:txBody>
                    <a:bodyPr wrap="square"/>
                    <a:lstStyle/>
                    <a:p>
                      <a:pPr>
                        <a:lnSpc>
                          <a:spcPct val="105000"/>
                        </a:lnSpc>
                      </a:pPr>
                      <a:r>
                        <a:rPr sz="1450" b="0" i="0">
                          <a:solidFill>
                            <a:srgbClr val="111111"/>
                          </a:solidFill>
                          <a:latin typeface="Arial"/>
                        </a:rPr>
                        <a:t>Meter tokens and wall time on a qualified fixture first.</a:t>
                      </a:r>
                    </a:p>
                  </a:txBody>
                  <a:tcPr marL="54864" marR="54864" marT="27432" marB="27432">
                    <a:solidFill>
                      <a:srgbClr val="F4F6FA"/>
                    </a:solidFill>
                  </a:tcPr>
                </a:tc>
              </a:tr>
              <a:tr h="640080">
                <a:tc>
                  <a:txBody>
                    <a:bodyPr wrap="square"/>
                    <a:lstStyle/>
                    <a:p>
                      <a:pPr>
                        <a:lnSpc>
                          <a:spcPct val="105000"/>
                        </a:lnSpc>
                      </a:pPr>
                      <a:r>
                        <a:rPr sz="1450" b="1" i="0">
                          <a:solidFill>
                            <a:srgbClr val="111111"/>
                          </a:solidFill>
                          <a:latin typeface="Arial"/>
                        </a:rPr>
                        <a:t>Open-weight replay</a:t>
                      </a:r>
                    </a:p>
                  </a:txBody>
                  <a:tcPr marL="54864" marR="54864" marT="27432" marB="27432">
                    <a:solidFill>
                      <a:srgbClr val="FFFFFF"/>
                    </a:solidFill>
                  </a:tcPr>
                </a:tc>
                <a:tc>
                  <a:txBody>
                    <a:bodyPr wrap="square"/>
                    <a:lstStyle/>
                    <a:p>
                      <a:pPr>
                        <a:lnSpc>
                          <a:spcPct val="105000"/>
                        </a:lnSpc>
                      </a:pPr>
                      <a:r>
                        <a:rPr sz="1450" b="0" i="0">
                          <a:solidFill>
                            <a:srgbClr val="111111"/>
                          </a:solidFill>
                          <a:latin typeface="Arial"/>
                        </a:rPr>
                        <a:t>GPU memory / throughput, context length, environment reset and storage.</a:t>
                      </a:r>
                    </a:p>
                  </a:txBody>
                  <a:tcPr marL="54864" marR="54864" marT="27432" marB="27432">
                    <a:solidFill>
                      <a:srgbClr val="FFFFFF"/>
                    </a:solidFill>
                  </a:tcPr>
                </a:tc>
                <a:tc>
                  <a:txBody>
                    <a:bodyPr wrap="square"/>
                    <a:lstStyle/>
                    <a:p>
                      <a:pPr>
                        <a:lnSpc>
                          <a:spcPct val="105000"/>
                        </a:lnSpc>
                      </a:pPr>
                      <a:r>
                        <a:rPr sz="1450" b="0" i="0">
                          <a:solidFill>
                            <a:srgbClr val="111111"/>
                          </a:solidFill>
                          <a:latin typeface="Arial"/>
                        </a:rPr>
                        <a:t>Measure the chosen checkpoint; a smaller replacement changes capability.</a:t>
                      </a:r>
                    </a:p>
                  </a:txBody>
                  <a:tcPr marL="54864" marR="54864" marT="27432" marB="27432">
                    <a:solidFill>
                      <a:srgbClr val="FFFFFF"/>
                    </a:solidFill>
                  </a:tcPr>
                </a:tc>
              </a:tr>
              <a:tr h="640080">
                <a:tc>
                  <a:txBody>
                    <a:bodyPr wrap="square"/>
                    <a:lstStyle/>
                    <a:p>
                      <a:pPr>
                        <a:lnSpc>
                          <a:spcPct val="105000"/>
                        </a:lnSpc>
                      </a:pPr>
                      <a:r>
                        <a:rPr sz="1450" b="1" i="0">
                          <a:solidFill>
                            <a:srgbClr val="111111"/>
                          </a:solidFill>
                          <a:latin typeface="Arial"/>
                        </a:rPr>
                        <a:t>Training-stage replication</a:t>
                      </a:r>
                    </a:p>
                  </a:txBody>
                  <a:tcPr marL="54864" marR="54864" marT="27432" marB="27432">
                    <a:solidFill>
                      <a:srgbClr val="F4F6FA"/>
                    </a:solidFill>
                  </a:tcPr>
                </a:tc>
                <a:tc>
                  <a:txBody>
                    <a:bodyPr wrap="square"/>
                    <a:lstStyle/>
                    <a:p>
                      <a:pPr>
                        <a:lnSpc>
                          <a:spcPct val="105000"/>
                        </a:lnSpc>
                      </a:pPr>
                      <a:r>
                        <a:rPr sz="1450" b="0" i="0">
                          <a:solidFill>
                            <a:srgbClr val="111111"/>
                          </a:solidFill>
                          <a:latin typeface="Arial"/>
                        </a:rPr>
                        <a:t>RL rollout generation, optimization and repeated training runs.</a:t>
                      </a:r>
                    </a:p>
                  </a:txBody>
                  <a:tcPr marL="54864" marR="54864" marT="27432" marB="27432">
                    <a:solidFill>
                      <a:srgbClr val="F4F6FA"/>
                    </a:solidFill>
                  </a:tcPr>
                </a:tc>
                <a:tc>
                  <a:txBody>
                    <a:bodyPr wrap="square"/>
                    <a:lstStyle/>
                    <a:p>
                      <a:pPr>
                        <a:lnSpc>
                          <a:spcPct val="105000"/>
                        </a:lnSpc>
                      </a:pPr>
                      <a:r>
                        <a:rPr sz="1450" b="0" i="0">
                          <a:solidFill>
                            <a:srgbClr val="111111"/>
                          </a:solidFill>
                          <a:latin typeface="Arial"/>
                        </a:rPr>
                        <a:t>Obtain weights, reward code and training setup before pricing GPU hours.</a:t>
                      </a:r>
                    </a:p>
                  </a:txBody>
                  <a:tcPr marL="54864" marR="54864" marT="27432" marB="27432">
                    <a:solidFill>
                      <a:srgbClr val="F4F6FA"/>
                    </a:solidFill>
                  </a:tcPr>
                </a:tc>
              </a:tr>
            </a:tbl>
          </a:graphicData>
        </a:graphic>
      </p:graphicFrame>
      <p:sp>
        <p:nvSpPr>
          <p:cNvPr id="10" name="TextBox 9"/>
          <p:cNvSpPr txBox="1"/>
          <p:nvPr/>
        </p:nvSpPr>
        <p:spPr>
          <a:xfrm>
            <a:off x="457200" y="4709160"/>
            <a:ext cx="11277295" cy="493776"/>
          </a:xfrm>
          <a:prstGeom prst="rect">
            <a:avLst/>
          </a:prstGeom>
          <a:noFill/>
        </p:spPr>
        <p:txBody>
          <a:bodyPr wrap="square" lIns="45720" rIns="45720" tIns="27432" bIns="27432" anchor="t">
            <a:spAutoFit/>
          </a:bodyPr>
          <a:lstStyle/>
          <a:p>
            <a:pPr algn="l">
              <a:lnSpc>
                <a:spcPct val="110000"/>
              </a:lnSpc>
            </a:pPr>
            <a:r>
              <a:rPr sz="1450" b="0" i="0">
                <a:solidFill>
                  <a:srgbClr val="666666"/>
                </a:solidFill>
                <a:latin typeface="Arial"/>
              </a:rPr>
              <a:t>Work scales with cases × variants × policies × repeats × rounds, plus rebuilding, label review and failed attempts.</a:t>
            </a:r>
          </a:p>
        </p:txBody>
      </p:sp>
      <p:sp>
        <p:nvSpPr>
          <p:cNvPr id="11" name="Rounded Rectangle 10"/>
          <p:cNvSpPr/>
          <p:nvPr/>
        </p:nvSpPr>
        <p:spPr>
          <a:xfrm>
            <a:off x="457200" y="5468112"/>
            <a:ext cx="11277295" cy="777240"/>
          </a:xfrm>
          <a:prstGeom prst="roundRect">
            <a:avLst>
              <a:gd name="adj" fmla="val 6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85800" y="5541264"/>
            <a:ext cx="10820095" cy="630936"/>
          </a:xfrm>
          <a:prstGeom prst="rect">
            <a:avLst/>
          </a:prstGeom>
          <a:noFill/>
        </p:spPr>
        <p:txBody>
          <a:bodyPr wrap="square" lIns="45720" rIns="45720" tIns="27432" bIns="27432" anchor="ctr">
            <a:spAutoFit/>
          </a:bodyPr>
          <a:lstStyle/>
          <a:p>
            <a:pPr algn="l">
              <a:lnSpc>
                <a:spcPct val="115000"/>
              </a:lnSpc>
            </a:pPr>
            <a:r>
              <a:rPr sz="1500" b="0" i="0">
                <a:solidFill>
                  <a:srgbClr val="111111"/>
                </a:solidFill>
                <a:latin typeface="Arial"/>
              </a:rPr>
              <a:t>Rare-event example: at p = 0.1%, 2,995 independent trials give a 95% chance of seeing at least one event. Comparing policies requires a separate power analysis.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82296" cy="566928"/>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301752"/>
            <a:ext cx="10515600" cy="548640"/>
          </a:xfrm>
          <a:prstGeom prst="rect">
            <a:avLst/>
          </a:prstGeom>
          <a:noFill/>
        </p:spPr>
        <p:txBody>
          <a:bodyPr wrap="square" lIns="45720" rIns="45720" tIns="27432" bIns="27432" anchor="ctr">
            <a:spAutoFit/>
          </a:bodyPr>
          <a:lstStyle/>
          <a:p>
            <a:pPr algn="l">
              <a:lnSpc>
                <a:spcPct val="110000"/>
              </a:lnSpc>
            </a:pPr>
            <a:r>
              <a:rPr sz="2300" b="1" i="0">
                <a:solidFill>
                  <a:srgbClr val="111111"/>
                </a:solidFill>
                <a:latin typeface="Arial"/>
              </a:rPr>
              <a:t>When full replay is blocked, test the key mechanism</a:t>
            </a:r>
          </a:p>
        </p:txBody>
      </p:sp>
      <p:sp>
        <p:nvSpPr>
          <p:cNvPr id="4" name="TextBox 3"/>
          <p:cNvSpPr txBox="1"/>
          <p:nvPr/>
        </p:nvSpPr>
        <p:spPr>
          <a:xfrm>
            <a:off x="640080" y="868680"/>
            <a:ext cx="10972800" cy="365760"/>
          </a:xfrm>
          <a:prstGeom prst="rect">
            <a:avLst/>
          </a:prstGeom>
          <a:noFill/>
        </p:spPr>
        <p:txBody>
          <a:bodyPr wrap="square" lIns="45720" rIns="45720" tIns="27432" bIns="27432" anchor="t">
            <a:spAutoFit/>
          </a:bodyPr>
          <a:lstStyle/>
          <a:p>
            <a:pPr algn="l">
              <a:lnSpc>
                <a:spcPct val="110000"/>
              </a:lnSpc>
            </a:pPr>
            <a:r>
              <a:rPr sz="1300" b="0" i="0">
                <a:solidFill>
                  <a:srgbClr val="666666"/>
                </a:solidFill>
                <a:latin typeface="Arial"/>
              </a:rPr>
              <a:t>Example: reconstruct a test-harness bypass in a controlled coding environment</a:t>
            </a:r>
          </a:p>
        </p:txBody>
      </p:sp>
      <p:sp>
        <p:nvSpPr>
          <p:cNvPr id="5" name="TextBox 4"/>
          <p:cNvSpPr txBox="1"/>
          <p:nvPr/>
        </p:nvSpPr>
        <p:spPr>
          <a:xfrm>
            <a:off x="8503920" y="109728"/>
            <a:ext cx="3200400" cy="274320"/>
          </a:xfrm>
          <a:prstGeom prst="rect">
            <a:avLst/>
          </a:prstGeom>
          <a:noFill/>
        </p:spPr>
        <p:txBody>
          <a:bodyPr wrap="square" lIns="45720" rIns="45720" tIns="27432" bIns="27432" anchor="t">
            <a:spAutoFit/>
          </a:bodyPr>
          <a:lstStyle/>
          <a:p>
            <a:pPr algn="r">
              <a:lnSpc>
                <a:spcPct val="110000"/>
              </a:lnSpc>
            </a:pPr>
            <a:r>
              <a:rPr sz="900" b="1" i="0">
                <a:solidFill>
                  <a:srgbClr val="365E9E"/>
                </a:solidFill>
                <a:latin typeface="Arial"/>
              </a:rPr>
              <a:t>7 · REPLAY FEASIBILITY</a:t>
            </a:r>
          </a:p>
        </p:txBody>
      </p:sp>
      <p:cxnSp>
        <p:nvCxnSpPr>
          <p:cNvPr id="6" name="Connector 5"/>
          <p:cNvCxnSpPr/>
          <p:nvPr/>
        </p:nvCxnSpPr>
        <p:spPr>
          <a:xfrm>
            <a:off x="457200" y="6446520"/>
            <a:ext cx="11277295" cy="0"/>
          </a:xfrm>
          <a:prstGeom prst="line">
            <a:avLst/>
          </a:prstGeom>
          <a:ln w="6350">
            <a:solidFill>
              <a:srgbClr val="C9C9C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57200" y="6473952"/>
            <a:ext cx="10058400" cy="274320"/>
          </a:xfrm>
          <a:prstGeom prst="rect">
            <a:avLst/>
          </a:prstGeom>
          <a:noFill/>
        </p:spPr>
        <p:txBody>
          <a:bodyPr wrap="square" lIns="45720" rIns="45720" tIns="27432" bIns="27432" anchor="t">
            <a:spAutoFit/>
          </a:bodyPr>
          <a:lstStyle/>
          <a:p>
            <a:pPr algn="l">
              <a:lnSpc>
                <a:spcPct val="110000"/>
              </a:lnSpc>
            </a:pPr>
            <a:r>
              <a:rPr sz="800" b="0" i="0">
                <a:solidFill>
                  <a:srgbClr val="666666"/>
                </a:solidFill>
                <a:latin typeface="Arial"/>
              </a:rPr>
              <a:t>Incident-aware optimization · design proposal · containment-extension · October 2026 · no benchmark improvement measured</a:t>
            </a:r>
          </a:p>
        </p:txBody>
      </p:sp>
      <p:sp>
        <p:nvSpPr>
          <p:cNvPr id="8" name="TextBox 7"/>
          <p:cNvSpPr txBox="1"/>
          <p:nvPr/>
        </p:nvSpPr>
        <p:spPr>
          <a:xfrm>
            <a:off x="10820095" y="6473952"/>
            <a:ext cx="914400" cy="274320"/>
          </a:xfrm>
          <a:prstGeom prst="rect">
            <a:avLst/>
          </a:prstGeom>
          <a:noFill/>
        </p:spPr>
        <p:txBody>
          <a:bodyPr wrap="square" lIns="45720" rIns="45720" tIns="27432" bIns="27432" anchor="t">
            <a:spAutoFit/>
          </a:bodyPr>
          <a:lstStyle/>
          <a:p>
            <a:pPr algn="r">
              <a:lnSpc>
                <a:spcPct val="110000"/>
              </a:lnSpc>
            </a:pPr>
            <a:r>
              <a:rPr sz="900" b="0" i="0">
                <a:solidFill>
                  <a:srgbClr val="666666"/>
                </a:solidFill>
                <a:latin typeface="Arial"/>
              </a:rPr>
              <a:t>31</a:t>
            </a:r>
          </a:p>
        </p:txBody>
      </p:sp>
      <p:sp>
        <p:nvSpPr>
          <p:cNvPr id="9" name="Rounded Rectangle 8"/>
          <p:cNvSpPr/>
          <p:nvPr/>
        </p:nvSpPr>
        <p:spPr>
          <a:xfrm>
            <a:off x="457200" y="1325880"/>
            <a:ext cx="3657600" cy="3429000"/>
          </a:xfrm>
          <a:prstGeom prst="roundRect">
            <a:avLst>
              <a:gd name="adj" fmla="val 6000"/>
            </a:avLst>
          </a:prstGeom>
          <a:solidFill>
            <a:srgbClr val="EDF4FB"/>
          </a:solidFill>
          <a:ln w="12700">
            <a:solidFill>
              <a:srgbClr val="365E9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1399032"/>
            <a:ext cx="3456432" cy="365760"/>
          </a:xfrm>
          <a:prstGeom prst="rect">
            <a:avLst/>
          </a:prstGeom>
          <a:noFill/>
        </p:spPr>
        <p:txBody>
          <a:bodyPr wrap="square" lIns="45720" rIns="45720" tIns="27432" bIns="27432" anchor="t">
            <a:spAutoFit/>
          </a:bodyPr>
          <a:lstStyle/>
          <a:p>
            <a:pPr algn="l">
              <a:lnSpc>
                <a:spcPct val="110000"/>
              </a:lnSpc>
            </a:pPr>
            <a:r>
              <a:rPr sz="1600" b="1" i="0">
                <a:solidFill>
                  <a:srgbClr val="365E9E"/>
                </a:solidFill>
                <a:latin typeface="Arial"/>
              </a:rPr>
              <a:t>Preserve the causal ingredients</a:t>
            </a:r>
          </a:p>
        </p:txBody>
      </p:sp>
      <p:sp>
        <p:nvSpPr>
          <p:cNvPr id="11" name="TextBox 10"/>
          <p:cNvSpPr txBox="1"/>
          <p:nvPr/>
        </p:nvSpPr>
        <p:spPr>
          <a:xfrm>
            <a:off x="530352" y="1764792"/>
            <a:ext cx="3511296" cy="2926080"/>
          </a:xfrm>
          <a:prstGeom prst="rect">
            <a:avLst/>
          </a:prstGeom>
          <a:noFill/>
        </p:spPr>
        <p:txBody>
          <a:bodyPr wrap="square" lIns="45720" rIns="45720">
            <a:spAutoFit/>
          </a:bodyPr>
          <a:lstStyle/>
          <a:p>
            <a:pPr>
              <a:lnSpc>
                <a:spcPct val="108000"/>
              </a:lnSpc>
              <a:spcAft>
                <a:spcPts val="200"/>
              </a:spcAft>
            </a:pPr>
            <a:r>
              <a:rPr sz="1500" b="0" i="0">
                <a:solidFill>
                  <a:srgbClr val="111111"/>
                </a:solidFill>
                <a:latin typeface="Arial"/>
              </a:rPr>
              <a:t>•  A legitimate coding task and an incentive to pass its tests</a:t>
            </a:r>
          </a:p>
          <a:p>
            <a:pPr>
              <a:lnSpc>
                <a:spcPct val="108000"/>
              </a:lnSpc>
              <a:spcAft>
                <a:spcPts val="200"/>
              </a:spcAft>
            </a:pPr>
            <a:r>
              <a:rPr sz="1500" b="0" i="0">
                <a:solidFill>
                  <a:srgbClr val="111111"/>
                </a:solidFill>
                <a:latin typeface="Arial"/>
              </a:rPr>
              <a:t>•  A specific opportunity to tamper with testing or exploit weak checks</a:t>
            </a:r>
          </a:p>
          <a:p>
            <a:pPr>
              <a:lnSpc>
                <a:spcPct val="108000"/>
              </a:lnSpc>
              <a:spcAft>
                <a:spcPts val="200"/>
              </a:spcAft>
            </a:pPr>
            <a:r>
              <a:rPr sz="1500" b="0" i="0">
                <a:solidFill>
                  <a:srgbClr val="111111"/>
                </a:solidFill>
                <a:latin typeface="Arial"/>
              </a:rPr>
              <a:t>•  An independent observer of what actually ran and changed</a:t>
            </a:r>
          </a:p>
        </p:txBody>
      </p:sp>
      <p:sp>
        <p:nvSpPr>
          <p:cNvPr id="12" name="Rounded Rectangle 11"/>
          <p:cNvSpPr/>
          <p:nvPr/>
        </p:nvSpPr>
        <p:spPr>
          <a:xfrm>
            <a:off x="4270248" y="1325880"/>
            <a:ext cx="3657600" cy="3429000"/>
          </a:xfrm>
          <a:prstGeom prst="roundRect">
            <a:avLst>
              <a:gd name="adj" fmla="val 6000"/>
            </a:avLst>
          </a:prstGeom>
          <a:solidFill>
            <a:srgbClr val="FDF3E7"/>
          </a:solidFill>
          <a:ln w="12700">
            <a:solidFill>
              <a:srgbClr val="B873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379976" y="1399032"/>
            <a:ext cx="3456432" cy="365760"/>
          </a:xfrm>
          <a:prstGeom prst="rect">
            <a:avLst/>
          </a:prstGeom>
          <a:noFill/>
        </p:spPr>
        <p:txBody>
          <a:bodyPr wrap="square" lIns="45720" rIns="45720" tIns="27432" bIns="27432" anchor="t">
            <a:spAutoFit/>
          </a:bodyPr>
          <a:lstStyle/>
          <a:p>
            <a:pPr algn="l">
              <a:lnSpc>
                <a:spcPct val="110000"/>
              </a:lnSpc>
            </a:pPr>
            <a:r>
              <a:rPr sz="1600" b="1" i="0">
                <a:solidFill>
                  <a:srgbClr val="B8732A"/>
                </a:solidFill>
                <a:latin typeface="Arial"/>
              </a:rPr>
              <a:t>Declare what was simplified</a:t>
            </a:r>
          </a:p>
        </p:txBody>
      </p:sp>
      <p:sp>
        <p:nvSpPr>
          <p:cNvPr id="14" name="TextBox 13"/>
          <p:cNvSpPr txBox="1"/>
          <p:nvPr/>
        </p:nvSpPr>
        <p:spPr>
          <a:xfrm>
            <a:off x="4343400" y="1764792"/>
            <a:ext cx="3511296" cy="2926080"/>
          </a:xfrm>
          <a:prstGeom prst="rect">
            <a:avLst/>
          </a:prstGeom>
          <a:noFill/>
        </p:spPr>
        <p:txBody>
          <a:bodyPr wrap="square" lIns="45720" rIns="45720">
            <a:spAutoFit/>
          </a:bodyPr>
          <a:lstStyle/>
          <a:p>
            <a:pPr>
              <a:lnSpc>
                <a:spcPct val="108000"/>
              </a:lnSpc>
              <a:spcAft>
                <a:spcPts val="200"/>
              </a:spcAft>
            </a:pPr>
            <a:r>
              <a:rPr sz="1500" b="0" i="0">
                <a:solidFill>
                  <a:srgbClr val="111111"/>
                </a:solidFill>
                <a:latin typeface="Arial"/>
              </a:rPr>
              <a:t>•  Use a small repository, local tools and an accessible model</a:t>
            </a:r>
          </a:p>
          <a:p>
            <a:pPr>
              <a:lnSpc>
                <a:spcPct val="108000"/>
              </a:lnSpc>
              <a:spcAft>
                <a:spcPts val="200"/>
              </a:spcAft>
            </a:pPr>
            <a:r>
              <a:rPr sz="1500" b="0" i="0">
                <a:solidFill>
                  <a:srgbClr val="111111"/>
                </a:solidFill>
                <a:latin typeface="Arial"/>
              </a:rPr>
              <a:t>•  Record differences in prompts, permissions, grader and checkpoint</a:t>
            </a:r>
          </a:p>
          <a:p>
            <a:pPr>
              <a:lnSpc>
                <a:spcPct val="108000"/>
              </a:lnSpc>
              <a:spcAft>
                <a:spcPts val="200"/>
              </a:spcAft>
            </a:pPr>
            <a:r>
              <a:rPr sz="1500" b="0" i="0">
                <a:solidFill>
                  <a:srgbClr val="111111"/>
                </a:solidFill>
                <a:latin typeface="Arial"/>
              </a:rPr>
              <a:t>•  Mark actions as model-generated, attack-instructed or scripted</a:t>
            </a:r>
          </a:p>
        </p:txBody>
      </p:sp>
      <p:sp>
        <p:nvSpPr>
          <p:cNvPr id="15" name="Rounded Rectangle 14"/>
          <p:cNvSpPr/>
          <p:nvPr/>
        </p:nvSpPr>
        <p:spPr>
          <a:xfrm>
            <a:off x="8074152" y="1325880"/>
            <a:ext cx="3657600" cy="3429000"/>
          </a:xfrm>
          <a:prstGeom prst="roundRect">
            <a:avLst>
              <a:gd name="adj" fmla="val 6000"/>
            </a:avLst>
          </a:prstGeom>
          <a:solidFill>
            <a:srgbClr val="EAF5EF"/>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183880" y="1399032"/>
            <a:ext cx="3456432" cy="365760"/>
          </a:xfrm>
          <a:prstGeom prst="rect">
            <a:avLst/>
          </a:prstGeom>
          <a:noFill/>
        </p:spPr>
        <p:txBody>
          <a:bodyPr wrap="square" lIns="45720" rIns="45720" tIns="27432" bIns="27432" anchor="t">
            <a:spAutoFit/>
          </a:bodyPr>
          <a:lstStyle/>
          <a:p>
            <a:pPr algn="l">
              <a:lnSpc>
                <a:spcPct val="110000"/>
              </a:lnSpc>
            </a:pPr>
            <a:r>
              <a:rPr sz="1600" b="1" i="0">
                <a:solidFill>
                  <a:srgbClr val="2E7D5B"/>
                </a:solidFill>
                <a:latin typeface="Arial"/>
              </a:rPr>
              <a:t>Test the proposed explanation</a:t>
            </a:r>
          </a:p>
        </p:txBody>
      </p:sp>
      <p:sp>
        <p:nvSpPr>
          <p:cNvPr id="17" name="TextBox 16"/>
          <p:cNvSpPr txBox="1"/>
          <p:nvPr/>
        </p:nvSpPr>
        <p:spPr>
          <a:xfrm>
            <a:off x="8147304" y="1764792"/>
            <a:ext cx="3511296" cy="2926080"/>
          </a:xfrm>
          <a:prstGeom prst="rect">
            <a:avLst/>
          </a:prstGeom>
          <a:noFill/>
        </p:spPr>
        <p:txBody>
          <a:bodyPr wrap="square" lIns="45720" rIns="45720">
            <a:spAutoFit/>
          </a:bodyPr>
          <a:lstStyle/>
          <a:p>
            <a:pPr>
              <a:lnSpc>
                <a:spcPct val="108000"/>
              </a:lnSpc>
              <a:spcAft>
                <a:spcPts val="200"/>
              </a:spcAft>
            </a:pPr>
            <a:r>
              <a:rPr sz="1500" b="0" i="0">
                <a:solidFill>
                  <a:srgbClr val="111111"/>
                </a:solidFill>
                <a:latin typeface="Arial"/>
              </a:rPr>
              <a:t>•  Observe the failure and an honest benign-twin solution</a:t>
            </a:r>
          </a:p>
          <a:p>
            <a:pPr>
              <a:lnSpc>
                <a:spcPct val="108000"/>
              </a:lnSpc>
              <a:spcAft>
                <a:spcPts val="200"/>
              </a:spcAft>
            </a:pPr>
            <a:r>
              <a:rPr sz="1500" b="0" i="0">
                <a:solidFill>
                  <a:srgbClr val="111111"/>
                </a:solidFill>
                <a:latin typeface="Arial"/>
              </a:rPr>
              <a:t>•  Remove the suspected opportunity and repeat; inspect alternative causes</a:t>
            </a:r>
          </a:p>
          <a:p>
            <a:pPr>
              <a:lnSpc>
                <a:spcPct val="108000"/>
              </a:lnSpc>
              <a:spcAft>
                <a:spcPts val="200"/>
              </a:spcAft>
            </a:pPr>
            <a:r>
              <a:rPr sz="1500" b="0" i="0">
                <a:solidFill>
                  <a:srgbClr val="111111"/>
                </a:solidFill>
                <a:latin typeface="Arial"/>
              </a:rPr>
              <a:t>•  Test guard effectiveness and retained task utility separately</a:t>
            </a:r>
          </a:p>
        </p:txBody>
      </p:sp>
      <p:sp>
        <p:nvSpPr>
          <p:cNvPr id="18" name="Rounded Rectangle 17"/>
          <p:cNvSpPr/>
          <p:nvPr/>
        </p:nvSpPr>
        <p:spPr>
          <a:xfrm>
            <a:off x="457200" y="5038344"/>
            <a:ext cx="11277295" cy="1005840"/>
          </a:xfrm>
          <a:prstGeom prst="roundRect">
            <a:avLst>
              <a:gd name="adj" fmla="val 6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85800" y="5111496"/>
            <a:ext cx="10820095" cy="859536"/>
          </a:xfrm>
          <a:prstGeom prst="rect">
            <a:avLst/>
          </a:prstGeom>
          <a:noFill/>
        </p:spPr>
        <p:txBody>
          <a:bodyPr wrap="square" lIns="45720" rIns="45720" tIns="27432" bIns="27432" anchor="ctr">
            <a:spAutoFit/>
          </a:bodyPr>
          <a:lstStyle/>
          <a:p>
            <a:pPr algn="l">
              <a:lnSpc>
                <a:spcPct val="115000"/>
              </a:lnSpc>
            </a:pPr>
            <a:r>
              <a:rPr sz="1600" b="0" i="0">
                <a:solidFill>
                  <a:srgbClr val="111111"/>
                </a:solidFill>
                <a:latin typeface="Arial"/>
              </a:rPr>
              <a:t>Supported claim: this controlled setup reproduces specified mechanisms and behavior patterns. It does not recover the original incident rate, private model behavior or training cause.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82296" cy="566928"/>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301752"/>
            <a:ext cx="10515600" cy="548640"/>
          </a:xfrm>
          <a:prstGeom prst="rect">
            <a:avLst/>
          </a:prstGeom>
          <a:noFill/>
        </p:spPr>
        <p:txBody>
          <a:bodyPr wrap="square" lIns="45720" rIns="45720" tIns="27432" bIns="27432" anchor="ctr">
            <a:spAutoFit/>
          </a:bodyPr>
          <a:lstStyle/>
          <a:p>
            <a:pPr algn="l">
              <a:lnSpc>
                <a:spcPct val="110000"/>
              </a:lnSpc>
            </a:pPr>
            <a:r>
              <a:rPr sz="2600" b="1" i="0">
                <a:solidFill>
                  <a:srgbClr val="111111"/>
                </a:solidFill>
                <a:latin typeface="Arial"/>
              </a:rPr>
              <a:t>Choose the replay scope case by case</a:t>
            </a:r>
          </a:p>
        </p:txBody>
      </p:sp>
      <p:sp>
        <p:nvSpPr>
          <p:cNvPr id="4" name="TextBox 3"/>
          <p:cNvSpPr txBox="1"/>
          <p:nvPr/>
        </p:nvSpPr>
        <p:spPr>
          <a:xfrm>
            <a:off x="640080" y="868680"/>
            <a:ext cx="10972800" cy="365760"/>
          </a:xfrm>
          <a:prstGeom prst="rect">
            <a:avLst/>
          </a:prstGeom>
          <a:noFill/>
        </p:spPr>
        <p:txBody>
          <a:bodyPr wrap="square" lIns="45720" rIns="45720" tIns="27432" bIns="27432" anchor="t">
            <a:spAutoFit/>
          </a:bodyPr>
          <a:lstStyle/>
          <a:p>
            <a:pPr algn="l">
              <a:lnSpc>
                <a:spcPct val="110000"/>
              </a:lnSpc>
            </a:pPr>
            <a:r>
              <a:rPr sz="1300" b="0" i="0">
                <a:solidFill>
                  <a:srgbClr val="666666"/>
                </a:solidFill>
                <a:latin typeface="Arial"/>
              </a:rPr>
              <a:t>Audit access and fidelity first; compare the scientific value with measured effort before scaling</a:t>
            </a:r>
          </a:p>
        </p:txBody>
      </p:sp>
      <p:sp>
        <p:nvSpPr>
          <p:cNvPr id="5" name="TextBox 4"/>
          <p:cNvSpPr txBox="1"/>
          <p:nvPr/>
        </p:nvSpPr>
        <p:spPr>
          <a:xfrm>
            <a:off x="8503920" y="109728"/>
            <a:ext cx="3200400" cy="274320"/>
          </a:xfrm>
          <a:prstGeom prst="rect">
            <a:avLst/>
          </a:prstGeom>
          <a:noFill/>
        </p:spPr>
        <p:txBody>
          <a:bodyPr wrap="square" lIns="45720" rIns="45720" tIns="27432" bIns="27432" anchor="t">
            <a:spAutoFit/>
          </a:bodyPr>
          <a:lstStyle/>
          <a:p>
            <a:pPr algn="r">
              <a:lnSpc>
                <a:spcPct val="110000"/>
              </a:lnSpc>
            </a:pPr>
            <a:r>
              <a:rPr sz="900" b="1" i="0">
                <a:solidFill>
                  <a:srgbClr val="365E9E"/>
                </a:solidFill>
                <a:latin typeface="Arial"/>
              </a:rPr>
              <a:t>7 · REPLAY FEASIBILITY</a:t>
            </a:r>
          </a:p>
        </p:txBody>
      </p:sp>
      <p:cxnSp>
        <p:nvCxnSpPr>
          <p:cNvPr id="6" name="Connector 5"/>
          <p:cNvCxnSpPr/>
          <p:nvPr/>
        </p:nvCxnSpPr>
        <p:spPr>
          <a:xfrm>
            <a:off x="457200" y="6446520"/>
            <a:ext cx="11277295" cy="0"/>
          </a:xfrm>
          <a:prstGeom prst="line">
            <a:avLst/>
          </a:prstGeom>
          <a:ln w="6350">
            <a:solidFill>
              <a:srgbClr val="C9C9C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57200" y="6473952"/>
            <a:ext cx="10058400" cy="274320"/>
          </a:xfrm>
          <a:prstGeom prst="rect">
            <a:avLst/>
          </a:prstGeom>
          <a:noFill/>
        </p:spPr>
        <p:txBody>
          <a:bodyPr wrap="square" lIns="45720" rIns="45720" tIns="27432" bIns="27432" anchor="t">
            <a:spAutoFit/>
          </a:bodyPr>
          <a:lstStyle/>
          <a:p>
            <a:pPr algn="l">
              <a:lnSpc>
                <a:spcPct val="110000"/>
              </a:lnSpc>
            </a:pPr>
            <a:r>
              <a:rPr sz="800" b="0" i="0">
                <a:solidFill>
                  <a:srgbClr val="666666"/>
                </a:solidFill>
                <a:latin typeface="Arial"/>
              </a:rPr>
              <a:t>Incident-aware optimization · design proposal · containment-extension · October 2026 · no benchmark improvement measured</a:t>
            </a:r>
          </a:p>
        </p:txBody>
      </p:sp>
      <p:sp>
        <p:nvSpPr>
          <p:cNvPr id="8" name="TextBox 7"/>
          <p:cNvSpPr txBox="1"/>
          <p:nvPr/>
        </p:nvSpPr>
        <p:spPr>
          <a:xfrm>
            <a:off x="10820095" y="6473952"/>
            <a:ext cx="914400" cy="274320"/>
          </a:xfrm>
          <a:prstGeom prst="rect">
            <a:avLst/>
          </a:prstGeom>
          <a:noFill/>
        </p:spPr>
        <p:txBody>
          <a:bodyPr wrap="square" lIns="45720" rIns="45720" tIns="27432" bIns="27432" anchor="t">
            <a:spAutoFit/>
          </a:bodyPr>
          <a:lstStyle/>
          <a:p>
            <a:pPr algn="r">
              <a:lnSpc>
                <a:spcPct val="110000"/>
              </a:lnSpc>
            </a:pPr>
            <a:r>
              <a:rPr sz="900" b="0" i="0">
                <a:solidFill>
                  <a:srgbClr val="666666"/>
                </a:solidFill>
                <a:latin typeface="Arial"/>
              </a:rPr>
              <a:t>32</a:t>
            </a:r>
          </a:p>
        </p:txBody>
      </p:sp>
      <p:graphicFrame>
        <p:nvGraphicFramePr>
          <p:cNvPr id="9" name="Table 8"/>
          <p:cNvGraphicFramePr>
            <a:graphicFrameLocks noGrp="1"/>
          </p:cNvGraphicFramePr>
          <p:nvPr/>
        </p:nvGraphicFramePr>
        <p:xfrm>
          <a:off x="457200" y="1325880"/>
          <a:ext cx="11277293" cy="3913632"/>
        </p:xfrm>
        <a:graphic>
          <a:graphicData uri="http://schemas.openxmlformats.org/drawingml/2006/table">
            <a:tbl>
              <a:tblPr firstRow="1" bandRow="1">
                <a:tableStyleId>{5C22544A-7EE6-4342-B048-85BDC9FD1C3A}</a:tableStyleId>
              </a:tblPr>
              <a:tblGrid>
                <a:gridCol w="3658489"/>
                <a:gridCol w="3201178"/>
                <a:gridCol w="4417626"/>
              </a:tblGrid>
              <a:tr h="782726">
                <a:tc>
                  <a:txBody>
                    <a:bodyPr wrap="square"/>
                    <a:lstStyle/>
                    <a:p>
                      <a:pPr>
                        <a:lnSpc>
                          <a:spcPct val="105000"/>
                        </a:lnSpc>
                      </a:pPr>
                      <a:r>
                        <a:rPr sz="1450" b="1" i="0">
                          <a:solidFill>
                            <a:srgbClr val="FFFFFF"/>
                          </a:solidFill>
                          <a:latin typeface="Arial"/>
                        </a:rPr>
                        <a:t>Condition</a:t>
                      </a:r>
                    </a:p>
                  </a:txBody>
                  <a:tcPr marL="54864" marR="54864" marT="27432" marB="27432">
                    <a:solidFill>
                      <a:srgbClr val="365E9E"/>
                    </a:solidFill>
                  </a:tcPr>
                </a:tc>
                <a:tc>
                  <a:txBody>
                    <a:bodyPr wrap="square"/>
                    <a:lstStyle/>
                    <a:p>
                      <a:pPr>
                        <a:lnSpc>
                          <a:spcPct val="105000"/>
                        </a:lnSpc>
                      </a:pPr>
                      <a:r>
                        <a:rPr sz="1450" b="1" i="0">
                          <a:solidFill>
                            <a:srgbClr val="FFFFFF"/>
                          </a:solidFill>
                          <a:latin typeface="Arial"/>
                        </a:rPr>
                        <a:t>Route</a:t>
                      </a:r>
                    </a:p>
                  </a:txBody>
                  <a:tcPr marL="54864" marR="54864" marT="27432" marB="27432">
                    <a:solidFill>
                      <a:srgbClr val="365E9E"/>
                    </a:solidFill>
                  </a:tcPr>
                </a:tc>
                <a:tc>
                  <a:txBody>
                    <a:bodyPr wrap="square"/>
                    <a:lstStyle/>
                    <a:p>
                      <a:pPr>
                        <a:lnSpc>
                          <a:spcPct val="105000"/>
                        </a:lnSpc>
                      </a:pPr>
                      <a:r>
                        <a:rPr sz="1450" b="1" i="0">
                          <a:solidFill>
                            <a:srgbClr val="FFFFFF"/>
                          </a:solidFill>
                          <a:latin typeface="Arial"/>
                        </a:rPr>
                        <a:t>What may enter the library</a:t>
                      </a:r>
                    </a:p>
                  </a:txBody>
                  <a:tcPr marL="54864" marR="54864" marT="27432" marB="27432">
                    <a:solidFill>
                      <a:srgbClr val="365E9E"/>
                    </a:solidFill>
                  </a:tcPr>
                </a:tc>
              </a:tr>
              <a:tr h="782726">
                <a:tc>
                  <a:txBody>
                    <a:bodyPr wrap="square"/>
                    <a:lstStyle/>
                    <a:p>
                      <a:pPr>
                        <a:lnSpc>
                          <a:spcPct val="105000"/>
                        </a:lnSpc>
                      </a:pPr>
                      <a:r>
                        <a:rPr sz="1450" b="1" i="0">
                          <a:solidFill>
                            <a:srgbClr val="111111"/>
                          </a:solidFill>
                          <a:latin typeface="Arial"/>
                        </a:rPr>
                        <a:t>Critical artifacts available; cost justified</a:t>
                      </a:r>
                    </a:p>
                  </a:txBody>
                  <a:tcPr marL="54864" marR="54864" marT="27432" marB="27432">
                    <a:solidFill>
                      <a:srgbClr val="FFFFFF"/>
                    </a:solidFill>
                  </a:tcPr>
                </a:tc>
                <a:tc>
                  <a:txBody>
                    <a:bodyPr wrap="square"/>
                    <a:lstStyle/>
                    <a:p>
                      <a:pPr>
                        <a:lnSpc>
                          <a:spcPct val="105000"/>
                        </a:lnSpc>
                      </a:pPr>
                      <a:r>
                        <a:rPr sz="1450" b="0" i="0">
                          <a:solidFill>
                            <a:srgbClr val="111111"/>
                          </a:solidFill>
                          <a:latin typeface="Arial"/>
                        </a:rPr>
                        <a:t>Attempt matched agent replay</a:t>
                      </a:r>
                    </a:p>
                  </a:txBody>
                  <a:tcPr marL="54864" marR="54864" marT="27432" marB="27432">
                    <a:solidFill>
                      <a:srgbClr val="FFFFFF"/>
                    </a:solidFill>
                  </a:tcPr>
                </a:tc>
                <a:tc>
                  <a:txBody>
                    <a:bodyPr wrap="square"/>
                    <a:lstStyle/>
                    <a:p>
                      <a:pPr>
                        <a:lnSpc>
                          <a:spcPct val="105000"/>
                        </a:lnSpc>
                      </a:pPr>
                      <a:r>
                        <a:rPr sz="1450" b="0" i="0">
                          <a:solidFill>
                            <a:srgbClr val="111111"/>
                          </a:solidFill>
                          <a:latin typeface="Arial"/>
                        </a:rPr>
                        <a:t>Qualified executions with pinned conditions, controls and uncertainty.</a:t>
                      </a:r>
                    </a:p>
                  </a:txBody>
                  <a:tcPr marL="54864" marR="54864" marT="27432" marB="27432">
                    <a:solidFill>
                      <a:srgbClr val="FFFFFF"/>
                    </a:solidFill>
                  </a:tcPr>
                </a:tc>
              </a:tr>
              <a:tr h="782726">
                <a:tc>
                  <a:txBody>
                    <a:bodyPr wrap="square"/>
                    <a:lstStyle/>
                    <a:p>
                      <a:pPr>
                        <a:lnSpc>
                          <a:spcPct val="105000"/>
                        </a:lnSpc>
                      </a:pPr>
                      <a:r>
                        <a:rPr sz="1450" b="1" i="0">
                          <a:solidFill>
                            <a:srgbClr val="111111"/>
                          </a:solidFill>
                          <a:latin typeface="Arial"/>
                        </a:rPr>
                        <a:t>Full setup blocked or too expensive; mechanism isolatable</a:t>
                      </a:r>
                    </a:p>
                  </a:txBody>
                  <a:tcPr marL="54864" marR="54864" marT="27432" marB="27432">
                    <a:solidFill>
                      <a:srgbClr val="F4F6FA"/>
                    </a:solidFill>
                  </a:tcPr>
                </a:tc>
                <a:tc>
                  <a:txBody>
                    <a:bodyPr wrap="square"/>
                    <a:lstStyle/>
                    <a:p>
                      <a:pPr>
                        <a:lnSpc>
                          <a:spcPct val="105000"/>
                        </a:lnSpc>
                      </a:pPr>
                      <a:r>
                        <a:rPr sz="1450" b="0" i="0">
                          <a:solidFill>
                            <a:srgbClr val="111111"/>
                          </a:solidFill>
                          <a:latin typeface="Arial"/>
                        </a:rPr>
                        <a:t>Controlled mechanism / behavior study</a:t>
                      </a:r>
                    </a:p>
                  </a:txBody>
                  <a:tcPr marL="54864" marR="54864" marT="27432" marB="27432">
                    <a:solidFill>
                      <a:srgbClr val="F4F6FA"/>
                    </a:solidFill>
                  </a:tcPr>
                </a:tc>
                <a:tc>
                  <a:txBody>
                    <a:bodyPr wrap="square"/>
                    <a:lstStyle/>
                    <a:p>
                      <a:pPr>
                        <a:lnSpc>
                          <a:spcPct val="105000"/>
                        </a:lnSpc>
                      </a:pPr>
                      <a:r>
                        <a:rPr sz="1450" b="0" i="0">
                          <a:solidFill>
                            <a:srgbClr val="111111"/>
                          </a:solidFill>
                          <a:latin typeface="Arial"/>
                        </a:rPr>
                        <a:t>Explicitly reconstructed cases; separate scripted effects from actor behavior.</a:t>
                      </a:r>
                    </a:p>
                  </a:txBody>
                  <a:tcPr marL="54864" marR="54864" marT="27432" marB="27432">
                    <a:solidFill>
                      <a:srgbClr val="F4F6FA"/>
                    </a:solidFill>
                  </a:tcPr>
                </a:tc>
              </a:tr>
              <a:tr h="782726">
                <a:tc>
                  <a:txBody>
                    <a:bodyPr wrap="square"/>
                    <a:lstStyle/>
                    <a:p>
                      <a:pPr>
                        <a:lnSpc>
                          <a:spcPct val="105000"/>
                        </a:lnSpc>
                      </a:pPr>
                      <a:r>
                        <a:rPr sz="1450" b="1" i="0">
                          <a:solidFill>
                            <a:srgbClr val="111111"/>
                          </a:solidFill>
                          <a:latin typeface="Arial"/>
                        </a:rPr>
                        <a:t>Only actions / traces and usable state or labels</a:t>
                      </a:r>
                    </a:p>
                  </a:txBody>
                  <a:tcPr marL="54864" marR="54864" marT="27432" marB="27432">
                    <a:solidFill>
                      <a:srgbClr val="FFFFFF"/>
                    </a:solidFill>
                  </a:tcPr>
                </a:tc>
                <a:tc>
                  <a:txBody>
                    <a:bodyPr wrap="square"/>
                    <a:lstStyle/>
                    <a:p>
                      <a:pPr>
                        <a:lnSpc>
                          <a:spcPct val="105000"/>
                        </a:lnSpc>
                      </a:pPr>
                      <a:r>
                        <a:rPr sz="1450" b="0" i="0">
                          <a:solidFill>
                            <a:srgbClr val="111111"/>
                          </a:solidFill>
                          <a:latin typeface="Arial"/>
                        </a:rPr>
                        <a:t>Effect replay or offline monitor evaluation</a:t>
                      </a:r>
                    </a:p>
                  </a:txBody>
                  <a:tcPr marL="54864" marR="54864" marT="27432" marB="27432">
                    <a:solidFill>
                      <a:srgbClr val="FFFFFF"/>
                    </a:solidFill>
                  </a:tcPr>
                </a:tc>
                <a:tc>
                  <a:txBody>
                    <a:bodyPr wrap="square"/>
                    <a:lstStyle/>
                    <a:p>
                      <a:pPr>
                        <a:lnSpc>
                          <a:spcPct val="105000"/>
                        </a:lnSpc>
                      </a:pPr>
                      <a:r>
                        <a:rPr sz="1450" b="0" i="0">
                          <a:solidFill>
                            <a:srgbClr val="111111"/>
                          </a:solidFill>
                          <a:latin typeface="Arial"/>
                        </a:rPr>
                        <a:t>Evidence for that effect or observation task, not original model incident rates.</a:t>
                      </a:r>
                    </a:p>
                  </a:txBody>
                  <a:tcPr marL="54864" marR="54864" marT="27432" marB="27432">
                    <a:solidFill>
                      <a:srgbClr val="FFFFFF"/>
                    </a:solidFill>
                  </a:tcPr>
                </a:tc>
              </a:tr>
              <a:tr h="782728">
                <a:tc>
                  <a:txBody>
                    <a:bodyPr wrap="square"/>
                    <a:lstStyle/>
                    <a:p>
                      <a:pPr>
                        <a:lnSpc>
                          <a:spcPct val="105000"/>
                        </a:lnSpc>
                      </a:pPr>
                      <a:r>
                        <a:rPr sz="1450" b="1" i="0">
                          <a:solidFill>
                            <a:srgbClr val="111111"/>
                          </a:solidFill>
                          <a:latin typeface="Arial"/>
                        </a:rPr>
                        <a:t>Critical gaps remain; no valid reduced test</a:t>
                      </a:r>
                    </a:p>
                  </a:txBody>
                  <a:tcPr marL="54864" marR="54864" marT="27432" marB="27432">
                    <a:solidFill>
                      <a:srgbClr val="F4F6FA"/>
                    </a:solidFill>
                  </a:tcPr>
                </a:tc>
                <a:tc>
                  <a:txBody>
                    <a:bodyPr wrap="square"/>
                    <a:lstStyle/>
                    <a:p>
                      <a:pPr>
                        <a:lnSpc>
                          <a:spcPct val="105000"/>
                        </a:lnSpc>
                      </a:pPr>
                      <a:r>
                        <a:rPr sz="1450" b="0" i="0">
                          <a:solidFill>
                            <a:srgbClr val="111111"/>
                          </a:solidFill>
                          <a:latin typeface="Arial"/>
                        </a:rPr>
                        <a:t>Defer, archive, or seek owner-run evidence</a:t>
                      </a:r>
                    </a:p>
                  </a:txBody>
                  <a:tcPr marL="54864" marR="54864" marT="27432" marB="27432">
                    <a:solidFill>
                      <a:srgbClr val="F4F6FA"/>
                    </a:solidFill>
                  </a:tcPr>
                </a:tc>
                <a:tc>
                  <a:txBody>
                    <a:bodyPr wrap="square"/>
                    <a:lstStyle/>
                    <a:p>
                      <a:pPr>
                        <a:lnSpc>
                          <a:spcPct val="105000"/>
                        </a:lnSpc>
                      </a:pPr>
                      <a:r>
                        <a:rPr sz="1450" b="0" i="0">
                          <a:solidFill>
                            <a:srgbClr val="111111"/>
                          </a:solidFill>
                          <a:latin typeface="Arial"/>
                        </a:rPr>
                        <a:t>Document the blocker. Missing or unaffordable replay is not a clean result.</a:t>
                      </a:r>
                    </a:p>
                  </a:txBody>
                  <a:tcPr marL="54864" marR="54864" marT="27432" marB="27432">
                    <a:solidFill>
                      <a:srgbClr val="F4F6FA"/>
                    </a:solidFill>
                  </a:tcPr>
                </a:tc>
              </a:tr>
            </a:tbl>
          </a:graphicData>
        </a:graphic>
      </p:graphicFrame>
      <p:sp>
        <p:nvSpPr>
          <p:cNvPr id="10" name="Rounded Rectangle 9"/>
          <p:cNvSpPr/>
          <p:nvPr/>
        </p:nvSpPr>
        <p:spPr>
          <a:xfrm>
            <a:off x="457200" y="5486400"/>
            <a:ext cx="11277295" cy="758952"/>
          </a:xfrm>
          <a:prstGeom prst="roundRect">
            <a:avLst>
              <a:gd name="adj" fmla="val 6000"/>
            </a:avLst>
          </a:prstGeom>
          <a:solidFill>
            <a:srgbClr val="ED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85800" y="5559552"/>
            <a:ext cx="10820095" cy="612648"/>
          </a:xfrm>
          <a:prstGeom prst="rect">
            <a:avLst/>
          </a:prstGeom>
          <a:noFill/>
        </p:spPr>
        <p:txBody>
          <a:bodyPr wrap="square" lIns="45720" rIns="45720" tIns="27432" bIns="27432" anchor="ctr">
            <a:spAutoFit/>
          </a:bodyPr>
          <a:lstStyle/>
          <a:p>
            <a:pPr algn="l">
              <a:lnSpc>
                <a:spcPct val="115000"/>
              </a:lnSpc>
            </a:pPr>
            <a:r>
              <a:rPr sz="1500" b="0" i="0">
                <a:solidFill>
                  <a:srgbClr val="111111"/>
                </a:solidFill>
                <a:latin typeface="Arial"/>
              </a:rPr>
              <a:t>Record evidence grade, replay mode, fidelity, missing dependencies and actual cost. Report qualified coverage and excluded cases; easy-to-replay cases can bias the library.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82296" cy="566928"/>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301752"/>
            <a:ext cx="10515600" cy="548640"/>
          </a:xfrm>
          <a:prstGeom prst="rect">
            <a:avLst/>
          </a:prstGeom>
          <a:noFill/>
        </p:spPr>
        <p:txBody>
          <a:bodyPr wrap="square" lIns="45720" rIns="45720" tIns="27432" bIns="27432" anchor="ctr">
            <a:spAutoFit/>
          </a:bodyPr>
          <a:lstStyle/>
          <a:p>
            <a:pPr algn="l">
              <a:lnSpc>
                <a:spcPct val="110000"/>
              </a:lnSpc>
            </a:pPr>
            <a:r>
              <a:rPr sz="2600" b="1" i="0">
                <a:solidFill>
                  <a:srgbClr val="111111"/>
                </a:solidFill>
                <a:latin typeface="Arial"/>
              </a:rPr>
              <a:t>Summary</a:t>
            </a:r>
          </a:p>
        </p:txBody>
      </p:sp>
      <p:sp>
        <p:nvSpPr>
          <p:cNvPr id="4" name="TextBox 3"/>
          <p:cNvSpPr txBox="1"/>
          <p:nvPr/>
        </p:nvSpPr>
        <p:spPr>
          <a:xfrm>
            <a:off x="8503920" y="109728"/>
            <a:ext cx="3200400" cy="274320"/>
          </a:xfrm>
          <a:prstGeom prst="rect">
            <a:avLst/>
          </a:prstGeom>
          <a:noFill/>
        </p:spPr>
        <p:txBody>
          <a:bodyPr wrap="square" lIns="45720" rIns="45720" tIns="27432" bIns="27432" anchor="t">
            <a:spAutoFit/>
          </a:bodyPr>
          <a:lstStyle/>
          <a:p>
            <a:pPr algn="r">
              <a:lnSpc>
                <a:spcPct val="110000"/>
              </a:lnSpc>
            </a:pPr>
            <a:r>
              <a:rPr sz="900" b="1" i="0">
                <a:solidFill>
                  <a:srgbClr val="365E9E"/>
                </a:solidFill>
                <a:latin typeface="Arial"/>
              </a:rPr>
              <a:t>SUMMARY</a:t>
            </a:r>
          </a:p>
        </p:txBody>
      </p:sp>
      <p:cxnSp>
        <p:nvCxnSpPr>
          <p:cNvPr id="5" name="Connector 4"/>
          <p:cNvCxnSpPr/>
          <p:nvPr/>
        </p:nvCxnSpPr>
        <p:spPr>
          <a:xfrm>
            <a:off x="457200" y="6446520"/>
            <a:ext cx="11277295" cy="0"/>
          </a:xfrm>
          <a:prstGeom prst="line">
            <a:avLst/>
          </a:prstGeom>
          <a:ln w="6350">
            <a:solidFill>
              <a:srgbClr val="C9C9C9"/>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473952"/>
            <a:ext cx="10058400" cy="274320"/>
          </a:xfrm>
          <a:prstGeom prst="rect">
            <a:avLst/>
          </a:prstGeom>
          <a:noFill/>
        </p:spPr>
        <p:txBody>
          <a:bodyPr wrap="square" lIns="45720" rIns="45720" tIns="27432" bIns="27432" anchor="t">
            <a:spAutoFit/>
          </a:bodyPr>
          <a:lstStyle/>
          <a:p>
            <a:pPr algn="l">
              <a:lnSpc>
                <a:spcPct val="110000"/>
              </a:lnSpc>
            </a:pPr>
            <a:r>
              <a:rPr sz="800" b="0" i="0">
                <a:solidFill>
                  <a:srgbClr val="666666"/>
                </a:solidFill>
                <a:latin typeface="Arial"/>
              </a:rPr>
              <a:t>Incident-aware optimization · design proposal · containment-extension · October 2026 · no benchmark improvement measured</a:t>
            </a:r>
          </a:p>
        </p:txBody>
      </p:sp>
      <p:sp>
        <p:nvSpPr>
          <p:cNvPr id="7" name="TextBox 6"/>
          <p:cNvSpPr txBox="1"/>
          <p:nvPr/>
        </p:nvSpPr>
        <p:spPr>
          <a:xfrm>
            <a:off x="10820095" y="6473952"/>
            <a:ext cx="914400" cy="274320"/>
          </a:xfrm>
          <a:prstGeom prst="rect">
            <a:avLst/>
          </a:prstGeom>
          <a:noFill/>
        </p:spPr>
        <p:txBody>
          <a:bodyPr wrap="square" lIns="45720" rIns="45720" tIns="27432" bIns="27432" anchor="t">
            <a:spAutoFit/>
          </a:bodyPr>
          <a:lstStyle/>
          <a:p>
            <a:pPr algn="r">
              <a:lnSpc>
                <a:spcPct val="110000"/>
              </a:lnSpc>
            </a:pPr>
            <a:r>
              <a:rPr sz="900" b="0" i="0">
                <a:solidFill>
                  <a:srgbClr val="666666"/>
                </a:solidFill>
                <a:latin typeface="Arial"/>
              </a:rPr>
              <a:t>33</a:t>
            </a:r>
          </a:p>
        </p:txBody>
      </p:sp>
      <p:sp>
        <p:nvSpPr>
          <p:cNvPr id="8" name="TextBox 7"/>
          <p:cNvSpPr txBox="1"/>
          <p:nvPr/>
        </p:nvSpPr>
        <p:spPr>
          <a:xfrm>
            <a:off x="457200" y="1325880"/>
            <a:ext cx="6583680" cy="3840480"/>
          </a:xfrm>
          <a:prstGeom prst="rect">
            <a:avLst/>
          </a:prstGeom>
          <a:noFill/>
        </p:spPr>
        <p:txBody>
          <a:bodyPr wrap="square" lIns="45720" rIns="45720">
            <a:spAutoFit/>
          </a:bodyPr>
          <a:lstStyle/>
          <a:p>
            <a:pPr>
              <a:lnSpc>
                <a:spcPct val="112000"/>
              </a:lnSpc>
              <a:spcAft>
                <a:spcPts val="1000"/>
              </a:spcAft>
            </a:pPr>
            <a:r>
              <a:rPr sz="1800" b="0" i="0">
                <a:solidFill>
                  <a:srgbClr val="111111"/>
                </a:solidFill>
                <a:latin typeface="Arial"/>
              </a:rPr>
              <a:t>•  Incidents will keep happening; a scorer cannot see them, an observer can</a:t>
            </a:r>
          </a:p>
          <a:p>
            <a:pPr>
              <a:lnSpc>
                <a:spcPct val="112000"/>
              </a:lnSpc>
              <a:spcAft>
                <a:spcPts val="1000"/>
              </a:spcAft>
            </a:pPr>
            <a:r>
              <a:rPr sz="1800" b="0" i="0">
                <a:solidFill>
                  <a:srgbClr val="111111"/>
                </a:solidFill>
                <a:latin typeface="Arial"/>
              </a:rPr>
              <a:t>•  Each verified incident becomes an executable case with a benign twin</a:t>
            </a:r>
          </a:p>
          <a:p>
            <a:pPr>
              <a:lnSpc>
                <a:spcPct val="112000"/>
              </a:lnSpc>
              <a:spcAft>
                <a:spcPts val="1000"/>
              </a:spcAft>
            </a:pPr>
            <a:r>
              <a:rPr sz="1800" b="0" i="0">
                <a:solidFill>
                  <a:srgbClr val="111111"/>
                </a:solidFill>
                <a:latin typeface="Arial"/>
              </a:rPr>
              <a:t>•  A scheduled loop replays, revises and releases only what passes a regression gate and a human</a:t>
            </a:r>
          </a:p>
          <a:p>
            <a:pPr>
              <a:lnSpc>
                <a:spcPct val="112000"/>
              </a:lnSpc>
              <a:spcAft>
                <a:spcPts val="1000"/>
              </a:spcAft>
            </a:pPr>
            <a:r>
              <a:rPr sz="1800" b="0" i="0">
                <a:solidFill>
                  <a:srgbClr val="111111"/>
                </a:solidFill>
                <a:latin typeface="Arial"/>
              </a:rPr>
              <a:t>•  The frozen policy is judged on untouched tasks and on incidents reported after the cutoff</a:t>
            </a:r>
          </a:p>
        </p:txBody>
      </p:sp>
      <p:sp>
        <p:nvSpPr>
          <p:cNvPr id="9" name="Rounded Rectangle 8"/>
          <p:cNvSpPr/>
          <p:nvPr/>
        </p:nvSpPr>
        <p:spPr>
          <a:xfrm>
            <a:off x="7406640" y="1325880"/>
            <a:ext cx="4325112" cy="3840480"/>
          </a:xfrm>
          <a:prstGeom prst="roundRect">
            <a:avLst>
              <a:gd name="adj" fmla="val 6000"/>
            </a:avLst>
          </a:prstGeom>
          <a:solidFill>
            <a:srgbClr val="EAF5EF"/>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516368" y="1399032"/>
            <a:ext cx="4123944" cy="365760"/>
          </a:xfrm>
          <a:prstGeom prst="rect">
            <a:avLst/>
          </a:prstGeom>
          <a:noFill/>
        </p:spPr>
        <p:txBody>
          <a:bodyPr wrap="square" lIns="45720" rIns="45720" tIns="27432" bIns="27432" anchor="t">
            <a:spAutoFit/>
          </a:bodyPr>
          <a:lstStyle/>
          <a:p>
            <a:pPr algn="l">
              <a:lnSpc>
                <a:spcPct val="110000"/>
              </a:lnSpc>
            </a:pPr>
            <a:r>
              <a:rPr sz="1600" b="1" i="0">
                <a:solidFill>
                  <a:srgbClr val="2E7D5B"/>
                </a:solidFill>
                <a:latin typeface="Arial"/>
              </a:rPr>
              <a:t>Decisions to make</a:t>
            </a:r>
          </a:p>
        </p:txBody>
      </p:sp>
      <p:sp>
        <p:nvSpPr>
          <p:cNvPr id="11" name="TextBox 10"/>
          <p:cNvSpPr txBox="1"/>
          <p:nvPr/>
        </p:nvSpPr>
        <p:spPr>
          <a:xfrm>
            <a:off x="7479792" y="1764792"/>
            <a:ext cx="4178808" cy="3337560"/>
          </a:xfrm>
          <a:prstGeom prst="rect">
            <a:avLst/>
          </a:prstGeom>
          <a:noFill/>
        </p:spPr>
        <p:txBody>
          <a:bodyPr wrap="square" lIns="45720" rIns="45720">
            <a:spAutoFit/>
          </a:bodyPr>
          <a:lstStyle/>
          <a:p>
            <a:pPr>
              <a:lnSpc>
                <a:spcPct val="108000"/>
              </a:lnSpc>
              <a:spcAft>
                <a:spcPts val="200"/>
              </a:spcAft>
            </a:pPr>
            <a:r>
              <a:rPr sz="1500" b="0" i="0">
                <a:solidFill>
                  <a:srgbClr val="111111"/>
                </a:solidFill>
                <a:latin typeface="Arial"/>
              </a:rPr>
              <a:t>•  Opt-in plugin first?</a:t>
            </a:r>
          </a:p>
          <a:p>
            <a:pPr>
              <a:lnSpc>
                <a:spcPct val="108000"/>
              </a:lnSpc>
              <a:spcAft>
                <a:spcPts val="200"/>
              </a:spcAft>
            </a:pPr>
            <a:r>
              <a:rPr sz="1500" b="0" i="0">
                <a:solidFill>
                  <a:srgbClr val="111111"/>
                </a:solidFill>
                <a:latin typeface="Arial"/>
              </a:rPr>
              <a:t>•  First benchmark for B3 vs B4?</a:t>
            </a:r>
          </a:p>
          <a:p>
            <a:pPr>
              <a:lnSpc>
                <a:spcPct val="108000"/>
              </a:lnSpc>
              <a:spcAft>
                <a:spcPts val="200"/>
              </a:spcAft>
            </a:pPr>
            <a:r>
              <a:rPr sz="1500" b="0" i="0">
                <a:solidFill>
                  <a:srgbClr val="111111"/>
                </a:solidFill>
                <a:latin typeface="Arial"/>
              </a:rPr>
              <a:t>•  Who qualifies shared cases?</a:t>
            </a:r>
          </a:p>
          <a:p>
            <a:pPr>
              <a:lnSpc>
                <a:spcPct val="108000"/>
              </a:lnSpc>
              <a:spcAft>
                <a:spcPts val="200"/>
              </a:spcAft>
            </a:pPr>
            <a:r>
              <a:rPr sz="1500" b="0" i="0">
                <a:solidFill>
                  <a:srgbClr val="111111"/>
                </a:solidFill>
                <a:latin typeface="Arial"/>
              </a:rPr>
              <a:t>•  Budget for Phases 2 and 3?</a:t>
            </a:r>
          </a:p>
        </p:txBody>
      </p:sp>
      <p:sp>
        <p:nvSpPr>
          <p:cNvPr id="12" name="Rounded Rectangle 11"/>
          <p:cNvSpPr/>
          <p:nvPr/>
        </p:nvSpPr>
        <p:spPr>
          <a:xfrm>
            <a:off x="457200" y="5440680"/>
            <a:ext cx="11277295" cy="822960"/>
          </a:xfrm>
          <a:prstGeom prst="roundRect">
            <a:avLst>
              <a:gd name="adj" fmla="val 6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85800" y="5513832"/>
            <a:ext cx="10820095" cy="676656"/>
          </a:xfrm>
          <a:prstGeom prst="rect">
            <a:avLst/>
          </a:prstGeom>
          <a:noFill/>
        </p:spPr>
        <p:txBody>
          <a:bodyPr wrap="square" lIns="45720" rIns="45720" tIns="27432" bIns="27432" anchor="ctr">
            <a:spAutoFit/>
          </a:bodyPr>
          <a:lstStyle/>
          <a:p>
            <a:pPr algn="l">
              <a:lnSpc>
                <a:spcPct val="115000"/>
              </a:lnSpc>
            </a:pPr>
            <a:r>
              <a:rPr sz="1400" b="0" i="0">
                <a:solidFill>
                  <a:srgbClr val="111111"/>
                </a:solidFill>
                <a:latin typeface="Arial"/>
              </a:rPr>
              <a:t>No benchmark-level safety or utility improvement has been measured. The figures are design overviews, not results.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82296" cy="566928"/>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301752"/>
            <a:ext cx="10515600" cy="548640"/>
          </a:xfrm>
          <a:prstGeom prst="rect">
            <a:avLst/>
          </a:prstGeom>
          <a:noFill/>
        </p:spPr>
        <p:txBody>
          <a:bodyPr wrap="square" lIns="45720" rIns="45720" tIns="27432" bIns="27432" anchor="ctr">
            <a:spAutoFit/>
          </a:bodyPr>
          <a:lstStyle/>
          <a:p>
            <a:pPr algn="l">
              <a:lnSpc>
                <a:spcPct val="110000"/>
              </a:lnSpc>
            </a:pPr>
            <a:r>
              <a:rPr sz="2600" b="1" i="0">
                <a:solidFill>
                  <a:srgbClr val="111111"/>
                </a:solidFill>
                <a:latin typeface="Arial"/>
              </a:rPr>
              <a:t>References</a:t>
            </a:r>
          </a:p>
        </p:txBody>
      </p:sp>
      <p:sp>
        <p:nvSpPr>
          <p:cNvPr id="4" name="TextBox 3"/>
          <p:cNvSpPr txBox="1"/>
          <p:nvPr/>
        </p:nvSpPr>
        <p:spPr>
          <a:xfrm>
            <a:off x="8503920" y="109728"/>
            <a:ext cx="3200400" cy="274320"/>
          </a:xfrm>
          <a:prstGeom prst="rect">
            <a:avLst/>
          </a:prstGeom>
          <a:noFill/>
        </p:spPr>
        <p:txBody>
          <a:bodyPr wrap="square" lIns="45720" rIns="45720" tIns="27432" bIns="27432" anchor="t">
            <a:spAutoFit/>
          </a:bodyPr>
          <a:lstStyle/>
          <a:p>
            <a:pPr algn="r">
              <a:lnSpc>
                <a:spcPct val="110000"/>
              </a:lnSpc>
            </a:pPr>
            <a:r>
              <a:rPr sz="900" b="1" i="0">
                <a:solidFill>
                  <a:srgbClr val="365E9E"/>
                </a:solidFill>
                <a:latin typeface="Arial"/>
              </a:rPr>
              <a:t>REFERENCES</a:t>
            </a:r>
          </a:p>
        </p:txBody>
      </p:sp>
      <p:cxnSp>
        <p:nvCxnSpPr>
          <p:cNvPr id="5" name="Connector 4"/>
          <p:cNvCxnSpPr/>
          <p:nvPr/>
        </p:nvCxnSpPr>
        <p:spPr>
          <a:xfrm>
            <a:off x="457200" y="6446520"/>
            <a:ext cx="11277295" cy="0"/>
          </a:xfrm>
          <a:prstGeom prst="line">
            <a:avLst/>
          </a:prstGeom>
          <a:ln w="6350">
            <a:solidFill>
              <a:srgbClr val="C9C9C9"/>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473952"/>
            <a:ext cx="10058400" cy="274320"/>
          </a:xfrm>
          <a:prstGeom prst="rect">
            <a:avLst/>
          </a:prstGeom>
          <a:noFill/>
        </p:spPr>
        <p:txBody>
          <a:bodyPr wrap="square" lIns="45720" rIns="45720" tIns="27432" bIns="27432" anchor="t">
            <a:spAutoFit/>
          </a:bodyPr>
          <a:lstStyle/>
          <a:p>
            <a:pPr algn="l">
              <a:lnSpc>
                <a:spcPct val="110000"/>
              </a:lnSpc>
            </a:pPr>
            <a:r>
              <a:rPr sz="800" b="0" i="0">
                <a:solidFill>
                  <a:srgbClr val="666666"/>
                </a:solidFill>
                <a:latin typeface="Arial"/>
              </a:rPr>
              <a:t>Incident-aware optimization · design proposal · containment-extension · October 2026 · no benchmark improvement measured</a:t>
            </a:r>
          </a:p>
        </p:txBody>
      </p:sp>
      <p:sp>
        <p:nvSpPr>
          <p:cNvPr id="7" name="TextBox 6"/>
          <p:cNvSpPr txBox="1"/>
          <p:nvPr/>
        </p:nvSpPr>
        <p:spPr>
          <a:xfrm>
            <a:off x="10820095" y="6473952"/>
            <a:ext cx="914400" cy="274320"/>
          </a:xfrm>
          <a:prstGeom prst="rect">
            <a:avLst/>
          </a:prstGeom>
          <a:noFill/>
        </p:spPr>
        <p:txBody>
          <a:bodyPr wrap="square" lIns="45720" rIns="45720" tIns="27432" bIns="27432" anchor="t">
            <a:spAutoFit/>
          </a:bodyPr>
          <a:lstStyle/>
          <a:p>
            <a:pPr algn="r">
              <a:lnSpc>
                <a:spcPct val="110000"/>
              </a:lnSpc>
            </a:pPr>
            <a:r>
              <a:rPr sz="900" b="0" i="0">
                <a:solidFill>
                  <a:srgbClr val="666666"/>
                </a:solidFill>
                <a:latin typeface="Arial"/>
              </a:rPr>
              <a:t>34</a:t>
            </a:r>
          </a:p>
        </p:txBody>
      </p:sp>
      <p:sp>
        <p:nvSpPr>
          <p:cNvPr id="8" name="TextBox 7"/>
          <p:cNvSpPr txBox="1"/>
          <p:nvPr/>
        </p:nvSpPr>
        <p:spPr>
          <a:xfrm>
            <a:off x="457200" y="1325880"/>
            <a:ext cx="5577840" cy="4937760"/>
          </a:xfrm>
          <a:prstGeom prst="rect">
            <a:avLst/>
          </a:prstGeom>
          <a:noFill/>
        </p:spPr>
        <p:txBody>
          <a:bodyPr wrap="square" lIns="45720" rIns="45720">
            <a:spAutoFit/>
          </a:bodyPr>
          <a:lstStyle/>
          <a:p>
            <a:pPr>
              <a:lnSpc>
                <a:spcPct val="105000"/>
              </a:lnSpc>
              <a:spcAft>
                <a:spcPts val="500"/>
              </a:spcAft>
            </a:pPr>
            <a:r>
              <a:rPr sz="1100" b="0" i="0">
                <a:solidFill>
                  <a:srgbClr val="111111"/>
                </a:solidFill>
                <a:latin typeface="Arial"/>
              </a:rPr>
              <a:t>•  Greenblatt et al. (2023). AI Control: Improving Safety Despite Intentional Subversion. arXiv:2312.06942</a:t>
            </a:r>
          </a:p>
          <a:p>
            <a:pPr>
              <a:lnSpc>
                <a:spcPct val="105000"/>
              </a:lnSpc>
              <a:spcAft>
                <a:spcPts val="500"/>
              </a:spcAft>
            </a:pPr>
            <a:r>
              <a:rPr sz="1100" b="0" i="0">
                <a:solidFill>
                  <a:srgbClr val="111111"/>
                </a:solidFill>
                <a:latin typeface="Arial"/>
              </a:rPr>
              <a:t>•  Bhatt et al. (2025). Ctrl-Z: Controlling AI Agents via Resampling. arXiv:2504.10374</a:t>
            </a:r>
          </a:p>
          <a:p>
            <a:pPr>
              <a:lnSpc>
                <a:spcPct val="105000"/>
              </a:lnSpc>
              <a:spcAft>
                <a:spcPts val="500"/>
              </a:spcAft>
            </a:pPr>
            <a:r>
              <a:rPr sz="1100" b="0" i="0">
                <a:solidFill>
                  <a:srgbClr val="111111"/>
                </a:solidFill>
                <a:latin typeface="Arial"/>
              </a:rPr>
              <a:t>•  Kutasov et al. (2025). SHADE-Arena: Evaluating Sabotage and Monitoring in LLM Agents. arXiv:2506.15740</a:t>
            </a:r>
          </a:p>
          <a:p>
            <a:pPr>
              <a:lnSpc>
                <a:spcPct val="105000"/>
              </a:lnSpc>
              <a:spcAft>
                <a:spcPts val="500"/>
              </a:spcAft>
            </a:pPr>
            <a:r>
              <a:rPr sz="1100" b="0" i="0">
                <a:solidFill>
                  <a:srgbClr val="111111"/>
                </a:solidFill>
                <a:latin typeface="Arial"/>
              </a:rPr>
              <a:t>•  Debenedetti et al. (2024). AgentDojo: A Dynamic Environment to Evaluate Prompt Injection Attacks and Defenses for LLM Agents. NeurIPS D&amp;B</a:t>
            </a:r>
          </a:p>
          <a:p>
            <a:pPr>
              <a:lnSpc>
                <a:spcPct val="105000"/>
              </a:lnSpc>
              <a:spcAft>
                <a:spcPts val="500"/>
              </a:spcAft>
            </a:pPr>
            <a:r>
              <a:rPr sz="1100" b="0" i="0">
                <a:solidFill>
                  <a:srgbClr val="111111"/>
                </a:solidFill>
                <a:latin typeface="Arial"/>
              </a:rPr>
              <a:t>•  Zhong, Raghunathan, Carlini (2025). ImpossibleBench: Measuring LLMs' Propensity of Exploiting Test Cases. arXiv:2510.20270</a:t>
            </a:r>
          </a:p>
          <a:p>
            <a:pPr>
              <a:lnSpc>
                <a:spcPct val="105000"/>
              </a:lnSpc>
              <a:spcAft>
                <a:spcPts val="500"/>
              </a:spcAft>
            </a:pPr>
            <a:r>
              <a:rPr sz="1100" b="0" i="0">
                <a:solidFill>
                  <a:srgbClr val="111111"/>
                </a:solidFill>
                <a:latin typeface="Arial"/>
              </a:rPr>
              <a:t>•  ResearchArena (aisa-group, 2025). github.com/aisa-group/ResearchArena</a:t>
            </a:r>
          </a:p>
          <a:p>
            <a:pPr>
              <a:lnSpc>
                <a:spcPct val="105000"/>
              </a:lnSpc>
              <a:spcAft>
                <a:spcPts val="500"/>
              </a:spcAft>
            </a:pPr>
            <a:r>
              <a:rPr sz="1100" b="0" i="0">
                <a:solidFill>
                  <a:srgbClr val="111111"/>
                </a:solidFill>
                <a:latin typeface="Arial"/>
              </a:rPr>
              <a:t>•  Baker et al. (2025). Monitoring Reasoning Models for Misbehavior and the Risks of Promoting Obfuscation. arXiv:2503.11926</a:t>
            </a:r>
          </a:p>
          <a:p>
            <a:pPr>
              <a:lnSpc>
                <a:spcPct val="105000"/>
              </a:lnSpc>
              <a:spcAft>
                <a:spcPts val="500"/>
              </a:spcAft>
            </a:pPr>
            <a:r>
              <a:rPr sz="1100" b="0" i="0">
                <a:solidFill>
                  <a:srgbClr val="111111"/>
                </a:solidFill>
                <a:latin typeface="Arial"/>
              </a:rPr>
              <a:t>•  Slattery et al. (2024). The AI Risk Repository. MIT. arXiv:2408.12622</a:t>
            </a:r>
          </a:p>
        </p:txBody>
      </p:sp>
      <p:sp>
        <p:nvSpPr>
          <p:cNvPr id="9" name="TextBox 8"/>
          <p:cNvSpPr txBox="1"/>
          <p:nvPr/>
        </p:nvSpPr>
        <p:spPr>
          <a:xfrm>
            <a:off x="6263640" y="1325880"/>
            <a:ext cx="5486400" cy="4937760"/>
          </a:xfrm>
          <a:prstGeom prst="rect">
            <a:avLst/>
          </a:prstGeom>
          <a:noFill/>
        </p:spPr>
        <p:txBody>
          <a:bodyPr wrap="square" lIns="45720" rIns="45720">
            <a:spAutoFit/>
          </a:bodyPr>
          <a:lstStyle/>
          <a:p>
            <a:pPr>
              <a:lnSpc>
                <a:spcPct val="105000"/>
              </a:lnSpc>
              <a:spcAft>
                <a:spcPts val="500"/>
              </a:spcAft>
            </a:pPr>
            <a:r>
              <a:rPr sz="1100" b="0" i="0">
                <a:solidFill>
                  <a:srgbClr val="111111"/>
                </a:solidFill>
                <a:latin typeface="Arial"/>
              </a:rPr>
              <a:t>•  UK AI Security Institute. Inspect AI: tool approval and approvers. inspect.aisi.org.uk</a:t>
            </a:r>
          </a:p>
          <a:p>
            <a:pPr>
              <a:lnSpc>
                <a:spcPct val="105000"/>
              </a:lnSpc>
              <a:spcAft>
                <a:spcPts val="500"/>
              </a:spcAft>
            </a:pPr>
            <a:r>
              <a:rPr sz="1100" b="0" i="0">
                <a:solidFill>
                  <a:srgbClr val="111111"/>
                </a:solidFill>
                <a:latin typeface="Arial"/>
              </a:rPr>
              <a:t>•  UK AISI and Meridian Labs (2025). Inspect Scout: transcript analysis</a:t>
            </a:r>
          </a:p>
          <a:p>
            <a:pPr>
              <a:lnSpc>
                <a:spcPct val="105000"/>
              </a:lnSpc>
              <a:spcAft>
                <a:spcPts val="500"/>
              </a:spcAft>
            </a:pPr>
            <a:r>
              <a:rPr sz="1100" b="0" i="0">
                <a:solidFill>
                  <a:srgbClr val="111111"/>
                </a:solidFill>
                <a:latin typeface="Arial"/>
              </a:rPr>
              <a:t>•  UK AISI (2025). ControlArena: monitors, micro-protocols, BashArena. control-arena.aisi.org.uk</a:t>
            </a:r>
          </a:p>
          <a:p>
            <a:pPr>
              <a:lnSpc>
                <a:spcPct val="105000"/>
              </a:lnSpc>
              <a:spcAft>
                <a:spcPts val="500"/>
              </a:spcAft>
            </a:pPr>
            <a:r>
              <a:rPr sz="1100" b="0" i="0">
                <a:solidFill>
                  <a:srgbClr val="111111"/>
                </a:solidFill>
                <a:latin typeface="Arial"/>
              </a:rPr>
              <a:t>•  METR (2025). Hawk: run Inspect evals in the cloud. github.com/METR/hawk</a:t>
            </a:r>
          </a:p>
          <a:p>
            <a:pPr>
              <a:lnSpc>
                <a:spcPct val="105000"/>
              </a:lnSpc>
              <a:spcAft>
                <a:spcPts val="500"/>
              </a:spcAft>
            </a:pPr>
            <a:r>
              <a:rPr sz="1100" b="0" i="0">
                <a:solidFill>
                  <a:srgbClr val="111111"/>
                </a:solidFill>
                <a:latin typeface="Arial"/>
              </a:rPr>
              <a:t>•  McGregor (2021). Preventing Repeated Real World AI Failures by Cataloging Incidents: The AI Incident Database. AAAI</a:t>
            </a:r>
          </a:p>
          <a:p>
            <a:pPr>
              <a:lnSpc>
                <a:spcPct val="105000"/>
              </a:lnSpc>
              <a:spcAft>
                <a:spcPts val="500"/>
              </a:spcAft>
            </a:pPr>
            <a:r>
              <a:rPr sz="1100" b="0" i="0">
                <a:solidFill>
                  <a:srgbClr val="111111"/>
                </a:solidFill>
                <a:latin typeface="Arial"/>
              </a:rPr>
              <a:t>•  OECD (2023). AI Incident Monitor. MITRE ATLAS. OWASP Top 10 for LLM and Agentic Applications</a:t>
            </a:r>
          </a:p>
          <a:p>
            <a:pPr>
              <a:lnSpc>
                <a:spcPct val="105000"/>
              </a:lnSpc>
              <a:spcAft>
                <a:spcPts val="500"/>
              </a:spcAft>
            </a:pPr>
            <a:r>
              <a:rPr sz="1100" b="0" i="0">
                <a:solidFill>
                  <a:srgbClr val="111111"/>
                </a:solidFill>
                <a:latin typeface="Arial"/>
              </a:rPr>
              <a:t>•  Perrow (1984). Normal Accidents. Reason (1990). Human Error. Taleb (2007). The Black Swan. Popper (1963). Conjectures and Refutations</a:t>
            </a:r>
          </a:p>
          <a:p>
            <a:pPr>
              <a:lnSpc>
                <a:spcPct val="105000"/>
              </a:lnSpc>
              <a:spcAft>
                <a:spcPts val="500"/>
              </a:spcAft>
            </a:pPr>
            <a:r>
              <a:rPr sz="1100" b="0" i="0">
                <a:solidFill>
                  <a:srgbClr val="111111"/>
                </a:solidFill>
                <a:latin typeface="Arial"/>
              </a:rPr>
              <a:t>•  EU AI Act, Article 73. California SB 53 (2025)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82296" cy="566928"/>
          </a:xfrm>
          <a:prstGeom prst="rect">
            <a:avLst/>
          </a:prstGeom>
          <a:solidFill>
            <a:srgbClr val="365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301752"/>
            <a:ext cx="10515600" cy="548640"/>
          </a:xfrm>
          <a:prstGeom prst="rect">
            <a:avLst/>
          </a:prstGeom>
          <a:noFill/>
        </p:spPr>
        <p:txBody>
          <a:bodyPr wrap="square" lIns="45720" rIns="45720" tIns="27432" bIns="27432" anchor="ctr">
            <a:spAutoFit/>
          </a:bodyPr>
          <a:lstStyle/>
          <a:p>
            <a:pPr algn="l">
              <a:lnSpc>
                <a:spcPct val="110000"/>
              </a:lnSpc>
            </a:pPr>
            <a:r>
              <a:rPr sz="2600" b="1" i="0">
                <a:solidFill>
                  <a:srgbClr val="111111"/>
                </a:solidFill>
                <a:latin typeface="Arial"/>
              </a:rPr>
              <a:t>References: incidents</a:t>
            </a:r>
          </a:p>
        </p:txBody>
      </p:sp>
      <p:sp>
        <p:nvSpPr>
          <p:cNvPr id="4" name="TextBox 3"/>
          <p:cNvSpPr txBox="1"/>
          <p:nvPr/>
        </p:nvSpPr>
        <p:spPr>
          <a:xfrm>
            <a:off x="8503920" y="109728"/>
            <a:ext cx="3200400" cy="274320"/>
          </a:xfrm>
          <a:prstGeom prst="rect">
            <a:avLst/>
          </a:prstGeom>
          <a:noFill/>
        </p:spPr>
        <p:txBody>
          <a:bodyPr wrap="square" lIns="45720" rIns="45720" tIns="27432" bIns="27432" anchor="t">
            <a:spAutoFit/>
          </a:bodyPr>
          <a:lstStyle/>
          <a:p>
            <a:pPr algn="r">
              <a:lnSpc>
                <a:spcPct val="110000"/>
              </a:lnSpc>
            </a:pPr>
            <a:r>
              <a:rPr sz="900" b="1" i="0">
                <a:solidFill>
                  <a:srgbClr val="365E9E"/>
                </a:solidFill>
                <a:latin typeface="Arial"/>
              </a:rPr>
              <a:t>REFERENCES</a:t>
            </a:r>
          </a:p>
        </p:txBody>
      </p:sp>
      <p:cxnSp>
        <p:nvCxnSpPr>
          <p:cNvPr id="5" name="Connector 4"/>
          <p:cNvCxnSpPr/>
          <p:nvPr/>
        </p:nvCxnSpPr>
        <p:spPr>
          <a:xfrm>
            <a:off x="457200" y="6446520"/>
            <a:ext cx="11277295" cy="0"/>
          </a:xfrm>
          <a:prstGeom prst="line">
            <a:avLst/>
          </a:prstGeom>
          <a:ln w="6350">
            <a:solidFill>
              <a:srgbClr val="C9C9C9"/>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473952"/>
            <a:ext cx="10058400" cy="274320"/>
          </a:xfrm>
          <a:prstGeom prst="rect">
            <a:avLst/>
          </a:prstGeom>
          <a:noFill/>
        </p:spPr>
        <p:txBody>
          <a:bodyPr wrap="square" lIns="45720" rIns="45720" tIns="27432" bIns="27432" anchor="t">
            <a:spAutoFit/>
          </a:bodyPr>
          <a:lstStyle/>
          <a:p>
            <a:pPr algn="l">
              <a:lnSpc>
                <a:spcPct val="110000"/>
              </a:lnSpc>
            </a:pPr>
            <a:r>
              <a:rPr sz="800" b="0" i="0">
                <a:solidFill>
                  <a:srgbClr val="666666"/>
                </a:solidFill>
                <a:latin typeface="Arial"/>
              </a:rPr>
              <a:t>Incident-aware optimization · design proposal · containment-extension · October 2026 · no benchmark improvement measured</a:t>
            </a:r>
          </a:p>
        </p:txBody>
      </p:sp>
      <p:sp>
        <p:nvSpPr>
          <p:cNvPr id="7" name="TextBox 6"/>
          <p:cNvSpPr txBox="1"/>
          <p:nvPr/>
        </p:nvSpPr>
        <p:spPr>
          <a:xfrm>
            <a:off x="10820095" y="6473952"/>
            <a:ext cx="914400" cy="274320"/>
          </a:xfrm>
          <a:prstGeom prst="rect">
            <a:avLst/>
          </a:prstGeom>
          <a:noFill/>
        </p:spPr>
        <p:txBody>
          <a:bodyPr wrap="square" lIns="45720" rIns="45720" tIns="27432" bIns="27432" anchor="t">
            <a:spAutoFit/>
          </a:bodyPr>
          <a:lstStyle/>
          <a:p>
            <a:pPr algn="r">
              <a:lnSpc>
                <a:spcPct val="110000"/>
              </a:lnSpc>
            </a:pPr>
            <a:r>
              <a:rPr sz="900" b="0" i="0">
                <a:solidFill>
                  <a:srgbClr val="666666"/>
                </a:solidFill>
                <a:latin typeface="Arial"/>
              </a:rPr>
              <a:t>35</a:t>
            </a:r>
          </a:p>
        </p:txBody>
      </p:sp>
      <p:sp>
        <p:nvSpPr>
          <p:cNvPr id="8" name="TextBox 7"/>
          <p:cNvSpPr txBox="1"/>
          <p:nvPr/>
        </p:nvSpPr>
        <p:spPr>
          <a:xfrm>
            <a:off x="457200" y="1325880"/>
            <a:ext cx="5577840" cy="4937760"/>
          </a:xfrm>
          <a:prstGeom prst="rect">
            <a:avLst/>
          </a:prstGeom>
          <a:noFill/>
        </p:spPr>
        <p:txBody>
          <a:bodyPr wrap="square" lIns="45720" rIns="45720">
            <a:spAutoFit/>
          </a:bodyPr>
          <a:lstStyle/>
          <a:p>
            <a:pPr>
              <a:lnSpc>
                <a:spcPct val="105000"/>
              </a:lnSpc>
              <a:spcAft>
                <a:spcPts val="500"/>
              </a:spcAft>
            </a:pPr>
            <a:r>
              <a:rPr sz="1100" b="0" i="0">
                <a:solidFill>
                  <a:srgbClr val="111111"/>
                </a:solidFill>
                <a:latin typeface="Arial"/>
              </a:rPr>
              <a:t>•  Sakana AI (Aug 2024). The AI Scientist. sakana.ai/ai-scientist; coverage: Ars Technica</a:t>
            </a:r>
          </a:p>
          <a:p>
            <a:pPr>
              <a:lnSpc>
                <a:spcPct val="105000"/>
              </a:lnSpc>
              <a:spcAft>
                <a:spcPts val="500"/>
              </a:spcAft>
            </a:pPr>
            <a:r>
              <a:rPr sz="1100" b="0" i="0">
                <a:solidFill>
                  <a:srgbClr val="111111"/>
                </a:solidFill>
                <a:latin typeface="Arial"/>
              </a:rPr>
              <a:t>•  OpenAI (Dec 2024). o1 System Card, Apollo Research scheming evaluations. cdn.openai.com/o1-system-card-20241205.pdf</a:t>
            </a:r>
          </a:p>
          <a:p>
            <a:pPr>
              <a:lnSpc>
                <a:spcPct val="105000"/>
              </a:lnSpc>
              <a:spcAft>
                <a:spcPts val="500"/>
              </a:spcAft>
            </a:pPr>
            <a:r>
              <a:rPr sz="1100" b="0" i="0">
                <a:solidFill>
                  <a:srgbClr val="111111"/>
                </a:solidFill>
                <a:latin typeface="Arial"/>
              </a:rPr>
              <a:t>•  Palisade Research (Dec 2024, Feb 2025). o1-preview hacks its chess environment. x.com/PalisadeAI; MIT Technology Review</a:t>
            </a:r>
          </a:p>
          <a:p>
            <a:pPr>
              <a:lnSpc>
                <a:spcPct val="105000"/>
              </a:lnSpc>
              <a:spcAft>
                <a:spcPts val="500"/>
              </a:spcAft>
            </a:pPr>
            <a:r>
              <a:rPr sz="1100" b="0" i="0">
                <a:solidFill>
                  <a:srgbClr val="111111"/>
                </a:solidFill>
                <a:latin typeface="Arial"/>
              </a:rPr>
              <a:t>•  Baker et al., OpenAI (Mar 2025). Monitoring Reasoning Models for Misbehavior. arXiv:2503.11926</a:t>
            </a:r>
          </a:p>
          <a:p>
            <a:pPr>
              <a:lnSpc>
                <a:spcPct val="105000"/>
              </a:lnSpc>
              <a:spcAft>
                <a:spcPts val="500"/>
              </a:spcAft>
            </a:pPr>
            <a:r>
              <a:rPr sz="1100" b="0" i="0">
                <a:solidFill>
                  <a:srgbClr val="111111"/>
                </a:solidFill>
                <a:latin typeface="Arial"/>
              </a:rPr>
              <a:t>•  Palisade Research (May 2025). o3 sabotages shutdown in 7/100 runs. BleepingComputer, The Register</a:t>
            </a:r>
          </a:p>
          <a:p>
            <a:pPr>
              <a:lnSpc>
                <a:spcPct val="105000"/>
              </a:lnSpc>
              <a:spcAft>
                <a:spcPts val="500"/>
              </a:spcAft>
            </a:pPr>
            <a:r>
              <a:rPr sz="1100" b="0" i="0">
                <a:solidFill>
                  <a:srgbClr val="111111"/>
                </a:solidFill>
                <a:latin typeface="Arial"/>
              </a:rPr>
              <a:t>•  Anthropic (May 2025). System Card: Claude Opus 4 and Sonnet 4. anthropic.com/claude-4-system-card</a:t>
            </a:r>
          </a:p>
          <a:p>
            <a:pPr>
              <a:lnSpc>
                <a:spcPct val="105000"/>
              </a:lnSpc>
              <a:spcAft>
                <a:spcPts val="500"/>
              </a:spcAft>
            </a:pPr>
            <a:r>
              <a:rPr sz="1100" b="0" i="0">
                <a:solidFill>
                  <a:srgbClr val="111111"/>
                </a:solidFill>
                <a:latin typeface="Arial"/>
              </a:rPr>
              <a:t>•  Anthropic (Jun 2025). Agentic Misalignment: How LLMs Could Be Insider Threats</a:t>
            </a:r>
          </a:p>
        </p:txBody>
      </p:sp>
      <p:sp>
        <p:nvSpPr>
          <p:cNvPr id="9" name="TextBox 8"/>
          <p:cNvSpPr txBox="1"/>
          <p:nvPr/>
        </p:nvSpPr>
        <p:spPr>
          <a:xfrm>
            <a:off x="6263640" y="1325880"/>
            <a:ext cx="5486400" cy="4937760"/>
          </a:xfrm>
          <a:prstGeom prst="rect">
            <a:avLst/>
          </a:prstGeom>
          <a:noFill/>
        </p:spPr>
        <p:txBody>
          <a:bodyPr wrap="square" lIns="45720" rIns="45720">
            <a:spAutoFit/>
          </a:bodyPr>
          <a:lstStyle/>
          <a:p>
            <a:pPr>
              <a:lnSpc>
                <a:spcPct val="105000"/>
              </a:lnSpc>
              <a:spcAft>
                <a:spcPts val="500"/>
              </a:spcAft>
            </a:pPr>
            <a:r>
              <a:rPr sz="1100" b="0" i="0">
                <a:solidFill>
                  <a:srgbClr val="111111"/>
                </a:solidFill>
                <a:latin typeface="Arial"/>
              </a:rPr>
              <a:t>•  Invariant Labs (May 2025). GitHub MCP private-repository exfiltration. github/github-mcp-server issue #844</a:t>
            </a:r>
          </a:p>
          <a:p>
            <a:pPr>
              <a:lnSpc>
                <a:spcPct val="105000"/>
              </a:lnSpc>
              <a:spcAft>
                <a:spcPts val="500"/>
              </a:spcAft>
            </a:pPr>
            <a:r>
              <a:rPr sz="1100" b="0" i="0">
                <a:solidFill>
                  <a:srgbClr val="111111"/>
                </a:solidFill>
                <a:latin typeface="Arial"/>
              </a:rPr>
              <a:t>•  SaaStr / Replit (Jul 2025). Production database deleted during code freeze. Slashdot, Fortune</a:t>
            </a:r>
          </a:p>
          <a:p>
            <a:pPr>
              <a:lnSpc>
                <a:spcPct val="105000"/>
              </a:lnSpc>
              <a:spcAft>
                <a:spcPts val="500"/>
              </a:spcAft>
            </a:pPr>
            <a:r>
              <a:rPr sz="1100" b="0" i="0">
                <a:solidFill>
                  <a:srgbClr val="111111"/>
                </a:solidFill>
                <a:latin typeface="Arial"/>
              </a:rPr>
              <a:t>•  AWS; 404 Media (Jul 2025). Amazon Q Developer extension 1.84.0 wiper prompt. SC Media</a:t>
            </a:r>
          </a:p>
          <a:p>
            <a:pPr>
              <a:lnSpc>
                <a:spcPct val="105000"/>
              </a:lnSpc>
              <a:spcAft>
                <a:spcPts val="500"/>
              </a:spcAft>
            </a:pPr>
            <a:r>
              <a:rPr sz="1100" b="0" i="0">
                <a:solidFill>
                  <a:srgbClr val="111111"/>
                </a:solidFill>
                <a:latin typeface="Arial"/>
              </a:rPr>
              <a:t>•  AI Incident Database (Jul 2025). Incident 1178: Gemini CLI deletes user files. incidentdatabase.ai/cite/1178</a:t>
            </a:r>
          </a:p>
          <a:p>
            <a:pPr>
              <a:lnSpc>
                <a:spcPct val="105000"/>
              </a:lnSpc>
              <a:spcAft>
                <a:spcPts val="500"/>
              </a:spcAft>
            </a:pPr>
            <a:r>
              <a:rPr sz="1100" b="0" i="0">
                <a:solidFill>
                  <a:srgbClr val="111111"/>
                </a:solidFill>
                <a:latin typeface="Arial"/>
              </a:rPr>
              <a:t>•  Brave Security (Aug 2025). Indirect prompt injection in Perplexity Comet. brave.com/blog</a:t>
            </a:r>
          </a:p>
          <a:p>
            <a:pPr>
              <a:lnSpc>
                <a:spcPct val="105000"/>
              </a:lnSpc>
              <a:spcAft>
                <a:spcPts val="500"/>
              </a:spcAft>
            </a:pPr>
            <a:r>
              <a:rPr sz="1100" b="0" i="0">
                <a:solidFill>
                  <a:srgbClr val="111111"/>
                </a:solidFill>
                <a:latin typeface="Arial"/>
              </a:rPr>
              <a:t>•  OpenAI (Oct–Dec 2025). ChatGPT Atlas prompt-injection update. CyberScoop</a:t>
            </a:r>
          </a:p>
          <a:p>
            <a:pPr>
              <a:lnSpc>
                <a:spcPct val="105000"/>
              </a:lnSpc>
              <a:spcAft>
                <a:spcPts val="500"/>
              </a:spcAft>
            </a:pPr>
            <a:r>
              <a:rPr sz="1100" b="0" i="0">
                <a:solidFill>
                  <a:srgbClr val="111111"/>
                </a:solidFill>
                <a:latin typeface="Arial"/>
              </a:rPr>
              <a:t>•  Anthropic (Nov 2025). Disrupting the first AI-orchestrated cyber espionage campaign (GTG-1002). AI Incident Database 1263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