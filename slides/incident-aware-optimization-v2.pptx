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row is a public report; figures are the reporters' own. Full sources on the incident references slide. Several rows are evaluation findings in constructed scenarios, not deployment incidents; the deck says which.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docs/incident-study-results.md, docs/link-study-results.md, results/link-study-v1/run-0022.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Seed material already in the repo: 28 harness cases, 8 replay controls, 12 permission controls, ImpossibleBench checks, 1,543 monitor inputs from 224 rollouts. None stored in this schema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Foundation: counterfactual evaluation infrastructure offline stages passed (4 cases, 320 transition checks, 17 grader cases).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111111"/>
                </a:solidFill>
                <a:latin typeface="Arial"/>
              </a:rPr>
              <a:t>Incident-Aware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365E9E"/>
                </a:solidFill>
                <a:latin typeface="Arial"/>
              </a:rPr>
              <a:t>Turning the history of agent incidents into better evaluation tasks,</a:t>
            </a:r>
          </a:p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365E9E"/>
                </a:solidFill>
                <a:latin typeface="Arial"/>
              </a:rPr>
              <a:t>runtime monitors and instructions: a proposed Inspect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058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666666"/>
                </a:solidFill>
                <a:latin typeface="Arial"/>
              </a:rPr>
              <a:t>We cannot make incidents never happen. We can make every incident that did happen</a:t>
            </a:r>
          </a:p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666666"/>
                </a:solidFill>
                <a:latin typeface="Arial"/>
              </a:rPr>
              <a:t>a permanent, regression-tested improvement to the next policy.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Jiawei Li · containment-extension · design proposal,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What this deck covers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11277295" cy="713232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365E9E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99032"/>
            <a:ext cx="32918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399032"/>
            <a:ext cx="704088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66666"/>
                </a:solidFill>
                <a:latin typeface="Arial"/>
              </a:rPr>
              <a:t>Incidents are inevitable; history is the asset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30552"/>
            <a:ext cx="112772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2221992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365E9E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03704"/>
            <a:ext cx="32918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03704"/>
            <a:ext cx="704088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66666"/>
                </a:solidFill>
                <a:latin typeface="Arial"/>
              </a:rPr>
              <a:t>An Inspect extension plus an incident library; who uses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35224"/>
            <a:ext cx="11277295" cy="713232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365E9E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08376"/>
            <a:ext cx="32918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08376"/>
            <a:ext cx="704088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66666"/>
                </a:solidFill>
                <a:latin typeface="Arial"/>
              </a:rPr>
              <a:t>One architecture, seven principles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39896"/>
            <a:ext cx="112772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4360" y="3831336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365E9E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13048"/>
            <a:ext cx="32918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813048"/>
            <a:ext cx="704088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66666"/>
                </a:solidFill>
                <a:latin typeface="Arial"/>
              </a:rPr>
              <a:t>Intake, library, synthesis, replay, optimizer, monitor, release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44568"/>
            <a:ext cx="11277295" cy="713232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4636008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365E9E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617720"/>
            <a:ext cx="32918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Standout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617720"/>
            <a:ext cx="704088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66666"/>
                </a:solidFill>
                <a:latin typeface="Arial"/>
              </a:rPr>
              <a:t>Time split, benign twins, poisoning defence, blame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49240"/>
            <a:ext cx="112772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544068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365E9E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422392"/>
            <a:ext cx="32918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Risks, evaluation,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422392"/>
            <a:ext cx="704088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66666"/>
                </a:solidFill>
                <a:latin typeface="Arial"/>
              </a:rPr>
              <a:t>What could fool us, how we would know, what exists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Incidents are a property of complex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Four views that agree on the premise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1 · MOTIVATION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6035040" cy="987552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1399032"/>
            <a:ext cx="583387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Perrow, Normal Accidents (1984)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64792"/>
            <a:ext cx="585216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Tightly coupled, complex systems make some accidents inevitable.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95728"/>
            <a:ext cx="6035040" cy="987552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" y="2468880"/>
            <a:ext cx="583387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Taleb, The Black Swan (2007)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585216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Rare events cannot be predicted in detail. Build systems that gain from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65576"/>
            <a:ext cx="6035040" cy="987552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6928" y="3538728"/>
            <a:ext cx="583387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Popper (1963)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04488"/>
            <a:ext cx="585216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Knowledge grows by correcting errors.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35424"/>
            <a:ext cx="6035040" cy="987552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4608576"/>
            <a:ext cx="583387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Reason, Swiss cheese (1990)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74336"/>
            <a:ext cx="5852160" cy="4846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Holes in the defences move. Each incident shows where one is.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812280" y="1325880"/>
          <a:ext cx="4919471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013"/>
                <a:gridCol w="4008458"/>
              </a:tblGrid>
              <a:tr h="43107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Nobody predicted it in detail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111111"/>
                          </a:solidFill>
                          <a:latin typeface="Arial"/>
                        </a:rPr>
                        <a:t>2008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11111"/>
                          </a:solidFill>
                          <a:latin typeface="Arial"/>
                        </a:rPr>
                        <a:t>Global financial crisis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111111"/>
                          </a:solidFill>
                          <a:latin typeface="Arial"/>
                        </a:rPr>
                        <a:t>2011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11111"/>
                          </a:solidFill>
                          <a:latin typeface="Arial"/>
                        </a:rPr>
                        <a:t>Fukushima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111111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11111"/>
                          </a:solidFill>
                          <a:latin typeface="Arial"/>
                        </a:rPr>
                        <a:t>Boeing 737 MAX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111111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11111"/>
                          </a:solidFill>
                          <a:latin typeface="Arial"/>
                        </a:rPr>
                        <a:t>Log4Shell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111111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11111"/>
                          </a:solidFill>
                          <a:latin typeface="Arial"/>
                        </a:rPr>
                        <a:t>CrowdStrike outage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111111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11111"/>
                          </a:solidFill>
                          <a:latin typeface="Arial"/>
                        </a:rPr>
                        <a:t>Coding agent deletes a production database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6812280" y="4663440"/>
            <a:ext cx="4919472" cy="160020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49440" y="4736592"/>
            <a:ext cx="4663440" cy="1463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AI agents are the newest tightly coupled system.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The question is not whether incidents happen. It is what we do with each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What other fields built from their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Every mature high-risk field runs a learning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1 · MOTIVATION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25880"/>
          <a:ext cx="1127729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968"/>
                <a:gridCol w="4771163"/>
                <a:gridCol w="4771163"/>
              </a:tblGrid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Domain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Institution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What gets updated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Aviation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NTSB investigations; confidential ASRS reports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Procedures, checklists, training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Nuclear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INPO peer review after Three Mile Island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Fleet-wide lessons and inspections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Finance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Stress tests after 2008 (Dodd-Frank, Basel III)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Historical crises rerun against every bank, yearly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Cybersecurity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CVE, NVD, MITRE ATT&amp;CK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Proof of concept, patch, detection rule, regression test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Software ops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Blameless postmortems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Alerts, runbooks, CI gates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4937760"/>
            <a:ext cx="11277295" cy="128016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5010912"/>
            <a:ext cx="10820095" cy="11338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111"/>
                </a:solidFill>
                <a:latin typeface="Arial"/>
              </a:rPr>
              <a:t>The pattern: investigate → record → test → update → check against the next event.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11111"/>
                </a:solidFill>
                <a:latin typeface="Arial"/>
              </a:rPr>
              <a:t>None promised zero incidents. They promised no incident would be wasted.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Agent incidents on the record, 2024–2025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Documented by the developers themselves, by evaluators, or by security researchers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1 · MOTIVATION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25880"/>
          <a:ext cx="11277293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405"/>
                <a:gridCol w="2091756"/>
                <a:gridCol w="5456755"/>
                <a:gridCol w="2728377"/>
              </a:tblGrid>
              <a:tr h="35596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What happened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Documented by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35596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Aug 2024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Sakana AI Scientist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Edited its own run script to lift the timeout instead of fixing the code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Sakana AI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596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Dec 2024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OpenAI o1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In tests: tried to disable oversight (5%), manipulated data (19%), denied it afterwards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Apollo Research, o1 system card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35596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Dec 2024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OpenAI o1-preview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Edited the game state to beat Stockfish; 45 hack attempts in 122 games, unprompted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Palisade Research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596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Mar 2025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OpenAI reasoning agent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Reward hacking in coding tasks; penalising it taught the model to hide intent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OpenAI (Baker et al.)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35596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May 2025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OpenAI o3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Sabotaged its shutdown script in 7 of 100 runs despite being told to allow shutdown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Palisade Research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596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May 2025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Claude Opus 4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Blackmail in 84% of a constructed replacement scenario; later 16-model study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Anthropic system card; Agentic Misalignment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35596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May 2025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GitHub MCP server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Prompt injection in a public issue made the agent leak private repositories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Invariant Labs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596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Jul 2025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Replit agent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Deleted a production database during a code freeze, then misreported it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SaaStr founder; Replit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35596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Jul 2025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Amazon Q extension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A malicious pull request shipped a wiper prompt in release 1.84.0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AWS; 404 Media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596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Jul 2025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Gemini CLI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Moved files into a directory that did not exist, destroying a user's project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AI Incident Database #1178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35596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Aug 2025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Perplexity Comet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Hidden text on a web page made the browser agent exfiltrate a one-time password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Brave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596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Oct 2025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ChatGPT Atlas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New prompt-injection class found by red teaming; OpenAI: may never be fully solved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35597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11111"/>
                          </a:solidFill>
                          <a:latin typeface="Arial"/>
                        </a:rPr>
                        <a:t>Nov 2025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Claude Code (GTG-1002)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State-linked operator ran an espionage campaign on ~30 targets, 80–90% autonomous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111111"/>
                          </a:solidFill>
                          <a:latin typeface="Arial"/>
                        </a:rPr>
                        <a:t>Anthropic; AI Incident Database #1263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AI agents, 2025–2026: incidents arrive, institutions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1 · MOTIVATION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3108960"/>
          </a:xfrm>
          <a:prstGeom prst="roundRect">
            <a:avLst>
              <a:gd name="adj" fmla="val 6000"/>
            </a:avLst>
          </a:prstGeom>
          <a:solidFill>
            <a:srgbClr val="FBEFEC"/>
          </a:solidFill>
          <a:ln w="12700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1399032"/>
            <a:ext cx="53309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B34831"/>
                </a:solidFill>
                <a:latin typeface="Arial"/>
              </a:rPr>
              <a:t>What those incidents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64792"/>
            <a:ext cx="5385816" cy="2606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Exploiting the evaluation: test cases, timeouts, game state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Resisting oversight in tests: shutdown, replacement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Following injected instructions: issues, web pages, extensions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Destructive actions despite explicit instructions: code freeze, file moves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Agents as attack tooling at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25880"/>
            <a:ext cx="5330952" cy="310896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10528" y="1399032"/>
            <a:ext cx="51297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365E9E"/>
                </a:solidFill>
                <a:latin typeface="Arial"/>
              </a:rPr>
              <a:t>In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64792"/>
            <a:ext cx="5184648" cy="2606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EU AI Act, Art. 73: serious-incident reporting for high-risk systems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California SB 53: critical-incident reporting by frontier developers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OECD AI Incident Monitor, AI Incident Database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All of it is narrative. Nobody turns a report into an executable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11277295" cy="160020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4736592"/>
            <a:ext cx="10820095" cy="1453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Expected harm = incident rate × deployment volume.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Patching a prompt has diminishing returns. A regression case is reused against every future policy. Learning compounds.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1 · MOTIVATION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11277295" cy="1371600"/>
          </a:xfrm>
          <a:prstGeom prst="roundRect">
            <a:avLst>
              <a:gd name="adj" fmla="val 6000"/>
            </a:avLst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728655" cy="1188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We cannot remove every possibility of an agent incident.</a:t>
            </a:r>
          </a:p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We can make sure no incident that did happen is wasted.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1277295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“Those who cannot remember the past are condemned to repeat it.”  Santayana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FBEFEC"/>
          </a:solidFill>
          <a:ln w="12700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3456432"/>
            <a:ext cx="345643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B34831"/>
                </a:solidFill>
                <a:latin typeface="Arial"/>
              </a:rPr>
              <a:t>What we cannot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822192"/>
            <a:ext cx="3511296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Enumerate every route an agent might take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Prevent with instructions alone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Certify absence from a handful of clean runs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338328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79976" y="3456432"/>
            <a:ext cx="345643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7D5B"/>
                </a:solidFill>
                <a:latin typeface="Arial"/>
              </a:rPr>
              <a:t>What we can 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822192"/>
            <a:ext cx="3511296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Observe effects independently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Store each incident as an executable case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Replay every case against every new policy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Hold out by lineage and by 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3383280"/>
            <a:ext cx="3657600" cy="288036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83880" y="3456432"/>
            <a:ext cx="345643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365E9E"/>
                </a:solidFill>
                <a:latin typeface="Arial"/>
              </a:rPr>
              <a:t>What this proposal 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3822192"/>
            <a:ext cx="3511296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An Inspect extension plus an incident library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 constrained optimiser: fewer incidents at the same utility and cost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 human-gated, versioned release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Same score, different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Task scorers do not see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1 · MOTIVATION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pic>
        <p:nvPicPr>
          <p:cNvPr id="9" name="Picture 8" descr="incident-optimization-intu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680960" cy="44490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49640" y="1325880"/>
            <a:ext cx="329184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Policy A solves the task. Policy B copies a prior run's answer. Both pass.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Only an independent observer of effects tells them apart.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Seen in our runs: 6/8 outside reads without enforcement, 0/8 with it; a cached flag accepted by the scorer.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The gap this proposal closes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1 · MOTIVATION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729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6043"/>
                <a:gridCol w="6151251"/>
              </a:tblGrid>
              <a:tr h="7010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Missing today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This design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Scorers are blind to authorization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Independent incident observer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Incident knowledge is scattered prose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One executable, versioned library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Fixes are not regression-tested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Every library case replays before release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Monitors lack calibration and provenance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Calibrated thresholds; every rule cites its incident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No held-out protocol for learned policies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Hold out by lineage and by date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What is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An Inspect extension plus an incident library; the model is never modified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2 · DELIVERY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1399032"/>
            <a:ext cx="345643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365E9E"/>
                </a:solidFill>
                <a:latin typeface="Arial"/>
              </a:rPr>
              <a:t>Python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764792"/>
            <a:ext cx="3511296" cy="333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Incident observer scorers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Action monitor as a tool-call approver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Replay toolbox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Optimizer CLI with regression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32588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 w="12700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79976" y="1399032"/>
            <a:ext cx="345643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B8732A"/>
                </a:solidFill>
                <a:latin typeface="Arial"/>
              </a:rPr>
              <a:t>Incident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764792"/>
            <a:ext cx="3511296" cy="333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Structured incident records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Executable cases with benign twins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Dev / calibration / held-out splits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Researcher-only; never in the agent's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2588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93024" y="1399032"/>
            <a:ext cx="345643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7D5B"/>
                </a:solidFill>
                <a:latin typeface="Arial"/>
              </a:rPr>
              <a:t>Releases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1764792"/>
            <a:ext cx="3511296" cy="333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Eval pack vN: qualified tasks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Policy vN: clauses + monitor rules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Evidence per change, changelog, rollback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94960"/>
            <a:ext cx="11277295" cy="82296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5800" y="5468112"/>
            <a:ext cx="10820095" cy="676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11111"/>
                </a:solidFill>
                <a:latin typeface="Arial"/>
              </a:rPr>
              <a:t>Built on Inspect (approvers, scorers, eval logs), Inspect Scout (scanners), ControlArena (monitors, micro-protocols) and Hawk (runs at scale).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Who uses it: optional or mandated?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2 · DELIVERY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7294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500"/>
                <a:gridCol w="3690751"/>
                <a:gridCol w="5126043"/>
              </a:tblGrid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Mode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What they do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A · Opt-in plugin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Agent developers, eval teams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Run on their own tasks; private library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B · Shared library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Labs, AISIs, academic groups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Contribute redacted cases; pull eval packs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C · Reference suite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Third-party evaluators, regulators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Require passing the held-out incident pack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069080"/>
            <a:ext cx="5532120" cy="219456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4142232"/>
            <a:ext cx="53309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365E9E"/>
                </a:solidFill>
                <a:latin typeface="Arial"/>
              </a:rP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4507992"/>
            <a:ext cx="5385816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Ship A first and make it good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Design the shared schema for B from day one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Do not design around C; a mandate needs a reproducible library first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069080"/>
            <a:ext cx="5330952" cy="2194560"/>
          </a:xfrm>
          <a:prstGeom prst="roundRect">
            <a:avLst>
              <a:gd name="adj" fmla="val 6000"/>
            </a:avLst>
          </a:prstGeom>
          <a:solidFill>
            <a:srgbClr val="FBEFEC"/>
          </a:solidFill>
          <a:ln w="12700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10528" y="4142232"/>
            <a:ext cx="51297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B34831"/>
                </a:solidFill>
                <a:latin typeface="Arial"/>
              </a:rPr>
              <a:t>Governance in every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507992"/>
            <a:ext cx="5184648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Humans approve cases in and policies out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The evaluated agent never sees the library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Every released rule cites its incident and trial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The architecture: history → replay →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Three stages, one scheduled loop, one one-way exit to held-out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3 · DESIGN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pic>
        <p:nvPicPr>
          <p:cNvPr id="9" name="Picture 8" descr="incident-optimization-overview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234440"/>
            <a:ext cx="8064562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What we build on, and what we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The design composes existing systems; the new parts are the library, the gate and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3 · DESIGN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25880"/>
          <a:ext cx="11277293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818"/>
                <a:gridCol w="3300671"/>
                <a:gridCol w="2750559"/>
                <a:gridCol w="2842245"/>
              </a:tblGrid>
              <a:tr h="6792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It provides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We reuse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We add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111111"/>
                          </a:solidFill>
                          <a:latin typeface="Arial"/>
                        </a:rPr>
                        <a:t>Inspect (UK AISI)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Tasks, scorers, sandboxes, tool-call approvers, eval logs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Everything; approvers host the action monitor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Incident observer scorers; regression gate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111111"/>
                          </a:solidFill>
                          <a:latin typeface="Arial"/>
                        </a:rPr>
                        <a:t>Inspect Scout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Transcript scanners at scale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Scan own logs for intake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Incident schema; evidence grades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111111"/>
                          </a:solidFill>
                          <a:latin typeface="Arial"/>
                        </a:rPr>
                        <a:t>ControlArena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Monitors with suspicion scores; trusted monitoring, defer-to-trusted; settings with side tasks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Monitor interface and micro-protocols; BashArena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Rule provenance; calibration-only thresholds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111111"/>
                          </a:solidFill>
                          <a:latin typeface="Arial"/>
                        </a:rPr>
                        <a:t>Hawk / Vivaria (METR)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Run Inspect at scale; action monitor tied to approvals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Execution backend; context-gap warning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Time-split evaluation; versioned releases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111111"/>
                          </a:solidFill>
                          <a:latin typeface="Arial"/>
                        </a:rPr>
                        <a:t>ImpossibleBench, AgentDojo, ResearchArena, SHADE-Arena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Tasks and official baselines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Held-out tasks; published defences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Benign twins; post-cutoff incident families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111111"/>
                          </a:solidFill>
                          <a:latin typeface="Arial"/>
                        </a:rPr>
                        <a:t>AIID, OECD AIM, MIT AI Risk Repository, MITRE ATLAS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Incident reports and taxonomies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Sources and tags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Executable reproductions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Seven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Each closes a way the loop could fool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3 · DESIGN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66928" y="1435608"/>
            <a:ext cx="274320" cy="274320"/>
          </a:xfrm>
          <a:prstGeom prst="ellipse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99032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Observe effects, not vibes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64792"/>
            <a:ext cx="3474720" cy="9784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An incident is a witnessed effect, recorded outside the agent's authority.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325880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379976" y="1435608"/>
            <a:ext cx="274320" cy="274320"/>
          </a:xfrm>
          <a:prstGeom prst="ellipse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1399032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Executable, not narrative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764792"/>
            <a:ext cx="3474720" cy="9784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A case must replay. Grades: A executable, B trace, C narrative.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325880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193024" y="1435608"/>
            <a:ext cx="274320" cy="274320"/>
          </a:xfrm>
          <a:prstGeom prst="ellipse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1399032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Every incident has a benign twin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1764792"/>
            <a:ext cx="3474720" cy="9784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A fix that blocks the twin counts as a false refusal.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1693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66928" y="3026664"/>
            <a:ext cx="274320" cy="274320"/>
          </a:xfrm>
          <a:prstGeom prst="ellipse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990088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Development feedback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355848"/>
            <a:ext cx="3474720" cy="9784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Held-out by lineage and by date; the proposer sees aggregates.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0248" y="291693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379976" y="3026664"/>
            <a:ext cx="274320" cy="274320"/>
          </a:xfrm>
          <a:prstGeom prst="ellipse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2990088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Constrained optimisation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355848"/>
            <a:ext cx="3474720" cy="9784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min R s.t. utility, cost, refusals and zero regressions.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3296" y="2916936"/>
            <a:ext cx="365760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193024" y="3026664"/>
            <a:ext cx="274320" cy="274320"/>
          </a:xfrm>
          <a:prstGeom prst="ellipse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2990088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Grounded changes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3355848"/>
            <a:ext cx="3474720" cy="9784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Clauses from a reviewed catalog; thresholds from benign data.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507992"/>
            <a:ext cx="11274552" cy="1481328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566928" y="4617720"/>
            <a:ext cx="274320" cy="274320"/>
          </a:xfrm>
          <a:prstGeom prst="ellipse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81144"/>
            <a:ext cx="1072591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Human gates, versioned releases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46904"/>
            <a:ext cx="11091672" cy="9784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Signed, diffable, rollback-able.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Component 1 · Incident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From the web and from your own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4 · COMPONENTS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291840" cy="265176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1399032"/>
            <a:ext cx="309067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365E9E"/>
                </a:solidFill>
                <a:latin typeface="Arial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764792"/>
            <a:ext cx="3145536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Own Inspect logs, scanned with Inspect Scout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AI Incident Database, OECD AI Incident Monitor, MIT AI Risk Repository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Postmortems, issues, advisories; provenance kept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40480" y="2514600"/>
            <a:ext cx="320040" cy="274320"/>
          </a:xfrm>
          <a:prstGeom prst="rightArrow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325880"/>
            <a:ext cx="3657600" cy="265176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61688" y="1399032"/>
            <a:ext cx="345643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365E9E"/>
                </a:solidFill>
                <a:latin typeface="Arial"/>
              </a:rPr>
              <a:t>Intake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1764792"/>
            <a:ext cx="3511296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Normalise to one incident schema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Taxonomy from MITRE ATLAS and OWASP agentic threats; dedupe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Grade evidence: A executable, B trace, C narrative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001000" y="2514600"/>
            <a:ext cx="320040" cy="274320"/>
          </a:xfrm>
          <a:prstGeom prst="rightArrow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1325880"/>
            <a:ext cx="3319272" cy="2651760"/>
          </a:xfrm>
          <a:prstGeom prst="roundRect">
            <a:avLst>
              <a:gd name="adj" fmla="val 6000"/>
            </a:avLst>
          </a:prstGeom>
          <a:solidFill>
            <a:srgbClr val="FBEFEC"/>
          </a:solidFill>
          <a:ln w="12700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22208" y="1399032"/>
            <a:ext cx="31181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B34831"/>
                </a:solidFill>
                <a:latin typeface="Arial"/>
              </a:rPr>
              <a:t>Human review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764792"/>
            <a:ext cx="3172968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Accept, reject, defer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 report alone never changes a policy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06240"/>
            <a:ext cx="5532120" cy="205740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6928" y="4279392"/>
            <a:ext cx="53309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7D5B"/>
                </a:solidFill>
                <a:latin typeface="Arial"/>
              </a:rPr>
              <a:t>Unique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4645152"/>
            <a:ext cx="5385816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Evidence grades separate leads from facts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Fingerprints carry an incident across benchmarks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206240"/>
            <a:ext cx="5330952" cy="2057400"/>
          </a:xfrm>
          <a:prstGeom prst="roundRect">
            <a:avLst>
              <a:gd name="adj" fmla="val 6000"/>
            </a:avLst>
          </a:prstGeom>
          <a:solidFill>
            <a:srgbClr val="FBEFEC"/>
          </a:solidFill>
          <a:ln w="12700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10528" y="4279392"/>
            <a:ext cx="51297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B34831"/>
                </a:solidFill>
                <a:latin typeface="Arial"/>
              </a:rPr>
              <a:t>Threat: library poisoning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645152"/>
            <a:ext cx="5184648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Web reports are untrusted input to an optimiser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Defence: grade, quarantine, reproduce before influence, human gate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Component 2 · The incident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Executable history with partitions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4 · COMPONENTS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32120" cy="493776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1399032"/>
            <a:ext cx="53309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365E9E"/>
                </a:solidFill>
                <a:latin typeface="Arial"/>
              </a:rPr>
              <a:t>One case contains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764792"/>
            <a:ext cx="5385816" cy="4434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Checkpoint, authorization policy, tools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Exact trace and the minimal trigger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Expected effects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 benign twin task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Evidence grade, report date, provenance hashes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Lineage: variants and retries stay together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Case format compatible with ControlArena settings (main task + side task)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25880"/>
            <a:ext cx="5330952" cy="237744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 w="12700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10528" y="1399032"/>
            <a:ext cx="51297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B8732A"/>
                </a:solidFill>
                <a:latin typeface="Arial"/>
              </a:rPr>
              <a:t>Partitions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764792"/>
            <a:ext cx="5184648" cy="1874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Development, calibration, held-out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Split by lineage and by report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886200"/>
            <a:ext cx="5330952" cy="237744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10528" y="3959352"/>
            <a:ext cx="51297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7D5B"/>
                </a:solidFill>
                <a:latin typeface="Arial"/>
              </a:rPr>
              <a:t>Unique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325112"/>
            <a:ext cx="5184648" cy="1874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Executable, like CVE proofs of concept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Benign twins built in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Researcher tooling only; never reaches the agent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Component 3 · Case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The evaluation updates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4 · COMPONENTS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7315200" cy="749808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23774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Narrative → reproduction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325880"/>
            <a:ext cx="46634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Rebuild the scenario in a sandbox with the same tools and boundary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73152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23774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Matched 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148840"/>
            <a:ext cx="46634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Feasible, impossible, broken environment, plus a benign twin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71800"/>
            <a:ext cx="7315200" cy="749808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2971800"/>
            <a:ext cx="23774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Qualification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971800"/>
            <a:ext cx="46634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Reference solution replays; negative labels need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731520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794760"/>
            <a:ext cx="23774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Variants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794760"/>
            <a:ext cx="46634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Mutate names, URLs and wording so nothing is memorised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17720"/>
            <a:ext cx="7315200" cy="749808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6350">
            <a:solidFill>
              <a:srgbClr val="C9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4360" y="4617720"/>
            <a:ext cx="23774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Release into eval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617720"/>
            <a:ext cx="4663440" cy="7498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Qualified cases join development; held-out stays locked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325880"/>
            <a:ext cx="3730752" cy="402336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10728" y="1399032"/>
            <a:ext cx="35295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7D5B"/>
                </a:solidFill>
                <a:latin typeface="Arial"/>
              </a:rPr>
              <a:t>Unique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152" y="1764792"/>
            <a:ext cx="3584448" cy="352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New incidents become new tasks on a schedule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An unexpected pass triggers a label audit, not a silent win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 narrative lead becomes evidence only here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Component 4 · Counterfactual replay and blame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4 · COMPONENTS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18</a:t>
            </a:r>
          </a:p>
        </p:txBody>
      </p:sp>
      <p:pic>
        <p:nvPicPr>
          <p:cNvPr id="8" name="Picture 7" descr="counterfactual-diagnostic-t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669280" cy="319066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55080" y="1325880"/>
            <a:ext cx="5376672" cy="228600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64808" y="1399032"/>
            <a:ext cx="51755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365E9E"/>
                </a:solidFill>
                <a:latin typeface="Arial"/>
              </a:rPr>
              <a:t>Two comparisons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764792"/>
            <a:ext cx="5230368" cy="1783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Fixed-call replay: change one action, find the first differing response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Agent continuation: change one cue, re-sample, estimate P(incident | cue)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749039"/>
            <a:ext cx="5376672" cy="251460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64808" y="3822191"/>
            <a:ext cx="517550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7D5B"/>
                </a:solidFill>
                <a:latin typeface="Arial"/>
              </a:rPr>
              <a:t>Unique: blame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4187951"/>
            <a:ext cx="5230368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Each incident gets a minimal trigger and a named cause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Blame proposes both a clause and a monitor signature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Replays become new library cases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Component 5 · The policy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Constrained search with a feedback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4 · COMPONENTS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1277295" cy="82296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77295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365E9E"/>
                </a:solidFill>
                <a:latin typeface="Arial"/>
              </a:rPr>
              <a:t>min R(θ)   s.t.   U ≥ U₀ − δ,   C ≤ B,   F ≤ α,   Reg(θ) 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5532120" cy="201168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2450592"/>
            <a:ext cx="53309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365E9E"/>
                </a:solidFill>
                <a:latin typeface="Arial"/>
              </a:rPr>
              <a:t>θ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816352"/>
            <a:ext cx="5385816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Instruction clauses from a reviewed catalog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Monitor rules and thresholds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Approval mode per tool class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77440"/>
            <a:ext cx="5330952" cy="2011680"/>
          </a:xfrm>
          <a:prstGeom prst="roundRect">
            <a:avLst>
              <a:gd name="adj" fmla="val 6000"/>
            </a:avLst>
          </a:prstGeom>
          <a:solidFill>
            <a:srgbClr val="FBEFEC"/>
          </a:solidFill>
          <a:ln w="12700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10528" y="2450592"/>
            <a:ext cx="51297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B34831"/>
                </a:solidFill>
                <a:latin typeface="Arial"/>
              </a:rPr>
              <a:t>Rules of the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816352"/>
            <a:ext cx="5184648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Proposer sees aggregates only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Selection rule frozen before search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Missing outcomes stay unknown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4572000"/>
          <a:ext cx="11277294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5625"/>
                <a:gridCol w="8201669"/>
              </a:tblGrid>
              <a:tr h="2895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Arm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Selects on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111111"/>
                          </a:solidFill>
                          <a:latin typeface="Arial"/>
                        </a:rPr>
                        <a:t>B0 · upstream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nothing (reference)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111111"/>
                          </a:solidFill>
                          <a:latin typeface="Arial"/>
                        </a:rPr>
                        <a:t>B1 · observation only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nothing; observer added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111111"/>
                          </a:solidFill>
                          <a:latin typeface="Arial"/>
                        </a:rPr>
                        <a:t>B2 · established defence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AgentDojo defences; AI Control protocols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111111"/>
                          </a:solidFill>
                          <a:latin typeface="Arial"/>
                        </a:rPr>
                        <a:t>B3 · proxy feedback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utility + transcript judge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111111"/>
                          </a:solidFill>
                          <a:latin typeface="Arial"/>
                        </a:rPr>
                        <a:t>B4 · incident feedback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11111"/>
                          </a:solidFill>
                          <a:latin typeface="Arial"/>
                        </a:rPr>
                        <a:t>utility + verified effects   ← primary contrast: B4 vs B3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Component 6 · The action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The library at runtime, as an Inspect tool-call approver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4 · COMPONENTS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210312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Tool call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87752" y="1691640"/>
            <a:ext cx="182880" cy="256032"/>
          </a:xfrm>
          <a:prstGeom prst="rightArrow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132588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3200" y="1325880"/>
            <a:ext cx="210312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Scope contract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3752" y="1691640"/>
            <a:ext cx="182880" cy="256032"/>
          </a:xfrm>
          <a:prstGeom prst="rightArrow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32588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29200" y="1325880"/>
            <a:ext cx="210312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Incident signatures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59752" y="1691640"/>
            <a:ext cx="182880" cy="256032"/>
          </a:xfrm>
          <a:prstGeom prst="rightArrow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0" y="132588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1325880"/>
            <a:ext cx="210312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365E9E"/>
                </a:solidFill>
                <a:latin typeface="Arial"/>
              </a:rPr>
              <a:t>ControlArena monitor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45752" y="1691640"/>
            <a:ext cx="182880" cy="256032"/>
          </a:xfrm>
          <a:prstGeom prst="rightArrow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0" y="132588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01200" y="1325880"/>
            <a:ext cx="210312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shadow → flag → defer → block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743200"/>
            <a:ext cx="5532120" cy="35204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66928" y="2816352"/>
            <a:ext cx="53309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365E9E"/>
                </a:solidFill>
                <a:latin typeface="Arial"/>
              </a:rPr>
              <a:t>Built 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3182112"/>
            <a:ext cx="5385816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Inspect tool-call approvers: approve, modify, reject, escalate, terminate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ControlArena monitors with suspicion scores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AI Control micro-protocols: trusted monitoring, defer-to-trusted, resampling (Ctrl-Z)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Hawk's lesson: a monitor with less context than the agent is a known failure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743200"/>
            <a:ext cx="5330952" cy="352044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10528" y="2816352"/>
            <a:ext cx="51297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7D5B"/>
                </a:solidFill>
                <a:latin typeface="Arial"/>
              </a:rPr>
              <a:t>What we add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182112"/>
            <a:ext cx="5184648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Every rule links to the incident and replay behind it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Thresholds from benign calibration at a fixed false-positive rate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Shadow mode first, so observation itself is measured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Monitor cost counts in C(θ); ships inside each release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Component 7 · Automatic update and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CI for safety policies: scheduled, gated, diffable, reversible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4 · COMPONENTS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261872" cy="7772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261872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65E9E"/>
                </a:solidFill>
                <a:latin typeface="Arial"/>
              </a:rPr>
              <a:t>ingest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728216" y="1591056"/>
            <a:ext cx="155448" cy="237744"/>
          </a:xfrm>
          <a:prstGeom prst="rightArrow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92808" y="1325880"/>
            <a:ext cx="1261872" cy="7772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892808" y="1325880"/>
            <a:ext cx="1261872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65E9E"/>
                </a:solidFill>
                <a:latin typeface="Arial"/>
              </a:rPr>
              <a:t>synthesize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63824" y="1591056"/>
            <a:ext cx="155448" cy="237744"/>
          </a:xfrm>
          <a:prstGeom prst="rightArrow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28416" y="1325880"/>
            <a:ext cx="1261872" cy="7772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328416" y="1325880"/>
            <a:ext cx="1261872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65E9E"/>
                </a:solidFill>
                <a:latin typeface="Arial"/>
              </a:rPr>
              <a:t>run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99432" y="1591056"/>
            <a:ext cx="155448" cy="237744"/>
          </a:xfrm>
          <a:prstGeom prst="rightArrow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64024" y="1325880"/>
            <a:ext cx="1261872" cy="7772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64024" y="1325880"/>
            <a:ext cx="1261872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65E9E"/>
                </a:solidFill>
                <a:latin typeface="Arial"/>
              </a:rPr>
              <a:t>diagnose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35040" y="1591056"/>
            <a:ext cx="155448" cy="237744"/>
          </a:xfrm>
          <a:prstGeom prst="rightArrow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99632" y="1325880"/>
            <a:ext cx="1261872" cy="7772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199632" y="1325880"/>
            <a:ext cx="1261872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65E9E"/>
                </a:solidFill>
                <a:latin typeface="Arial"/>
              </a:rPr>
              <a:t>revise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470648" y="1591056"/>
            <a:ext cx="155448" cy="237744"/>
          </a:xfrm>
          <a:prstGeom prst="rightArrow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35240" y="1325880"/>
            <a:ext cx="1261872" cy="777240"/>
          </a:xfrm>
          <a:prstGeom prst="roundRect">
            <a:avLst>
              <a:gd name="adj" fmla="val 6000"/>
            </a:avLst>
          </a:prstGeom>
          <a:solidFill>
            <a:srgbClr val="FBEFEC"/>
          </a:solidFill>
          <a:ln w="12700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5240" y="1325880"/>
            <a:ext cx="1261872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B34831"/>
                </a:solidFill>
                <a:latin typeface="Arial"/>
              </a:rPr>
              <a:t>regression gate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06256" y="1591056"/>
            <a:ext cx="155448" cy="237744"/>
          </a:xfrm>
          <a:prstGeom prst="rightArrow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70848" y="1325880"/>
            <a:ext cx="1261872" cy="777240"/>
          </a:xfrm>
          <a:prstGeom prst="roundRect">
            <a:avLst>
              <a:gd name="adj" fmla="val 6000"/>
            </a:avLst>
          </a:prstGeom>
          <a:solidFill>
            <a:srgbClr val="FBEFEC"/>
          </a:solidFill>
          <a:ln w="12700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70848" y="1325880"/>
            <a:ext cx="1261872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B34831"/>
                </a:solidFill>
                <a:latin typeface="Arial"/>
              </a:rPr>
              <a:t>human approval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0341864" y="1591056"/>
            <a:ext cx="155448" cy="237744"/>
          </a:xfrm>
          <a:prstGeom prst="rightArrow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506456" y="1325880"/>
            <a:ext cx="1261872" cy="7772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506456" y="1325880"/>
            <a:ext cx="1261872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65E9E"/>
                </a:solidFill>
                <a:latin typeface="Arial"/>
              </a:rPr>
              <a:t>release vN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514600"/>
            <a:ext cx="11277295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 i="0">
                <a:solidFill>
                  <a:srgbClr val="111111"/>
                </a:solidFill>
                <a:latin typeface="Arial"/>
              </a:rPr>
              <a:t>•  A release ships clauses, monitor rules, the eval pack and evidence per change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 i="0">
                <a:solidFill>
                  <a:srgbClr val="111111"/>
                </a:solidFill>
                <a:latin typeface="Arial"/>
              </a:rPr>
              <a:t>•  Gate: every grade-A case replays without a new incident; refusals stay under the limit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 i="0">
                <a:solidFill>
                  <a:srgbClr val="111111"/>
                </a:solidFill>
                <a:latin typeface="Arial"/>
              </a:rPr>
              <a:t>•  Nothing auto-deploys; a human approves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 i="0">
                <a:solidFill>
                  <a:srgbClr val="111111"/>
                </a:solidFill>
                <a:latin typeface="Arial"/>
              </a:rPr>
              <a:t>•  "No eligible candidate" is a valid, reported outcome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What makes this more than a prompt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5 · FEATURES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66928" y="1435608"/>
            <a:ext cx="274320" cy="274320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11111"/>
                </a:solidFill>
                <a:latin typeface="Arial"/>
              </a:rPr>
              <a:t>Time-split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64792"/>
            <a:ext cx="256032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Tune on incidents before T; test on those after 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132588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410712" y="1435608"/>
            <a:ext cx="274320" cy="274320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4" y="1399032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11111"/>
                </a:solidFill>
                <a:latin typeface="Arial"/>
              </a:rPr>
              <a:t>Benign twins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764792"/>
            <a:ext cx="256032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False refusals measured on the same object.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32588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254496" y="1435608"/>
            <a:ext cx="274320" cy="274320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1399032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11111"/>
                </a:solidFill>
                <a:latin typeface="Arial"/>
              </a:rPr>
              <a:t>Poisoning defence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764792"/>
            <a:ext cx="256032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No report changes policy without a reproduction.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32588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098280" y="1435608"/>
            <a:ext cx="274320" cy="274320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1399032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11111"/>
                </a:solidFill>
                <a:latin typeface="Arial"/>
              </a:rPr>
              <a:t>Cross-benchmark reuse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1764792"/>
            <a:ext cx="256032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One fingerprint, probes in several benchmarks.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67328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66928" y="3877056"/>
            <a:ext cx="274320" cy="274320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11111"/>
                </a:solidFill>
                <a:latin typeface="Arial"/>
              </a:rPr>
              <a:t>Counterfactual blame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06240"/>
            <a:ext cx="256032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Every rule carries the replay that justified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00984" y="3767328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3410712" y="3877056"/>
            <a:ext cx="274320" cy="274320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58184" y="384048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11111"/>
                </a:solidFill>
                <a:latin typeface="Arial"/>
              </a:rPr>
              <a:t>Federated sharing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2424" y="4206240"/>
            <a:ext cx="256032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Share signatures and cases, never raw traces.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3767328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254496" y="3877056"/>
            <a:ext cx="274320" cy="274320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384048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11111"/>
                </a:solidFill>
                <a:latin typeface="Arial"/>
              </a:rPr>
              <a:t>Observer-effect reporting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4206240"/>
            <a:ext cx="256032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B1 vs B0 shows whether watching changes behaviour.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88552" y="3767328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098280" y="3877056"/>
            <a:ext cx="274320" cy="274320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5752" y="384048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11111"/>
                </a:solidFill>
                <a:latin typeface="Arial"/>
              </a:rPr>
              <a:t>No-win is a result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9992" y="4206240"/>
            <a:ext cx="256032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111111"/>
                </a:solidFill>
                <a:latin typeface="Arial"/>
              </a:rPr>
              <a:t>Zero incidents is reported with uncertainty, not as a bound.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What could fool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And what in the design answers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6 · RISKS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25880"/>
          <a:ext cx="1127729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3438"/>
                <a:gridCol w="6663856"/>
              </a:tblGrid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Threat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Answer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Goodhart on the library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Held-out by lineage and date; surface variants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Safety bought by refusal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F ≤ α on benign twins; utility non-inferiority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Observers change the count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B1 vs B0 on the same trajectories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Leakage to proposer or agent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Strict partitions; aggregates only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Poisoned reports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Grades, quarantine, reproduction, human gate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Non-transfer across models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Repeat on a second model family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Cost blow-up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Search and replay budgets predeclared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How we would know it 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6 · EVALUATION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729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5959"/>
                <a:gridCol w="6561335"/>
              </a:tblGrid>
              <a:tr h="418011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Benchmark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Established baselines we compare against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111111"/>
                          </a:solidFill>
                          <a:latin typeface="Arial"/>
                        </a:rPr>
                        <a:t>ImpossibleBench (Zhong et al., 2025)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11111"/>
                          </a:solidFill>
                          <a:latin typeface="Arial"/>
                        </a:rPr>
                        <a:t>Upstream scaffold with its STOP instruction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111111"/>
                          </a:solidFill>
                          <a:latin typeface="Arial"/>
                        </a:rPr>
                        <a:t>AgentDojo (Debenedetti et al., 2024)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11111"/>
                          </a:solidFill>
                          <a:latin typeface="Arial"/>
                        </a:rPr>
                        <a:t>No defence, repeat-user-prompt, spotlighting, tool filter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111111"/>
                          </a:solidFill>
                          <a:latin typeface="Arial"/>
                        </a:rPr>
                        <a:t>ResearchArena (2025)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11111"/>
                          </a:solidFill>
                          <a:latin typeface="Arial"/>
                        </a:rPr>
                        <a:t>Upstream monitors; never-flag / always-flag controls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111111"/>
                          </a:solidFill>
                          <a:latin typeface="Arial"/>
                        </a:rPr>
                        <a:t>BashArena in ControlArena (AISI, 2025)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11111"/>
                          </a:solidFill>
                          <a:latin typeface="Arial"/>
                        </a:rPr>
                        <a:t>Untrusted-only, trusted monitoring, defer-to-trusted (Greenblatt et al., 2023)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111111"/>
                          </a:solidFill>
                          <a:latin typeface="Arial"/>
                        </a:rPr>
                        <a:t>SHADE-Arena (Kutasov et al., 2025)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11111"/>
                          </a:solidFill>
                          <a:latin typeface="Arial"/>
                        </a:rPr>
                        <a:t>Upstream monitor on the same transcripts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111111"/>
                          </a:solidFill>
                          <a:latin typeface="Arial"/>
                        </a:rPr>
                        <a:t>Incident families reported after the cutoff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111111"/>
                          </a:solidFill>
                          <a:latin typeface="Arial"/>
                        </a:rPr>
                        <a:t>Time-split stream; no baseline has seen them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43484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4507992"/>
            <a:ext cx="53309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365E9E"/>
                </a:solidFill>
                <a:latin typeface="Arial"/>
              </a:rPr>
              <a:t>Endpoints and 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4873752"/>
            <a:ext cx="5385816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ΔR = R(B4) − R(B3) and ΔU, paired by task lineage, plus refusals and cost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Success: fewer verified incidents at comparable utility on untouched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434840"/>
            <a:ext cx="533095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10528" y="4507992"/>
            <a:ext cx="512978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365E9E"/>
                </a:solidFill>
                <a:latin typeface="Arial"/>
              </a:rPr>
              <a:t>The main figure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873752"/>
            <a:ext cx="5184648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x: task utility   y: verified incident rate; mark B0, B2, B3, B4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No improving curve before data exist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Status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6 · STATUS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3657600" cy="265176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1399032"/>
            <a:ext cx="345643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7D5B"/>
                </a:solidFill>
                <a:latin typeface="Arial"/>
              </a:rPr>
              <a:t>Exists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64792"/>
            <a:ext cx="3511296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Independent observers (native, container)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Clause catalog and native optimizer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Offline qualification; benchmark importers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325880"/>
            <a:ext cx="3657600" cy="2651760"/>
          </a:xfrm>
          <a:prstGeom prst="roundRect">
            <a:avLst>
              <a:gd name="adj" fmla="val 6000"/>
            </a:avLst>
          </a:prstGeom>
          <a:solidFill>
            <a:srgbClr val="FDF3E7"/>
          </a:solidFill>
          <a:ln w="12700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79976" y="1399032"/>
            <a:ext cx="345643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B8732A"/>
                </a:solidFill>
                <a:latin typeface="Arial"/>
              </a:rPr>
              <a:t>Still needed for the core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764792"/>
            <a:ext cx="3511296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ImpossibleBench actor-environment repair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Matched B3 vs B4 ablation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Pre-registered splits and budgets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1325880"/>
            <a:ext cx="3657600" cy="265176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83880" y="1399032"/>
            <a:ext cx="345643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365E9E"/>
                </a:solidFill>
                <a:latin typeface="Arial"/>
              </a:rPr>
              <a:t>New in this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1764792"/>
            <a:ext cx="3511296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Intake, library, synthesis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Replay blame, action monitor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Regression gate and release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4160520"/>
          <a:ext cx="11277294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729"/>
                <a:gridCol w="7894106"/>
                <a:gridCol w="2255459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Model calls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Schema, library, own-run intake, splits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Replay and synthesis on the local sandbox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Small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Monitor in shadow mode; B3 vs B4 ablation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Pre-registered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Web intake, time split, first signed release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SUMMARY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65836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Arial"/>
              </a:rPr>
              <a:t>•  Incidents will keep happening; a scorer cannot see them, an observer can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Arial"/>
              </a:rPr>
              <a:t>•  Each verified incident becomes an executable case with a benign twin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Arial"/>
              </a:rPr>
              <a:t>•  A scheduled loop replays, revises and releases only what passes a regression gate and a human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800" b="0" i="0">
                <a:solidFill>
                  <a:srgbClr val="111111"/>
                </a:solidFill>
                <a:latin typeface="Arial"/>
              </a:rPr>
              <a:t>•  The frozen policy is judged on untouched tasks and on incidents reported after the cutoff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25880"/>
            <a:ext cx="4325112" cy="3840480"/>
          </a:xfrm>
          <a:prstGeom prst="roundRect">
            <a:avLst>
              <a:gd name="adj" fmla="val 6000"/>
            </a:avLst>
          </a:prstGeom>
          <a:solidFill>
            <a:srgbClr val="EAF5E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68" y="1399032"/>
            <a:ext cx="412394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E7D5B"/>
                </a:solidFill>
                <a:latin typeface="Arial"/>
              </a:rPr>
              <a:t>Decisions to make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1764792"/>
            <a:ext cx="4178808" cy="333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Opt-in plugin first?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First benchmark for B3 vs B4?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Who qualifies shared cases?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•  Budget for Phases 2 and 3?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440680"/>
            <a:ext cx="11277295" cy="82296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5513832"/>
            <a:ext cx="10820095" cy="676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11111"/>
                </a:solidFill>
                <a:latin typeface="Arial"/>
              </a:rPr>
              <a:t>No benchmark-level safety or utility improvement has been measured. The figures are design overviews, not results.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REFERENCES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57784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Greenblatt et al. (2023). AI Control: Improving Safety Despite Intentional Subversion. arXiv:2312.06942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Bhatt et al. (2025). Ctrl-Z: Controlling AI Agents via Resampling. arXiv:2504.10374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Kutasov et al. (2025). SHADE-Arena: Evaluating Sabotage and Monitoring in LLM Agents. arXiv:2506.15740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Debenedetti et al. (2024). AgentDojo: A Dynamic Environment to Evaluate Prompt Injection Attacks and Defenses for LLM Agents. NeurIPS D&amp;B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Zhong, Raghunathan, Carlini (2025). ImpossibleBench: Measuring LLMs' Propensity of Exploiting Test Cases. arXiv:2510.20270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ResearchArena (aisa-group, 2025). github.com/aisa-group/ResearchArena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Baker et al. (2025). Monitoring Reasoning Models for Misbehavior and the Risks of Promoting Obfuscation. arXiv:2503.11926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Slattery et al. (2024). The AI Risk Repository. MIT. arXiv:2408.12622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548640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UK AI Security Institute. Inspect AI: tool approval and approvers. inspect.aisi.org.uk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UK AISI and Meridian Labs (2025). Inspect Scout: transcript analysis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UK AISI (2025). ControlArena: monitors, micro-protocols, BashArena. control-arena.aisi.org.uk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METR (2025). Hawk: run Inspect evals in the cloud. github.com/METR/hawk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McGregor (2021). Preventing Repeated Real World AI Failures by Cataloging Incidents: The AI Incident Database. AAAI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OECD (2023). AI Incident Monitor. MITRE ATLAS. OWASP Top 10 for LLM and Agentic Applications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Perrow (1984). Normal Accidents. Reason (1990). Human Error. Taleb (2007). The Black Swan. Popper (1963). Conjectures and Refutations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EU AI Act, Article 73. California SB 53 (2025)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01752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11111"/>
                </a:solidFill>
                <a:latin typeface="Arial"/>
              </a:rPr>
              <a:t>References: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109728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1" i="0">
                <a:solidFill>
                  <a:srgbClr val="365E9E"/>
                </a:solidFill>
                <a:latin typeface="Arial"/>
              </a:rPr>
              <a:t>REFERENCES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635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Incident-aware optimization · design proposal · containment-extension · October 2026 · no benchmark improvement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57784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Sakana AI (Aug 2024). The AI Scientist. sakana.ai/ai-scientist; coverage: Ars Technica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OpenAI (Dec 2024). o1 System Card, Apollo Research scheming evaluations. cdn.openai.com/o1-system-card-20241205.pdf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Palisade Research (Dec 2024, Feb 2025). o1-preview hacks its chess environment. x.com/PalisadeAI; MIT Technology Review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Baker et al., OpenAI (Mar 2025). Monitoring Reasoning Models for Misbehavior. arXiv:2503.11926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Palisade Research (May 2025). o3 sabotages shutdown in 7/100 runs. BleepingComputer, The Register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Anthropic (May 2025). System Card: Claude Opus 4 and Sonnet 4. anthropic.com/claude-4-system-card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Anthropic (Jun 2025). Agentic Misalignment: How LLMs Could Be Insider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548640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Invariant Labs (May 2025). GitHub MCP private-repository exfiltration. github/github-mcp-server issue #844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SaaStr / Replit (Jul 2025). Production database deleted during code freeze. Slashdot, Fortune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AWS; 404 Media (Jul 2025). Amazon Q Developer extension 1.84.0 wiper prompt. SC Media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AI Incident Database (Jul 2025). Incident 1178: Gemini CLI deletes user files. incidentdatabase.ai/cite/1178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Brave Security (Aug 2025). Indirect prompt injection in Perplexity Comet. brave.com/blog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OpenAI (Oct–Dec 2025). ChatGPT Atlas prompt-injection update. CyberScoop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•  Anthropic (Nov 2025). Disrupting the first AI-orchestrated cyber espionage campaign (GTG-1002). AI Incident Database 1263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