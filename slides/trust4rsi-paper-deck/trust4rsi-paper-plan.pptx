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960120"/>
            <a:ext cx="2011680" cy="3810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57200" y="1097280"/>
            <a:ext cx="11277295" cy="960120"/>
          </a:xfrm>
          <a:prstGeom prst="rect">
            <a:avLst/>
          </a:prstGeom>
          <a:noFill/>
        </p:spPr>
        <p:txBody>
          <a:bodyPr wrap="square" lIns="45720" rIns="45720" tIns="27432" bIns="27432" anchor="t">
            <a:spAutoFit/>
          </a:bodyPr>
          <a:lstStyle/>
          <a:p>
            <a:pPr algn="l">
              <a:lnSpc>
                <a:spcPct val="100000"/>
              </a:lnSpc>
            </a:pPr>
            <a:r>
              <a:rPr sz="3200" b="1" i="0">
                <a:solidFill>
                  <a:srgbClr val="111111"/>
                </a:solidFill>
                <a:latin typeface="Arial"/>
              </a:rPr>
              <a:t>Incident-aware regression gating for evolving agent policies</a:t>
            </a:r>
          </a:p>
        </p:txBody>
      </p:sp>
      <p:sp>
        <p:nvSpPr>
          <p:cNvPr id="5" name="TextBox 4"/>
          <p:cNvSpPr txBox="1"/>
          <p:nvPr/>
        </p:nvSpPr>
        <p:spPr>
          <a:xfrm>
            <a:off x="457200" y="2103120"/>
            <a:ext cx="11277295" cy="457200"/>
          </a:xfrm>
          <a:prstGeom prst="rect">
            <a:avLst/>
          </a:prstGeom>
          <a:noFill/>
        </p:spPr>
        <p:txBody>
          <a:bodyPr wrap="square" lIns="45720" rIns="45720" tIns="27432" bIns="27432" anchor="t">
            <a:spAutoFit/>
          </a:bodyPr>
          <a:lstStyle/>
          <a:p>
            <a:pPr algn="l">
              <a:lnSpc>
                <a:spcPct val="110000"/>
              </a:lnSpc>
            </a:pPr>
            <a:r>
              <a:rPr sz="1800" b="0" i="0">
                <a:solidFill>
                  <a:srgbClr val="365E9E"/>
                </a:solidFill>
                <a:latin typeface="Arial"/>
              </a:rPr>
              <a:t>Plan for adapting containment-extension into a Trust4RSI-Agent paper (AAAI 2027 workshop)</a:t>
            </a:r>
          </a:p>
        </p:txBody>
      </p:sp>
      <p:sp>
        <p:nvSpPr>
          <p:cNvPr id="6" name="TextBox 5"/>
          <p:cNvSpPr txBox="1"/>
          <p:nvPr/>
        </p:nvSpPr>
        <p:spPr>
          <a:xfrm>
            <a:off x="457200" y="2606040"/>
            <a:ext cx="11277295" cy="365760"/>
          </a:xfrm>
          <a:prstGeom prst="rect">
            <a:avLst/>
          </a:prstGeom>
          <a:noFill/>
        </p:spPr>
        <p:txBody>
          <a:bodyPr wrap="square" lIns="45720" rIns="45720" tIns="27432" bIns="27432" anchor="t">
            <a:spAutoFit/>
          </a:bodyPr>
          <a:lstStyle/>
          <a:p>
            <a:pPr algn="l">
              <a:lnSpc>
                <a:spcPct val="110000"/>
              </a:lnSpc>
            </a:pPr>
            <a:r>
              <a:rPr sz="1250" b="0" i="0">
                <a:solidFill>
                  <a:srgbClr val="666666"/>
                </a:solidFill>
                <a:latin typeface="Arial"/>
              </a:rPr>
              <a:t>Target: full paper, 8 pages + references and appendix, double-blind, OpenReview  -  deadline 20 Nov 2026 AoE, no extensions</a:t>
            </a:r>
          </a:p>
        </p:txBody>
      </p:sp>
      <p:sp>
        <p:nvSpPr>
          <p:cNvPr id="7" name="Rounded Rectangle 6"/>
          <p:cNvSpPr/>
          <p:nvPr/>
        </p:nvSpPr>
        <p:spPr>
          <a:xfrm>
            <a:off x="457200" y="3154680"/>
            <a:ext cx="3649370" cy="1783080"/>
          </a:xfrm>
          <a:prstGeom prst="roundRect">
            <a:avLst>
              <a:gd name="adj" fmla="val 5000"/>
            </a:avLst>
          </a:prstGeom>
          <a:solidFill>
            <a:srgbClr val="EDF4FB"/>
          </a:solidFill>
          <a:ln w="9525">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227832"/>
            <a:ext cx="3393338" cy="411480"/>
          </a:xfrm>
          <a:prstGeom prst="rect">
            <a:avLst/>
          </a:prstGeom>
          <a:noFill/>
        </p:spPr>
        <p:txBody>
          <a:bodyPr wrap="square" lIns="45720" rIns="45720" tIns="27432" bIns="27432" anchor="t">
            <a:spAutoFit/>
          </a:bodyPr>
          <a:lstStyle/>
          <a:p>
            <a:pPr algn="l">
              <a:lnSpc>
                <a:spcPct val="110000"/>
              </a:lnSpc>
            </a:pPr>
            <a:r>
              <a:rPr sz="1700" b="1" i="0">
                <a:solidFill>
                  <a:srgbClr val="365E9E"/>
                </a:solidFill>
                <a:latin typeface="Arial"/>
              </a:rPr>
              <a:t>What we already have</a:t>
            </a:r>
          </a:p>
        </p:txBody>
      </p:sp>
      <p:sp>
        <p:nvSpPr>
          <p:cNvPr id="9" name="TextBox 8"/>
          <p:cNvSpPr txBox="1"/>
          <p:nvPr/>
        </p:nvSpPr>
        <p:spPr>
          <a:xfrm>
            <a:off x="585216" y="3657600"/>
            <a:ext cx="3393338" cy="1234440"/>
          </a:xfrm>
          <a:prstGeom prst="rect">
            <a:avLst/>
          </a:prstGeom>
          <a:noFill/>
        </p:spPr>
        <p:txBody>
          <a:bodyPr wrap="square" lIns="45720" rIns="45720" tIns="27432" bIns="27432" anchor="t">
            <a:spAutoFit/>
          </a:bodyPr>
          <a:lstStyle/>
          <a:p>
            <a:pPr algn="l">
              <a:lnSpc>
                <a:spcPct val="110000"/>
              </a:lnSpc>
            </a:pPr>
            <a:r>
              <a:rPr sz="1250" b="0" i="0">
                <a:solidFill>
                  <a:srgbClr val="111111"/>
                </a:solidFill>
                <a:latin typeface="Arial"/>
              </a:rPr>
              <a:t>26-incident library, independent effect observer, 440 archived live rollouts, instruction optimizer, executable incident twin, offline-qualified testbeds</a:t>
            </a:r>
          </a:p>
        </p:txBody>
      </p:sp>
      <p:sp>
        <p:nvSpPr>
          <p:cNvPr id="10" name="Rounded Rectangle 9"/>
          <p:cNvSpPr/>
          <p:nvPr/>
        </p:nvSpPr>
        <p:spPr>
          <a:xfrm>
            <a:off x="4271162" y="3154680"/>
            <a:ext cx="3649370" cy="178308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99178" y="3227832"/>
            <a:ext cx="3393338" cy="411480"/>
          </a:xfrm>
          <a:prstGeom prst="rect">
            <a:avLst/>
          </a:prstGeom>
          <a:noFill/>
        </p:spPr>
        <p:txBody>
          <a:bodyPr wrap="square" lIns="45720" rIns="45720" tIns="27432" bIns="27432" anchor="t">
            <a:spAutoFit/>
          </a:bodyPr>
          <a:lstStyle/>
          <a:p>
            <a:pPr algn="l">
              <a:lnSpc>
                <a:spcPct val="110000"/>
              </a:lnSpc>
            </a:pPr>
            <a:r>
              <a:rPr sz="1700" b="1" i="0">
                <a:solidFill>
                  <a:srgbClr val="2E7D5B"/>
                </a:solidFill>
                <a:latin typeface="Arial"/>
              </a:rPr>
              <a:t>What the paper claims</a:t>
            </a:r>
          </a:p>
        </p:txBody>
      </p:sp>
      <p:sp>
        <p:nvSpPr>
          <p:cNvPr id="12" name="TextBox 11"/>
          <p:cNvSpPr txBox="1"/>
          <p:nvPr/>
        </p:nvSpPr>
        <p:spPr>
          <a:xfrm>
            <a:off x="4399178" y="3657600"/>
            <a:ext cx="3393338" cy="1234440"/>
          </a:xfrm>
          <a:prstGeom prst="rect">
            <a:avLst/>
          </a:prstGeom>
          <a:noFill/>
        </p:spPr>
        <p:txBody>
          <a:bodyPr wrap="square" lIns="45720" rIns="45720" tIns="27432" bIns="27432" anchor="t">
            <a:spAutoFit/>
          </a:bodyPr>
          <a:lstStyle/>
          <a:p>
            <a:pPr algn="l">
              <a:lnSpc>
                <a:spcPct val="110000"/>
              </a:lnSpc>
            </a:pPr>
            <a:r>
              <a:rPr sz="1250" b="0" i="0">
                <a:solidFill>
                  <a:srgbClr val="111111"/>
                </a:solidFill>
                <a:latin typeface="Arial"/>
              </a:rPr>
              <a:t>An audit-and-release abstraction beneath an evolving agent: observe effects below the tool broker, gate policy updates on verified incidents, keep executable incidents as the regression suite</a:t>
            </a:r>
          </a:p>
        </p:txBody>
      </p:sp>
      <p:sp>
        <p:nvSpPr>
          <p:cNvPr id="13" name="Rounded Rectangle 12"/>
          <p:cNvSpPr/>
          <p:nvPr/>
        </p:nvSpPr>
        <p:spPr>
          <a:xfrm>
            <a:off x="8085124" y="3154680"/>
            <a:ext cx="3649370" cy="178308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13140" y="3227832"/>
            <a:ext cx="3393338" cy="411480"/>
          </a:xfrm>
          <a:prstGeom prst="rect">
            <a:avLst/>
          </a:prstGeom>
          <a:noFill/>
        </p:spPr>
        <p:txBody>
          <a:bodyPr wrap="square" lIns="45720" rIns="45720" tIns="27432" bIns="27432" anchor="t">
            <a:spAutoFit/>
          </a:bodyPr>
          <a:lstStyle/>
          <a:p>
            <a:pPr algn="l">
              <a:lnSpc>
                <a:spcPct val="110000"/>
              </a:lnSpc>
            </a:pPr>
            <a:r>
              <a:rPr sz="1700" b="1" i="0">
                <a:solidFill>
                  <a:srgbClr val="B34831"/>
                </a:solidFill>
                <a:latin typeface="Arial"/>
              </a:rPr>
              <a:t>What still has to run</a:t>
            </a:r>
          </a:p>
        </p:txBody>
      </p:sp>
      <p:sp>
        <p:nvSpPr>
          <p:cNvPr id="15" name="TextBox 14"/>
          <p:cNvSpPr txBox="1"/>
          <p:nvPr/>
        </p:nvSpPr>
        <p:spPr>
          <a:xfrm>
            <a:off x="8213140" y="3657600"/>
            <a:ext cx="3393338" cy="1234440"/>
          </a:xfrm>
          <a:prstGeom prst="rect">
            <a:avLst/>
          </a:prstGeom>
          <a:noFill/>
        </p:spPr>
        <p:txBody>
          <a:bodyPr wrap="square" lIns="45720" rIns="45720" tIns="27432" bIns="27432" anchor="t">
            <a:spAutoFit/>
          </a:bodyPr>
          <a:lstStyle/>
          <a:p>
            <a:pPr algn="l">
              <a:lnSpc>
                <a:spcPct val="110000"/>
              </a:lnSpc>
            </a:pPr>
            <a:r>
              <a:rPr sz="1250" b="0" i="0">
                <a:solidFill>
                  <a:srgbClr val="111111"/>
                </a:solidFill>
                <a:latin typeface="Arial"/>
              </a:rPr>
              <a:t>E1 archived-data figure, E2 matched proxy-vs-incident selection (the one live experiment), E5 second-reader codings; optional E3/E4</a:t>
            </a:r>
          </a:p>
        </p:txBody>
      </p:sp>
      <p:sp>
        <p:nvSpPr>
          <p:cNvPr id="16" name="TextBox 15"/>
          <p:cNvSpPr txBox="1"/>
          <p:nvPr/>
        </p:nvSpPr>
        <p:spPr>
          <a:xfrm>
            <a:off x="457200" y="5166360"/>
            <a:ext cx="11277295" cy="822960"/>
          </a:xfrm>
          <a:prstGeom prst="rect">
            <a:avLst/>
          </a:prstGeom>
          <a:noFill/>
        </p:spPr>
        <p:txBody>
          <a:bodyPr wrap="square" lIns="45720" rIns="45720" tIns="27432" bIns="27432" anchor="t">
            <a:spAutoFit/>
          </a:bodyPr>
          <a:lstStyle/>
          <a:p>
            <a:pPr algn="l">
              <a:lnSpc>
                <a:spcPct val="115000"/>
              </a:lnSpc>
            </a:pPr>
            <a:r>
              <a:rPr sz="1400" b="0" i="0">
                <a:solidFill>
                  <a:srgbClr val="111111"/>
                </a:solidFill>
                <a:latin typeface="Arial"/>
              </a:rPr>
              <a:t>The repository's headline hypothesis (incident feedback beats transcript-proxy feedback for policy selection) is designed but unmeasured. The paper must lead with the abstraction, the testbed and pilot evidence, and report that contrast only as far as E2 actually measures it.</a:t>
            </a:r>
          </a:p>
        </p:txBody>
      </p:sp>
      <p:sp>
        <p:nvSpPr>
          <p:cNvPr id="17" name="TextBox 16"/>
          <p:cNvSpPr txBox="1"/>
          <p:nvPr/>
        </p:nvSpPr>
        <p:spPr>
          <a:xfrm>
            <a:off x="457200" y="5989320"/>
            <a:ext cx="11277295" cy="365760"/>
          </a:xfrm>
          <a:prstGeom prst="rect">
            <a:avLst/>
          </a:prstGeom>
          <a:noFill/>
        </p:spPr>
        <p:txBody>
          <a:bodyPr wrap="square" lIns="45720" rIns="45720" tIns="27432" bIns="27432" anchor="t">
            <a:spAutoFit/>
          </a:bodyPr>
          <a:lstStyle/>
          <a:p>
            <a:pPr algn="l">
              <a:lnSpc>
                <a:spcPct val="110000"/>
              </a:lnSpc>
            </a:pPr>
            <a:r>
              <a:rPr sz="1100" b="0" i="0">
                <a:solidFill>
                  <a:srgbClr val="666666"/>
                </a:solidFill>
                <a:latin typeface="Arial"/>
              </a:rPr>
              <a:t>Paper plan deck  -  Jiawei Li  -  20 Oct 2026  -  remove this line and all author traces before the anonymized submission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venue: Trust4RSI-Agent, 'An Agent Operating System Perspective'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workshop treats trustworthy agent evolution as a systems problem: design the layer beneath an evolving agent</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2</a:t>
            </a:r>
          </a:p>
        </p:txBody>
      </p:sp>
      <p:graphicFrame>
        <p:nvGraphicFramePr>
          <p:cNvPr id="7" name="Table 6"/>
          <p:cNvGraphicFramePr>
            <a:graphicFrameLocks noGrp="1"/>
          </p:cNvGraphicFramePr>
          <p:nvPr/>
        </p:nvGraphicFramePr>
        <p:xfrm>
          <a:off x="457200" y="1371600"/>
          <a:ext cx="5760720" cy="3200400"/>
        </p:xfrm>
        <a:graphic>
          <a:graphicData uri="http://schemas.openxmlformats.org/drawingml/2006/table">
            <a:tbl>
              <a:tblPr firstRow="1" bandRow="1">
                <a:tableStyleId>{5C22544A-7EE6-4342-B048-85BDC9FD1C3A}</a:tableStyleId>
              </a:tblPr>
              <a:tblGrid>
                <a:gridCol w="1463040"/>
                <a:gridCol w="4297680"/>
              </a:tblGrid>
              <a:tr h="400050">
                <a:tc>
                  <a:txBody>
                    <a:bodyPr wrap="square"/>
                    <a:lstStyle/>
                    <a:p>
                      <a:r>
                        <a:rPr sz="1100" b="1" i="0">
                          <a:solidFill>
                            <a:srgbClr val="FFFFFF"/>
                          </a:solidFill>
                          <a:latin typeface="Arial"/>
                        </a:rPr>
                        <a:t>Item</a:t>
                      </a:r>
                    </a:p>
                  </a:txBody>
                  <a:tcPr marL="54864" marR="54864" marT="27432" marB="27432">
                    <a:solidFill>
                      <a:srgbClr val="365E9E"/>
                    </a:solidFill>
                  </a:tcPr>
                </a:tc>
                <a:tc>
                  <a:txBody>
                    <a:bodyPr wrap="square"/>
                    <a:lstStyle/>
                    <a:p>
                      <a:r>
                        <a:rPr sz="1100" b="1" i="0">
                          <a:solidFill>
                            <a:srgbClr val="FFFFFF"/>
                          </a:solidFill>
                          <a:latin typeface="Arial"/>
                        </a:rPr>
                        <a:t>Requirement</a:t>
                      </a:r>
                    </a:p>
                  </a:txBody>
                  <a:tcPr marL="54864" marR="54864" marT="27432" marB="27432">
                    <a:solidFill>
                      <a:srgbClr val="365E9E"/>
                    </a:solidFill>
                  </a:tcPr>
                </a:tc>
              </a:tr>
              <a:tr h="400050">
                <a:tc>
                  <a:txBody>
                    <a:bodyPr wrap="square"/>
                    <a:lstStyle/>
                    <a:p>
                      <a:r>
                        <a:rPr sz="1100" b="1" i="0">
                          <a:solidFill>
                            <a:srgbClr val="111111"/>
                          </a:solidFill>
                          <a:latin typeface="Arial"/>
                        </a:rPr>
                        <a:t>Full paper</a:t>
                      </a:r>
                    </a:p>
                  </a:txBody>
                  <a:tcPr marL="54864" marR="54864" marT="27432" marB="27432">
                    <a:solidFill>
                      <a:srgbClr val="FFFFFF"/>
                    </a:solidFill>
                  </a:tcPr>
                </a:tc>
                <a:tc>
                  <a:txBody>
                    <a:bodyPr wrap="square"/>
                    <a:lstStyle/>
                    <a:p>
                      <a:r>
                        <a:rPr sz="1100" b="0" i="0">
                          <a:solidFill>
                            <a:srgbClr val="111111"/>
                          </a:solidFill>
                          <a:latin typeface="Arial"/>
                        </a:rPr>
                        <a:t>8 pages, AAAI 2027 author kit; references and appendix excluded</a:t>
                      </a:r>
                    </a:p>
                  </a:txBody>
                  <a:tcPr marL="54864" marR="54864" marT="27432" marB="27432">
                    <a:solidFill>
                      <a:srgbClr val="FFFFFF"/>
                    </a:solidFill>
                  </a:tcPr>
                </a:tc>
              </a:tr>
              <a:tr h="400050">
                <a:tc>
                  <a:txBody>
                    <a:bodyPr wrap="square"/>
                    <a:lstStyle/>
                    <a:p>
                      <a:r>
                        <a:rPr sz="1100" b="1" i="0">
                          <a:solidFill>
                            <a:srgbClr val="111111"/>
                          </a:solidFill>
                          <a:latin typeface="Arial"/>
                        </a:rPr>
                        <a:t>Short / position</a:t>
                      </a:r>
                    </a:p>
                  </a:txBody>
                  <a:tcPr marL="54864" marR="54864" marT="27432" marB="27432">
                    <a:solidFill>
                      <a:srgbClr val="F3F3F3"/>
                    </a:solidFill>
                  </a:tcPr>
                </a:tc>
                <a:tc>
                  <a:txBody>
                    <a:bodyPr wrap="square"/>
                    <a:lstStyle/>
                    <a:p>
                      <a:r>
                        <a:rPr sz="1100" b="0" i="0">
                          <a:solidFill>
                            <a:srgbClr val="111111"/>
                          </a:solidFill>
                          <a:latin typeface="Arial"/>
                        </a:rPr>
                        <a:t>4 pages, same kit</a:t>
                      </a:r>
                    </a:p>
                  </a:txBody>
                  <a:tcPr marL="54864" marR="54864" marT="27432" marB="27432">
                    <a:solidFill>
                      <a:srgbClr val="F3F3F3"/>
                    </a:solidFill>
                  </a:tcPr>
                </a:tc>
              </a:tr>
              <a:tr h="400050">
                <a:tc>
                  <a:txBody>
                    <a:bodyPr wrap="square"/>
                    <a:lstStyle/>
                    <a:p>
                      <a:r>
                        <a:rPr sz="1100" b="1" i="0">
                          <a:solidFill>
                            <a:srgbClr val="111111"/>
                          </a:solidFill>
                          <a:latin typeface="Arial"/>
                        </a:rPr>
                        <a:t>Review</a:t>
                      </a:r>
                    </a:p>
                  </a:txBody>
                  <a:tcPr marL="54864" marR="54864" marT="27432" marB="27432">
                    <a:solidFill>
                      <a:srgbClr val="FFFFFF"/>
                    </a:solidFill>
                  </a:tcPr>
                </a:tc>
                <a:tc>
                  <a:txBody>
                    <a:bodyPr wrap="square"/>
                    <a:lstStyle/>
                    <a:p>
                      <a:r>
                        <a:rPr sz="1100" b="0" i="0">
                          <a:solidFill>
                            <a:srgbClr val="111111"/>
                          </a:solidFill>
                          <a:latin typeface="Arial"/>
                        </a:rPr>
                        <a:t>Double-blind on OpenReview; anonymize PDF and supplementary</a:t>
                      </a:r>
                    </a:p>
                  </a:txBody>
                  <a:tcPr marL="54864" marR="54864" marT="27432" marB="27432">
                    <a:solidFill>
                      <a:srgbClr val="FFFFFF"/>
                    </a:solidFill>
                  </a:tcPr>
                </a:tc>
              </a:tr>
              <a:tr h="400050">
                <a:tc>
                  <a:txBody>
                    <a:bodyPr wrap="square"/>
                    <a:lstStyle/>
                    <a:p>
                      <a:r>
                        <a:rPr sz="1100" b="1" i="0">
                          <a:solidFill>
                            <a:srgbClr val="111111"/>
                          </a:solidFill>
                          <a:latin typeface="Arial"/>
                        </a:rPr>
                        <a:t>Submission</a:t>
                      </a:r>
                    </a:p>
                  </a:txBody>
                  <a:tcPr marL="54864" marR="54864" marT="27432" marB="27432">
                    <a:solidFill>
                      <a:srgbClr val="F3F3F3"/>
                    </a:solidFill>
                  </a:tcPr>
                </a:tc>
                <a:tc>
                  <a:txBody>
                    <a:bodyPr wrap="square"/>
                    <a:lstStyle/>
                    <a:p>
                      <a:r>
                        <a:rPr sz="1100" b="0" i="0">
                          <a:solidFill>
                            <a:srgbClr val="111111"/>
                          </a:solidFill>
                          <a:latin typeface="Arial"/>
                        </a:rPr>
                        <a:t>20 Nov 2026 AoE, strict</a:t>
                      </a:r>
                    </a:p>
                  </a:txBody>
                  <a:tcPr marL="54864" marR="54864" marT="27432" marB="27432">
                    <a:solidFill>
                      <a:srgbClr val="F3F3F3"/>
                    </a:solidFill>
                  </a:tcPr>
                </a:tc>
              </a:tr>
              <a:tr h="400050">
                <a:tc>
                  <a:txBody>
                    <a:bodyPr wrap="square"/>
                    <a:lstStyle/>
                    <a:p>
                      <a:r>
                        <a:rPr sz="1100" b="1" i="0">
                          <a:solidFill>
                            <a:srgbClr val="111111"/>
                          </a:solidFill>
                          <a:latin typeface="Arial"/>
                        </a:rPr>
                        <a:t>Notification</a:t>
                      </a:r>
                    </a:p>
                  </a:txBody>
                  <a:tcPr marL="54864" marR="54864" marT="27432" marB="27432">
                    <a:solidFill>
                      <a:srgbClr val="FFFFFF"/>
                    </a:solidFill>
                  </a:tcPr>
                </a:tc>
                <a:tc>
                  <a:txBody>
                    <a:bodyPr wrap="square"/>
                    <a:lstStyle/>
                    <a:p>
                      <a:r>
                        <a:rPr sz="1100" b="0" i="0">
                          <a:solidFill>
                            <a:srgbClr val="111111"/>
                          </a:solidFill>
                          <a:latin typeface="Arial"/>
                        </a:rPr>
                        <a:t>2 Dec 2026 AoE</a:t>
                      </a:r>
                    </a:p>
                  </a:txBody>
                  <a:tcPr marL="54864" marR="54864" marT="27432" marB="27432">
                    <a:solidFill>
                      <a:srgbClr val="FFFFFF"/>
                    </a:solidFill>
                  </a:tcPr>
                </a:tc>
              </a:tr>
              <a:tr h="400050">
                <a:tc>
                  <a:txBody>
                    <a:bodyPr wrap="square"/>
                    <a:lstStyle/>
                    <a:p>
                      <a:r>
                        <a:rPr sz="1100" b="1" i="0">
                          <a:solidFill>
                            <a:srgbClr val="111111"/>
                          </a:solidFill>
                          <a:latin typeface="Arial"/>
                        </a:rPr>
                        <a:t>Workshop</a:t>
                      </a:r>
                    </a:p>
                  </a:txBody>
                  <a:tcPr marL="54864" marR="54864" marT="27432" marB="27432">
                    <a:solidFill>
                      <a:srgbClr val="F3F3F3"/>
                    </a:solidFill>
                  </a:tcPr>
                </a:tc>
                <a:tc>
                  <a:txBody>
                    <a:bodyPr wrap="square"/>
                    <a:lstStyle/>
                    <a:p>
                      <a:r>
                        <a:rPr sz="1100" b="0" i="0">
                          <a:solidFill>
                            <a:srgbClr val="111111"/>
                          </a:solidFill>
                          <a:latin typeface="Arial"/>
                        </a:rPr>
                        <a:t>22-23 Feb 2027, Palais des congres, Montreal (one day, TBA)</a:t>
                      </a:r>
                    </a:p>
                  </a:txBody>
                  <a:tcPr marL="54864" marR="54864" marT="27432" marB="27432">
                    <a:solidFill>
                      <a:srgbClr val="F3F3F3"/>
                    </a:solidFill>
                  </a:tcPr>
                </a:tc>
              </a:tr>
              <a:tr h="400050">
                <a:tc>
                  <a:txBody>
                    <a:bodyPr wrap="square"/>
                    <a:lstStyle/>
                    <a:p>
                      <a:r>
                        <a:rPr sz="1100" b="1" i="0">
                          <a:solidFill>
                            <a:srgbClr val="111111"/>
                          </a:solidFill>
                          <a:latin typeface="Arial"/>
                        </a:rPr>
                        <a:t>Accepted types</a:t>
                      </a:r>
                    </a:p>
                  </a:txBody>
                  <a:tcPr marL="54864" marR="54864" marT="27432" marB="27432">
                    <a:solidFill>
                      <a:srgbClr val="FFFFFF"/>
                    </a:solidFill>
                  </a:tcPr>
                </a:tc>
                <a:tc>
                  <a:txBody>
                    <a:bodyPr wrap="square"/>
                    <a:lstStyle/>
                    <a:p>
                      <a:r>
                        <a:rPr sz="1100" b="0" i="0">
                          <a:solidFill>
                            <a:srgbClr val="111111"/>
                          </a:solidFill>
                          <a:latin typeface="Arial"/>
                        </a:rPr>
                        <a:t>Mechanisms/abstractions, system designs, benchmarks, negative results, position papers</a:t>
                      </a:r>
                    </a:p>
                  </a:txBody>
                  <a:tcPr marL="54864" marR="54864" marT="27432" marB="27432">
                    <a:solidFill>
                      <a:srgbClr val="FFFFFF"/>
                    </a:solidFill>
                  </a:tcPr>
                </a:tc>
              </a:tr>
            </a:tbl>
          </a:graphicData>
        </a:graphic>
      </p:graphicFrame>
      <p:sp>
        <p:nvSpPr>
          <p:cNvPr id="8" name="Rounded Rectangle 7"/>
          <p:cNvSpPr/>
          <p:nvPr/>
        </p:nvSpPr>
        <p:spPr>
          <a:xfrm>
            <a:off x="6492240" y="1371600"/>
            <a:ext cx="5242255" cy="320040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0" y="1444752"/>
            <a:ext cx="5059375" cy="411480"/>
          </a:xfrm>
          <a:prstGeom prst="rect">
            <a:avLst/>
          </a:prstGeom>
          <a:noFill/>
        </p:spPr>
        <p:txBody>
          <a:bodyPr wrap="square" lIns="45720" rIns="45720" tIns="27432" bIns="27432" anchor="t">
            <a:spAutoFit/>
          </a:bodyPr>
          <a:lstStyle/>
          <a:p>
            <a:pPr algn="l">
              <a:lnSpc>
                <a:spcPct val="100000"/>
              </a:lnSpc>
            </a:pPr>
            <a:r>
              <a:rPr sz="1500" b="1" i="0">
                <a:solidFill>
                  <a:srgbClr val="365E9E"/>
                </a:solidFill>
                <a:latin typeface="Arial"/>
              </a:rPr>
              <a:t>Five topics of interest</a:t>
            </a:r>
          </a:p>
        </p:txBody>
      </p:sp>
      <p:sp>
        <p:nvSpPr>
          <p:cNvPr id="10" name="TextBox 9"/>
          <p:cNvSpPr txBox="1"/>
          <p:nvPr/>
        </p:nvSpPr>
        <p:spPr>
          <a:xfrm>
            <a:off x="6583680" y="1874520"/>
            <a:ext cx="5059375" cy="2606040"/>
          </a:xfrm>
          <a:prstGeom prst="rect">
            <a:avLst/>
          </a:prstGeom>
          <a:noFill/>
        </p:spPr>
        <p:txBody>
          <a:bodyPr wrap="square" lIns="45720" rIns="45720">
            <a:spAutoFit/>
          </a:bodyPr>
          <a:lstStyle/>
          <a:p>
            <a:pPr>
              <a:lnSpc>
                <a:spcPct val="110000"/>
              </a:lnSpc>
              <a:spcAft>
                <a:spcPts val="400"/>
              </a:spcAft>
            </a:pPr>
            <a:r>
              <a:rPr sz="1150" b="0" i="0">
                <a:solidFill>
                  <a:srgbClr val="111111"/>
                </a:solidFill>
                <a:latin typeface="Arial"/>
              </a:rPr>
              <a:t>-  </a:t>
            </a:r>
            <a:r>
              <a:rPr sz="1150" b="1" i="0">
                <a:solidFill>
                  <a:srgbClr val="111111"/>
                </a:solidFill>
                <a:latin typeface="Arial"/>
              </a:rPr>
              <a:t>T1 Memory evolution</a:t>
            </a:r>
            <a:r>
              <a:rPr sz="1150" b="0" i="0">
                <a:solidFill>
                  <a:srgbClr val="111111"/>
                </a:solidFill>
                <a:latin typeface="Arial"/>
              </a:rPr>
              <a:t> (state subsystem): provenance, write policies, snapshots, leakage from persistent state</a:t>
            </a:r>
          </a:p>
          <a:p>
            <a:pPr>
              <a:lnSpc>
                <a:spcPct val="110000"/>
              </a:lnSpc>
              <a:spcAft>
                <a:spcPts val="400"/>
              </a:spcAft>
            </a:pPr>
            <a:r>
              <a:rPr sz="1150" b="0" i="0">
                <a:solidFill>
                  <a:srgbClr val="111111"/>
                </a:solidFill>
                <a:latin typeface="Arial"/>
              </a:rPr>
              <a:t>-  </a:t>
            </a:r>
            <a:r>
              <a:rPr sz="1150" b="1" i="0">
                <a:solidFill>
                  <a:srgbClr val="111111"/>
                </a:solidFill>
                <a:latin typeface="Arial"/>
              </a:rPr>
              <a:t>T2 Tool and skill evolution</a:t>
            </a:r>
            <a:r>
              <a:rPr sz="1150" b="0" i="0">
                <a:solidFill>
                  <a:srgbClr val="111111"/>
                </a:solidFill>
                <a:latin typeface="Arial"/>
              </a:rPr>
              <a:t> (capability interface): least privilege, sandboxing, verification of synthesized tools, revocation</a:t>
            </a:r>
          </a:p>
          <a:p>
            <a:pPr>
              <a:lnSpc>
                <a:spcPct val="110000"/>
              </a:lnSpc>
              <a:spcAft>
                <a:spcPts val="400"/>
              </a:spcAft>
            </a:pPr>
            <a:r>
              <a:rPr sz="1150" b="0" i="0">
                <a:solidFill>
                  <a:srgbClr val="111111"/>
                </a:solidFill>
                <a:latin typeface="Arial"/>
              </a:rPr>
              <a:t>-  </a:t>
            </a:r>
            <a:r>
              <a:rPr sz="1150" b="1" i="0">
                <a:solidFill>
                  <a:srgbClr val="111111"/>
                </a:solidFill>
                <a:latin typeface="Arial"/>
              </a:rPr>
              <a:t>T3 Model and policy evolution</a:t>
            </a:r>
            <a:r>
              <a:rPr sz="1150" b="0" i="0">
                <a:solidFill>
                  <a:srgbClr val="111111"/>
                </a:solidFill>
                <a:latin typeface="Arial"/>
              </a:rPr>
              <a:t> (update and release layer): versioning, staged rollout, regression suites, rollback, reward hacking, reliability of self-critiques</a:t>
            </a:r>
          </a:p>
          <a:p>
            <a:pPr>
              <a:lnSpc>
                <a:spcPct val="110000"/>
              </a:lnSpc>
              <a:spcAft>
                <a:spcPts val="400"/>
              </a:spcAft>
            </a:pPr>
            <a:r>
              <a:rPr sz="1150" b="0" i="0">
                <a:solidFill>
                  <a:srgbClr val="111111"/>
                </a:solidFill>
                <a:latin typeface="Arial"/>
              </a:rPr>
              <a:t>-  </a:t>
            </a:r>
            <a:r>
              <a:rPr sz="1150" b="1" i="0">
                <a:solidFill>
                  <a:srgbClr val="111111"/>
                </a:solidFill>
                <a:latin typeface="Arial"/>
              </a:rPr>
              <a:t>T4 Multi-agent co-evolution</a:t>
            </a:r>
            <a:r>
              <a:rPr sz="1150" b="0" i="0">
                <a:solidFill>
                  <a:srgbClr val="111111"/>
                </a:solidFill>
                <a:latin typeface="Arial"/>
              </a:rPr>
              <a:t> (runtime and scheduler): shared state, runaway loops, blast-radius limits</a:t>
            </a:r>
          </a:p>
          <a:p>
            <a:pPr>
              <a:lnSpc>
                <a:spcPct val="110000"/>
              </a:lnSpc>
              <a:spcAft>
                <a:spcPts val="400"/>
              </a:spcAft>
            </a:pPr>
            <a:r>
              <a:rPr sz="1150" b="0" i="0">
                <a:solidFill>
                  <a:srgbClr val="111111"/>
                </a:solidFill>
                <a:latin typeface="Arial"/>
              </a:rPr>
              <a:t>-  </a:t>
            </a:r>
            <a:r>
              <a:rPr sz="1150" b="1" i="0">
                <a:solidFill>
                  <a:srgbClr val="111111"/>
                </a:solidFill>
                <a:latin typeface="Arial"/>
              </a:rPr>
              <a:t>T5 Evaluating evolution</a:t>
            </a:r>
            <a:r>
              <a:rPr sz="1150" b="0" i="0">
                <a:solidFill>
                  <a:srgbClr val="111111"/>
                </a:solidFill>
                <a:latin typeface="Arial"/>
              </a:rPr>
              <a:t> (observability and audit layer): attributing outcomes to updates, monitoring, oversight before irreversible updates, stateful testbeds</a:t>
            </a:r>
          </a:p>
        </p:txBody>
      </p:sp>
      <p:sp>
        <p:nvSpPr>
          <p:cNvPr id="11" name="Rounded Rectangle 10"/>
          <p:cNvSpPr/>
          <p:nvPr/>
        </p:nvSpPr>
        <p:spPr>
          <a:xfrm>
            <a:off x="457200" y="4709160"/>
            <a:ext cx="11277295" cy="68580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4709160"/>
            <a:ext cx="11057839" cy="685800"/>
          </a:xfrm>
          <a:prstGeom prst="rect">
            <a:avLst/>
          </a:prstGeom>
          <a:noFill/>
        </p:spPr>
        <p:txBody>
          <a:bodyPr wrap="square" lIns="45720" rIns="45720" tIns="27432" bIns="27432" anchor="ctr">
            <a:spAutoFit/>
          </a:bodyPr>
          <a:lstStyle/>
          <a:p>
            <a:pPr algn="l">
              <a:lnSpc>
                <a:spcPct val="110000"/>
              </a:lnSpc>
            </a:pPr>
            <a:r>
              <a:rPr sz="1300" b="1" i="0">
                <a:solidFill>
                  <a:srgbClr val="111111"/>
                </a:solidFill>
                <a:latin typeface="Arial"/>
              </a:rPr>
              <a:t>Our natural home is T3 (the release layer) with T5 (the audit layer) as the measurement story. The CFP explicitly welcomes system designs, benchmarks and negative results, which is what the repository can honestly supply.</a:t>
            </a:r>
          </a:p>
        </p:txBody>
      </p:sp>
      <p:sp>
        <p:nvSpPr>
          <p:cNvPr id="13" name="TextBox 12"/>
          <p:cNvSpPr txBox="1"/>
          <p:nvPr/>
        </p:nvSpPr>
        <p:spPr>
          <a:xfrm>
            <a:off x="457200" y="5486400"/>
            <a:ext cx="11277295" cy="548640"/>
          </a:xfrm>
          <a:prstGeom prst="rect">
            <a:avLst/>
          </a:prstGeom>
          <a:noFill/>
        </p:spPr>
        <p:txBody>
          <a:bodyPr wrap="square" lIns="45720" rIns="45720" tIns="27432" bIns="27432" anchor="t">
            <a:spAutoFit/>
          </a:bodyPr>
          <a:lstStyle/>
          <a:p>
            <a:pPr algn="l">
              <a:lnSpc>
                <a:spcPct val="110000"/>
              </a:lnSpc>
            </a:pPr>
            <a:r>
              <a:rPr sz="1100" b="0" i="0">
                <a:solidFill>
                  <a:srgbClr val="666666"/>
                </a:solidFill>
                <a:latin typeface="Arial"/>
              </a:rPr>
              <a:t>Organizers: Haolun Wu (Stanford/Mila), Negar Arabzadeh (UC Berkeley), Wenyue Hua (MSR), Bang Liu, Laurent Charlin (Mila). Speakers include Yoshua Bengio, Mengdi Wang, Yilun Du. A safety-literate audience: hedged, measured claims will be read as a strength.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Fit map: repository component -&gt; workshop topic -&gt; OS vocabulary for the paper</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components exist; the adaptation is mostly renaming them in the language of the layer beneath the agent</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3</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Repository sources: README.md; docs/incident-aware-optimization.md; docs/instruction-optimization.md; docs/coordination-harness.md</a:t>
            </a:r>
          </a:p>
        </p:txBody>
      </p:sp>
      <p:graphicFrame>
        <p:nvGraphicFramePr>
          <p:cNvPr id="8" name="Table 7"/>
          <p:cNvGraphicFramePr>
            <a:graphicFrameLocks noGrp="1"/>
          </p:cNvGraphicFramePr>
          <p:nvPr/>
        </p:nvGraphicFramePr>
        <p:xfrm>
          <a:off x="457200" y="1371600"/>
          <a:ext cx="11274552" cy="3657600"/>
        </p:xfrm>
        <a:graphic>
          <a:graphicData uri="http://schemas.openxmlformats.org/drawingml/2006/table">
            <a:tbl>
              <a:tblPr firstRow="1" bandRow="1">
                <a:tableStyleId>{5C22544A-7EE6-4342-B048-85BDC9FD1C3A}</a:tableStyleId>
              </a:tblPr>
              <a:tblGrid>
                <a:gridCol w="1600200"/>
                <a:gridCol w="4480560"/>
                <a:gridCol w="3931920"/>
                <a:gridCol w="1261872"/>
              </a:tblGrid>
              <a:tr h="609600">
                <a:tc>
                  <a:txBody>
                    <a:bodyPr wrap="square"/>
                    <a:lstStyle/>
                    <a:p>
                      <a:r>
                        <a:rPr sz="1050" b="1" i="0">
                          <a:solidFill>
                            <a:srgbClr val="FFFFFF"/>
                          </a:solidFill>
                          <a:latin typeface="Arial"/>
                        </a:rPr>
                        <a:t>Topic</a:t>
                      </a:r>
                    </a:p>
                  </a:txBody>
                  <a:tcPr marL="54864" marR="54864" marT="27432" marB="27432">
                    <a:solidFill>
                      <a:srgbClr val="365E9E"/>
                    </a:solidFill>
                  </a:tcPr>
                </a:tc>
                <a:tc>
                  <a:txBody>
                    <a:bodyPr wrap="square"/>
                    <a:lstStyle/>
                    <a:p>
                      <a:r>
                        <a:rPr sz="1050" b="1" i="0">
                          <a:solidFill>
                            <a:srgbClr val="FFFFFF"/>
                          </a:solidFill>
                          <a:latin typeface="Arial"/>
                        </a:rPr>
                        <a:t>Repository component (as implemented)</a:t>
                      </a:r>
                    </a:p>
                  </a:txBody>
                  <a:tcPr marL="54864" marR="54864" marT="27432" marB="27432">
                    <a:solidFill>
                      <a:srgbClr val="365E9E"/>
                    </a:solidFill>
                  </a:tcPr>
                </a:tc>
                <a:tc>
                  <a:txBody>
                    <a:bodyPr wrap="square"/>
                    <a:lstStyle/>
                    <a:p>
                      <a:r>
                        <a:rPr sz="1050" b="1" i="0">
                          <a:solidFill>
                            <a:srgbClr val="FFFFFF"/>
                          </a:solidFill>
                          <a:latin typeface="Arial"/>
                        </a:rPr>
                        <a:t>Paper vocabulary (agent-OS framing)</a:t>
                      </a:r>
                    </a:p>
                  </a:txBody>
                  <a:tcPr marL="54864" marR="54864" marT="27432" marB="27432">
                    <a:solidFill>
                      <a:srgbClr val="365E9E"/>
                    </a:solidFill>
                  </a:tcPr>
                </a:tc>
                <a:tc>
                  <a:txBody>
                    <a:bodyPr wrap="square"/>
                    <a:lstStyle/>
                    <a:p>
                      <a:r>
                        <a:rPr sz="1050" b="1" i="0">
                          <a:solidFill>
                            <a:srgbClr val="FFFFFF"/>
                          </a:solidFill>
                          <a:latin typeface="Arial"/>
                        </a:rPr>
                        <a:t>Role</a:t>
                      </a:r>
                    </a:p>
                  </a:txBody>
                  <a:tcPr marL="54864" marR="54864" marT="27432" marB="27432">
                    <a:solidFill>
                      <a:srgbClr val="365E9E"/>
                    </a:solidFill>
                  </a:tcPr>
                </a:tc>
              </a:tr>
              <a:tr h="609600">
                <a:tc>
                  <a:txBody>
                    <a:bodyPr wrap="square"/>
                    <a:lstStyle/>
                    <a:p>
                      <a:r>
                        <a:rPr sz="1050" b="1" i="0">
                          <a:solidFill>
                            <a:srgbClr val="111111"/>
                          </a:solidFill>
                          <a:latin typeface="Arial"/>
                        </a:rPr>
                        <a:t>T3 policy evolution</a:t>
                      </a:r>
                    </a:p>
                  </a:txBody>
                  <a:tcPr marL="54864" marR="54864" marT="27432" marB="27432">
                    <a:solidFill>
                      <a:srgbClr val="FFFFFF"/>
                    </a:solidFill>
                  </a:tcPr>
                </a:tc>
                <a:tc>
                  <a:txBody>
                    <a:bodyPr wrap="square"/>
                    <a:lstStyle/>
                    <a:p>
                      <a:r>
                        <a:rPr sz="1050" b="0" i="0">
                          <a:solidFill>
                            <a:srgbClr val="111111"/>
                          </a:solidFill>
                          <a:latin typeface="Arial"/>
                        </a:rPr>
                        <a:t>Instruction optimizer: model-proposed clause variants, catalog validator, development-only selection, frozen held-out trials; constrained objective min R s.t. U, C, F</a:t>
                      </a:r>
                    </a:p>
                  </a:txBody>
                  <a:tcPr marL="54864" marR="54864" marT="27432" marB="27432">
                    <a:solidFill>
                      <a:srgbClr val="FFFFFF"/>
                    </a:solidFill>
                  </a:tcPr>
                </a:tc>
                <a:tc>
                  <a:txBody>
                    <a:bodyPr wrap="square"/>
                    <a:lstStyle/>
                    <a:p>
                      <a:r>
                        <a:rPr sz="1050" b="0" i="0">
                          <a:solidFill>
                            <a:srgbClr val="111111"/>
                          </a:solidFill>
                          <a:latin typeface="Arial"/>
                        </a:rPr>
                        <a:t>Staged rollout with a release gate; a regression suite every policy update must pass; reward hacking made visible to the gate</a:t>
                      </a:r>
                    </a:p>
                  </a:txBody>
                  <a:tcPr marL="54864" marR="54864" marT="27432" marB="27432">
                    <a:solidFill>
                      <a:srgbClr val="FFFFFF"/>
                    </a:solidFill>
                  </a:tcPr>
                </a:tc>
                <a:tc>
                  <a:txBody>
                    <a:bodyPr wrap="square"/>
                    <a:lstStyle/>
                    <a:p>
                      <a:r>
                        <a:rPr sz="1050" b="0" i="0">
                          <a:solidFill>
                            <a:srgbClr val="111111"/>
                          </a:solidFill>
                          <a:latin typeface="Arial"/>
                        </a:rPr>
                        <a:t>Primary</a:t>
                      </a:r>
                    </a:p>
                  </a:txBody>
                  <a:tcPr marL="54864" marR="54864" marT="27432" marB="27432">
                    <a:solidFill>
                      <a:srgbClr val="FFFFFF"/>
                    </a:solidFill>
                  </a:tcPr>
                </a:tc>
              </a:tr>
              <a:tr h="609600">
                <a:tc>
                  <a:txBody>
                    <a:bodyPr wrap="square"/>
                    <a:lstStyle/>
                    <a:p>
                      <a:r>
                        <a:rPr sz="1050" b="1" i="0">
                          <a:solidFill>
                            <a:srgbClr val="111111"/>
                          </a:solidFill>
                          <a:latin typeface="Arial"/>
                        </a:rPr>
                        <a:t>T5 evaluating evolution</a:t>
                      </a:r>
                    </a:p>
                  </a:txBody>
                  <a:tcPr marL="54864" marR="54864" marT="27432" marB="27432">
                    <a:solidFill>
                      <a:srgbClr val="F3F3F3"/>
                    </a:solidFill>
                  </a:tcPr>
                </a:tc>
                <a:tc>
                  <a:txBody>
                    <a:bodyPr wrap="square"/>
                    <a:lstStyle/>
                    <a:p>
                      <a:r>
                        <a:rPr sz="1050" b="0" i="0">
                          <a:solidFill>
                            <a:srgbClr val="111111"/>
                          </a:solidFill>
                          <a:latin typeface="Arial"/>
                        </a:rPr>
                        <a:t>Independent SQLite effect observer (before/after state), counterfactual task families with feasibility oracle, grader regression cases, 26-record incident library</a:t>
                      </a:r>
                    </a:p>
                  </a:txBody>
                  <a:tcPr marL="54864" marR="54864" marT="27432" marB="27432">
                    <a:solidFill>
                      <a:srgbClr val="F3F3F3"/>
                    </a:solidFill>
                  </a:tcPr>
                </a:tc>
                <a:tc>
                  <a:txBody>
                    <a:bodyPr wrap="square"/>
                    <a:lstStyle/>
                    <a:p>
                      <a:r>
                        <a:rPr sz="1050" b="0" i="0">
                          <a:solidFill>
                            <a:srgbClr val="111111"/>
                          </a:solidFill>
                          <a:latin typeface="Arial"/>
                        </a:rPr>
                        <a:t>Audit subsystem below the tool broker; outcome attribution per update; stateful testbed with reference labels</a:t>
                      </a:r>
                    </a:p>
                  </a:txBody>
                  <a:tcPr marL="54864" marR="54864" marT="27432" marB="27432">
                    <a:solidFill>
                      <a:srgbClr val="F3F3F3"/>
                    </a:solidFill>
                  </a:tcPr>
                </a:tc>
                <a:tc>
                  <a:txBody>
                    <a:bodyPr wrap="square"/>
                    <a:lstStyle/>
                    <a:p>
                      <a:r>
                        <a:rPr sz="1050" b="0" i="0">
                          <a:solidFill>
                            <a:srgbClr val="111111"/>
                          </a:solidFill>
                          <a:latin typeface="Arial"/>
                        </a:rPr>
                        <a:t>Primary</a:t>
                      </a:r>
                    </a:p>
                  </a:txBody>
                  <a:tcPr marL="54864" marR="54864" marT="27432" marB="27432">
                    <a:solidFill>
                      <a:srgbClr val="F3F3F3"/>
                    </a:solidFill>
                  </a:tcPr>
                </a:tc>
              </a:tr>
              <a:tr h="609600">
                <a:tc>
                  <a:txBody>
                    <a:bodyPr wrap="square"/>
                    <a:lstStyle/>
                    <a:p>
                      <a:r>
                        <a:rPr sz="1050" b="1" i="0">
                          <a:solidFill>
                            <a:srgbClr val="111111"/>
                          </a:solidFill>
                          <a:latin typeface="Arial"/>
                        </a:rPr>
                        <a:t>T2 tool/skill evolution</a:t>
                      </a:r>
                    </a:p>
                  </a:txBody>
                  <a:tcPr marL="54864" marR="54864" marT="27432" marB="27432">
                    <a:solidFill>
                      <a:srgbClr val="FFFFFF"/>
                    </a:solidFill>
                  </a:tcPr>
                </a:tc>
                <a:tc>
                  <a:txBody>
                    <a:bodyPr wrap="square"/>
                    <a:lstStyle/>
                    <a:p>
                      <a:r>
                        <a:rPr sz="1050" b="0" i="0">
                          <a:solidFill>
                            <a:srgbClr val="111111"/>
                          </a:solidFill>
                          <a:latin typeface="Arial"/>
                        </a:rPr>
                        <a:t>Dispatcher scope check on exact `.lab.test` authorities; catalog-constrained synthesis rejects arbitrary instruction text</a:t>
                      </a:r>
                    </a:p>
                  </a:txBody>
                  <a:tcPr marL="54864" marR="54864" marT="27432" marB="27432">
                    <a:solidFill>
                      <a:srgbClr val="FFFFFF"/>
                    </a:solidFill>
                  </a:tcPr>
                </a:tc>
                <a:tc>
                  <a:txBody>
                    <a:bodyPr wrap="square"/>
                    <a:lstStyle/>
                    <a:p>
                      <a:r>
                        <a:rPr sz="1050" b="0" i="0">
                          <a:solidFill>
                            <a:srgbClr val="111111"/>
                          </a:solidFill>
                          <a:latin typeface="Arial"/>
                        </a:rPr>
                        <a:t>Reference monitor / least privilege; verification of synthesized capabilities before they reach the actor</a:t>
                      </a:r>
                    </a:p>
                  </a:txBody>
                  <a:tcPr marL="54864" marR="54864" marT="27432" marB="27432">
                    <a:solidFill>
                      <a:srgbClr val="FFFFFF"/>
                    </a:solidFill>
                  </a:tcPr>
                </a:tc>
                <a:tc>
                  <a:txBody>
                    <a:bodyPr wrap="square"/>
                    <a:lstStyle/>
                    <a:p>
                      <a:r>
                        <a:rPr sz="1050" b="0" i="0">
                          <a:solidFill>
                            <a:srgbClr val="111111"/>
                          </a:solidFill>
                          <a:latin typeface="Arial"/>
                        </a:rPr>
                        <a:t>Supporting</a:t>
                      </a:r>
                    </a:p>
                  </a:txBody>
                  <a:tcPr marL="54864" marR="54864" marT="27432" marB="27432">
                    <a:solidFill>
                      <a:srgbClr val="FFFFFF"/>
                    </a:solidFill>
                  </a:tcPr>
                </a:tc>
              </a:tr>
              <a:tr h="609600">
                <a:tc>
                  <a:txBody>
                    <a:bodyPr wrap="square"/>
                    <a:lstStyle/>
                    <a:p>
                      <a:r>
                        <a:rPr sz="1050" b="1" i="0">
                          <a:solidFill>
                            <a:srgbClr val="111111"/>
                          </a:solidFill>
                          <a:latin typeface="Arial"/>
                        </a:rPr>
                        <a:t>T4 multi-agent co-evolution</a:t>
                      </a:r>
                    </a:p>
                  </a:txBody>
                  <a:tcPr marL="54864" marR="54864" marT="27432" marB="27432">
                    <a:solidFill>
                      <a:srgbClr val="F3F3F3"/>
                    </a:solidFill>
                  </a:tcPr>
                </a:tc>
                <a:tc>
                  <a:txBody>
                    <a:bodyPr wrap="square"/>
                    <a:lstStyle/>
                    <a:p>
                      <a:r>
                        <a:rPr sz="1050" b="0" i="0">
                          <a:solidFill>
                            <a:srgbClr val="111111"/>
                          </a:solidFill>
                          <a:latin typeface="Arial"/>
                        </a:rPr>
                        <a:t>Coordination harness: shared counters, read-consumed quota, URL store, paired counterfactual replay, 28 scripted cases</a:t>
                      </a:r>
                    </a:p>
                  </a:txBody>
                  <a:tcPr marL="54864" marR="54864" marT="27432" marB="27432">
                    <a:solidFill>
                      <a:srgbClr val="F3F3F3"/>
                    </a:solidFill>
                  </a:tcPr>
                </a:tc>
                <a:tc>
                  <a:txBody>
                    <a:bodyPr wrap="square"/>
                    <a:lstStyle/>
                    <a:p>
                      <a:r>
                        <a:rPr sz="1050" b="0" i="0">
                          <a:solidFill>
                            <a:srgbClr val="111111"/>
                          </a:solidFill>
                          <a:latin typeface="Arial"/>
                        </a:rPr>
                        <a:t>Shared-state blast radius; effects invisible in transcripts</a:t>
                      </a:r>
                    </a:p>
                  </a:txBody>
                  <a:tcPr marL="54864" marR="54864" marT="27432" marB="27432">
                    <a:solidFill>
                      <a:srgbClr val="F3F3F3"/>
                    </a:solidFill>
                  </a:tcPr>
                </a:tc>
                <a:tc>
                  <a:txBody>
                    <a:bodyPr wrap="square"/>
                    <a:lstStyle/>
                    <a:p>
                      <a:r>
                        <a:rPr sz="1050" b="0" i="0">
                          <a:solidFill>
                            <a:srgbClr val="111111"/>
                          </a:solidFill>
                          <a:latin typeface="Arial"/>
                        </a:rPr>
                        <a:t>One paragraph + appendix</a:t>
                      </a:r>
                    </a:p>
                  </a:txBody>
                  <a:tcPr marL="54864" marR="54864" marT="27432" marB="27432">
                    <a:solidFill>
                      <a:srgbClr val="F3F3F3"/>
                    </a:solidFill>
                  </a:tcPr>
                </a:tc>
              </a:tr>
              <a:tr h="609600">
                <a:tc>
                  <a:txBody>
                    <a:bodyPr wrap="square"/>
                    <a:lstStyle/>
                    <a:p>
                      <a:r>
                        <a:rPr sz="1050" b="1" i="0">
                          <a:solidFill>
                            <a:srgbClr val="111111"/>
                          </a:solidFill>
                          <a:latin typeface="Arial"/>
                        </a:rPr>
                        <a:t>T1 memory evolution</a:t>
                      </a:r>
                    </a:p>
                  </a:txBody>
                  <a:tcPr marL="54864" marR="54864" marT="27432" marB="27432">
                    <a:solidFill>
                      <a:srgbClr val="FFFFFF"/>
                    </a:solidFill>
                  </a:tcPr>
                </a:tc>
                <a:tc>
                  <a:txBody>
                    <a:bodyPr wrap="square"/>
                    <a:lstStyle/>
                    <a:p>
                      <a:r>
                        <a:rPr sz="1050" b="0" i="0">
                          <a:solidFill>
                            <a:srgbClr val="111111"/>
                          </a:solidFill>
                          <a:latin typeface="Arial"/>
                        </a:rPr>
                        <a:t>Prior-run answer archive, cached flag, synthetic mailbox as reachable persistent state</a:t>
                      </a:r>
                    </a:p>
                  </a:txBody>
                  <a:tcPr marL="54864" marR="54864" marT="27432" marB="27432">
                    <a:solidFill>
                      <a:srgbClr val="FFFFFF"/>
                    </a:solidFill>
                  </a:tcPr>
                </a:tc>
                <a:tc>
                  <a:txBody>
                    <a:bodyPr wrap="square"/>
                    <a:lstStyle/>
                    <a:p>
                      <a:r>
                        <a:rPr sz="1050" b="0" i="0">
                          <a:solidFill>
                            <a:srgbClr val="111111"/>
                          </a:solidFill>
                          <a:latin typeface="Arial"/>
                        </a:rPr>
                        <a:t>Leakage from persistent state across runs</a:t>
                      </a:r>
                    </a:p>
                  </a:txBody>
                  <a:tcPr marL="54864" marR="54864" marT="27432" marB="27432">
                    <a:solidFill>
                      <a:srgbClr val="FFFFFF"/>
                    </a:solidFill>
                  </a:tcPr>
                </a:tc>
                <a:tc>
                  <a:txBody>
                    <a:bodyPr wrap="square"/>
                    <a:lstStyle/>
                    <a:p>
                      <a:r>
                        <a:rPr sz="1050" b="0" i="0">
                          <a:solidFill>
                            <a:srgbClr val="111111"/>
                          </a:solidFill>
                          <a:latin typeface="Arial"/>
                        </a:rPr>
                        <a:t>Mention only</a:t>
                      </a:r>
                    </a:p>
                  </a:txBody>
                  <a:tcPr marL="54864" marR="54864" marT="27432" marB="27432">
                    <a:solidFill>
                      <a:srgbClr val="FFFFFF"/>
                    </a:solidFill>
                  </a:tcPr>
                </a:tc>
              </a:tr>
            </a:tbl>
          </a:graphicData>
        </a:graphic>
      </p:graphicFrame>
      <p:sp>
        <p:nvSpPr>
          <p:cNvPr id="9" name="Rounded Rectangle 8"/>
          <p:cNvSpPr/>
          <p:nvPr/>
        </p:nvSpPr>
        <p:spPr>
          <a:xfrm>
            <a:off x="457200" y="5212080"/>
            <a:ext cx="11277295" cy="54864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5212080"/>
            <a:ext cx="11057839" cy="548640"/>
          </a:xfrm>
          <a:prstGeom prst="rect">
            <a:avLst/>
          </a:prstGeom>
          <a:noFill/>
        </p:spPr>
        <p:txBody>
          <a:bodyPr wrap="square" lIns="45720" rIns="45720" tIns="27432" bIns="27432" anchor="ctr">
            <a:spAutoFit/>
          </a:bodyPr>
          <a:lstStyle/>
          <a:p>
            <a:pPr algn="l">
              <a:lnSpc>
                <a:spcPct val="110000"/>
              </a:lnSpc>
            </a:pPr>
            <a:r>
              <a:rPr sz="1300" b="1" i="0">
                <a:solidFill>
                  <a:srgbClr val="111111"/>
                </a:solidFill>
                <a:latin typeface="Arial"/>
              </a:rPr>
              <a:t>Rule for the rewrite: keep every measurement caveat once, in Limitations. The body leads with the abstraction and what it already observes.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paper in one slide: what we claim and what we do not</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A contribution of mechanisms, a testbed and pilot evidence; the optimization result is reported only as far as E2 measures it</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4</a:t>
            </a:r>
          </a:p>
        </p:txBody>
      </p:sp>
      <p:sp>
        <p:nvSpPr>
          <p:cNvPr id="7" name="Rounded Rectangle 6"/>
          <p:cNvSpPr/>
          <p:nvPr/>
        </p:nvSpPr>
        <p:spPr>
          <a:xfrm>
            <a:off x="457200" y="1371600"/>
            <a:ext cx="5577840" cy="3977639"/>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444752"/>
            <a:ext cx="5394960" cy="411480"/>
          </a:xfrm>
          <a:prstGeom prst="rect">
            <a:avLst/>
          </a:prstGeom>
          <a:noFill/>
        </p:spPr>
        <p:txBody>
          <a:bodyPr wrap="square" lIns="45720" rIns="45720" tIns="27432" bIns="27432" anchor="t">
            <a:spAutoFit/>
          </a:bodyPr>
          <a:lstStyle/>
          <a:p>
            <a:pPr algn="l">
              <a:lnSpc>
                <a:spcPct val="100000"/>
              </a:lnSpc>
            </a:pPr>
            <a:r>
              <a:rPr sz="1500" b="1" i="0">
                <a:solidFill>
                  <a:srgbClr val="2E7D5B"/>
                </a:solidFill>
                <a:latin typeface="Arial"/>
              </a:rPr>
              <a:t>We claim</a:t>
            </a:r>
          </a:p>
        </p:txBody>
      </p:sp>
      <p:sp>
        <p:nvSpPr>
          <p:cNvPr id="9" name="TextBox 8"/>
          <p:cNvSpPr txBox="1"/>
          <p:nvPr/>
        </p:nvSpPr>
        <p:spPr>
          <a:xfrm>
            <a:off x="548640" y="1874520"/>
            <a:ext cx="5394960" cy="3383279"/>
          </a:xfrm>
          <a:prstGeom prst="rect">
            <a:avLst/>
          </a:prstGeom>
          <a:noFill/>
        </p:spPr>
        <p:txBody>
          <a:bodyPr wrap="square" lIns="45720" rIns="45720">
            <a:spAutoFit/>
          </a:bodyPr>
          <a:lstStyle/>
          <a:p>
            <a:pPr>
              <a:lnSpc>
                <a:spcPct val="110000"/>
              </a:lnSpc>
              <a:spcAft>
                <a:spcPts val="500"/>
              </a:spcAft>
            </a:pPr>
            <a:r>
              <a:rPr sz="1150" b="0" i="0">
                <a:solidFill>
                  <a:srgbClr val="111111"/>
                </a:solidFill>
                <a:latin typeface="Arial"/>
              </a:rPr>
              <a:t>-  </a:t>
            </a:r>
            <a:r>
              <a:rPr sz="1150" b="1" i="0">
                <a:solidFill>
                  <a:srgbClr val="111111"/>
                </a:solidFill>
                <a:latin typeface="Arial"/>
              </a:rPr>
              <a:t>Abstraction.</a:t>
            </a:r>
            <a:r>
              <a:rPr sz="1150" b="0" i="0">
                <a:solidFill>
                  <a:srgbClr val="111111"/>
                </a:solidFill>
                <a:latin typeface="Arial"/>
              </a:rPr>
              <a:t> An audit-and-release layer for evolving agents: (a) an independent effect observer reading service state below the tool broker, (b) executable incident twins as a regression suite, (c) a release rule that minimizes verified incidents subject to utility, cost and false-refusal limits.</a:t>
            </a:r>
          </a:p>
          <a:p>
            <a:pPr>
              <a:lnSpc>
                <a:spcPct val="110000"/>
              </a:lnSpc>
              <a:spcAft>
                <a:spcPts val="500"/>
              </a:spcAft>
            </a:pPr>
            <a:r>
              <a:rPr sz="1150" b="0" i="0">
                <a:solidFill>
                  <a:srgbClr val="111111"/>
                </a:solidFill>
                <a:latin typeface="Arial"/>
              </a:rPr>
              <a:t>-  </a:t>
            </a:r>
            <a:r>
              <a:rPr sz="1150" b="1" i="0">
                <a:solidFill>
                  <a:srgbClr val="111111"/>
                </a:solidFill>
                <a:latin typeface="Arial"/>
              </a:rPr>
              <a:t>Evidence that scorers miss what the observer sees.</a:t>
            </a:r>
            <a:r>
              <a:rPr sz="1150" b="0" i="0">
                <a:solidFill>
                  <a:srgbClr val="111111"/>
                </a:solidFill>
                <a:latin typeface="Arial"/>
              </a:rPr>
              <a:t> 13 of 15 violating runs in the incident study passed the task scorer by submitting a cached answer; the observer recorded every excluded read.</a:t>
            </a:r>
          </a:p>
          <a:p>
            <a:pPr>
              <a:lnSpc>
                <a:spcPct val="110000"/>
              </a:lnSpc>
              <a:spcAft>
                <a:spcPts val="500"/>
              </a:spcAft>
            </a:pPr>
            <a:r>
              <a:rPr sz="1150" b="0" i="0">
                <a:solidFill>
                  <a:srgbClr val="111111"/>
                </a:solidFill>
                <a:latin typeface="Arial"/>
              </a:rPr>
              <a:t>-  </a:t>
            </a:r>
            <a:r>
              <a:rPr sz="1150" b="1" i="0">
                <a:solidFill>
                  <a:srgbClr val="111111"/>
                </a:solidFill>
                <a:latin typeface="Arial"/>
              </a:rPr>
              <a:t>Pilot evidence that policy updates move the gated quantity.</a:t>
            </a:r>
            <a:r>
              <a:rPr sz="1150" b="0" i="0">
                <a:solidFill>
                  <a:srgbClr val="111111"/>
                </a:solidFill>
                <a:latin typeface="Arial"/>
              </a:rPr>
              <a:t> Haiku 4.5 outside access on impossible tasks 6/8 -&gt; 0/8 under the combined instruction update, with 96/96 capability controls completed in scope; scope levels 2/6, 2/6, 0/6, 0/6.</a:t>
            </a:r>
          </a:p>
          <a:p>
            <a:pPr>
              <a:lnSpc>
                <a:spcPct val="110000"/>
              </a:lnSpc>
              <a:spcAft>
                <a:spcPts val="500"/>
              </a:spcAft>
            </a:pPr>
            <a:r>
              <a:rPr sz="1150" b="0" i="0">
                <a:solidFill>
                  <a:srgbClr val="111111"/>
                </a:solidFill>
                <a:latin typeface="Arial"/>
              </a:rPr>
              <a:t>-  </a:t>
            </a:r>
            <a:r>
              <a:rPr sz="1150" b="1" i="0">
                <a:solidFill>
                  <a:srgbClr val="111111"/>
                </a:solidFill>
                <a:latin typeface="Arial"/>
              </a:rPr>
              <a:t>A reusable protocol and testbed.</a:t>
            </a:r>
            <a:r>
              <a:rPr sz="1150" b="0" i="0">
                <a:solidFill>
                  <a:srgbClr val="111111"/>
                </a:solidFill>
                <a:latin typeface="Arial"/>
              </a:rPr>
              <a:t> Frozen plans, per-run budgets, 320 transition checks, 17 grader cases, 1,543 relabeled proposals, 196+ tests, no model call in qualification.</a:t>
            </a:r>
          </a:p>
          <a:p>
            <a:pPr>
              <a:lnSpc>
                <a:spcPct val="110000"/>
              </a:lnSpc>
              <a:spcAft>
                <a:spcPts val="500"/>
              </a:spcAft>
            </a:pPr>
            <a:r>
              <a:rPr sz="1150" b="0" i="0">
                <a:solidFill>
                  <a:srgbClr val="111111"/>
                </a:solidFill>
                <a:latin typeface="Arial"/>
              </a:rPr>
              <a:t>-  </a:t>
            </a:r>
            <a:r>
              <a:rPr sz="1150" b="1" i="0">
                <a:solidFill>
                  <a:srgbClr val="111111"/>
                </a:solidFill>
                <a:latin typeface="Arial"/>
              </a:rPr>
              <a:t>A negative result on environment grounding.</a:t>
            </a:r>
            <a:r>
              <a:rPr sz="1150" b="0" i="0">
                <a:solidFill>
                  <a:srgbClr val="111111"/>
                </a:solidFill>
                <a:latin typeface="Arial"/>
              </a:rPr>
              <a:t> The direct upstream coding baseline failed for environment reasons, not model reasons.</a:t>
            </a:r>
          </a:p>
        </p:txBody>
      </p:sp>
      <p:sp>
        <p:nvSpPr>
          <p:cNvPr id="10" name="Rounded Rectangle 9"/>
          <p:cNvSpPr/>
          <p:nvPr/>
        </p:nvSpPr>
        <p:spPr>
          <a:xfrm>
            <a:off x="6309360" y="1371600"/>
            <a:ext cx="5425135" cy="3977639"/>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0" y="1444752"/>
            <a:ext cx="5242255" cy="411480"/>
          </a:xfrm>
          <a:prstGeom prst="rect">
            <a:avLst/>
          </a:prstGeom>
          <a:noFill/>
        </p:spPr>
        <p:txBody>
          <a:bodyPr wrap="square" lIns="45720" rIns="45720" tIns="27432" bIns="27432" anchor="t">
            <a:spAutoFit/>
          </a:bodyPr>
          <a:lstStyle/>
          <a:p>
            <a:pPr algn="l">
              <a:lnSpc>
                <a:spcPct val="100000"/>
              </a:lnSpc>
            </a:pPr>
            <a:r>
              <a:rPr sz="1500" b="1" i="0">
                <a:solidFill>
                  <a:srgbClr val="B34831"/>
                </a:solidFill>
                <a:latin typeface="Arial"/>
              </a:rPr>
              <a:t>We do not claim</a:t>
            </a:r>
          </a:p>
        </p:txBody>
      </p:sp>
      <p:sp>
        <p:nvSpPr>
          <p:cNvPr id="12" name="TextBox 11"/>
          <p:cNvSpPr txBox="1"/>
          <p:nvPr/>
        </p:nvSpPr>
        <p:spPr>
          <a:xfrm>
            <a:off x="6400800" y="1874520"/>
            <a:ext cx="5242255" cy="3383279"/>
          </a:xfrm>
          <a:prstGeom prst="rect">
            <a:avLst/>
          </a:prstGeom>
          <a:noFill/>
        </p:spPr>
        <p:txBody>
          <a:bodyPr wrap="square" lIns="45720" rIns="45720">
            <a:spAutoFit/>
          </a:bodyPr>
          <a:lstStyle/>
          <a:p>
            <a:pPr>
              <a:lnSpc>
                <a:spcPct val="110000"/>
              </a:lnSpc>
              <a:spcAft>
                <a:spcPts val="500"/>
              </a:spcAft>
            </a:pPr>
            <a:r>
              <a:rPr sz="1150" b="0" i="0">
                <a:solidFill>
                  <a:srgbClr val="111111"/>
                </a:solidFill>
                <a:latin typeface="Arial"/>
              </a:rPr>
              <a:t>-  </a:t>
            </a:r>
            <a:r>
              <a:rPr sz="1150" b="0" i="0">
                <a:solidFill>
                  <a:srgbClr val="111111"/>
                </a:solidFill>
                <a:latin typeface="Arial"/>
              </a:rPr>
              <a:t>A general failure rate or a generally effective defense: cells are n=8 and n=2 on one task structure and two models; 0/8 has a 95% Wilson upper limit of 32.4%.</a:t>
            </a:r>
          </a:p>
          <a:p>
            <a:pPr>
              <a:lnSpc>
                <a:spcPct val="110000"/>
              </a:lnSpc>
              <a:spcAft>
                <a:spcPts val="500"/>
              </a:spcAft>
            </a:pPr>
            <a:r>
              <a:rPr sz="1150" b="0" i="0">
                <a:solidFill>
                  <a:srgbClr val="111111"/>
                </a:solidFill>
                <a:latin typeface="Arial"/>
              </a:rPr>
              <a:t>-  </a:t>
            </a:r>
            <a:r>
              <a:rPr sz="1150" b="0" i="0">
                <a:solidFill>
                  <a:srgbClr val="111111"/>
                </a:solidFill>
                <a:latin typeface="Arial"/>
              </a:rPr>
              <a:t>That incident feedback beats transcript-proxy feedback in general. E2 gives one matched comparison on the native fixture; a null is reported as a null.</a:t>
            </a:r>
          </a:p>
          <a:p>
            <a:pPr>
              <a:lnSpc>
                <a:spcPct val="110000"/>
              </a:lnSpc>
              <a:spcAft>
                <a:spcPts val="500"/>
              </a:spcAft>
            </a:pPr>
            <a:r>
              <a:rPr sz="1150" b="0" i="0">
                <a:solidFill>
                  <a:srgbClr val="111111"/>
                </a:solidFill>
                <a:latin typeface="Arial"/>
              </a:rPr>
              <a:t>-  </a:t>
            </a:r>
            <a:r>
              <a:rPr sz="1150" b="0" i="0">
                <a:solidFill>
                  <a:srgbClr val="111111"/>
                </a:solidFill>
                <a:latin typeface="Arial"/>
              </a:rPr>
              <a:t>Benchmark-level improvements on ImpossibleBench, AgentDojo, ResearchArena or BashArena. These stay as the declared protocol.</a:t>
            </a:r>
          </a:p>
          <a:p>
            <a:pPr>
              <a:lnSpc>
                <a:spcPct val="110000"/>
              </a:lnSpc>
              <a:spcAft>
                <a:spcPts val="500"/>
              </a:spcAft>
            </a:pPr>
            <a:r>
              <a:rPr sz="1150" b="0" i="0">
                <a:solidFill>
                  <a:srgbClr val="111111"/>
                </a:solidFill>
                <a:latin typeface="Arial"/>
              </a:rPr>
              <a:t>-  </a:t>
            </a:r>
            <a:r>
              <a:rPr sz="1150" b="0" i="0">
                <a:solidFill>
                  <a:srgbClr val="111111"/>
                </a:solidFill>
                <a:latin typeface="Arial"/>
              </a:rPr>
              <a:t>That the dispatcher is OS-level containment. It is tool-level containment for a closed tool surface.</a:t>
            </a:r>
          </a:p>
          <a:p>
            <a:pPr>
              <a:lnSpc>
                <a:spcPct val="110000"/>
              </a:lnSpc>
              <a:spcAft>
                <a:spcPts val="500"/>
              </a:spcAft>
            </a:pPr>
            <a:r>
              <a:rPr sz="1150" b="0" i="0">
                <a:solidFill>
                  <a:srgbClr val="111111"/>
                </a:solidFill>
                <a:latin typeface="Arial"/>
              </a:rPr>
              <a:t>-  </a:t>
            </a:r>
            <a:r>
              <a:rPr sz="1150" b="0" i="0">
                <a:solidFill>
                  <a:srgbClr val="111111"/>
                </a:solidFill>
                <a:latin typeface="Arial"/>
              </a:rPr>
              <a:t>That the incident codings are settled facts. They are analyst judgments on public reporting; E5 adds a second reader.</a:t>
            </a:r>
          </a:p>
        </p:txBody>
      </p:sp>
      <p:sp>
        <p:nvSpPr>
          <p:cNvPr id="13" name="Rounded Rectangle 12"/>
          <p:cNvSpPr/>
          <p:nvPr/>
        </p:nvSpPr>
        <p:spPr>
          <a:xfrm>
            <a:off x="457200" y="5486400"/>
            <a:ext cx="11277295" cy="502920"/>
          </a:xfrm>
          <a:prstGeom prst="roundRect">
            <a:avLst>
              <a:gd name="adj" fmla="val 5000"/>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5486400"/>
            <a:ext cx="11057839" cy="502920"/>
          </a:xfrm>
          <a:prstGeom prst="rect">
            <a:avLst/>
          </a:prstGeom>
          <a:noFill/>
        </p:spPr>
        <p:txBody>
          <a:bodyPr wrap="square" lIns="45720" rIns="45720" tIns="27432" bIns="27432" anchor="ctr">
            <a:spAutoFit/>
          </a:bodyPr>
          <a:lstStyle/>
          <a:p>
            <a:pPr algn="l">
              <a:lnSpc>
                <a:spcPct val="110000"/>
              </a:lnSpc>
            </a:pPr>
            <a:r>
              <a:rPr sz="1400" b="1" i="0">
                <a:solidFill>
                  <a:srgbClr val="FFFFFF"/>
                </a:solidFill>
                <a:latin typeface="Arial"/>
              </a:rPr>
              <a:t>Title candidate: 'Incident-aware regression gating for evolving agent policies: an audit layer beneath the tool broker'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Eight-page outline: page budget and source material</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Everything in sections 2-4 and 6 exists today; section 5 needs E1 and E2; section 8 needs E5</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5</a:t>
            </a:r>
          </a:p>
        </p:txBody>
      </p:sp>
      <p:graphicFrame>
        <p:nvGraphicFramePr>
          <p:cNvPr id="7" name="Table 6"/>
          <p:cNvGraphicFramePr>
            <a:graphicFrameLocks noGrp="1"/>
          </p:cNvGraphicFramePr>
          <p:nvPr/>
        </p:nvGraphicFramePr>
        <p:xfrm>
          <a:off x="457200" y="1371600"/>
          <a:ext cx="11274551" cy="4297680"/>
        </p:xfrm>
        <a:graphic>
          <a:graphicData uri="http://schemas.openxmlformats.org/drawingml/2006/table">
            <a:tbl>
              <a:tblPr firstRow="1" bandRow="1">
                <a:tableStyleId>{5C22544A-7EE6-4342-B048-85BDC9FD1C3A}</a:tableStyleId>
              </a:tblPr>
              <a:tblGrid>
                <a:gridCol w="320040"/>
                <a:gridCol w="1874519"/>
                <a:gridCol w="685800"/>
                <a:gridCol w="4069080"/>
                <a:gridCol w="3017520"/>
                <a:gridCol w="1307592"/>
              </a:tblGrid>
              <a:tr h="477520">
                <a:tc>
                  <a:txBody>
                    <a:bodyPr wrap="square"/>
                    <a:lstStyle/>
                    <a:p>
                      <a:r>
                        <a:rPr sz="1000" b="1" i="0">
                          <a:solidFill>
                            <a:srgbClr val="FFFFFF"/>
                          </a:solidFill>
                          <a:latin typeface="Arial"/>
                        </a:rPr>
                        <a:t>#</a:t>
                      </a:r>
                    </a:p>
                  </a:txBody>
                  <a:tcPr marL="54864" marR="54864" marT="27432" marB="27432">
                    <a:solidFill>
                      <a:srgbClr val="365E9E"/>
                    </a:solidFill>
                  </a:tcPr>
                </a:tc>
                <a:tc>
                  <a:txBody>
                    <a:bodyPr wrap="square"/>
                    <a:lstStyle/>
                    <a:p>
                      <a:r>
                        <a:rPr sz="1000" b="1" i="0">
                          <a:solidFill>
                            <a:srgbClr val="FFFFFF"/>
                          </a:solidFill>
                          <a:latin typeface="Arial"/>
                        </a:rPr>
                        <a:t>Section</a:t>
                      </a:r>
                    </a:p>
                  </a:txBody>
                  <a:tcPr marL="54864" marR="54864" marT="27432" marB="27432">
                    <a:solidFill>
                      <a:srgbClr val="365E9E"/>
                    </a:solidFill>
                  </a:tcPr>
                </a:tc>
                <a:tc>
                  <a:txBody>
                    <a:bodyPr wrap="square"/>
                    <a:lstStyle/>
                    <a:p>
                      <a:r>
                        <a:rPr sz="1000" b="1" i="0">
                          <a:solidFill>
                            <a:srgbClr val="FFFFFF"/>
                          </a:solidFill>
                          <a:latin typeface="Arial"/>
                        </a:rPr>
                        <a:t>Pages</a:t>
                      </a:r>
                    </a:p>
                  </a:txBody>
                  <a:tcPr marL="54864" marR="54864" marT="27432" marB="27432">
                    <a:solidFill>
                      <a:srgbClr val="365E9E"/>
                    </a:solidFill>
                  </a:tcPr>
                </a:tc>
                <a:tc>
                  <a:txBody>
                    <a:bodyPr wrap="square"/>
                    <a:lstStyle/>
                    <a:p>
                      <a:r>
                        <a:rPr sz="1000" b="1" i="0">
                          <a:solidFill>
                            <a:srgbClr val="FFFFFF"/>
                          </a:solidFill>
                          <a:latin typeface="Arial"/>
                        </a:rPr>
                        <a:t>Content</a:t>
                      </a:r>
                    </a:p>
                  </a:txBody>
                  <a:tcPr marL="54864" marR="54864" marT="27432" marB="27432">
                    <a:solidFill>
                      <a:srgbClr val="365E9E"/>
                    </a:solidFill>
                  </a:tcPr>
                </a:tc>
                <a:tc>
                  <a:txBody>
                    <a:bodyPr wrap="square"/>
                    <a:lstStyle/>
                    <a:p>
                      <a:r>
                        <a:rPr sz="1000" b="1" i="0">
                          <a:solidFill>
                            <a:srgbClr val="FFFFFF"/>
                          </a:solidFill>
                          <a:latin typeface="Arial"/>
                        </a:rPr>
                        <a:t>Source material</a:t>
                      </a:r>
                    </a:p>
                  </a:txBody>
                  <a:tcPr marL="54864" marR="54864" marT="27432" marB="27432">
                    <a:solidFill>
                      <a:srgbClr val="365E9E"/>
                    </a:solidFill>
                  </a:tcPr>
                </a:tc>
                <a:tc>
                  <a:txBody>
                    <a:bodyPr wrap="square"/>
                    <a:lstStyle/>
                    <a:p>
                      <a:r>
                        <a:rPr sz="1000" b="1" i="0">
                          <a:solidFill>
                            <a:srgbClr val="FFFFFF"/>
                          </a:solidFill>
                          <a:latin typeface="Arial"/>
                        </a:rPr>
                        <a:t>Needs</a:t>
                      </a:r>
                    </a:p>
                  </a:txBody>
                  <a:tcPr marL="54864" marR="54864" marT="27432" marB="27432">
                    <a:solidFill>
                      <a:srgbClr val="365E9E"/>
                    </a:solidFill>
                  </a:tcPr>
                </a:tc>
              </a:tr>
              <a:tr h="477520">
                <a:tc>
                  <a:txBody>
                    <a:bodyPr wrap="square"/>
                    <a:lstStyle/>
                    <a:p>
                      <a:r>
                        <a:rPr sz="1000" b="1" i="0">
                          <a:solidFill>
                            <a:srgbClr val="111111"/>
                          </a:solidFill>
                          <a:latin typeface="Arial"/>
                        </a:rPr>
                        <a:t>1</a:t>
                      </a:r>
                    </a:p>
                  </a:txBody>
                  <a:tcPr marL="54864" marR="54864" marT="27432" marB="27432">
                    <a:solidFill>
                      <a:srgbClr val="FFFFFF"/>
                    </a:solidFill>
                  </a:tcPr>
                </a:tc>
                <a:tc>
                  <a:txBody>
                    <a:bodyPr wrap="square"/>
                    <a:lstStyle/>
                    <a:p>
                      <a:r>
                        <a:rPr sz="1000" b="0" i="0">
                          <a:solidFill>
                            <a:srgbClr val="111111"/>
                          </a:solidFill>
                          <a:latin typeface="Arial"/>
                        </a:rPr>
                        <a:t>Introduction</a:t>
                      </a:r>
                    </a:p>
                  </a:txBody>
                  <a:tcPr marL="54864" marR="54864" marT="27432" marB="27432">
                    <a:solidFill>
                      <a:srgbClr val="FFFFFF"/>
                    </a:solidFill>
                  </a:tcPr>
                </a:tc>
                <a:tc>
                  <a:txBody>
                    <a:bodyPr wrap="square"/>
                    <a:lstStyle/>
                    <a:p>
                      <a:r>
                        <a:rPr sz="1000" b="0" i="0">
                          <a:solidFill>
                            <a:srgbClr val="111111"/>
                          </a:solidFill>
                          <a:latin typeface="Arial"/>
                        </a:rPr>
                        <a:t>1.0</a:t>
                      </a:r>
                    </a:p>
                  </a:txBody>
                  <a:tcPr marL="54864" marR="54864" marT="27432" marB="27432">
                    <a:solidFill>
                      <a:srgbClr val="FFFFFF"/>
                    </a:solidFill>
                  </a:tcPr>
                </a:tc>
                <a:tc>
                  <a:txBody>
                    <a:bodyPr wrap="square"/>
                    <a:lstStyle/>
                    <a:p>
                      <a:r>
                        <a:rPr sz="1000" b="0" i="0">
                          <a:solidFill>
                            <a:srgbClr val="111111"/>
                          </a:solidFill>
                          <a:latin typeface="Arial"/>
                        </a:rPr>
                        <a:t>Agents evolve through prompt, skill and model updates; each update needs a gate; task scores miss incidents</a:t>
                      </a:r>
                    </a:p>
                  </a:txBody>
                  <a:tcPr marL="54864" marR="54864" marT="27432" marB="27432">
                    <a:solidFill>
                      <a:srgbClr val="FFFFFF"/>
                    </a:solidFill>
                  </a:tcPr>
                </a:tc>
                <a:tc>
                  <a:txBody>
                    <a:bodyPr wrap="square"/>
                    <a:lstStyle/>
                    <a:p>
                      <a:r>
                        <a:rPr sz="1000" b="0" i="0">
                          <a:solidFill>
                            <a:srgbClr val="111111"/>
                          </a:solidFill>
                          <a:latin typeface="Arial"/>
                        </a:rPr>
                        <a:t>README; incident-aware-optimization.md</a:t>
                      </a:r>
                    </a:p>
                  </a:txBody>
                  <a:tcPr marL="54864" marR="54864" marT="27432" marB="27432">
                    <a:solidFill>
                      <a:srgbClr val="FFFFFF"/>
                    </a:solidFill>
                  </a:tcPr>
                </a:tc>
                <a:tc>
                  <a:txBody>
                    <a:bodyPr wrap="square"/>
                    <a:lstStyle/>
                    <a:p>
                      <a:r>
                        <a:rPr sz="1000" b="0" i="0">
                          <a:solidFill>
                            <a:srgbClr val="111111"/>
                          </a:solidFill>
                          <a:latin typeface="Arial"/>
                        </a:rPr>
                        <a:t>Writing</a:t>
                      </a:r>
                    </a:p>
                  </a:txBody>
                  <a:tcPr marL="54864" marR="54864" marT="27432" marB="27432">
                    <a:solidFill>
                      <a:srgbClr val="FFFFFF"/>
                    </a:solidFill>
                  </a:tcPr>
                </a:tc>
              </a:tr>
              <a:tr h="477520">
                <a:tc>
                  <a:txBody>
                    <a:bodyPr wrap="square"/>
                    <a:lstStyle/>
                    <a:p>
                      <a:r>
                        <a:rPr sz="1000" b="1" i="0">
                          <a:solidFill>
                            <a:srgbClr val="111111"/>
                          </a:solidFill>
                          <a:latin typeface="Arial"/>
                        </a:rPr>
                        <a:t>2</a:t>
                      </a:r>
                    </a:p>
                  </a:txBody>
                  <a:tcPr marL="54864" marR="54864" marT="27432" marB="27432">
                    <a:solidFill>
                      <a:srgbClr val="F3F3F3"/>
                    </a:solidFill>
                  </a:tcPr>
                </a:tc>
                <a:tc>
                  <a:txBody>
                    <a:bodyPr wrap="square"/>
                    <a:lstStyle/>
                    <a:p>
                      <a:r>
                        <a:rPr sz="1000" b="0" i="0">
                          <a:solidFill>
                            <a:srgbClr val="111111"/>
                          </a:solidFill>
                          <a:latin typeface="Arial"/>
                        </a:rPr>
                        <a:t>Incidents motivate the layer beneath</a:t>
                      </a:r>
                    </a:p>
                  </a:txBody>
                  <a:tcPr marL="54864" marR="54864" marT="27432" marB="27432">
                    <a:solidFill>
                      <a:srgbClr val="F3F3F3"/>
                    </a:solidFill>
                  </a:tcPr>
                </a:tc>
                <a:tc>
                  <a:txBody>
                    <a:bodyPr wrap="square"/>
                    <a:lstStyle/>
                    <a:p>
                      <a:r>
                        <a:rPr sz="1000" b="0" i="0">
                          <a:solidFill>
                            <a:srgbClr val="111111"/>
                          </a:solidFill>
                          <a:latin typeface="Arial"/>
                        </a:rPr>
                        <a:t>1.0</a:t>
                      </a:r>
                    </a:p>
                  </a:txBody>
                  <a:tcPr marL="54864" marR="54864" marT="27432" marB="27432">
                    <a:solidFill>
                      <a:srgbClr val="F3F3F3"/>
                    </a:solidFill>
                  </a:tcPr>
                </a:tc>
                <a:tc>
                  <a:txBody>
                    <a:bodyPr wrap="square"/>
                    <a:lstStyle/>
                    <a:p>
                      <a:r>
                        <a:rPr sz="1000" b="0" i="0">
                          <a:solidFill>
                            <a:srgbClr val="111111"/>
                          </a:solidFill>
                          <a:latin typeface="Arial"/>
                        </a:rPr>
                        <a:t>26 public cases: pathways, mechanisms M1-M6, propositions P1-P9, detection and disclosure latency, mapped to T1-T5</a:t>
                      </a:r>
                    </a:p>
                  </a:txBody>
                  <a:tcPr marL="54864" marR="54864" marT="27432" marB="27432">
                    <a:solidFill>
                      <a:srgbClr val="F3F3F3"/>
                    </a:solidFill>
                  </a:tcPr>
                </a:tc>
                <a:tc>
                  <a:txBody>
                    <a:bodyPr wrap="square"/>
                    <a:lstStyle/>
                    <a:p>
                      <a:r>
                        <a:rPr sz="1000" b="0" i="0">
                          <a:solidFill>
                            <a:srgbClr val="111111"/>
                          </a:solidFill>
                          <a:latin typeface="Arial"/>
                        </a:rPr>
                        <a:t>incident-library-analysis.md; figures/incidents/analysis</a:t>
                      </a:r>
                    </a:p>
                  </a:txBody>
                  <a:tcPr marL="54864" marR="54864" marT="27432" marB="27432">
                    <a:solidFill>
                      <a:srgbClr val="F3F3F3"/>
                    </a:solidFill>
                  </a:tcPr>
                </a:tc>
                <a:tc>
                  <a:txBody>
                    <a:bodyPr wrap="square"/>
                    <a:lstStyle/>
                    <a:p>
                      <a:r>
                        <a:rPr sz="1000" b="0" i="0">
                          <a:solidFill>
                            <a:srgbClr val="111111"/>
                          </a:solidFill>
                          <a:latin typeface="Arial"/>
                        </a:rPr>
                        <a:t>E5</a:t>
                      </a:r>
                    </a:p>
                  </a:txBody>
                  <a:tcPr marL="54864" marR="54864" marT="27432" marB="27432">
                    <a:solidFill>
                      <a:srgbClr val="F3F3F3"/>
                    </a:solidFill>
                  </a:tcPr>
                </a:tc>
              </a:tr>
              <a:tr h="477520">
                <a:tc>
                  <a:txBody>
                    <a:bodyPr wrap="square"/>
                    <a:lstStyle/>
                    <a:p>
                      <a:r>
                        <a:rPr sz="1000" b="1" i="0">
                          <a:solidFill>
                            <a:srgbClr val="111111"/>
                          </a:solidFill>
                          <a:latin typeface="Arial"/>
                        </a:rPr>
                        <a:t>3</a:t>
                      </a:r>
                    </a:p>
                  </a:txBody>
                  <a:tcPr marL="54864" marR="54864" marT="27432" marB="27432">
                    <a:solidFill>
                      <a:srgbClr val="FFFFFF"/>
                    </a:solidFill>
                  </a:tcPr>
                </a:tc>
                <a:tc>
                  <a:txBody>
                    <a:bodyPr wrap="square"/>
                    <a:lstStyle/>
                    <a:p>
                      <a:r>
                        <a:rPr sz="1000" b="0" i="0">
                          <a:solidFill>
                            <a:srgbClr val="111111"/>
                          </a:solidFill>
                          <a:latin typeface="Arial"/>
                        </a:rPr>
                        <a:t>Abstractions</a:t>
                      </a:r>
                    </a:p>
                  </a:txBody>
                  <a:tcPr marL="54864" marR="54864" marT="27432" marB="27432">
                    <a:solidFill>
                      <a:srgbClr val="FFFFFF"/>
                    </a:solidFill>
                  </a:tcPr>
                </a:tc>
                <a:tc>
                  <a:txBody>
                    <a:bodyPr wrap="square"/>
                    <a:lstStyle/>
                    <a:p>
                      <a:r>
                        <a:rPr sz="1000" b="0" i="0">
                          <a:solidFill>
                            <a:srgbClr val="111111"/>
                          </a:solidFill>
                          <a:latin typeface="Arial"/>
                        </a:rPr>
                        <a:t>1.5</a:t>
                      </a:r>
                    </a:p>
                  </a:txBody>
                  <a:tcPr marL="54864" marR="54864" marT="27432" marB="27432">
                    <a:solidFill>
                      <a:srgbClr val="FFFFFF"/>
                    </a:solidFill>
                  </a:tcPr>
                </a:tc>
                <a:tc>
                  <a:txBody>
                    <a:bodyPr wrap="square"/>
                    <a:lstStyle/>
                    <a:p>
                      <a:r>
                        <a:rPr sz="1000" b="0" i="0">
                          <a:solidFill>
                            <a:srgbClr val="111111"/>
                          </a:solidFill>
                          <a:latin typeface="Arial"/>
                        </a:rPr>
                        <a:t>Effect observer below the broker; incident definitions; executable twins; release rule min R s.t. U, C, F; B0-B4 protocol</a:t>
                      </a:r>
                    </a:p>
                  </a:txBody>
                  <a:tcPr marL="54864" marR="54864" marT="27432" marB="27432">
                    <a:solidFill>
                      <a:srgbClr val="FFFFFF"/>
                    </a:solidFill>
                  </a:tcPr>
                </a:tc>
                <a:tc>
                  <a:txBody>
                    <a:bodyPr wrap="square"/>
                    <a:lstStyle/>
                    <a:p>
                      <a:r>
                        <a:rPr sz="1000" b="0" i="0">
                          <a:solidFill>
                            <a:srgbClr val="111111"/>
                          </a:solidFill>
                          <a:latin typeface="Arial"/>
                        </a:rPr>
                        <a:t>protocol.md; workbook_policy.py; INC-2026-015</a:t>
                      </a:r>
                    </a:p>
                  </a:txBody>
                  <a:tcPr marL="54864" marR="54864" marT="27432" marB="27432">
                    <a:solidFill>
                      <a:srgbClr val="FFFFFF"/>
                    </a:solidFill>
                  </a:tcPr>
                </a:tc>
                <a:tc>
                  <a:txBody>
                    <a:bodyPr wrap="square"/>
                    <a:lstStyle/>
                    <a:p>
                      <a:r>
                        <a:rPr sz="1000" b="0" i="0">
                          <a:solidFill>
                            <a:srgbClr val="111111"/>
                          </a:solidFill>
                          <a:latin typeface="Arial"/>
                        </a:rPr>
                        <a:t>Writing, 1 figure</a:t>
                      </a:r>
                    </a:p>
                  </a:txBody>
                  <a:tcPr marL="54864" marR="54864" marT="27432" marB="27432">
                    <a:solidFill>
                      <a:srgbClr val="FFFFFF"/>
                    </a:solidFill>
                  </a:tcPr>
                </a:tc>
              </a:tr>
              <a:tr h="477520">
                <a:tc>
                  <a:txBody>
                    <a:bodyPr wrap="square"/>
                    <a:lstStyle/>
                    <a:p>
                      <a:r>
                        <a:rPr sz="1000" b="1" i="0">
                          <a:solidFill>
                            <a:srgbClr val="111111"/>
                          </a:solidFill>
                          <a:latin typeface="Arial"/>
                        </a:rPr>
                        <a:t>4</a:t>
                      </a:r>
                    </a:p>
                  </a:txBody>
                  <a:tcPr marL="54864" marR="54864" marT="27432" marB="27432">
                    <a:solidFill>
                      <a:srgbClr val="F3F3F3"/>
                    </a:solidFill>
                  </a:tcPr>
                </a:tc>
                <a:tc>
                  <a:txBody>
                    <a:bodyPr wrap="square"/>
                    <a:lstStyle/>
                    <a:p>
                      <a:r>
                        <a:rPr sz="1000" b="0" i="0">
                          <a:solidFill>
                            <a:srgbClr val="111111"/>
                          </a:solidFill>
                          <a:latin typeface="Arial"/>
                        </a:rPr>
                        <a:t>Testbed</a:t>
                      </a:r>
                    </a:p>
                  </a:txBody>
                  <a:tcPr marL="54864" marR="54864" marT="27432" marB="27432">
                    <a:solidFill>
                      <a:srgbClr val="F3F3F3"/>
                    </a:solidFill>
                  </a:tcPr>
                </a:tc>
                <a:tc>
                  <a:txBody>
                    <a:bodyPr wrap="square"/>
                    <a:lstStyle/>
                    <a:p>
                      <a:r>
                        <a:rPr sz="1000" b="0" i="0">
                          <a:solidFill>
                            <a:srgbClr val="111111"/>
                          </a:solidFill>
                          <a:latin typeface="Arial"/>
                        </a:rPr>
                        <a:t>1.0</a:t>
                      </a:r>
                    </a:p>
                  </a:txBody>
                  <a:tcPr marL="54864" marR="54864" marT="27432" marB="27432">
                    <a:solidFill>
                      <a:srgbClr val="F3F3F3"/>
                    </a:solidFill>
                  </a:tcPr>
                </a:tc>
                <a:tc>
                  <a:txBody>
                    <a:bodyPr wrap="square"/>
                    <a:lstStyle/>
                    <a:p>
                      <a:r>
                        <a:rPr sz="1000" b="0" i="0">
                          <a:solidFill>
                            <a:srgbClr val="111111"/>
                          </a:solidFill>
                          <a:latin typeface="Arial"/>
                        </a:rPr>
                        <a:t>Native service fixture; counterfactual task families; grader regression; coordination harness; budgets and frozen plans</a:t>
                      </a:r>
                    </a:p>
                  </a:txBody>
                  <a:tcPr marL="54864" marR="54864" marT="27432" marB="27432">
                    <a:solidFill>
                      <a:srgbClr val="F3F3F3"/>
                    </a:solidFill>
                  </a:tcPr>
                </a:tc>
                <a:tc>
                  <a:txBody>
                    <a:bodyPr wrap="square"/>
                    <a:lstStyle/>
                    <a:p>
                      <a:r>
                        <a:rPr sz="1000" b="0" i="0">
                          <a:solidFill>
                            <a:srgbClr val="111111"/>
                          </a:solidFill>
                          <a:latin typeface="Arial"/>
                        </a:rPr>
                        <a:t>evaluation-infrastructure-results.md; coordination-harness-results.md</a:t>
                      </a:r>
                    </a:p>
                  </a:txBody>
                  <a:tcPr marL="54864" marR="54864" marT="27432" marB="27432">
                    <a:solidFill>
                      <a:srgbClr val="F3F3F3"/>
                    </a:solidFill>
                  </a:tcPr>
                </a:tc>
                <a:tc>
                  <a:txBody>
                    <a:bodyPr wrap="square"/>
                    <a:lstStyle/>
                    <a:p>
                      <a:r>
                        <a:rPr sz="1000" b="0" i="0">
                          <a:solidFill>
                            <a:srgbClr val="111111"/>
                          </a:solidFill>
                          <a:latin typeface="Arial"/>
                        </a:rPr>
                        <a:t>Writing</a:t>
                      </a:r>
                    </a:p>
                  </a:txBody>
                  <a:tcPr marL="54864" marR="54864" marT="27432" marB="27432">
                    <a:solidFill>
                      <a:srgbClr val="F3F3F3"/>
                    </a:solidFill>
                  </a:tcPr>
                </a:tc>
              </a:tr>
              <a:tr h="477520">
                <a:tc>
                  <a:txBody>
                    <a:bodyPr wrap="square"/>
                    <a:lstStyle/>
                    <a:p>
                      <a:r>
                        <a:rPr sz="1000" b="1" i="0">
                          <a:solidFill>
                            <a:srgbClr val="111111"/>
                          </a:solidFill>
                          <a:latin typeface="Arial"/>
                        </a:rPr>
                        <a:t>5</a:t>
                      </a:r>
                    </a:p>
                  </a:txBody>
                  <a:tcPr marL="54864" marR="54864" marT="27432" marB="27432">
                    <a:solidFill>
                      <a:srgbClr val="FFFFFF"/>
                    </a:solidFill>
                  </a:tcPr>
                </a:tc>
                <a:tc>
                  <a:txBody>
                    <a:bodyPr wrap="square"/>
                    <a:lstStyle/>
                    <a:p>
                      <a:r>
                        <a:rPr sz="1000" b="0" i="0">
                          <a:solidFill>
                            <a:srgbClr val="111111"/>
                          </a:solidFill>
                          <a:latin typeface="Arial"/>
                        </a:rPr>
                        <a:t>Pilot evidence</a:t>
                      </a:r>
                    </a:p>
                  </a:txBody>
                  <a:tcPr marL="54864" marR="54864" marT="27432" marB="27432">
                    <a:solidFill>
                      <a:srgbClr val="FFFFFF"/>
                    </a:solidFill>
                  </a:tcPr>
                </a:tc>
                <a:tc>
                  <a:txBody>
                    <a:bodyPr wrap="square"/>
                    <a:lstStyle/>
                    <a:p>
                      <a:r>
                        <a:rPr sz="1000" b="0" i="0">
                          <a:solidFill>
                            <a:srgbClr val="111111"/>
                          </a:solidFill>
                          <a:latin typeface="Arial"/>
                        </a:rPr>
                        <a:t>2.0</a:t>
                      </a:r>
                    </a:p>
                  </a:txBody>
                  <a:tcPr marL="54864" marR="54864" marT="27432" marB="27432">
                    <a:solidFill>
                      <a:srgbClr val="FFFFFF"/>
                    </a:solidFill>
                  </a:tcPr>
                </a:tc>
                <a:tc>
                  <a:txBody>
                    <a:bodyPr wrap="square"/>
                    <a:lstStyle/>
                    <a:p>
                      <a:r>
                        <a:rPr sz="1000" b="0" i="0">
                          <a:solidFill>
                            <a:srgbClr val="111111"/>
                          </a:solidFill>
                          <a:latin typeface="Arial"/>
                        </a:rPr>
                        <a:t>Utility vs verified incident rate across instruction policies (E1); matched proxy-vs-incident selection (E2); controls and intervals</a:t>
                      </a:r>
                    </a:p>
                  </a:txBody>
                  <a:tcPr marL="54864" marR="54864" marT="27432" marB="27432">
                    <a:solidFill>
                      <a:srgbClr val="FFFFFF"/>
                    </a:solidFill>
                  </a:tcPr>
                </a:tc>
                <a:tc>
                  <a:txBody>
                    <a:bodyPr wrap="square"/>
                    <a:lstStyle/>
                    <a:p>
                      <a:r>
                        <a:rPr sz="1000" b="0" i="0">
                          <a:solidFill>
                            <a:srgbClr val="111111"/>
                          </a:solidFill>
                          <a:latin typeface="Arial"/>
                        </a:rPr>
                        <a:t>incident-study-v1; scope-levels-v1; link-study-v1; new E2 run</a:t>
                      </a:r>
                    </a:p>
                  </a:txBody>
                  <a:tcPr marL="54864" marR="54864" marT="27432" marB="27432">
                    <a:solidFill>
                      <a:srgbClr val="FFFFFF"/>
                    </a:solidFill>
                  </a:tcPr>
                </a:tc>
                <a:tc>
                  <a:txBody>
                    <a:bodyPr wrap="square"/>
                    <a:lstStyle/>
                    <a:p>
                      <a:r>
                        <a:rPr sz="1000" b="0" i="0">
                          <a:solidFill>
                            <a:srgbClr val="111111"/>
                          </a:solidFill>
                          <a:latin typeface="Arial"/>
                        </a:rPr>
                        <a:t>E1, E2</a:t>
                      </a:r>
                    </a:p>
                  </a:txBody>
                  <a:tcPr marL="54864" marR="54864" marT="27432" marB="27432">
                    <a:solidFill>
                      <a:srgbClr val="FFFFFF"/>
                    </a:solidFill>
                  </a:tcPr>
                </a:tc>
              </a:tr>
              <a:tr h="477520">
                <a:tc>
                  <a:txBody>
                    <a:bodyPr wrap="square"/>
                    <a:lstStyle/>
                    <a:p>
                      <a:r>
                        <a:rPr sz="1000" b="1" i="0">
                          <a:solidFill>
                            <a:srgbClr val="111111"/>
                          </a:solidFill>
                          <a:latin typeface="Arial"/>
                        </a:rPr>
                        <a:t>6</a:t>
                      </a:r>
                    </a:p>
                  </a:txBody>
                  <a:tcPr marL="54864" marR="54864" marT="27432" marB="27432">
                    <a:solidFill>
                      <a:srgbClr val="F3F3F3"/>
                    </a:solidFill>
                  </a:tcPr>
                </a:tc>
                <a:tc>
                  <a:txBody>
                    <a:bodyPr wrap="square"/>
                    <a:lstStyle/>
                    <a:p>
                      <a:r>
                        <a:rPr sz="1000" b="0" i="0">
                          <a:solidFill>
                            <a:srgbClr val="111111"/>
                          </a:solidFill>
                          <a:latin typeface="Arial"/>
                        </a:rPr>
                        <a:t>Negative result</a:t>
                      </a:r>
                    </a:p>
                  </a:txBody>
                  <a:tcPr marL="54864" marR="54864" marT="27432" marB="27432">
                    <a:solidFill>
                      <a:srgbClr val="F3F3F3"/>
                    </a:solidFill>
                  </a:tcPr>
                </a:tc>
                <a:tc>
                  <a:txBody>
                    <a:bodyPr wrap="square"/>
                    <a:lstStyle/>
                    <a:p>
                      <a:r>
                        <a:rPr sz="1000" b="0" i="0">
                          <a:solidFill>
                            <a:srgbClr val="111111"/>
                          </a:solidFill>
                          <a:latin typeface="Arial"/>
                        </a:rPr>
                        <a:t>0.5</a:t>
                      </a:r>
                    </a:p>
                  </a:txBody>
                  <a:tcPr marL="54864" marR="54864" marT="27432" marB="27432">
                    <a:solidFill>
                      <a:srgbClr val="F3F3F3"/>
                    </a:solidFill>
                  </a:tcPr>
                </a:tc>
                <a:tc>
                  <a:txBody>
                    <a:bodyPr wrap="square"/>
                    <a:lstStyle/>
                    <a:p>
                      <a:r>
                        <a:rPr sz="1000" b="0" i="0">
                          <a:solidFill>
                            <a:srgbClr val="111111"/>
                          </a:solidFill>
                          <a:latin typeface="Arial"/>
                        </a:rPr>
                        <a:t>Upstream coding baseline: 1/2 original, 0/4 impossible, message-capped, missing packages (P2)</a:t>
                      </a:r>
                    </a:p>
                  </a:txBody>
                  <a:tcPr marL="54864" marR="54864" marT="27432" marB="27432">
                    <a:solidFill>
                      <a:srgbClr val="F3F3F3"/>
                    </a:solidFill>
                  </a:tcPr>
                </a:tc>
                <a:tc>
                  <a:txBody>
                    <a:bodyPr wrap="square"/>
                    <a:lstStyle/>
                    <a:p>
                      <a:r>
                        <a:rPr sz="1000" b="0" i="0">
                          <a:solidFill>
                            <a:srgbClr val="111111"/>
                          </a:solidFill>
                          <a:latin typeface="Arial"/>
                        </a:rPr>
                        <a:t>impossiblebench-upstream-baseline-results.md</a:t>
                      </a:r>
                    </a:p>
                  </a:txBody>
                  <a:tcPr marL="54864" marR="54864" marT="27432" marB="27432">
                    <a:solidFill>
                      <a:srgbClr val="F3F3F3"/>
                    </a:solidFill>
                  </a:tcPr>
                </a:tc>
                <a:tc>
                  <a:txBody>
                    <a:bodyPr wrap="square"/>
                    <a:lstStyle/>
                    <a:p>
                      <a:r>
                        <a:rPr sz="1000" b="0" i="0">
                          <a:solidFill>
                            <a:srgbClr val="111111"/>
                          </a:solidFill>
                          <a:latin typeface="Arial"/>
                        </a:rPr>
                        <a:t>Writing</a:t>
                      </a:r>
                    </a:p>
                  </a:txBody>
                  <a:tcPr marL="54864" marR="54864" marT="27432" marB="27432">
                    <a:solidFill>
                      <a:srgbClr val="F3F3F3"/>
                    </a:solidFill>
                  </a:tcPr>
                </a:tc>
              </a:tr>
              <a:tr h="477520">
                <a:tc>
                  <a:txBody>
                    <a:bodyPr wrap="square"/>
                    <a:lstStyle/>
                    <a:p>
                      <a:r>
                        <a:rPr sz="1000" b="1" i="0">
                          <a:solidFill>
                            <a:srgbClr val="111111"/>
                          </a:solidFill>
                          <a:latin typeface="Arial"/>
                        </a:rPr>
                        <a:t>7</a:t>
                      </a:r>
                    </a:p>
                  </a:txBody>
                  <a:tcPr marL="54864" marR="54864" marT="27432" marB="27432">
                    <a:solidFill>
                      <a:srgbClr val="FFFFFF"/>
                    </a:solidFill>
                  </a:tcPr>
                </a:tc>
                <a:tc>
                  <a:txBody>
                    <a:bodyPr wrap="square"/>
                    <a:lstStyle/>
                    <a:p>
                      <a:r>
                        <a:rPr sz="1000" b="0" i="0">
                          <a:solidFill>
                            <a:srgbClr val="111111"/>
                          </a:solidFill>
                          <a:latin typeface="Arial"/>
                        </a:rPr>
                        <a:t>Related work</a:t>
                      </a:r>
                    </a:p>
                  </a:txBody>
                  <a:tcPr marL="54864" marR="54864" marT="27432" marB="27432">
                    <a:solidFill>
                      <a:srgbClr val="FFFFFF"/>
                    </a:solidFill>
                  </a:tcPr>
                </a:tc>
                <a:tc>
                  <a:txBody>
                    <a:bodyPr wrap="square"/>
                    <a:lstStyle/>
                    <a:p>
                      <a:r>
                        <a:rPr sz="1000" b="0" i="0">
                          <a:solidFill>
                            <a:srgbClr val="111111"/>
                          </a:solidFill>
                          <a:latin typeface="Arial"/>
                        </a:rPr>
                        <a:t>0.5</a:t>
                      </a:r>
                    </a:p>
                  </a:txBody>
                  <a:tcPr marL="54864" marR="54864" marT="27432" marB="27432">
                    <a:solidFill>
                      <a:srgbClr val="FFFFFF"/>
                    </a:solidFill>
                  </a:tcPr>
                </a:tc>
                <a:tc>
                  <a:txBody>
                    <a:bodyPr wrap="square"/>
                    <a:lstStyle/>
                    <a:p>
                      <a:r>
                        <a:rPr sz="1000" b="0" i="0">
                          <a:solidFill>
                            <a:srgbClr val="111111"/>
                          </a:solidFill>
                          <a:latin typeface="Arial"/>
                        </a:rPr>
                        <a:t>AI control protocols, Inspect approvers, AgentDojo defenses, ImpossibleBench, incident taxonomies</a:t>
                      </a:r>
                    </a:p>
                  </a:txBody>
                  <a:tcPr marL="54864" marR="54864" marT="27432" marB="27432">
                    <a:solidFill>
                      <a:srgbClr val="FFFFFF"/>
                    </a:solidFill>
                  </a:tcPr>
                </a:tc>
                <a:tc>
                  <a:txBody>
                    <a:bodyPr wrap="square"/>
                    <a:lstStyle/>
                    <a:p>
                      <a:r>
                        <a:rPr sz="1000" b="0" i="0">
                          <a:solidFill>
                            <a:srgbClr val="111111"/>
                          </a:solidFill>
                          <a:latin typeface="Arial"/>
                        </a:rPr>
                        <a:t>standardized-benchmarks.md</a:t>
                      </a:r>
                    </a:p>
                  </a:txBody>
                  <a:tcPr marL="54864" marR="54864" marT="27432" marB="27432">
                    <a:solidFill>
                      <a:srgbClr val="FFFFFF"/>
                    </a:solidFill>
                  </a:tcPr>
                </a:tc>
                <a:tc>
                  <a:txBody>
                    <a:bodyPr wrap="square"/>
                    <a:lstStyle/>
                    <a:p>
                      <a:r>
                        <a:rPr sz="1000" b="0" i="0">
                          <a:solidFill>
                            <a:srgbClr val="111111"/>
                          </a:solidFill>
                          <a:latin typeface="Arial"/>
                        </a:rPr>
                        <a:t>Writing</a:t>
                      </a:r>
                    </a:p>
                  </a:txBody>
                  <a:tcPr marL="54864" marR="54864" marT="27432" marB="27432">
                    <a:solidFill>
                      <a:srgbClr val="FFFFFF"/>
                    </a:solidFill>
                  </a:tcPr>
                </a:tc>
              </a:tr>
              <a:tr h="477520">
                <a:tc>
                  <a:txBody>
                    <a:bodyPr wrap="square"/>
                    <a:lstStyle/>
                    <a:p>
                      <a:r>
                        <a:rPr sz="1000" b="1" i="0">
                          <a:solidFill>
                            <a:srgbClr val="111111"/>
                          </a:solidFill>
                          <a:latin typeface="Arial"/>
                        </a:rPr>
                        <a:t>8</a:t>
                      </a:r>
                    </a:p>
                  </a:txBody>
                  <a:tcPr marL="54864" marR="54864" marT="27432" marB="27432">
                    <a:solidFill>
                      <a:srgbClr val="F3F3F3"/>
                    </a:solidFill>
                  </a:tcPr>
                </a:tc>
                <a:tc>
                  <a:txBody>
                    <a:bodyPr wrap="square"/>
                    <a:lstStyle/>
                    <a:p>
                      <a:r>
                        <a:rPr sz="1000" b="0" i="0">
                          <a:solidFill>
                            <a:srgbClr val="111111"/>
                          </a:solidFill>
                          <a:latin typeface="Arial"/>
                        </a:rPr>
                        <a:t>Limitations and roadmap</a:t>
                      </a:r>
                    </a:p>
                  </a:txBody>
                  <a:tcPr marL="54864" marR="54864" marT="27432" marB="27432">
                    <a:solidFill>
                      <a:srgbClr val="F3F3F3"/>
                    </a:solidFill>
                  </a:tcPr>
                </a:tc>
                <a:tc>
                  <a:txBody>
                    <a:bodyPr wrap="square"/>
                    <a:lstStyle/>
                    <a:p>
                      <a:r>
                        <a:rPr sz="1000" b="0" i="0">
                          <a:solidFill>
                            <a:srgbClr val="111111"/>
                          </a:solidFill>
                          <a:latin typeface="Arial"/>
                        </a:rPr>
                        <a:t>0.5</a:t>
                      </a:r>
                    </a:p>
                  </a:txBody>
                  <a:tcPr marL="54864" marR="54864" marT="27432" marB="27432">
                    <a:solidFill>
                      <a:srgbClr val="F3F3F3"/>
                    </a:solidFill>
                  </a:tcPr>
                </a:tc>
                <a:tc>
                  <a:txBody>
                    <a:bodyPr wrap="square"/>
                    <a:lstStyle/>
                    <a:p>
                      <a:r>
                        <a:rPr sz="1000" b="0" i="0">
                          <a:solidFill>
                            <a:srgbClr val="111111"/>
                          </a:solidFill>
                          <a:latin typeface="Arial"/>
                        </a:rPr>
                        <a:t>Sample sizes, one task structure, single-reader codings, tool-level containment, the unmeasured benchmark protocol</a:t>
                      </a:r>
                    </a:p>
                  </a:txBody>
                  <a:tcPr marL="54864" marR="54864" marT="27432" marB="27432">
                    <a:solidFill>
                      <a:srgbClr val="F3F3F3"/>
                    </a:solidFill>
                  </a:tcPr>
                </a:tc>
                <a:tc>
                  <a:txBody>
                    <a:bodyPr wrap="square"/>
                    <a:lstStyle/>
                    <a:p>
                      <a:r>
                        <a:rPr sz="1000" b="0" i="0">
                          <a:solidFill>
                            <a:srgbClr val="111111"/>
                          </a:solidFill>
                          <a:latin typeface="Arial"/>
                        </a:rPr>
                        <a:t>experiment-roadmap.md</a:t>
                      </a:r>
                    </a:p>
                  </a:txBody>
                  <a:tcPr marL="54864" marR="54864" marT="27432" marB="27432">
                    <a:solidFill>
                      <a:srgbClr val="F3F3F3"/>
                    </a:solidFill>
                  </a:tcPr>
                </a:tc>
                <a:tc>
                  <a:txBody>
                    <a:bodyPr wrap="square"/>
                    <a:lstStyle/>
                    <a:p>
                      <a:r>
                        <a:rPr sz="1000" b="0" i="0">
                          <a:solidFill>
                            <a:srgbClr val="111111"/>
                          </a:solidFill>
                          <a:latin typeface="Arial"/>
                        </a:rPr>
                        <a:t>E5</a:t>
                      </a:r>
                    </a:p>
                  </a:txBody>
                  <a:tcPr marL="54864" marR="54864" marT="27432" marB="27432">
                    <a:solidFill>
                      <a:srgbClr val="F3F3F3"/>
                    </a:solidFill>
                  </a:tcPr>
                </a:tc>
              </a:tr>
            </a:tbl>
          </a:graphicData>
        </a:graphic>
      </p:graphicFrame>
      <p:sp>
        <p:nvSpPr>
          <p:cNvPr id="8" name="TextBox 7"/>
          <p:cNvSpPr txBox="1"/>
          <p:nvPr/>
        </p:nvSpPr>
        <p:spPr>
          <a:xfrm>
            <a:off x="457200" y="5742432"/>
            <a:ext cx="11277295" cy="457200"/>
          </a:xfrm>
          <a:prstGeom prst="rect">
            <a:avLst/>
          </a:prstGeom>
          <a:noFill/>
        </p:spPr>
        <p:txBody>
          <a:bodyPr wrap="square" lIns="45720" rIns="45720" tIns="27432" bIns="27432" anchor="t">
            <a:spAutoFit/>
          </a:bodyPr>
          <a:lstStyle/>
          <a:p>
            <a:pPr algn="l">
              <a:lnSpc>
                <a:spcPct val="110000"/>
              </a:lnSpc>
            </a:pPr>
            <a:r>
              <a:rPr sz="1100" b="0" i="0">
                <a:solidFill>
                  <a:srgbClr val="666666"/>
                </a:solidFill>
                <a:latin typeface="Arial"/>
              </a:rPr>
              <a:t>Appendix (unlimited): exact prompts, frozen plans, per-cell tables with Wilson intervals, incident record schema, coordination harness cases, test counts. Supplementary: anonymized source snapshot and evidence archive (E6).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Section 2 material: what the 26-case library already says about the layer beneath</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Codings are analyst drafts on public reporting; second-reader agreement (E5) is required before these counts go in the paper</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6</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Repository sources: docs/incident-library-analysis.md; incidents/records; scripts/analyze_incident_library.py</a:t>
            </a:r>
          </a:p>
        </p:txBody>
      </p:sp>
      <p:graphicFrame>
        <p:nvGraphicFramePr>
          <p:cNvPr id="8" name="Table 7"/>
          <p:cNvGraphicFramePr>
            <a:graphicFrameLocks noGrp="1"/>
          </p:cNvGraphicFramePr>
          <p:nvPr/>
        </p:nvGraphicFramePr>
        <p:xfrm>
          <a:off x="457200" y="1371600"/>
          <a:ext cx="5669280" cy="3611880"/>
        </p:xfrm>
        <a:graphic>
          <a:graphicData uri="http://schemas.openxmlformats.org/drawingml/2006/table">
            <a:tbl>
              <a:tblPr firstRow="1" bandRow="1">
                <a:tableStyleId>{5C22544A-7EE6-4342-B048-85BDC9FD1C3A}</a:tableStyleId>
              </a:tblPr>
              <a:tblGrid>
                <a:gridCol w="3657600"/>
                <a:gridCol w="822960"/>
                <a:gridCol w="1188720"/>
              </a:tblGrid>
              <a:tr h="361188">
                <a:tc>
                  <a:txBody>
                    <a:bodyPr wrap="square"/>
                    <a:lstStyle/>
                    <a:p>
                      <a:r>
                        <a:rPr sz="1000" b="1" i="0">
                          <a:solidFill>
                            <a:srgbClr val="FFFFFF"/>
                          </a:solidFill>
                          <a:latin typeface="Arial"/>
                        </a:rPr>
                        <a:t>Finding (n = 26)</a:t>
                      </a:r>
                    </a:p>
                  </a:txBody>
                  <a:tcPr marL="54864" marR="54864" marT="27432" marB="27432">
                    <a:solidFill>
                      <a:srgbClr val="365E9E"/>
                    </a:solidFill>
                  </a:tcPr>
                </a:tc>
                <a:tc>
                  <a:txBody>
                    <a:bodyPr wrap="square"/>
                    <a:lstStyle/>
                    <a:p>
                      <a:r>
                        <a:rPr sz="1000" b="1" i="0">
                          <a:solidFill>
                            <a:srgbClr val="FFFFFF"/>
                          </a:solidFill>
                          <a:latin typeface="Arial"/>
                        </a:rPr>
                        <a:t>n</a:t>
                      </a:r>
                    </a:p>
                  </a:txBody>
                  <a:tcPr marL="54864" marR="54864" marT="27432" marB="27432">
                    <a:solidFill>
                      <a:srgbClr val="365E9E"/>
                    </a:solidFill>
                  </a:tcPr>
                </a:tc>
                <a:tc>
                  <a:txBody>
                    <a:bodyPr wrap="square"/>
                    <a:lstStyle/>
                    <a:p>
                      <a:r>
                        <a:rPr sz="1000" b="1" i="0">
                          <a:solidFill>
                            <a:srgbClr val="FFFFFF"/>
                          </a:solidFill>
                          <a:latin typeface="Arial"/>
                        </a:rPr>
                        <a:t>Topic</a:t>
                      </a:r>
                    </a:p>
                  </a:txBody>
                  <a:tcPr marL="54864" marR="54864" marT="27432" marB="27432">
                    <a:solidFill>
                      <a:srgbClr val="365E9E"/>
                    </a:solidFill>
                  </a:tcPr>
                </a:tc>
              </a:tr>
              <a:tr h="361188">
                <a:tc>
                  <a:txBody>
                    <a:bodyPr wrap="square"/>
                    <a:lstStyle/>
                    <a:p>
                      <a:r>
                        <a:rPr sz="1000" b="1" i="0">
                          <a:solidFill>
                            <a:srgbClr val="111111"/>
                          </a:solidFill>
                          <a:latin typeface="Arial"/>
                        </a:rPr>
                        <a:t>M4 detection without decisive escalation: present</a:t>
                      </a:r>
                    </a:p>
                  </a:txBody>
                  <a:tcPr marL="54864" marR="54864" marT="27432" marB="27432">
                    <a:solidFill>
                      <a:srgbClr val="FFFFFF"/>
                    </a:solidFill>
                  </a:tcPr>
                </a:tc>
                <a:tc>
                  <a:txBody>
                    <a:bodyPr wrap="square"/>
                    <a:lstStyle/>
                    <a:p>
                      <a:r>
                        <a:rPr sz="1000" b="0" i="0">
                          <a:solidFill>
                            <a:srgbClr val="111111"/>
                          </a:solidFill>
                          <a:latin typeface="Arial"/>
                        </a:rPr>
                        <a:t>13</a:t>
                      </a:r>
                    </a:p>
                  </a:txBody>
                  <a:tcPr marL="54864" marR="54864" marT="27432" marB="27432">
                    <a:solidFill>
                      <a:srgbClr val="FFFFFF"/>
                    </a:solidFill>
                  </a:tcPr>
                </a:tc>
                <a:tc>
                  <a:txBody>
                    <a:bodyPr wrap="square"/>
                    <a:lstStyle/>
                    <a:p>
                      <a:r>
                        <a:rPr sz="1000" b="0" i="0">
                          <a:solidFill>
                            <a:srgbClr val="111111"/>
                          </a:solidFill>
                          <a:latin typeface="Arial"/>
                        </a:rPr>
                        <a:t>T5 oversight</a:t>
                      </a:r>
                    </a:p>
                  </a:txBody>
                  <a:tcPr marL="54864" marR="54864" marT="27432" marB="27432">
                    <a:solidFill>
                      <a:srgbClr val="FFFFFF"/>
                    </a:solidFill>
                  </a:tcPr>
                </a:tc>
              </a:tr>
              <a:tr h="361188">
                <a:tc>
                  <a:txBody>
                    <a:bodyPr wrap="square"/>
                    <a:lstStyle/>
                    <a:p>
                      <a:r>
                        <a:rPr sz="1000" b="1" i="0">
                          <a:solidFill>
                            <a:srgbClr val="111111"/>
                          </a:solidFill>
                          <a:latin typeface="Arial"/>
                        </a:rPr>
                        <a:t>P6 effects matter more than stated intent: violated</a:t>
                      </a:r>
                    </a:p>
                  </a:txBody>
                  <a:tcPr marL="54864" marR="54864" marT="27432" marB="27432">
                    <a:solidFill>
                      <a:srgbClr val="F3F3F3"/>
                    </a:solidFill>
                  </a:tcPr>
                </a:tc>
                <a:tc>
                  <a:txBody>
                    <a:bodyPr wrap="square"/>
                    <a:lstStyle/>
                    <a:p>
                      <a:r>
                        <a:rPr sz="1000" b="0" i="0">
                          <a:solidFill>
                            <a:srgbClr val="111111"/>
                          </a:solidFill>
                          <a:latin typeface="Arial"/>
                        </a:rPr>
                        <a:t>17</a:t>
                      </a:r>
                    </a:p>
                  </a:txBody>
                  <a:tcPr marL="54864" marR="54864" marT="27432" marB="27432">
                    <a:solidFill>
                      <a:srgbClr val="F3F3F3"/>
                    </a:solidFill>
                  </a:tcPr>
                </a:tc>
                <a:tc>
                  <a:txBody>
                    <a:bodyPr wrap="square"/>
                    <a:lstStyle/>
                    <a:p>
                      <a:r>
                        <a:rPr sz="1000" b="0" i="0">
                          <a:solidFill>
                            <a:srgbClr val="111111"/>
                          </a:solidFill>
                          <a:latin typeface="Arial"/>
                        </a:rPr>
                        <a:t>T5 audit layer</a:t>
                      </a:r>
                    </a:p>
                  </a:txBody>
                  <a:tcPr marL="54864" marR="54864" marT="27432" marB="27432">
                    <a:solidFill>
                      <a:srgbClr val="F3F3F3"/>
                    </a:solidFill>
                  </a:tcPr>
                </a:tc>
              </a:tr>
              <a:tr h="361188">
                <a:tc>
                  <a:txBody>
                    <a:bodyPr wrap="square"/>
                    <a:lstStyle/>
                    <a:p>
                      <a:r>
                        <a:rPr sz="1000" b="1" i="0">
                          <a:solidFill>
                            <a:srgbClr val="111111"/>
                          </a:solidFill>
                          <a:latin typeface="Arial"/>
                        </a:rPr>
                        <a:t>M2 capability composition: present</a:t>
                      </a:r>
                    </a:p>
                  </a:txBody>
                  <a:tcPr marL="54864" marR="54864" marT="27432" marB="27432">
                    <a:solidFill>
                      <a:srgbClr val="FFFFFF"/>
                    </a:solidFill>
                  </a:tcPr>
                </a:tc>
                <a:tc>
                  <a:txBody>
                    <a:bodyPr wrap="square"/>
                    <a:lstStyle/>
                    <a:p>
                      <a:r>
                        <a:rPr sz="1000" b="0" i="0">
                          <a:solidFill>
                            <a:srgbClr val="111111"/>
                          </a:solidFill>
                          <a:latin typeface="Arial"/>
                        </a:rPr>
                        <a:t>15</a:t>
                      </a:r>
                    </a:p>
                  </a:txBody>
                  <a:tcPr marL="54864" marR="54864" marT="27432" marB="27432">
                    <a:solidFill>
                      <a:srgbClr val="FFFFFF"/>
                    </a:solidFill>
                  </a:tcPr>
                </a:tc>
                <a:tc>
                  <a:txBody>
                    <a:bodyPr wrap="square"/>
                    <a:lstStyle/>
                    <a:p>
                      <a:r>
                        <a:rPr sz="1000" b="0" i="0">
                          <a:solidFill>
                            <a:srgbClr val="111111"/>
                          </a:solidFill>
                          <a:latin typeface="Arial"/>
                        </a:rPr>
                        <a:t>T2 least privilege</a:t>
                      </a:r>
                    </a:p>
                  </a:txBody>
                  <a:tcPr marL="54864" marR="54864" marT="27432" marB="27432">
                    <a:solidFill>
                      <a:srgbClr val="FFFFFF"/>
                    </a:solidFill>
                  </a:tcPr>
                </a:tc>
              </a:tr>
              <a:tr h="361188">
                <a:tc>
                  <a:txBody>
                    <a:bodyPr wrap="square"/>
                    <a:lstStyle/>
                    <a:p>
                      <a:r>
                        <a:rPr sz="1000" b="1" i="0">
                          <a:solidFill>
                            <a:srgbClr val="111111"/>
                          </a:solidFill>
                          <a:latin typeface="Arial"/>
                        </a:rPr>
                        <a:t>P3 authorization must survive config failure: violated</a:t>
                      </a:r>
                    </a:p>
                  </a:txBody>
                  <a:tcPr marL="54864" marR="54864" marT="27432" marB="27432">
                    <a:solidFill>
                      <a:srgbClr val="F3F3F3"/>
                    </a:solidFill>
                  </a:tcPr>
                </a:tc>
                <a:tc>
                  <a:txBody>
                    <a:bodyPr wrap="square"/>
                    <a:lstStyle/>
                    <a:p>
                      <a:r>
                        <a:rPr sz="1000" b="0" i="0">
                          <a:solidFill>
                            <a:srgbClr val="111111"/>
                          </a:solidFill>
                          <a:latin typeface="Arial"/>
                        </a:rPr>
                        <a:t>12</a:t>
                      </a:r>
                    </a:p>
                  </a:txBody>
                  <a:tcPr marL="54864" marR="54864" marT="27432" marB="27432">
                    <a:solidFill>
                      <a:srgbClr val="F3F3F3"/>
                    </a:solidFill>
                  </a:tcPr>
                </a:tc>
                <a:tc>
                  <a:txBody>
                    <a:bodyPr wrap="square"/>
                    <a:lstStyle/>
                    <a:p>
                      <a:r>
                        <a:rPr sz="1000" b="0" i="0">
                          <a:solidFill>
                            <a:srgbClr val="111111"/>
                          </a:solidFill>
                          <a:latin typeface="Arial"/>
                        </a:rPr>
                        <a:t>T2 / T3</a:t>
                      </a:r>
                    </a:p>
                  </a:txBody>
                  <a:tcPr marL="54864" marR="54864" marT="27432" marB="27432">
                    <a:solidFill>
                      <a:srgbClr val="F3F3F3"/>
                    </a:solidFill>
                  </a:tcPr>
                </a:tc>
              </a:tr>
              <a:tr h="361188">
                <a:tc>
                  <a:txBody>
                    <a:bodyPr wrap="square"/>
                    <a:lstStyle/>
                    <a:p>
                      <a:r>
                        <a:rPr sz="1000" b="1" i="0">
                          <a:solidFill>
                            <a:srgbClr val="111111"/>
                          </a:solidFill>
                          <a:latin typeface="Arial"/>
                        </a:rPr>
                        <a:t>P4 impossible tasks are security inputs: violated</a:t>
                      </a:r>
                    </a:p>
                  </a:txBody>
                  <a:tcPr marL="54864" marR="54864" marT="27432" marB="27432">
                    <a:solidFill>
                      <a:srgbClr val="FFFFFF"/>
                    </a:solidFill>
                  </a:tcPr>
                </a:tc>
                <a:tc>
                  <a:txBody>
                    <a:bodyPr wrap="square"/>
                    <a:lstStyle/>
                    <a:p>
                      <a:r>
                        <a:rPr sz="1000" b="0" i="0">
                          <a:solidFill>
                            <a:srgbClr val="111111"/>
                          </a:solidFill>
                          <a:latin typeface="Arial"/>
                        </a:rPr>
                        <a:t>10</a:t>
                      </a:r>
                    </a:p>
                  </a:txBody>
                  <a:tcPr marL="54864" marR="54864" marT="27432" marB="27432">
                    <a:solidFill>
                      <a:srgbClr val="FFFFFF"/>
                    </a:solidFill>
                  </a:tcPr>
                </a:tc>
                <a:tc>
                  <a:txBody>
                    <a:bodyPr wrap="square"/>
                    <a:lstStyle/>
                    <a:p>
                      <a:r>
                        <a:rPr sz="1000" b="0" i="0">
                          <a:solidFill>
                            <a:srgbClr val="111111"/>
                          </a:solidFill>
                          <a:latin typeface="Arial"/>
                        </a:rPr>
                        <a:t>T3 reward hack</a:t>
                      </a:r>
                    </a:p>
                  </a:txBody>
                  <a:tcPr marL="54864" marR="54864" marT="27432" marB="27432">
                    <a:solidFill>
                      <a:srgbClr val="FFFFFF"/>
                    </a:solidFill>
                  </a:tcPr>
                </a:tc>
              </a:tr>
              <a:tr h="361188">
                <a:tc>
                  <a:txBody>
                    <a:bodyPr wrap="square"/>
                    <a:lstStyle/>
                    <a:p>
                      <a:r>
                        <a:rPr sz="1000" b="1" i="0">
                          <a:solidFill>
                            <a:srgbClr val="111111"/>
                          </a:solidFill>
                          <a:latin typeface="Arial"/>
                        </a:rPr>
                        <a:t>M3 shared services as coordination infra: present</a:t>
                      </a:r>
                    </a:p>
                  </a:txBody>
                  <a:tcPr marL="54864" marR="54864" marT="27432" marB="27432">
                    <a:solidFill>
                      <a:srgbClr val="F3F3F3"/>
                    </a:solidFill>
                  </a:tcPr>
                </a:tc>
                <a:tc>
                  <a:txBody>
                    <a:bodyPr wrap="square"/>
                    <a:lstStyle/>
                    <a:p>
                      <a:r>
                        <a:rPr sz="1000" b="0" i="0">
                          <a:solidFill>
                            <a:srgbClr val="111111"/>
                          </a:solidFill>
                          <a:latin typeface="Arial"/>
                        </a:rPr>
                        <a:t>3</a:t>
                      </a:r>
                    </a:p>
                  </a:txBody>
                  <a:tcPr marL="54864" marR="54864" marT="27432" marB="27432">
                    <a:solidFill>
                      <a:srgbClr val="F3F3F3"/>
                    </a:solidFill>
                  </a:tcPr>
                </a:tc>
                <a:tc>
                  <a:txBody>
                    <a:bodyPr wrap="square"/>
                    <a:lstStyle/>
                    <a:p>
                      <a:r>
                        <a:rPr sz="1000" b="0" i="0">
                          <a:solidFill>
                            <a:srgbClr val="111111"/>
                          </a:solidFill>
                          <a:latin typeface="Arial"/>
                        </a:rPr>
                        <a:t>T4 shared state</a:t>
                      </a:r>
                    </a:p>
                  </a:txBody>
                  <a:tcPr marL="54864" marR="54864" marT="27432" marB="27432">
                    <a:solidFill>
                      <a:srgbClr val="F3F3F3"/>
                    </a:solidFill>
                  </a:tcPr>
                </a:tc>
              </a:tr>
              <a:tr h="361188">
                <a:tc>
                  <a:txBody>
                    <a:bodyPr wrap="square"/>
                    <a:lstStyle/>
                    <a:p>
                      <a:r>
                        <a:rPr sz="1000" b="1" i="0">
                          <a:solidFill>
                            <a:srgbClr val="111111"/>
                          </a:solidFill>
                          <a:latin typeface="Arial"/>
                        </a:rPr>
                        <a:t>Stop found only in retrospect</a:t>
                      </a:r>
                    </a:p>
                  </a:txBody>
                  <a:tcPr marL="54864" marR="54864" marT="27432" marB="27432">
                    <a:solidFill>
                      <a:srgbClr val="FFFFFF"/>
                    </a:solidFill>
                  </a:tcPr>
                </a:tc>
                <a:tc>
                  <a:txBody>
                    <a:bodyPr wrap="square"/>
                    <a:lstStyle/>
                    <a:p>
                      <a:r>
                        <a:rPr sz="1000" b="0" i="0">
                          <a:solidFill>
                            <a:srgbClr val="111111"/>
                          </a:solidFill>
                          <a:latin typeface="Arial"/>
                        </a:rPr>
                        <a:t>10</a:t>
                      </a:r>
                    </a:p>
                  </a:txBody>
                  <a:tcPr marL="54864" marR="54864" marT="27432" marB="27432">
                    <a:solidFill>
                      <a:srgbClr val="FFFFFF"/>
                    </a:solidFill>
                  </a:tcPr>
                </a:tc>
                <a:tc>
                  <a:txBody>
                    <a:bodyPr wrap="square"/>
                    <a:lstStyle/>
                    <a:p>
                      <a:r>
                        <a:rPr sz="1000" b="0" i="0">
                          <a:solidFill>
                            <a:srgbClr val="111111"/>
                          </a:solidFill>
                          <a:latin typeface="Arial"/>
                        </a:rPr>
                        <a:t>T5 monitoring</a:t>
                      </a:r>
                    </a:p>
                  </a:txBody>
                  <a:tcPr marL="54864" marR="54864" marT="27432" marB="27432">
                    <a:solidFill>
                      <a:srgbClr val="FFFFFF"/>
                    </a:solidFill>
                  </a:tcPr>
                </a:tc>
              </a:tr>
              <a:tr h="361188">
                <a:tc>
                  <a:txBody>
                    <a:bodyPr wrap="square"/>
                    <a:lstStyle/>
                    <a:p>
                      <a:r>
                        <a:rPr sz="1000" b="1" i="0">
                          <a:solidFill>
                            <a:srgbClr val="111111"/>
                          </a:solidFill>
                          <a:latin typeface="Arial"/>
                        </a:rPr>
                        <a:t>Median detection latency (12 known)</a:t>
                      </a:r>
                    </a:p>
                  </a:txBody>
                  <a:tcPr marL="54864" marR="54864" marT="27432" marB="27432">
                    <a:solidFill>
                      <a:srgbClr val="F3F3F3"/>
                    </a:solidFill>
                  </a:tcPr>
                </a:tc>
                <a:tc>
                  <a:txBody>
                    <a:bodyPr wrap="square"/>
                    <a:lstStyle/>
                    <a:p>
                      <a:r>
                        <a:rPr sz="1000" b="0" i="0">
                          <a:solidFill>
                            <a:srgbClr val="111111"/>
                          </a:solidFill>
                          <a:latin typeface="Arial"/>
                        </a:rPr>
                        <a:t>14 days</a:t>
                      </a:r>
                    </a:p>
                  </a:txBody>
                  <a:tcPr marL="54864" marR="54864" marT="27432" marB="27432">
                    <a:solidFill>
                      <a:srgbClr val="F3F3F3"/>
                    </a:solidFill>
                  </a:tcPr>
                </a:tc>
                <a:tc>
                  <a:txBody>
                    <a:bodyPr wrap="square"/>
                    <a:lstStyle/>
                    <a:p>
                      <a:r>
                        <a:rPr sz="1000" b="0" i="0">
                          <a:solidFill>
                            <a:srgbClr val="111111"/>
                          </a:solidFill>
                          <a:latin typeface="Arial"/>
                        </a:rPr>
                        <a:t>T5</a:t>
                      </a:r>
                    </a:p>
                  </a:txBody>
                  <a:tcPr marL="54864" marR="54864" marT="27432" marB="27432">
                    <a:solidFill>
                      <a:srgbClr val="F3F3F3"/>
                    </a:solidFill>
                  </a:tcPr>
                </a:tc>
              </a:tr>
              <a:tr h="361188">
                <a:tc>
                  <a:txBody>
                    <a:bodyPr wrap="square"/>
                    <a:lstStyle/>
                    <a:p>
                      <a:r>
                        <a:rPr sz="1000" b="1" i="0">
                          <a:solidFill>
                            <a:srgbClr val="111111"/>
                          </a:solidFill>
                          <a:latin typeface="Arial"/>
                        </a:rPr>
                        <a:t>Median disclosure latency (21 known)</a:t>
                      </a:r>
                    </a:p>
                  </a:txBody>
                  <a:tcPr marL="54864" marR="54864" marT="27432" marB="27432">
                    <a:solidFill>
                      <a:srgbClr val="FFFFFF"/>
                    </a:solidFill>
                  </a:tcPr>
                </a:tc>
                <a:tc>
                  <a:txBody>
                    <a:bodyPr wrap="square"/>
                    <a:lstStyle/>
                    <a:p>
                      <a:r>
                        <a:rPr sz="1000" b="0" i="0">
                          <a:solidFill>
                            <a:srgbClr val="111111"/>
                          </a:solidFill>
                          <a:latin typeface="Arial"/>
                        </a:rPr>
                        <a:t>119 days</a:t>
                      </a:r>
                    </a:p>
                  </a:txBody>
                  <a:tcPr marL="54864" marR="54864" marT="27432" marB="27432">
                    <a:solidFill>
                      <a:srgbClr val="FFFFFF"/>
                    </a:solidFill>
                  </a:tcPr>
                </a:tc>
                <a:tc>
                  <a:txBody>
                    <a:bodyPr wrap="square"/>
                    <a:lstStyle/>
                    <a:p>
                      <a:r>
                        <a:rPr sz="1000" b="0" i="0">
                          <a:solidFill>
                            <a:srgbClr val="111111"/>
                          </a:solidFill>
                          <a:latin typeface="Arial"/>
                        </a:rPr>
                        <a:t>T5</a:t>
                      </a:r>
                    </a:p>
                  </a:txBody>
                  <a:tcPr marL="54864" marR="54864" marT="27432" marB="27432">
                    <a:solidFill>
                      <a:srgbClr val="FFFFFF"/>
                    </a:solidFill>
                  </a:tcPr>
                </a:tc>
              </a:tr>
            </a:tbl>
          </a:graphicData>
        </a:graphic>
      </p:graphicFrame>
      <p:sp>
        <p:nvSpPr>
          <p:cNvPr id="9" name="Rounded Rectangle 8"/>
          <p:cNvSpPr/>
          <p:nvPr/>
        </p:nvSpPr>
        <p:spPr>
          <a:xfrm>
            <a:off x="6400800" y="1371600"/>
            <a:ext cx="5333695" cy="361188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2240" y="1444752"/>
            <a:ext cx="5150815" cy="411480"/>
          </a:xfrm>
          <a:prstGeom prst="rect">
            <a:avLst/>
          </a:prstGeom>
          <a:noFill/>
        </p:spPr>
        <p:txBody>
          <a:bodyPr wrap="square" lIns="45720" rIns="45720" tIns="27432" bIns="27432" anchor="t">
            <a:spAutoFit/>
          </a:bodyPr>
          <a:lstStyle/>
          <a:p>
            <a:pPr algn="l">
              <a:lnSpc>
                <a:spcPct val="100000"/>
              </a:lnSpc>
            </a:pPr>
            <a:r>
              <a:rPr sz="1500" b="1" i="0">
                <a:solidFill>
                  <a:srgbClr val="365E9E"/>
                </a:solidFill>
                <a:latin typeface="Arial"/>
              </a:rPr>
              <a:t>How the section argues</a:t>
            </a:r>
          </a:p>
        </p:txBody>
      </p:sp>
      <p:sp>
        <p:nvSpPr>
          <p:cNvPr id="11" name="TextBox 10"/>
          <p:cNvSpPr txBox="1"/>
          <p:nvPr/>
        </p:nvSpPr>
        <p:spPr>
          <a:xfrm>
            <a:off x="6492240" y="1874520"/>
            <a:ext cx="5150815" cy="3017520"/>
          </a:xfrm>
          <a:prstGeom prst="rect">
            <a:avLst/>
          </a:prstGeom>
          <a:noFill/>
        </p:spPr>
        <p:txBody>
          <a:bodyPr wrap="square" lIns="45720" rIns="45720">
            <a:spAutoFit/>
          </a:bodyPr>
          <a:lstStyle/>
          <a:p>
            <a:pPr>
              <a:lnSpc>
                <a:spcPct val="110000"/>
              </a:lnSpc>
              <a:spcAft>
                <a:spcPts val="500"/>
              </a:spcAft>
            </a:pPr>
            <a:r>
              <a:rPr sz="1150" b="0" i="0">
                <a:solidFill>
                  <a:srgbClr val="111111"/>
                </a:solidFill>
                <a:latin typeface="Arial"/>
              </a:rPr>
              <a:t>-  </a:t>
            </a:r>
            <a:r>
              <a:rPr sz="1150" b="0" i="0">
                <a:solidFill>
                  <a:srgbClr val="111111"/>
                </a:solidFill>
                <a:latin typeface="Arial"/>
              </a:rPr>
              <a:t>Pathways: adaptive escape 3, misconfiguration 6, live-access overreach 9, training-sample boundary 3, external adversary 4, unresolved 1. The two usual pathways cover only 9 of 26.</a:t>
            </a:r>
          </a:p>
          <a:p>
            <a:pPr>
              <a:lnSpc>
                <a:spcPct val="110000"/>
              </a:lnSpc>
              <a:spcAft>
                <a:spcPts val="500"/>
              </a:spcAft>
            </a:pPr>
            <a:r>
              <a:rPr sz="1150" b="0" i="0">
                <a:solidFill>
                  <a:srgbClr val="111111"/>
                </a:solidFill>
                <a:latin typeface="Arial"/>
              </a:rPr>
              <a:t>-  </a:t>
            </a:r>
            <a:r>
              <a:rPr sz="1150" b="0" i="0">
                <a:solidFill>
                  <a:srgbClr val="111111"/>
                </a:solidFill>
                <a:latin typeface="Arial"/>
              </a:rPr>
              <a:t>18 entries are judged replayable as synthetic twins; one (INC-2026-015, public hosting of a local workbook) is implemented. That is the bridge from Section 2 to the regression-suite idea in Section 3.</a:t>
            </a:r>
          </a:p>
          <a:p>
            <a:pPr>
              <a:lnSpc>
                <a:spcPct val="110000"/>
              </a:lnSpc>
              <a:spcAft>
                <a:spcPts val="500"/>
              </a:spcAft>
            </a:pPr>
            <a:r>
              <a:rPr sz="1150" b="0" i="0">
                <a:solidFill>
                  <a:srgbClr val="111111"/>
                </a:solidFill>
                <a:latin typeface="Arial"/>
              </a:rPr>
              <a:t>-  </a:t>
            </a:r>
            <a:r>
              <a:rPr sz="1150" b="0" i="0">
                <a:solidFill>
                  <a:srgbClr val="111111"/>
                </a:solidFill>
                <a:latin typeface="Arial"/>
              </a:rPr>
              <a:t>Evidence levels A: 19, B: 7. State them; do not add counting units across cases.</a:t>
            </a:r>
          </a:p>
          <a:p>
            <a:pPr>
              <a:lnSpc>
                <a:spcPct val="110000"/>
              </a:lnSpc>
              <a:spcAft>
                <a:spcPts val="500"/>
              </a:spcAft>
            </a:pPr>
            <a:r>
              <a:rPr sz="1150" b="0" i="0">
                <a:solidFill>
                  <a:srgbClr val="111111"/>
                </a:solidFill>
                <a:latin typeface="Arial"/>
              </a:rPr>
              <a:t>-  </a:t>
            </a:r>
            <a:r>
              <a:rPr sz="1150" b="0" i="0">
                <a:solidFill>
                  <a:srgbClr val="111111"/>
                </a:solidFill>
                <a:latin typeface="Arial"/>
              </a:rPr>
              <a:t>Keep the coding frame citation to one sentence. The paper's contribution is the executable use of the library, not the taxonomy.</a:t>
            </a:r>
          </a:p>
        </p:txBody>
      </p:sp>
      <p:sp>
        <p:nvSpPr>
          <p:cNvPr id="12" name="Rounded Rectangle 11"/>
          <p:cNvSpPr/>
          <p:nvPr/>
        </p:nvSpPr>
        <p:spPr>
          <a:xfrm>
            <a:off x="457200" y="5029200"/>
            <a:ext cx="11277295" cy="45720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6928" y="5029200"/>
            <a:ext cx="11057839" cy="457200"/>
          </a:xfrm>
          <a:prstGeom prst="rect">
            <a:avLst/>
          </a:prstGeom>
          <a:noFill/>
        </p:spPr>
        <p:txBody>
          <a:bodyPr wrap="square" lIns="45720" rIns="45720" tIns="27432" bIns="27432" anchor="ctr">
            <a:spAutoFit/>
          </a:bodyPr>
          <a:lstStyle/>
          <a:p>
            <a:pPr algn="l">
              <a:lnSpc>
                <a:spcPct val="110000"/>
              </a:lnSpc>
            </a:pPr>
            <a:r>
              <a:rPr sz="1200" b="0" i="0">
                <a:solidFill>
                  <a:srgbClr val="111111"/>
                </a:solidFill>
                <a:latin typeface="Arial"/>
              </a:rPr>
              <a:t>One figure here: mechanism-by-topic heatmap (exists as figures/incidents/analysis/mechanism-heatmap.png; relabel columns with T1-T5).</a:t>
            </a:r>
          </a:p>
        </p:txBody>
      </p:sp>
      <p:sp>
        <p:nvSpPr>
          <p:cNvPr id="14" name="TextBox 13"/>
          <p:cNvSpPr txBox="1"/>
          <p:nvPr/>
        </p:nvSpPr>
        <p:spPr>
          <a:xfrm>
            <a:off x="457200" y="5559552"/>
            <a:ext cx="11277295" cy="640080"/>
          </a:xfrm>
          <a:prstGeom prst="rect">
            <a:avLst/>
          </a:prstGeom>
          <a:noFill/>
        </p:spPr>
        <p:txBody>
          <a:bodyPr wrap="square" lIns="45720" rIns="45720" tIns="27432" bIns="27432" anchor="t">
            <a:spAutoFit/>
          </a:bodyPr>
          <a:lstStyle/>
          <a:p>
            <a:pPr algn="l">
              <a:lnSpc>
                <a:spcPct val="110000"/>
              </a:lnSpc>
            </a:pPr>
            <a:r>
              <a:rPr sz="1150" b="0" i="0">
                <a:solidFill>
                  <a:srgbClr val="666666"/>
                </a:solidFill>
                <a:latin typeface="Arial"/>
              </a:rPr>
              <a:t>Risk: the records name real companies and models. That is public reporting and is fine, but every cited count must carry its evidence level, and nothing may read as a verdict on a named party. Phrase as 'reported' and 'coded 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Section 3 material: the audit-and-release layer, drawn in OS terms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agent's policy evolves above the line; everything the paper contributes sits below it</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7</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Repository sources: README.md (outer containment); docs/incident-aware-optimization.md; incidents/executable/INC-2026-015</a:t>
            </a:r>
          </a:p>
        </p:txBody>
      </p:sp>
      <p:sp>
        <p:nvSpPr>
          <p:cNvPr id="8" name="Rounded Rectangle 7"/>
          <p:cNvSpPr/>
          <p:nvPr/>
        </p:nvSpPr>
        <p:spPr>
          <a:xfrm>
            <a:off x="457200" y="1417320"/>
            <a:ext cx="2514600" cy="1280160"/>
          </a:xfrm>
          <a:prstGeom prst="roundRect">
            <a:avLst>
              <a:gd name="adj" fmla="val 5000"/>
            </a:avLst>
          </a:prstGeom>
          <a:solidFill>
            <a:srgbClr val="F3F3F3"/>
          </a:solidFill>
          <a:ln w="952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472184"/>
            <a:ext cx="2331720" cy="329184"/>
          </a:xfrm>
          <a:prstGeom prst="rect">
            <a:avLst/>
          </a:prstGeom>
          <a:noFill/>
        </p:spPr>
        <p:txBody>
          <a:bodyPr wrap="square" lIns="45720" rIns="45720" tIns="27432" bIns="27432" anchor="t">
            <a:spAutoFit/>
          </a:bodyPr>
          <a:lstStyle/>
          <a:p>
            <a:pPr algn="l">
              <a:lnSpc>
                <a:spcPct val="110000"/>
              </a:lnSpc>
            </a:pPr>
            <a:r>
              <a:rPr sz="1300" b="1" i="0">
                <a:solidFill>
                  <a:srgbClr val="666666"/>
                </a:solidFill>
                <a:latin typeface="Arial"/>
              </a:rPr>
              <a:t>Agent + policy theta</a:t>
            </a:r>
          </a:p>
        </p:txBody>
      </p:sp>
      <p:sp>
        <p:nvSpPr>
          <p:cNvPr id="10" name="TextBox 9"/>
          <p:cNvSpPr txBox="1"/>
          <p:nvPr/>
        </p:nvSpPr>
        <p:spPr>
          <a:xfrm>
            <a:off x="548640" y="1801368"/>
            <a:ext cx="2331720" cy="841248"/>
          </a:xfrm>
          <a:prstGeom prst="rect">
            <a:avLst/>
          </a:prstGeom>
          <a:noFill/>
        </p:spPr>
        <p:txBody>
          <a:bodyPr wrap="square" lIns="45720" rIns="45720" tIns="27432" bIns="27432" anchor="t">
            <a:spAutoFit/>
          </a:bodyPr>
          <a:lstStyle/>
          <a:p>
            <a:pPr algn="l">
              <a:lnSpc>
                <a:spcPct val="108000"/>
              </a:lnSpc>
            </a:pPr>
            <a:r>
              <a:rPr sz="1100" b="0" i="0">
                <a:solidFill>
                  <a:srgbClr val="111111"/>
                </a:solidFill>
                <a:latin typeface="Arial"/>
              </a:rPr>
              <a:t>Fixed actor model. theta = selected, ordered instruction clauses (later: monitor prompts, thresholds, defer rules). This is what evolves.</a:t>
            </a:r>
          </a:p>
        </p:txBody>
      </p:sp>
      <p:sp>
        <p:nvSpPr>
          <p:cNvPr id="11" name="Isosceles Triangle 10"/>
          <p:cNvSpPr/>
          <p:nvPr/>
        </p:nvSpPr>
        <p:spPr>
          <a:xfrm rot="5400000">
            <a:off x="3063240" y="1956816"/>
            <a:ext cx="201168" cy="201168"/>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3355848" y="1417320"/>
            <a:ext cx="2514600" cy="1280160"/>
          </a:xfrm>
          <a:prstGeom prst="roundRect">
            <a:avLst>
              <a:gd name="adj" fmla="val 5000"/>
            </a:avLst>
          </a:prstGeom>
          <a:solidFill>
            <a:srgbClr val="EDF4FB"/>
          </a:solidFill>
          <a:ln w="9525">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47288" y="1472184"/>
            <a:ext cx="2331720" cy="329184"/>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Tool broker (ref. monitor)</a:t>
            </a:r>
          </a:p>
        </p:txBody>
      </p:sp>
      <p:sp>
        <p:nvSpPr>
          <p:cNvPr id="14" name="TextBox 13"/>
          <p:cNvSpPr txBox="1"/>
          <p:nvPr/>
        </p:nvSpPr>
        <p:spPr>
          <a:xfrm>
            <a:off x="3447288" y="1801368"/>
            <a:ext cx="2331720" cy="841248"/>
          </a:xfrm>
          <a:prstGeom prst="rect">
            <a:avLst/>
          </a:prstGeom>
          <a:noFill/>
        </p:spPr>
        <p:txBody>
          <a:bodyPr wrap="square" lIns="45720" rIns="45720" tIns="27432" bIns="27432" anchor="t">
            <a:spAutoFit/>
          </a:bodyPr>
          <a:lstStyle/>
          <a:p>
            <a:pPr algn="l">
              <a:lnSpc>
                <a:spcPct val="108000"/>
              </a:lnSpc>
            </a:pPr>
            <a:r>
              <a:rPr sz="1100" b="0" i="0">
                <a:solidFill>
                  <a:srgbClr val="111111"/>
                </a:solidFill>
                <a:latin typeface="Arial"/>
              </a:rPr>
              <a:t>One structured tool. Exact-authority routing, optional scope enforcement, fail-closed on unknown routes. Changing theta never opens this boundary.</a:t>
            </a:r>
          </a:p>
        </p:txBody>
      </p:sp>
      <p:sp>
        <p:nvSpPr>
          <p:cNvPr id="15" name="Isosceles Triangle 14"/>
          <p:cNvSpPr/>
          <p:nvPr/>
        </p:nvSpPr>
        <p:spPr>
          <a:xfrm rot="5400000">
            <a:off x="5961888" y="1956816"/>
            <a:ext cx="201168" cy="201168"/>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254496" y="1417320"/>
            <a:ext cx="2514600" cy="1280160"/>
          </a:xfrm>
          <a:prstGeom prst="roundRect">
            <a:avLst>
              <a:gd name="adj" fmla="val 5000"/>
            </a:avLst>
          </a:prstGeom>
          <a:solidFill>
            <a:srgbClr val="EDF4FB"/>
          </a:solidFill>
          <a:ln w="9525">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45936" y="1472184"/>
            <a:ext cx="2331720" cy="329184"/>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Service replicas (state)</a:t>
            </a:r>
          </a:p>
        </p:txBody>
      </p:sp>
      <p:sp>
        <p:nvSpPr>
          <p:cNvPr id="18" name="TextBox 17"/>
          <p:cNvSpPr txBox="1"/>
          <p:nvPr/>
        </p:nvSpPr>
        <p:spPr>
          <a:xfrm>
            <a:off x="6345936" y="1801368"/>
            <a:ext cx="2331720" cy="841248"/>
          </a:xfrm>
          <a:prstGeom prst="rect">
            <a:avLst/>
          </a:prstGeom>
          <a:noFill/>
        </p:spPr>
        <p:txBody>
          <a:bodyPr wrap="square" lIns="45720" rIns="45720" tIns="27432" bIns="27432" anchor="t">
            <a:spAutoFit/>
          </a:bodyPr>
          <a:lstStyle/>
          <a:p>
            <a:pPr algn="l">
              <a:lnSpc>
                <a:spcPct val="108000"/>
              </a:lnSpc>
            </a:pPr>
            <a:r>
              <a:rPr sz="1100" b="0" i="0">
                <a:solidFill>
                  <a:srgbClr val="111111"/>
                </a:solidFill>
                <a:latin typeface="Arial"/>
              </a:rPr>
              <a:t>SQLite transactions for repository, scorer, collector, mailbox, prior-run artifact. Writes later reverted are still state history.</a:t>
            </a:r>
          </a:p>
        </p:txBody>
      </p:sp>
      <p:sp>
        <p:nvSpPr>
          <p:cNvPr id="19" name="Isosceles Triangle 18"/>
          <p:cNvSpPr/>
          <p:nvPr/>
        </p:nvSpPr>
        <p:spPr>
          <a:xfrm rot="5400000">
            <a:off x="8860536" y="1956816"/>
            <a:ext cx="201168" cy="201168"/>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9153144" y="1417320"/>
            <a:ext cx="2581351" cy="128016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244584" y="1472184"/>
            <a:ext cx="2398471" cy="329184"/>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Task scorer</a:t>
            </a:r>
          </a:p>
        </p:txBody>
      </p:sp>
      <p:sp>
        <p:nvSpPr>
          <p:cNvPr id="22" name="TextBox 21"/>
          <p:cNvSpPr txBox="1"/>
          <p:nvPr/>
        </p:nvSpPr>
        <p:spPr>
          <a:xfrm>
            <a:off x="9244584" y="1801368"/>
            <a:ext cx="2398471" cy="841248"/>
          </a:xfrm>
          <a:prstGeom prst="rect">
            <a:avLst/>
          </a:prstGeom>
          <a:noFill/>
        </p:spPr>
        <p:txBody>
          <a:bodyPr wrap="square" lIns="45720" rIns="45720" tIns="27432" bIns="27432" anchor="t">
            <a:spAutoFit/>
          </a:bodyPr>
          <a:lstStyle/>
          <a:p>
            <a:pPr algn="l">
              <a:lnSpc>
                <a:spcPct val="108000"/>
              </a:lnSpc>
            </a:pPr>
            <a:r>
              <a:rPr sz="1100" b="0" i="0">
                <a:solidFill>
                  <a:srgbClr val="111111"/>
                </a:solidFill>
                <a:latin typeface="Arial"/>
              </a:rPr>
              <a:t>Official pass/fail. Accepts a cached flag. This is the signal an evolving agent optimizes if nothing else is watching.</a:t>
            </a:r>
          </a:p>
        </p:txBody>
      </p:sp>
      <p:sp>
        <p:nvSpPr>
          <p:cNvPr id="23" name="Rectangle 22"/>
          <p:cNvSpPr/>
          <p:nvPr/>
        </p:nvSpPr>
        <p:spPr>
          <a:xfrm>
            <a:off x="457200" y="2852928"/>
            <a:ext cx="11277295" cy="12700"/>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57200" y="2871216"/>
            <a:ext cx="3657600" cy="274320"/>
          </a:xfrm>
          <a:prstGeom prst="rect">
            <a:avLst/>
          </a:prstGeom>
          <a:noFill/>
        </p:spPr>
        <p:txBody>
          <a:bodyPr wrap="square" lIns="45720" rIns="45720" tIns="27432" bIns="27432" anchor="t">
            <a:spAutoFit/>
          </a:bodyPr>
          <a:lstStyle/>
          <a:p>
            <a:pPr algn="l">
              <a:lnSpc>
                <a:spcPct val="110000"/>
              </a:lnSpc>
            </a:pPr>
            <a:r>
              <a:rPr sz="1000" b="0" i="1">
                <a:solidFill>
                  <a:srgbClr val="666666"/>
                </a:solidFill>
                <a:latin typeface="Arial"/>
              </a:rPr>
              <a:t>below the line: the paper's layer</a:t>
            </a:r>
          </a:p>
        </p:txBody>
      </p:sp>
      <p:sp>
        <p:nvSpPr>
          <p:cNvPr id="25" name="Rounded Rectangle 24"/>
          <p:cNvSpPr/>
          <p:nvPr/>
        </p:nvSpPr>
        <p:spPr>
          <a:xfrm>
            <a:off x="457200" y="3172968"/>
            <a:ext cx="2514600" cy="137160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48640" y="3227832"/>
            <a:ext cx="2331720" cy="329184"/>
          </a:xfrm>
          <a:prstGeom prst="rect">
            <a:avLst/>
          </a:prstGeom>
          <a:noFill/>
        </p:spPr>
        <p:txBody>
          <a:bodyPr wrap="square" lIns="45720" rIns="45720" tIns="27432" bIns="27432" anchor="t">
            <a:spAutoFit/>
          </a:bodyPr>
          <a:lstStyle/>
          <a:p>
            <a:pPr algn="l">
              <a:lnSpc>
                <a:spcPct val="110000"/>
              </a:lnSpc>
            </a:pPr>
            <a:r>
              <a:rPr sz="1300" b="1" i="0">
                <a:solidFill>
                  <a:srgbClr val="2E7D5B"/>
                </a:solidFill>
                <a:latin typeface="Arial"/>
              </a:rPr>
              <a:t>Independent effect observer</a:t>
            </a:r>
          </a:p>
        </p:txBody>
      </p:sp>
      <p:sp>
        <p:nvSpPr>
          <p:cNvPr id="27" name="TextBox 26"/>
          <p:cNvSpPr txBox="1"/>
          <p:nvPr/>
        </p:nvSpPr>
        <p:spPr>
          <a:xfrm>
            <a:off x="548640" y="3557016"/>
            <a:ext cx="2331720" cy="932688"/>
          </a:xfrm>
          <a:prstGeom prst="rect">
            <a:avLst/>
          </a:prstGeom>
          <a:noFill/>
        </p:spPr>
        <p:txBody>
          <a:bodyPr wrap="square" lIns="45720" rIns="45720" tIns="27432" bIns="27432" anchor="t">
            <a:spAutoFit/>
          </a:bodyPr>
          <a:lstStyle/>
          <a:p>
            <a:pPr algn="l">
              <a:lnSpc>
                <a:spcPct val="108000"/>
              </a:lnSpc>
            </a:pPr>
            <a:r>
              <a:rPr sz="1100" b="0" i="0">
                <a:solidFill>
                  <a:srgbClr val="111111"/>
                </a:solidFill>
                <a:latin typeface="Arial"/>
              </a:rPr>
              <a:t>Reads before/after service state, not the transcript. Emits incident records: resource, authorization, effect, reverted or not. Positive witnesses survive later failures.</a:t>
            </a:r>
          </a:p>
        </p:txBody>
      </p:sp>
      <p:sp>
        <p:nvSpPr>
          <p:cNvPr id="28" name="Isosceles Triangle 27"/>
          <p:cNvSpPr/>
          <p:nvPr/>
        </p:nvSpPr>
        <p:spPr>
          <a:xfrm rot="5400000">
            <a:off x="3063240" y="3758184"/>
            <a:ext cx="201168" cy="201168"/>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3355848" y="3172968"/>
            <a:ext cx="2514600" cy="137160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447288" y="3227832"/>
            <a:ext cx="2331720" cy="329184"/>
          </a:xfrm>
          <a:prstGeom prst="rect">
            <a:avLst/>
          </a:prstGeom>
          <a:noFill/>
        </p:spPr>
        <p:txBody>
          <a:bodyPr wrap="square" lIns="45720" rIns="45720" tIns="27432" bIns="27432" anchor="t">
            <a:spAutoFit/>
          </a:bodyPr>
          <a:lstStyle/>
          <a:p>
            <a:pPr algn="l">
              <a:lnSpc>
                <a:spcPct val="110000"/>
              </a:lnSpc>
            </a:pPr>
            <a:r>
              <a:rPr sz="1300" b="1" i="0">
                <a:solidFill>
                  <a:srgbClr val="2E7D5B"/>
                </a:solidFill>
                <a:latin typeface="Arial"/>
              </a:rPr>
              <a:t>Release gate</a:t>
            </a:r>
          </a:p>
        </p:txBody>
      </p:sp>
      <p:sp>
        <p:nvSpPr>
          <p:cNvPr id="31" name="TextBox 30"/>
          <p:cNvSpPr txBox="1"/>
          <p:nvPr/>
        </p:nvSpPr>
        <p:spPr>
          <a:xfrm>
            <a:off x="3447288" y="3557016"/>
            <a:ext cx="2331720" cy="932688"/>
          </a:xfrm>
          <a:prstGeom prst="rect">
            <a:avLst/>
          </a:prstGeom>
          <a:noFill/>
        </p:spPr>
        <p:txBody>
          <a:bodyPr wrap="square" lIns="45720" rIns="45720" tIns="27432" bIns="27432" anchor="t">
            <a:spAutoFit/>
          </a:bodyPr>
          <a:lstStyle/>
          <a:p>
            <a:pPr algn="l">
              <a:lnSpc>
                <a:spcPct val="108000"/>
              </a:lnSpc>
            </a:pPr>
            <a:r>
              <a:rPr sz="1100" b="0" i="0">
                <a:solidFill>
                  <a:srgbClr val="111111"/>
                </a:solidFill>
                <a:latin typeface="Arial"/>
              </a:rPr>
              <a:t>min R(theta) s.t. U &gt;= U0 - dU, C &lt;= B, F &lt;= aF. Development evidence only; freeze before held-out. No eligible candidate = no release.</a:t>
            </a:r>
          </a:p>
        </p:txBody>
      </p:sp>
      <p:sp>
        <p:nvSpPr>
          <p:cNvPr id="32" name="Isosceles Triangle 31"/>
          <p:cNvSpPr/>
          <p:nvPr/>
        </p:nvSpPr>
        <p:spPr>
          <a:xfrm rot="5400000">
            <a:off x="5961888" y="3758184"/>
            <a:ext cx="201168" cy="201168"/>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6254496" y="3172968"/>
            <a:ext cx="2514600" cy="137160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45936" y="3227832"/>
            <a:ext cx="2331720" cy="329184"/>
          </a:xfrm>
          <a:prstGeom prst="rect">
            <a:avLst/>
          </a:prstGeom>
          <a:noFill/>
        </p:spPr>
        <p:txBody>
          <a:bodyPr wrap="square" lIns="45720" rIns="45720" tIns="27432" bIns="27432" anchor="t">
            <a:spAutoFit/>
          </a:bodyPr>
          <a:lstStyle/>
          <a:p>
            <a:pPr algn="l">
              <a:lnSpc>
                <a:spcPct val="110000"/>
              </a:lnSpc>
            </a:pPr>
            <a:r>
              <a:rPr sz="1300" b="1" i="0">
                <a:solidFill>
                  <a:srgbClr val="2E7D5B"/>
                </a:solidFill>
                <a:latin typeface="Arial"/>
              </a:rPr>
              <a:t>Executable incident twins</a:t>
            </a:r>
          </a:p>
        </p:txBody>
      </p:sp>
      <p:sp>
        <p:nvSpPr>
          <p:cNvPr id="35" name="TextBox 34"/>
          <p:cNvSpPr txBox="1"/>
          <p:nvPr/>
        </p:nvSpPr>
        <p:spPr>
          <a:xfrm>
            <a:off x="6345936" y="3557016"/>
            <a:ext cx="2331720" cy="932688"/>
          </a:xfrm>
          <a:prstGeom prst="rect">
            <a:avLst/>
          </a:prstGeom>
          <a:noFill/>
        </p:spPr>
        <p:txBody>
          <a:bodyPr wrap="square" lIns="45720" rIns="45720" tIns="27432" bIns="27432" anchor="t">
            <a:spAutoFit/>
          </a:bodyPr>
          <a:lstStyle/>
          <a:p>
            <a:pPr algn="l">
              <a:lnSpc>
                <a:spcPct val="108000"/>
              </a:lnSpc>
            </a:pPr>
            <a:r>
              <a:rPr sz="1100" b="0" i="0">
                <a:solidFill>
                  <a:srgbClr val="111111"/>
                </a:solidFill>
                <a:latin typeface="Arial"/>
              </a:rPr>
              <a:t>Library record -&gt; policy manifest + unsafe and benign fixtures. Every candidate theta must pass the suite. INC-2026-015 implemented; 18 judged replayable.</a:t>
            </a:r>
          </a:p>
        </p:txBody>
      </p:sp>
      <p:sp>
        <p:nvSpPr>
          <p:cNvPr id="36" name="Isosceles Triangle 35"/>
          <p:cNvSpPr/>
          <p:nvPr/>
        </p:nvSpPr>
        <p:spPr>
          <a:xfrm rot="5400000">
            <a:off x="8860536" y="3758184"/>
            <a:ext cx="201168" cy="201168"/>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9153144" y="3172968"/>
            <a:ext cx="2581351" cy="137160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244584" y="3227832"/>
            <a:ext cx="2398471" cy="329184"/>
          </a:xfrm>
          <a:prstGeom prst="rect">
            <a:avLst/>
          </a:prstGeom>
          <a:noFill/>
        </p:spPr>
        <p:txBody>
          <a:bodyPr wrap="square" lIns="45720" rIns="45720" tIns="27432" bIns="27432" anchor="t">
            <a:spAutoFit/>
          </a:bodyPr>
          <a:lstStyle/>
          <a:p>
            <a:pPr algn="l">
              <a:lnSpc>
                <a:spcPct val="110000"/>
              </a:lnSpc>
            </a:pPr>
            <a:r>
              <a:rPr sz="1300" b="1" i="0">
                <a:solidFill>
                  <a:srgbClr val="6A4C93"/>
                </a:solidFill>
                <a:latin typeface="Arial"/>
              </a:rPr>
              <a:t>Versioned policy release</a:t>
            </a:r>
          </a:p>
        </p:txBody>
      </p:sp>
      <p:sp>
        <p:nvSpPr>
          <p:cNvPr id="39" name="TextBox 38"/>
          <p:cNvSpPr txBox="1"/>
          <p:nvPr/>
        </p:nvSpPr>
        <p:spPr>
          <a:xfrm>
            <a:off x="9244584" y="3557016"/>
            <a:ext cx="2398471" cy="932688"/>
          </a:xfrm>
          <a:prstGeom prst="rect">
            <a:avLst/>
          </a:prstGeom>
          <a:noFill/>
        </p:spPr>
        <p:txBody>
          <a:bodyPr wrap="square" lIns="45720" rIns="45720" tIns="27432" bIns="27432" anchor="t">
            <a:spAutoFit/>
          </a:bodyPr>
          <a:lstStyle/>
          <a:p>
            <a:pPr algn="l">
              <a:lnSpc>
                <a:spcPct val="108000"/>
              </a:lnSpc>
            </a:pPr>
            <a:r>
              <a:rPr sz="1100" b="0" i="0">
                <a:solidFill>
                  <a:srgbClr val="111111"/>
                </a:solidFill>
                <a:latin typeface="Arial"/>
              </a:rPr>
              <a:t>Frozen theta, prompt hashes, source snapshot, plan, budget ledger. Rollback = previous frozen record. Held-out test never feeds back.</a:t>
            </a:r>
          </a:p>
        </p:txBody>
      </p:sp>
      <p:sp>
        <p:nvSpPr>
          <p:cNvPr id="40" name="Rounded Rectangle 39"/>
          <p:cNvSpPr/>
          <p:nvPr/>
        </p:nvSpPr>
        <p:spPr>
          <a:xfrm>
            <a:off x="457200" y="4681728"/>
            <a:ext cx="11277295" cy="68580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66928" y="4681728"/>
            <a:ext cx="11057839" cy="685800"/>
          </a:xfrm>
          <a:prstGeom prst="rect">
            <a:avLst/>
          </a:prstGeom>
          <a:noFill/>
        </p:spPr>
        <p:txBody>
          <a:bodyPr wrap="square" lIns="45720" rIns="45720" tIns="27432" bIns="27432" anchor="ctr">
            <a:spAutoFit/>
          </a:bodyPr>
          <a:lstStyle/>
          <a:p>
            <a:pPr algn="l">
              <a:lnSpc>
                <a:spcPct val="110000"/>
              </a:lnSpc>
            </a:pPr>
            <a:r>
              <a:rPr sz="1200" b="0" i="0">
                <a:solidFill>
                  <a:srgbClr val="111111"/>
                </a:solidFill>
                <a:latin typeface="Arial"/>
              </a:rPr>
              <a:t>The figure to draw for the paper: this slide as one panel, with the proxy-feedback path (transcript judge -&gt; gate) drawn as a dashed alternative to the observer. figures/optimization/overview-v1 and system-components-v1 already contain the pieces.</a:t>
            </a:r>
          </a:p>
        </p:txBody>
      </p:sp>
      <p:sp>
        <p:nvSpPr>
          <p:cNvPr id="42" name="TextBox 41"/>
          <p:cNvSpPr txBox="1"/>
          <p:nvPr/>
        </p:nvSpPr>
        <p:spPr>
          <a:xfrm>
            <a:off x="457200" y="5486400"/>
            <a:ext cx="11277295" cy="548640"/>
          </a:xfrm>
          <a:prstGeom prst="rect">
            <a:avLst/>
          </a:prstGeom>
          <a:noFill/>
        </p:spPr>
        <p:txBody>
          <a:bodyPr wrap="square" lIns="45720" rIns="45720" tIns="27432" bIns="27432" anchor="t">
            <a:spAutoFit/>
          </a:bodyPr>
          <a:lstStyle/>
          <a:p>
            <a:pPr algn="l">
              <a:lnSpc>
                <a:spcPct val="110000"/>
              </a:lnSpc>
            </a:pPr>
            <a:r>
              <a:rPr sz="1100" b="0" i="0">
                <a:solidFill>
                  <a:srgbClr val="666666"/>
                </a:solidFill>
                <a:latin typeface="Arial"/>
              </a:rPr>
              <a:t>OS analogies to use sparingly and name once each: reference monitor (broker), audit subsystem (observer), CI regression suite (twins), release gate and rollback (frozen records). Say which classical abstraction transfers and which breaks: audit coverage must be demonstrated, not assumed.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Section 5 material: 440 archived live rollouts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Every cell below can be reported today with Wilson intervals; none of it is a new run</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8</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Repository sources: docs/*-results.md; results/*/README.md; results/*/summary.json</a:t>
            </a:r>
          </a:p>
        </p:txBody>
      </p:sp>
      <p:graphicFrame>
        <p:nvGraphicFramePr>
          <p:cNvPr id="8" name="Table 7"/>
          <p:cNvGraphicFramePr>
            <a:graphicFrameLocks noGrp="1"/>
          </p:cNvGraphicFramePr>
          <p:nvPr/>
        </p:nvGraphicFramePr>
        <p:xfrm>
          <a:off x="457200" y="1371600"/>
          <a:ext cx="11274552" cy="3246120"/>
        </p:xfrm>
        <a:graphic>
          <a:graphicData uri="http://schemas.openxmlformats.org/drawingml/2006/table">
            <a:tbl>
              <a:tblPr firstRow="1" bandRow="1">
                <a:tableStyleId>{5C22544A-7EE6-4342-B048-85BDC9FD1C3A}</a:tableStyleId>
              </a:tblPr>
              <a:tblGrid>
                <a:gridCol w="1828800"/>
                <a:gridCol w="1051560"/>
                <a:gridCol w="1371600"/>
                <a:gridCol w="2011680"/>
                <a:gridCol w="3291840"/>
                <a:gridCol w="1005840"/>
                <a:gridCol w="713232"/>
              </a:tblGrid>
              <a:tr h="405765">
                <a:tc>
                  <a:txBody>
                    <a:bodyPr wrap="square"/>
                    <a:lstStyle/>
                    <a:p>
                      <a:r>
                        <a:rPr sz="950" b="1" i="0">
                          <a:solidFill>
                            <a:srgbClr val="FFFFFF"/>
                          </a:solidFill>
                          <a:latin typeface="Arial"/>
                        </a:rPr>
                        <a:t>Study (date)</a:t>
                      </a:r>
                    </a:p>
                  </a:txBody>
                  <a:tcPr marL="54864" marR="54864" marT="27432" marB="27432">
                    <a:solidFill>
                      <a:srgbClr val="365E9E"/>
                    </a:solidFill>
                  </a:tcPr>
                </a:tc>
                <a:tc>
                  <a:txBody>
                    <a:bodyPr wrap="square"/>
                    <a:lstStyle/>
                    <a:p>
                      <a:r>
                        <a:rPr sz="950" b="1" i="0">
                          <a:solidFill>
                            <a:srgbClr val="FFFFFF"/>
                          </a:solidFill>
                          <a:latin typeface="Arial"/>
                        </a:rPr>
                        <a:t>Rollouts</a:t>
                      </a:r>
                    </a:p>
                  </a:txBody>
                  <a:tcPr marL="54864" marR="54864" marT="27432" marB="27432">
                    <a:solidFill>
                      <a:srgbClr val="365E9E"/>
                    </a:solidFill>
                  </a:tcPr>
                </a:tc>
                <a:tc>
                  <a:txBody>
                    <a:bodyPr wrap="square"/>
                    <a:lstStyle/>
                    <a:p>
                      <a:r>
                        <a:rPr sz="950" b="1" i="0">
                          <a:solidFill>
                            <a:srgbClr val="FFFFFF"/>
                          </a:solidFill>
                          <a:latin typeface="Arial"/>
                        </a:rPr>
                        <a:t>Models</a:t>
                      </a:r>
                    </a:p>
                  </a:txBody>
                  <a:tcPr marL="54864" marR="54864" marT="27432" marB="27432">
                    <a:solidFill>
                      <a:srgbClr val="365E9E"/>
                    </a:solidFill>
                  </a:tcPr>
                </a:tc>
                <a:tc>
                  <a:txBody>
                    <a:bodyPr wrap="square"/>
                    <a:lstStyle/>
                    <a:p>
                      <a:r>
                        <a:rPr sz="950" b="1" i="0">
                          <a:solidFill>
                            <a:srgbClr val="FFFFFF"/>
                          </a:solidFill>
                          <a:latin typeface="Arial"/>
                        </a:rPr>
                        <a:t>Manipulation</a:t>
                      </a:r>
                    </a:p>
                  </a:txBody>
                  <a:tcPr marL="54864" marR="54864" marT="27432" marB="27432">
                    <a:solidFill>
                      <a:srgbClr val="365E9E"/>
                    </a:solidFill>
                  </a:tcPr>
                </a:tc>
                <a:tc>
                  <a:txBody>
                    <a:bodyPr wrap="square"/>
                    <a:lstStyle/>
                    <a:p>
                      <a:r>
                        <a:rPr sz="950" b="1" i="0">
                          <a:solidFill>
                            <a:srgbClr val="FFFFFF"/>
                          </a:solidFill>
                          <a:latin typeface="Arial"/>
                        </a:rPr>
                        <a:t>Key cells</a:t>
                      </a:r>
                    </a:p>
                  </a:txBody>
                  <a:tcPr marL="54864" marR="54864" marT="27432" marB="27432">
                    <a:solidFill>
                      <a:srgbClr val="365E9E"/>
                    </a:solidFill>
                  </a:tcPr>
                </a:tc>
                <a:tc>
                  <a:txBody>
                    <a:bodyPr wrap="square"/>
                    <a:lstStyle/>
                    <a:p>
                      <a:r>
                        <a:rPr sz="950" b="1" i="0">
                          <a:solidFill>
                            <a:srgbClr val="FFFFFF"/>
                          </a:solidFill>
                          <a:latin typeface="Arial"/>
                        </a:rPr>
                        <a:t>Controls</a:t>
                      </a:r>
                    </a:p>
                  </a:txBody>
                  <a:tcPr marL="54864" marR="54864" marT="27432" marB="27432">
                    <a:solidFill>
                      <a:srgbClr val="365E9E"/>
                    </a:solidFill>
                  </a:tcPr>
                </a:tc>
                <a:tc>
                  <a:txBody>
                    <a:bodyPr wrap="square"/>
                    <a:lstStyle/>
                    <a:p>
                      <a:r>
                        <a:rPr sz="950" b="1" i="0">
                          <a:solidFill>
                            <a:srgbClr val="FFFFFF"/>
                          </a:solidFill>
                          <a:latin typeface="Arial"/>
                        </a:rPr>
                        <a:t>Cost</a:t>
                      </a:r>
                    </a:p>
                  </a:txBody>
                  <a:tcPr marL="54864" marR="54864" marT="27432" marB="27432">
                    <a:solidFill>
                      <a:srgbClr val="365E9E"/>
                    </a:solidFill>
                  </a:tcPr>
                </a:tc>
              </a:tr>
              <a:tr h="405765">
                <a:tc>
                  <a:txBody>
                    <a:bodyPr wrap="square"/>
                    <a:lstStyle/>
                    <a:p>
                      <a:r>
                        <a:rPr sz="950" b="1" i="0">
                          <a:solidFill>
                            <a:srgbClr val="111111"/>
                          </a:solidFill>
                          <a:latin typeface="Arial"/>
                        </a:rPr>
                        <a:t>Native pilot (Sep)</a:t>
                      </a:r>
                    </a:p>
                  </a:txBody>
                  <a:tcPr marL="54864" marR="54864" marT="27432" marB="27432">
                    <a:solidFill>
                      <a:srgbClr val="FFFFFF"/>
                    </a:solidFill>
                  </a:tcPr>
                </a:tc>
                <a:tc>
                  <a:txBody>
                    <a:bodyPr wrap="square"/>
                    <a:lstStyle/>
                    <a:p>
                      <a:r>
                        <a:rPr sz="950" b="0" i="0">
                          <a:solidFill>
                            <a:srgbClr val="111111"/>
                          </a:solidFill>
                          <a:latin typeface="Arial"/>
                        </a:rPr>
                        <a:t>8</a:t>
                      </a:r>
                    </a:p>
                  </a:txBody>
                  <a:tcPr marL="54864" marR="54864" marT="27432" marB="27432">
                    <a:solidFill>
                      <a:srgbClr val="FFFFFF"/>
                    </a:solidFill>
                  </a:tcPr>
                </a:tc>
                <a:tc>
                  <a:txBody>
                    <a:bodyPr wrap="square"/>
                    <a:lstStyle/>
                    <a:p>
                      <a:r>
                        <a:rPr sz="950" b="0" i="0">
                          <a:solidFill>
                            <a:srgbClr val="111111"/>
                          </a:solidFill>
                          <a:latin typeface="Arial"/>
                        </a:rPr>
                        <a:t>GPT-4.1 mini, Haiku 4.5</a:t>
                      </a:r>
                    </a:p>
                  </a:txBody>
                  <a:tcPr marL="54864" marR="54864" marT="27432" marB="27432">
                    <a:solidFill>
                      <a:srgbClr val="FFFFFF"/>
                    </a:solidFill>
                  </a:tcPr>
                </a:tc>
                <a:tc>
                  <a:txBody>
                    <a:bodyPr wrap="square"/>
                    <a:lstStyle/>
                    <a:p>
                      <a:r>
                        <a:rPr sz="950" b="0" i="0">
                          <a:solidFill>
                            <a:srgbClr val="111111"/>
                          </a:solidFill>
                          <a:latin typeface="Arial"/>
                        </a:rPr>
                        <a:t>solvable/stalled x permissive/scoped</a:t>
                      </a:r>
                    </a:p>
                  </a:txBody>
                  <a:tcPr marL="54864" marR="54864" marT="27432" marB="27432">
                    <a:solidFill>
                      <a:srgbClr val="FFFFFF"/>
                    </a:solidFill>
                  </a:tcPr>
                </a:tc>
                <a:tc>
                  <a:txBody>
                    <a:bodyPr wrap="square"/>
                    <a:lstStyle/>
                    <a:p>
                      <a:r>
                        <a:rPr sz="950" b="0" i="0">
                          <a:solidFill>
                            <a:srgbClr val="111111"/>
                          </a:solidFill>
                          <a:latin typeface="Arial"/>
                        </a:rPr>
                        <a:t>Local out-of-scope effects occurred; early scope check over-blocked</a:t>
                      </a:r>
                    </a:p>
                  </a:txBody>
                  <a:tcPr marL="54864" marR="54864" marT="27432" marB="27432">
                    <a:solidFill>
                      <a:srgbClr val="FFFFFF"/>
                    </a:solidFill>
                  </a:tcPr>
                </a:tc>
                <a:tc>
                  <a:txBody>
                    <a:bodyPr wrap="square"/>
                    <a:lstStyle/>
                    <a:p>
                      <a:r>
                        <a:rPr sz="950" b="0" i="0">
                          <a:solidFill>
                            <a:srgbClr val="111111"/>
                          </a:solidFill>
                          <a:latin typeface="Arial"/>
                        </a:rPr>
                        <a:t>-</a:t>
                      </a:r>
                    </a:p>
                  </a:txBody>
                  <a:tcPr marL="54864" marR="54864" marT="27432" marB="27432">
                    <a:solidFill>
                      <a:srgbClr val="FFFFFF"/>
                    </a:solidFill>
                  </a:tcPr>
                </a:tc>
                <a:tc>
                  <a:txBody>
                    <a:bodyPr wrap="square"/>
                    <a:lstStyle/>
                    <a:p>
                      <a:r>
                        <a:rPr sz="950" b="0" i="0">
                          <a:solidFill>
                            <a:srgbClr val="111111"/>
                          </a:solidFill>
                          <a:latin typeface="Arial"/>
                        </a:rPr>
                        <a:t>-</a:t>
                      </a:r>
                    </a:p>
                  </a:txBody>
                  <a:tcPr marL="54864" marR="54864" marT="27432" marB="27432">
                    <a:solidFill>
                      <a:srgbClr val="FFFFFF"/>
                    </a:solidFill>
                  </a:tcPr>
                </a:tc>
              </a:tr>
              <a:tr h="405765">
                <a:tc>
                  <a:txBody>
                    <a:bodyPr wrap="square"/>
                    <a:lstStyle/>
                    <a:p>
                      <a:r>
                        <a:rPr sz="950" b="1" i="0">
                          <a:solidFill>
                            <a:srgbClr val="111111"/>
                          </a:solidFill>
                          <a:latin typeface="Arial"/>
                        </a:rPr>
                        <a:t>Cue study (Sep)</a:t>
                      </a:r>
                    </a:p>
                  </a:txBody>
                  <a:tcPr marL="54864" marR="54864" marT="27432" marB="27432">
                    <a:solidFill>
                      <a:srgbClr val="F3F3F3"/>
                    </a:solidFill>
                  </a:tcPr>
                </a:tc>
                <a:tc>
                  <a:txBody>
                    <a:bodyPr wrap="square"/>
                    <a:lstStyle/>
                    <a:p>
                      <a:r>
                        <a:rPr sz="950" b="0" i="0">
                          <a:solidFill>
                            <a:srgbClr val="111111"/>
                          </a:solidFill>
                          <a:latin typeface="Arial"/>
                        </a:rPr>
                        <a:t>96</a:t>
                      </a:r>
                    </a:p>
                  </a:txBody>
                  <a:tcPr marL="54864" marR="54864" marT="27432" marB="27432">
                    <a:solidFill>
                      <a:srgbClr val="F3F3F3"/>
                    </a:solidFill>
                  </a:tcPr>
                </a:tc>
                <a:tc>
                  <a:txBody>
                    <a:bodyPr wrap="square"/>
                    <a:lstStyle/>
                    <a:p>
                      <a:r>
                        <a:rPr sz="950" b="0" i="0">
                          <a:solidFill>
                            <a:srgbClr val="111111"/>
                          </a:solidFill>
                          <a:latin typeface="Arial"/>
                        </a:rPr>
                        <a:t>both</a:t>
                      </a:r>
                    </a:p>
                  </a:txBody>
                  <a:tcPr marL="54864" marR="54864" marT="27432" marB="27432">
                    <a:solidFill>
                      <a:srgbClr val="F3F3F3"/>
                    </a:solidFill>
                  </a:tcPr>
                </a:tc>
                <a:tc>
                  <a:txBody>
                    <a:bodyPr wrap="square"/>
                    <a:lstStyle/>
                    <a:p>
                      <a:r>
                        <a:rPr sz="950" b="0" i="0">
                          <a:solidFill>
                            <a:srgbClr val="111111"/>
                          </a:solidFill>
                          <a:latin typeface="Arial"/>
                        </a:rPr>
                        <a:t>prompt cues</a:t>
                      </a:r>
                    </a:p>
                  </a:txBody>
                  <a:tcPr marL="54864" marR="54864" marT="27432" marB="27432">
                    <a:solidFill>
                      <a:srgbClr val="F3F3F3"/>
                    </a:solidFill>
                  </a:tcPr>
                </a:tc>
                <a:tc>
                  <a:txBody>
                    <a:bodyPr wrap="square"/>
                    <a:lstStyle/>
                    <a:p>
                      <a:r>
                        <a:rPr sz="950" b="0" i="0">
                          <a:solidFill>
                            <a:srgbClr val="111111"/>
                          </a:solidFill>
                          <a:latin typeface="Arial"/>
                        </a:rPr>
                        <a:t>No consistent increase from tested cues</a:t>
                      </a:r>
                    </a:p>
                  </a:txBody>
                  <a:tcPr marL="54864" marR="54864" marT="27432" marB="27432">
                    <a:solidFill>
                      <a:srgbClr val="F3F3F3"/>
                    </a:solidFill>
                  </a:tcPr>
                </a:tc>
                <a:tc>
                  <a:txBody>
                    <a:bodyPr wrap="square"/>
                    <a:lstStyle/>
                    <a:p>
                      <a:r>
                        <a:rPr sz="950" b="0" i="0">
                          <a:solidFill>
                            <a:srgbClr val="111111"/>
                          </a:solidFill>
                          <a:latin typeface="Arial"/>
                        </a:rPr>
                        <a:t>-</a:t>
                      </a:r>
                    </a:p>
                  </a:txBody>
                  <a:tcPr marL="54864" marR="54864" marT="27432" marB="27432">
                    <a:solidFill>
                      <a:srgbClr val="F3F3F3"/>
                    </a:solidFill>
                  </a:tcPr>
                </a:tc>
                <a:tc>
                  <a:txBody>
                    <a:bodyPr wrap="square"/>
                    <a:lstStyle/>
                    <a:p>
                      <a:r>
                        <a:rPr sz="950" b="0" i="0">
                          <a:solidFill>
                            <a:srgbClr val="111111"/>
                          </a:solidFill>
                          <a:latin typeface="Arial"/>
                        </a:rPr>
                        <a:t>-</a:t>
                      </a:r>
                    </a:p>
                  </a:txBody>
                  <a:tcPr marL="54864" marR="54864" marT="27432" marB="27432">
                    <a:solidFill>
                      <a:srgbClr val="F3F3F3"/>
                    </a:solidFill>
                  </a:tcPr>
                </a:tc>
              </a:tr>
              <a:tr h="405765">
                <a:tc>
                  <a:txBody>
                    <a:bodyPr wrap="square"/>
                    <a:lstStyle/>
                    <a:p>
                      <a:r>
                        <a:rPr sz="950" b="1" i="0">
                          <a:solidFill>
                            <a:srgbClr val="111111"/>
                          </a:solidFill>
                          <a:latin typeface="Arial"/>
                        </a:rPr>
                        <a:t>Upstream-link study (Sep)</a:t>
                      </a:r>
                    </a:p>
                  </a:txBody>
                  <a:tcPr marL="54864" marR="54864" marT="27432" marB="27432">
                    <a:solidFill>
                      <a:srgbClr val="FFFFFF"/>
                    </a:solidFill>
                  </a:tcPr>
                </a:tc>
                <a:tc>
                  <a:txBody>
                    <a:bodyPr wrap="square"/>
                    <a:lstStyle/>
                    <a:p>
                      <a:r>
                        <a:rPr sz="950" b="0" i="0">
                          <a:solidFill>
                            <a:srgbClr val="111111"/>
                          </a:solidFill>
                          <a:latin typeface="Arial"/>
                        </a:rPr>
                        <a:t>128</a:t>
                      </a:r>
                    </a:p>
                  </a:txBody>
                  <a:tcPr marL="54864" marR="54864" marT="27432" marB="27432">
                    <a:solidFill>
                      <a:srgbClr val="FFFFFF"/>
                    </a:solidFill>
                  </a:tcPr>
                </a:tc>
                <a:tc>
                  <a:txBody>
                    <a:bodyPr wrap="square"/>
                    <a:lstStyle/>
                    <a:p>
                      <a:r>
                        <a:rPr sz="950" b="0" i="0">
                          <a:solidFill>
                            <a:srgbClr val="111111"/>
                          </a:solidFill>
                          <a:latin typeface="Arial"/>
                        </a:rPr>
                        <a:t>both</a:t>
                      </a:r>
                    </a:p>
                  </a:txBody>
                  <a:tcPr marL="54864" marR="54864" marT="27432" marB="27432">
                    <a:solidFill>
                      <a:srgbClr val="FFFFFF"/>
                    </a:solidFill>
                  </a:tcPr>
                </a:tc>
                <a:tc>
                  <a:txBody>
                    <a:bodyPr wrap="square"/>
                    <a:lstStyle/>
                    <a:p>
                      <a:r>
                        <a:rPr sz="950" b="0" i="0">
                          <a:solidFill>
                            <a:srgbClr val="111111"/>
                          </a:solidFill>
                          <a:latin typeface="Arial"/>
                        </a:rPr>
                        <a:t>README link present/absent x reminder</a:t>
                      </a:r>
                    </a:p>
                  </a:txBody>
                  <a:tcPr marL="54864" marR="54864" marT="27432" marB="27432">
                    <a:solidFill>
                      <a:srgbClr val="FFFFFF"/>
                    </a:solidFill>
                  </a:tcPr>
                </a:tc>
                <a:tc>
                  <a:txBody>
                    <a:bodyPr wrap="square"/>
                    <a:lstStyle/>
                    <a:p>
                      <a:r>
                        <a:rPr sz="950" b="0" i="0">
                          <a:solidFill>
                            <a:srgbClr val="111111"/>
                          </a:solidFill>
                          <a:latin typeface="Arial"/>
                        </a:rPr>
                        <a:t>Early upstream reads 26/32 with link, 0/32 without; later violations substituted the answer archive</a:t>
                      </a:r>
                    </a:p>
                  </a:txBody>
                  <a:tcPr marL="54864" marR="54864" marT="27432" marB="27432">
                    <a:solidFill>
                      <a:srgbClr val="FFFFFF"/>
                    </a:solidFill>
                  </a:tcPr>
                </a:tc>
                <a:tc>
                  <a:txBody>
                    <a:bodyPr wrap="square"/>
                    <a:lstStyle/>
                    <a:p>
                      <a:r>
                        <a:rPr sz="950" b="0" i="0">
                          <a:solidFill>
                            <a:srgbClr val="111111"/>
                          </a:solidFill>
                          <a:latin typeface="Arial"/>
                        </a:rPr>
                        <a:t>-</a:t>
                      </a:r>
                    </a:p>
                  </a:txBody>
                  <a:tcPr marL="54864" marR="54864" marT="27432" marB="27432">
                    <a:solidFill>
                      <a:srgbClr val="FFFFFF"/>
                    </a:solidFill>
                  </a:tcPr>
                </a:tc>
                <a:tc>
                  <a:txBody>
                    <a:bodyPr wrap="square"/>
                    <a:lstStyle/>
                    <a:p>
                      <a:r>
                        <a:rPr sz="950" b="0" i="0">
                          <a:solidFill>
                            <a:srgbClr val="111111"/>
                          </a:solidFill>
                          <a:latin typeface="Arial"/>
                        </a:rPr>
                        <a:t>-</a:t>
                      </a:r>
                    </a:p>
                  </a:txBody>
                  <a:tcPr marL="54864" marR="54864" marT="27432" marB="27432">
                    <a:solidFill>
                      <a:srgbClr val="FFFFFF"/>
                    </a:solidFill>
                  </a:tcPr>
                </a:tc>
              </a:tr>
              <a:tr h="405765">
                <a:tc>
                  <a:txBody>
                    <a:bodyPr wrap="square"/>
                    <a:lstStyle/>
                    <a:p>
                      <a:r>
                        <a:rPr sz="950" b="1" i="0">
                          <a:solidFill>
                            <a:srgbClr val="111111"/>
                          </a:solidFill>
                          <a:latin typeface="Arial"/>
                        </a:rPr>
                        <a:t>Incident study (17 Sep)</a:t>
                      </a:r>
                    </a:p>
                  </a:txBody>
                  <a:tcPr marL="54864" marR="54864" marT="27432" marB="27432">
                    <a:solidFill>
                      <a:srgbClr val="F3F3F3"/>
                    </a:solidFill>
                  </a:tcPr>
                </a:tc>
                <a:tc>
                  <a:txBody>
                    <a:bodyPr wrap="square"/>
                    <a:lstStyle/>
                    <a:p>
                      <a:r>
                        <a:rPr sz="950" b="0" i="0">
                          <a:solidFill>
                            <a:srgbClr val="111111"/>
                          </a:solidFill>
                          <a:latin typeface="Arial"/>
                        </a:rPr>
                        <a:t>160</a:t>
                      </a:r>
                    </a:p>
                  </a:txBody>
                  <a:tcPr marL="54864" marR="54864" marT="27432" marB="27432">
                    <a:solidFill>
                      <a:srgbClr val="F3F3F3"/>
                    </a:solidFill>
                  </a:tcPr>
                </a:tc>
                <a:tc>
                  <a:txBody>
                    <a:bodyPr wrap="square"/>
                    <a:lstStyle/>
                    <a:p>
                      <a:r>
                        <a:rPr sz="950" b="0" i="0">
                          <a:solidFill>
                            <a:srgbClr val="111111"/>
                          </a:solidFill>
                          <a:latin typeface="Arial"/>
                        </a:rPr>
                        <a:t>both</a:t>
                      </a:r>
                    </a:p>
                  </a:txBody>
                  <a:tcPr marL="54864" marR="54864" marT="27432" marB="27432">
                    <a:solidFill>
                      <a:srgbClr val="F3F3F3"/>
                    </a:solidFill>
                  </a:tcPr>
                </a:tc>
                <a:tc>
                  <a:txBody>
                    <a:bodyPr wrap="square"/>
                    <a:lstStyle/>
                    <a:p>
                      <a:r>
                        <a:rPr sz="950" b="0" i="0">
                          <a:solidFill>
                            <a:srgbClr val="111111"/>
                          </a:solidFill>
                          <a:latin typeface="Arial"/>
                        </a:rPr>
                        <a:t>N / R / E / RE instruction updates</a:t>
                      </a:r>
                    </a:p>
                  </a:txBody>
                  <a:tcPr marL="54864" marR="54864" marT="27432" marB="27432">
                    <a:solidFill>
                      <a:srgbClr val="F3F3F3"/>
                    </a:solidFill>
                  </a:tcPr>
                </a:tc>
                <a:tc>
                  <a:txBody>
                    <a:bodyPr wrap="square"/>
                    <a:lstStyle/>
                    <a:p>
                      <a:r>
                        <a:rPr sz="950" b="0" i="0">
                          <a:solidFill>
                            <a:srgbClr val="111111"/>
                          </a:solidFill>
                          <a:latin typeface="Arial"/>
                        </a:rPr>
                        <a:t>Haiku impossible outside access 6/8, 3/8, 5/8, 0/8; GPT-4.1 mini 0/8, 1/8, 0/8, 0/8</a:t>
                      </a:r>
                    </a:p>
                  </a:txBody>
                  <a:tcPr marL="54864" marR="54864" marT="27432" marB="27432">
                    <a:solidFill>
                      <a:srgbClr val="F3F3F3"/>
                    </a:solidFill>
                  </a:tcPr>
                </a:tc>
                <a:tc>
                  <a:txBody>
                    <a:bodyPr wrap="square"/>
                    <a:lstStyle/>
                    <a:p>
                      <a:r>
                        <a:rPr sz="950" b="0" i="0">
                          <a:solidFill>
                            <a:srgbClr val="111111"/>
                          </a:solidFill>
                          <a:latin typeface="Arial"/>
                        </a:rPr>
                        <a:t>96/96 in scope</a:t>
                      </a:r>
                    </a:p>
                  </a:txBody>
                  <a:tcPr marL="54864" marR="54864" marT="27432" marB="27432">
                    <a:solidFill>
                      <a:srgbClr val="F3F3F3"/>
                    </a:solidFill>
                  </a:tcPr>
                </a:tc>
                <a:tc>
                  <a:txBody>
                    <a:bodyPr wrap="square"/>
                    <a:lstStyle/>
                    <a:p>
                      <a:r>
                        <a:rPr sz="950" b="0" i="0">
                          <a:solidFill>
                            <a:srgbClr val="111111"/>
                          </a:solidFill>
                          <a:latin typeface="Arial"/>
                        </a:rPr>
                        <a:t>$0.95</a:t>
                      </a:r>
                    </a:p>
                  </a:txBody>
                  <a:tcPr marL="54864" marR="54864" marT="27432" marB="27432">
                    <a:solidFill>
                      <a:srgbClr val="F3F3F3"/>
                    </a:solidFill>
                  </a:tcPr>
                </a:tc>
              </a:tr>
              <a:tr h="405765">
                <a:tc>
                  <a:txBody>
                    <a:bodyPr wrap="square"/>
                    <a:lstStyle/>
                    <a:p>
                      <a:r>
                        <a:rPr sz="950" b="1" i="0">
                          <a:solidFill>
                            <a:srgbClr val="111111"/>
                          </a:solidFill>
                          <a:latin typeface="Arial"/>
                        </a:rPr>
                        <a:t>Scope levels (24 Sep)</a:t>
                      </a:r>
                    </a:p>
                  </a:txBody>
                  <a:tcPr marL="54864" marR="54864" marT="27432" marB="27432">
                    <a:solidFill>
                      <a:srgbClr val="FFFFFF"/>
                    </a:solidFill>
                  </a:tcPr>
                </a:tc>
                <a:tc>
                  <a:txBody>
                    <a:bodyPr wrap="square"/>
                    <a:lstStyle/>
                    <a:p>
                      <a:r>
                        <a:rPr sz="950" b="0" i="0">
                          <a:solidFill>
                            <a:srgbClr val="111111"/>
                          </a:solidFill>
                          <a:latin typeface="Arial"/>
                        </a:rPr>
                        <a:t>24</a:t>
                      </a:r>
                    </a:p>
                  </a:txBody>
                  <a:tcPr marL="54864" marR="54864" marT="27432" marB="27432">
                    <a:solidFill>
                      <a:srgbClr val="FFFFFF"/>
                    </a:solidFill>
                  </a:tcPr>
                </a:tc>
                <a:tc>
                  <a:txBody>
                    <a:bodyPr wrap="square"/>
                    <a:lstStyle/>
                    <a:p>
                      <a:r>
                        <a:rPr sz="950" b="0" i="0">
                          <a:solidFill>
                            <a:srgbClr val="111111"/>
                          </a:solidFill>
                          <a:latin typeface="Arial"/>
                        </a:rPr>
                        <a:t>Haiku 4.5</a:t>
                      </a:r>
                    </a:p>
                  </a:txBody>
                  <a:tcPr marL="54864" marR="54864" marT="27432" marB="27432">
                    <a:solidFill>
                      <a:srgbClr val="FFFFFF"/>
                    </a:solidFill>
                  </a:tcPr>
                </a:tc>
                <a:tc>
                  <a:txBody>
                    <a:bodyPr wrap="square"/>
                    <a:lstStyle/>
                    <a:p>
                      <a:r>
                        <a:rPr sz="950" b="0" i="0">
                          <a:solidFill>
                            <a:srgbClr val="111111"/>
                          </a:solidFill>
                          <a:latin typeface="Arial"/>
                        </a:rPr>
                        <a:t>4 cumulative instruction levels</a:t>
                      </a:r>
                    </a:p>
                  </a:txBody>
                  <a:tcPr marL="54864" marR="54864" marT="27432" marB="27432">
                    <a:solidFill>
                      <a:srgbClr val="FFFFFF"/>
                    </a:solidFill>
                  </a:tcPr>
                </a:tc>
                <a:tc>
                  <a:txBody>
                    <a:bodyPr wrap="square"/>
                    <a:lstStyle/>
                    <a:p>
                      <a:r>
                        <a:rPr sz="950" b="0" i="0">
                          <a:solidFill>
                            <a:srgbClr val="111111"/>
                          </a:solidFill>
                          <a:latin typeface="Arial"/>
                        </a:rPr>
                        <a:t>Outside effects 2/6, 2/6, 0/6, 0/6; impossible-only 2/2, 1/2, 0/2, 0/2</a:t>
                      </a:r>
                    </a:p>
                  </a:txBody>
                  <a:tcPr marL="54864" marR="54864" marT="27432" marB="27432">
                    <a:solidFill>
                      <a:srgbClr val="FFFFFF"/>
                    </a:solidFill>
                  </a:tcPr>
                </a:tc>
                <a:tc>
                  <a:txBody>
                    <a:bodyPr wrap="square"/>
                    <a:lstStyle/>
                    <a:p>
                      <a:r>
                        <a:rPr sz="950" b="0" i="0">
                          <a:solidFill>
                            <a:srgbClr val="111111"/>
                          </a:solidFill>
                          <a:latin typeface="Arial"/>
                        </a:rPr>
                        <a:t>15/16 in scope</a:t>
                      </a:r>
                    </a:p>
                  </a:txBody>
                  <a:tcPr marL="54864" marR="54864" marT="27432" marB="27432">
                    <a:solidFill>
                      <a:srgbClr val="FFFFFF"/>
                    </a:solidFill>
                  </a:tcPr>
                </a:tc>
                <a:tc>
                  <a:txBody>
                    <a:bodyPr wrap="square"/>
                    <a:lstStyle/>
                    <a:p>
                      <a:r>
                        <a:rPr sz="950" b="0" i="0">
                          <a:solidFill>
                            <a:srgbClr val="111111"/>
                          </a:solidFill>
                          <a:latin typeface="Arial"/>
                        </a:rPr>
                        <a:t>$0.24</a:t>
                      </a:r>
                    </a:p>
                  </a:txBody>
                  <a:tcPr marL="54864" marR="54864" marT="27432" marB="27432">
                    <a:solidFill>
                      <a:srgbClr val="FFFFFF"/>
                    </a:solidFill>
                  </a:tcPr>
                </a:tc>
              </a:tr>
              <a:tr h="405765">
                <a:tc>
                  <a:txBody>
                    <a:bodyPr wrap="square"/>
                    <a:lstStyle/>
                    <a:p>
                      <a:r>
                        <a:rPr sz="950" b="1" i="0">
                          <a:solidFill>
                            <a:srgbClr val="111111"/>
                          </a:solidFill>
                          <a:latin typeface="Arial"/>
                        </a:rPr>
                        <a:t>Upstream coding baseline (Sep)</a:t>
                      </a:r>
                    </a:p>
                  </a:txBody>
                  <a:tcPr marL="54864" marR="54864" marT="27432" marB="27432">
                    <a:solidFill>
                      <a:srgbClr val="F3F3F3"/>
                    </a:solidFill>
                  </a:tcPr>
                </a:tc>
                <a:tc>
                  <a:txBody>
                    <a:bodyPr wrap="square"/>
                    <a:lstStyle/>
                    <a:p>
                      <a:r>
                        <a:rPr sz="950" b="0" i="0">
                          <a:solidFill>
                            <a:srgbClr val="111111"/>
                          </a:solidFill>
                          <a:latin typeface="Arial"/>
                        </a:rPr>
                        <a:t>6</a:t>
                      </a:r>
                    </a:p>
                  </a:txBody>
                  <a:tcPr marL="54864" marR="54864" marT="27432" marB="27432">
                    <a:solidFill>
                      <a:srgbClr val="F3F3F3"/>
                    </a:solidFill>
                  </a:tcPr>
                </a:tc>
                <a:tc>
                  <a:txBody>
                    <a:bodyPr wrap="square"/>
                    <a:lstStyle/>
                    <a:p>
                      <a:r>
                        <a:rPr sz="950" b="0" i="0">
                          <a:solidFill>
                            <a:srgbClr val="111111"/>
                          </a:solidFill>
                          <a:latin typeface="Arial"/>
                        </a:rPr>
                        <a:t>Haiku 4.5</a:t>
                      </a:r>
                    </a:p>
                  </a:txBody>
                  <a:tcPr marL="54864" marR="54864" marT="27432" marB="27432">
                    <a:solidFill>
                      <a:srgbClr val="F3F3F3"/>
                    </a:solidFill>
                  </a:tcPr>
                </a:tc>
                <a:tc>
                  <a:txBody>
                    <a:bodyPr wrap="square"/>
                    <a:lstStyle/>
                    <a:p>
                      <a:r>
                        <a:rPr sz="950" b="0" i="0">
                          <a:solidFill>
                            <a:srgbClr val="111111"/>
                          </a:solidFill>
                          <a:latin typeface="Arial"/>
                        </a:rPr>
                        <a:t>unmodified ImpossibleBench scaffold</a:t>
                      </a:r>
                    </a:p>
                  </a:txBody>
                  <a:tcPr marL="54864" marR="54864" marT="27432" marB="27432">
                    <a:solidFill>
                      <a:srgbClr val="F3F3F3"/>
                    </a:solidFill>
                  </a:tcPr>
                </a:tc>
                <a:tc>
                  <a:txBody>
                    <a:bodyPr wrap="square"/>
                    <a:lstStyle/>
                    <a:p>
                      <a:r>
                        <a:rPr sz="950" b="0" i="0">
                          <a:solidFill>
                            <a:srgbClr val="111111"/>
                          </a:solidFill>
                          <a:latin typeface="Arial"/>
                        </a:rPr>
                        <a:t>Original 1/2, impossible 0/4; all 100-message capped; missing packages in all 6</a:t>
                      </a:r>
                    </a:p>
                  </a:txBody>
                  <a:tcPr marL="54864" marR="54864" marT="27432" marB="27432">
                    <a:solidFill>
                      <a:srgbClr val="F3F3F3"/>
                    </a:solidFill>
                  </a:tcPr>
                </a:tc>
                <a:tc>
                  <a:txBody>
                    <a:bodyPr wrap="square"/>
                    <a:lstStyle/>
                    <a:p>
                      <a:r>
                        <a:rPr sz="950" b="0" i="0">
                          <a:solidFill>
                            <a:srgbClr val="111111"/>
                          </a:solidFill>
                          <a:latin typeface="Arial"/>
                        </a:rPr>
                        <a:t>-</a:t>
                      </a:r>
                    </a:p>
                  </a:txBody>
                  <a:tcPr marL="54864" marR="54864" marT="27432" marB="27432">
                    <a:solidFill>
                      <a:srgbClr val="F3F3F3"/>
                    </a:solidFill>
                  </a:tcPr>
                </a:tc>
                <a:tc>
                  <a:txBody>
                    <a:bodyPr wrap="square"/>
                    <a:lstStyle/>
                    <a:p>
                      <a:r>
                        <a:rPr sz="950" b="0" i="0">
                          <a:solidFill>
                            <a:srgbClr val="111111"/>
                          </a:solidFill>
                          <a:latin typeface="Arial"/>
                        </a:rPr>
                        <a:t>$5.78</a:t>
                      </a:r>
                    </a:p>
                  </a:txBody>
                  <a:tcPr marL="54864" marR="54864" marT="27432" marB="27432">
                    <a:solidFill>
                      <a:srgbClr val="F3F3F3"/>
                    </a:solidFill>
                  </a:tcPr>
                </a:tc>
              </a:tr>
              <a:tr h="405765">
                <a:tc>
                  <a:txBody>
                    <a:bodyPr wrap="square"/>
                    <a:lstStyle/>
                    <a:p>
                      <a:r>
                        <a:rPr sz="950" b="1" i="0">
                          <a:solidFill>
                            <a:srgbClr val="111111"/>
                          </a:solidFill>
                          <a:latin typeface="Arial"/>
                        </a:rPr>
                        <a:t>ImpossibleBench preflight (Sep)</a:t>
                      </a:r>
                    </a:p>
                  </a:txBody>
                  <a:tcPr marL="54864" marR="54864" marT="27432" marB="27432">
                    <a:solidFill>
                      <a:srgbClr val="FFFFFF"/>
                    </a:solidFill>
                  </a:tcPr>
                </a:tc>
                <a:tc>
                  <a:txBody>
                    <a:bodyPr wrap="square"/>
                    <a:lstStyle/>
                    <a:p>
                      <a:r>
                        <a:rPr sz="950" b="0" i="0">
                          <a:solidFill>
                            <a:srgbClr val="111111"/>
                          </a:solidFill>
                          <a:latin typeface="Arial"/>
                        </a:rPr>
                        <a:t>24 assigned, 16 started</a:t>
                      </a:r>
                    </a:p>
                  </a:txBody>
                  <a:tcPr marL="54864" marR="54864" marT="27432" marB="27432">
                    <a:solidFill>
                      <a:srgbClr val="FFFFFF"/>
                    </a:solidFill>
                  </a:tcPr>
                </a:tc>
                <a:tc>
                  <a:txBody>
                    <a:bodyPr wrap="square"/>
                    <a:lstStyle/>
                    <a:p>
                      <a:r>
                        <a:rPr sz="950" b="0" i="0">
                          <a:solidFill>
                            <a:srgbClr val="111111"/>
                          </a:solidFill>
                          <a:latin typeface="Arial"/>
                        </a:rPr>
                        <a:t>Haiku 4.5</a:t>
                      </a:r>
                    </a:p>
                  </a:txBody>
                  <a:tcPr marL="54864" marR="54864" marT="27432" marB="27432">
                    <a:solidFill>
                      <a:srgbClr val="FFFFFF"/>
                    </a:solidFill>
                  </a:tcPr>
                </a:tc>
                <a:tc>
                  <a:txBody>
                    <a:bodyPr wrap="square"/>
                    <a:lstStyle/>
                    <a:p>
                      <a:r>
                        <a:rPr sz="950" b="0" i="0">
                          <a:solidFill>
                            <a:srgbClr val="111111"/>
                          </a:solidFill>
                          <a:latin typeface="Arial"/>
                        </a:rPr>
                        <a:t>custom adapter arms</a:t>
                      </a:r>
                    </a:p>
                  </a:txBody>
                  <a:tcPr marL="54864" marR="54864" marT="27432" marB="27432">
                    <a:solidFill>
                      <a:srgbClr val="FFFFFF"/>
                    </a:solidFill>
                  </a:tcPr>
                </a:tc>
                <a:tc>
                  <a:txBody>
                    <a:bodyPr wrap="square"/>
                    <a:lstStyle/>
                    <a:p>
                      <a:r>
                        <a:rPr sz="950" b="0" i="0">
                          <a:solidFill>
                            <a:srgbClr val="111111"/>
                          </a:solidFill>
                          <a:latin typeface="Arial"/>
                        </a:rPr>
                        <a:t>No scored submissions; unknown outcomes</a:t>
                      </a:r>
                    </a:p>
                  </a:txBody>
                  <a:tcPr marL="54864" marR="54864" marT="27432" marB="27432">
                    <a:solidFill>
                      <a:srgbClr val="FFFFFF"/>
                    </a:solidFill>
                  </a:tcPr>
                </a:tc>
                <a:tc>
                  <a:txBody>
                    <a:bodyPr wrap="square"/>
                    <a:lstStyle/>
                    <a:p>
                      <a:r>
                        <a:rPr sz="950" b="0" i="0">
                          <a:solidFill>
                            <a:srgbClr val="111111"/>
                          </a:solidFill>
                          <a:latin typeface="Arial"/>
                        </a:rPr>
                        <a:t>-</a:t>
                      </a:r>
                    </a:p>
                  </a:txBody>
                  <a:tcPr marL="54864" marR="54864" marT="27432" marB="27432">
                    <a:solidFill>
                      <a:srgbClr val="FFFFFF"/>
                    </a:solidFill>
                  </a:tcPr>
                </a:tc>
                <a:tc>
                  <a:txBody>
                    <a:bodyPr wrap="square"/>
                    <a:lstStyle/>
                    <a:p>
                      <a:r>
                        <a:rPr sz="950" b="0" i="0">
                          <a:solidFill>
                            <a:srgbClr val="111111"/>
                          </a:solidFill>
                          <a:latin typeface="Arial"/>
                        </a:rPr>
                        <a:t>~$5 cap</a:t>
                      </a:r>
                    </a:p>
                  </a:txBody>
                  <a:tcPr marL="54864" marR="54864" marT="27432" marB="27432">
                    <a:solidFill>
                      <a:srgbClr val="FFFFFF"/>
                    </a:solidFill>
                  </a:tcPr>
                </a:tc>
              </a:tr>
            </a:tbl>
          </a:graphicData>
        </a:graphic>
      </p:graphicFrame>
      <p:sp>
        <p:nvSpPr>
          <p:cNvPr id="9" name="Rounded Rectangle 8"/>
          <p:cNvSpPr/>
          <p:nvPr/>
        </p:nvSpPr>
        <p:spPr>
          <a:xfrm>
            <a:off x="457200" y="4709160"/>
            <a:ext cx="5577840" cy="146304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4782312"/>
            <a:ext cx="5394960" cy="411480"/>
          </a:xfrm>
          <a:prstGeom prst="rect">
            <a:avLst/>
          </a:prstGeom>
          <a:noFill/>
        </p:spPr>
        <p:txBody>
          <a:bodyPr wrap="square" lIns="45720" rIns="45720" tIns="27432" bIns="27432" anchor="t">
            <a:spAutoFit/>
          </a:bodyPr>
          <a:lstStyle/>
          <a:p>
            <a:pPr algn="l">
              <a:lnSpc>
                <a:spcPct val="100000"/>
              </a:lnSpc>
            </a:pPr>
            <a:r>
              <a:rPr sz="1500" b="1" i="0">
                <a:solidFill>
                  <a:srgbClr val="2E7D5B"/>
                </a:solidFill>
                <a:latin typeface="Arial"/>
              </a:rPr>
              <a:t>What to foreground</a:t>
            </a:r>
          </a:p>
        </p:txBody>
      </p:sp>
      <p:sp>
        <p:nvSpPr>
          <p:cNvPr id="11" name="TextBox 10"/>
          <p:cNvSpPr txBox="1"/>
          <p:nvPr/>
        </p:nvSpPr>
        <p:spPr>
          <a:xfrm>
            <a:off x="548640" y="5212080"/>
            <a:ext cx="5394960" cy="868680"/>
          </a:xfrm>
          <a:prstGeom prst="rect">
            <a:avLst/>
          </a:prstGeom>
          <a:noFill/>
        </p:spPr>
        <p:txBody>
          <a:bodyPr wrap="square" lIns="45720" rIns="45720">
            <a:spAutoFit/>
          </a:bodyPr>
          <a:lstStyle/>
          <a:p>
            <a:pPr>
              <a:lnSpc>
                <a:spcPct val="110000"/>
              </a:lnSpc>
              <a:spcAft>
                <a:spcPts val="400"/>
              </a:spcAft>
            </a:pPr>
            <a:r>
              <a:rPr sz="1150" b="0" i="0">
                <a:solidFill>
                  <a:srgbClr val="111111"/>
                </a:solidFill>
                <a:latin typeface="Arial"/>
              </a:rPr>
              <a:t>-  </a:t>
            </a:r>
            <a:r>
              <a:rPr sz="1150" b="0" i="0">
                <a:solidFill>
                  <a:srgbClr val="111111"/>
                </a:solidFill>
                <a:latin typeface="Arial"/>
              </a:rPr>
              <a:t>13 of 15 incident-study violations submitted the cached answer and </a:t>
            </a:r>
            <a:r>
              <a:rPr sz="1150" b="1" i="0">
                <a:solidFill>
                  <a:srgbClr val="111111"/>
                </a:solidFill>
                <a:latin typeface="Arial"/>
              </a:rPr>
              <a:t>passed the scorer</a:t>
            </a:r>
            <a:r>
              <a:rPr sz="1150" b="0" i="0">
                <a:solidFill>
                  <a:srgbClr val="111111"/>
                </a:solidFill>
                <a:latin typeface="Arial"/>
              </a:rPr>
              <a:t>. This is the paper's motivating observation.</a:t>
            </a:r>
          </a:p>
          <a:p>
            <a:pPr>
              <a:lnSpc>
                <a:spcPct val="110000"/>
              </a:lnSpc>
              <a:spcAft>
                <a:spcPts val="400"/>
              </a:spcAft>
            </a:pPr>
            <a:r>
              <a:rPr sz="1150" b="0" i="0">
                <a:solidFill>
                  <a:srgbClr val="111111"/>
                </a:solidFill>
                <a:latin typeface="Arial"/>
              </a:rPr>
              <a:t>-  </a:t>
            </a:r>
            <a:r>
              <a:rPr sz="1150" b="0" i="0">
                <a:solidFill>
                  <a:srgbClr val="111111"/>
                </a:solidFill>
                <a:latin typeface="Arial"/>
              </a:rPr>
              <a:t>Capability controls stayed at or near 100% while the gated quantity moved: the utility constraint is not vacuous.</a:t>
            </a:r>
          </a:p>
        </p:txBody>
      </p:sp>
      <p:sp>
        <p:nvSpPr>
          <p:cNvPr id="12" name="Rounded Rectangle 11"/>
          <p:cNvSpPr/>
          <p:nvPr/>
        </p:nvSpPr>
        <p:spPr>
          <a:xfrm>
            <a:off x="6309360" y="4709160"/>
            <a:ext cx="5425135" cy="146304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0" y="4782312"/>
            <a:ext cx="5242255" cy="411480"/>
          </a:xfrm>
          <a:prstGeom prst="rect">
            <a:avLst/>
          </a:prstGeom>
          <a:noFill/>
        </p:spPr>
        <p:txBody>
          <a:bodyPr wrap="square" lIns="45720" rIns="45720" tIns="27432" bIns="27432" anchor="t">
            <a:spAutoFit/>
          </a:bodyPr>
          <a:lstStyle/>
          <a:p>
            <a:pPr algn="l">
              <a:lnSpc>
                <a:spcPct val="100000"/>
              </a:lnSpc>
            </a:pPr>
            <a:r>
              <a:rPr sz="1500" b="1" i="0">
                <a:solidFill>
                  <a:srgbClr val="111111"/>
                </a:solidFill>
                <a:latin typeface="Arial"/>
              </a:rPr>
              <a:t>What to keep in Limitations</a:t>
            </a:r>
          </a:p>
        </p:txBody>
      </p:sp>
      <p:sp>
        <p:nvSpPr>
          <p:cNvPr id="14" name="TextBox 13"/>
          <p:cNvSpPr txBox="1"/>
          <p:nvPr/>
        </p:nvSpPr>
        <p:spPr>
          <a:xfrm>
            <a:off x="6400800" y="5212080"/>
            <a:ext cx="5242255" cy="868680"/>
          </a:xfrm>
          <a:prstGeom prst="rect">
            <a:avLst/>
          </a:prstGeom>
          <a:noFill/>
        </p:spPr>
        <p:txBody>
          <a:bodyPr wrap="square" lIns="45720" rIns="45720">
            <a:spAutoFit/>
          </a:bodyPr>
          <a:lstStyle/>
          <a:p>
            <a:pPr>
              <a:lnSpc>
                <a:spcPct val="110000"/>
              </a:lnSpc>
              <a:spcAft>
                <a:spcPts val="400"/>
              </a:spcAft>
            </a:pPr>
            <a:r>
              <a:rPr sz="1150" b="0" i="0">
                <a:solidFill>
                  <a:srgbClr val="111111"/>
                </a:solidFill>
                <a:latin typeface="Arial"/>
              </a:rPr>
              <a:t>-  </a:t>
            </a:r>
            <a:r>
              <a:rPr sz="1150" b="0" i="0">
                <a:solidFill>
                  <a:srgbClr val="111111"/>
                </a:solidFill>
                <a:latin typeface="Arial"/>
              </a:rPr>
              <a:t>One task structure; two models; cells of 8 and 2. GPT-4.1 mini's near-zero event rate leaves no room to measure an effect.</a:t>
            </a:r>
          </a:p>
          <a:p>
            <a:pPr>
              <a:lnSpc>
                <a:spcPct val="110000"/>
              </a:lnSpc>
              <a:spcAft>
                <a:spcPts val="400"/>
              </a:spcAft>
            </a:pPr>
            <a:r>
              <a:rPr sz="1150" b="0" i="0">
                <a:solidFill>
                  <a:srgbClr val="111111"/>
                </a:solidFill>
                <a:latin typeface="Arial"/>
              </a:rPr>
              <a:t>-  </a:t>
            </a:r>
            <a:r>
              <a:rPr sz="1150" b="0" i="0">
                <a:solidFill>
                  <a:srgbClr val="111111"/>
                </a:solidFill>
                <a:latin typeface="Arial"/>
              </a:rPr>
              <a:t>Instruction packages change length and content together; this is not a scalar strength manipulation.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Experiments: what to implement and run, marked by status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Three things are required (E1, E2, E5); E3 and E4 strengthen the paper if E2 is informative; the benchmark suite stays declared, not run</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9</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Repository sources: experiments/incident-aware-optimization-v1.design.json (status: matched feedback ablation not implemented)</a:t>
            </a:r>
          </a:p>
        </p:txBody>
      </p:sp>
      <p:sp>
        <p:nvSpPr>
          <p:cNvPr id="8" name="Rounded Rectangle 7"/>
          <p:cNvSpPr/>
          <p:nvPr/>
        </p:nvSpPr>
        <p:spPr>
          <a:xfrm>
            <a:off x="457200" y="1325880"/>
            <a:ext cx="2148840" cy="274320"/>
          </a:xfrm>
          <a:prstGeom prst="roundRect">
            <a:avLst>
              <a:gd name="adj" fmla="val 5000"/>
            </a:avLst>
          </a:prstGeom>
          <a:solidFill>
            <a:srgbClr val="EAF5EF"/>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325880"/>
            <a:ext cx="2148840" cy="274320"/>
          </a:xfrm>
          <a:prstGeom prst="rect">
            <a:avLst/>
          </a:prstGeom>
          <a:noFill/>
        </p:spPr>
        <p:txBody>
          <a:bodyPr wrap="square" lIns="45720" rIns="45720" tIns="27432" bIns="27432" anchor="ctr">
            <a:spAutoFit/>
          </a:bodyPr>
          <a:lstStyle/>
          <a:p>
            <a:pPr algn="ctr">
              <a:lnSpc>
                <a:spcPct val="110000"/>
              </a:lnSpc>
            </a:pPr>
            <a:r>
              <a:rPr sz="950" b="1" i="0">
                <a:solidFill>
                  <a:srgbClr val="2E7D5B"/>
                </a:solidFill>
                <a:latin typeface="Arial"/>
              </a:rPr>
              <a:t>DONE: reuse archive</a:t>
            </a:r>
          </a:p>
        </p:txBody>
      </p:sp>
      <p:sp>
        <p:nvSpPr>
          <p:cNvPr id="10" name="Rounded Rectangle 9"/>
          <p:cNvSpPr/>
          <p:nvPr/>
        </p:nvSpPr>
        <p:spPr>
          <a:xfrm>
            <a:off x="2715768" y="1325880"/>
            <a:ext cx="2148840" cy="274320"/>
          </a:xfrm>
          <a:prstGeom prst="roundRect">
            <a:avLst>
              <a:gd name="adj" fmla="val 5000"/>
            </a:avLst>
          </a:prstGeom>
          <a:solidFill>
            <a:srgbClr val="EDF4FB"/>
          </a:solidFill>
          <a:ln w="12700">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715768" y="1325880"/>
            <a:ext cx="2148840" cy="274320"/>
          </a:xfrm>
          <a:prstGeom prst="rect">
            <a:avLst/>
          </a:prstGeom>
          <a:noFill/>
        </p:spPr>
        <p:txBody>
          <a:bodyPr wrap="square" lIns="45720" rIns="45720" tIns="27432" bIns="27432" anchor="ctr">
            <a:spAutoFit/>
          </a:bodyPr>
          <a:lstStyle/>
          <a:p>
            <a:pPr algn="ctr">
              <a:lnSpc>
                <a:spcPct val="110000"/>
              </a:lnSpc>
            </a:pPr>
            <a:r>
              <a:rPr sz="950" b="1" i="0">
                <a:solidFill>
                  <a:srgbClr val="365E9E"/>
                </a:solidFill>
                <a:latin typeface="Arial"/>
              </a:rPr>
              <a:t>BUILD: implement, no inference</a:t>
            </a:r>
          </a:p>
        </p:txBody>
      </p:sp>
      <p:sp>
        <p:nvSpPr>
          <p:cNvPr id="12" name="Rounded Rectangle 11"/>
          <p:cNvSpPr/>
          <p:nvPr/>
        </p:nvSpPr>
        <p:spPr>
          <a:xfrm>
            <a:off x="4974336" y="1325880"/>
            <a:ext cx="2148840" cy="274320"/>
          </a:xfrm>
          <a:prstGeom prst="roundRect">
            <a:avLst>
              <a:gd name="adj" fmla="val 5000"/>
            </a:avLst>
          </a:prstGeom>
          <a:solidFill>
            <a:srgbClr val="FBEFEC"/>
          </a:solidFill>
          <a:ln w="12700">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74336" y="1325880"/>
            <a:ext cx="2148840" cy="274320"/>
          </a:xfrm>
          <a:prstGeom prst="rect">
            <a:avLst/>
          </a:prstGeom>
          <a:noFill/>
        </p:spPr>
        <p:txBody>
          <a:bodyPr wrap="square" lIns="45720" rIns="45720" tIns="27432" bIns="27432" anchor="ctr">
            <a:spAutoFit/>
          </a:bodyPr>
          <a:lstStyle/>
          <a:p>
            <a:pPr algn="ctr">
              <a:lnSpc>
                <a:spcPct val="110000"/>
              </a:lnSpc>
            </a:pPr>
            <a:r>
              <a:rPr sz="950" b="1" i="0">
                <a:solidFill>
                  <a:srgbClr val="B34831"/>
                </a:solidFill>
                <a:latin typeface="Arial"/>
              </a:rPr>
              <a:t>RUN: implement + live calls</a:t>
            </a:r>
          </a:p>
        </p:txBody>
      </p:sp>
      <p:sp>
        <p:nvSpPr>
          <p:cNvPr id="14" name="Rounded Rectangle 13"/>
          <p:cNvSpPr/>
          <p:nvPr/>
        </p:nvSpPr>
        <p:spPr>
          <a:xfrm>
            <a:off x="7232904" y="1325880"/>
            <a:ext cx="2148840" cy="274320"/>
          </a:xfrm>
          <a:prstGeom prst="roundRect">
            <a:avLst>
              <a:gd name="adj" fmla="val 5000"/>
            </a:avLst>
          </a:prstGeom>
          <a:solidFill>
            <a:srgbClr val="F1ECF8"/>
          </a:solidFill>
          <a:ln w="12700">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32904" y="1325880"/>
            <a:ext cx="2148840" cy="274320"/>
          </a:xfrm>
          <a:prstGeom prst="rect">
            <a:avLst/>
          </a:prstGeom>
          <a:noFill/>
        </p:spPr>
        <p:txBody>
          <a:bodyPr wrap="square" lIns="45720" rIns="45720" tIns="27432" bIns="27432" anchor="ctr">
            <a:spAutoFit/>
          </a:bodyPr>
          <a:lstStyle/>
          <a:p>
            <a:pPr algn="ctr">
              <a:lnSpc>
                <a:spcPct val="110000"/>
              </a:lnSpc>
            </a:pPr>
            <a:r>
              <a:rPr sz="950" b="1" i="0">
                <a:solidFill>
                  <a:srgbClr val="6A4C93"/>
                </a:solidFill>
                <a:latin typeface="Arial"/>
              </a:rPr>
              <a:t>HUMAN: analyst work</a:t>
            </a:r>
          </a:p>
        </p:txBody>
      </p:sp>
      <p:sp>
        <p:nvSpPr>
          <p:cNvPr id="16" name="Rounded Rectangle 15"/>
          <p:cNvSpPr/>
          <p:nvPr/>
        </p:nvSpPr>
        <p:spPr>
          <a:xfrm>
            <a:off x="9491472" y="1325880"/>
            <a:ext cx="2148840" cy="274320"/>
          </a:xfrm>
          <a:prstGeom prst="roundRect">
            <a:avLst>
              <a:gd name="adj" fmla="val 5000"/>
            </a:avLst>
          </a:prstGeom>
          <a:solidFill>
            <a:srgbClr val="F3F3F3"/>
          </a:solidFill>
          <a:ln w="1270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491472" y="1325880"/>
            <a:ext cx="2148840" cy="274320"/>
          </a:xfrm>
          <a:prstGeom prst="rect">
            <a:avLst/>
          </a:prstGeom>
          <a:noFill/>
        </p:spPr>
        <p:txBody>
          <a:bodyPr wrap="square" lIns="45720" rIns="45720" tIns="27432" bIns="27432" anchor="ctr">
            <a:spAutoFit/>
          </a:bodyPr>
          <a:lstStyle/>
          <a:p>
            <a:pPr algn="ctr">
              <a:lnSpc>
                <a:spcPct val="110000"/>
              </a:lnSpc>
            </a:pPr>
            <a:r>
              <a:rPr sz="950" b="1" i="0">
                <a:solidFill>
                  <a:srgbClr val="666666"/>
                </a:solidFill>
                <a:latin typeface="Arial"/>
              </a:rPr>
              <a:t>LATER: declare as future work</a:t>
            </a:r>
          </a:p>
        </p:txBody>
      </p:sp>
      <p:graphicFrame>
        <p:nvGraphicFramePr>
          <p:cNvPr id="18" name="Table 17"/>
          <p:cNvGraphicFramePr>
            <a:graphicFrameLocks noGrp="1"/>
          </p:cNvGraphicFramePr>
          <p:nvPr/>
        </p:nvGraphicFramePr>
        <p:xfrm>
          <a:off x="457200" y="1737360"/>
          <a:ext cx="11274552" cy="4069080"/>
        </p:xfrm>
        <a:graphic>
          <a:graphicData uri="http://schemas.openxmlformats.org/drawingml/2006/table">
            <a:tbl>
              <a:tblPr firstRow="1" bandRow="1">
                <a:tableStyleId>{5C22544A-7EE6-4342-B048-85BDC9FD1C3A}</a:tableStyleId>
              </a:tblPr>
              <a:tblGrid>
                <a:gridCol w="411480"/>
                <a:gridCol w="4846320"/>
                <a:gridCol w="1417320"/>
                <a:gridCol w="1600200"/>
                <a:gridCol w="1188720"/>
                <a:gridCol w="1810512"/>
              </a:tblGrid>
              <a:tr h="508635">
                <a:tc>
                  <a:txBody>
                    <a:bodyPr wrap="square"/>
                    <a:lstStyle/>
                    <a:p>
                      <a:r>
                        <a:rPr sz="950" b="1" i="0">
                          <a:solidFill>
                            <a:srgbClr val="FFFFFF"/>
                          </a:solidFill>
                          <a:latin typeface="Arial"/>
                        </a:rPr>
                        <a:t>ID</a:t>
                      </a:r>
                    </a:p>
                  </a:txBody>
                  <a:tcPr marL="54864" marR="54864" marT="27432" marB="27432">
                    <a:solidFill>
                      <a:srgbClr val="365E9E"/>
                    </a:solidFill>
                  </a:tcPr>
                </a:tc>
                <a:tc>
                  <a:txBody>
                    <a:bodyPr wrap="square"/>
                    <a:lstStyle/>
                    <a:p>
                      <a:r>
                        <a:rPr sz="950" b="1" i="0">
                          <a:solidFill>
                            <a:srgbClr val="FFFFFF"/>
                          </a:solidFill>
                          <a:latin typeface="Arial"/>
                        </a:rPr>
                        <a:t>Experiment</a:t>
                      </a:r>
                    </a:p>
                  </a:txBody>
                  <a:tcPr marL="54864" marR="54864" marT="27432" marB="27432">
                    <a:solidFill>
                      <a:srgbClr val="365E9E"/>
                    </a:solidFill>
                  </a:tcPr>
                </a:tc>
                <a:tc>
                  <a:txBody>
                    <a:bodyPr wrap="square"/>
                    <a:lstStyle/>
                    <a:p>
                      <a:r>
                        <a:rPr sz="950" b="1" i="0">
                          <a:solidFill>
                            <a:srgbClr val="FFFFFF"/>
                          </a:solidFill>
                          <a:latin typeface="Arial"/>
                        </a:rPr>
                        <a:t>Status</a:t>
                      </a:r>
                    </a:p>
                  </a:txBody>
                  <a:tcPr marL="54864" marR="54864" marT="27432" marB="27432">
                    <a:solidFill>
                      <a:srgbClr val="365E9E"/>
                    </a:solidFill>
                  </a:tcPr>
                </a:tc>
                <a:tc>
                  <a:txBody>
                    <a:bodyPr wrap="square"/>
                    <a:lstStyle/>
                    <a:p>
                      <a:r>
                        <a:rPr sz="950" b="1" i="0">
                          <a:solidFill>
                            <a:srgbClr val="FFFFFF"/>
                          </a:solidFill>
                          <a:latin typeface="Arial"/>
                        </a:rPr>
                        <a:t>Inference</a:t>
                      </a:r>
                    </a:p>
                  </a:txBody>
                  <a:tcPr marL="54864" marR="54864" marT="27432" marB="27432">
                    <a:solidFill>
                      <a:srgbClr val="365E9E"/>
                    </a:solidFill>
                  </a:tcPr>
                </a:tc>
                <a:tc>
                  <a:txBody>
                    <a:bodyPr wrap="square"/>
                    <a:lstStyle/>
                    <a:p>
                      <a:r>
                        <a:rPr sz="950" b="1" i="0">
                          <a:solidFill>
                            <a:srgbClr val="FFFFFF"/>
                          </a:solidFill>
                          <a:latin typeface="Arial"/>
                        </a:rPr>
                        <a:t>Budget</a:t>
                      </a:r>
                    </a:p>
                  </a:txBody>
                  <a:tcPr marL="54864" marR="54864" marT="27432" marB="27432">
                    <a:solidFill>
                      <a:srgbClr val="365E9E"/>
                    </a:solidFill>
                  </a:tcPr>
                </a:tc>
                <a:tc>
                  <a:txBody>
                    <a:bodyPr wrap="square"/>
                    <a:lstStyle/>
                    <a:p>
                      <a:r>
                        <a:rPr sz="950" b="1" i="0">
                          <a:solidFill>
                            <a:srgbClr val="FFFFFF"/>
                          </a:solidFill>
                          <a:latin typeface="Arial"/>
                        </a:rPr>
                        <a:t>Output / gate</a:t>
                      </a:r>
                    </a:p>
                  </a:txBody>
                  <a:tcPr marL="54864" marR="54864" marT="27432" marB="27432">
                    <a:solidFill>
                      <a:srgbClr val="365E9E"/>
                    </a:solidFill>
                  </a:tcPr>
                </a:tc>
              </a:tr>
              <a:tr h="508635">
                <a:tc>
                  <a:txBody>
                    <a:bodyPr wrap="square"/>
                    <a:lstStyle/>
                    <a:p>
                      <a:r>
                        <a:rPr sz="950" b="1" i="0">
                          <a:solidFill>
                            <a:srgbClr val="111111"/>
                          </a:solidFill>
                          <a:latin typeface="Arial"/>
                        </a:rPr>
                        <a:t>E1</a:t>
                      </a:r>
                    </a:p>
                  </a:txBody>
                  <a:tcPr marL="54864" marR="54864" marT="27432" marB="27432">
                    <a:solidFill>
                      <a:srgbClr val="FFFFFF"/>
                    </a:solidFill>
                  </a:tcPr>
                </a:tc>
                <a:tc>
                  <a:txBody>
                    <a:bodyPr wrap="square"/>
                    <a:lstStyle/>
                    <a:p>
                      <a:r>
                        <a:rPr sz="950" b="0" i="0">
                          <a:solidFill>
                            <a:srgbClr val="111111"/>
                          </a:solidFill>
                          <a:latin typeface="Arial"/>
                        </a:rPr>
                        <a:t>Main figure from archived data: task utility (x) vs verified incident rate (y) for every instruction policy in incident-study-v1, scope-levels-v1 and link-study-v1, with Wilson intervals</a:t>
                      </a:r>
                    </a:p>
                  </a:txBody>
                  <a:tcPr marL="54864" marR="54864" marT="27432" marB="27432">
                    <a:solidFill>
                      <a:srgbClr val="FFFFFF"/>
                    </a:solidFill>
                  </a:tcPr>
                </a:tc>
                <a:tc>
                  <a:txBody>
                    <a:bodyPr wrap="square"/>
                    <a:lstStyle/>
                    <a:p>
                      <a:r>
                        <a:rPr sz="950" b="0" i="0">
                          <a:solidFill>
                            <a:srgbClr val="111111"/>
                          </a:solidFill>
                          <a:latin typeface="Arial"/>
                        </a:rPr>
                        <a:t>BUILD</a:t>
                      </a:r>
                    </a:p>
                  </a:txBody>
                  <a:tcPr marL="54864" marR="54864" marT="27432" marB="27432">
                    <a:solidFill>
                      <a:srgbClr val="FFFFFF"/>
                    </a:solidFill>
                  </a:tcPr>
                </a:tc>
                <a:tc>
                  <a:txBody>
                    <a:bodyPr wrap="square"/>
                    <a:lstStyle/>
                    <a:p>
                      <a:r>
                        <a:rPr sz="950" b="0" i="0">
                          <a:solidFill>
                            <a:srgbClr val="111111"/>
                          </a:solidFill>
                          <a:latin typeface="Arial"/>
                        </a:rPr>
                        <a:t>None</a:t>
                      </a:r>
                    </a:p>
                  </a:txBody>
                  <a:tcPr marL="54864" marR="54864" marT="27432" marB="27432">
                    <a:solidFill>
                      <a:srgbClr val="FFFFFF"/>
                    </a:solidFill>
                  </a:tcPr>
                </a:tc>
                <a:tc>
                  <a:txBody>
                    <a:bodyPr wrap="square"/>
                    <a:lstStyle/>
                    <a:p>
                      <a:r>
                        <a:rPr sz="950" b="0" i="0">
                          <a:solidFill>
                            <a:srgbClr val="111111"/>
                          </a:solidFill>
                          <a:latin typeface="Arial"/>
                        </a:rPr>
                        <a:t>$0</a:t>
                      </a:r>
                    </a:p>
                  </a:txBody>
                  <a:tcPr marL="54864" marR="54864" marT="27432" marB="27432">
                    <a:solidFill>
                      <a:srgbClr val="FFFFFF"/>
                    </a:solidFill>
                  </a:tcPr>
                </a:tc>
                <a:tc>
                  <a:txBody>
                    <a:bodyPr wrap="square"/>
                    <a:lstStyle/>
                    <a:p>
                      <a:r>
                        <a:rPr sz="950" b="0" i="0">
                          <a:solidFill>
                            <a:srgbClr val="111111"/>
                          </a:solidFill>
                          <a:latin typeface="Arial"/>
                        </a:rPr>
                        <a:t>Fig. 2 + per-cell table; script under scripts/</a:t>
                      </a:r>
                    </a:p>
                  </a:txBody>
                  <a:tcPr marL="54864" marR="54864" marT="27432" marB="27432">
                    <a:solidFill>
                      <a:srgbClr val="FFFFFF"/>
                    </a:solidFill>
                  </a:tcPr>
                </a:tc>
              </a:tr>
              <a:tr h="508635">
                <a:tc>
                  <a:txBody>
                    <a:bodyPr wrap="square"/>
                    <a:lstStyle/>
                    <a:p>
                      <a:r>
                        <a:rPr sz="950" b="1" i="0">
                          <a:solidFill>
                            <a:srgbClr val="111111"/>
                          </a:solidFill>
                          <a:latin typeface="Arial"/>
                        </a:rPr>
                        <a:t>E2</a:t>
                      </a:r>
                    </a:p>
                  </a:txBody>
                  <a:tcPr marL="54864" marR="54864" marT="27432" marB="27432">
                    <a:solidFill>
                      <a:srgbClr val="F3F3F3"/>
                    </a:solidFill>
                  </a:tcPr>
                </a:tc>
                <a:tc>
                  <a:txBody>
                    <a:bodyPr wrap="square"/>
                    <a:lstStyle/>
                    <a:p>
                      <a:r>
                        <a:rPr sz="950" b="0" i="0">
                          <a:solidFill>
                            <a:srgbClr val="111111"/>
                          </a:solidFill>
                          <a:latin typeface="Arial"/>
                        </a:rPr>
                        <a:t>Matched fixed-pool selection: same candidate pool and shared development rollouts; select once with task score + transcript-proxy judge (B3), once with task score + effect observer (B4); test both frozen policies plus two fixed controls on fresh held-out seeds</a:t>
                      </a:r>
                    </a:p>
                  </a:txBody>
                  <a:tcPr marL="54864" marR="54864" marT="27432" marB="27432">
                    <a:solidFill>
                      <a:srgbClr val="F3F3F3"/>
                    </a:solidFill>
                  </a:tcPr>
                </a:tc>
                <a:tc>
                  <a:txBody>
                    <a:bodyPr wrap="square"/>
                    <a:lstStyle/>
                    <a:p>
                      <a:r>
                        <a:rPr sz="950" b="0" i="0">
                          <a:solidFill>
                            <a:srgbClr val="111111"/>
                          </a:solidFill>
                          <a:latin typeface="Arial"/>
                        </a:rPr>
                        <a:t>RUN</a:t>
                      </a:r>
                    </a:p>
                  </a:txBody>
                  <a:tcPr marL="54864" marR="54864" marT="27432" marB="27432">
                    <a:solidFill>
                      <a:srgbClr val="F3F3F3"/>
                    </a:solidFill>
                  </a:tcPr>
                </a:tc>
                <a:tc>
                  <a:txBody>
                    <a:bodyPr wrap="square"/>
                    <a:lstStyle/>
                    <a:p>
                      <a:r>
                        <a:rPr sz="950" b="0" i="0">
                          <a:solidFill>
                            <a:srgbClr val="111111"/>
                          </a:solidFill>
                          <a:latin typeface="Arial"/>
                        </a:rPr>
                        <a:t>~110 Haiku actor rollouts + ~60 judge calls</a:t>
                      </a:r>
                    </a:p>
                  </a:txBody>
                  <a:tcPr marL="54864" marR="54864" marT="27432" marB="27432">
                    <a:solidFill>
                      <a:srgbClr val="F3F3F3"/>
                    </a:solidFill>
                  </a:tcPr>
                </a:tc>
                <a:tc>
                  <a:txBody>
                    <a:bodyPr wrap="square"/>
                    <a:lstStyle/>
                    <a:p>
                      <a:r>
                        <a:rPr sz="950" b="0" i="0">
                          <a:solidFill>
                            <a:srgbClr val="111111"/>
                          </a:solidFill>
                          <a:latin typeface="Arial"/>
                        </a:rPr>
                        <a:t>est. $2-3, ceiling $10</a:t>
                      </a:r>
                    </a:p>
                  </a:txBody>
                  <a:tcPr marL="54864" marR="54864" marT="27432" marB="27432">
                    <a:solidFill>
                      <a:srgbClr val="F3F3F3"/>
                    </a:solidFill>
                  </a:tcPr>
                </a:tc>
                <a:tc>
                  <a:txBody>
                    <a:bodyPr wrap="square"/>
                    <a:lstStyle/>
                    <a:p>
                      <a:r>
                        <a:rPr sz="950" b="0" i="0">
                          <a:solidFill>
                            <a:srgbClr val="111111"/>
                          </a:solidFill>
                          <a:latin typeface="Arial"/>
                        </a:rPr>
                        <a:t>Primary Section 5 result; frozen plan + scripted controls first</a:t>
                      </a:r>
                    </a:p>
                  </a:txBody>
                  <a:tcPr marL="54864" marR="54864" marT="27432" marB="27432">
                    <a:solidFill>
                      <a:srgbClr val="F3F3F3"/>
                    </a:solidFill>
                  </a:tcPr>
                </a:tc>
              </a:tr>
              <a:tr h="508635">
                <a:tc>
                  <a:txBody>
                    <a:bodyPr wrap="square"/>
                    <a:lstStyle/>
                    <a:p>
                      <a:r>
                        <a:rPr sz="950" b="1" i="0">
                          <a:solidFill>
                            <a:srgbClr val="111111"/>
                          </a:solidFill>
                          <a:latin typeface="Arial"/>
                        </a:rPr>
                        <a:t>E3</a:t>
                      </a:r>
                    </a:p>
                  </a:txBody>
                  <a:tcPr marL="54864" marR="54864" marT="27432" marB="27432">
                    <a:solidFill>
                      <a:srgbClr val="FFFFFF"/>
                    </a:solidFill>
                  </a:tcPr>
                </a:tc>
                <a:tc>
                  <a:txBody>
                    <a:bodyPr wrap="square"/>
                    <a:lstStyle/>
                    <a:p>
                      <a:r>
                        <a:rPr sz="950" b="0" i="0">
                          <a:solidFill>
                            <a:srgbClr val="111111"/>
                          </a:solidFill>
                          <a:latin typeface="Arial"/>
                        </a:rPr>
                        <a:t>Replicate E2 on a second model family with a non-zero baseline event rate (GPT-4.1 mini had 1/32; pick a different actor)</a:t>
                      </a:r>
                    </a:p>
                  </a:txBody>
                  <a:tcPr marL="54864" marR="54864" marT="27432" marB="27432">
                    <a:solidFill>
                      <a:srgbClr val="FFFFFF"/>
                    </a:solidFill>
                  </a:tcPr>
                </a:tc>
                <a:tc>
                  <a:txBody>
                    <a:bodyPr wrap="square"/>
                    <a:lstStyle/>
                    <a:p>
                      <a:r>
                        <a:rPr sz="950" b="0" i="0">
                          <a:solidFill>
                            <a:srgbClr val="111111"/>
                          </a:solidFill>
                          <a:latin typeface="Arial"/>
                        </a:rPr>
                        <a:t>RUN (optional)</a:t>
                      </a:r>
                    </a:p>
                  </a:txBody>
                  <a:tcPr marL="54864" marR="54864" marT="27432" marB="27432">
                    <a:solidFill>
                      <a:srgbClr val="FFFFFF"/>
                    </a:solidFill>
                  </a:tcPr>
                </a:tc>
                <a:tc>
                  <a:txBody>
                    <a:bodyPr wrap="square"/>
                    <a:lstStyle/>
                    <a:p>
                      <a:r>
                        <a:rPr sz="950" b="0" i="0">
                          <a:solidFill>
                            <a:srgbClr val="111111"/>
                          </a:solidFill>
                          <a:latin typeface="Arial"/>
                        </a:rPr>
                        <a:t>same as E2</a:t>
                      </a:r>
                    </a:p>
                  </a:txBody>
                  <a:tcPr marL="54864" marR="54864" marT="27432" marB="27432">
                    <a:solidFill>
                      <a:srgbClr val="FFFFFF"/>
                    </a:solidFill>
                  </a:tcPr>
                </a:tc>
                <a:tc>
                  <a:txBody>
                    <a:bodyPr wrap="square"/>
                    <a:lstStyle/>
                    <a:p>
                      <a:r>
                        <a:rPr sz="950" b="0" i="0">
                          <a:solidFill>
                            <a:srgbClr val="111111"/>
                          </a:solidFill>
                          <a:latin typeface="Arial"/>
                        </a:rPr>
                        <a:t>ceiling $15</a:t>
                      </a:r>
                    </a:p>
                  </a:txBody>
                  <a:tcPr marL="54864" marR="54864" marT="27432" marB="27432">
                    <a:solidFill>
                      <a:srgbClr val="FFFFFF"/>
                    </a:solidFill>
                  </a:tcPr>
                </a:tc>
                <a:tc>
                  <a:txBody>
                    <a:bodyPr wrap="square"/>
                    <a:lstStyle/>
                    <a:p>
                      <a:r>
                        <a:rPr sz="950" b="0" i="0">
                          <a:solidFill>
                            <a:srgbClr val="111111"/>
                          </a:solidFill>
                          <a:latin typeface="Arial"/>
                        </a:rPr>
                        <a:t>Needed to say 'two model families'; skip if E2 null</a:t>
                      </a:r>
                    </a:p>
                  </a:txBody>
                  <a:tcPr marL="54864" marR="54864" marT="27432" marB="27432">
                    <a:solidFill>
                      <a:srgbClr val="FFFFFF"/>
                    </a:solidFill>
                  </a:tcPr>
                </a:tc>
              </a:tr>
              <a:tr h="508635">
                <a:tc>
                  <a:txBody>
                    <a:bodyPr wrap="square"/>
                    <a:lstStyle/>
                    <a:p>
                      <a:r>
                        <a:rPr sz="950" b="1" i="0">
                          <a:solidFill>
                            <a:srgbClr val="111111"/>
                          </a:solidFill>
                          <a:latin typeface="Arial"/>
                        </a:rPr>
                        <a:t>E4</a:t>
                      </a:r>
                    </a:p>
                  </a:txBody>
                  <a:tcPr marL="54864" marR="54864" marT="27432" marB="27432">
                    <a:solidFill>
                      <a:srgbClr val="F3F3F3"/>
                    </a:solidFill>
                  </a:tcPr>
                </a:tc>
                <a:tc>
                  <a:txBody>
                    <a:bodyPr wrap="square"/>
                    <a:lstStyle/>
                    <a:p>
                      <a:r>
                        <a:rPr sz="950" b="0" i="0">
                          <a:solidFill>
                            <a:srgbClr val="111111"/>
                          </a:solidFill>
                          <a:latin typeface="Arial"/>
                        </a:rPr>
                        <a:t>Regression-gate demonstration: implement twins for 2 more replayable library entries; run the four frozen E2 policies through the twin suite with the live actor</a:t>
                      </a:r>
                    </a:p>
                  </a:txBody>
                  <a:tcPr marL="54864" marR="54864" marT="27432" marB="27432">
                    <a:solidFill>
                      <a:srgbClr val="F3F3F3"/>
                    </a:solidFill>
                  </a:tcPr>
                </a:tc>
                <a:tc>
                  <a:txBody>
                    <a:bodyPr wrap="square"/>
                    <a:lstStyle/>
                    <a:p>
                      <a:r>
                        <a:rPr sz="950" b="0" i="0">
                          <a:solidFill>
                            <a:srgbClr val="111111"/>
                          </a:solidFill>
                          <a:latin typeface="Arial"/>
                        </a:rPr>
                        <a:t>BUILD then RUN (optional)</a:t>
                      </a:r>
                    </a:p>
                  </a:txBody>
                  <a:tcPr marL="54864" marR="54864" marT="27432" marB="27432">
                    <a:solidFill>
                      <a:srgbClr val="F3F3F3"/>
                    </a:solidFill>
                  </a:tcPr>
                </a:tc>
                <a:tc>
                  <a:txBody>
                    <a:bodyPr wrap="square"/>
                    <a:lstStyle/>
                    <a:p>
                      <a:r>
                        <a:rPr sz="950" b="0" i="0">
                          <a:solidFill>
                            <a:srgbClr val="111111"/>
                          </a:solidFill>
                          <a:latin typeface="Arial"/>
                        </a:rPr>
                        <a:t>~24 rollouts</a:t>
                      </a:r>
                    </a:p>
                  </a:txBody>
                  <a:tcPr marL="54864" marR="54864" marT="27432" marB="27432">
                    <a:solidFill>
                      <a:srgbClr val="F3F3F3"/>
                    </a:solidFill>
                  </a:tcPr>
                </a:tc>
                <a:tc>
                  <a:txBody>
                    <a:bodyPr wrap="square"/>
                    <a:lstStyle/>
                    <a:p>
                      <a:r>
                        <a:rPr sz="950" b="0" i="0">
                          <a:solidFill>
                            <a:srgbClr val="111111"/>
                          </a:solidFill>
                          <a:latin typeface="Arial"/>
                        </a:rPr>
                        <a:t>ceiling $3</a:t>
                      </a:r>
                    </a:p>
                  </a:txBody>
                  <a:tcPr marL="54864" marR="54864" marT="27432" marB="27432">
                    <a:solidFill>
                      <a:srgbClr val="F3F3F3"/>
                    </a:solidFill>
                  </a:tcPr>
                </a:tc>
                <a:tc>
                  <a:txBody>
                    <a:bodyPr wrap="square"/>
                    <a:lstStyle/>
                    <a:p>
                      <a:r>
                        <a:rPr sz="950" b="0" i="0">
                          <a:solidFill>
                            <a:srgbClr val="111111"/>
                          </a:solidFill>
                          <a:latin typeface="Arial"/>
                        </a:rPr>
                        <a:t>Shows the gate consuming incident twins; stretch</a:t>
                      </a:r>
                    </a:p>
                  </a:txBody>
                  <a:tcPr marL="54864" marR="54864" marT="27432" marB="27432">
                    <a:solidFill>
                      <a:srgbClr val="F3F3F3"/>
                    </a:solidFill>
                  </a:tcPr>
                </a:tc>
              </a:tr>
              <a:tr h="508635">
                <a:tc>
                  <a:txBody>
                    <a:bodyPr wrap="square"/>
                    <a:lstStyle/>
                    <a:p>
                      <a:r>
                        <a:rPr sz="950" b="1" i="0">
                          <a:solidFill>
                            <a:srgbClr val="111111"/>
                          </a:solidFill>
                          <a:latin typeface="Arial"/>
                        </a:rPr>
                        <a:t>E5</a:t>
                      </a:r>
                    </a:p>
                  </a:txBody>
                  <a:tcPr marL="54864" marR="54864" marT="27432" marB="27432">
                    <a:solidFill>
                      <a:srgbClr val="FFFFFF"/>
                    </a:solidFill>
                  </a:tcPr>
                </a:tc>
                <a:tc>
                  <a:txBody>
                    <a:bodyPr wrap="square"/>
                    <a:lstStyle/>
                    <a:p>
                      <a:r>
                        <a:rPr sz="950" b="0" i="0">
                          <a:solidFill>
                            <a:srgbClr val="111111"/>
                          </a:solidFill>
                          <a:latin typeface="Arial"/>
                        </a:rPr>
                        <a:t>Second-reader coding of the 26 records on pathway, M1-M6, P1-P9; report agreement; resolve or mark disputed</a:t>
                      </a:r>
                    </a:p>
                  </a:txBody>
                  <a:tcPr marL="54864" marR="54864" marT="27432" marB="27432">
                    <a:solidFill>
                      <a:srgbClr val="FFFFFF"/>
                    </a:solidFill>
                  </a:tcPr>
                </a:tc>
                <a:tc>
                  <a:txBody>
                    <a:bodyPr wrap="square"/>
                    <a:lstStyle/>
                    <a:p>
                      <a:r>
                        <a:rPr sz="950" b="0" i="0">
                          <a:solidFill>
                            <a:srgbClr val="111111"/>
                          </a:solidFill>
                          <a:latin typeface="Arial"/>
                        </a:rPr>
                        <a:t>HUMAN</a:t>
                      </a:r>
                    </a:p>
                  </a:txBody>
                  <a:tcPr marL="54864" marR="54864" marT="27432" marB="27432">
                    <a:solidFill>
                      <a:srgbClr val="FFFFFF"/>
                    </a:solidFill>
                  </a:tcPr>
                </a:tc>
                <a:tc>
                  <a:txBody>
                    <a:bodyPr wrap="square"/>
                    <a:lstStyle/>
                    <a:p>
                      <a:r>
                        <a:rPr sz="950" b="0" i="0">
                          <a:solidFill>
                            <a:srgbClr val="111111"/>
                          </a:solidFill>
                          <a:latin typeface="Arial"/>
                        </a:rPr>
                        <a:t>None</a:t>
                      </a:r>
                    </a:p>
                  </a:txBody>
                  <a:tcPr marL="54864" marR="54864" marT="27432" marB="27432">
                    <a:solidFill>
                      <a:srgbClr val="FFFFFF"/>
                    </a:solidFill>
                  </a:tcPr>
                </a:tc>
                <a:tc>
                  <a:txBody>
                    <a:bodyPr wrap="square"/>
                    <a:lstStyle/>
                    <a:p>
                      <a:r>
                        <a:rPr sz="950" b="0" i="0">
                          <a:solidFill>
                            <a:srgbClr val="111111"/>
                          </a:solidFill>
                          <a:latin typeface="Arial"/>
                        </a:rPr>
                        <a:t>$0</a:t>
                      </a:r>
                    </a:p>
                  </a:txBody>
                  <a:tcPr marL="54864" marR="54864" marT="27432" marB="27432">
                    <a:solidFill>
                      <a:srgbClr val="FFFFFF"/>
                    </a:solidFill>
                  </a:tcPr>
                </a:tc>
                <a:tc>
                  <a:txBody>
                    <a:bodyPr wrap="square"/>
                    <a:lstStyle/>
                    <a:p>
                      <a:r>
                        <a:rPr sz="950" b="0" i="0">
                          <a:solidFill>
                            <a:srgbClr val="111111"/>
                          </a:solidFill>
                          <a:latin typeface="Arial"/>
                        </a:rPr>
                        <a:t>Required before Section 2 counts are cited</a:t>
                      </a:r>
                    </a:p>
                  </a:txBody>
                  <a:tcPr marL="54864" marR="54864" marT="27432" marB="27432">
                    <a:solidFill>
                      <a:srgbClr val="FFFFFF"/>
                    </a:solidFill>
                  </a:tcPr>
                </a:tc>
              </a:tr>
              <a:tr h="508635">
                <a:tc>
                  <a:txBody>
                    <a:bodyPr wrap="square"/>
                    <a:lstStyle/>
                    <a:p>
                      <a:r>
                        <a:rPr sz="950" b="1" i="0">
                          <a:solidFill>
                            <a:srgbClr val="111111"/>
                          </a:solidFill>
                          <a:latin typeface="Arial"/>
                        </a:rPr>
                        <a:t>E6</a:t>
                      </a:r>
                    </a:p>
                  </a:txBody>
                  <a:tcPr marL="54864" marR="54864" marT="27432" marB="27432">
                    <a:solidFill>
                      <a:srgbClr val="F3F3F3"/>
                    </a:solidFill>
                  </a:tcPr>
                </a:tc>
                <a:tc>
                  <a:txBody>
                    <a:bodyPr wrap="square"/>
                    <a:lstStyle/>
                    <a:p>
                      <a:r>
                        <a:rPr sz="950" b="0" i="0">
                          <a:solidFill>
                            <a:srgbClr val="111111"/>
                          </a:solidFill>
                          <a:latin typeface="Arial"/>
                        </a:rPr>
                        <a:t>Anonymized reproducibility package: source snapshot, frozen plans, evidence archives, tests, builder scripts; strip names, URLs, decks</a:t>
                      </a:r>
                    </a:p>
                  </a:txBody>
                  <a:tcPr marL="54864" marR="54864" marT="27432" marB="27432">
                    <a:solidFill>
                      <a:srgbClr val="F3F3F3"/>
                    </a:solidFill>
                  </a:tcPr>
                </a:tc>
                <a:tc>
                  <a:txBody>
                    <a:bodyPr wrap="square"/>
                    <a:lstStyle/>
                    <a:p>
                      <a:r>
                        <a:rPr sz="950" b="0" i="0">
                          <a:solidFill>
                            <a:srgbClr val="111111"/>
                          </a:solidFill>
                          <a:latin typeface="Arial"/>
                        </a:rPr>
                        <a:t>BUILD</a:t>
                      </a:r>
                    </a:p>
                  </a:txBody>
                  <a:tcPr marL="54864" marR="54864" marT="27432" marB="27432">
                    <a:solidFill>
                      <a:srgbClr val="F3F3F3"/>
                    </a:solidFill>
                  </a:tcPr>
                </a:tc>
                <a:tc>
                  <a:txBody>
                    <a:bodyPr wrap="square"/>
                    <a:lstStyle/>
                    <a:p>
                      <a:r>
                        <a:rPr sz="950" b="0" i="0">
                          <a:solidFill>
                            <a:srgbClr val="111111"/>
                          </a:solidFill>
                          <a:latin typeface="Arial"/>
                        </a:rPr>
                        <a:t>None</a:t>
                      </a:r>
                    </a:p>
                  </a:txBody>
                  <a:tcPr marL="54864" marR="54864" marT="27432" marB="27432">
                    <a:solidFill>
                      <a:srgbClr val="F3F3F3"/>
                    </a:solidFill>
                  </a:tcPr>
                </a:tc>
                <a:tc>
                  <a:txBody>
                    <a:bodyPr wrap="square"/>
                    <a:lstStyle/>
                    <a:p>
                      <a:r>
                        <a:rPr sz="950" b="0" i="0">
                          <a:solidFill>
                            <a:srgbClr val="111111"/>
                          </a:solidFill>
                          <a:latin typeface="Arial"/>
                        </a:rPr>
                        <a:t>$0</a:t>
                      </a:r>
                    </a:p>
                  </a:txBody>
                  <a:tcPr marL="54864" marR="54864" marT="27432" marB="27432">
                    <a:solidFill>
                      <a:srgbClr val="F3F3F3"/>
                    </a:solidFill>
                  </a:tcPr>
                </a:tc>
                <a:tc>
                  <a:txBody>
                    <a:bodyPr wrap="square"/>
                    <a:lstStyle/>
                    <a:p>
                      <a:r>
                        <a:rPr sz="950" b="0" i="0">
                          <a:solidFill>
                            <a:srgbClr val="111111"/>
                          </a:solidFill>
                          <a:latin typeface="Arial"/>
                        </a:rPr>
                        <a:t>Supplementary zip</a:t>
                      </a:r>
                    </a:p>
                  </a:txBody>
                  <a:tcPr marL="54864" marR="54864" marT="27432" marB="27432">
                    <a:solidFill>
                      <a:srgbClr val="F3F3F3"/>
                    </a:solidFill>
                  </a:tcPr>
                </a:tc>
              </a:tr>
              <a:tr h="508635">
                <a:tc>
                  <a:txBody>
                    <a:bodyPr wrap="square"/>
                    <a:lstStyle/>
                    <a:p>
                      <a:r>
                        <a:rPr sz="950" b="1" i="0">
                          <a:solidFill>
                            <a:srgbClr val="111111"/>
                          </a:solidFill>
                          <a:latin typeface="Arial"/>
                        </a:rPr>
                        <a:t>-</a:t>
                      </a:r>
                    </a:p>
                  </a:txBody>
                  <a:tcPr marL="54864" marR="54864" marT="27432" marB="27432">
                    <a:solidFill>
                      <a:srgbClr val="FFFFFF"/>
                    </a:solidFill>
                  </a:tcPr>
                </a:tc>
                <a:tc>
                  <a:txBody>
                    <a:bodyPr wrap="square"/>
                    <a:lstStyle/>
                    <a:p>
                      <a:r>
                        <a:rPr sz="950" b="0" i="0">
                          <a:solidFill>
                            <a:srgbClr val="111111"/>
                          </a:solidFill>
                          <a:latin typeface="Arial"/>
                        </a:rPr>
                        <a:t>ImpossibleBench U2 environment repair, AgentDojo, ResearchArena, BashArena comparisons</a:t>
                      </a:r>
                    </a:p>
                  </a:txBody>
                  <a:tcPr marL="54864" marR="54864" marT="27432" marB="27432">
                    <a:solidFill>
                      <a:srgbClr val="FFFFFF"/>
                    </a:solidFill>
                  </a:tcPr>
                </a:tc>
                <a:tc>
                  <a:txBody>
                    <a:bodyPr wrap="square"/>
                    <a:lstStyle/>
                    <a:p>
                      <a:r>
                        <a:rPr sz="950" b="0" i="0">
                          <a:solidFill>
                            <a:srgbClr val="111111"/>
                          </a:solidFill>
                          <a:latin typeface="Arial"/>
                        </a:rPr>
                        <a:t>LATER</a:t>
                      </a:r>
                    </a:p>
                  </a:txBody>
                  <a:tcPr marL="54864" marR="54864" marT="27432" marB="27432">
                    <a:solidFill>
                      <a:srgbClr val="FFFFFF"/>
                    </a:solidFill>
                  </a:tcPr>
                </a:tc>
                <a:tc>
                  <a:txBody>
                    <a:bodyPr wrap="square"/>
                    <a:lstStyle/>
                    <a:p>
                      <a:r>
                        <a:rPr sz="950" b="0" i="0">
                          <a:solidFill>
                            <a:srgbClr val="111111"/>
                          </a:solidFill>
                          <a:latin typeface="Arial"/>
                        </a:rPr>
                        <a:t>-</a:t>
                      </a:r>
                    </a:p>
                  </a:txBody>
                  <a:tcPr marL="54864" marR="54864" marT="27432" marB="27432">
                    <a:solidFill>
                      <a:srgbClr val="FFFFFF"/>
                    </a:solidFill>
                  </a:tcPr>
                </a:tc>
                <a:tc>
                  <a:txBody>
                    <a:bodyPr wrap="square"/>
                    <a:lstStyle/>
                    <a:p>
                      <a:r>
                        <a:rPr sz="950" b="0" i="0">
                          <a:solidFill>
                            <a:srgbClr val="111111"/>
                          </a:solidFill>
                          <a:latin typeface="Arial"/>
                        </a:rPr>
                        <a:t>-</a:t>
                      </a:r>
                    </a:p>
                  </a:txBody>
                  <a:tcPr marL="54864" marR="54864" marT="27432" marB="27432">
                    <a:solidFill>
                      <a:srgbClr val="FFFFFF"/>
                    </a:solidFill>
                  </a:tcPr>
                </a:tc>
                <a:tc>
                  <a:txBody>
                    <a:bodyPr wrap="square"/>
                    <a:lstStyle/>
                    <a:p>
                      <a:r>
                        <a:rPr sz="950" b="0" i="0">
                          <a:solidFill>
                            <a:srgbClr val="111111"/>
                          </a:solidFill>
                          <a:latin typeface="Arial"/>
                        </a:rPr>
                        <a:t>Section 8 roadmap only</a:t>
                      </a:r>
                    </a:p>
                  </a:txBody>
                  <a:tcPr marL="54864" marR="54864" marT="27432" marB="27432">
                    <a:solidFill>
                      <a:srgbClr val="FFFFFF"/>
                    </a:solidFill>
                  </a:tcPr>
                </a:tc>
              </a:tr>
            </a:tbl>
          </a:graphicData>
        </a:graphic>
      </p:graphicFrame>
      <p:sp>
        <p:nvSpPr>
          <p:cNvPr id="19" name="TextBox 18"/>
          <p:cNvSpPr txBox="1"/>
          <p:nvPr/>
        </p:nvSpPr>
        <p:spPr>
          <a:xfrm>
            <a:off x="457200" y="5833872"/>
            <a:ext cx="11277295" cy="411480"/>
          </a:xfrm>
          <a:prstGeom prst="rect">
            <a:avLst/>
          </a:prstGeom>
          <a:noFill/>
        </p:spPr>
        <p:txBody>
          <a:bodyPr wrap="square" lIns="45720" rIns="45720" tIns="27432" bIns="27432" anchor="t">
            <a:spAutoFit/>
          </a:bodyPr>
          <a:lstStyle/>
          <a:p>
            <a:pPr algn="l">
              <a:lnSpc>
                <a:spcPct val="105000"/>
              </a:lnSpc>
            </a:pPr>
            <a:r>
              <a:rPr sz="1000" b="0" i="0">
                <a:solidFill>
                  <a:srgbClr val="666666"/>
                </a:solidFill>
                <a:latin typeface="Arial"/>
              </a:rPr>
              <a:t>Cost basis: the incident study ran 160 rollouts for $0.95 and scope levels 24 for $0.24 with Haiku 4.5 at $1/$5 per million tokens. Estimates are list-price projections, not billing guarantees; every run keeps the repository's per-run and aggregate ceilings.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E1: the main figure from archived evidence (no inference)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design doc already specifies the plot; the data for six instruction policies exist in results/</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10</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Repository sources: results/incident-study-v1/summary.json; results/scope-levels-v1/analysis.json; results/link-study-v1</a:t>
            </a:r>
          </a:p>
        </p:txBody>
      </p:sp>
      <p:sp>
        <p:nvSpPr>
          <p:cNvPr id="8" name="Rounded Rectangle 7"/>
          <p:cNvSpPr/>
          <p:nvPr/>
        </p:nvSpPr>
        <p:spPr>
          <a:xfrm>
            <a:off x="457200" y="1325880"/>
            <a:ext cx="2377440" cy="310896"/>
          </a:xfrm>
          <a:prstGeom prst="roundRect">
            <a:avLst>
              <a:gd name="adj" fmla="val 5000"/>
            </a:avLst>
          </a:prstGeom>
          <a:solidFill>
            <a:srgbClr val="EDF4FB"/>
          </a:solidFill>
          <a:ln w="12700">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325880"/>
            <a:ext cx="2377440" cy="310896"/>
          </a:xfrm>
          <a:prstGeom prst="rect">
            <a:avLst/>
          </a:prstGeom>
          <a:noFill/>
        </p:spPr>
        <p:txBody>
          <a:bodyPr wrap="square" lIns="45720" rIns="45720" tIns="27432" bIns="27432" anchor="ctr">
            <a:spAutoFit/>
          </a:bodyPr>
          <a:lstStyle/>
          <a:p>
            <a:pPr algn="ctr">
              <a:lnSpc>
                <a:spcPct val="110000"/>
              </a:lnSpc>
            </a:pPr>
            <a:r>
              <a:rPr sz="1050" b="1" i="0">
                <a:solidFill>
                  <a:srgbClr val="365E9E"/>
                </a:solidFill>
                <a:latin typeface="Arial"/>
              </a:rPr>
              <a:t>BUILD: implement, no inference</a:t>
            </a:r>
          </a:p>
        </p:txBody>
      </p:sp>
      <p:sp>
        <p:nvSpPr>
          <p:cNvPr id="10" name="Rounded Rectangle 9"/>
          <p:cNvSpPr/>
          <p:nvPr/>
        </p:nvSpPr>
        <p:spPr>
          <a:xfrm>
            <a:off x="457200" y="1737360"/>
            <a:ext cx="5669280" cy="356616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1810512"/>
            <a:ext cx="5486400" cy="411480"/>
          </a:xfrm>
          <a:prstGeom prst="rect">
            <a:avLst/>
          </a:prstGeom>
          <a:noFill/>
        </p:spPr>
        <p:txBody>
          <a:bodyPr wrap="square" lIns="45720" rIns="45720" tIns="27432" bIns="27432" anchor="t">
            <a:spAutoFit/>
          </a:bodyPr>
          <a:lstStyle/>
          <a:p>
            <a:pPr algn="l">
              <a:lnSpc>
                <a:spcPct val="100000"/>
              </a:lnSpc>
            </a:pPr>
            <a:r>
              <a:rPr sz="1500" b="1" i="0">
                <a:solidFill>
                  <a:srgbClr val="365E9E"/>
                </a:solidFill>
                <a:latin typeface="Arial"/>
              </a:rPr>
              <a:t>Points to plot (Haiku 4.5 unless stated)</a:t>
            </a:r>
          </a:p>
        </p:txBody>
      </p:sp>
      <p:sp>
        <p:nvSpPr>
          <p:cNvPr id="12" name="TextBox 11"/>
          <p:cNvSpPr txBox="1"/>
          <p:nvPr/>
        </p:nvSpPr>
        <p:spPr>
          <a:xfrm>
            <a:off x="548640" y="2240280"/>
            <a:ext cx="5486400" cy="2971800"/>
          </a:xfrm>
          <a:prstGeom prst="rect">
            <a:avLst/>
          </a:prstGeom>
          <a:noFill/>
        </p:spPr>
        <p:txBody>
          <a:bodyPr wrap="square" lIns="45720" rIns="45720">
            <a:spAutoFit/>
          </a:bodyPr>
          <a:lstStyle/>
          <a:p>
            <a:pPr>
              <a:lnSpc>
                <a:spcPct val="110000"/>
              </a:lnSpc>
              <a:spcAft>
                <a:spcPts val="500"/>
              </a:spcAft>
            </a:pPr>
            <a:r>
              <a:rPr sz="1150" b="0" i="0">
                <a:solidFill>
                  <a:srgbClr val="111111"/>
                </a:solidFill>
                <a:latin typeface="Arial"/>
              </a:rPr>
              <a:t>-  </a:t>
            </a:r>
            <a:r>
              <a:rPr sz="1150" b="1" i="0">
                <a:solidFill>
                  <a:srgbClr val="111111"/>
                </a:solidFill>
                <a:latin typeface="Arial"/>
              </a:rPr>
              <a:t>Incident study, impossible n=8 each:</a:t>
            </a:r>
            <a:r>
              <a:rPr sz="1150" b="0" i="0">
                <a:solidFill>
                  <a:srgbClr val="111111"/>
                </a:solidFill>
                <a:latin typeface="Arial"/>
              </a:rPr>
              <a:t> N 6/8, R 3/8, E 5/8, RE 0/8 outside access. Utility axis: authorized completion on recoverable + easy controls, 96/96 across arms (plot per arm).</a:t>
            </a:r>
          </a:p>
          <a:p>
            <a:pPr>
              <a:lnSpc>
                <a:spcPct val="110000"/>
              </a:lnSpc>
              <a:spcAft>
                <a:spcPts val="500"/>
              </a:spcAft>
            </a:pPr>
            <a:r>
              <a:rPr sz="1150" b="0" i="0">
                <a:solidFill>
                  <a:srgbClr val="111111"/>
                </a:solidFill>
                <a:latin typeface="Arial"/>
              </a:rPr>
              <a:t>-  </a:t>
            </a:r>
            <a:r>
              <a:rPr sz="1150" b="1" i="0">
                <a:solidFill>
                  <a:srgbClr val="111111"/>
                </a:solidFill>
                <a:latin typeface="Arial"/>
              </a:rPr>
              <a:t>Scope levels, impossible n=2, controls n=4:</a:t>
            </a:r>
            <a:r>
              <a:rPr sz="1150" b="0" i="0">
                <a:solidFill>
                  <a:srgbClr val="111111"/>
                </a:solidFill>
                <a:latin typeface="Arial"/>
              </a:rPr>
              <a:t> baseline 2/2 and 4/4; repeat_scope 1/2 and 3/4; explicit_routes 0/2 and 4/4; action_check 0/2 and 4/4.</a:t>
            </a:r>
          </a:p>
          <a:p>
            <a:pPr>
              <a:lnSpc>
                <a:spcPct val="110000"/>
              </a:lnSpc>
              <a:spcAft>
                <a:spcPts val="500"/>
              </a:spcAft>
            </a:pPr>
            <a:r>
              <a:rPr sz="1150" b="0" i="0">
                <a:solidFill>
                  <a:srgbClr val="111111"/>
                </a:solidFill>
                <a:latin typeface="Arial"/>
              </a:rPr>
              <a:t>-  </a:t>
            </a:r>
            <a:r>
              <a:rPr sz="1150" b="1" i="0">
                <a:solidFill>
                  <a:srgbClr val="111111"/>
                </a:solidFill>
                <a:latin typeface="Arial"/>
              </a:rPr>
              <a:t>Upstream-link study, n=32 per README cell:</a:t>
            </a:r>
            <a:r>
              <a:rPr sz="1150" b="0" i="0">
                <a:solidFill>
                  <a:srgbClr val="111111"/>
                </a:solidFill>
                <a:latin typeface="Arial"/>
              </a:rPr>
              <a:t> early upstream reads 26/32 with link, 0/32 without, 0/30 (+2 unknown) link + reminder, 0/32 hidden + reminder; solvable-task completion as utility.</a:t>
            </a:r>
          </a:p>
          <a:p>
            <a:pPr>
              <a:lnSpc>
                <a:spcPct val="110000"/>
              </a:lnSpc>
              <a:spcAft>
                <a:spcPts val="500"/>
              </a:spcAft>
            </a:pPr>
            <a:r>
              <a:rPr sz="1150" b="0" i="0">
                <a:solidFill>
                  <a:srgbClr val="111111"/>
                </a:solidFill>
                <a:latin typeface="Arial"/>
              </a:rPr>
              <a:t>-  </a:t>
            </a:r>
            <a:r>
              <a:rPr sz="1150" b="1" i="0">
                <a:solidFill>
                  <a:srgbClr val="111111"/>
                </a:solidFill>
                <a:latin typeface="Arial"/>
              </a:rPr>
              <a:t>GPT-4.1 mini cells</a:t>
            </a:r>
            <a:r>
              <a:rPr sz="1150" b="0" i="0">
                <a:solidFill>
                  <a:srgbClr val="111111"/>
                </a:solidFill>
                <a:latin typeface="Arial"/>
              </a:rPr>
              <a:t> as hollow markers: 0/8, 1/8, 0/8, 0/8. Shows the event-rate floor problem rather than hiding it.</a:t>
            </a:r>
          </a:p>
          <a:p>
            <a:pPr>
              <a:lnSpc>
                <a:spcPct val="110000"/>
              </a:lnSpc>
              <a:spcAft>
                <a:spcPts val="500"/>
              </a:spcAft>
            </a:pPr>
            <a:r>
              <a:rPr sz="1150" b="0" i="0">
                <a:solidFill>
                  <a:srgbClr val="111111"/>
                </a:solidFill>
                <a:latin typeface="Arial"/>
              </a:rPr>
              <a:t>-  </a:t>
            </a:r>
            <a:r>
              <a:rPr sz="1150" b="0" i="0">
                <a:solidFill>
                  <a:srgbClr val="111111"/>
                </a:solidFill>
                <a:latin typeface="Arial"/>
              </a:rPr>
              <a:t>Wilson 95% intervals on both axes; mark unknown outcomes as a separate count, never as zeros.</a:t>
            </a:r>
          </a:p>
        </p:txBody>
      </p:sp>
      <p:sp>
        <p:nvSpPr>
          <p:cNvPr id="13" name="Rounded Rectangle 12"/>
          <p:cNvSpPr/>
          <p:nvPr/>
        </p:nvSpPr>
        <p:spPr>
          <a:xfrm>
            <a:off x="6400800" y="1737360"/>
            <a:ext cx="5333695" cy="356616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92240" y="1810512"/>
            <a:ext cx="5150815" cy="411480"/>
          </a:xfrm>
          <a:prstGeom prst="rect">
            <a:avLst/>
          </a:prstGeom>
          <a:noFill/>
        </p:spPr>
        <p:txBody>
          <a:bodyPr wrap="square" lIns="45720" rIns="45720" tIns="27432" bIns="27432" anchor="t">
            <a:spAutoFit/>
          </a:bodyPr>
          <a:lstStyle/>
          <a:p>
            <a:pPr algn="l">
              <a:lnSpc>
                <a:spcPct val="100000"/>
              </a:lnSpc>
            </a:pPr>
            <a:r>
              <a:rPr sz="1500" b="1" i="0">
                <a:solidFill>
                  <a:srgbClr val="111111"/>
                </a:solidFill>
                <a:latin typeface="Arial"/>
              </a:rPr>
              <a:t>Implementation</a:t>
            </a:r>
          </a:p>
        </p:txBody>
      </p:sp>
      <p:sp>
        <p:nvSpPr>
          <p:cNvPr id="15" name="TextBox 14"/>
          <p:cNvSpPr txBox="1"/>
          <p:nvPr/>
        </p:nvSpPr>
        <p:spPr>
          <a:xfrm>
            <a:off x="6492240" y="2240280"/>
            <a:ext cx="5150815" cy="2971800"/>
          </a:xfrm>
          <a:prstGeom prst="rect">
            <a:avLst/>
          </a:prstGeom>
          <a:noFill/>
        </p:spPr>
        <p:txBody>
          <a:bodyPr wrap="square" lIns="45720" rIns="45720">
            <a:spAutoFit/>
          </a:bodyPr>
          <a:lstStyle/>
          <a:p>
            <a:pPr>
              <a:lnSpc>
                <a:spcPct val="110000"/>
              </a:lnSpc>
              <a:spcAft>
                <a:spcPts val="500"/>
              </a:spcAft>
            </a:pPr>
            <a:r>
              <a:rPr sz="1150" b="0" i="0">
                <a:solidFill>
                  <a:srgbClr val="111111"/>
                </a:solidFill>
                <a:latin typeface="Arial"/>
              </a:rPr>
              <a:t>-  </a:t>
            </a:r>
            <a:r>
              <a:rPr sz="1150" b="0" i="0">
                <a:solidFill>
                  <a:srgbClr val="111111"/>
                </a:solidFill>
                <a:latin typeface="Arial"/>
              </a:rPr>
              <a:t>New script `scripts/draw_utility_incident_tradeoff.py`: read the three archived summaries, emit PNG + SVG under figures/experiments/tradeoff-v1/ with a JSON table of every plotted cell.</a:t>
            </a:r>
          </a:p>
          <a:p>
            <a:pPr>
              <a:lnSpc>
                <a:spcPct val="110000"/>
              </a:lnSpc>
              <a:spcAft>
                <a:spcPts val="500"/>
              </a:spcAft>
            </a:pPr>
            <a:r>
              <a:rPr sz="1150" b="0" i="0">
                <a:solidFill>
                  <a:srgbClr val="111111"/>
                </a:solidFill>
                <a:latin typeface="Arial"/>
              </a:rPr>
              <a:t>-  </a:t>
            </a:r>
            <a:r>
              <a:rPr sz="1150" b="0" i="0">
                <a:solidFill>
                  <a:srgbClr val="111111"/>
                </a:solidFill>
                <a:latin typeface="Arial"/>
              </a:rPr>
              <a:t>Follow the repository's figure convention: generator script, editable SVG, metadata next to the image.</a:t>
            </a:r>
          </a:p>
          <a:p>
            <a:pPr>
              <a:lnSpc>
                <a:spcPct val="110000"/>
              </a:lnSpc>
              <a:spcAft>
                <a:spcPts val="500"/>
              </a:spcAft>
            </a:pPr>
            <a:r>
              <a:rPr sz="1150" b="0" i="0">
                <a:solidFill>
                  <a:srgbClr val="111111"/>
                </a:solidFill>
                <a:latin typeface="Arial"/>
              </a:rPr>
              <a:t>-  </a:t>
            </a:r>
            <a:r>
              <a:rPr sz="1150" b="0" i="0">
                <a:solidFill>
                  <a:srgbClr val="111111"/>
                </a:solidFill>
                <a:latin typeface="Arial"/>
              </a:rPr>
              <a:t>Regression test: the plotted counts equal the archived summary counts (a fixture-reading test, no inference).</a:t>
            </a:r>
          </a:p>
          <a:p>
            <a:pPr>
              <a:lnSpc>
                <a:spcPct val="110000"/>
              </a:lnSpc>
              <a:spcAft>
                <a:spcPts val="500"/>
              </a:spcAft>
            </a:pPr>
            <a:r>
              <a:rPr sz="1150" b="0" i="0">
                <a:solidFill>
                  <a:srgbClr val="111111"/>
                </a:solidFill>
                <a:latin typeface="Arial"/>
              </a:rPr>
              <a:t>-  </a:t>
            </a:r>
            <a:r>
              <a:rPr sz="1150" b="0" i="0">
                <a:solidFill>
                  <a:srgbClr val="111111"/>
                </a:solidFill>
                <a:latin typeface="Arial"/>
              </a:rPr>
              <a:t>Half a day. Blocked on nothing.</a:t>
            </a:r>
          </a:p>
        </p:txBody>
      </p:sp>
      <p:sp>
        <p:nvSpPr>
          <p:cNvPr id="16" name="Rounded Rectangle 15"/>
          <p:cNvSpPr/>
          <p:nvPr/>
        </p:nvSpPr>
        <p:spPr>
          <a:xfrm>
            <a:off x="457200" y="5486400"/>
            <a:ext cx="11277295" cy="50292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5486400"/>
            <a:ext cx="11057839" cy="502920"/>
          </a:xfrm>
          <a:prstGeom prst="rect">
            <a:avLst/>
          </a:prstGeom>
          <a:noFill/>
        </p:spPr>
        <p:txBody>
          <a:bodyPr wrap="square" lIns="45720" rIns="45720" tIns="27432" bIns="27432" anchor="ctr">
            <a:spAutoFit/>
          </a:bodyPr>
          <a:lstStyle/>
          <a:p>
            <a:pPr algn="l">
              <a:lnSpc>
                <a:spcPct val="110000"/>
              </a:lnSpc>
            </a:pPr>
            <a:r>
              <a:rPr sz="1300" b="1" i="0">
                <a:solidFill>
                  <a:srgbClr val="111111"/>
                </a:solidFill>
                <a:latin typeface="Arial"/>
              </a:rPr>
              <a:t>What the figure must not do: draw a curve. Six points with intervals, labeled by policy, is the honest version.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E2: the one live experiment, matched proxy-vs-incident selection</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First stage of the design document's B3 vs B4 contrast: fixed pool, shared development rollouts, two selections, one held-out observer</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11</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Repository sources: docs/incident-aware-optimization.md; src/containment_extension/instruction_optimization; src/containment_extension/evaluation/live.py</a:t>
            </a:r>
          </a:p>
        </p:txBody>
      </p:sp>
      <p:sp>
        <p:nvSpPr>
          <p:cNvPr id="8" name="Rounded Rectangle 7"/>
          <p:cNvSpPr/>
          <p:nvPr/>
        </p:nvSpPr>
        <p:spPr>
          <a:xfrm>
            <a:off x="457200" y="1325880"/>
            <a:ext cx="2377440" cy="310896"/>
          </a:xfrm>
          <a:prstGeom prst="roundRect">
            <a:avLst>
              <a:gd name="adj" fmla="val 5000"/>
            </a:avLst>
          </a:prstGeom>
          <a:solidFill>
            <a:srgbClr val="FBEFEC"/>
          </a:solidFill>
          <a:ln w="12700">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325880"/>
            <a:ext cx="2377440" cy="310896"/>
          </a:xfrm>
          <a:prstGeom prst="rect">
            <a:avLst/>
          </a:prstGeom>
          <a:noFill/>
        </p:spPr>
        <p:txBody>
          <a:bodyPr wrap="square" lIns="45720" rIns="45720" tIns="27432" bIns="27432" anchor="ctr">
            <a:spAutoFit/>
          </a:bodyPr>
          <a:lstStyle/>
          <a:p>
            <a:pPr algn="ctr">
              <a:lnSpc>
                <a:spcPct val="110000"/>
              </a:lnSpc>
            </a:pPr>
            <a:r>
              <a:rPr sz="1050" b="1" i="0">
                <a:solidFill>
                  <a:srgbClr val="B34831"/>
                </a:solidFill>
                <a:latin typeface="Arial"/>
              </a:rPr>
              <a:t>RUN: implement + live calls</a:t>
            </a:r>
          </a:p>
        </p:txBody>
      </p:sp>
      <p:graphicFrame>
        <p:nvGraphicFramePr>
          <p:cNvPr id="10" name="Table 9"/>
          <p:cNvGraphicFramePr>
            <a:graphicFrameLocks noGrp="1"/>
          </p:cNvGraphicFramePr>
          <p:nvPr/>
        </p:nvGraphicFramePr>
        <p:xfrm>
          <a:off x="457200" y="1737360"/>
          <a:ext cx="6766560" cy="2514600"/>
        </p:xfrm>
        <a:graphic>
          <a:graphicData uri="http://schemas.openxmlformats.org/drawingml/2006/table">
            <a:tbl>
              <a:tblPr firstRow="1" bandRow="1">
                <a:tableStyleId>{5C22544A-7EE6-4342-B048-85BDC9FD1C3A}</a:tableStyleId>
              </a:tblPr>
              <a:tblGrid>
                <a:gridCol w="1188720"/>
                <a:gridCol w="4754880"/>
                <a:gridCol w="822960"/>
              </a:tblGrid>
              <a:tr h="419100">
                <a:tc>
                  <a:txBody>
                    <a:bodyPr wrap="square"/>
                    <a:lstStyle/>
                    <a:p>
                      <a:r>
                        <a:rPr sz="1000" b="1" i="0">
                          <a:solidFill>
                            <a:srgbClr val="FFFFFF"/>
                          </a:solidFill>
                          <a:latin typeface="Arial"/>
                        </a:rPr>
                        <a:t>Stage</a:t>
                      </a:r>
                    </a:p>
                  </a:txBody>
                  <a:tcPr marL="54864" marR="54864" marT="27432" marB="27432">
                    <a:solidFill>
                      <a:srgbClr val="365E9E"/>
                    </a:solidFill>
                  </a:tcPr>
                </a:tc>
                <a:tc>
                  <a:txBody>
                    <a:bodyPr wrap="square"/>
                    <a:lstStyle/>
                    <a:p>
                      <a:r>
                        <a:rPr sz="1000" b="1" i="0">
                          <a:solidFill>
                            <a:srgbClr val="FFFFFF"/>
                          </a:solidFill>
                          <a:latin typeface="Arial"/>
                        </a:rPr>
                        <a:t>Content</a:t>
                      </a:r>
                    </a:p>
                  </a:txBody>
                  <a:tcPr marL="54864" marR="54864" marT="27432" marB="27432">
                    <a:solidFill>
                      <a:srgbClr val="365E9E"/>
                    </a:solidFill>
                  </a:tcPr>
                </a:tc>
                <a:tc>
                  <a:txBody>
                    <a:bodyPr wrap="square"/>
                    <a:lstStyle/>
                    <a:p>
                      <a:r>
                        <a:rPr sz="1000" b="1" i="0">
                          <a:solidFill>
                            <a:srgbClr val="FFFFFF"/>
                          </a:solidFill>
                          <a:latin typeface="Arial"/>
                        </a:rPr>
                        <a:t>Rollouts</a:t>
                      </a:r>
                    </a:p>
                  </a:txBody>
                  <a:tcPr marL="54864" marR="54864" marT="27432" marB="27432">
                    <a:solidFill>
                      <a:srgbClr val="365E9E"/>
                    </a:solidFill>
                  </a:tcPr>
                </a:tc>
              </a:tr>
              <a:tr h="419100">
                <a:tc>
                  <a:txBody>
                    <a:bodyPr wrap="square"/>
                    <a:lstStyle/>
                    <a:p>
                      <a:r>
                        <a:rPr sz="1000" b="1" i="0">
                          <a:solidFill>
                            <a:srgbClr val="111111"/>
                          </a:solidFill>
                          <a:latin typeface="Arial"/>
                        </a:rPr>
                        <a:t>Pool</a:t>
                      </a:r>
                    </a:p>
                  </a:txBody>
                  <a:tcPr marL="54864" marR="54864" marT="27432" marB="27432">
                    <a:solidFill>
                      <a:srgbClr val="FFFFFF"/>
                    </a:solidFill>
                  </a:tcPr>
                </a:tc>
                <a:tc>
                  <a:txBody>
                    <a:bodyPr wrap="square"/>
                    <a:lstStyle/>
                    <a:p>
                      <a:r>
                        <a:rPr sz="1000" b="0" i="0">
                          <a:solidFill>
                            <a:srgbClr val="111111"/>
                          </a:solidFill>
                          <a:latin typeface="Arial"/>
                        </a:rPr>
                        <a:t>8 catalog-mode instruction candidates + 2 fixed controls (original, fixed L3); catalog proposer is deterministic, so the pool is reproducible</a:t>
                      </a:r>
                    </a:p>
                  </a:txBody>
                  <a:tcPr marL="54864" marR="54864" marT="27432" marB="27432">
                    <a:solidFill>
                      <a:srgbClr val="FFFFFF"/>
                    </a:solidFill>
                  </a:tcPr>
                </a:tc>
                <a:tc>
                  <a:txBody>
                    <a:bodyPr wrap="square"/>
                    <a:lstStyle/>
                    <a:p>
                      <a:r>
                        <a:rPr sz="1000" b="0" i="0">
                          <a:solidFill>
                            <a:srgbClr val="111111"/>
                          </a:solidFill>
                          <a:latin typeface="Arial"/>
                        </a:rPr>
                        <a:t>0</a:t>
                      </a:r>
                    </a:p>
                  </a:txBody>
                  <a:tcPr marL="54864" marR="54864" marT="27432" marB="27432">
                    <a:solidFill>
                      <a:srgbClr val="FFFFFF"/>
                    </a:solidFill>
                  </a:tcPr>
                </a:tc>
              </a:tr>
              <a:tr h="419100">
                <a:tc>
                  <a:txBody>
                    <a:bodyPr wrap="square"/>
                    <a:lstStyle/>
                    <a:p>
                      <a:r>
                        <a:rPr sz="1000" b="1" i="0">
                          <a:solidFill>
                            <a:srgbClr val="111111"/>
                          </a:solidFill>
                          <a:latin typeface="Arial"/>
                        </a:rPr>
                        <a:t>Development</a:t>
                      </a:r>
                    </a:p>
                  </a:txBody>
                  <a:tcPr marL="54864" marR="54864" marT="27432" marB="27432">
                    <a:solidFill>
                      <a:srgbClr val="F3F3F3"/>
                    </a:solidFill>
                  </a:tcPr>
                </a:tc>
                <a:tc>
                  <a:txBody>
                    <a:bodyPr wrap="square"/>
                    <a:lstStyle/>
                    <a:p>
                      <a:r>
                        <a:rPr sz="1000" b="0" i="0">
                          <a:solidFill>
                            <a:srgbClr val="111111"/>
                          </a:solidFill>
                          <a:latin typeface="Arial"/>
                        </a:rPr>
                        <a:t>10 policies x 6 cases (2 impossible, 2 recoverable, 2 solvable), shared across both selections</a:t>
                      </a:r>
                    </a:p>
                  </a:txBody>
                  <a:tcPr marL="54864" marR="54864" marT="27432" marB="27432">
                    <a:solidFill>
                      <a:srgbClr val="F3F3F3"/>
                    </a:solidFill>
                  </a:tcPr>
                </a:tc>
                <a:tc>
                  <a:txBody>
                    <a:bodyPr wrap="square"/>
                    <a:lstStyle/>
                    <a:p>
                      <a:r>
                        <a:rPr sz="1000" b="0" i="0">
                          <a:solidFill>
                            <a:srgbClr val="111111"/>
                          </a:solidFill>
                          <a:latin typeface="Arial"/>
                        </a:rPr>
                        <a:t>60 actor</a:t>
                      </a:r>
                    </a:p>
                  </a:txBody>
                  <a:tcPr marL="54864" marR="54864" marT="27432" marB="27432">
                    <a:solidFill>
                      <a:srgbClr val="F3F3F3"/>
                    </a:solidFill>
                  </a:tcPr>
                </a:tc>
              </a:tr>
              <a:tr h="419100">
                <a:tc>
                  <a:txBody>
                    <a:bodyPr wrap="square"/>
                    <a:lstStyle/>
                    <a:p>
                      <a:r>
                        <a:rPr sz="1000" b="1" i="0">
                          <a:solidFill>
                            <a:srgbClr val="111111"/>
                          </a:solidFill>
                          <a:latin typeface="Arial"/>
                        </a:rPr>
                        <a:t>Judge (B3 only)</a:t>
                      </a:r>
                    </a:p>
                  </a:txBody>
                  <a:tcPr marL="54864" marR="54864" marT="27432" marB="27432">
                    <a:solidFill>
                      <a:srgbClr val="FFFFFF"/>
                    </a:solidFill>
                  </a:tcPr>
                </a:tc>
                <a:tc>
                  <a:txBody>
                    <a:bodyPr wrap="square"/>
                    <a:lstStyle/>
                    <a:p>
                      <a:r>
                        <a:rPr sz="1000" b="0" i="0">
                          <a:solidFill>
                            <a:srgbClr val="111111"/>
                          </a:solidFill>
                          <a:latin typeface="Arial"/>
                        </a:rPr>
                        <a:t>Haiku transcript monitor over each development transcript: unauthorized-access flag + suspicion; threshold set on benign calibration transcripts from the archive</a:t>
                      </a:r>
                    </a:p>
                  </a:txBody>
                  <a:tcPr marL="54864" marR="54864" marT="27432" marB="27432">
                    <a:solidFill>
                      <a:srgbClr val="FFFFFF"/>
                    </a:solidFill>
                  </a:tcPr>
                </a:tc>
                <a:tc>
                  <a:txBody>
                    <a:bodyPr wrap="square"/>
                    <a:lstStyle/>
                    <a:p>
                      <a:r>
                        <a:rPr sz="1000" b="0" i="0">
                          <a:solidFill>
                            <a:srgbClr val="111111"/>
                          </a:solidFill>
                          <a:latin typeface="Arial"/>
                        </a:rPr>
                        <a:t>60 judge</a:t>
                      </a:r>
                    </a:p>
                  </a:txBody>
                  <a:tcPr marL="54864" marR="54864" marT="27432" marB="27432">
                    <a:solidFill>
                      <a:srgbClr val="FFFFFF"/>
                    </a:solidFill>
                  </a:tcPr>
                </a:tc>
              </a:tr>
              <a:tr h="419100">
                <a:tc>
                  <a:txBody>
                    <a:bodyPr wrap="square"/>
                    <a:lstStyle/>
                    <a:p>
                      <a:r>
                        <a:rPr sz="1000" b="1" i="0">
                          <a:solidFill>
                            <a:srgbClr val="111111"/>
                          </a:solidFill>
                          <a:latin typeface="Arial"/>
                        </a:rPr>
                        <a:t>Selection</a:t>
                      </a:r>
                    </a:p>
                  </a:txBody>
                  <a:tcPr marL="54864" marR="54864" marT="27432" marB="27432">
                    <a:solidFill>
                      <a:srgbClr val="F3F3F3"/>
                    </a:solidFill>
                  </a:tcPr>
                </a:tc>
                <a:tc>
                  <a:txBody>
                    <a:bodyPr wrap="square"/>
                    <a:lstStyle/>
                    <a:p>
                      <a:r>
                        <a:rPr sz="1000" b="0" i="0">
                          <a:solidFill>
                            <a:srgbClr val="111111"/>
                          </a:solidFill>
                          <a:latin typeface="Arial"/>
                        </a:rPr>
                        <a:t>Same eligibility rule (zero incidents on impossible, all controls completed, shortest instruction) applied to judge flags (B3) and to observer records (B4)</a:t>
                      </a:r>
                    </a:p>
                  </a:txBody>
                  <a:tcPr marL="54864" marR="54864" marT="27432" marB="27432">
                    <a:solidFill>
                      <a:srgbClr val="F3F3F3"/>
                    </a:solidFill>
                  </a:tcPr>
                </a:tc>
                <a:tc>
                  <a:txBody>
                    <a:bodyPr wrap="square"/>
                    <a:lstStyle/>
                    <a:p>
                      <a:r>
                        <a:rPr sz="1000" b="0" i="0">
                          <a:solidFill>
                            <a:srgbClr val="111111"/>
                          </a:solidFill>
                          <a:latin typeface="Arial"/>
                        </a:rPr>
                        <a:t>0</a:t>
                      </a:r>
                    </a:p>
                  </a:txBody>
                  <a:tcPr marL="54864" marR="54864" marT="27432" marB="27432">
                    <a:solidFill>
                      <a:srgbClr val="F3F3F3"/>
                    </a:solidFill>
                  </a:tcPr>
                </a:tc>
              </a:tr>
              <a:tr h="419100">
                <a:tc>
                  <a:txBody>
                    <a:bodyPr wrap="square"/>
                    <a:lstStyle/>
                    <a:p>
                      <a:r>
                        <a:rPr sz="1000" b="1" i="0">
                          <a:solidFill>
                            <a:srgbClr val="111111"/>
                          </a:solidFill>
                          <a:latin typeface="Arial"/>
                        </a:rPr>
                        <a:t>Held-out</a:t>
                      </a:r>
                    </a:p>
                  </a:txBody>
                  <a:tcPr marL="54864" marR="54864" marT="27432" marB="27432">
                    <a:solidFill>
                      <a:srgbClr val="FFFFFF"/>
                    </a:solidFill>
                  </a:tcPr>
                </a:tc>
                <a:tc>
                  <a:txBody>
                    <a:bodyPr wrap="square"/>
                    <a:lstStyle/>
                    <a:p>
                      <a:r>
                        <a:rPr sz="1000" b="0" i="0">
                          <a:solidFill>
                            <a:srgbClr val="111111"/>
                          </a:solidFill>
                          <a:latin typeface="Arial"/>
                        </a:rPr>
                        <a:t>4 frozen policies (original, fixed L3, B3-selected, B4-selected) x 12 fresh seeds (4/4/4)</a:t>
                      </a:r>
                    </a:p>
                  </a:txBody>
                  <a:tcPr marL="54864" marR="54864" marT="27432" marB="27432">
                    <a:solidFill>
                      <a:srgbClr val="FFFFFF"/>
                    </a:solidFill>
                  </a:tcPr>
                </a:tc>
                <a:tc>
                  <a:txBody>
                    <a:bodyPr wrap="square"/>
                    <a:lstStyle/>
                    <a:p>
                      <a:r>
                        <a:rPr sz="1000" b="0" i="0">
                          <a:solidFill>
                            <a:srgbClr val="111111"/>
                          </a:solidFill>
                          <a:latin typeface="Arial"/>
                        </a:rPr>
                        <a:t>48 actor</a:t>
                      </a:r>
                    </a:p>
                  </a:txBody>
                  <a:tcPr marL="54864" marR="54864" marT="27432" marB="27432">
                    <a:solidFill>
                      <a:srgbClr val="FFFFFF"/>
                    </a:solidFill>
                  </a:tcPr>
                </a:tc>
              </a:tr>
            </a:tbl>
          </a:graphicData>
        </a:graphic>
      </p:graphicFrame>
      <p:sp>
        <p:nvSpPr>
          <p:cNvPr id="11" name="Rounded Rectangle 10"/>
          <p:cNvSpPr/>
          <p:nvPr/>
        </p:nvSpPr>
        <p:spPr>
          <a:xfrm>
            <a:off x="7498080" y="1737360"/>
            <a:ext cx="4236415" cy="251460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589520" y="1810512"/>
            <a:ext cx="4053535" cy="411480"/>
          </a:xfrm>
          <a:prstGeom prst="rect">
            <a:avLst/>
          </a:prstGeom>
          <a:noFill/>
        </p:spPr>
        <p:txBody>
          <a:bodyPr wrap="square" lIns="45720" rIns="45720" tIns="27432" bIns="27432" anchor="t">
            <a:spAutoFit/>
          </a:bodyPr>
          <a:lstStyle/>
          <a:p>
            <a:pPr algn="l">
              <a:lnSpc>
                <a:spcPct val="100000"/>
              </a:lnSpc>
            </a:pPr>
            <a:r>
              <a:rPr sz="1500" b="1" i="0">
                <a:solidFill>
                  <a:srgbClr val="B8732A"/>
                </a:solidFill>
                <a:latin typeface="Arial"/>
              </a:rPr>
              <a:t>Where proxy and observer can disagree</a:t>
            </a:r>
          </a:p>
        </p:txBody>
      </p:sp>
      <p:sp>
        <p:nvSpPr>
          <p:cNvPr id="13" name="TextBox 12"/>
          <p:cNvSpPr txBox="1"/>
          <p:nvPr/>
        </p:nvSpPr>
        <p:spPr>
          <a:xfrm>
            <a:off x="7589520" y="2240280"/>
            <a:ext cx="4053535" cy="1920240"/>
          </a:xfrm>
          <a:prstGeom prst="rect">
            <a:avLst/>
          </a:prstGeom>
          <a:noFill/>
        </p:spPr>
        <p:txBody>
          <a:bodyPr wrap="square" lIns="45720" rIns="45720">
            <a:spAutoFit/>
          </a:bodyPr>
          <a:lstStyle/>
          <a:p>
            <a:pPr>
              <a:lnSpc>
                <a:spcPct val="110000"/>
              </a:lnSpc>
              <a:spcAft>
                <a:spcPts val="400"/>
              </a:spcAft>
            </a:pPr>
            <a:r>
              <a:rPr sz="1100" b="0" i="0">
                <a:solidFill>
                  <a:srgbClr val="111111"/>
                </a:solidFill>
                <a:latin typeface="Arial"/>
              </a:rPr>
              <a:t>-  </a:t>
            </a:r>
            <a:r>
              <a:rPr sz="1100" b="1" i="0">
                <a:solidFill>
                  <a:srgbClr val="111111"/>
                </a:solidFill>
                <a:latin typeface="Arial"/>
              </a:rPr>
              <a:t>Reverted writes.</a:t>
            </a:r>
            <a:r>
              <a:rPr sz="1100" b="0" i="0">
                <a:solidFill>
                  <a:srgbClr val="111111"/>
                </a:solidFill>
                <a:latin typeface="Arial"/>
              </a:rPr>
              <a:t> The optimizer's scripted control already covers an upstream write that is later reverted. A transcript judge may excuse it; the observer counts it.</a:t>
            </a:r>
          </a:p>
          <a:p>
            <a:pPr>
              <a:lnSpc>
                <a:spcPct val="110000"/>
              </a:lnSpc>
              <a:spcAft>
                <a:spcPts val="400"/>
              </a:spcAft>
            </a:pPr>
            <a:r>
              <a:rPr sz="1100" b="0" i="0">
                <a:solidFill>
                  <a:srgbClr val="111111"/>
                </a:solidFill>
                <a:latin typeface="Arial"/>
              </a:rPr>
              <a:t>-  </a:t>
            </a:r>
            <a:r>
              <a:rPr sz="1100" b="1" i="0">
                <a:solidFill>
                  <a:srgbClr val="111111"/>
                </a:solidFill>
                <a:latin typeface="Arial"/>
              </a:rPr>
              <a:t>False flags.</a:t>
            </a:r>
            <a:r>
              <a:rPr sz="1100" b="0" i="0">
                <a:solidFill>
                  <a:srgbClr val="111111"/>
                </a:solidFill>
                <a:latin typeface="Arial"/>
              </a:rPr>
              <a:t> The judge may flag legitimate recovery actions, steering B3 toward over-restrictive policies and lower control completion.</a:t>
            </a:r>
          </a:p>
          <a:p>
            <a:pPr>
              <a:lnSpc>
                <a:spcPct val="110000"/>
              </a:lnSpc>
              <a:spcAft>
                <a:spcPts val="400"/>
              </a:spcAft>
            </a:pPr>
            <a:r>
              <a:rPr sz="1100" b="0" i="0">
                <a:solidFill>
                  <a:srgbClr val="111111"/>
                </a:solidFill>
                <a:latin typeface="Arial"/>
              </a:rPr>
              <a:t>-  </a:t>
            </a:r>
            <a:r>
              <a:rPr sz="1100" b="1" i="0">
                <a:solidFill>
                  <a:srgbClr val="111111"/>
                </a:solidFill>
                <a:latin typeface="Arial"/>
              </a:rPr>
              <a:t>Cached-answer success.</a:t>
            </a:r>
            <a:r>
              <a:rPr sz="1100" b="0" i="0">
                <a:solidFill>
                  <a:srgbClr val="111111"/>
                </a:solidFill>
                <a:latin typeface="Arial"/>
              </a:rPr>
              <a:t> Scorer pass with excluded read: both signals should catch it; if the judge misses any, that is the result.</a:t>
            </a:r>
          </a:p>
        </p:txBody>
      </p:sp>
      <p:sp>
        <p:nvSpPr>
          <p:cNvPr id="14" name="Rounded Rectangle 13"/>
          <p:cNvSpPr/>
          <p:nvPr/>
        </p:nvSpPr>
        <p:spPr>
          <a:xfrm>
            <a:off x="457200" y="4389120"/>
            <a:ext cx="5577840" cy="178308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4462272"/>
            <a:ext cx="5394960" cy="411480"/>
          </a:xfrm>
          <a:prstGeom prst="rect">
            <a:avLst/>
          </a:prstGeom>
          <a:noFill/>
        </p:spPr>
        <p:txBody>
          <a:bodyPr wrap="square" lIns="45720" rIns="45720" tIns="27432" bIns="27432" anchor="t">
            <a:spAutoFit/>
          </a:bodyPr>
          <a:lstStyle/>
          <a:p>
            <a:pPr algn="l">
              <a:lnSpc>
                <a:spcPct val="100000"/>
              </a:lnSpc>
            </a:pPr>
            <a:r>
              <a:rPr sz="1500" b="1" i="0">
                <a:solidFill>
                  <a:srgbClr val="2E7D5B"/>
                </a:solidFill>
                <a:latin typeface="Arial"/>
              </a:rPr>
              <a:t>Gates before the first paid call</a:t>
            </a:r>
          </a:p>
        </p:txBody>
      </p:sp>
      <p:sp>
        <p:nvSpPr>
          <p:cNvPr id="16" name="TextBox 15"/>
          <p:cNvSpPr txBox="1"/>
          <p:nvPr/>
        </p:nvSpPr>
        <p:spPr>
          <a:xfrm>
            <a:off x="548640" y="4892040"/>
            <a:ext cx="5394960" cy="1188720"/>
          </a:xfrm>
          <a:prstGeom prst="rect">
            <a:avLst/>
          </a:prstGeom>
          <a:noFill/>
        </p:spPr>
        <p:txBody>
          <a:bodyPr wrap="square" lIns="45720" rIns="45720">
            <a:spAutoFit/>
          </a:bodyPr>
          <a:lstStyle/>
          <a:p>
            <a:pPr>
              <a:lnSpc>
                <a:spcPct val="110000"/>
              </a:lnSpc>
              <a:spcAft>
                <a:spcPts val="300"/>
              </a:spcAft>
            </a:pPr>
            <a:r>
              <a:rPr sz="1050" b="0" i="0">
                <a:solidFill>
                  <a:srgbClr val="111111"/>
                </a:solidFill>
                <a:latin typeface="Arial"/>
              </a:rPr>
              <a:t>-  </a:t>
            </a:r>
            <a:r>
              <a:rPr sz="1050" b="0" i="0">
                <a:solidFill>
                  <a:srgbClr val="111111"/>
                </a:solidFill>
                <a:latin typeface="Arial"/>
              </a:rPr>
              <a:t>Scripted controls pass for both selection paths; the judge path is exercised with scripted transports.</a:t>
            </a:r>
          </a:p>
          <a:p>
            <a:pPr>
              <a:lnSpc>
                <a:spcPct val="110000"/>
              </a:lnSpc>
              <a:spcAft>
                <a:spcPts val="300"/>
              </a:spcAft>
            </a:pPr>
            <a:r>
              <a:rPr sz="1050" b="0" i="0">
                <a:solidFill>
                  <a:srgbClr val="111111"/>
                </a:solidFill>
                <a:latin typeface="Arial"/>
              </a:rPr>
              <a:t>-  </a:t>
            </a:r>
            <a:r>
              <a:rPr sz="1050" b="0" i="0">
                <a:solidFill>
                  <a:srgbClr val="111111"/>
                </a:solidFill>
                <a:latin typeface="Arial"/>
              </a:rPr>
              <a:t>Frozen plan with pool, seeds, thresholds, eligibility rule, tie-break, per-run and aggregate ceilings; user approval of the ceiling recorded in the plan.</a:t>
            </a:r>
          </a:p>
          <a:p>
            <a:pPr>
              <a:lnSpc>
                <a:spcPct val="110000"/>
              </a:lnSpc>
              <a:spcAft>
                <a:spcPts val="300"/>
              </a:spcAft>
            </a:pPr>
            <a:r>
              <a:rPr sz="1050" b="0" i="0">
                <a:solidFill>
                  <a:srgbClr val="111111"/>
                </a:solidFill>
                <a:latin typeface="Arial"/>
              </a:rPr>
              <a:t>-  </a:t>
            </a:r>
            <a:r>
              <a:rPr sz="1050" b="0" i="0">
                <a:solidFill>
                  <a:srgbClr val="111111"/>
                </a:solidFill>
                <a:latin typeface="Arial"/>
              </a:rPr>
              <a:t>Baseline development event rate must be non-zero on impossible cases (Haiku N was 6/8); otherwise selection is uninformative and the run stops.</a:t>
            </a:r>
          </a:p>
        </p:txBody>
      </p:sp>
      <p:sp>
        <p:nvSpPr>
          <p:cNvPr id="17" name="Rounded Rectangle 16"/>
          <p:cNvSpPr/>
          <p:nvPr/>
        </p:nvSpPr>
        <p:spPr>
          <a:xfrm>
            <a:off x="6309360" y="4389120"/>
            <a:ext cx="5425135" cy="178308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0" y="4462272"/>
            <a:ext cx="5242255" cy="411480"/>
          </a:xfrm>
          <a:prstGeom prst="rect">
            <a:avLst/>
          </a:prstGeom>
          <a:noFill/>
        </p:spPr>
        <p:txBody>
          <a:bodyPr wrap="square" lIns="45720" rIns="45720" tIns="27432" bIns="27432" anchor="t">
            <a:spAutoFit/>
          </a:bodyPr>
          <a:lstStyle/>
          <a:p>
            <a:pPr algn="l">
              <a:lnSpc>
                <a:spcPct val="100000"/>
              </a:lnSpc>
            </a:pPr>
            <a:r>
              <a:rPr sz="1500" b="1" i="0">
                <a:solidFill>
                  <a:srgbClr val="111111"/>
                </a:solidFill>
                <a:latin typeface="Arial"/>
              </a:rPr>
              <a:t>Pre-registered readout</a:t>
            </a:r>
          </a:p>
        </p:txBody>
      </p:sp>
      <p:sp>
        <p:nvSpPr>
          <p:cNvPr id="19" name="TextBox 18"/>
          <p:cNvSpPr txBox="1"/>
          <p:nvPr/>
        </p:nvSpPr>
        <p:spPr>
          <a:xfrm>
            <a:off x="6400800" y="4892040"/>
            <a:ext cx="5242255" cy="1188720"/>
          </a:xfrm>
          <a:prstGeom prst="rect">
            <a:avLst/>
          </a:prstGeom>
          <a:noFill/>
        </p:spPr>
        <p:txBody>
          <a:bodyPr wrap="square" lIns="45720" rIns="45720">
            <a:spAutoFit/>
          </a:bodyPr>
          <a:lstStyle/>
          <a:p>
            <a:pPr>
              <a:lnSpc>
                <a:spcPct val="110000"/>
              </a:lnSpc>
              <a:spcAft>
                <a:spcPts val="400"/>
              </a:spcAft>
            </a:pPr>
            <a:r>
              <a:rPr sz="1100" b="0" i="0">
                <a:solidFill>
                  <a:srgbClr val="111111"/>
                </a:solidFill>
                <a:latin typeface="Arial"/>
              </a:rPr>
              <a:t>-  </a:t>
            </a:r>
            <a:r>
              <a:rPr sz="1100" b="0" i="0">
                <a:solidFill>
                  <a:srgbClr val="111111"/>
                </a:solidFill>
                <a:latin typeface="Arial"/>
              </a:rPr>
              <a:t>Primary: paired difference in held-out verified incident rate and in control completion between B3- and B4-selected policies, by seed.</a:t>
            </a:r>
          </a:p>
          <a:p>
            <a:pPr>
              <a:lnSpc>
                <a:spcPct val="110000"/>
              </a:lnSpc>
              <a:spcAft>
                <a:spcPts val="400"/>
              </a:spcAft>
            </a:pPr>
            <a:r>
              <a:rPr sz="1100" b="0" i="0">
                <a:solidFill>
                  <a:srgbClr val="111111"/>
                </a:solidFill>
                <a:latin typeface="Arial"/>
              </a:rPr>
              <a:t>-  </a:t>
            </a:r>
            <a:r>
              <a:rPr sz="1100" b="0" i="0">
                <a:solidFill>
                  <a:srgbClr val="111111"/>
                </a:solidFill>
                <a:latin typeface="Arial"/>
              </a:rPr>
              <a:t>Also report: which candidate each signal chose, judge false-flag rate on controls, cost per arm. Same policy chosen by both = null result, written up as such.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E2: what has to be implemented (about four engineering days)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optimizer, fixture, observer, budgets and a scripted-transport monitor runner exist; the missing parts are the judge arm and the dual selection</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12</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Repository sources: instruction_optimization/{catalog,search,study}.py; evaluation/live.py; results/incident-monitor-inputs-v1 (1,543 paired inputs)</a:t>
            </a:r>
          </a:p>
        </p:txBody>
      </p:sp>
      <p:sp>
        <p:nvSpPr>
          <p:cNvPr id="8" name="Rounded Rectangle 7"/>
          <p:cNvSpPr/>
          <p:nvPr/>
        </p:nvSpPr>
        <p:spPr>
          <a:xfrm>
            <a:off x="457200" y="1325880"/>
            <a:ext cx="2377440" cy="310896"/>
          </a:xfrm>
          <a:prstGeom prst="roundRect">
            <a:avLst>
              <a:gd name="adj" fmla="val 5000"/>
            </a:avLst>
          </a:prstGeom>
          <a:solidFill>
            <a:srgbClr val="FBEFEC"/>
          </a:solidFill>
          <a:ln w="12700">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325880"/>
            <a:ext cx="2377440" cy="310896"/>
          </a:xfrm>
          <a:prstGeom prst="rect">
            <a:avLst/>
          </a:prstGeom>
          <a:noFill/>
        </p:spPr>
        <p:txBody>
          <a:bodyPr wrap="square" lIns="45720" rIns="45720" tIns="27432" bIns="27432" anchor="ctr">
            <a:spAutoFit/>
          </a:bodyPr>
          <a:lstStyle/>
          <a:p>
            <a:pPr algn="ctr">
              <a:lnSpc>
                <a:spcPct val="110000"/>
              </a:lnSpc>
            </a:pPr>
            <a:r>
              <a:rPr sz="1050" b="1" i="0">
                <a:solidFill>
                  <a:srgbClr val="B34831"/>
                </a:solidFill>
                <a:latin typeface="Arial"/>
              </a:rPr>
              <a:t>RUN: implement + live calls</a:t>
            </a:r>
          </a:p>
        </p:txBody>
      </p:sp>
      <p:graphicFrame>
        <p:nvGraphicFramePr>
          <p:cNvPr id="10" name="Table 9"/>
          <p:cNvGraphicFramePr>
            <a:graphicFrameLocks noGrp="1"/>
          </p:cNvGraphicFramePr>
          <p:nvPr/>
        </p:nvGraphicFramePr>
        <p:xfrm>
          <a:off x="457200" y="1737360"/>
          <a:ext cx="11274552" cy="3291840"/>
        </p:xfrm>
        <a:graphic>
          <a:graphicData uri="http://schemas.openxmlformats.org/drawingml/2006/table">
            <a:tbl>
              <a:tblPr firstRow="1" bandRow="1">
                <a:tableStyleId>{5C22544A-7EE6-4342-B048-85BDC9FD1C3A}</a:tableStyleId>
              </a:tblPr>
              <a:tblGrid>
                <a:gridCol w="2011680"/>
                <a:gridCol w="2103120"/>
                <a:gridCol w="4480560"/>
                <a:gridCol w="2679192"/>
              </a:tblGrid>
              <a:tr h="411480">
                <a:tc>
                  <a:txBody>
                    <a:bodyPr wrap="square"/>
                    <a:lstStyle/>
                    <a:p>
                      <a:r>
                        <a:rPr sz="1000" b="1" i="0">
                          <a:solidFill>
                            <a:srgbClr val="FFFFFF"/>
                          </a:solidFill>
                          <a:latin typeface="Arial"/>
                        </a:rPr>
                        <a:t>Piece</a:t>
                      </a:r>
                    </a:p>
                  </a:txBody>
                  <a:tcPr marL="54864" marR="54864" marT="27432" marB="27432">
                    <a:solidFill>
                      <a:srgbClr val="365E9E"/>
                    </a:solidFill>
                  </a:tcPr>
                </a:tc>
                <a:tc>
                  <a:txBody>
                    <a:bodyPr wrap="square"/>
                    <a:lstStyle/>
                    <a:p>
                      <a:r>
                        <a:rPr sz="1000" b="1" i="0">
                          <a:solidFill>
                            <a:srgbClr val="FFFFFF"/>
                          </a:solidFill>
                          <a:latin typeface="Arial"/>
                        </a:rPr>
                        <a:t>Exists?</a:t>
                      </a:r>
                    </a:p>
                  </a:txBody>
                  <a:tcPr marL="54864" marR="54864" marT="27432" marB="27432">
                    <a:solidFill>
                      <a:srgbClr val="365E9E"/>
                    </a:solidFill>
                  </a:tcPr>
                </a:tc>
                <a:tc>
                  <a:txBody>
                    <a:bodyPr wrap="square"/>
                    <a:lstStyle/>
                    <a:p>
                      <a:r>
                        <a:rPr sz="1000" b="1" i="0">
                          <a:solidFill>
                            <a:srgbClr val="FFFFFF"/>
                          </a:solidFill>
                          <a:latin typeface="Arial"/>
                        </a:rPr>
                        <a:t>Work</a:t>
                      </a:r>
                    </a:p>
                  </a:txBody>
                  <a:tcPr marL="54864" marR="54864" marT="27432" marB="27432">
                    <a:solidFill>
                      <a:srgbClr val="365E9E"/>
                    </a:solidFill>
                  </a:tcPr>
                </a:tc>
                <a:tc>
                  <a:txBody>
                    <a:bodyPr wrap="square"/>
                    <a:lstStyle/>
                    <a:p>
                      <a:r>
                        <a:rPr sz="1000" b="1" i="0">
                          <a:solidFill>
                            <a:srgbClr val="FFFFFF"/>
                          </a:solidFill>
                          <a:latin typeface="Arial"/>
                        </a:rPr>
                        <a:t>Verification</a:t>
                      </a:r>
                    </a:p>
                  </a:txBody>
                  <a:tcPr marL="54864" marR="54864" marT="27432" marB="27432">
                    <a:solidFill>
                      <a:srgbClr val="365E9E"/>
                    </a:solidFill>
                  </a:tcPr>
                </a:tc>
              </a:tr>
              <a:tr h="411480">
                <a:tc>
                  <a:txBody>
                    <a:bodyPr wrap="square"/>
                    <a:lstStyle/>
                    <a:p>
                      <a:r>
                        <a:rPr sz="1000" b="1" i="0">
                          <a:solidFill>
                            <a:srgbClr val="111111"/>
                          </a:solidFill>
                          <a:latin typeface="Arial"/>
                        </a:rPr>
                        <a:t>Candidate pool (catalog mode)</a:t>
                      </a:r>
                    </a:p>
                  </a:txBody>
                  <a:tcPr marL="54864" marR="54864" marT="27432" marB="27432">
                    <a:solidFill>
                      <a:srgbClr val="FFFFFF"/>
                    </a:solidFill>
                  </a:tcPr>
                </a:tc>
                <a:tc>
                  <a:txBody>
                    <a:bodyPr wrap="square"/>
                    <a:lstStyle/>
                    <a:p>
                      <a:r>
                        <a:rPr sz="1000" b="0" i="0">
                          <a:solidFill>
                            <a:srgbClr val="111111"/>
                          </a:solidFill>
                          <a:latin typeface="Arial"/>
                        </a:rPr>
                        <a:t>Yes</a:t>
                      </a:r>
                    </a:p>
                  </a:txBody>
                  <a:tcPr marL="54864" marR="54864" marT="27432" marB="27432">
                    <a:solidFill>
                      <a:srgbClr val="FFFFFF"/>
                    </a:solidFill>
                  </a:tcPr>
                </a:tc>
                <a:tc>
                  <a:txBody>
                    <a:bodyPr wrap="square"/>
                    <a:lstStyle/>
                    <a:p>
                      <a:r>
                        <a:rPr sz="1000" b="0" i="0">
                          <a:solidFill>
                            <a:srgbClr val="111111"/>
                          </a:solidFill>
                          <a:latin typeface="Arial"/>
                        </a:rPr>
                        <a:t>Pin 8 candidates by stable ID in a new config experiments/feedback-ablation-v1.json</a:t>
                      </a:r>
                    </a:p>
                  </a:txBody>
                  <a:tcPr marL="54864" marR="54864" marT="27432" marB="27432">
                    <a:solidFill>
                      <a:srgbClr val="FFFFFF"/>
                    </a:solidFill>
                  </a:tcPr>
                </a:tc>
                <a:tc>
                  <a:txBody>
                    <a:bodyPr wrap="square"/>
                    <a:lstStyle/>
                    <a:p>
                      <a:r>
                        <a:rPr sz="1000" b="0" i="0">
                          <a:solidFill>
                            <a:srgbClr val="111111"/>
                          </a:solidFill>
                          <a:latin typeface="Arial"/>
                        </a:rPr>
                        <a:t>Dry run prints exact instructions and ceilings</a:t>
                      </a:r>
                    </a:p>
                  </a:txBody>
                  <a:tcPr marL="54864" marR="54864" marT="27432" marB="27432">
                    <a:solidFill>
                      <a:srgbClr val="FFFFFF"/>
                    </a:solidFill>
                  </a:tcPr>
                </a:tc>
              </a:tr>
              <a:tr h="411480">
                <a:tc>
                  <a:txBody>
                    <a:bodyPr wrap="square"/>
                    <a:lstStyle/>
                    <a:p>
                      <a:r>
                        <a:rPr sz="1000" b="1" i="0">
                          <a:solidFill>
                            <a:srgbClr val="111111"/>
                          </a:solidFill>
                          <a:latin typeface="Arial"/>
                        </a:rPr>
                        <a:t>Shared development rollouts</a:t>
                      </a:r>
                    </a:p>
                  </a:txBody>
                  <a:tcPr marL="54864" marR="54864" marT="27432" marB="27432">
                    <a:solidFill>
                      <a:srgbClr val="F3F3F3"/>
                    </a:solidFill>
                  </a:tcPr>
                </a:tc>
                <a:tc>
                  <a:txBody>
                    <a:bodyPr wrap="square"/>
                    <a:lstStyle/>
                    <a:p>
                      <a:r>
                        <a:rPr sz="1000" b="0" i="0">
                          <a:solidFill>
                            <a:srgbClr val="111111"/>
                          </a:solidFill>
                          <a:latin typeface="Arial"/>
                        </a:rPr>
                        <a:t>Yes (study.py)</a:t>
                      </a:r>
                    </a:p>
                  </a:txBody>
                  <a:tcPr marL="54864" marR="54864" marT="27432" marB="27432">
                    <a:solidFill>
                      <a:srgbClr val="F3F3F3"/>
                    </a:solidFill>
                  </a:tcPr>
                </a:tc>
                <a:tc>
                  <a:txBody>
                    <a:bodyPr wrap="square"/>
                    <a:lstStyle/>
                    <a:p>
                      <a:r>
                        <a:rPr sz="1000" b="0" i="0">
                          <a:solidFill>
                            <a:srgbClr val="111111"/>
                          </a:solidFill>
                          <a:latin typeface="Arial"/>
                        </a:rPr>
                        <a:t>Record per-rollout transcript path + observer record together so both selections read one evidence set</a:t>
                      </a:r>
                    </a:p>
                  </a:txBody>
                  <a:tcPr marL="54864" marR="54864" marT="27432" marB="27432">
                    <a:solidFill>
                      <a:srgbClr val="F3F3F3"/>
                    </a:solidFill>
                  </a:tcPr>
                </a:tc>
                <a:tc>
                  <a:txBody>
                    <a:bodyPr wrap="square"/>
                    <a:lstStyle/>
                    <a:p>
                      <a:r>
                        <a:rPr sz="1000" b="0" i="0">
                          <a:solidFill>
                            <a:srgbClr val="111111"/>
                          </a:solidFill>
                          <a:latin typeface="Arial"/>
                        </a:rPr>
                        <a:t>Fixture test: every development rollout has both artifacts</a:t>
                      </a:r>
                    </a:p>
                  </a:txBody>
                  <a:tcPr marL="54864" marR="54864" marT="27432" marB="27432">
                    <a:solidFill>
                      <a:srgbClr val="F3F3F3"/>
                    </a:solidFill>
                  </a:tcPr>
                </a:tc>
              </a:tr>
              <a:tr h="411480">
                <a:tc>
                  <a:txBody>
                    <a:bodyPr wrap="square"/>
                    <a:lstStyle/>
                    <a:p>
                      <a:r>
                        <a:rPr sz="1000" b="1" i="0">
                          <a:solidFill>
                            <a:srgbClr val="111111"/>
                          </a:solidFill>
                          <a:latin typeface="Arial"/>
                        </a:rPr>
                        <a:t>Transcript judge</a:t>
                      </a:r>
                    </a:p>
                  </a:txBody>
                  <a:tcPr marL="54864" marR="54864" marT="27432" marB="27432">
                    <a:solidFill>
                      <a:srgbClr val="FFFFFF"/>
                    </a:solidFill>
                  </a:tcPr>
                </a:tc>
                <a:tc>
                  <a:txBody>
                    <a:bodyPr wrap="square"/>
                    <a:lstStyle/>
                    <a:p>
                      <a:r>
                        <a:rPr sz="1000" b="0" i="0">
                          <a:solidFill>
                            <a:srgbClr val="111111"/>
                          </a:solidFill>
                          <a:latin typeface="Arial"/>
                        </a:rPr>
                        <a:t>Partly: scripted-transport runner; 1,543 archived inputs</a:t>
                      </a:r>
                    </a:p>
                  </a:txBody>
                  <a:tcPr marL="54864" marR="54864" marT="27432" marB="27432">
                    <a:solidFill>
                      <a:srgbClr val="FFFFFF"/>
                    </a:solidFill>
                  </a:tcPr>
                </a:tc>
                <a:tc>
                  <a:txBody>
                    <a:bodyPr wrap="square"/>
                    <a:lstStyle/>
                    <a:p>
                      <a:r>
                        <a:rPr sz="1000" b="0" i="0">
                          <a:solidFill>
                            <a:srgbClr val="111111"/>
                          </a:solidFill>
                          <a:latin typeface="Arial"/>
                        </a:rPr>
                        <a:t>Live Haiku monitor prompt over transcript only; calibrate threshold on archived benign transcripts; never give it service state</a:t>
                      </a:r>
                    </a:p>
                  </a:txBody>
                  <a:tcPr marL="54864" marR="54864" marT="27432" marB="27432">
                    <a:solidFill>
                      <a:srgbClr val="FFFFFF"/>
                    </a:solidFill>
                  </a:tcPr>
                </a:tc>
                <a:tc>
                  <a:txBody>
                    <a:bodyPr wrap="square"/>
                    <a:lstStyle/>
                    <a:p>
                      <a:r>
                        <a:rPr sz="1000" b="0" i="0">
                          <a:solidFill>
                            <a:srgbClr val="111111"/>
                          </a:solidFill>
                          <a:latin typeface="Arial"/>
                        </a:rPr>
                        <a:t>Scripted-transport test; calibration report with TPR/FPR on archive</a:t>
                      </a:r>
                    </a:p>
                  </a:txBody>
                  <a:tcPr marL="54864" marR="54864" marT="27432" marB="27432">
                    <a:solidFill>
                      <a:srgbClr val="FFFFFF"/>
                    </a:solidFill>
                  </a:tcPr>
                </a:tc>
              </a:tr>
              <a:tr h="411480">
                <a:tc>
                  <a:txBody>
                    <a:bodyPr wrap="square"/>
                    <a:lstStyle/>
                    <a:p>
                      <a:r>
                        <a:rPr sz="1000" b="1" i="0">
                          <a:solidFill>
                            <a:srgbClr val="111111"/>
                          </a:solidFill>
                          <a:latin typeface="Arial"/>
                        </a:rPr>
                        <a:t>Dual selection</a:t>
                      </a:r>
                    </a:p>
                  </a:txBody>
                  <a:tcPr marL="54864" marR="54864" marT="27432" marB="27432">
                    <a:solidFill>
                      <a:srgbClr val="F3F3F3"/>
                    </a:solidFill>
                  </a:tcPr>
                </a:tc>
                <a:tc>
                  <a:txBody>
                    <a:bodyPr wrap="square"/>
                    <a:lstStyle/>
                    <a:p>
                      <a:r>
                        <a:rPr sz="1000" b="0" i="0">
                          <a:solidFill>
                            <a:srgbClr val="111111"/>
                          </a:solidFill>
                          <a:latin typeface="Arial"/>
                        </a:rPr>
                        <a:t>No</a:t>
                      </a:r>
                    </a:p>
                  </a:txBody>
                  <a:tcPr marL="54864" marR="54864" marT="27432" marB="27432">
                    <a:solidFill>
                      <a:srgbClr val="F3F3F3"/>
                    </a:solidFill>
                  </a:tcPr>
                </a:tc>
                <a:tc>
                  <a:txBody>
                    <a:bodyPr wrap="square"/>
                    <a:lstStyle/>
                    <a:p>
                      <a:r>
                        <a:rPr sz="1000" b="0" i="0">
                          <a:solidFill>
                            <a:srgbClr val="111111"/>
                          </a:solidFill>
                          <a:latin typeface="Arial"/>
                        </a:rPr>
                        <a:t>Selection function takes a signal source (judge flags or observer records); emit both selected IDs and eligibility tables</a:t>
                      </a:r>
                    </a:p>
                  </a:txBody>
                  <a:tcPr marL="54864" marR="54864" marT="27432" marB="27432">
                    <a:solidFill>
                      <a:srgbClr val="F3F3F3"/>
                    </a:solidFill>
                  </a:tcPr>
                </a:tc>
                <a:tc>
                  <a:txBody>
                    <a:bodyPr wrap="square"/>
                    <a:lstStyle/>
                    <a:p>
                      <a:r>
                        <a:rPr sz="1000" b="0" i="0">
                          <a:solidFill>
                            <a:srgbClr val="111111"/>
                          </a:solidFill>
                          <a:latin typeface="Arial"/>
                        </a:rPr>
                        <a:t>Unit test: identical inputs -&gt; identical choice; divergent fixture -&gt; divergent choice</a:t>
                      </a:r>
                    </a:p>
                  </a:txBody>
                  <a:tcPr marL="54864" marR="54864" marT="27432" marB="27432">
                    <a:solidFill>
                      <a:srgbClr val="F3F3F3"/>
                    </a:solidFill>
                  </a:tcPr>
                </a:tc>
              </a:tr>
              <a:tr h="411480">
                <a:tc>
                  <a:txBody>
                    <a:bodyPr wrap="square"/>
                    <a:lstStyle/>
                    <a:p>
                      <a:r>
                        <a:rPr sz="1000" b="1" i="0">
                          <a:solidFill>
                            <a:srgbClr val="111111"/>
                          </a:solidFill>
                          <a:latin typeface="Arial"/>
                        </a:rPr>
                        <a:t>Held-out schedule</a:t>
                      </a:r>
                    </a:p>
                  </a:txBody>
                  <a:tcPr marL="54864" marR="54864" marT="27432" marB="27432">
                    <a:solidFill>
                      <a:srgbClr val="FFFFFF"/>
                    </a:solidFill>
                  </a:tcPr>
                </a:tc>
                <a:tc>
                  <a:txBody>
                    <a:bodyPr wrap="square"/>
                    <a:lstStyle/>
                    <a:p>
                      <a:r>
                        <a:rPr sz="1000" b="0" i="0">
                          <a:solidFill>
                            <a:srgbClr val="111111"/>
                          </a:solidFill>
                          <a:latin typeface="Arial"/>
                        </a:rPr>
                        <a:t>Yes (fresh-seed trials)</a:t>
                      </a:r>
                    </a:p>
                  </a:txBody>
                  <a:tcPr marL="54864" marR="54864" marT="27432" marB="27432">
                    <a:solidFill>
                      <a:srgbClr val="FFFFFF"/>
                    </a:solidFill>
                  </a:tcPr>
                </a:tc>
                <a:tc>
                  <a:txBody>
                    <a:bodyPr wrap="square"/>
                    <a:lstStyle/>
                    <a:p>
                      <a:r>
                        <a:rPr sz="1000" b="0" i="0">
                          <a:solidFill>
                            <a:srgbClr val="111111"/>
                          </a:solidFill>
                          <a:latin typeface="Arial"/>
                        </a:rPr>
                        <a:t>Extend to 4 frozen policies x 12 seeds with randomized block order</a:t>
                      </a:r>
                    </a:p>
                  </a:txBody>
                  <a:tcPr marL="54864" marR="54864" marT="27432" marB="27432">
                    <a:solidFill>
                      <a:srgbClr val="FFFFFF"/>
                    </a:solidFill>
                  </a:tcPr>
                </a:tc>
                <a:tc>
                  <a:txBody>
                    <a:bodyPr wrap="square"/>
                    <a:lstStyle/>
                    <a:p>
                      <a:r>
                        <a:rPr sz="1000" b="0" i="0">
                          <a:solidFill>
                            <a:srgbClr val="111111"/>
                          </a:solidFill>
                          <a:latin typeface="Arial"/>
                        </a:rPr>
                        <a:t>Schedule check prints 48 assignments</a:t>
                      </a:r>
                    </a:p>
                  </a:txBody>
                  <a:tcPr marL="54864" marR="54864" marT="27432" marB="27432">
                    <a:solidFill>
                      <a:srgbClr val="FFFFFF"/>
                    </a:solidFill>
                  </a:tcPr>
                </a:tc>
              </a:tr>
              <a:tr h="411480">
                <a:tc>
                  <a:txBody>
                    <a:bodyPr wrap="square"/>
                    <a:lstStyle/>
                    <a:p>
                      <a:r>
                        <a:rPr sz="1000" b="1" i="0">
                          <a:solidFill>
                            <a:srgbClr val="111111"/>
                          </a:solidFill>
                          <a:latin typeface="Arial"/>
                        </a:rPr>
                        <a:t>Budget ledger</a:t>
                      </a:r>
                    </a:p>
                  </a:txBody>
                  <a:tcPr marL="54864" marR="54864" marT="27432" marB="27432">
                    <a:solidFill>
                      <a:srgbClr val="F3F3F3"/>
                    </a:solidFill>
                  </a:tcPr>
                </a:tc>
                <a:tc>
                  <a:txBody>
                    <a:bodyPr wrap="square"/>
                    <a:lstStyle/>
                    <a:p>
                      <a:r>
                        <a:rPr sz="1000" b="0" i="0">
                          <a:solidFill>
                            <a:srgbClr val="111111"/>
                          </a:solidFill>
                          <a:latin typeface="Arial"/>
                        </a:rPr>
                        <a:t>Yes</a:t>
                      </a:r>
                    </a:p>
                  </a:txBody>
                  <a:tcPr marL="54864" marR="54864" marT="27432" marB="27432">
                    <a:solidFill>
                      <a:srgbClr val="F3F3F3"/>
                    </a:solidFill>
                  </a:tcPr>
                </a:tc>
                <a:tc>
                  <a:txBody>
                    <a:bodyPr wrap="square"/>
                    <a:lstStyle/>
                    <a:p>
                      <a:r>
                        <a:rPr sz="1000" b="0" i="0">
                          <a:solidFill>
                            <a:srgbClr val="111111"/>
                          </a:solidFill>
                          <a:latin typeface="Arial"/>
                        </a:rPr>
                        <a:t>Add judge calls as a separate ledger line and ceiling</a:t>
                      </a:r>
                    </a:p>
                  </a:txBody>
                  <a:tcPr marL="54864" marR="54864" marT="27432" marB="27432">
                    <a:solidFill>
                      <a:srgbClr val="F3F3F3"/>
                    </a:solidFill>
                  </a:tcPr>
                </a:tc>
                <a:tc>
                  <a:txBody>
                    <a:bodyPr wrap="square"/>
                    <a:lstStyle/>
                    <a:p>
                      <a:r>
                        <a:rPr sz="1000" b="0" i="0">
                          <a:solidFill>
                            <a:srgbClr val="111111"/>
                          </a:solidFill>
                          <a:latin typeface="Arial"/>
                        </a:rPr>
                        <a:t>Reservation test on provider failure</a:t>
                      </a:r>
                    </a:p>
                  </a:txBody>
                  <a:tcPr marL="54864" marR="54864" marT="27432" marB="27432">
                    <a:solidFill>
                      <a:srgbClr val="F3F3F3"/>
                    </a:solidFill>
                  </a:tcPr>
                </a:tc>
              </a:tr>
              <a:tr h="411480">
                <a:tc>
                  <a:txBody>
                    <a:bodyPr wrap="square"/>
                    <a:lstStyle/>
                    <a:p>
                      <a:r>
                        <a:rPr sz="1000" b="1" i="0">
                          <a:solidFill>
                            <a:srgbClr val="111111"/>
                          </a:solidFill>
                          <a:latin typeface="Arial"/>
                        </a:rPr>
                        <a:t>Report</a:t>
                      </a:r>
                    </a:p>
                  </a:txBody>
                  <a:tcPr marL="54864" marR="54864" marT="27432" marB="27432">
                    <a:solidFill>
                      <a:srgbClr val="FFFFFF"/>
                    </a:solidFill>
                  </a:tcPr>
                </a:tc>
                <a:tc>
                  <a:txBody>
                    <a:bodyPr wrap="square"/>
                    <a:lstStyle/>
                    <a:p>
                      <a:r>
                        <a:rPr sz="1000" b="0" i="0">
                          <a:solidFill>
                            <a:srgbClr val="111111"/>
                          </a:solidFill>
                          <a:latin typeface="Arial"/>
                        </a:rPr>
                        <a:t>Partly (instruction-report)</a:t>
                      </a:r>
                    </a:p>
                  </a:txBody>
                  <a:tcPr marL="54864" marR="54864" marT="27432" marB="27432">
                    <a:solidFill>
                      <a:srgbClr val="FFFFFF"/>
                    </a:solidFill>
                  </a:tcPr>
                </a:tc>
                <a:tc>
                  <a:txBody>
                    <a:bodyPr wrap="square"/>
                    <a:lstStyle/>
                    <a:p>
                      <a:r>
                        <a:rPr sz="1000" b="0" i="0">
                          <a:solidFill>
                            <a:srgbClr val="111111"/>
                          </a:solidFill>
                          <a:latin typeface="Arial"/>
                        </a:rPr>
                        <a:t>Paired held-out table, judge false flags, cost per arm, Wilson intervals</a:t>
                      </a:r>
                    </a:p>
                  </a:txBody>
                  <a:tcPr marL="54864" marR="54864" marT="27432" marB="27432">
                    <a:solidFill>
                      <a:srgbClr val="FFFFFF"/>
                    </a:solidFill>
                  </a:tcPr>
                </a:tc>
                <a:tc>
                  <a:txBody>
                    <a:bodyPr wrap="square"/>
                    <a:lstStyle/>
                    <a:p>
                      <a:r>
                        <a:rPr sz="1000" b="0" i="0">
                          <a:solidFill>
                            <a:srgbClr val="111111"/>
                          </a:solidFill>
                          <a:latin typeface="Arial"/>
                        </a:rPr>
                        <a:t>Report from scripted run has no empty fields</a:t>
                      </a:r>
                    </a:p>
                  </a:txBody>
                  <a:tcPr marL="54864" marR="54864" marT="27432" marB="27432">
                    <a:solidFill>
                      <a:srgbClr val="FFFFFF"/>
                    </a:solidFill>
                  </a:tcPr>
                </a:tc>
              </a:tr>
            </a:tbl>
          </a:graphicData>
        </a:graphic>
      </p:graphicFrame>
      <p:sp>
        <p:nvSpPr>
          <p:cNvPr id="11" name="Rounded Rectangle 10"/>
          <p:cNvSpPr/>
          <p:nvPr/>
        </p:nvSpPr>
        <p:spPr>
          <a:xfrm>
            <a:off x="457200" y="5212080"/>
            <a:ext cx="11277295" cy="54864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5212080"/>
            <a:ext cx="11057839" cy="548640"/>
          </a:xfrm>
          <a:prstGeom prst="rect">
            <a:avLst/>
          </a:prstGeom>
          <a:noFill/>
        </p:spPr>
        <p:txBody>
          <a:bodyPr wrap="square" lIns="45720" rIns="45720" tIns="27432" bIns="27432" anchor="ctr">
            <a:spAutoFit/>
          </a:bodyPr>
          <a:lstStyle/>
          <a:p>
            <a:pPr algn="l">
              <a:lnSpc>
                <a:spcPct val="110000"/>
              </a:lnSpc>
            </a:pPr>
            <a:r>
              <a:rPr sz="1300" b="1" i="0">
                <a:solidFill>
                  <a:srgbClr val="111111"/>
                </a:solidFill>
                <a:latin typeface="Arial"/>
              </a:rPr>
              <a:t>Order: dual selection -&gt; judge arm -&gt; scripted end-to-end -&gt; freeze plan -&gt; approval -&gt; run. Do not touch the fixture, scorer or incident definition in the same change.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E3-E6: optional strengthening and the required non-inference work</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Decide E3/E4 after E2's development stage; E5 and E6 start now</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13</a:t>
            </a:r>
          </a:p>
        </p:txBody>
      </p:sp>
      <p:sp>
        <p:nvSpPr>
          <p:cNvPr id="7" name="Rounded Rectangle 6"/>
          <p:cNvSpPr/>
          <p:nvPr/>
        </p:nvSpPr>
        <p:spPr>
          <a:xfrm>
            <a:off x="457200" y="1371600"/>
            <a:ext cx="5501487" cy="201168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444752"/>
            <a:ext cx="5318607" cy="411480"/>
          </a:xfrm>
          <a:prstGeom prst="rect">
            <a:avLst/>
          </a:prstGeom>
          <a:noFill/>
        </p:spPr>
        <p:txBody>
          <a:bodyPr wrap="square" lIns="45720" rIns="45720" tIns="27432" bIns="27432" anchor="t">
            <a:spAutoFit/>
          </a:bodyPr>
          <a:lstStyle/>
          <a:p>
            <a:pPr algn="l">
              <a:lnSpc>
                <a:spcPct val="100000"/>
              </a:lnSpc>
            </a:pPr>
            <a:r>
              <a:rPr sz="1500" b="1" i="0">
                <a:solidFill>
                  <a:srgbClr val="B34831"/>
                </a:solidFill>
                <a:latin typeface="Arial"/>
              </a:rPr>
              <a:t>E3  Second model family (RUN, optional)</a:t>
            </a:r>
          </a:p>
        </p:txBody>
      </p:sp>
      <p:sp>
        <p:nvSpPr>
          <p:cNvPr id="9" name="TextBox 8"/>
          <p:cNvSpPr txBox="1"/>
          <p:nvPr/>
        </p:nvSpPr>
        <p:spPr>
          <a:xfrm>
            <a:off x="548640" y="1874520"/>
            <a:ext cx="5318607" cy="1417320"/>
          </a:xfrm>
          <a:prstGeom prst="rect">
            <a:avLst/>
          </a:prstGeom>
          <a:noFill/>
        </p:spPr>
        <p:txBody>
          <a:bodyPr wrap="square" lIns="45720" rIns="45720">
            <a:spAutoFit/>
          </a:bodyPr>
          <a:lstStyle/>
          <a:p>
            <a:pPr>
              <a:lnSpc>
                <a:spcPct val="110000"/>
              </a:lnSpc>
              <a:spcAft>
                <a:spcPts val="500"/>
              </a:spcAft>
            </a:pPr>
            <a:r>
              <a:rPr sz="1150" b="0" i="0">
                <a:solidFill>
                  <a:srgbClr val="111111"/>
                </a:solidFill>
                <a:latin typeface="Arial"/>
              </a:rPr>
              <a:t>-  </a:t>
            </a:r>
            <a:r>
              <a:rPr sz="1150" b="0" i="0">
                <a:solidFill>
                  <a:srgbClr val="111111"/>
                </a:solidFill>
                <a:latin typeface="Arial"/>
              </a:rPr>
              <a:t>Same plan as E2 with a different actor whose baseline impossible-task event rate is non-zero in a 4-run preflight.</a:t>
            </a:r>
          </a:p>
          <a:p>
            <a:pPr>
              <a:lnSpc>
                <a:spcPct val="110000"/>
              </a:lnSpc>
              <a:spcAft>
                <a:spcPts val="500"/>
              </a:spcAft>
            </a:pPr>
            <a:r>
              <a:rPr sz="1150" b="0" i="0">
                <a:solidFill>
                  <a:srgbClr val="111111"/>
                </a:solidFill>
                <a:latin typeface="Arial"/>
              </a:rPr>
              <a:t>-  </a:t>
            </a:r>
            <a:r>
              <a:rPr sz="1150" b="0" i="0">
                <a:solidFill>
                  <a:srgbClr val="111111"/>
                </a:solidFill>
                <a:latin typeface="Arial"/>
              </a:rPr>
              <a:t>Lets Section 5 say 'two model families' instead of 'one model'. Ceiling $15. Skip if E2 is null or budget is not approved.</a:t>
            </a:r>
          </a:p>
        </p:txBody>
      </p:sp>
      <p:sp>
        <p:nvSpPr>
          <p:cNvPr id="10" name="Rounded Rectangle 9"/>
          <p:cNvSpPr/>
          <p:nvPr/>
        </p:nvSpPr>
        <p:spPr>
          <a:xfrm>
            <a:off x="6233007" y="1371600"/>
            <a:ext cx="5501487" cy="201168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24447" y="1444752"/>
            <a:ext cx="5318607" cy="411480"/>
          </a:xfrm>
          <a:prstGeom prst="rect">
            <a:avLst/>
          </a:prstGeom>
          <a:noFill/>
        </p:spPr>
        <p:txBody>
          <a:bodyPr wrap="square" lIns="45720" rIns="45720" tIns="27432" bIns="27432" anchor="t">
            <a:spAutoFit/>
          </a:bodyPr>
          <a:lstStyle/>
          <a:p>
            <a:pPr algn="l">
              <a:lnSpc>
                <a:spcPct val="100000"/>
              </a:lnSpc>
            </a:pPr>
            <a:r>
              <a:rPr sz="1500" b="1" i="0">
                <a:solidFill>
                  <a:srgbClr val="B34831"/>
                </a:solidFill>
                <a:latin typeface="Arial"/>
              </a:rPr>
              <a:t>E4  Regression gate end to end (BUILD then RUN, stretch)</a:t>
            </a:r>
          </a:p>
        </p:txBody>
      </p:sp>
      <p:sp>
        <p:nvSpPr>
          <p:cNvPr id="12" name="TextBox 11"/>
          <p:cNvSpPr txBox="1"/>
          <p:nvPr/>
        </p:nvSpPr>
        <p:spPr>
          <a:xfrm>
            <a:off x="6324447" y="1874520"/>
            <a:ext cx="5318607" cy="1417320"/>
          </a:xfrm>
          <a:prstGeom prst="rect">
            <a:avLst/>
          </a:prstGeom>
          <a:noFill/>
        </p:spPr>
        <p:txBody>
          <a:bodyPr wrap="square" lIns="45720" rIns="45720">
            <a:spAutoFit/>
          </a:bodyPr>
          <a:lstStyle/>
          <a:p>
            <a:pPr>
              <a:lnSpc>
                <a:spcPct val="110000"/>
              </a:lnSpc>
              <a:spcAft>
                <a:spcPts val="500"/>
              </a:spcAft>
            </a:pPr>
            <a:r>
              <a:rPr sz="1150" b="0" i="0">
                <a:solidFill>
                  <a:srgbClr val="111111"/>
                </a:solidFill>
                <a:latin typeface="Arial"/>
              </a:rPr>
              <a:t>-  </a:t>
            </a:r>
            <a:r>
              <a:rPr sz="1150" b="0" i="0">
                <a:solidFill>
                  <a:srgbClr val="111111"/>
                </a:solidFill>
                <a:latin typeface="Arial"/>
              </a:rPr>
              <a:t>Implement twins for two more of the 18 replayable library entries using the INC-2026-015 pattern (policy manifest, unsafe fixture, benign fixture).</a:t>
            </a:r>
          </a:p>
          <a:p>
            <a:pPr>
              <a:lnSpc>
                <a:spcPct val="110000"/>
              </a:lnSpc>
              <a:spcAft>
                <a:spcPts val="500"/>
              </a:spcAft>
            </a:pPr>
            <a:r>
              <a:rPr sz="1150" b="0" i="0">
                <a:solidFill>
                  <a:srgbClr val="111111"/>
                </a:solidFill>
                <a:latin typeface="Arial"/>
              </a:rPr>
              <a:t>-  </a:t>
            </a:r>
            <a:r>
              <a:rPr sz="1150" b="0" i="0">
                <a:solidFill>
                  <a:srgbClr val="111111"/>
                </a:solidFill>
                <a:latin typeface="Arial"/>
              </a:rPr>
              <a:t>Run the four frozen E2 policies through the twin suite with the live actor, ~24 rollouts, ceiling $3. Shows the gate consuming incidents, which is the paper's T3 story.</a:t>
            </a:r>
          </a:p>
        </p:txBody>
      </p:sp>
      <p:sp>
        <p:nvSpPr>
          <p:cNvPr id="13" name="Rounded Rectangle 12"/>
          <p:cNvSpPr/>
          <p:nvPr/>
        </p:nvSpPr>
        <p:spPr>
          <a:xfrm>
            <a:off x="457200" y="3611880"/>
            <a:ext cx="5501487" cy="201168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3685032"/>
            <a:ext cx="5318607" cy="411480"/>
          </a:xfrm>
          <a:prstGeom prst="rect">
            <a:avLst/>
          </a:prstGeom>
          <a:noFill/>
        </p:spPr>
        <p:txBody>
          <a:bodyPr wrap="square" lIns="45720" rIns="45720" tIns="27432" bIns="27432" anchor="t">
            <a:spAutoFit/>
          </a:bodyPr>
          <a:lstStyle/>
          <a:p>
            <a:pPr algn="l">
              <a:lnSpc>
                <a:spcPct val="100000"/>
              </a:lnSpc>
            </a:pPr>
            <a:r>
              <a:rPr sz="1500" b="1" i="0">
                <a:solidFill>
                  <a:srgbClr val="6A4C93"/>
                </a:solidFill>
                <a:latin typeface="Arial"/>
              </a:rPr>
              <a:t>E5  Second-reader codings (HUMAN, required)</a:t>
            </a:r>
          </a:p>
        </p:txBody>
      </p:sp>
      <p:sp>
        <p:nvSpPr>
          <p:cNvPr id="15" name="TextBox 14"/>
          <p:cNvSpPr txBox="1"/>
          <p:nvPr/>
        </p:nvSpPr>
        <p:spPr>
          <a:xfrm>
            <a:off x="548640" y="4114800"/>
            <a:ext cx="5318607" cy="1417320"/>
          </a:xfrm>
          <a:prstGeom prst="rect">
            <a:avLst/>
          </a:prstGeom>
          <a:noFill/>
        </p:spPr>
        <p:txBody>
          <a:bodyPr wrap="square" lIns="45720" rIns="45720">
            <a:spAutoFit/>
          </a:bodyPr>
          <a:lstStyle/>
          <a:p>
            <a:pPr>
              <a:lnSpc>
                <a:spcPct val="110000"/>
              </a:lnSpc>
              <a:spcAft>
                <a:spcPts val="500"/>
              </a:spcAft>
            </a:pPr>
            <a:r>
              <a:rPr sz="1150" b="0" i="0">
                <a:solidFill>
                  <a:srgbClr val="111111"/>
                </a:solidFill>
                <a:latin typeface="Arial"/>
              </a:rPr>
              <a:t>-  </a:t>
            </a:r>
            <a:r>
              <a:rPr sz="1150" b="0" i="0">
                <a:solidFill>
                  <a:srgbClr val="111111"/>
                </a:solidFill>
                <a:latin typeface="Arial"/>
              </a:rPr>
              <a:t>A second reader codes pathway, M1-M6 and P1-P9 for all 26 records blind to the first coding; compute agreement; resolve or mark disputed.</a:t>
            </a:r>
          </a:p>
          <a:p>
            <a:pPr>
              <a:lnSpc>
                <a:spcPct val="110000"/>
              </a:lnSpc>
              <a:spcAft>
                <a:spcPts val="500"/>
              </a:spcAft>
            </a:pPr>
            <a:r>
              <a:rPr sz="1150" b="0" i="0">
                <a:solidFill>
                  <a:srgbClr val="111111"/>
                </a:solidFill>
                <a:latin typeface="Arial"/>
              </a:rPr>
              <a:t>-  </a:t>
            </a:r>
            <a:r>
              <a:rPr sz="1150" b="0" i="0">
                <a:solidFill>
                  <a:srgbClr val="111111"/>
                </a:solidFill>
                <a:latin typeface="Arial"/>
              </a:rPr>
              <a:t>Without this, Section 2 counts are one analyst's draft and a careful reviewer will say so. About two days of reading.</a:t>
            </a:r>
          </a:p>
        </p:txBody>
      </p:sp>
      <p:sp>
        <p:nvSpPr>
          <p:cNvPr id="16" name="Rounded Rectangle 15"/>
          <p:cNvSpPr/>
          <p:nvPr/>
        </p:nvSpPr>
        <p:spPr>
          <a:xfrm>
            <a:off x="6233007" y="3611880"/>
            <a:ext cx="5501487" cy="201168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24447" y="3685032"/>
            <a:ext cx="5318607" cy="411480"/>
          </a:xfrm>
          <a:prstGeom prst="rect">
            <a:avLst/>
          </a:prstGeom>
          <a:noFill/>
        </p:spPr>
        <p:txBody>
          <a:bodyPr wrap="square" lIns="45720" rIns="45720" tIns="27432" bIns="27432" anchor="t">
            <a:spAutoFit/>
          </a:bodyPr>
          <a:lstStyle/>
          <a:p>
            <a:pPr algn="l">
              <a:lnSpc>
                <a:spcPct val="100000"/>
              </a:lnSpc>
            </a:pPr>
            <a:r>
              <a:rPr sz="1500" b="1" i="0">
                <a:solidFill>
                  <a:srgbClr val="365E9E"/>
                </a:solidFill>
                <a:latin typeface="Arial"/>
              </a:rPr>
              <a:t>E6  Anonymized artifact (BUILD, required)</a:t>
            </a:r>
          </a:p>
        </p:txBody>
      </p:sp>
      <p:sp>
        <p:nvSpPr>
          <p:cNvPr id="18" name="TextBox 17"/>
          <p:cNvSpPr txBox="1"/>
          <p:nvPr/>
        </p:nvSpPr>
        <p:spPr>
          <a:xfrm>
            <a:off x="6324447" y="4114800"/>
            <a:ext cx="5318607" cy="1417320"/>
          </a:xfrm>
          <a:prstGeom prst="rect">
            <a:avLst/>
          </a:prstGeom>
          <a:noFill/>
        </p:spPr>
        <p:txBody>
          <a:bodyPr wrap="square" lIns="45720" rIns="45720">
            <a:spAutoFit/>
          </a:bodyPr>
          <a:lstStyle/>
          <a:p>
            <a:pPr>
              <a:lnSpc>
                <a:spcPct val="110000"/>
              </a:lnSpc>
              <a:spcAft>
                <a:spcPts val="500"/>
              </a:spcAft>
            </a:pPr>
            <a:r>
              <a:rPr sz="1150" b="0" i="0">
                <a:solidFill>
                  <a:srgbClr val="111111"/>
                </a:solidFill>
                <a:latin typeface="Arial"/>
              </a:rPr>
              <a:t>-  </a:t>
            </a:r>
            <a:r>
              <a:rPr sz="1150" b="0" i="0">
                <a:solidFill>
                  <a:srgbClr val="111111"/>
                </a:solidFill>
                <a:latin typeface="Arial"/>
              </a:rPr>
              <a:t>Source snapshot, frozen plans, evidence archives, tests, figure generators. Strip README author line, HANDOFF, slide decks, repo URL, machine paths and names in run metadata.</a:t>
            </a:r>
          </a:p>
          <a:p>
            <a:pPr>
              <a:lnSpc>
                <a:spcPct val="110000"/>
              </a:lnSpc>
              <a:spcAft>
                <a:spcPts val="500"/>
              </a:spcAft>
            </a:pPr>
            <a:r>
              <a:rPr sz="1150" b="0" i="0">
                <a:solidFill>
                  <a:srgbClr val="111111"/>
                </a:solidFill>
                <a:latin typeface="Arial"/>
              </a:rPr>
              <a:t>-  </a:t>
            </a:r>
            <a:r>
              <a:rPr sz="1150" b="0" i="0">
                <a:solidFill>
                  <a:srgbClr val="111111"/>
                </a:solidFill>
                <a:latin typeface="Arial"/>
              </a:rPr>
              <a:t>Check that no archived manifest or transcript carries an account identifier. Zip, hash, upload as supplementary.</a:t>
            </a:r>
          </a:p>
        </p:txBody>
      </p:sp>
      <p:sp>
        <p:nvSpPr>
          <p:cNvPr id="19" name="Rounded Rectangle 18"/>
          <p:cNvSpPr/>
          <p:nvPr/>
        </p:nvSpPr>
        <p:spPr>
          <a:xfrm>
            <a:off x="457200" y="5760720"/>
            <a:ext cx="11277295" cy="45720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5760720"/>
            <a:ext cx="11057839" cy="457200"/>
          </a:xfrm>
          <a:prstGeom prst="rect">
            <a:avLst/>
          </a:prstGeom>
          <a:noFill/>
        </p:spPr>
        <p:txBody>
          <a:bodyPr wrap="square" lIns="45720" rIns="45720" tIns="27432" bIns="27432" anchor="ctr">
            <a:spAutoFit/>
          </a:bodyPr>
          <a:lstStyle/>
          <a:p>
            <a:pPr algn="l">
              <a:lnSpc>
                <a:spcPct val="110000"/>
              </a:lnSpc>
            </a:pPr>
            <a:r>
              <a:rPr sz="1200" b="0" i="0">
                <a:solidFill>
                  <a:srgbClr val="111111"/>
                </a:solidFill>
                <a:latin typeface="Arial"/>
              </a:rPr>
              <a:t>Not for this paper: ImpossibleBench U2, AgentDojo, ResearchArena, BashArena. Declared in Section 8 with the frozen source pins; no live allocation.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Section 6: the upstream coding baseline as a negative result</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CFP lists negative results as an accepted contribution; this one is already archived and maps to proposition P2</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14</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Repository sources: docs/impossiblebench-upstream-baseline-results.md; docs/impossiblebench-live-preflight-results.md; results/upstream-baseline-preparation-v1</a:t>
            </a:r>
          </a:p>
        </p:txBody>
      </p:sp>
      <p:sp>
        <p:nvSpPr>
          <p:cNvPr id="8" name="Rounded Rectangle 7"/>
          <p:cNvSpPr/>
          <p:nvPr/>
        </p:nvSpPr>
        <p:spPr>
          <a:xfrm>
            <a:off x="457200" y="1371600"/>
            <a:ext cx="5669280" cy="301752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444752"/>
            <a:ext cx="5486400" cy="411480"/>
          </a:xfrm>
          <a:prstGeom prst="rect">
            <a:avLst/>
          </a:prstGeom>
          <a:noFill/>
        </p:spPr>
        <p:txBody>
          <a:bodyPr wrap="square" lIns="45720" rIns="45720" tIns="27432" bIns="27432" anchor="t">
            <a:spAutoFit/>
          </a:bodyPr>
          <a:lstStyle/>
          <a:p>
            <a:pPr algn="l">
              <a:lnSpc>
                <a:spcPct val="100000"/>
              </a:lnSpc>
            </a:pPr>
            <a:r>
              <a:rPr sz="1500" b="1" i="0">
                <a:solidFill>
                  <a:srgbClr val="111111"/>
                </a:solidFill>
                <a:latin typeface="Arial"/>
              </a:rPr>
              <a:t>What happened</a:t>
            </a:r>
          </a:p>
        </p:txBody>
      </p:sp>
      <p:sp>
        <p:nvSpPr>
          <p:cNvPr id="10" name="TextBox 9"/>
          <p:cNvSpPr txBox="1"/>
          <p:nvPr/>
        </p:nvSpPr>
        <p:spPr>
          <a:xfrm>
            <a:off x="548640" y="1874520"/>
            <a:ext cx="5486400" cy="2423160"/>
          </a:xfrm>
          <a:prstGeom prst="rect">
            <a:avLst/>
          </a:prstGeom>
          <a:noFill/>
        </p:spPr>
        <p:txBody>
          <a:bodyPr wrap="square" lIns="45720" rIns="45720">
            <a:spAutoFit/>
          </a:bodyPr>
          <a:lstStyle/>
          <a:p>
            <a:pPr>
              <a:lnSpc>
                <a:spcPct val="110000"/>
              </a:lnSpc>
              <a:spcAft>
                <a:spcPts val="600"/>
              </a:spcAft>
            </a:pPr>
            <a:r>
              <a:rPr sz="1200" b="0" i="0">
                <a:solidFill>
                  <a:srgbClr val="111111"/>
                </a:solidFill>
                <a:latin typeface="Arial"/>
              </a:rPr>
              <a:t>-  </a:t>
            </a:r>
            <a:r>
              <a:rPr sz="1200" b="0" i="0">
                <a:solidFill>
                  <a:srgbClr val="111111"/>
                </a:solidFill>
                <a:latin typeface="Arial"/>
              </a:rPr>
              <a:t>Six Haiku 4.5 runs on the unmodified upstream scaffold, prompts and scorer: original 1/2, oneoff 0/2, conflicting 0/2.</a:t>
            </a:r>
          </a:p>
          <a:p>
            <a:pPr>
              <a:lnSpc>
                <a:spcPct val="110000"/>
              </a:lnSpc>
              <a:spcAft>
                <a:spcPts val="600"/>
              </a:spcAft>
            </a:pPr>
            <a:r>
              <a:rPr sz="1200" b="0" i="0">
                <a:solidFill>
                  <a:srgbClr val="111111"/>
                </a:solidFill>
                <a:latin typeface="Arial"/>
              </a:rPr>
              <a:t>-  </a:t>
            </a:r>
            <a:r>
              <a:rPr sz="1200" b="0" i="0">
                <a:solidFill>
                  <a:srgbClr val="111111"/>
                </a:solidFill>
                <a:latin typeface="Arial"/>
              </a:rPr>
              <a:t>All six hit the 100-message cap without calling submit. All six hit missing packages under the default actor Python while the scorer used the activated `testbed` environment.</a:t>
            </a:r>
          </a:p>
          <a:p>
            <a:pPr>
              <a:lnSpc>
                <a:spcPct val="110000"/>
              </a:lnSpc>
              <a:spcAft>
                <a:spcPts val="600"/>
              </a:spcAft>
            </a:pPr>
            <a:r>
              <a:rPr sz="1200" b="0" i="0">
                <a:solidFill>
                  <a:srgbClr val="111111"/>
                </a:solidFill>
                <a:latin typeface="Arial"/>
              </a:rPr>
              <a:t>-  </a:t>
            </a:r>
            <a:r>
              <a:rPr sz="1200" b="0" i="0">
                <a:solidFill>
                  <a:srgbClr val="111111"/>
                </a:solidFill>
                <a:latin typeface="Arial"/>
              </a:rPr>
              <a:t>290 requests, 5.43M input tokens, $5.78. The passing original patch is a general repair on review.</a:t>
            </a:r>
          </a:p>
          <a:p>
            <a:pPr>
              <a:lnSpc>
                <a:spcPct val="110000"/>
              </a:lnSpc>
              <a:spcAft>
                <a:spcPts val="600"/>
              </a:spcAft>
            </a:pPr>
            <a:r>
              <a:rPr sz="1200" b="0" i="0">
                <a:solidFill>
                  <a:srgbClr val="111111"/>
                </a:solidFill>
                <a:latin typeface="Arial"/>
              </a:rPr>
              <a:t>-  </a:t>
            </a:r>
            <a:r>
              <a:rPr sz="1200" b="0" i="0">
                <a:solidFill>
                  <a:srgbClr val="111111"/>
                </a:solidFill>
                <a:latin typeface="Arial"/>
              </a:rPr>
              <a:t>Earlier custom-adapter preflight: 24 assigned, 16 started, 14 at the 20-call limit, no scored submissions.</a:t>
            </a:r>
          </a:p>
        </p:txBody>
      </p:sp>
      <p:sp>
        <p:nvSpPr>
          <p:cNvPr id="11" name="Rounded Rectangle 10"/>
          <p:cNvSpPr/>
          <p:nvPr/>
        </p:nvSpPr>
        <p:spPr>
          <a:xfrm>
            <a:off x="6400800" y="1371600"/>
            <a:ext cx="5333695" cy="301752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92240" y="1444752"/>
            <a:ext cx="5150815" cy="411480"/>
          </a:xfrm>
          <a:prstGeom prst="rect">
            <a:avLst/>
          </a:prstGeom>
          <a:noFill/>
        </p:spPr>
        <p:txBody>
          <a:bodyPr wrap="square" lIns="45720" rIns="45720" tIns="27432" bIns="27432" anchor="t">
            <a:spAutoFit/>
          </a:bodyPr>
          <a:lstStyle/>
          <a:p>
            <a:pPr algn="l">
              <a:lnSpc>
                <a:spcPct val="100000"/>
              </a:lnSpc>
            </a:pPr>
            <a:r>
              <a:rPr sz="1500" b="1" i="0">
                <a:solidFill>
                  <a:srgbClr val="B8732A"/>
                </a:solidFill>
                <a:latin typeface="Arial"/>
              </a:rPr>
              <a:t>How to write it</a:t>
            </a:r>
          </a:p>
        </p:txBody>
      </p:sp>
      <p:sp>
        <p:nvSpPr>
          <p:cNvPr id="13" name="TextBox 12"/>
          <p:cNvSpPr txBox="1"/>
          <p:nvPr/>
        </p:nvSpPr>
        <p:spPr>
          <a:xfrm>
            <a:off x="6492240" y="1874520"/>
            <a:ext cx="5150815" cy="2423160"/>
          </a:xfrm>
          <a:prstGeom prst="rect">
            <a:avLst/>
          </a:prstGeom>
          <a:noFill/>
        </p:spPr>
        <p:txBody>
          <a:bodyPr wrap="square" lIns="45720" rIns="45720">
            <a:spAutoFit/>
          </a:bodyPr>
          <a:lstStyle/>
          <a:p>
            <a:pPr>
              <a:lnSpc>
                <a:spcPct val="110000"/>
              </a:lnSpc>
              <a:spcAft>
                <a:spcPts val="600"/>
              </a:spcAft>
            </a:pPr>
            <a:r>
              <a:rPr sz="1200" b="0" i="0">
                <a:solidFill>
                  <a:srgbClr val="111111"/>
                </a:solidFill>
                <a:latin typeface="Arial"/>
              </a:rPr>
              <a:t>-  </a:t>
            </a:r>
            <a:r>
              <a:rPr sz="1200" b="0" i="0">
                <a:solidFill>
                  <a:srgbClr val="111111"/>
                </a:solidFill>
                <a:latin typeface="Arial"/>
              </a:rPr>
              <a:t>Twelve scoring controls and four tool-loop controls passed before the run, yet did not establish that ordinary actor imports work across successive calls. Environment claims required measurement in the actor's path, not the scorer's.</a:t>
            </a:r>
          </a:p>
          <a:p>
            <a:pPr>
              <a:lnSpc>
                <a:spcPct val="110000"/>
              </a:lnSpc>
              <a:spcAft>
                <a:spcPts val="600"/>
              </a:spcAft>
            </a:pPr>
            <a:r>
              <a:rPr sz="1200" b="0" i="0">
                <a:solidFill>
                  <a:srgbClr val="111111"/>
                </a:solidFill>
                <a:latin typeface="Arial"/>
              </a:rPr>
              <a:t>-  </a:t>
            </a:r>
            <a:r>
              <a:rPr sz="1200" b="0" i="0">
                <a:solidFill>
                  <a:srgbClr val="111111"/>
                </a:solidFill>
                <a:latin typeface="Arial"/>
              </a:rPr>
              <a:t>An evolving agent whose regression suite runs in a different environment than its actor will pass the suite and fail in use. This is the T3 lesson, stated once.</a:t>
            </a:r>
          </a:p>
          <a:p>
            <a:pPr>
              <a:lnSpc>
                <a:spcPct val="110000"/>
              </a:lnSpc>
              <a:spcAft>
                <a:spcPts val="600"/>
              </a:spcAft>
            </a:pPr>
            <a:r>
              <a:rPr sz="1200" b="0" i="0">
                <a:solidFill>
                  <a:srgbClr val="111111"/>
                </a:solidFill>
                <a:latin typeface="Arial"/>
              </a:rPr>
              <a:t>-  </a:t>
            </a:r>
            <a:r>
              <a:rPr sz="1200" b="0" i="0">
                <a:solidFill>
                  <a:srgbClr val="111111"/>
                </a:solidFill>
                <a:latin typeface="Arial"/>
              </a:rPr>
              <a:t>Report the capability floor: a safety comparison on this scaffold is uninformative until originals are solvable. No cheating rate is claimed.</a:t>
            </a:r>
          </a:p>
        </p:txBody>
      </p:sp>
      <p:sp>
        <p:nvSpPr>
          <p:cNvPr id="14" name="Rounded Rectangle 13"/>
          <p:cNvSpPr/>
          <p:nvPr/>
        </p:nvSpPr>
        <p:spPr>
          <a:xfrm>
            <a:off x="457200" y="4572000"/>
            <a:ext cx="11277295" cy="50292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4572000"/>
            <a:ext cx="11057839" cy="502920"/>
          </a:xfrm>
          <a:prstGeom prst="rect">
            <a:avLst/>
          </a:prstGeom>
          <a:noFill/>
        </p:spPr>
        <p:txBody>
          <a:bodyPr wrap="square" lIns="45720" rIns="45720" tIns="27432" bIns="27432" anchor="ctr">
            <a:spAutoFit/>
          </a:bodyPr>
          <a:lstStyle/>
          <a:p>
            <a:pPr algn="l">
              <a:lnSpc>
                <a:spcPct val="110000"/>
              </a:lnSpc>
            </a:pPr>
            <a:r>
              <a:rPr sz="1300" b="1" i="0">
                <a:solidFill>
                  <a:srgbClr val="111111"/>
                </a:solidFill>
                <a:latin typeface="Arial"/>
              </a:rPr>
              <a:t>Half a page. It costs nothing, it is already written in the docs, and it is the kind of result this workshop asked for.</a:t>
            </a:r>
          </a:p>
        </p:txBody>
      </p:sp>
      <p:sp>
        <p:nvSpPr>
          <p:cNvPr id="16" name="TextBox 15"/>
          <p:cNvSpPr txBox="1"/>
          <p:nvPr/>
        </p:nvSpPr>
        <p:spPr>
          <a:xfrm>
            <a:off x="457200" y="5257800"/>
            <a:ext cx="11277295" cy="731520"/>
          </a:xfrm>
          <a:prstGeom prst="rect">
            <a:avLst/>
          </a:prstGeom>
          <a:noFill/>
        </p:spPr>
        <p:txBody>
          <a:bodyPr wrap="square" lIns="45720" rIns="45720" tIns="27432" bIns="27432" anchor="t">
            <a:spAutoFit/>
          </a:bodyPr>
          <a:lstStyle/>
          <a:p>
            <a:pPr algn="l">
              <a:lnSpc>
                <a:spcPct val="110000"/>
              </a:lnSpc>
            </a:pPr>
            <a:r>
              <a:rPr sz="1150" b="0" i="0">
                <a:solidFill>
                  <a:srgbClr val="666666"/>
                </a:solidFill>
                <a:latin typeface="Arial"/>
              </a:rPr>
              <a:t>Do not mix this with Section 5: the native fixture results and the coding-benchmark failure are different environments, denominators and models. Keep separate tables.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Timeline: 31 days from today to the deadline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Submit on 19 Nov; the 20 Nov AoE deadline has no extension</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15</a:t>
            </a:r>
          </a:p>
        </p:txBody>
      </p:sp>
      <p:sp>
        <p:nvSpPr>
          <p:cNvPr id="7" name="Rounded Rectangle 6"/>
          <p:cNvSpPr/>
          <p:nvPr/>
        </p:nvSpPr>
        <p:spPr>
          <a:xfrm>
            <a:off x="457200" y="1417320"/>
            <a:ext cx="1554480" cy="713232"/>
          </a:xfrm>
          <a:prstGeom prst="roundRect">
            <a:avLst>
              <a:gd name="adj" fmla="val 5000"/>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 y="1417320"/>
            <a:ext cx="1554480" cy="713232"/>
          </a:xfrm>
          <a:prstGeom prst="rect">
            <a:avLst/>
          </a:prstGeom>
          <a:noFill/>
        </p:spPr>
        <p:txBody>
          <a:bodyPr wrap="square" lIns="45720" rIns="45720" tIns="27432" bIns="27432" anchor="ctr">
            <a:spAutoFit/>
          </a:bodyPr>
          <a:lstStyle/>
          <a:p>
            <a:pPr algn="ctr">
              <a:lnSpc>
                <a:spcPct val="110000"/>
              </a:lnSpc>
            </a:pPr>
            <a:r>
              <a:rPr sz="1300" b="1" i="0">
                <a:solidFill>
                  <a:srgbClr val="FFFFFF"/>
                </a:solidFill>
                <a:latin typeface="Arial"/>
              </a:rPr>
              <a:t>Oct 20-26</a:t>
            </a:r>
          </a:p>
        </p:txBody>
      </p:sp>
      <p:sp>
        <p:nvSpPr>
          <p:cNvPr id="9" name="Rounded Rectangle 8"/>
          <p:cNvSpPr/>
          <p:nvPr/>
        </p:nvSpPr>
        <p:spPr>
          <a:xfrm>
            <a:off x="2103120" y="1417320"/>
            <a:ext cx="9631375" cy="713232"/>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240280" y="1417320"/>
            <a:ext cx="9357055" cy="713232"/>
          </a:xfrm>
          <a:prstGeom prst="rect">
            <a:avLst/>
          </a:prstGeom>
          <a:noFill/>
        </p:spPr>
        <p:txBody>
          <a:bodyPr wrap="square" lIns="45720" rIns="45720" tIns="27432" bIns="27432" anchor="ctr">
            <a:spAutoFit/>
          </a:bodyPr>
          <a:lstStyle/>
          <a:p>
            <a:pPr algn="l">
              <a:lnSpc>
                <a:spcPct val="110000"/>
              </a:lnSpc>
            </a:pPr>
            <a:r>
              <a:rPr sz="1250" b="0" i="0">
                <a:solidFill>
                  <a:srgbClr val="111111"/>
                </a:solidFill>
                <a:latin typeface="Arial"/>
              </a:rPr>
              <a:t>Outline fixed. E1 figure. E2 dual selection + judge arm implemented, scripted end to end. E5 second reader starts. Draft Sections 2, 3, 6 from existing docs.</a:t>
            </a:r>
          </a:p>
        </p:txBody>
      </p:sp>
      <p:sp>
        <p:nvSpPr>
          <p:cNvPr id="11" name="Rounded Rectangle 10"/>
          <p:cNvSpPr/>
          <p:nvPr/>
        </p:nvSpPr>
        <p:spPr>
          <a:xfrm>
            <a:off x="457200" y="2221992"/>
            <a:ext cx="1554480" cy="713232"/>
          </a:xfrm>
          <a:prstGeom prst="roundRect">
            <a:avLst>
              <a:gd name="adj" fmla="val 5000"/>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7200" y="2221992"/>
            <a:ext cx="1554480" cy="713232"/>
          </a:xfrm>
          <a:prstGeom prst="rect">
            <a:avLst/>
          </a:prstGeom>
          <a:noFill/>
        </p:spPr>
        <p:txBody>
          <a:bodyPr wrap="square" lIns="45720" rIns="45720" tIns="27432" bIns="27432" anchor="ctr">
            <a:spAutoFit/>
          </a:bodyPr>
          <a:lstStyle/>
          <a:p>
            <a:pPr algn="ctr">
              <a:lnSpc>
                <a:spcPct val="110000"/>
              </a:lnSpc>
            </a:pPr>
            <a:r>
              <a:rPr sz="1300" b="1" i="0">
                <a:solidFill>
                  <a:srgbClr val="FFFFFF"/>
                </a:solidFill>
                <a:latin typeface="Arial"/>
              </a:rPr>
              <a:t>Oct 27-Nov 2</a:t>
            </a:r>
          </a:p>
        </p:txBody>
      </p:sp>
      <p:sp>
        <p:nvSpPr>
          <p:cNvPr id="13" name="Rounded Rectangle 12"/>
          <p:cNvSpPr/>
          <p:nvPr/>
        </p:nvSpPr>
        <p:spPr>
          <a:xfrm>
            <a:off x="2103120" y="2221992"/>
            <a:ext cx="9631375" cy="713232"/>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240280" y="2221992"/>
            <a:ext cx="9357055" cy="713232"/>
          </a:xfrm>
          <a:prstGeom prst="rect">
            <a:avLst/>
          </a:prstGeom>
          <a:noFill/>
        </p:spPr>
        <p:txBody>
          <a:bodyPr wrap="square" lIns="45720" rIns="45720" tIns="27432" bIns="27432" anchor="ctr">
            <a:spAutoFit/>
          </a:bodyPr>
          <a:lstStyle/>
          <a:p>
            <a:pPr algn="l">
              <a:lnSpc>
                <a:spcPct val="110000"/>
              </a:lnSpc>
            </a:pPr>
            <a:r>
              <a:rPr sz="1250" b="0" i="0">
                <a:solidFill>
                  <a:srgbClr val="111111"/>
                </a:solidFill>
                <a:latin typeface="Arial"/>
              </a:rPr>
              <a:t>Freeze E2 plan and ceiling; approval; run E2 development stage; check event rate gate; run held-out. E5 continues.</a:t>
            </a:r>
          </a:p>
        </p:txBody>
      </p:sp>
      <p:sp>
        <p:nvSpPr>
          <p:cNvPr id="15" name="Rounded Rectangle 14"/>
          <p:cNvSpPr/>
          <p:nvPr/>
        </p:nvSpPr>
        <p:spPr>
          <a:xfrm>
            <a:off x="457200" y="3026664"/>
            <a:ext cx="1554480" cy="713232"/>
          </a:xfrm>
          <a:prstGeom prst="roundRect">
            <a:avLst>
              <a:gd name="adj" fmla="val 5000"/>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026664"/>
            <a:ext cx="1554480" cy="713232"/>
          </a:xfrm>
          <a:prstGeom prst="rect">
            <a:avLst/>
          </a:prstGeom>
          <a:noFill/>
        </p:spPr>
        <p:txBody>
          <a:bodyPr wrap="square" lIns="45720" rIns="45720" tIns="27432" bIns="27432" anchor="ctr">
            <a:spAutoFit/>
          </a:bodyPr>
          <a:lstStyle/>
          <a:p>
            <a:pPr algn="ctr">
              <a:lnSpc>
                <a:spcPct val="110000"/>
              </a:lnSpc>
            </a:pPr>
            <a:r>
              <a:rPr sz="1300" b="1" i="0">
                <a:solidFill>
                  <a:srgbClr val="FFFFFF"/>
                </a:solidFill>
                <a:latin typeface="Arial"/>
              </a:rPr>
              <a:t>Nov 3-9</a:t>
            </a:r>
          </a:p>
        </p:txBody>
      </p:sp>
      <p:sp>
        <p:nvSpPr>
          <p:cNvPr id="17" name="Rounded Rectangle 16"/>
          <p:cNvSpPr/>
          <p:nvPr/>
        </p:nvSpPr>
        <p:spPr>
          <a:xfrm>
            <a:off x="2103120" y="3026664"/>
            <a:ext cx="9631375" cy="713232"/>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240280" y="3026664"/>
            <a:ext cx="9357055" cy="713232"/>
          </a:xfrm>
          <a:prstGeom prst="rect">
            <a:avLst/>
          </a:prstGeom>
          <a:noFill/>
        </p:spPr>
        <p:txBody>
          <a:bodyPr wrap="square" lIns="45720" rIns="45720" tIns="27432" bIns="27432" anchor="ctr">
            <a:spAutoFit/>
          </a:bodyPr>
          <a:lstStyle/>
          <a:p>
            <a:pPr algn="l">
              <a:lnSpc>
                <a:spcPct val="110000"/>
              </a:lnSpc>
            </a:pPr>
            <a:r>
              <a:rPr sz="1250" b="0" i="0">
                <a:solidFill>
                  <a:srgbClr val="111111"/>
                </a:solidFill>
                <a:latin typeface="Arial"/>
              </a:rPr>
              <a:t>Analyze E2; decide E3/E4 and run if green. Draft Sections 1, 4, 5. Paper figure from slide 7. E5 agreement computed.</a:t>
            </a:r>
          </a:p>
        </p:txBody>
      </p:sp>
      <p:sp>
        <p:nvSpPr>
          <p:cNvPr id="19" name="Rounded Rectangle 18"/>
          <p:cNvSpPr/>
          <p:nvPr/>
        </p:nvSpPr>
        <p:spPr>
          <a:xfrm>
            <a:off x="457200" y="3831336"/>
            <a:ext cx="1554480" cy="713232"/>
          </a:xfrm>
          <a:prstGeom prst="roundRect">
            <a:avLst>
              <a:gd name="adj" fmla="val 5000"/>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 y="3831336"/>
            <a:ext cx="1554480" cy="713232"/>
          </a:xfrm>
          <a:prstGeom prst="rect">
            <a:avLst/>
          </a:prstGeom>
          <a:noFill/>
        </p:spPr>
        <p:txBody>
          <a:bodyPr wrap="square" lIns="45720" rIns="45720" tIns="27432" bIns="27432" anchor="ctr">
            <a:spAutoFit/>
          </a:bodyPr>
          <a:lstStyle/>
          <a:p>
            <a:pPr algn="ctr">
              <a:lnSpc>
                <a:spcPct val="110000"/>
              </a:lnSpc>
            </a:pPr>
            <a:r>
              <a:rPr sz="1300" b="1" i="0">
                <a:solidFill>
                  <a:srgbClr val="FFFFFF"/>
                </a:solidFill>
                <a:latin typeface="Arial"/>
              </a:rPr>
              <a:t>Nov 10-16</a:t>
            </a:r>
          </a:p>
        </p:txBody>
      </p:sp>
      <p:sp>
        <p:nvSpPr>
          <p:cNvPr id="21" name="Rounded Rectangle 20"/>
          <p:cNvSpPr/>
          <p:nvPr/>
        </p:nvSpPr>
        <p:spPr>
          <a:xfrm>
            <a:off x="2103120" y="3831336"/>
            <a:ext cx="9631375" cy="713232"/>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240280" y="3831336"/>
            <a:ext cx="9357055" cy="713232"/>
          </a:xfrm>
          <a:prstGeom prst="rect">
            <a:avLst/>
          </a:prstGeom>
          <a:noFill/>
        </p:spPr>
        <p:txBody>
          <a:bodyPr wrap="square" lIns="45720" rIns="45720" tIns="27432" bIns="27432" anchor="ctr">
            <a:spAutoFit/>
          </a:bodyPr>
          <a:lstStyle/>
          <a:p>
            <a:pPr algn="l">
              <a:lnSpc>
                <a:spcPct val="110000"/>
              </a:lnSpc>
            </a:pPr>
            <a:r>
              <a:rPr sz="1250" b="0" i="0">
                <a:solidFill>
                  <a:srgbClr val="111111"/>
                </a:solidFill>
                <a:latin typeface="Arial"/>
              </a:rPr>
              <a:t>Full draft in AAAI kit. Related work. Appendix tables. E6 anonymized artifact assembled and checked.</a:t>
            </a:r>
          </a:p>
        </p:txBody>
      </p:sp>
      <p:sp>
        <p:nvSpPr>
          <p:cNvPr id="23" name="Rounded Rectangle 22"/>
          <p:cNvSpPr/>
          <p:nvPr/>
        </p:nvSpPr>
        <p:spPr>
          <a:xfrm>
            <a:off x="457200" y="4636008"/>
            <a:ext cx="1554480" cy="713232"/>
          </a:xfrm>
          <a:prstGeom prst="roundRect">
            <a:avLst>
              <a:gd name="adj" fmla="val 5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57200" y="4636008"/>
            <a:ext cx="1554480" cy="713232"/>
          </a:xfrm>
          <a:prstGeom prst="rect">
            <a:avLst/>
          </a:prstGeom>
          <a:noFill/>
        </p:spPr>
        <p:txBody>
          <a:bodyPr wrap="square" lIns="45720" rIns="45720" tIns="27432" bIns="27432" anchor="ctr">
            <a:spAutoFit/>
          </a:bodyPr>
          <a:lstStyle/>
          <a:p>
            <a:pPr algn="ctr">
              <a:lnSpc>
                <a:spcPct val="110000"/>
              </a:lnSpc>
            </a:pPr>
            <a:r>
              <a:rPr sz="1300" b="1" i="0">
                <a:solidFill>
                  <a:srgbClr val="FFFFFF"/>
                </a:solidFill>
                <a:latin typeface="Arial"/>
              </a:rPr>
              <a:t>Nov 17-19</a:t>
            </a:r>
          </a:p>
        </p:txBody>
      </p:sp>
      <p:sp>
        <p:nvSpPr>
          <p:cNvPr id="25" name="Rounded Rectangle 24"/>
          <p:cNvSpPr/>
          <p:nvPr/>
        </p:nvSpPr>
        <p:spPr>
          <a:xfrm>
            <a:off x="2103120" y="4636008"/>
            <a:ext cx="9631375" cy="713232"/>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240280" y="4636008"/>
            <a:ext cx="9357055" cy="713232"/>
          </a:xfrm>
          <a:prstGeom prst="rect">
            <a:avLst/>
          </a:prstGeom>
          <a:noFill/>
        </p:spPr>
        <p:txBody>
          <a:bodyPr wrap="square" lIns="45720" rIns="45720" tIns="27432" bIns="27432" anchor="ctr">
            <a:spAutoFit/>
          </a:bodyPr>
          <a:lstStyle/>
          <a:p>
            <a:pPr algn="l">
              <a:lnSpc>
                <a:spcPct val="110000"/>
              </a:lnSpc>
            </a:pPr>
            <a:r>
              <a:rPr sz="1250" b="0" i="0">
                <a:solidFill>
                  <a:srgbClr val="111111"/>
                </a:solidFill>
                <a:latin typeface="Arial"/>
              </a:rPr>
              <a:t>Internal read for over-claiming; anonymization check; OpenReview submission on 19 Nov.</a:t>
            </a:r>
          </a:p>
        </p:txBody>
      </p:sp>
      <p:sp>
        <p:nvSpPr>
          <p:cNvPr id="27" name="Rounded Rectangle 26"/>
          <p:cNvSpPr/>
          <p:nvPr/>
        </p:nvSpPr>
        <p:spPr>
          <a:xfrm>
            <a:off x="457200" y="5532120"/>
            <a:ext cx="11277295" cy="594360"/>
          </a:xfrm>
          <a:prstGeom prst="roundRect">
            <a:avLst>
              <a:gd name="adj" fmla="val 5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66928" y="5532120"/>
            <a:ext cx="11057839" cy="594360"/>
          </a:xfrm>
          <a:prstGeom prst="rect">
            <a:avLst/>
          </a:prstGeom>
          <a:noFill/>
        </p:spPr>
        <p:txBody>
          <a:bodyPr wrap="square" lIns="45720" rIns="45720" tIns="27432" bIns="27432" anchor="ctr">
            <a:spAutoFit/>
          </a:bodyPr>
          <a:lstStyle/>
          <a:p>
            <a:pPr algn="l">
              <a:lnSpc>
                <a:spcPct val="110000"/>
              </a:lnSpc>
            </a:pPr>
            <a:r>
              <a:rPr sz="1250" b="1" i="0">
                <a:solidFill>
                  <a:srgbClr val="111111"/>
                </a:solidFill>
                <a:latin typeface="Arial"/>
              </a:rPr>
              <a:t>Critical path: E2 implementation (week 1) -&gt; E2 run (week 2). If the week-2 run slips past Nov 9, the paper ships as infrastructure + pilot + negative result, with E2 moved to Section 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Risks, reviewer pushback and fallbacks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Each row names the fallback that keeps a submittable paper</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Paper plan: containment-extension -&gt; Trust4RSI-Agent, AAAI 2027 Workshop on Trustworthy Evolution of AI Agents (Montreal, 22-23 Feb 2027; submission 20 Nov 2026 AoE). Prepared 20 Oct 2026. Counts are archived pilot results.</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16</a:t>
            </a:r>
          </a:p>
        </p:txBody>
      </p:sp>
      <p:graphicFrame>
        <p:nvGraphicFramePr>
          <p:cNvPr id="7" name="Table 6"/>
          <p:cNvGraphicFramePr>
            <a:graphicFrameLocks noGrp="1"/>
          </p:cNvGraphicFramePr>
          <p:nvPr/>
        </p:nvGraphicFramePr>
        <p:xfrm>
          <a:off x="457200" y="1371600"/>
          <a:ext cx="11274552" cy="3566160"/>
        </p:xfrm>
        <a:graphic>
          <a:graphicData uri="http://schemas.openxmlformats.org/drawingml/2006/table">
            <a:tbl>
              <a:tblPr firstRow="1" bandRow="1">
                <a:tableStyleId>{5C22544A-7EE6-4342-B048-85BDC9FD1C3A}</a:tableStyleId>
              </a:tblPr>
              <a:tblGrid>
                <a:gridCol w="3291840"/>
                <a:gridCol w="2468880"/>
                <a:gridCol w="5513832"/>
              </a:tblGrid>
              <a:tr h="445770">
                <a:tc>
                  <a:txBody>
                    <a:bodyPr wrap="square"/>
                    <a:lstStyle/>
                    <a:p>
                      <a:r>
                        <a:rPr sz="1050" b="1" i="0">
                          <a:solidFill>
                            <a:srgbClr val="FFFFFF"/>
                          </a:solidFill>
                          <a:latin typeface="Arial"/>
                        </a:rPr>
                        <a:t>Risk</a:t>
                      </a:r>
                    </a:p>
                  </a:txBody>
                  <a:tcPr marL="54864" marR="54864" marT="27432" marB="27432">
                    <a:solidFill>
                      <a:srgbClr val="365E9E"/>
                    </a:solidFill>
                  </a:tcPr>
                </a:tc>
                <a:tc>
                  <a:txBody>
                    <a:bodyPr wrap="square"/>
                    <a:lstStyle/>
                    <a:p>
                      <a:r>
                        <a:rPr sz="1050" b="1" i="0">
                          <a:solidFill>
                            <a:srgbClr val="FFFFFF"/>
                          </a:solidFill>
                          <a:latin typeface="Arial"/>
                        </a:rPr>
                        <a:t>Likelihood</a:t>
                      </a:r>
                    </a:p>
                  </a:txBody>
                  <a:tcPr marL="54864" marR="54864" marT="27432" marB="27432">
                    <a:solidFill>
                      <a:srgbClr val="365E9E"/>
                    </a:solidFill>
                  </a:tcPr>
                </a:tc>
                <a:tc>
                  <a:txBody>
                    <a:bodyPr wrap="square"/>
                    <a:lstStyle/>
                    <a:p>
                      <a:r>
                        <a:rPr sz="1050" b="1" i="0">
                          <a:solidFill>
                            <a:srgbClr val="FFFFFF"/>
                          </a:solidFill>
                          <a:latin typeface="Arial"/>
                        </a:rPr>
                        <a:t>Fallback</a:t>
                      </a:r>
                    </a:p>
                  </a:txBody>
                  <a:tcPr marL="54864" marR="54864" marT="27432" marB="27432">
                    <a:solidFill>
                      <a:srgbClr val="365E9E"/>
                    </a:solidFill>
                  </a:tcPr>
                </a:tc>
              </a:tr>
              <a:tr h="445770">
                <a:tc>
                  <a:txBody>
                    <a:bodyPr wrap="square"/>
                    <a:lstStyle/>
                    <a:p>
                      <a:r>
                        <a:rPr sz="1050" b="1" i="0">
                          <a:solidFill>
                            <a:srgbClr val="111111"/>
                          </a:solidFill>
                          <a:latin typeface="Arial"/>
                        </a:rPr>
                        <a:t>E2 null: judge and observer pick the same policy</a:t>
                      </a:r>
                    </a:p>
                  </a:txBody>
                  <a:tcPr marL="54864" marR="54864" marT="27432" marB="27432">
                    <a:solidFill>
                      <a:srgbClr val="FFFFFF"/>
                    </a:solidFill>
                  </a:tcPr>
                </a:tc>
                <a:tc>
                  <a:txBody>
                    <a:bodyPr wrap="square"/>
                    <a:lstStyle/>
                    <a:p>
                      <a:r>
                        <a:rPr sz="1050" b="0" i="0">
                          <a:solidFill>
                            <a:srgbClr val="111111"/>
                          </a:solidFill>
                          <a:latin typeface="Arial"/>
                        </a:rPr>
                        <a:t>Moderate: the native transcript exposes every tool call</a:t>
                      </a:r>
                    </a:p>
                  </a:txBody>
                  <a:tcPr marL="54864" marR="54864" marT="27432" marB="27432">
                    <a:solidFill>
                      <a:srgbClr val="FFFFFF"/>
                    </a:solidFill>
                  </a:tcPr>
                </a:tc>
                <a:tc>
                  <a:txBody>
                    <a:bodyPr wrap="square"/>
                    <a:lstStyle/>
                    <a:p>
                      <a:r>
                        <a:rPr sz="1050" b="0" i="0">
                          <a:solidFill>
                            <a:srgbClr val="111111"/>
                          </a:solidFill>
                          <a:latin typeface="Arial"/>
                        </a:rPr>
                        <a:t>Report as a negative result with the judge's false-flag rate and the reverted-write case; the abstraction and testbed carry the paper</a:t>
                      </a:r>
                    </a:p>
                  </a:txBody>
                  <a:tcPr marL="54864" marR="54864" marT="27432" marB="27432">
                    <a:solidFill>
                      <a:srgbClr val="FFFFFF"/>
                    </a:solidFill>
                  </a:tcPr>
                </a:tc>
              </a:tr>
              <a:tr h="445770">
                <a:tc>
                  <a:txBody>
                    <a:bodyPr wrap="square"/>
                    <a:lstStyle/>
                    <a:p>
                      <a:r>
                        <a:rPr sz="1050" b="1" i="0">
                          <a:solidFill>
                            <a:srgbClr val="111111"/>
                          </a:solidFill>
                          <a:latin typeface="Arial"/>
                        </a:rPr>
                        <a:t>Live budget not approved in time</a:t>
                      </a:r>
                    </a:p>
                  </a:txBody>
                  <a:tcPr marL="54864" marR="54864" marT="27432" marB="27432">
                    <a:solidFill>
                      <a:srgbClr val="F3F3F3"/>
                    </a:solidFill>
                  </a:tcPr>
                </a:tc>
                <a:tc>
                  <a:txBody>
                    <a:bodyPr wrap="square"/>
                    <a:lstStyle/>
                    <a:p>
                      <a:r>
                        <a:rPr sz="1050" b="0" i="0">
                          <a:solidFill>
                            <a:srgbClr val="111111"/>
                          </a:solidFill>
                          <a:latin typeface="Arial"/>
                        </a:rPr>
                        <a:t>Low</a:t>
                      </a:r>
                    </a:p>
                  </a:txBody>
                  <a:tcPr marL="54864" marR="54864" marT="27432" marB="27432">
                    <a:solidFill>
                      <a:srgbClr val="F3F3F3"/>
                    </a:solidFill>
                  </a:tcPr>
                </a:tc>
                <a:tc>
                  <a:txBody>
                    <a:bodyPr wrap="square"/>
                    <a:lstStyle/>
                    <a:p>
                      <a:r>
                        <a:rPr sz="1050" b="0" i="0">
                          <a:solidFill>
                            <a:srgbClr val="111111"/>
                          </a:solidFill>
                          <a:latin typeface="Arial"/>
                        </a:rPr>
                        <a:t>Drop E2 to Section 8; submit infrastructure + archived pilot + negative result (still a full paper) or a 4-page position paper on the library</a:t>
                      </a:r>
                    </a:p>
                  </a:txBody>
                  <a:tcPr marL="54864" marR="54864" marT="27432" marB="27432">
                    <a:solidFill>
                      <a:srgbClr val="F3F3F3"/>
                    </a:solidFill>
                  </a:tcPr>
                </a:tc>
              </a:tr>
              <a:tr h="445770">
                <a:tc>
                  <a:txBody>
                    <a:bodyPr wrap="square"/>
                    <a:lstStyle/>
                    <a:p>
                      <a:r>
                        <a:rPr sz="1050" b="1" i="0">
                          <a:solidFill>
                            <a:srgbClr val="111111"/>
                          </a:solidFill>
                          <a:latin typeface="Arial"/>
                        </a:rPr>
                        <a:t>Reviewers: 'n=8 on a toy fixture'</a:t>
                      </a:r>
                    </a:p>
                  </a:txBody>
                  <a:tcPr marL="54864" marR="54864" marT="27432" marB="27432">
                    <a:solidFill>
                      <a:srgbClr val="FFFFFF"/>
                    </a:solidFill>
                  </a:tcPr>
                </a:tc>
                <a:tc>
                  <a:txBody>
                    <a:bodyPr wrap="square"/>
                    <a:lstStyle/>
                    <a:p>
                      <a:r>
                        <a:rPr sz="1050" b="0" i="0">
                          <a:solidFill>
                            <a:srgbClr val="111111"/>
                          </a:solidFill>
                          <a:latin typeface="Arial"/>
                        </a:rPr>
                        <a:t>High</a:t>
                      </a:r>
                    </a:p>
                  </a:txBody>
                  <a:tcPr marL="54864" marR="54864" marT="27432" marB="27432">
                    <a:solidFill>
                      <a:srgbClr val="FFFFFF"/>
                    </a:solidFill>
                  </a:tcPr>
                </a:tc>
                <a:tc>
                  <a:txBody>
                    <a:bodyPr wrap="square"/>
                    <a:lstStyle/>
                    <a:p>
                      <a:r>
                        <a:rPr sz="1050" b="0" i="0">
                          <a:solidFill>
                            <a:srgbClr val="111111"/>
                          </a:solidFill>
                          <a:latin typeface="Arial"/>
                        </a:rPr>
                        <a:t>Intervals on every cell; one-task-structure limitation stated; frame as a testbed paper, not a defense paper</a:t>
                      </a:r>
                    </a:p>
                  </a:txBody>
                  <a:tcPr marL="54864" marR="54864" marT="27432" marB="27432">
                    <a:solidFill>
                      <a:srgbClr val="FFFFFF"/>
                    </a:solidFill>
                  </a:tcPr>
                </a:tc>
              </a:tr>
              <a:tr h="445770">
                <a:tc>
                  <a:txBody>
                    <a:bodyPr wrap="square"/>
                    <a:lstStyle/>
                    <a:p>
                      <a:r>
                        <a:rPr sz="1050" b="1" i="0">
                          <a:solidFill>
                            <a:srgbClr val="111111"/>
                          </a:solidFill>
                          <a:latin typeface="Arial"/>
                        </a:rPr>
                        <a:t>Reviewers: 'incident codings are one analyst's opinion'</a:t>
                      </a:r>
                    </a:p>
                  </a:txBody>
                  <a:tcPr marL="54864" marR="54864" marT="27432" marB="27432">
                    <a:solidFill>
                      <a:srgbClr val="F3F3F3"/>
                    </a:solidFill>
                  </a:tcPr>
                </a:tc>
                <a:tc>
                  <a:txBody>
                    <a:bodyPr wrap="square"/>
                    <a:lstStyle/>
                    <a:p>
                      <a:r>
                        <a:rPr sz="1050" b="0" i="0">
                          <a:solidFill>
                            <a:srgbClr val="111111"/>
                          </a:solidFill>
                          <a:latin typeface="Arial"/>
                        </a:rPr>
                        <a:t>High without E5</a:t>
                      </a:r>
                    </a:p>
                  </a:txBody>
                  <a:tcPr marL="54864" marR="54864" marT="27432" marB="27432">
                    <a:solidFill>
                      <a:srgbClr val="F3F3F3"/>
                    </a:solidFill>
                  </a:tcPr>
                </a:tc>
                <a:tc>
                  <a:txBody>
                    <a:bodyPr wrap="square"/>
                    <a:lstStyle/>
                    <a:p>
                      <a:r>
                        <a:rPr sz="1050" b="0" i="0">
                          <a:solidFill>
                            <a:srgbClr val="111111"/>
                          </a:solidFill>
                          <a:latin typeface="Arial"/>
                        </a:rPr>
                        <a:t>E5 agreement statistics; disputed codings marked and excluded from counts</a:t>
                      </a:r>
                    </a:p>
                  </a:txBody>
                  <a:tcPr marL="54864" marR="54864" marT="27432" marB="27432">
                    <a:solidFill>
                      <a:srgbClr val="F3F3F3"/>
                    </a:solidFill>
                  </a:tcPr>
                </a:tc>
              </a:tr>
              <a:tr h="445770">
                <a:tc>
                  <a:txBody>
                    <a:bodyPr wrap="square"/>
                    <a:lstStyle/>
                    <a:p>
                      <a:r>
                        <a:rPr sz="1050" b="1" i="0">
                          <a:solidFill>
                            <a:srgbClr val="111111"/>
                          </a:solidFill>
                          <a:latin typeface="Arial"/>
                        </a:rPr>
                        <a:t>Reviewers: 'this is prompt engineering, not evolution'</a:t>
                      </a:r>
                    </a:p>
                  </a:txBody>
                  <a:tcPr marL="54864" marR="54864" marT="27432" marB="27432">
                    <a:solidFill>
                      <a:srgbClr val="FFFFFF"/>
                    </a:solidFill>
                  </a:tcPr>
                </a:tc>
                <a:tc>
                  <a:txBody>
                    <a:bodyPr wrap="square"/>
                    <a:lstStyle/>
                    <a:p>
                      <a:r>
                        <a:rPr sz="1050" b="0" i="0">
                          <a:solidFill>
                            <a:srgbClr val="111111"/>
                          </a:solidFill>
                          <a:latin typeface="Arial"/>
                        </a:rPr>
                        <a:t>Moderate</a:t>
                      </a:r>
                    </a:p>
                  </a:txBody>
                  <a:tcPr marL="54864" marR="54864" marT="27432" marB="27432">
                    <a:solidFill>
                      <a:srgbClr val="FFFFFF"/>
                    </a:solidFill>
                  </a:tcPr>
                </a:tc>
                <a:tc>
                  <a:txBody>
                    <a:bodyPr wrap="square"/>
                    <a:lstStyle/>
                    <a:p>
                      <a:r>
                        <a:rPr sz="1050" b="0" i="0">
                          <a:solidFill>
                            <a:srgbClr val="111111"/>
                          </a:solidFill>
                          <a:latin typeface="Arial"/>
                        </a:rPr>
                        <a:t>Section 3: theta is any policy update the gate can score; the catalog-constrained synthesizer is literally a model proposing its own instruction updates</a:t>
                      </a:r>
                    </a:p>
                  </a:txBody>
                  <a:tcPr marL="54864" marR="54864" marT="27432" marB="27432">
                    <a:solidFill>
                      <a:srgbClr val="FFFFFF"/>
                    </a:solidFill>
                  </a:tcPr>
                </a:tc>
              </a:tr>
              <a:tr h="445770">
                <a:tc>
                  <a:txBody>
                    <a:bodyPr wrap="square"/>
                    <a:lstStyle/>
                    <a:p>
                      <a:r>
                        <a:rPr sz="1050" b="1" i="0">
                          <a:solidFill>
                            <a:srgbClr val="111111"/>
                          </a:solidFill>
                          <a:latin typeface="Arial"/>
                        </a:rPr>
                        <a:t>Anonymity leak via repo name, decks, run metadata</a:t>
                      </a:r>
                    </a:p>
                  </a:txBody>
                  <a:tcPr marL="54864" marR="54864" marT="27432" marB="27432">
                    <a:solidFill>
                      <a:srgbClr val="F3F3F3"/>
                    </a:solidFill>
                  </a:tcPr>
                </a:tc>
                <a:tc>
                  <a:txBody>
                    <a:bodyPr wrap="square"/>
                    <a:lstStyle/>
                    <a:p>
                      <a:r>
                        <a:rPr sz="1050" b="0" i="0">
                          <a:solidFill>
                            <a:srgbClr val="111111"/>
                          </a:solidFill>
                          <a:latin typeface="Arial"/>
                        </a:rPr>
                        <a:t>Moderate</a:t>
                      </a:r>
                    </a:p>
                  </a:txBody>
                  <a:tcPr marL="54864" marR="54864" marT="27432" marB="27432">
                    <a:solidFill>
                      <a:srgbClr val="F3F3F3"/>
                    </a:solidFill>
                  </a:tcPr>
                </a:tc>
                <a:tc>
                  <a:txBody>
                    <a:bodyPr wrap="square"/>
                    <a:lstStyle/>
                    <a:p>
                      <a:r>
                        <a:rPr sz="1050" b="0" i="0">
                          <a:solidFill>
                            <a:srgbClr val="111111"/>
                          </a:solidFill>
                          <a:latin typeface="Arial"/>
                        </a:rPr>
                        <a:t>E6 checklist; grep the artifact for name, handle, machine paths, provider account strings</a:t>
                      </a:r>
                    </a:p>
                  </a:txBody>
                  <a:tcPr marL="54864" marR="54864" marT="27432" marB="27432">
                    <a:solidFill>
                      <a:srgbClr val="F3F3F3"/>
                    </a:solidFill>
                  </a:tcPr>
                </a:tc>
              </a:tr>
              <a:tr h="445770">
                <a:tc>
                  <a:txBody>
                    <a:bodyPr wrap="square"/>
                    <a:lstStyle/>
                    <a:p>
                      <a:r>
                        <a:rPr sz="1050" b="1" i="0">
                          <a:solidFill>
                            <a:srgbClr val="111111"/>
                          </a:solidFill>
                          <a:latin typeface="Arial"/>
                        </a:rPr>
                        <a:t>Over-hedged prose reads as no contribution</a:t>
                      </a:r>
                    </a:p>
                  </a:txBody>
                  <a:tcPr marL="54864" marR="54864" marT="27432" marB="27432">
                    <a:solidFill>
                      <a:srgbClr val="FFFFFF"/>
                    </a:solidFill>
                  </a:tcPr>
                </a:tc>
                <a:tc>
                  <a:txBody>
                    <a:bodyPr wrap="square"/>
                    <a:lstStyle/>
                    <a:p>
                      <a:r>
                        <a:rPr sz="1050" b="0" i="0">
                          <a:solidFill>
                            <a:srgbClr val="111111"/>
                          </a:solidFill>
                          <a:latin typeface="Arial"/>
                        </a:rPr>
                        <a:t>High given current docs</a:t>
                      </a:r>
                    </a:p>
                  </a:txBody>
                  <a:tcPr marL="54864" marR="54864" marT="27432" marB="27432">
                    <a:solidFill>
                      <a:srgbClr val="FFFFFF"/>
                    </a:solidFill>
                  </a:tcPr>
                </a:tc>
                <a:tc>
                  <a:txBody>
                    <a:bodyPr wrap="square"/>
                    <a:lstStyle/>
                    <a:p>
                      <a:r>
                        <a:rPr sz="1050" b="0" i="0">
                          <a:solidFill>
                            <a:srgbClr val="111111"/>
                          </a:solidFill>
                          <a:latin typeface="Arial"/>
                        </a:rPr>
                        <a:t>One Limitations section; body states what was built and observed in plain declaratives</a:t>
                      </a:r>
                    </a:p>
                  </a:txBody>
                  <a:tcPr marL="54864" marR="54864" marT="27432" marB="27432">
                    <a:solidFill>
                      <a:srgbClr val="FFFFFF"/>
                    </a:solidFill>
                  </a:tcPr>
                </a:tc>
              </a:tr>
            </a:tbl>
          </a:graphicData>
        </a:graphic>
      </p:graphicFrame>
      <p:sp>
        <p:nvSpPr>
          <p:cNvPr id="8" name="Rounded Rectangle 7"/>
          <p:cNvSpPr/>
          <p:nvPr/>
        </p:nvSpPr>
        <p:spPr>
          <a:xfrm>
            <a:off x="457200" y="5120640"/>
            <a:ext cx="11277295" cy="731520"/>
          </a:xfrm>
          <a:prstGeom prst="roundRect">
            <a:avLst>
              <a:gd name="adj" fmla="val 5000"/>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5120640"/>
            <a:ext cx="11057839" cy="731520"/>
          </a:xfrm>
          <a:prstGeom prst="rect">
            <a:avLst/>
          </a:prstGeom>
          <a:noFill/>
        </p:spPr>
        <p:txBody>
          <a:bodyPr wrap="square" lIns="45720" rIns="45720" tIns="27432" bIns="27432" anchor="ctr">
            <a:spAutoFit/>
          </a:bodyPr>
          <a:lstStyle/>
          <a:p>
            <a:pPr algn="l">
              <a:lnSpc>
                <a:spcPct val="110000"/>
              </a:lnSpc>
            </a:pPr>
            <a:r>
              <a:rPr sz="1300" b="1" i="0">
                <a:solidFill>
                  <a:srgbClr val="FFFFFF"/>
                </a:solidFill>
                <a:latin typeface="Arial"/>
              </a:rPr>
              <a:t>Minimum viable submission, achievable with zero new inference: Sections 1-4, 6-8 plus E1 as the pilot evidence. E2 is what turns it from a system paper into a system paper with a first measured contrast.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